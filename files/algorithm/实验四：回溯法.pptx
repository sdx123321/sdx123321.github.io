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41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回溯法</a:t>
            </a:r>
            <a:br>
              <a:rPr lang="en-US" altLang="zh-CN" dirty="0"/>
            </a:br>
            <a:r>
              <a:rPr lang="zh-CN" altLang="en-US" dirty="0"/>
              <a:t>（</a:t>
            </a:r>
            <a:r>
              <a:rPr lang="zh-CN" altLang="en-US" sz="3600" dirty="0"/>
              <a:t>实验一和实验二任选一个实验完成</a:t>
            </a:r>
            <a:r>
              <a:rPr lang="zh-CN" altLang="en-US" dirty="0"/>
              <a:t>）</a:t>
            </a:r>
          </a:p>
        </p:txBody>
      </p:sp>
    </p:spTree>
    <p:extLst>
      <p:ext uri="{BB962C8B-B14F-4D97-AF65-F5344CB8AC3E}">
        <p14:creationId xmlns:p14="http://schemas.microsoft.com/office/powerpoint/2010/main" val="394020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333" y="114300"/>
            <a:ext cx="8596668" cy="1320800"/>
          </a:xfrm>
        </p:spPr>
        <p:txBody>
          <a:bodyPr/>
          <a:lstStyle/>
          <a:p>
            <a:br>
              <a:rPr lang="en-US" altLang="zh-CN" dirty="0"/>
            </a:br>
            <a:r>
              <a:rPr lang="zh-CN" altLang="en-US" dirty="0"/>
              <a:t>实验一内容和要求：</a:t>
            </a:r>
          </a:p>
        </p:txBody>
      </p:sp>
      <p:sp>
        <p:nvSpPr>
          <p:cNvPr id="3" name="内容占位符 2"/>
          <p:cNvSpPr>
            <a:spLocks noGrp="1"/>
          </p:cNvSpPr>
          <p:nvPr>
            <p:ph idx="1"/>
          </p:nvPr>
        </p:nvSpPr>
        <p:spPr>
          <a:xfrm>
            <a:off x="677333" y="1512196"/>
            <a:ext cx="8998682" cy="5345804"/>
          </a:xfrm>
        </p:spPr>
        <p:txBody>
          <a:bodyPr>
            <a:normAutofit fontScale="40000" lnSpcReduction="20000"/>
          </a:bodyPr>
          <a:lstStyle/>
          <a:p>
            <a:pPr>
              <a:lnSpc>
                <a:spcPct val="150000"/>
              </a:lnSpc>
            </a:pPr>
            <a:r>
              <a:rPr lang="zh-CN" altLang="en-US" sz="5100" dirty="0"/>
              <a:t>用回溯法求解</a:t>
            </a:r>
            <a:r>
              <a:rPr lang="en-US" altLang="zh-CN" sz="5100" dirty="0"/>
              <a:t>24</a:t>
            </a:r>
            <a:r>
              <a:rPr lang="zh-CN" altLang="en-US" sz="5100" dirty="0"/>
              <a:t>点问题。</a:t>
            </a:r>
            <a:r>
              <a:rPr lang="zh-CN" altLang="en-US" sz="5400" dirty="0"/>
              <a:t>随机给定四个取值范围在 </a:t>
            </a:r>
            <a:r>
              <a:rPr lang="en-US" altLang="zh-CN" sz="5400" dirty="0"/>
              <a:t>1~9 </a:t>
            </a:r>
            <a:r>
              <a:rPr lang="zh-CN" altLang="en-US" sz="5400" dirty="0"/>
              <a:t>之间的自然数，实验借助加、减、乘、除四种基础算术运算符，合理组合运算顺序并搭配运算括号调整运算优先级，将四个数字依次串联构建合法数学表达式，通过回溯遍历所有数字排列方式与运算符组合方案，穷举全部可行运算组合，最终筛选出计算结果恰好等于 </a:t>
            </a:r>
            <a:r>
              <a:rPr lang="en-US" altLang="zh-CN" sz="5400" dirty="0"/>
              <a:t>24 </a:t>
            </a:r>
            <a:r>
              <a:rPr lang="zh-CN" altLang="en-US" sz="5400" dirty="0"/>
              <a:t>的有效运算表达式，完成 </a:t>
            </a:r>
            <a:r>
              <a:rPr lang="en-US" altLang="zh-CN" sz="5400" dirty="0"/>
              <a:t>24 </a:t>
            </a:r>
            <a:r>
              <a:rPr lang="zh-CN" altLang="en-US" sz="5400" dirty="0"/>
              <a:t>点问题求解。</a:t>
            </a:r>
            <a:endParaRPr lang="en-US" altLang="zh-CN" sz="5100" dirty="0"/>
          </a:p>
          <a:p>
            <a:pPr>
              <a:lnSpc>
                <a:spcPct val="150000"/>
              </a:lnSpc>
            </a:pPr>
            <a:r>
              <a:rPr lang="zh-CN" altLang="en-US" sz="5500" dirty="0"/>
              <a:t>掌握回溯法通过搜索状态空间树中的每个问题状态来求解一个或全部可行解的算法思想；能够分析问题的具体特征并设计算法，运用回溯法的算法思想求解实际问题。</a:t>
            </a:r>
          </a:p>
          <a:p>
            <a:pPr>
              <a:lnSpc>
                <a:spcPct val="150000"/>
              </a:lnSpc>
            </a:pPr>
            <a:endParaRPr lang="zh-CN" altLang="zh-CN" sz="2400" dirty="0"/>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1727678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实验二内容和要求：</a:t>
            </a:r>
          </a:p>
        </p:txBody>
      </p:sp>
      <p:sp>
        <p:nvSpPr>
          <p:cNvPr id="3" name="内容占位符 2"/>
          <p:cNvSpPr>
            <a:spLocks noGrp="1"/>
          </p:cNvSpPr>
          <p:nvPr>
            <p:ph idx="1"/>
          </p:nvPr>
        </p:nvSpPr>
        <p:spPr>
          <a:xfrm>
            <a:off x="677333" y="1512196"/>
            <a:ext cx="8998682" cy="5345804"/>
          </a:xfrm>
        </p:spPr>
        <p:txBody>
          <a:bodyPr>
            <a:normAutofit fontScale="47500" lnSpcReduction="20000"/>
          </a:bodyPr>
          <a:lstStyle/>
          <a:p>
            <a:pPr>
              <a:lnSpc>
                <a:spcPct val="150000"/>
              </a:lnSpc>
            </a:pPr>
            <a:r>
              <a:rPr lang="zh-CN" altLang="en-US" sz="5100" dirty="0"/>
              <a:t>在 </a:t>
            </a:r>
            <a:r>
              <a:rPr lang="en-US" altLang="zh-CN" sz="5100" dirty="0" err="1"/>
              <a:t>n×n</a:t>
            </a:r>
            <a:r>
              <a:rPr lang="en-US" altLang="zh-CN" sz="5100" dirty="0"/>
              <a:t> </a:t>
            </a:r>
            <a:r>
              <a:rPr lang="zh-CN" altLang="en-US" sz="5100" dirty="0"/>
              <a:t>格的棋盘上放置彼此不受攻击的 </a:t>
            </a:r>
            <a:r>
              <a:rPr lang="en-US" altLang="zh-CN" sz="5100" dirty="0"/>
              <a:t>n </a:t>
            </a:r>
            <a:r>
              <a:rPr lang="zh-CN" altLang="en-US" sz="5100" dirty="0"/>
              <a:t>个皇后。按照国际象棋的规则，皇后可以攻击与之处在同一行或同一列或同一斜线上的棋子。</a:t>
            </a:r>
            <a:r>
              <a:rPr lang="en-US" altLang="zh-CN" sz="5100" dirty="0"/>
              <a:t>n </a:t>
            </a:r>
            <a:r>
              <a:rPr lang="zh-CN" altLang="en-US" sz="5100" dirty="0"/>
              <a:t>后问题等价于在 </a:t>
            </a:r>
            <a:r>
              <a:rPr lang="en-US" altLang="zh-CN" sz="5100" dirty="0" err="1"/>
              <a:t>n×n</a:t>
            </a:r>
            <a:r>
              <a:rPr lang="en-US" altLang="zh-CN" sz="5100" dirty="0"/>
              <a:t> </a:t>
            </a:r>
            <a:r>
              <a:rPr lang="zh-CN" altLang="en-US" sz="5100" dirty="0"/>
              <a:t>格的棋盘上放置 </a:t>
            </a:r>
            <a:r>
              <a:rPr lang="en-US" altLang="zh-CN" sz="5100" dirty="0"/>
              <a:t>n</a:t>
            </a:r>
            <a:r>
              <a:rPr lang="zh-CN" altLang="en-US" sz="5100" dirty="0"/>
              <a:t>个皇后，任何 </a:t>
            </a:r>
            <a:r>
              <a:rPr lang="en-US" altLang="zh-CN" sz="5100" dirty="0"/>
              <a:t>2 </a:t>
            </a:r>
            <a:r>
              <a:rPr lang="zh-CN" altLang="en-US" sz="5100" dirty="0"/>
              <a:t>个皇后不放在同一行或同一列或同一斜线上。</a:t>
            </a:r>
            <a:endParaRPr lang="en-US" altLang="zh-CN" sz="5100" dirty="0"/>
          </a:p>
          <a:p>
            <a:pPr>
              <a:lnSpc>
                <a:spcPct val="150000"/>
              </a:lnSpc>
            </a:pPr>
            <a:r>
              <a:rPr lang="zh-CN" altLang="en-US" sz="5100" dirty="0"/>
              <a:t>设计</a:t>
            </a:r>
            <a:r>
              <a:rPr lang="zh-CN" altLang="zh-CN" sz="5400" kern="1200" dirty="0">
                <a:solidFill>
                  <a:srgbClr val="404040"/>
                </a:solidFill>
                <a:effectLst/>
                <a:latin typeface="Trebuchet MS" panose="020B0603020202020204" pitchFamily="34" charset="0"/>
                <a:ea typeface="华文新魏" panose="02010800040101010101" pitchFamily="2" charset="-122"/>
                <a:cs typeface="+mn-cs"/>
              </a:rPr>
              <a:t>回溯法实现</a:t>
            </a:r>
            <a:r>
              <a:rPr lang="en-US" altLang="zh-CN" sz="5400" kern="1200" dirty="0">
                <a:solidFill>
                  <a:srgbClr val="404040"/>
                </a:solidFill>
                <a:effectLst/>
                <a:latin typeface="Trebuchet MS" panose="020B0603020202020204" pitchFamily="34" charset="0"/>
                <a:ea typeface="华文新魏" panose="02010800040101010101" pitchFamily="2" charset="-122"/>
                <a:cs typeface="+mn-cs"/>
              </a:rPr>
              <a:t>n</a:t>
            </a:r>
            <a:r>
              <a:rPr lang="zh-CN" altLang="zh-CN" sz="5400" kern="1200" dirty="0">
                <a:solidFill>
                  <a:srgbClr val="404040"/>
                </a:solidFill>
                <a:effectLst/>
                <a:latin typeface="Trebuchet MS" panose="020B0603020202020204" pitchFamily="34" charset="0"/>
                <a:ea typeface="华文新魏" panose="02010800040101010101" pitchFamily="2" charset="-122"/>
                <a:cs typeface="+mn-cs"/>
              </a:rPr>
              <a:t>后问题</a:t>
            </a:r>
            <a:r>
              <a:rPr lang="zh-CN" altLang="en-US" sz="5100" dirty="0"/>
              <a:t>，计算所有可行解，并打印出所有解。</a:t>
            </a:r>
            <a:endParaRPr lang="en-US" altLang="zh-CN" sz="5100" dirty="0"/>
          </a:p>
          <a:p>
            <a:pPr>
              <a:lnSpc>
                <a:spcPct val="150000"/>
              </a:lnSpc>
            </a:pPr>
            <a:r>
              <a:rPr lang="zh-CN" altLang="en-US" sz="5100" dirty="0"/>
              <a:t>测试</a:t>
            </a:r>
            <a:r>
              <a:rPr lang="en-US" altLang="zh-CN" sz="5100" dirty="0"/>
              <a:t>n=4</a:t>
            </a:r>
            <a:r>
              <a:rPr lang="zh-CN" altLang="en-US" sz="5100" dirty="0"/>
              <a:t>，</a:t>
            </a:r>
            <a:r>
              <a:rPr lang="en-US" altLang="zh-CN" sz="5100" dirty="0"/>
              <a:t>n=8</a:t>
            </a:r>
            <a:r>
              <a:rPr lang="zh-CN" altLang="en-US" sz="5100" dirty="0"/>
              <a:t>，</a:t>
            </a:r>
            <a:r>
              <a:rPr lang="en-US" altLang="zh-CN" sz="5100" dirty="0"/>
              <a:t>n=10</a:t>
            </a:r>
            <a:r>
              <a:rPr lang="zh-CN" altLang="en-US" sz="5100" dirty="0"/>
              <a:t>，</a:t>
            </a:r>
            <a:r>
              <a:rPr lang="en-US" altLang="zh-CN" sz="5100" dirty="0"/>
              <a:t>n=12</a:t>
            </a:r>
            <a:r>
              <a:rPr lang="zh-CN" altLang="en-US" sz="5100" dirty="0"/>
              <a:t>及</a:t>
            </a:r>
            <a:r>
              <a:rPr lang="en-US" altLang="zh-CN" sz="5100" dirty="0"/>
              <a:t>n=16</a:t>
            </a:r>
            <a:r>
              <a:rPr lang="zh-CN" altLang="en-US" sz="5100" dirty="0"/>
              <a:t>时，统计回溯法求解问题的运行时间，并对算法的复杂性进行分析。</a:t>
            </a:r>
          </a:p>
          <a:p>
            <a:pPr>
              <a:lnSpc>
                <a:spcPct val="150000"/>
              </a:lnSpc>
            </a:pPr>
            <a:endParaRPr lang="zh-CN" altLang="zh-CN" sz="2400" dirty="0"/>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1776306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实验室地点：</a:t>
            </a:r>
          </a:p>
        </p:txBody>
      </p:sp>
      <p:sp>
        <p:nvSpPr>
          <p:cNvPr id="3" name="内容占位符 2"/>
          <p:cNvSpPr>
            <a:spLocks noGrp="1"/>
          </p:cNvSpPr>
          <p:nvPr>
            <p:ph idx="1"/>
          </p:nvPr>
        </p:nvSpPr>
        <p:spPr/>
        <p:txBody>
          <a:bodyPr>
            <a:normAutofit/>
          </a:bodyPr>
          <a:lstStyle/>
          <a:p>
            <a:r>
              <a:rPr lang="zh-CN" altLang="en-US" sz="2800" dirty="0"/>
              <a:t>文科楼</a:t>
            </a:r>
            <a:r>
              <a:rPr lang="en-US" altLang="zh-CN" sz="2800" dirty="0"/>
              <a:t>235</a:t>
            </a:r>
            <a:endParaRPr lang="zh-CN" altLang="en-US" sz="2800" dirty="0"/>
          </a:p>
        </p:txBody>
      </p:sp>
    </p:spTree>
    <p:extLst>
      <p:ext uri="{BB962C8B-B14F-4D97-AF65-F5344CB8AC3E}">
        <p14:creationId xmlns:p14="http://schemas.microsoft.com/office/powerpoint/2010/main" val="3890797704"/>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TotalTime>
  <Words>309</Words>
  <Application>Microsoft Office PowerPoint</Application>
  <PresentationFormat>宽屏</PresentationFormat>
  <Paragraphs>14</Paragraphs>
  <Slides>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Arial</vt:lpstr>
      <vt:lpstr>Trebuchet MS</vt:lpstr>
      <vt:lpstr>Wingdings 3</vt:lpstr>
      <vt:lpstr>平面</vt:lpstr>
      <vt:lpstr>回溯法 （实验一和实验二任选一个实验完成）</vt:lpstr>
      <vt:lpstr> 实验一内容和要求：</vt:lpstr>
      <vt:lpstr>实验二内容和要求：</vt:lpstr>
      <vt:lpstr>实验室地点：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分治算法的设计与分析</dc:title>
  <dc:creator>liuxh</dc:creator>
  <cp:lastModifiedBy>lenovo</cp:lastModifiedBy>
  <cp:revision>12</cp:revision>
  <dcterms:created xsi:type="dcterms:W3CDTF">2024-04-23T00:59:24Z</dcterms:created>
  <dcterms:modified xsi:type="dcterms:W3CDTF">2026-05-17T22:05:55Z</dcterms:modified>
</cp:coreProperties>
</file>