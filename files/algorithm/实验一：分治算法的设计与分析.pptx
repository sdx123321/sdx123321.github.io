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
  </p:notesMasterIdLst>
  <p:sldIdLst>
    <p:sldId id="256" r:id="rId2"/>
    <p:sldId id="257" r:id="rId3"/>
    <p:sldId id="259" r:id="rId4"/>
    <p:sldId id="268" r:id="rId5"/>
    <p:sldId id="258"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7" d="100"/>
          <a:sy n="67" d="100"/>
        </p:scale>
        <p:origin x="41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F21340-6D90-4B2F-861E-A5465E4D9462}" type="datetimeFigureOut">
              <a:rPr lang="zh-CN" altLang="en-US" smtClean="0"/>
              <a:t>2026/3/23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7EA01D-A272-4E3A-997F-553E5088BB69}" type="slidenum">
              <a:rPr lang="zh-CN" altLang="en-US" smtClean="0"/>
              <a:t>‹#›</a:t>
            </a:fld>
            <a:endParaRPr lang="zh-CN" altLang="en-US"/>
          </a:p>
        </p:txBody>
      </p:sp>
    </p:spTree>
    <p:extLst>
      <p:ext uri="{BB962C8B-B14F-4D97-AF65-F5344CB8AC3E}">
        <p14:creationId xmlns:p14="http://schemas.microsoft.com/office/powerpoint/2010/main" val="77137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报告将分为五个部分。首先，我们会明确本次实验的目的；接着，深入讲解分治法的核心思想以及两路合并排序和快速排序的算法原理；然后，介绍实验的具体环境、步骤和代码实现；之后，我们将展示详细的实验结果，并对数据进行深入分析；最后，对整个实验进行总结，并提出一些值得思考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两种算法进行一个总结。从表格中可以清晰地看到它们各自的优缺点。两路合并排序胜在稳定和可靠，而快速排序则胜在平均情况下的速度和空间效率。因此，在实际应用中，我们需要根据具体需求来选择合适的算法。比如，如果数据可能接近有序，或者对稳定性有要求，那么归并排序是更好的选择；如果追求极致的平均速度，并且数据分布较为随机，那么快速排序通常是首选。这里也留给大家几个思考题，希望能引发大家更深入的思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2A54C80-263E-416B-A8E0-580EDEADCBDC}"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9154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 id="2147483668"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solidFill>
                  <a:schemeClr val="tx1"/>
                </a:solidFill>
              </a:rPr>
              <a:t>分治算法的设计与分析</a:t>
            </a:r>
          </a:p>
        </p:txBody>
      </p:sp>
    </p:spTree>
    <p:extLst>
      <p:ext uri="{BB962C8B-B14F-4D97-AF65-F5344CB8AC3E}">
        <p14:creationId xmlns:p14="http://schemas.microsoft.com/office/powerpoint/2010/main" val="3940202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nSpc>
                <a:spcPct val="125000"/>
              </a:lnSpc>
              <a:defRPr/>
            </a:pPr>
            <a:r>
              <a:rPr lang="zh-CN" altLang="en-US" b="1" dirty="0">
                <a:solidFill>
                  <a:schemeClr val="tx1"/>
                </a:solidFill>
                <a:latin typeface="Noto Sans SC"/>
                <a:ea typeface="Noto Sans SC"/>
              </a:rPr>
              <a:t>实验内容和要求：</a:t>
            </a:r>
          </a:p>
        </p:txBody>
      </p:sp>
      <p:sp>
        <p:nvSpPr>
          <p:cNvPr id="3" name="内容占位符 2"/>
          <p:cNvSpPr>
            <a:spLocks noGrp="1"/>
          </p:cNvSpPr>
          <p:nvPr>
            <p:ph idx="1"/>
          </p:nvPr>
        </p:nvSpPr>
        <p:spPr>
          <a:xfrm>
            <a:off x="677334" y="1714501"/>
            <a:ext cx="8596668" cy="4326862"/>
          </a:xfrm>
        </p:spPr>
        <p:txBody>
          <a:bodyPr>
            <a:normAutofit lnSpcReduction="10000"/>
          </a:bodyPr>
          <a:lstStyle/>
          <a:p>
            <a:pPr>
              <a:lnSpc>
                <a:spcPct val="150000"/>
              </a:lnSpc>
            </a:pPr>
            <a:r>
              <a:rPr lang="zh-CN" altLang="zh-CN" sz="2400" dirty="0"/>
              <a:t>用分治法实现一组无序序列的两路合并排序和快速排序。</a:t>
            </a:r>
            <a:r>
              <a:rPr lang="zh-CN" altLang="en-US" sz="2400" dirty="0"/>
              <a:t>理解分治法的算法思想，清楚两路合并排序和快速排序算法的基本原理和实施过程，能将输入的一组无序序列排列为有序序列后输出。以小规模问题进行正确性验证。 </a:t>
            </a:r>
            <a:endParaRPr lang="en-US" altLang="zh-CN" sz="2400" dirty="0"/>
          </a:p>
          <a:p>
            <a:pPr>
              <a:lnSpc>
                <a:spcPct val="150000"/>
              </a:lnSpc>
            </a:pPr>
            <a:r>
              <a:rPr lang="zh-CN" altLang="en-US" sz="2400" dirty="0"/>
              <a:t>随机生成不同规模</a:t>
            </a:r>
            <a:r>
              <a:rPr lang="en-US" altLang="zh-CN" sz="2400" dirty="0"/>
              <a:t>(n=32,n=64,n=128,n=512,n=1024……)</a:t>
            </a:r>
            <a:r>
              <a:rPr lang="zh-CN" altLang="en-US" sz="2400" dirty="0"/>
              <a:t>的整型数组</a:t>
            </a:r>
            <a:r>
              <a:rPr lang="en-US" altLang="zh-CN" sz="2400" dirty="0"/>
              <a:t>,</a:t>
            </a:r>
            <a:r>
              <a:rPr lang="zh-CN" altLang="en-US" sz="2400" dirty="0"/>
              <a:t>比较上述两种排序算法的耗时。说明两种算法程序的效率是否符合理论预期，并分析影响效率的因素。</a:t>
            </a:r>
            <a:endParaRPr lang="zh-CN" altLang="zh-CN" sz="2400" dirty="0"/>
          </a:p>
          <a:p>
            <a:pPr marL="0" indent="0">
              <a:lnSpc>
                <a:spcPct val="150000"/>
              </a:lnSpc>
              <a:buNone/>
            </a:pPr>
            <a:r>
              <a:rPr lang="en-US" altLang="zh-CN" dirty="0"/>
              <a:t> </a:t>
            </a:r>
            <a:endParaRPr lang="zh-CN" altLang="en-US" dirty="0"/>
          </a:p>
        </p:txBody>
      </p:sp>
    </p:spTree>
    <p:extLst>
      <p:ext uri="{BB962C8B-B14F-4D97-AF65-F5344CB8AC3E}">
        <p14:creationId xmlns:p14="http://schemas.microsoft.com/office/powerpoint/2010/main" val="1727678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err="1">
                <a:latin typeface="Noto Sans SC"/>
                <a:ea typeface="Noto Sans SC"/>
                <a:cs typeface="Noto Sans SC"/>
                <a:sym typeface="Noto Sans SC"/>
              </a:rPr>
              <a:t>目录</a:t>
            </a:r>
            <a:endParaRPr lang="en-US" sz="1100" dirty="0"/>
          </a:p>
        </p:txBody>
      </p:sp>
      <p:sp>
        <p:nvSpPr>
          <p:cNvPr id="3" name="AutoShape 3"/>
          <p:cNvSpPr/>
          <p:nvPr/>
        </p:nvSpPr>
        <p:spPr>
          <a:xfrm>
            <a:off x="762000" y="1333500"/>
            <a:ext cx="762000" cy="50800"/>
          </a:xfrm>
          <a:prstGeom prst="roundRect">
            <a:avLst>
              <a:gd name="adj" fmla="val 0"/>
            </a:avLst>
          </a:prstGeom>
          <a:solidFill>
            <a:srgbClr val="38BDF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714500"/>
            <a:ext cx="10668000" cy="762000"/>
          </a:xfrm>
          <a:prstGeom prst="roundRect">
            <a:avLst>
              <a:gd name="adj" fmla="val 16666"/>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892300"/>
            <a:ext cx="406400" cy="406400"/>
          </a:xfrm>
          <a:prstGeom prst="rect">
            <a:avLst/>
          </a:prstGeom>
        </p:spPr>
      </p:pic>
      <p:sp>
        <p:nvSpPr>
          <p:cNvPr id="6" name="AutoShape 6"/>
          <p:cNvSpPr/>
          <p:nvPr/>
        </p:nvSpPr>
        <p:spPr>
          <a:xfrm>
            <a:off x="1651000" y="17145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latin typeface="Noto Sans SC"/>
                <a:ea typeface="Noto Sans SC"/>
                <a:cs typeface="Noto Sans SC"/>
                <a:sym typeface="Noto Sans SC"/>
              </a:rPr>
              <a:t>实验目的</a:t>
            </a:r>
            <a:endParaRPr lang="en-US" sz="1100" dirty="0"/>
          </a:p>
        </p:txBody>
      </p:sp>
      <p:sp>
        <p:nvSpPr>
          <p:cNvPr id="7" name="AutoShape 7"/>
          <p:cNvSpPr/>
          <p:nvPr/>
        </p:nvSpPr>
        <p:spPr>
          <a:xfrm>
            <a:off x="3683000" y="1714500"/>
            <a:ext cx="749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solidFill>
                  <a:schemeClr val="tx1">
                    <a:alpha val="90196"/>
                  </a:schemeClr>
                </a:solidFill>
                <a:latin typeface="Noto Sans SC"/>
                <a:ea typeface="Noto Sans SC"/>
                <a:cs typeface="Noto Sans SC"/>
                <a:sym typeface="Noto Sans SC"/>
              </a:rPr>
              <a:t>明确本次实验的核心目标与学习要点，掌握分治法在排序中的应用</a:t>
            </a:r>
            <a:r>
              <a:rPr lang="en-US" sz="1600" b="0" i="0" u="none" strike="noStrike" dirty="0">
                <a:solidFill>
                  <a:schemeClr val="tx1">
                    <a:alpha val="90196"/>
                  </a:schemeClr>
                </a:solidFill>
                <a:latin typeface="Noto Sans SC"/>
                <a:ea typeface="Noto Sans SC"/>
                <a:cs typeface="Noto Sans SC"/>
                <a:sym typeface="Noto Sans SC"/>
              </a:rPr>
              <a:t>。</a:t>
            </a:r>
            <a:endParaRPr lang="en-US" sz="1100" dirty="0">
              <a:solidFill>
                <a:schemeClr val="tx1">
                  <a:alpha val="90196"/>
                </a:schemeClr>
              </a:solidFill>
            </a:endParaRPr>
          </a:p>
        </p:txBody>
      </p:sp>
      <p:sp>
        <p:nvSpPr>
          <p:cNvPr id="8" name="AutoShape 8"/>
          <p:cNvSpPr/>
          <p:nvPr/>
        </p:nvSpPr>
        <p:spPr>
          <a:xfrm>
            <a:off x="762000" y="2603500"/>
            <a:ext cx="10668000" cy="762000"/>
          </a:xfrm>
          <a:prstGeom prst="roundRect">
            <a:avLst>
              <a:gd name="adj" fmla="val 16666"/>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781300"/>
            <a:ext cx="406400" cy="406400"/>
          </a:xfrm>
          <a:prstGeom prst="rect">
            <a:avLst/>
          </a:prstGeom>
        </p:spPr>
      </p:pic>
      <p:sp>
        <p:nvSpPr>
          <p:cNvPr id="10" name="AutoShape 10"/>
          <p:cNvSpPr/>
          <p:nvPr/>
        </p:nvSpPr>
        <p:spPr>
          <a:xfrm>
            <a:off x="1651000" y="26035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latin typeface="Noto Sans SC"/>
                <a:ea typeface="Noto Sans SC"/>
                <a:cs typeface="Noto Sans SC"/>
                <a:sym typeface="Noto Sans SC"/>
              </a:rPr>
              <a:t>实验原理</a:t>
            </a:r>
            <a:endParaRPr lang="en-US" sz="1100" dirty="0"/>
          </a:p>
        </p:txBody>
      </p:sp>
      <p:sp>
        <p:nvSpPr>
          <p:cNvPr id="11" name="AutoShape 11"/>
          <p:cNvSpPr/>
          <p:nvPr/>
        </p:nvSpPr>
        <p:spPr>
          <a:xfrm>
            <a:off x="3683000" y="2603500"/>
            <a:ext cx="749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latin typeface="Noto Sans SC"/>
                <a:ea typeface="Noto Sans SC"/>
                <a:cs typeface="Noto Sans SC"/>
                <a:sym typeface="Noto Sans SC"/>
              </a:rPr>
              <a:t>深入剖析分治法思想，详解两路合并排序与快速排序的核心算法逻辑</a:t>
            </a:r>
            <a:r>
              <a:rPr lang="en-US" sz="1600" b="0" i="0" u="none" strike="noStrike" dirty="0">
                <a:latin typeface="Noto Sans SC"/>
                <a:ea typeface="Noto Sans SC"/>
                <a:cs typeface="Noto Sans SC"/>
                <a:sym typeface="Noto Sans SC"/>
              </a:rPr>
              <a:t>。</a:t>
            </a:r>
            <a:endParaRPr lang="en-US" sz="1100" dirty="0"/>
          </a:p>
        </p:txBody>
      </p:sp>
      <p:sp>
        <p:nvSpPr>
          <p:cNvPr id="12" name="AutoShape 12"/>
          <p:cNvSpPr/>
          <p:nvPr/>
        </p:nvSpPr>
        <p:spPr>
          <a:xfrm>
            <a:off x="762000" y="3492500"/>
            <a:ext cx="10668000" cy="762000"/>
          </a:xfrm>
          <a:prstGeom prst="roundRect">
            <a:avLst>
              <a:gd name="adj" fmla="val 16666"/>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670300"/>
            <a:ext cx="406400" cy="406400"/>
          </a:xfrm>
          <a:prstGeom prst="rect">
            <a:avLst/>
          </a:prstGeom>
        </p:spPr>
      </p:pic>
      <p:sp>
        <p:nvSpPr>
          <p:cNvPr id="14" name="AutoShape 14"/>
          <p:cNvSpPr/>
          <p:nvPr/>
        </p:nvSpPr>
        <p:spPr>
          <a:xfrm>
            <a:off x="1651000" y="34925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latin typeface="Noto Sans SC"/>
                <a:ea typeface="Noto Sans SC"/>
                <a:cs typeface="Noto Sans SC"/>
                <a:sym typeface="Noto Sans SC"/>
              </a:rPr>
              <a:t>实验环境与内容</a:t>
            </a:r>
            <a:endParaRPr lang="en-US" sz="1100" dirty="0"/>
          </a:p>
        </p:txBody>
      </p:sp>
      <p:sp>
        <p:nvSpPr>
          <p:cNvPr id="15" name="AutoShape 15"/>
          <p:cNvSpPr/>
          <p:nvPr/>
        </p:nvSpPr>
        <p:spPr>
          <a:xfrm>
            <a:off x="3683000" y="3492500"/>
            <a:ext cx="749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latin typeface="Noto Sans SC"/>
                <a:ea typeface="Noto Sans SC"/>
                <a:cs typeface="Noto Sans SC"/>
                <a:sym typeface="Noto Sans SC"/>
              </a:rPr>
              <a:t>介绍实验所用软硬件环境、具体操作步骤及代码实现的关键细节</a:t>
            </a:r>
            <a:r>
              <a:rPr lang="en-US" sz="1600" b="0" i="0" u="none" strike="noStrike" dirty="0">
                <a:latin typeface="Noto Sans SC"/>
                <a:ea typeface="Noto Sans SC"/>
                <a:cs typeface="Noto Sans SC"/>
                <a:sym typeface="Noto Sans SC"/>
              </a:rPr>
              <a:t>。</a:t>
            </a:r>
            <a:endParaRPr lang="en-US" sz="1100" dirty="0"/>
          </a:p>
        </p:txBody>
      </p:sp>
      <p:sp>
        <p:nvSpPr>
          <p:cNvPr id="16" name="AutoShape 16"/>
          <p:cNvSpPr/>
          <p:nvPr/>
        </p:nvSpPr>
        <p:spPr>
          <a:xfrm>
            <a:off x="762000" y="4381500"/>
            <a:ext cx="10668000" cy="762000"/>
          </a:xfrm>
          <a:prstGeom prst="roundRect">
            <a:avLst>
              <a:gd name="adj" fmla="val 16666"/>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559300"/>
            <a:ext cx="406400" cy="406400"/>
          </a:xfrm>
          <a:prstGeom prst="rect">
            <a:avLst/>
          </a:prstGeom>
        </p:spPr>
      </p:pic>
      <p:sp>
        <p:nvSpPr>
          <p:cNvPr id="18" name="AutoShape 18"/>
          <p:cNvSpPr/>
          <p:nvPr/>
        </p:nvSpPr>
        <p:spPr>
          <a:xfrm>
            <a:off x="1651000" y="43815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latin typeface="Noto Sans SC"/>
                <a:ea typeface="Noto Sans SC"/>
                <a:cs typeface="Noto Sans SC"/>
                <a:sym typeface="Noto Sans SC"/>
              </a:rPr>
              <a:t>实验结果与分析</a:t>
            </a:r>
            <a:endParaRPr lang="en-US" sz="1100" dirty="0"/>
          </a:p>
        </p:txBody>
      </p:sp>
      <p:sp>
        <p:nvSpPr>
          <p:cNvPr id="19" name="AutoShape 19"/>
          <p:cNvSpPr/>
          <p:nvPr/>
        </p:nvSpPr>
        <p:spPr>
          <a:xfrm>
            <a:off x="3683000" y="4381500"/>
            <a:ext cx="749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solidFill>
                  <a:schemeClr val="tx1">
                    <a:alpha val="90196"/>
                  </a:schemeClr>
                </a:solidFill>
                <a:latin typeface="Noto Sans SC"/>
                <a:ea typeface="Noto Sans SC"/>
                <a:cs typeface="Noto Sans SC"/>
                <a:sym typeface="Noto Sans SC"/>
              </a:rPr>
              <a:t>展示小规模数据验证结果、大规模数据性能测试及可视化对比图表</a:t>
            </a:r>
            <a:r>
              <a:rPr lang="en-US" sz="1600" b="0" i="0" u="none" strike="noStrike" dirty="0">
                <a:solidFill>
                  <a:schemeClr val="tx1">
                    <a:alpha val="90196"/>
                  </a:schemeClr>
                </a:solidFill>
                <a:latin typeface="Noto Sans SC"/>
                <a:ea typeface="Noto Sans SC"/>
                <a:cs typeface="Noto Sans SC"/>
                <a:sym typeface="Noto Sans SC"/>
              </a:rPr>
              <a:t>。</a:t>
            </a:r>
            <a:endParaRPr lang="en-US" sz="1100" dirty="0">
              <a:solidFill>
                <a:schemeClr val="tx1">
                  <a:alpha val="90196"/>
                </a:schemeClr>
              </a:solidFill>
            </a:endParaRPr>
          </a:p>
        </p:txBody>
      </p:sp>
      <p:sp>
        <p:nvSpPr>
          <p:cNvPr id="20" name="AutoShape 20"/>
          <p:cNvSpPr/>
          <p:nvPr/>
        </p:nvSpPr>
        <p:spPr>
          <a:xfrm>
            <a:off x="762000" y="5270500"/>
            <a:ext cx="10668000" cy="762000"/>
          </a:xfrm>
          <a:prstGeom prst="roundRect">
            <a:avLst>
              <a:gd name="adj" fmla="val 16666"/>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5448300"/>
            <a:ext cx="406400" cy="406400"/>
          </a:xfrm>
          <a:prstGeom prst="rect">
            <a:avLst/>
          </a:prstGeom>
        </p:spPr>
      </p:pic>
      <p:sp>
        <p:nvSpPr>
          <p:cNvPr id="22" name="AutoShape 22"/>
          <p:cNvSpPr/>
          <p:nvPr/>
        </p:nvSpPr>
        <p:spPr>
          <a:xfrm>
            <a:off x="1651000" y="5270500"/>
            <a:ext cx="190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latin typeface="Noto Sans SC"/>
                <a:ea typeface="Noto Sans SC"/>
                <a:cs typeface="Noto Sans SC"/>
                <a:sym typeface="Noto Sans SC"/>
              </a:rPr>
              <a:t>总结与思考</a:t>
            </a:r>
            <a:endParaRPr lang="en-US" sz="1100" dirty="0"/>
          </a:p>
        </p:txBody>
      </p:sp>
      <p:sp>
        <p:nvSpPr>
          <p:cNvPr id="23" name="AutoShape 23"/>
          <p:cNvSpPr/>
          <p:nvPr/>
        </p:nvSpPr>
        <p:spPr>
          <a:xfrm>
            <a:off x="3683000" y="5270500"/>
            <a:ext cx="749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err="1">
                <a:latin typeface="Noto Sans SC"/>
                <a:ea typeface="Noto Sans SC"/>
                <a:cs typeface="Noto Sans SC"/>
                <a:sym typeface="Noto Sans SC"/>
              </a:rPr>
              <a:t>对比两种算法优缺点，总结实验结论，并提出扩展性思考问题</a:t>
            </a:r>
            <a:r>
              <a:rPr lang="en-US" sz="1600" b="0" i="0" u="none" strike="noStrike" dirty="0">
                <a:latin typeface="Noto Sans SC"/>
                <a:ea typeface="Noto Sans SC"/>
                <a:cs typeface="Noto Sans SC"/>
                <a:sym typeface="Noto Sans SC"/>
              </a:rPr>
              <a: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08000"/>
            <a:ext cx="402336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latin typeface="Noto Sans SC"/>
                <a:ea typeface="Noto Sans SC"/>
                <a:cs typeface="Noto Sans SC"/>
                <a:sym typeface="Noto Sans SC"/>
              </a:rPr>
              <a:t>思考</a:t>
            </a:r>
            <a:endParaRPr lang="en-US" sz="1100" dirty="0"/>
          </a:p>
        </p:txBody>
      </p:sp>
      <p:sp>
        <p:nvSpPr>
          <p:cNvPr id="3" name="AutoShape 3"/>
          <p:cNvSpPr/>
          <p:nvPr/>
        </p:nvSpPr>
        <p:spPr>
          <a:xfrm>
            <a:off x="762000" y="1397000"/>
            <a:ext cx="5207000" cy="3683000"/>
          </a:xfrm>
          <a:prstGeom prst="roundRect">
            <a:avLst>
              <a:gd name="adj" fmla="val 3448"/>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1587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latin typeface="Noto Sans SC"/>
                <a:ea typeface="Noto Sans SC"/>
                <a:cs typeface="Noto Sans SC"/>
                <a:sym typeface="Noto Sans SC"/>
              </a:rPr>
              <a:t>算法特性对比</a:t>
            </a:r>
            <a:endParaRPr lang="en-US" sz="1100"/>
          </a:p>
        </p:txBody>
      </p:sp>
      <p:graphicFrame>
        <p:nvGraphicFramePr>
          <p:cNvPr id="5" name="Table 5"/>
          <p:cNvGraphicFramePr>
            <a:graphicFrameLocks noGrp="1"/>
          </p:cNvGraphicFramePr>
          <p:nvPr>
            <p:extLst>
              <p:ext uri="{D42A27DB-BD31-4B8C-83A1-F6EECF244321}">
                <p14:modId xmlns:p14="http://schemas.microsoft.com/office/powerpoint/2010/main" val="2300363753"/>
              </p:ext>
            </p:extLst>
          </p:nvPr>
        </p:nvGraphicFramePr>
        <p:xfrm>
          <a:off x="1016000" y="2032000"/>
          <a:ext cx="4953000" cy="2921000"/>
        </p:xfrm>
        <a:graphic>
          <a:graphicData uri="http://schemas.openxmlformats.org/drawingml/2006/table">
            <a:tbl>
              <a:tblPr>
                <a:effectLst/>
              </a:tblPr>
              <a:tblGrid>
                <a:gridCol w="889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508000">
                <a:tc>
                  <a:txBody>
                    <a:bodyPr/>
                    <a:lstStyle/>
                    <a:p>
                      <a:pPr indent="0" algn="ctr">
                        <a:lnSpc>
                          <a:spcPct val="100000"/>
                        </a:lnSpc>
                        <a:defRPr/>
                      </a:pPr>
                      <a:r>
                        <a:rPr lang="en-US" sz="1400" b="1" i="0" u="none" strike="noStrike">
                          <a:solidFill>
                            <a:schemeClr val="tx1"/>
                          </a:solidFill>
                          <a:latin typeface="Noto Sans SC"/>
                          <a:ea typeface="Noto Sans SC"/>
                          <a:cs typeface="Noto Sans SC"/>
                          <a:sym typeface="Noto Sans SC"/>
                        </a:rPr>
                        <a:t>特性</a:t>
                      </a:r>
                      <a:endParaRPr lang="en-US" sz="1100">
                        <a:solidFill>
                          <a:schemeClr val="tx1"/>
                        </a:solidFill>
                      </a:endParaRPr>
                    </a:p>
                  </a:txBody>
                  <a:tcPr marL="101600" marR="101600" marT="101600" marB="101600" anchor="ctr">
                    <a:lnL>
                      <a:noFill/>
                    </a:lnL>
                    <a:lnR>
                      <a:noFill/>
                    </a:lnR>
                    <a:lnT>
                      <a:noFill/>
                    </a:lnT>
                    <a:lnB>
                      <a:noFill/>
                    </a:lnB>
                    <a:solidFill>
                      <a:srgbClr val="3B82F6">
                        <a:alpha val="30000"/>
                      </a:srgbClr>
                    </a:solidFill>
                  </a:tcPr>
                </a:tc>
                <a:tc>
                  <a:txBody>
                    <a:bodyPr/>
                    <a:lstStyle/>
                    <a:p>
                      <a:pPr indent="0" algn="ctr">
                        <a:lnSpc>
                          <a:spcPct val="100000"/>
                        </a:lnSpc>
                        <a:defRPr/>
                      </a:pPr>
                      <a:r>
                        <a:rPr lang="en-US" sz="1400" b="1" i="0" u="none" strike="noStrike">
                          <a:solidFill>
                            <a:schemeClr val="tx1"/>
                          </a:solidFill>
                          <a:latin typeface="Noto Sans SC"/>
                          <a:ea typeface="Noto Sans SC"/>
                          <a:cs typeface="Noto Sans SC"/>
                          <a:sym typeface="Noto Sans SC"/>
                        </a:rPr>
                        <a:t>两路合并排序</a:t>
                      </a:r>
                      <a:endParaRPr lang="en-US" sz="1100">
                        <a:solidFill>
                          <a:schemeClr val="tx1"/>
                        </a:solidFill>
                      </a:endParaRPr>
                    </a:p>
                  </a:txBody>
                  <a:tcPr marL="101600" marR="101600" marT="101600" marB="101600" anchor="ctr">
                    <a:lnL>
                      <a:noFill/>
                    </a:lnL>
                    <a:lnR>
                      <a:noFill/>
                    </a:lnR>
                    <a:lnT>
                      <a:noFill/>
                    </a:lnT>
                    <a:lnB>
                      <a:noFill/>
                    </a:lnB>
                    <a:solidFill>
                      <a:srgbClr val="3B82F6">
                        <a:alpha val="30000"/>
                      </a:srgbClr>
                    </a:solidFill>
                  </a:tcPr>
                </a:tc>
                <a:tc>
                  <a:txBody>
                    <a:bodyPr/>
                    <a:lstStyle/>
                    <a:p>
                      <a:pPr indent="0" algn="ctr">
                        <a:lnSpc>
                          <a:spcPct val="100000"/>
                        </a:lnSpc>
                        <a:defRPr/>
                      </a:pPr>
                      <a:r>
                        <a:rPr lang="en-US" sz="1400" b="1" i="0" u="none" strike="noStrike">
                          <a:solidFill>
                            <a:schemeClr val="tx1"/>
                          </a:solidFill>
                          <a:latin typeface="Noto Sans SC"/>
                          <a:ea typeface="Noto Sans SC"/>
                          <a:cs typeface="Noto Sans SC"/>
                          <a:sym typeface="Noto Sans SC"/>
                        </a:rPr>
                        <a:t>快速排序</a:t>
                      </a:r>
                      <a:endParaRPr lang="en-US" sz="1100">
                        <a:solidFill>
                          <a:schemeClr val="tx1"/>
                        </a:solidFill>
                      </a:endParaRPr>
                    </a:p>
                  </a:txBody>
                  <a:tcPr marL="101600" marR="101600" marT="101600" marB="101600" anchor="ctr">
                    <a:lnL>
                      <a:noFill/>
                    </a:lnL>
                    <a:lnR>
                      <a:noFill/>
                    </a:lnR>
                    <a:lnT>
                      <a:noFill/>
                    </a:lnT>
                    <a:lnB>
                      <a:noFill/>
                    </a:lnB>
                    <a:solidFill>
                      <a:srgbClr val="3B82F6">
                        <a:alpha val="3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300" b="0" i="0" u="none" strike="noStrike">
                          <a:solidFill>
                            <a:schemeClr val="tx1"/>
                          </a:solidFill>
                          <a:latin typeface="Noto Sans SC"/>
                          <a:ea typeface="Noto Sans SC"/>
                          <a:cs typeface="Noto Sans SC"/>
                          <a:sym typeface="Noto Sans SC"/>
                        </a:rPr>
                        <a:t>时间复杂度</a:t>
                      </a:r>
                      <a:endParaRPr lang="en-US" sz="1100">
                        <a:solidFill>
                          <a:schemeClr val="tx1"/>
                        </a:solidFill>
                      </a:endParaRPr>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chemeClr val="tx1"/>
                          </a:solidFill>
                          <a:latin typeface="Noto Sans SC"/>
                          <a:ea typeface="Noto Sans SC"/>
                          <a:cs typeface="Noto Sans SC"/>
                          <a:sym typeface="Noto Sans SC"/>
                        </a:rPr>
                        <a:t>稳定 O(nlogn)</a:t>
                      </a:r>
                      <a:endParaRPr lang="en-US" sz="1100">
                        <a:solidFill>
                          <a:schemeClr val="tx1"/>
                        </a:solidFill>
                      </a:endParaRPr>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chemeClr val="tx1"/>
                          </a:solidFill>
                          <a:latin typeface="Noto Sans SC"/>
                          <a:ea typeface="Noto Sans SC"/>
                          <a:cs typeface="Noto Sans SC"/>
                          <a:sym typeface="Noto Sans SC"/>
                        </a:rPr>
                        <a:t>平均 O(nlogn)，最坏 O(n²)</a:t>
                      </a:r>
                      <a:endParaRPr lang="en-US" sz="1100">
                        <a:solidFill>
                          <a:schemeClr val="tx1"/>
                        </a:solidFill>
                      </a:endParaRPr>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300" b="0" i="0" u="none" strike="noStrike">
                          <a:solidFill>
                            <a:schemeClr val="tx1"/>
                          </a:solidFill>
                          <a:latin typeface="Noto Sans SC"/>
                          <a:ea typeface="Noto Sans SC"/>
                          <a:cs typeface="Noto Sans SC"/>
                          <a:sym typeface="Noto Sans SC"/>
                        </a:rPr>
                        <a:t>空间复杂度</a:t>
                      </a:r>
                      <a:endParaRPr lang="en-US" sz="1100">
                        <a:solidFill>
                          <a:schemeClr val="tx1"/>
                        </a:solidFill>
                      </a:endParaRPr>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dirty="0">
                          <a:solidFill>
                            <a:schemeClr val="tx1"/>
                          </a:solidFill>
                          <a:latin typeface="Noto Sans SC"/>
                          <a:ea typeface="Noto Sans SC"/>
                          <a:cs typeface="Noto Sans SC"/>
                          <a:sym typeface="Noto Sans SC"/>
                        </a:rPr>
                        <a:t>O(n) (</a:t>
                      </a:r>
                      <a:r>
                        <a:rPr lang="en-US" sz="1300" b="0" i="0" u="none" strike="noStrike" dirty="0" err="1">
                          <a:solidFill>
                            <a:schemeClr val="tx1"/>
                          </a:solidFill>
                          <a:latin typeface="Noto Sans SC"/>
                          <a:ea typeface="Noto Sans SC"/>
                          <a:cs typeface="Noto Sans SC"/>
                          <a:sym typeface="Noto Sans SC"/>
                        </a:rPr>
                        <a:t>需辅助空间</a:t>
                      </a:r>
                      <a:r>
                        <a:rPr lang="en-US" sz="1300" b="0" i="0" u="none" strike="noStrike" dirty="0">
                          <a:solidFill>
                            <a:schemeClr val="tx1"/>
                          </a:solidFill>
                          <a:latin typeface="Noto Sans SC"/>
                          <a:ea typeface="Noto Sans SC"/>
                          <a:cs typeface="Noto Sans SC"/>
                          <a:sym typeface="Noto Sans SC"/>
                        </a:rPr>
                        <a:t>)</a:t>
                      </a:r>
                      <a:endParaRPr lang="en-US" sz="1100" dirty="0">
                        <a:solidFill>
                          <a:schemeClr val="tx1"/>
                        </a:solidFill>
                      </a:endParaRPr>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dirty="0">
                          <a:solidFill>
                            <a:schemeClr val="tx1"/>
                          </a:solidFill>
                          <a:latin typeface="Noto Sans SC"/>
                          <a:ea typeface="Noto Sans SC"/>
                          <a:cs typeface="Noto Sans SC"/>
                          <a:sym typeface="Noto Sans SC"/>
                        </a:rPr>
                        <a:t>O(</a:t>
                      </a:r>
                      <a:r>
                        <a:rPr lang="en-US" sz="1300" b="0" i="0" u="none" strike="noStrike" dirty="0" err="1">
                          <a:solidFill>
                            <a:schemeClr val="tx1"/>
                          </a:solidFill>
                          <a:latin typeface="Noto Sans SC"/>
                          <a:ea typeface="Noto Sans SC"/>
                          <a:cs typeface="Noto Sans SC"/>
                          <a:sym typeface="Noto Sans SC"/>
                        </a:rPr>
                        <a:t>logn</a:t>
                      </a:r>
                      <a:r>
                        <a:rPr lang="en-US" sz="1300" b="0" i="0" u="none" strike="noStrike" dirty="0">
                          <a:solidFill>
                            <a:schemeClr val="tx1"/>
                          </a:solidFill>
                          <a:latin typeface="Noto Sans SC"/>
                          <a:ea typeface="Noto Sans SC"/>
                          <a:cs typeface="Noto Sans SC"/>
                          <a:sym typeface="Noto Sans SC"/>
                        </a:rPr>
                        <a:t>) (</a:t>
                      </a:r>
                      <a:r>
                        <a:rPr lang="en-US" sz="1300" b="0" i="0" u="none" strike="noStrike" dirty="0" err="1">
                          <a:solidFill>
                            <a:schemeClr val="tx1"/>
                          </a:solidFill>
                          <a:latin typeface="Noto Sans SC"/>
                          <a:ea typeface="Noto Sans SC"/>
                          <a:cs typeface="Noto Sans SC"/>
                          <a:sym typeface="Noto Sans SC"/>
                        </a:rPr>
                        <a:t>原地排序</a:t>
                      </a:r>
                      <a:r>
                        <a:rPr lang="en-US" sz="1300" b="0" i="0" u="none" strike="noStrike" dirty="0">
                          <a:solidFill>
                            <a:schemeClr val="tx1"/>
                          </a:solidFill>
                          <a:latin typeface="Noto Sans SC"/>
                          <a:ea typeface="Noto Sans SC"/>
                          <a:cs typeface="Noto Sans SC"/>
                          <a:sym typeface="Noto Sans SC"/>
                        </a:rPr>
                        <a:t>)</a:t>
                      </a:r>
                      <a:endParaRPr lang="en-US" sz="1100" dirty="0">
                        <a:solidFill>
                          <a:schemeClr val="tx1"/>
                        </a:solidFill>
                      </a:endParaRPr>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2"/>
                  </a:ext>
                </a:extLst>
              </a:tr>
              <a:tr h="508000">
                <a:tc>
                  <a:txBody>
                    <a:bodyPr/>
                    <a:lstStyle/>
                    <a:p>
                      <a:pPr indent="0" algn="ctr">
                        <a:lnSpc>
                          <a:spcPct val="100000"/>
                        </a:lnSpc>
                        <a:defRPr/>
                      </a:pPr>
                      <a:r>
                        <a:rPr lang="en-US" sz="1300" b="0" i="0" u="none" strike="noStrike">
                          <a:solidFill>
                            <a:schemeClr val="tx1"/>
                          </a:solidFill>
                          <a:latin typeface="Noto Sans SC"/>
                          <a:ea typeface="Noto Sans SC"/>
                          <a:cs typeface="Noto Sans SC"/>
                          <a:sym typeface="Noto Sans SC"/>
                        </a:rPr>
                        <a:t>稳定性</a:t>
                      </a:r>
                      <a:endParaRPr lang="en-US" sz="1100">
                        <a:solidFill>
                          <a:schemeClr val="tx1"/>
                        </a:solidFill>
                      </a:endParaRPr>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dirty="0" err="1">
                          <a:solidFill>
                            <a:schemeClr val="tx1"/>
                          </a:solidFill>
                          <a:latin typeface="Noto Sans SC"/>
                          <a:ea typeface="Noto Sans SC"/>
                          <a:cs typeface="Noto Sans SC"/>
                          <a:sym typeface="Noto Sans SC"/>
                        </a:rPr>
                        <a:t>稳定</a:t>
                      </a:r>
                      <a:endParaRPr lang="en-US" sz="1100" dirty="0">
                        <a:solidFill>
                          <a:schemeClr val="tx1"/>
                        </a:solidFill>
                      </a:endParaRPr>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dirty="0" err="1">
                          <a:solidFill>
                            <a:schemeClr val="tx1"/>
                          </a:solidFill>
                          <a:latin typeface="Noto Sans SC"/>
                          <a:ea typeface="Noto Sans SC"/>
                          <a:cs typeface="Noto Sans SC"/>
                          <a:sym typeface="Noto Sans SC"/>
                        </a:rPr>
                        <a:t>不稳定</a:t>
                      </a:r>
                      <a:endParaRPr lang="en-US" sz="1100" dirty="0">
                        <a:solidFill>
                          <a:schemeClr val="tx1"/>
                        </a:solidFill>
                      </a:endParaRPr>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3"/>
                  </a:ext>
                </a:extLst>
              </a:tr>
              <a:tr h="635000">
                <a:tc>
                  <a:txBody>
                    <a:bodyPr/>
                    <a:lstStyle/>
                    <a:p>
                      <a:pPr indent="0" algn="ctr">
                        <a:lnSpc>
                          <a:spcPct val="100000"/>
                        </a:lnSpc>
                        <a:defRPr/>
                      </a:pPr>
                      <a:r>
                        <a:rPr lang="en-US" sz="1300" b="0" i="0" u="none" strike="noStrike">
                          <a:solidFill>
                            <a:schemeClr val="tx1"/>
                          </a:solidFill>
                          <a:latin typeface="Noto Sans SC"/>
                          <a:ea typeface="Noto Sans SC"/>
                          <a:cs typeface="Noto Sans SC"/>
                          <a:sym typeface="Noto Sans SC"/>
                        </a:rPr>
                        <a:t>适用场景</a:t>
                      </a:r>
                      <a:endParaRPr lang="en-US" sz="1100">
                        <a:solidFill>
                          <a:schemeClr val="tx1"/>
                        </a:solidFill>
                      </a:endParaRPr>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a:solidFill>
                            <a:schemeClr val="tx1"/>
                          </a:solidFill>
                          <a:latin typeface="Noto Sans SC"/>
                          <a:ea typeface="Noto Sans SC"/>
                          <a:cs typeface="Noto Sans SC"/>
                          <a:sym typeface="Noto Sans SC"/>
                        </a:rPr>
                        <a:t>大数据量、需稳定性</a:t>
                      </a:r>
                      <a:endParaRPr lang="en-US" sz="1100">
                        <a:solidFill>
                          <a:schemeClr val="tx1"/>
                        </a:solidFill>
                      </a:endParaRPr>
                    </a:p>
                  </a:txBody>
                  <a:tcPr marL="101600" marR="101600" marT="101600" marB="101600" anchor="ctr">
                    <a:lnL>
                      <a:noFill/>
                    </a:lnL>
                    <a:lnR>
                      <a:noFill/>
                    </a:lnR>
                    <a:lnT>
                      <a:noFill/>
                    </a:lnT>
                    <a:lnB>
                      <a:noFill/>
                    </a:lnB>
                    <a:noFill/>
                  </a:tcPr>
                </a:tc>
                <a:tc>
                  <a:txBody>
                    <a:bodyPr/>
                    <a:lstStyle/>
                    <a:p>
                      <a:pPr indent="0" algn="ctr">
                        <a:lnSpc>
                          <a:spcPct val="100000"/>
                        </a:lnSpc>
                        <a:defRPr/>
                      </a:pPr>
                      <a:r>
                        <a:rPr lang="en-US" sz="1300" b="0" i="0" u="none" strike="noStrike" dirty="0" err="1">
                          <a:solidFill>
                            <a:schemeClr val="tx1"/>
                          </a:solidFill>
                          <a:latin typeface="Noto Sans SC"/>
                          <a:ea typeface="Noto Sans SC"/>
                          <a:cs typeface="Noto Sans SC"/>
                          <a:sym typeface="Noto Sans SC"/>
                        </a:rPr>
                        <a:t>追求速度、数据随机</a:t>
                      </a:r>
                      <a:endParaRPr lang="en-US" sz="1100" dirty="0">
                        <a:solidFill>
                          <a:schemeClr val="tx1"/>
                        </a:solidFill>
                      </a:endParaRPr>
                    </a:p>
                  </a:txBody>
                  <a:tcPr marL="101600" marR="101600" marT="101600" marB="10160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
        <p:nvSpPr>
          <p:cNvPr id="6" name="AutoShape 6"/>
          <p:cNvSpPr/>
          <p:nvPr/>
        </p:nvSpPr>
        <p:spPr>
          <a:xfrm>
            <a:off x="5969000" y="952500"/>
            <a:ext cx="5461000" cy="4127500"/>
          </a:xfrm>
          <a:prstGeom prst="roundRect">
            <a:avLst>
              <a:gd name="adj" fmla="val 3448"/>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477000" y="1587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latin typeface="Noto Sans SC"/>
                <a:ea typeface="Noto Sans SC"/>
                <a:cs typeface="Noto Sans SC"/>
                <a:sym typeface="Noto Sans SC"/>
              </a:rPr>
              <a:t>深度思考</a:t>
            </a:r>
            <a:endParaRPr lang="en-US" sz="1100" dirty="0"/>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095500"/>
            <a:ext cx="254000" cy="254000"/>
          </a:xfrm>
          <a:prstGeom prst="rect">
            <a:avLst/>
          </a:prstGeom>
        </p:spPr>
      </p:pic>
      <p:sp>
        <p:nvSpPr>
          <p:cNvPr id="9" name="AutoShape 9"/>
          <p:cNvSpPr/>
          <p:nvPr/>
        </p:nvSpPr>
        <p:spPr>
          <a:xfrm>
            <a:off x="6794500" y="2057400"/>
            <a:ext cx="4381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latin typeface="Noto Sans SC"/>
                <a:ea typeface="Noto Sans SC"/>
                <a:cs typeface="Noto Sans SC"/>
                <a:sym typeface="Noto Sans SC"/>
              </a:rPr>
              <a:t>为什么快速排序在实际工程中（如Python的sort()）应用更广泛？</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667000"/>
            <a:ext cx="254000" cy="254000"/>
          </a:xfrm>
          <a:prstGeom prst="rect">
            <a:avLst/>
          </a:prstGeom>
        </p:spPr>
      </p:pic>
      <p:sp>
        <p:nvSpPr>
          <p:cNvPr id="11" name="AutoShape 11"/>
          <p:cNvSpPr/>
          <p:nvPr/>
        </p:nvSpPr>
        <p:spPr>
          <a:xfrm>
            <a:off x="6794500" y="2628900"/>
            <a:ext cx="4381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latin typeface="Noto Sans SC"/>
                <a:ea typeface="Noto Sans SC"/>
                <a:cs typeface="Noto Sans SC"/>
                <a:sym typeface="Noto Sans SC"/>
              </a:rPr>
              <a:t>如何优化快速排序，使其在面对有序数据时也能保持高效？</a:t>
            </a:r>
            <a:endParaRPr lang="en-US" sz="1100"/>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238500"/>
            <a:ext cx="254000" cy="254000"/>
          </a:xfrm>
          <a:prstGeom prst="rect">
            <a:avLst/>
          </a:prstGeom>
        </p:spPr>
      </p:pic>
      <p:sp>
        <p:nvSpPr>
          <p:cNvPr id="13" name="AutoShape 13"/>
          <p:cNvSpPr/>
          <p:nvPr/>
        </p:nvSpPr>
        <p:spPr>
          <a:xfrm>
            <a:off x="6794500" y="3200400"/>
            <a:ext cx="4381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latin typeface="Noto Sans SC"/>
                <a:ea typeface="Noto Sans SC"/>
                <a:cs typeface="Noto Sans SC"/>
                <a:sym typeface="Noto Sans SC"/>
              </a:rPr>
              <a:t>两路合并排序的空间开销能否优化</a:t>
            </a:r>
            <a:r>
              <a:rPr lang="en-US" sz="1400" b="0" i="0" u="none" strike="noStrike" dirty="0">
                <a:latin typeface="Noto Sans SC"/>
                <a:ea typeface="Noto Sans SC"/>
                <a:cs typeface="Noto Sans SC"/>
                <a:sym typeface="Noto Sans SC"/>
              </a:rPr>
              <a:t>？（</a:t>
            </a:r>
            <a:r>
              <a:rPr lang="en-US" sz="1400" b="0" i="0" u="none" strike="noStrike" dirty="0" err="1">
                <a:latin typeface="Noto Sans SC"/>
                <a:ea typeface="Noto Sans SC"/>
                <a:cs typeface="Noto Sans SC"/>
                <a:sym typeface="Noto Sans SC"/>
              </a:rPr>
              <a:t>提示：原地归并</a:t>
            </a:r>
            <a:r>
              <a:rPr lang="en-US" sz="1400" b="0" i="0" u="none" strike="noStrike" dirty="0">
                <a:latin typeface="Noto Sans SC"/>
                <a:ea typeface="Noto Sans SC"/>
                <a:cs typeface="Noto Sans SC"/>
                <a:sym typeface="Noto Sans SC"/>
              </a:rPr>
              <a:t>）</a:t>
            </a:r>
            <a:endParaRPr lang="en-US" sz="1100" dirty="0"/>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3810000"/>
            <a:ext cx="254000" cy="254000"/>
          </a:xfrm>
          <a:prstGeom prst="rect">
            <a:avLst/>
          </a:prstGeom>
        </p:spPr>
      </p:pic>
      <p:sp>
        <p:nvSpPr>
          <p:cNvPr id="15" name="AutoShape 15"/>
          <p:cNvSpPr/>
          <p:nvPr/>
        </p:nvSpPr>
        <p:spPr>
          <a:xfrm>
            <a:off x="6794500" y="3771900"/>
            <a:ext cx="43815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latin typeface="Noto Sans SC"/>
                <a:ea typeface="Noto Sans SC"/>
                <a:cs typeface="Noto Sans SC"/>
                <a:sym typeface="Noto Sans SC"/>
              </a:rPr>
              <a:t>当数据规模极大（如百万级别）时，你会选择哪种排序算法？为什么</a:t>
            </a:r>
            <a:r>
              <a:rPr lang="en-US" sz="1400" b="0" i="0" u="none" strike="noStrike" dirty="0">
                <a:latin typeface="Noto Sans SC"/>
                <a:ea typeface="Noto Sans SC"/>
                <a:cs typeface="Noto Sans SC"/>
                <a:sym typeface="Noto Sans SC"/>
              </a:rPr>
              <a:t>？</a:t>
            </a:r>
            <a:endParaRPr lang="en-US" sz="1100" dirty="0"/>
          </a:p>
        </p:txBody>
      </p:sp>
      <p:sp>
        <p:nvSpPr>
          <p:cNvPr id="16" name="AutoShape 16"/>
          <p:cNvSpPr/>
          <p:nvPr/>
        </p:nvSpPr>
        <p:spPr>
          <a:xfrm>
            <a:off x="762000" y="5334000"/>
            <a:ext cx="10668000" cy="1016000"/>
          </a:xfrm>
          <a:prstGeom prst="roundRect">
            <a:avLst>
              <a:gd name="adj" fmla="val 12500"/>
            </a:avLst>
          </a:prstGeom>
          <a:solidFill>
            <a:srgbClr val="1E3A8A">
              <a:alpha val="40000"/>
            </a:srgbClr>
          </a:solidFill>
          <a:ln w="12700" cap="flat" cmpd="sng">
            <a:solidFill>
              <a:srgbClr val="93C5FD">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5588000"/>
            <a:ext cx="508000" cy="508000"/>
          </a:xfrm>
          <a:prstGeom prst="rect">
            <a:avLst/>
          </a:prstGeom>
        </p:spPr>
      </p:pic>
      <p:sp>
        <p:nvSpPr>
          <p:cNvPr id="18" name="AutoShape 18"/>
          <p:cNvSpPr/>
          <p:nvPr/>
        </p:nvSpPr>
        <p:spPr>
          <a:xfrm>
            <a:off x="1651000" y="5461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latin typeface="Noto Sans SC"/>
                <a:ea typeface="Noto Sans SC"/>
                <a:cs typeface="Noto Sans SC"/>
                <a:sym typeface="Noto Sans SC"/>
              </a:rPr>
              <a:t>核心启示：</a:t>
            </a:r>
            <a:r>
              <a:rPr lang="en-US" sz="1600" b="0" i="0" u="none" strike="noStrike" dirty="0">
                <a:latin typeface="Noto Sans SC"/>
                <a:ea typeface="Noto Sans SC"/>
                <a:cs typeface="Noto Sans SC"/>
                <a:sym typeface="Noto Sans SC"/>
              </a:rPr>
              <a:t>算法没有绝对的优劣，只有场景的适配。归并排序胜在“稳”，快速排序胜在“快”。在实际选型中，需综合权衡数据特征与性能需求。</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实验室地点：</a:t>
            </a:r>
          </a:p>
        </p:txBody>
      </p:sp>
      <p:sp>
        <p:nvSpPr>
          <p:cNvPr id="3" name="内容占位符 2"/>
          <p:cNvSpPr>
            <a:spLocks noGrp="1"/>
          </p:cNvSpPr>
          <p:nvPr>
            <p:ph idx="1"/>
          </p:nvPr>
        </p:nvSpPr>
        <p:spPr/>
        <p:txBody>
          <a:bodyPr>
            <a:normAutofit/>
          </a:bodyPr>
          <a:lstStyle/>
          <a:p>
            <a:r>
              <a:rPr lang="zh-CN" altLang="en-US" sz="2800" dirty="0"/>
              <a:t>文科楼</a:t>
            </a:r>
            <a:r>
              <a:rPr lang="en-US" altLang="zh-CN" sz="2800" dirty="0"/>
              <a:t>231</a:t>
            </a:r>
            <a:endParaRPr lang="zh-CN" altLang="en-US" sz="2800" dirty="0"/>
          </a:p>
        </p:txBody>
      </p:sp>
    </p:spTree>
    <p:extLst>
      <p:ext uri="{BB962C8B-B14F-4D97-AF65-F5344CB8AC3E}">
        <p14:creationId xmlns:p14="http://schemas.microsoft.com/office/powerpoint/2010/main" val="3890797704"/>
      </p:ext>
    </p:extLst>
  </p:cSld>
  <p:clrMapOvr>
    <a:masterClrMapping/>
  </p:clrMapOvr>
</p:sld>
</file>

<file path=ppt/theme/theme1.xml><?xml version="1.0" encoding="utf-8"?>
<a:theme xmlns:a="http://schemas.openxmlformats.org/drawingml/2006/main" name="平面">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50</TotalTime>
  <Words>325</Words>
  <Application>Microsoft Office PowerPoint</Application>
  <PresentationFormat>宽屏</PresentationFormat>
  <Paragraphs>47</Paragraphs>
  <Slides>5</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vt:i4>
      </vt:variant>
    </vt:vector>
  </HeadingPairs>
  <TitlesOfParts>
    <vt:vector size="11" baseType="lpstr">
      <vt:lpstr>Noto Sans SC</vt:lpstr>
      <vt:lpstr>等线</vt:lpstr>
      <vt:lpstr>Arial</vt:lpstr>
      <vt:lpstr>Trebuchet MS</vt:lpstr>
      <vt:lpstr>Wingdings 3</vt:lpstr>
      <vt:lpstr>平面</vt:lpstr>
      <vt:lpstr>分治算法的设计与分析</vt:lpstr>
      <vt:lpstr>实验内容和要求：</vt:lpstr>
      <vt:lpstr>PowerPoint 演示文稿</vt:lpstr>
      <vt:lpstr>PowerPoint 演示文稿</vt:lpstr>
      <vt:lpstr>实验室地点：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分治算法的设计与分析</dc:title>
  <dc:creator>liuxh</dc:creator>
  <cp:lastModifiedBy>lenovo</cp:lastModifiedBy>
  <cp:revision>7</cp:revision>
  <dcterms:created xsi:type="dcterms:W3CDTF">2024-04-23T00:59:24Z</dcterms:created>
  <dcterms:modified xsi:type="dcterms:W3CDTF">2026-03-22T23:42:26Z</dcterms:modified>
</cp:coreProperties>
</file>