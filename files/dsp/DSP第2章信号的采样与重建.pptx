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  <p:sldMasterId id="2147483948" r:id="rId2"/>
  </p:sldMasterIdLst>
  <p:notesMasterIdLst>
    <p:notesMasterId r:id="rId29"/>
  </p:notesMasterIdLst>
  <p:handoutMasterIdLst>
    <p:handoutMasterId r:id="rId30"/>
  </p:handoutMasterIdLst>
  <p:sldIdLst>
    <p:sldId id="677" r:id="rId3"/>
    <p:sldId id="678" r:id="rId4"/>
    <p:sldId id="679" r:id="rId5"/>
    <p:sldId id="680" r:id="rId6"/>
    <p:sldId id="681" r:id="rId7"/>
    <p:sldId id="682" r:id="rId8"/>
    <p:sldId id="683" r:id="rId9"/>
    <p:sldId id="684" r:id="rId10"/>
    <p:sldId id="685" r:id="rId11"/>
    <p:sldId id="686" r:id="rId12"/>
    <p:sldId id="687" r:id="rId13"/>
    <p:sldId id="688" r:id="rId14"/>
    <p:sldId id="691" r:id="rId15"/>
    <p:sldId id="692" r:id="rId16"/>
    <p:sldId id="693" r:id="rId17"/>
    <p:sldId id="694" r:id="rId18"/>
    <p:sldId id="695" r:id="rId19"/>
    <p:sldId id="696" r:id="rId20"/>
    <p:sldId id="697" r:id="rId21"/>
    <p:sldId id="700" r:id="rId22"/>
    <p:sldId id="698" r:id="rId23"/>
    <p:sldId id="706" r:id="rId24"/>
    <p:sldId id="707" r:id="rId25"/>
    <p:sldId id="708" r:id="rId26"/>
    <p:sldId id="704" r:id="rId27"/>
    <p:sldId id="705" r:id="rId28"/>
  </p:sldIdLst>
  <p:sldSz cx="9144000" cy="6858000" type="screen4x3"/>
  <p:notesSz cx="7102475" cy="102330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0000"/>
    <a:srgbClr val="FF330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13" autoAdjust="0"/>
    <p:restoredTop sz="94658" autoAdjust="0"/>
  </p:normalViewPr>
  <p:slideViewPr>
    <p:cSldViewPr>
      <p:cViewPr varScale="1">
        <p:scale>
          <a:sx n="82" d="100"/>
          <a:sy n="82" d="100"/>
        </p:scale>
        <p:origin x="148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114"/>
    </p:cViewPr>
  </p:sorterViewPr>
  <p:notesViewPr>
    <p:cSldViewPr>
      <p:cViewPr varScale="1">
        <p:scale>
          <a:sx n="56" d="100"/>
          <a:sy n="56" d="100"/>
        </p:scale>
        <p:origin x="-1242" y="-96"/>
      </p:cViewPr>
      <p:guideLst>
        <p:guide orient="horz" pos="3223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fld id="{056B376E-F8D8-461B-AD60-7A19F46C54D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8694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1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1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1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fld id="{AF1A803D-D698-46AD-AF67-D7ECD8A4F9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453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8A76F7-0C71-4DCC-81AD-F8BCA2DBF4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576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8A76F7-0C71-4DCC-81AD-F8BCA2DBF4D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452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-12"/>
              <a:ext cx="5760" cy="1045"/>
              <a:chOff x="0" y="-9"/>
              <a:chExt cx="5760" cy="1045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76435 w 4848"/>
                  <a:gd name="T1" fmla="*/ 485940542 h 432"/>
                  <a:gd name="T2" fmla="*/ 0 w 4848"/>
                  <a:gd name="T3" fmla="*/ 485940542 h 432"/>
                  <a:gd name="T4" fmla="*/ 0 w 4848"/>
                  <a:gd name="T5" fmla="*/ 0 h 432"/>
                  <a:gd name="T6" fmla="*/ 76435 w 4848"/>
                  <a:gd name="T7" fmla="*/ 0 h 432"/>
                  <a:gd name="T8" fmla="*/ 76435 w 4848"/>
                  <a:gd name="T9" fmla="*/ 48594054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7 w 15"/>
                    <a:gd name="T1" fmla="*/ 3 h 23"/>
                    <a:gd name="T2" fmla="*/ 110 w 15"/>
                    <a:gd name="T3" fmla="*/ 3 h 23"/>
                    <a:gd name="T4" fmla="*/ 97 w 15"/>
                    <a:gd name="T5" fmla="*/ 3 h 23"/>
                    <a:gd name="T6" fmla="*/ 37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7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2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2 w 30"/>
                    <a:gd name="T7" fmla="*/ 2 h 42"/>
                    <a:gd name="T8" fmla="*/ 47 w 30"/>
                    <a:gd name="T9" fmla="*/ 2 h 42"/>
                    <a:gd name="T10" fmla="*/ 44 w 30"/>
                    <a:gd name="T11" fmla="*/ 2 h 42"/>
                    <a:gd name="T12" fmla="*/ 32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6 w 69"/>
                    <a:gd name="T5" fmla="*/ 1 h 47"/>
                    <a:gd name="T6" fmla="*/ 48 w 69"/>
                    <a:gd name="T7" fmla="*/ 2 h 47"/>
                    <a:gd name="T8" fmla="*/ 34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3 h 277"/>
                    <a:gd name="T10" fmla="*/ 122 w 355"/>
                    <a:gd name="T11" fmla="*/ 5 h 277"/>
                    <a:gd name="T12" fmla="*/ 136 w 355"/>
                    <a:gd name="T13" fmla="*/ 6 h 277"/>
                    <a:gd name="T14" fmla="*/ 148 w 355"/>
                    <a:gd name="T15" fmla="*/ 6 h 277"/>
                    <a:gd name="T16" fmla="*/ 154 w 355"/>
                    <a:gd name="T17" fmla="*/ 7 h 277"/>
                    <a:gd name="T18" fmla="*/ 176 w 355"/>
                    <a:gd name="T19" fmla="*/ 7 h 277"/>
                    <a:gd name="T20" fmla="*/ 170 w 355"/>
                    <a:gd name="T21" fmla="*/ 9 h 277"/>
                    <a:gd name="T22" fmla="*/ 177 w 355"/>
                    <a:gd name="T23" fmla="*/ 10 h 277"/>
                    <a:gd name="T24" fmla="*/ 182 w 355"/>
                    <a:gd name="T25" fmla="*/ 10 h 277"/>
                    <a:gd name="T26" fmla="*/ 200 w 355"/>
                    <a:gd name="T27" fmla="*/ 10 h 277"/>
                    <a:gd name="T28" fmla="*/ 220 w 355"/>
                    <a:gd name="T29" fmla="*/ 11 h 277"/>
                    <a:gd name="T30" fmla="*/ 238 w 355"/>
                    <a:gd name="T31" fmla="*/ 11 h 277"/>
                    <a:gd name="T32" fmla="*/ 256 w 355"/>
                    <a:gd name="T33" fmla="*/ 11 h 277"/>
                    <a:gd name="T34" fmla="*/ 280 w 355"/>
                    <a:gd name="T35" fmla="*/ 12 h 277"/>
                    <a:gd name="T36" fmla="*/ 298 w 355"/>
                    <a:gd name="T37" fmla="*/ 12 h 277"/>
                    <a:gd name="T38" fmla="*/ 336 w 355"/>
                    <a:gd name="T39" fmla="*/ 12 h 277"/>
                    <a:gd name="T40" fmla="*/ 326 w 355"/>
                    <a:gd name="T41" fmla="*/ 12 h 277"/>
                    <a:gd name="T42" fmla="*/ 306 w 355"/>
                    <a:gd name="T43" fmla="*/ 12 h 277"/>
                    <a:gd name="T44" fmla="*/ 284 w 355"/>
                    <a:gd name="T45" fmla="*/ 12 h 277"/>
                    <a:gd name="T46" fmla="*/ 272 w 355"/>
                    <a:gd name="T47" fmla="*/ 12 h 277"/>
                    <a:gd name="T48" fmla="*/ 236 w 355"/>
                    <a:gd name="T49" fmla="*/ 12 h 277"/>
                    <a:gd name="T50" fmla="*/ 218 w 355"/>
                    <a:gd name="T51" fmla="*/ 12 h 277"/>
                    <a:gd name="T52" fmla="*/ 172 w 355"/>
                    <a:gd name="T53" fmla="*/ 11 h 277"/>
                    <a:gd name="T54" fmla="*/ 160 w 355"/>
                    <a:gd name="T55" fmla="*/ 10 h 277"/>
                    <a:gd name="T56" fmla="*/ 126 w 355"/>
                    <a:gd name="T57" fmla="*/ 9 h 277"/>
                    <a:gd name="T58" fmla="*/ 108 w 355"/>
                    <a:gd name="T59" fmla="*/ 8 h 277"/>
                    <a:gd name="T60" fmla="*/ 94 w 355"/>
                    <a:gd name="T61" fmla="*/ 7 h 277"/>
                    <a:gd name="T62" fmla="*/ 68 w 355"/>
                    <a:gd name="T63" fmla="*/ 5 h 277"/>
                    <a:gd name="T64" fmla="*/ 64 w 355"/>
                    <a:gd name="T65" fmla="*/ 5 h 277"/>
                    <a:gd name="T66" fmla="*/ 58 w 355"/>
                    <a:gd name="T67" fmla="*/ 5 h 277"/>
                    <a:gd name="T68" fmla="*/ 54 w 355"/>
                    <a:gd name="T69" fmla="*/ 4 h 277"/>
                    <a:gd name="T70" fmla="*/ 38 w 355"/>
                    <a:gd name="T71" fmla="*/ 2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6 w 156"/>
                    <a:gd name="T7" fmla="*/ 2 h 206"/>
                    <a:gd name="T8" fmla="*/ 122 w 156"/>
                    <a:gd name="T9" fmla="*/ 2 h 206"/>
                    <a:gd name="T10" fmla="*/ 128 w 156"/>
                    <a:gd name="T11" fmla="*/ 2 h 206"/>
                    <a:gd name="T12" fmla="*/ 140 w 156"/>
                    <a:gd name="T13" fmla="*/ 0 h 206"/>
                    <a:gd name="T14" fmla="*/ 166 w 156"/>
                    <a:gd name="T15" fmla="*/ 2 h 206"/>
                    <a:gd name="T16" fmla="*/ 162 w 156"/>
                    <a:gd name="T17" fmla="*/ 2 h 206"/>
                    <a:gd name="T18" fmla="*/ 142 w 156"/>
                    <a:gd name="T19" fmla="*/ 2 h 206"/>
                    <a:gd name="T20" fmla="*/ 148 w 156"/>
                    <a:gd name="T21" fmla="*/ 3 h 206"/>
                    <a:gd name="T22" fmla="*/ 158 w 156"/>
                    <a:gd name="T23" fmla="*/ 4 h 206"/>
                    <a:gd name="T24" fmla="*/ 162 w 156"/>
                    <a:gd name="T25" fmla="*/ 4 h 206"/>
                    <a:gd name="T26" fmla="*/ 144 w 156"/>
                    <a:gd name="T27" fmla="*/ 4 h 206"/>
                    <a:gd name="T28" fmla="*/ 132 w 156"/>
                    <a:gd name="T29" fmla="*/ 5 h 206"/>
                    <a:gd name="T30" fmla="*/ 120 w 156"/>
                    <a:gd name="T31" fmla="*/ 5 h 206"/>
                    <a:gd name="T32" fmla="*/ 116 w 156"/>
                    <a:gd name="T33" fmla="*/ 6 h 206"/>
                    <a:gd name="T34" fmla="*/ 104 w 156"/>
                    <a:gd name="T35" fmla="*/ 7 h 206"/>
                    <a:gd name="T36" fmla="*/ 98 w 156"/>
                    <a:gd name="T37" fmla="*/ 7 h 206"/>
                    <a:gd name="T38" fmla="*/ 76 w 156"/>
                    <a:gd name="T39" fmla="*/ 7 h 206"/>
                    <a:gd name="T40" fmla="*/ 72 w 156"/>
                    <a:gd name="T41" fmla="*/ 6 h 206"/>
                    <a:gd name="T42" fmla="*/ 60 w 156"/>
                    <a:gd name="T43" fmla="*/ 6 h 206"/>
                    <a:gd name="T44" fmla="*/ 42 w 156"/>
                    <a:gd name="T45" fmla="*/ 6 h 206"/>
                    <a:gd name="T46" fmla="*/ 28 w 156"/>
                    <a:gd name="T47" fmla="*/ 6 h 206"/>
                    <a:gd name="T48" fmla="*/ 10 w 156"/>
                    <a:gd name="T49" fmla="*/ 5 h 206"/>
                    <a:gd name="T50" fmla="*/ 4 w 156"/>
                    <a:gd name="T51" fmla="*/ 4 h 206"/>
                    <a:gd name="T52" fmla="*/ 0 w 156"/>
                    <a:gd name="T53" fmla="*/ 4 h 206"/>
                    <a:gd name="T54" fmla="*/ 20 w 156"/>
                    <a:gd name="T55" fmla="*/ 3 h 206"/>
                    <a:gd name="T56" fmla="*/ 32 w 156"/>
                    <a:gd name="T57" fmla="*/ 3 h 206"/>
                    <a:gd name="T58" fmla="*/ 34 w 156"/>
                    <a:gd name="T59" fmla="*/ 2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8 w 109"/>
                    <a:gd name="T7" fmla="*/ 3 h 38"/>
                    <a:gd name="T8" fmla="*/ 106 w 109"/>
                    <a:gd name="T9" fmla="*/ 0 h 38"/>
                    <a:gd name="T10" fmla="*/ 92 w 109"/>
                    <a:gd name="T11" fmla="*/ 3 h 38"/>
                    <a:gd name="T12" fmla="*/ 76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6 w 76"/>
                    <a:gd name="T7" fmla="*/ 2 h 104"/>
                    <a:gd name="T8" fmla="*/ 38 w 76"/>
                    <a:gd name="T9" fmla="*/ 2 h 104"/>
                    <a:gd name="T10" fmla="*/ 38 w 76"/>
                    <a:gd name="T11" fmla="*/ 2 h 104"/>
                    <a:gd name="T12" fmla="*/ 42 w 76"/>
                    <a:gd name="T13" fmla="*/ 2 h 104"/>
                    <a:gd name="T14" fmla="*/ 38 w 76"/>
                    <a:gd name="T15" fmla="*/ 2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2 h 104"/>
                    <a:gd name="T24" fmla="*/ 20 w 76"/>
                    <a:gd name="T25" fmla="*/ 3 h 104"/>
                    <a:gd name="T26" fmla="*/ 12 w 76"/>
                    <a:gd name="T27" fmla="*/ 3 h 104"/>
                    <a:gd name="T28" fmla="*/ 8 w 76"/>
                    <a:gd name="T29" fmla="*/ 3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3 w 49"/>
                    <a:gd name="T3" fmla="*/ 0 h 29"/>
                    <a:gd name="T4" fmla="*/ 26 w 49"/>
                    <a:gd name="T5" fmla="*/ 2 h 29"/>
                    <a:gd name="T6" fmla="*/ 19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4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4 h 48"/>
                    <a:gd name="T18" fmla="*/ 23 w 61"/>
                    <a:gd name="T19" fmla="*/ 6 h 48"/>
                    <a:gd name="T20" fmla="*/ 21 w 61"/>
                    <a:gd name="T21" fmla="*/ 4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2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2 h 182"/>
                    <a:gd name="T20" fmla="*/ 88 w 286"/>
                    <a:gd name="T21" fmla="*/ 2 h 182"/>
                    <a:gd name="T22" fmla="*/ 106 w 286"/>
                    <a:gd name="T23" fmla="*/ 4 h 182"/>
                    <a:gd name="T24" fmla="*/ 104 w 286"/>
                    <a:gd name="T25" fmla="*/ 5 h 182"/>
                    <a:gd name="T26" fmla="*/ 98 w 286"/>
                    <a:gd name="T27" fmla="*/ 6 h 182"/>
                    <a:gd name="T28" fmla="*/ 122 w 286"/>
                    <a:gd name="T29" fmla="*/ 5 h 182"/>
                    <a:gd name="T30" fmla="*/ 140 w 286"/>
                    <a:gd name="T31" fmla="*/ 6 h 182"/>
                    <a:gd name="T32" fmla="*/ 168 w 286"/>
                    <a:gd name="T33" fmla="*/ 6 h 182"/>
                    <a:gd name="T34" fmla="*/ 174 w 286"/>
                    <a:gd name="T35" fmla="*/ 6 h 182"/>
                    <a:gd name="T36" fmla="*/ 168 w 286"/>
                    <a:gd name="T37" fmla="*/ 6 h 182"/>
                    <a:gd name="T38" fmla="*/ 178 w 286"/>
                    <a:gd name="T39" fmla="*/ 6 h 182"/>
                    <a:gd name="T40" fmla="*/ 186 w 286"/>
                    <a:gd name="T41" fmla="*/ 5 h 182"/>
                    <a:gd name="T42" fmla="*/ 202 w 286"/>
                    <a:gd name="T43" fmla="*/ 5 h 182"/>
                    <a:gd name="T44" fmla="*/ 214 w 286"/>
                    <a:gd name="T45" fmla="*/ 5 h 182"/>
                    <a:gd name="T46" fmla="*/ 244 w 286"/>
                    <a:gd name="T47" fmla="*/ 7 h 182"/>
                    <a:gd name="T48" fmla="*/ 262 w 286"/>
                    <a:gd name="T49" fmla="*/ 7 h 182"/>
                    <a:gd name="T50" fmla="*/ 284 w 286"/>
                    <a:gd name="T51" fmla="*/ 7 h 182"/>
                    <a:gd name="T52" fmla="*/ 268 w 286"/>
                    <a:gd name="T53" fmla="*/ 6 h 182"/>
                    <a:gd name="T54" fmla="*/ 256 w 286"/>
                    <a:gd name="T55" fmla="*/ 6 h 182"/>
                    <a:gd name="T56" fmla="*/ 250 w 286"/>
                    <a:gd name="T57" fmla="*/ 5 h 182"/>
                    <a:gd name="T58" fmla="*/ 248 w 286"/>
                    <a:gd name="T59" fmla="*/ 5 h 182"/>
                    <a:gd name="T60" fmla="*/ 236 w 286"/>
                    <a:gd name="T61" fmla="*/ 5 h 182"/>
                    <a:gd name="T62" fmla="*/ 240 w 286"/>
                    <a:gd name="T63" fmla="*/ 4 h 182"/>
                    <a:gd name="T64" fmla="*/ 220 w 286"/>
                    <a:gd name="T65" fmla="*/ 3 h 182"/>
                    <a:gd name="T66" fmla="*/ 210 w 286"/>
                    <a:gd name="T67" fmla="*/ 2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2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3 h 78"/>
                    <a:gd name="T18" fmla="*/ 9 w 78"/>
                    <a:gd name="T19" fmla="*/ 2 h 78"/>
                    <a:gd name="T20" fmla="*/ 3 w 78"/>
                    <a:gd name="T21" fmla="*/ 2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2 h 80"/>
                    <a:gd name="T14" fmla="*/ 54 w 80"/>
                    <a:gd name="T15" fmla="*/ 3 h 80"/>
                    <a:gd name="T16" fmla="*/ 48 w 80"/>
                    <a:gd name="T17" fmla="*/ 4 h 80"/>
                    <a:gd name="T18" fmla="*/ 32 w 80"/>
                    <a:gd name="T19" fmla="*/ 3 h 80"/>
                    <a:gd name="T20" fmla="*/ 38 w 80"/>
                    <a:gd name="T21" fmla="*/ 2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2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4 h 174"/>
                    <a:gd name="T2" fmla="*/ 26 w 94"/>
                    <a:gd name="T3" fmla="*/ 5 h 174"/>
                    <a:gd name="T4" fmla="*/ 32 w 94"/>
                    <a:gd name="T5" fmla="*/ 4 h 174"/>
                    <a:gd name="T6" fmla="*/ 52 w 94"/>
                    <a:gd name="T7" fmla="*/ 4 h 174"/>
                    <a:gd name="T8" fmla="*/ 46 w 94"/>
                    <a:gd name="T9" fmla="*/ 5 h 174"/>
                    <a:gd name="T10" fmla="*/ 66 w 94"/>
                    <a:gd name="T11" fmla="*/ 5 h 174"/>
                    <a:gd name="T12" fmla="*/ 76 w 94"/>
                    <a:gd name="T13" fmla="*/ 6 h 174"/>
                    <a:gd name="T14" fmla="*/ 58 w 94"/>
                    <a:gd name="T15" fmla="*/ 6 h 174"/>
                    <a:gd name="T16" fmla="*/ 74 w 94"/>
                    <a:gd name="T17" fmla="*/ 7 h 174"/>
                    <a:gd name="T18" fmla="*/ 84 w 94"/>
                    <a:gd name="T19" fmla="*/ 6 h 174"/>
                    <a:gd name="T20" fmla="*/ 82 w 94"/>
                    <a:gd name="T21" fmla="*/ 5 h 174"/>
                    <a:gd name="T22" fmla="*/ 60 w 94"/>
                    <a:gd name="T23" fmla="*/ 4 h 174"/>
                    <a:gd name="T24" fmla="*/ 50 w 94"/>
                    <a:gd name="T25" fmla="*/ 3 h 174"/>
                    <a:gd name="T26" fmla="*/ 34 w 94"/>
                    <a:gd name="T27" fmla="*/ 3 h 174"/>
                    <a:gd name="T28" fmla="*/ 30 w 94"/>
                    <a:gd name="T29" fmla="*/ 2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3 h 174"/>
                    <a:gd name="T40" fmla="*/ 14 w 94"/>
                    <a:gd name="T41" fmla="*/ 4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3 w 43"/>
                    <a:gd name="T3" fmla="*/ 2 h 50"/>
                    <a:gd name="T4" fmla="*/ 75 w 43"/>
                    <a:gd name="T5" fmla="*/ 0 h 50"/>
                    <a:gd name="T6" fmla="*/ 47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11889 w 471"/>
                    <a:gd name="T1" fmla="*/ 339841 h 281"/>
                    <a:gd name="T2" fmla="*/ 14008 w 471"/>
                    <a:gd name="T3" fmla="*/ 303972 h 281"/>
                    <a:gd name="T4" fmla="*/ 12861 w 471"/>
                    <a:gd name="T5" fmla="*/ 297167 h 281"/>
                    <a:gd name="T6" fmla="*/ 9412 w 471"/>
                    <a:gd name="T7" fmla="*/ 264990 h 281"/>
                    <a:gd name="T8" fmla="*/ 2262 w 471"/>
                    <a:gd name="T9" fmla="*/ 261025 h 281"/>
                    <a:gd name="T10" fmla="*/ 0 w 471"/>
                    <a:gd name="T11" fmla="*/ 231867 h 281"/>
                    <a:gd name="T12" fmla="*/ 7032 w 471"/>
                    <a:gd name="T13" fmla="*/ 219014 h 281"/>
                    <a:gd name="T14" fmla="*/ 3367 w 471"/>
                    <a:gd name="T15" fmla="*/ 200325 h 281"/>
                    <a:gd name="T16" fmla="*/ 1021 w 471"/>
                    <a:gd name="T17" fmla="*/ 193948 h 281"/>
                    <a:gd name="T18" fmla="*/ 16520 w 471"/>
                    <a:gd name="T19" fmla="*/ 145728 h 281"/>
                    <a:gd name="T20" fmla="*/ 25331 w 471"/>
                    <a:gd name="T21" fmla="*/ 117107 h 281"/>
                    <a:gd name="T22" fmla="*/ 24587 w 471"/>
                    <a:gd name="T23" fmla="*/ 84991 h 281"/>
                    <a:gd name="T24" fmla="*/ 14008 w 471"/>
                    <a:gd name="T25" fmla="*/ 52004 h 281"/>
                    <a:gd name="T26" fmla="*/ 11826 w 471"/>
                    <a:gd name="T27" fmla="*/ 39049 h 281"/>
                    <a:gd name="T28" fmla="*/ 15175 w 471"/>
                    <a:gd name="T29" fmla="*/ 43529 h 281"/>
                    <a:gd name="T30" fmla="*/ 27756 w 471"/>
                    <a:gd name="T31" fmla="*/ 43042 h 281"/>
                    <a:gd name="T32" fmla="*/ 37010 w 471"/>
                    <a:gd name="T33" fmla="*/ 13210 h 281"/>
                    <a:gd name="T34" fmla="*/ 47629 w 471"/>
                    <a:gd name="T35" fmla="*/ 0 h 281"/>
                    <a:gd name="T36" fmla="*/ 51014 w 471"/>
                    <a:gd name="T37" fmla="*/ 2549 h 281"/>
                    <a:gd name="T38" fmla="*/ 53435 w 471"/>
                    <a:gd name="T39" fmla="*/ 10914 h 281"/>
                    <a:gd name="T40" fmla="*/ 56852 w 471"/>
                    <a:gd name="T41" fmla="*/ 6193 h 281"/>
                    <a:gd name="T42" fmla="*/ 63842 w 471"/>
                    <a:gd name="T43" fmla="*/ 9653 h 281"/>
                    <a:gd name="T44" fmla="*/ 67254 w 471"/>
                    <a:gd name="T45" fmla="*/ 10914 h 281"/>
                    <a:gd name="T46" fmla="*/ 81981 w 471"/>
                    <a:gd name="T47" fmla="*/ 17012 h 281"/>
                    <a:gd name="T48" fmla="*/ 90029 w 471"/>
                    <a:gd name="T49" fmla="*/ 28800 h 281"/>
                    <a:gd name="T50" fmla="*/ 97068 w 471"/>
                    <a:gd name="T51" fmla="*/ 20591 h 281"/>
                    <a:gd name="T52" fmla="*/ 100096 w 471"/>
                    <a:gd name="T53" fmla="*/ 17012 h 281"/>
                    <a:gd name="T54" fmla="*/ 113001 w 471"/>
                    <a:gd name="T55" fmla="*/ 17012 h 281"/>
                    <a:gd name="T56" fmla="*/ 122176 w 471"/>
                    <a:gd name="T57" fmla="*/ 39049 h 281"/>
                    <a:gd name="T58" fmla="*/ 133992 w 471"/>
                    <a:gd name="T59" fmla="*/ 71537 h 281"/>
                    <a:gd name="T60" fmla="*/ 142072 w 471"/>
                    <a:gd name="T61" fmla="*/ 84991 h 281"/>
                    <a:gd name="T62" fmla="*/ 148975 w 471"/>
                    <a:gd name="T63" fmla="*/ 82452 h 281"/>
                    <a:gd name="T64" fmla="*/ 156519 w 471"/>
                    <a:gd name="T65" fmla="*/ 78469 h 281"/>
                    <a:gd name="T66" fmla="*/ 168182 w 471"/>
                    <a:gd name="T67" fmla="*/ 86626 h 281"/>
                    <a:gd name="T68" fmla="*/ 173638 w 471"/>
                    <a:gd name="T69" fmla="*/ 98182 h 281"/>
                    <a:gd name="T70" fmla="*/ 178483 w 471"/>
                    <a:gd name="T71" fmla="*/ 109067 h 281"/>
                    <a:gd name="T72" fmla="*/ 184321 w 471"/>
                    <a:gd name="T73" fmla="*/ 135026 h 281"/>
                    <a:gd name="T74" fmla="*/ 186543 w 471"/>
                    <a:gd name="T75" fmla="*/ 145728 h 281"/>
                    <a:gd name="T76" fmla="*/ 187548 w 471"/>
                    <a:gd name="T77" fmla="*/ 152034 h 281"/>
                    <a:gd name="T78" fmla="*/ 179550 w 471"/>
                    <a:gd name="T79" fmla="*/ 171779 h 281"/>
                    <a:gd name="T80" fmla="*/ 186543 w 471"/>
                    <a:gd name="T81" fmla="*/ 171498 h 281"/>
                    <a:gd name="T82" fmla="*/ 198331 w 471"/>
                    <a:gd name="T83" fmla="*/ 188525 h 281"/>
                    <a:gd name="T84" fmla="*/ 211117 w 471"/>
                    <a:gd name="T85" fmla="*/ 190648 h 281"/>
                    <a:gd name="T86" fmla="*/ 220370 w 471"/>
                    <a:gd name="T87" fmla="*/ 203859 h 281"/>
                    <a:gd name="T88" fmla="*/ 221723 w 471"/>
                    <a:gd name="T89" fmla="*/ 208991 h 281"/>
                    <a:gd name="T90" fmla="*/ 221723 w 471"/>
                    <a:gd name="T91" fmla="*/ 213491 h 281"/>
                    <a:gd name="T92" fmla="*/ 228210 w 471"/>
                    <a:gd name="T93" fmla="*/ 208991 h 281"/>
                    <a:gd name="T94" fmla="*/ 231948 w 471"/>
                    <a:gd name="T95" fmla="*/ 207724 h 281"/>
                    <a:gd name="T96" fmla="*/ 254487 w 471"/>
                    <a:gd name="T97" fmla="*/ 224449 h 281"/>
                    <a:gd name="T98" fmla="*/ 258938 w 471"/>
                    <a:gd name="T99" fmla="*/ 241425 h 281"/>
                    <a:gd name="T100" fmla="*/ 269525 w 471"/>
                    <a:gd name="T101" fmla="*/ 243991 h 281"/>
                    <a:gd name="T102" fmla="*/ 272894 w 471"/>
                    <a:gd name="T103" fmla="*/ 261025 h 281"/>
                    <a:gd name="T104" fmla="*/ 261458 w 471"/>
                    <a:gd name="T105" fmla="*/ 313212 h 281"/>
                    <a:gd name="T106" fmla="*/ 251983 w 471"/>
                    <a:gd name="T107" fmla="*/ 3413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5 h 844"/>
                    <a:gd name="T8" fmla="*/ 586 w 984"/>
                    <a:gd name="T9" fmla="*/ 4 h 844"/>
                    <a:gd name="T10" fmla="*/ 606 w 984"/>
                    <a:gd name="T11" fmla="*/ 2 h 844"/>
                    <a:gd name="T12" fmla="*/ 642 w 984"/>
                    <a:gd name="T13" fmla="*/ 5 h 844"/>
                    <a:gd name="T14" fmla="*/ 682 w 984"/>
                    <a:gd name="T15" fmla="*/ 4 h 844"/>
                    <a:gd name="T16" fmla="*/ 706 w 984"/>
                    <a:gd name="T17" fmla="*/ 3 h 844"/>
                    <a:gd name="T18" fmla="*/ 762 w 984"/>
                    <a:gd name="T19" fmla="*/ 2 h 844"/>
                    <a:gd name="T20" fmla="*/ 798 w 984"/>
                    <a:gd name="T21" fmla="*/ 2 h 844"/>
                    <a:gd name="T22" fmla="*/ 798 w 984"/>
                    <a:gd name="T23" fmla="*/ 5 h 844"/>
                    <a:gd name="T24" fmla="*/ 790 w 984"/>
                    <a:gd name="T25" fmla="*/ 6 h 844"/>
                    <a:gd name="T26" fmla="*/ 766 w 984"/>
                    <a:gd name="T27" fmla="*/ 7 h 844"/>
                    <a:gd name="T28" fmla="*/ 762 w 984"/>
                    <a:gd name="T29" fmla="*/ 7 h 844"/>
                    <a:gd name="T30" fmla="*/ 802 w 984"/>
                    <a:gd name="T31" fmla="*/ 9 h 844"/>
                    <a:gd name="T32" fmla="*/ 786 w 984"/>
                    <a:gd name="T33" fmla="*/ 13 h 844"/>
                    <a:gd name="T34" fmla="*/ 830 w 984"/>
                    <a:gd name="T35" fmla="*/ 17 h 844"/>
                    <a:gd name="T36" fmla="*/ 854 w 984"/>
                    <a:gd name="T37" fmla="*/ 19 h 844"/>
                    <a:gd name="T38" fmla="*/ 830 w 984"/>
                    <a:gd name="T39" fmla="*/ 19 h 844"/>
                    <a:gd name="T40" fmla="*/ 746 w 984"/>
                    <a:gd name="T41" fmla="*/ 16 h 844"/>
                    <a:gd name="T42" fmla="*/ 678 w 984"/>
                    <a:gd name="T43" fmla="*/ 16 h 844"/>
                    <a:gd name="T44" fmla="*/ 590 w 984"/>
                    <a:gd name="T45" fmla="*/ 19 h 844"/>
                    <a:gd name="T46" fmla="*/ 642 w 984"/>
                    <a:gd name="T47" fmla="*/ 25 h 844"/>
                    <a:gd name="T48" fmla="*/ 710 w 984"/>
                    <a:gd name="T49" fmla="*/ 26 h 844"/>
                    <a:gd name="T50" fmla="*/ 738 w 984"/>
                    <a:gd name="T51" fmla="*/ 23 h 844"/>
                    <a:gd name="T52" fmla="*/ 774 w 984"/>
                    <a:gd name="T53" fmla="*/ 24 h 844"/>
                    <a:gd name="T54" fmla="*/ 766 w 984"/>
                    <a:gd name="T55" fmla="*/ 26 h 844"/>
                    <a:gd name="T56" fmla="*/ 802 w 984"/>
                    <a:gd name="T57" fmla="*/ 28 h 844"/>
                    <a:gd name="T58" fmla="*/ 838 w 984"/>
                    <a:gd name="T59" fmla="*/ 28 h 844"/>
                    <a:gd name="T60" fmla="*/ 922 w 984"/>
                    <a:gd name="T61" fmla="*/ 34 h 844"/>
                    <a:gd name="T62" fmla="*/ 942 w 984"/>
                    <a:gd name="T63" fmla="*/ 34 h 844"/>
                    <a:gd name="T64" fmla="*/ 874 w 984"/>
                    <a:gd name="T65" fmla="*/ 34 h 844"/>
                    <a:gd name="T66" fmla="*/ 830 w 984"/>
                    <a:gd name="T67" fmla="*/ 32 h 844"/>
                    <a:gd name="T68" fmla="*/ 778 w 984"/>
                    <a:gd name="T69" fmla="*/ 30 h 844"/>
                    <a:gd name="T70" fmla="*/ 702 w 984"/>
                    <a:gd name="T71" fmla="*/ 28 h 844"/>
                    <a:gd name="T72" fmla="*/ 614 w 984"/>
                    <a:gd name="T73" fmla="*/ 27 h 844"/>
                    <a:gd name="T74" fmla="*/ 506 w 984"/>
                    <a:gd name="T75" fmla="*/ 25 h 844"/>
                    <a:gd name="T76" fmla="*/ 462 w 984"/>
                    <a:gd name="T77" fmla="*/ 21 h 844"/>
                    <a:gd name="T78" fmla="*/ 430 w 984"/>
                    <a:gd name="T79" fmla="*/ 20 h 844"/>
                    <a:gd name="T80" fmla="*/ 382 w 984"/>
                    <a:gd name="T81" fmla="*/ 17 h 844"/>
                    <a:gd name="T82" fmla="*/ 342 w 984"/>
                    <a:gd name="T83" fmla="*/ 16 h 844"/>
                    <a:gd name="T84" fmla="*/ 354 w 984"/>
                    <a:gd name="T85" fmla="*/ 17 h 844"/>
                    <a:gd name="T86" fmla="*/ 418 w 984"/>
                    <a:gd name="T87" fmla="*/ 20 h 844"/>
                    <a:gd name="T88" fmla="*/ 422 w 984"/>
                    <a:gd name="T89" fmla="*/ 21 h 844"/>
                    <a:gd name="T90" fmla="*/ 394 w 984"/>
                    <a:gd name="T91" fmla="*/ 21 h 844"/>
                    <a:gd name="T92" fmla="*/ 354 w 984"/>
                    <a:gd name="T93" fmla="*/ 20 h 844"/>
                    <a:gd name="T94" fmla="*/ 314 w 984"/>
                    <a:gd name="T95" fmla="*/ 16 h 844"/>
                    <a:gd name="T96" fmla="*/ 266 w 984"/>
                    <a:gd name="T97" fmla="*/ 14 h 844"/>
                    <a:gd name="T98" fmla="*/ 210 w 984"/>
                    <a:gd name="T99" fmla="*/ 13 h 844"/>
                    <a:gd name="T100" fmla="*/ 154 w 984"/>
                    <a:gd name="T101" fmla="*/ 9 h 844"/>
                    <a:gd name="T102" fmla="*/ 66 w 984"/>
                    <a:gd name="T103" fmla="*/ 2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2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9 w 36"/>
                    <a:gd name="T3" fmla="*/ 1 h 37"/>
                    <a:gd name="T4" fmla="*/ 84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3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40 w 170"/>
                    <a:gd name="T11" fmla="*/ 3 h 96"/>
                    <a:gd name="T12" fmla="*/ 176 w 170"/>
                    <a:gd name="T13" fmla="*/ 4 h 96"/>
                    <a:gd name="T14" fmla="*/ 132 w 170"/>
                    <a:gd name="T15" fmla="*/ 5 h 96"/>
                    <a:gd name="T16" fmla="*/ 104 w 170"/>
                    <a:gd name="T17" fmla="*/ 4 h 96"/>
                    <a:gd name="T18" fmla="*/ 76 w 170"/>
                    <a:gd name="T19" fmla="*/ 3 h 96"/>
                    <a:gd name="T20" fmla="*/ 24 w 170"/>
                    <a:gd name="T21" fmla="*/ 3 h 96"/>
                    <a:gd name="T22" fmla="*/ 0 w 170"/>
                    <a:gd name="T23" fmla="*/ 3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40 w 44"/>
                    <a:gd name="T5" fmla="*/ 2 h 80"/>
                    <a:gd name="T6" fmla="*/ 52 w 44"/>
                    <a:gd name="T7" fmla="*/ 2 h 80"/>
                    <a:gd name="T8" fmla="*/ 40 w 44"/>
                    <a:gd name="T9" fmla="*/ 3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124489 w 323"/>
                    <a:gd name="T1" fmla="*/ 1705 h 64"/>
                    <a:gd name="T2" fmla="*/ 130591 w 323"/>
                    <a:gd name="T3" fmla="*/ 10164 h 64"/>
                    <a:gd name="T4" fmla="*/ 132944 w 323"/>
                    <a:gd name="T5" fmla="*/ 0 h 64"/>
                    <a:gd name="T6" fmla="*/ 150120 w 323"/>
                    <a:gd name="T7" fmla="*/ 0 h 64"/>
                    <a:gd name="T8" fmla="*/ 162736 w 323"/>
                    <a:gd name="T9" fmla="*/ 21905 h 64"/>
                    <a:gd name="T10" fmla="*/ 180221 w 323"/>
                    <a:gd name="T11" fmla="*/ 12830 h 64"/>
                    <a:gd name="T12" fmla="*/ 177747 w 323"/>
                    <a:gd name="T13" fmla="*/ 36111 h 64"/>
                    <a:gd name="T14" fmla="*/ 168492 w 323"/>
                    <a:gd name="T15" fmla="*/ 58728 h 64"/>
                    <a:gd name="T16" fmla="*/ 166660 w 323"/>
                    <a:gd name="T17" fmla="*/ 36111 h 64"/>
                    <a:gd name="T18" fmla="*/ 162736 w 323"/>
                    <a:gd name="T19" fmla="*/ 38772 h 64"/>
                    <a:gd name="T20" fmla="*/ 158161 w 323"/>
                    <a:gd name="T21" fmla="*/ 36111 h 64"/>
                    <a:gd name="T22" fmla="*/ 148706 w 323"/>
                    <a:gd name="T23" fmla="*/ 26833 h 64"/>
                    <a:gd name="T24" fmla="*/ 129141 w 323"/>
                    <a:gd name="T25" fmla="*/ 47683 h 64"/>
                    <a:gd name="T26" fmla="*/ 113811 w 323"/>
                    <a:gd name="T27" fmla="*/ 55958 h 64"/>
                    <a:gd name="T28" fmla="*/ 119832 w 323"/>
                    <a:gd name="T29" fmla="*/ 71833 h 64"/>
                    <a:gd name="T30" fmla="*/ 106429 w 323"/>
                    <a:gd name="T31" fmla="*/ 78975 h 64"/>
                    <a:gd name="T32" fmla="*/ 95429 w 323"/>
                    <a:gd name="T33" fmla="*/ 76472 h 64"/>
                    <a:gd name="T34" fmla="*/ 100067 w 323"/>
                    <a:gd name="T35" fmla="*/ 71833 h 64"/>
                    <a:gd name="T36" fmla="*/ 96502 w 323"/>
                    <a:gd name="T37" fmla="*/ 50544 h 64"/>
                    <a:gd name="T38" fmla="*/ 95429 w 323"/>
                    <a:gd name="T39" fmla="*/ 38772 h 64"/>
                    <a:gd name="T40" fmla="*/ 89460 w 323"/>
                    <a:gd name="T41" fmla="*/ 29309 h 64"/>
                    <a:gd name="T42" fmla="*/ 80487 w 323"/>
                    <a:gd name="T43" fmla="*/ 34227 h 64"/>
                    <a:gd name="T44" fmla="*/ 75847 w 323"/>
                    <a:gd name="T45" fmla="*/ 34227 h 64"/>
                    <a:gd name="T46" fmla="*/ 69673 w 323"/>
                    <a:gd name="T47" fmla="*/ 31323 h 64"/>
                    <a:gd name="T48" fmla="*/ 46884 w 323"/>
                    <a:gd name="T49" fmla="*/ 2664 h 64"/>
                    <a:gd name="T50" fmla="*/ 33612 w 323"/>
                    <a:gd name="T51" fmla="*/ 17583 h 64"/>
                    <a:gd name="T52" fmla="*/ 1 w 323"/>
                    <a:gd name="T53" fmla="*/ 0 h 64"/>
                    <a:gd name="T54" fmla="*/ 124489 w 323"/>
                    <a:gd name="T55" fmla="*/ 1705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59825 w 300"/>
                    <a:gd name="T1" fmla="*/ 46915 h 31"/>
                    <a:gd name="T2" fmla="*/ 17413 w 300"/>
                    <a:gd name="T3" fmla="*/ 2022 h 31"/>
                    <a:gd name="T4" fmla="*/ 162356 w 300"/>
                    <a:gd name="T5" fmla="*/ 0 h 31"/>
                    <a:gd name="T6" fmla="*/ 168398 w 300"/>
                    <a:gd name="T7" fmla="*/ 21222 h 31"/>
                    <a:gd name="T8" fmla="*/ 150219 w 300"/>
                    <a:gd name="T9" fmla="*/ 24315 h 31"/>
                    <a:gd name="T10" fmla="*/ 59825 w 300"/>
                    <a:gd name="T11" fmla="*/ 46915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60620115 w 436"/>
                    <a:gd name="T1" fmla="*/ 1342572 h 152"/>
                    <a:gd name="T2" fmla="*/ 362211035 w 436"/>
                    <a:gd name="T3" fmla="*/ 0 h 152"/>
                    <a:gd name="T4" fmla="*/ 345451203 w 436"/>
                    <a:gd name="T5" fmla="*/ 89392878 h 152"/>
                    <a:gd name="T6" fmla="*/ 329906989 w 436"/>
                    <a:gd name="T7" fmla="*/ 112334979 h 152"/>
                    <a:gd name="T8" fmla="*/ 325645129 w 436"/>
                    <a:gd name="T9" fmla="*/ 115843137 h 152"/>
                    <a:gd name="T10" fmla="*/ 311442541 w 436"/>
                    <a:gd name="T11" fmla="*/ 121159881 h 152"/>
                    <a:gd name="T12" fmla="*/ 299775579 w 436"/>
                    <a:gd name="T13" fmla="*/ 145445652 h 152"/>
                    <a:gd name="T14" fmla="*/ 300875541 w 436"/>
                    <a:gd name="T15" fmla="*/ 163721407 h 152"/>
                    <a:gd name="T16" fmla="*/ 302228238 w 436"/>
                    <a:gd name="T17" fmla="*/ 177303519 h 152"/>
                    <a:gd name="T18" fmla="*/ 304046416 w 436"/>
                    <a:gd name="T19" fmla="*/ 187458367 h 152"/>
                    <a:gd name="T20" fmla="*/ 300875541 w 436"/>
                    <a:gd name="T21" fmla="*/ 202383301 h 152"/>
                    <a:gd name="T22" fmla="*/ 291661238 w 436"/>
                    <a:gd name="T23" fmla="*/ 199097547 h 152"/>
                    <a:gd name="T24" fmla="*/ 284235110 w 436"/>
                    <a:gd name="T25" fmla="*/ 213776195 h 152"/>
                    <a:gd name="T26" fmla="*/ 288166188 w 436"/>
                    <a:gd name="T27" fmla="*/ 173889516 h 152"/>
                    <a:gd name="T28" fmla="*/ 280629597 w 436"/>
                    <a:gd name="T29" fmla="*/ 165895348 h 152"/>
                    <a:gd name="T30" fmla="*/ 285583100 w 436"/>
                    <a:gd name="T31" fmla="*/ 154363541 h 152"/>
                    <a:gd name="T32" fmla="*/ 284235110 w 436"/>
                    <a:gd name="T33" fmla="*/ 147704232 h 152"/>
                    <a:gd name="T34" fmla="*/ 265791667 w 436"/>
                    <a:gd name="T35" fmla="*/ 155704707 h 152"/>
                    <a:gd name="T36" fmla="*/ 263348264 w 436"/>
                    <a:gd name="T37" fmla="*/ 140781457 h 152"/>
                    <a:gd name="T38" fmla="*/ 246562905 w 436"/>
                    <a:gd name="T39" fmla="*/ 155704707 h 152"/>
                    <a:gd name="T40" fmla="*/ 265791667 w 436"/>
                    <a:gd name="T41" fmla="*/ 170644650 h 152"/>
                    <a:gd name="T42" fmla="*/ 253418238 w 436"/>
                    <a:gd name="T43" fmla="*/ 193556612 h 152"/>
                    <a:gd name="T44" fmla="*/ 258376499 w 436"/>
                    <a:gd name="T45" fmla="*/ 208471903 h 152"/>
                    <a:gd name="T46" fmla="*/ 261529835 w 436"/>
                    <a:gd name="T47" fmla="*/ 228700967 h 152"/>
                    <a:gd name="T48" fmla="*/ 256577371 w 436"/>
                    <a:gd name="T49" fmla="*/ 230080201 h 152"/>
                    <a:gd name="T50" fmla="*/ 260754500 w 436"/>
                    <a:gd name="T51" fmla="*/ 238111852 h 152"/>
                    <a:gd name="T52" fmla="*/ 255206430 w 436"/>
                    <a:gd name="T53" fmla="*/ 251641265 h 152"/>
                    <a:gd name="T54" fmla="*/ 0 w 436"/>
                    <a:gd name="T55" fmla="*/ 247016669 h 152"/>
                    <a:gd name="T56" fmla="*/ 60620115 w 436"/>
                    <a:gd name="T57" fmla="*/ 1342572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5 h 165"/>
                    <a:gd name="T2" fmla="*/ 15 w 47"/>
                    <a:gd name="T3" fmla="*/ 4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3 h 165"/>
                    <a:gd name="T16" fmla="*/ 31 w 47"/>
                    <a:gd name="T17" fmla="*/ 4 h 165"/>
                    <a:gd name="T18" fmla="*/ 23 w 47"/>
                    <a:gd name="T19" fmla="*/ 4 h 165"/>
                    <a:gd name="T20" fmla="*/ 21 w 47"/>
                    <a:gd name="T21" fmla="*/ 5 h 165"/>
                    <a:gd name="T22" fmla="*/ 27 w 47"/>
                    <a:gd name="T23" fmla="*/ 5 h 165"/>
                    <a:gd name="T24" fmla="*/ 31 w 47"/>
                    <a:gd name="T25" fmla="*/ 5 h 165"/>
                    <a:gd name="T26" fmla="*/ 13 w 47"/>
                    <a:gd name="T27" fmla="*/ 5 h 165"/>
                    <a:gd name="T28" fmla="*/ 7 w 47"/>
                    <a:gd name="T29" fmla="*/ 5 h 165"/>
                    <a:gd name="T30" fmla="*/ 3 w 47"/>
                    <a:gd name="T31" fmla="*/ 5 h 165"/>
                    <a:gd name="T32" fmla="*/ 5 w 47"/>
                    <a:gd name="T33" fmla="*/ 5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2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2 h 103"/>
                    <a:gd name="T22" fmla="*/ 66 w 138"/>
                    <a:gd name="T23" fmla="*/ 3 h 103"/>
                    <a:gd name="T24" fmla="*/ 48 w 138"/>
                    <a:gd name="T25" fmla="*/ 4 h 103"/>
                    <a:gd name="T26" fmla="*/ 26 w 138"/>
                    <a:gd name="T27" fmla="*/ 4 h 103"/>
                    <a:gd name="T28" fmla="*/ 20 w 138"/>
                    <a:gd name="T29" fmla="*/ 3 h 103"/>
                    <a:gd name="T30" fmla="*/ 22 w 138"/>
                    <a:gd name="T31" fmla="*/ 4 h 103"/>
                    <a:gd name="T32" fmla="*/ 0 w 138"/>
                    <a:gd name="T33" fmla="*/ 4 h 103"/>
                    <a:gd name="T34" fmla="*/ 10 w 138"/>
                    <a:gd name="T35" fmla="*/ 3 h 103"/>
                    <a:gd name="T36" fmla="*/ 26 w 138"/>
                    <a:gd name="T37" fmla="*/ 2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2 w 188"/>
                    <a:gd name="T1" fmla="*/ 2 h 214"/>
                    <a:gd name="T2" fmla="*/ 144 w 188"/>
                    <a:gd name="T3" fmla="*/ 2 h 214"/>
                    <a:gd name="T4" fmla="*/ 154 w 188"/>
                    <a:gd name="T5" fmla="*/ 0 h 214"/>
                    <a:gd name="T6" fmla="*/ 166 w 188"/>
                    <a:gd name="T7" fmla="*/ 2 h 214"/>
                    <a:gd name="T8" fmla="*/ 172 w 188"/>
                    <a:gd name="T9" fmla="*/ 2 h 214"/>
                    <a:gd name="T10" fmla="*/ 162 w 188"/>
                    <a:gd name="T11" fmla="*/ 2 h 214"/>
                    <a:gd name="T12" fmla="*/ 154 w 188"/>
                    <a:gd name="T13" fmla="*/ 3 h 214"/>
                    <a:gd name="T14" fmla="*/ 146 w 188"/>
                    <a:gd name="T15" fmla="*/ 6 h 214"/>
                    <a:gd name="T16" fmla="*/ 128 w 188"/>
                    <a:gd name="T17" fmla="*/ 6 h 214"/>
                    <a:gd name="T18" fmla="*/ 104 w 188"/>
                    <a:gd name="T19" fmla="*/ 6 h 214"/>
                    <a:gd name="T20" fmla="*/ 96 w 188"/>
                    <a:gd name="T21" fmla="*/ 6 h 214"/>
                    <a:gd name="T22" fmla="*/ 94 w 188"/>
                    <a:gd name="T23" fmla="*/ 7 h 214"/>
                    <a:gd name="T24" fmla="*/ 90 w 188"/>
                    <a:gd name="T25" fmla="*/ 7 h 214"/>
                    <a:gd name="T26" fmla="*/ 80 w 188"/>
                    <a:gd name="T27" fmla="*/ 6 h 214"/>
                    <a:gd name="T28" fmla="*/ 58 w 188"/>
                    <a:gd name="T29" fmla="*/ 7 h 214"/>
                    <a:gd name="T30" fmla="*/ 76 w 188"/>
                    <a:gd name="T31" fmla="*/ 7 h 214"/>
                    <a:gd name="T32" fmla="*/ 78 w 188"/>
                    <a:gd name="T33" fmla="*/ 7 h 214"/>
                    <a:gd name="T34" fmla="*/ 58 w 188"/>
                    <a:gd name="T35" fmla="*/ 7 h 214"/>
                    <a:gd name="T36" fmla="*/ 34 w 188"/>
                    <a:gd name="T37" fmla="*/ 7 h 214"/>
                    <a:gd name="T38" fmla="*/ 36 w 188"/>
                    <a:gd name="T39" fmla="*/ 7 h 214"/>
                    <a:gd name="T40" fmla="*/ 46 w 188"/>
                    <a:gd name="T41" fmla="*/ 7 h 214"/>
                    <a:gd name="T42" fmla="*/ 34 w 188"/>
                    <a:gd name="T43" fmla="*/ 7 h 214"/>
                    <a:gd name="T44" fmla="*/ 26 w 188"/>
                    <a:gd name="T45" fmla="*/ 7 h 214"/>
                    <a:gd name="T46" fmla="*/ 30 w 188"/>
                    <a:gd name="T47" fmla="*/ 8 h 214"/>
                    <a:gd name="T48" fmla="*/ 14 w 188"/>
                    <a:gd name="T49" fmla="*/ 9 h 214"/>
                    <a:gd name="T50" fmla="*/ 0 w 188"/>
                    <a:gd name="T51" fmla="*/ 10 h 214"/>
                    <a:gd name="T52" fmla="*/ 8 w 188"/>
                    <a:gd name="T53" fmla="*/ 8 h 214"/>
                    <a:gd name="T54" fmla="*/ 0 w 188"/>
                    <a:gd name="T55" fmla="*/ 7 h 214"/>
                    <a:gd name="T56" fmla="*/ 14 w 188"/>
                    <a:gd name="T57" fmla="*/ 7 h 214"/>
                    <a:gd name="T58" fmla="*/ 32 w 188"/>
                    <a:gd name="T59" fmla="*/ 6 h 214"/>
                    <a:gd name="T60" fmla="*/ 44 w 188"/>
                    <a:gd name="T61" fmla="*/ 6 h 214"/>
                    <a:gd name="T62" fmla="*/ 72 w 188"/>
                    <a:gd name="T63" fmla="*/ 6 h 214"/>
                    <a:gd name="T64" fmla="*/ 84 w 188"/>
                    <a:gd name="T65" fmla="*/ 5 h 214"/>
                    <a:gd name="T66" fmla="*/ 98 w 188"/>
                    <a:gd name="T67" fmla="*/ 4 h 214"/>
                    <a:gd name="T68" fmla="*/ 104 w 188"/>
                    <a:gd name="T69" fmla="*/ 4 h 214"/>
                    <a:gd name="T70" fmla="*/ 116 w 188"/>
                    <a:gd name="T71" fmla="*/ 3 h 214"/>
                    <a:gd name="T72" fmla="*/ 134 w 188"/>
                    <a:gd name="T73" fmla="*/ 2 h 214"/>
                    <a:gd name="T74" fmla="*/ 138 w 188"/>
                    <a:gd name="T75" fmla="*/ 2 h 214"/>
                    <a:gd name="T76" fmla="*/ 132 w 188"/>
                    <a:gd name="T77" fmla="*/ 2 h 214"/>
                    <a:gd name="T78" fmla="*/ 136 w 188"/>
                    <a:gd name="T79" fmla="*/ 2 h 214"/>
                    <a:gd name="T80" fmla="*/ 142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8 w 812"/>
                    <a:gd name="T1" fmla="*/ 2 h 564"/>
                    <a:gd name="T2" fmla="*/ 794 w 812"/>
                    <a:gd name="T3" fmla="*/ 3 h 564"/>
                    <a:gd name="T4" fmla="*/ 764 w 812"/>
                    <a:gd name="T5" fmla="*/ 5 h 564"/>
                    <a:gd name="T6" fmla="*/ 738 w 812"/>
                    <a:gd name="T7" fmla="*/ 6 h 564"/>
                    <a:gd name="T8" fmla="*/ 650 w 812"/>
                    <a:gd name="T9" fmla="*/ 7 h 564"/>
                    <a:gd name="T10" fmla="*/ 648 w 812"/>
                    <a:gd name="T11" fmla="*/ 9 h 564"/>
                    <a:gd name="T12" fmla="*/ 620 w 812"/>
                    <a:gd name="T13" fmla="*/ 9 h 564"/>
                    <a:gd name="T14" fmla="*/ 636 w 812"/>
                    <a:gd name="T15" fmla="*/ 7 h 564"/>
                    <a:gd name="T16" fmla="*/ 592 w 812"/>
                    <a:gd name="T17" fmla="*/ 7 h 564"/>
                    <a:gd name="T18" fmla="*/ 572 w 812"/>
                    <a:gd name="T19" fmla="*/ 9 h 564"/>
                    <a:gd name="T20" fmla="*/ 612 w 812"/>
                    <a:gd name="T21" fmla="*/ 11 h 564"/>
                    <a:gd name="T22" fmla="*/ 610 w 812"/>
                    <a:gd name="T23" fmla="*/ 16 h 564"/>
                    <a:gd name="T24" fmla="*/ 558 w 812"/>
                    <a:gd name="T25" fmla="*/ 16 h 564"/>
                    <a:gd name="T26" fmla="*/ 538 w 812"/>
                    <a:gd name="T27" fmla="*/ 16 h 564"/>
                    <a:gd name="T28" fmla="*/ 498 w 812"/>
                    <a:gd name="T29" fmla="*/ 14 h 564"/>
                    <a:gd name="T30" fmla="*/ 478 w 812"/>
                    <a:gd name="T31" fmla="*/ 14 h 564"/>
                    <a:gd name="T32" fmla="*/ 466 w 812"/>
                    <a:gd name="T33" fmla="*/ 16 h 564"/>
                    <a:gd name="T34" fmla="*/ 516 w 812"/>
                    <a:gd name="T35" fmla="*/ 20 h 564"/>
                    <a:gd name="T36" fmla="*/ 526 w 812"/>
                    <a:gd name="T37" fmla="*/ 21 h 564"/>
                    <a:gd name="T38" fmla="*/ 542 w 812"/>
                    <a:gd name="T39" fmla="*/ 23 h 564"/>
                    <a:gd name="T40" fmla="*/ 508 w 812"/>
                    <a:gd name="T41" fmla="*/ 23 h 564"/>
                    <a:gd name="T42" fmla="*/ 486 w 812"/>
                    <a:gd name="T43" fmla="*/ 21 h 564"/>
                    <a:gd name="T44" fmla="*/ 438 w 812"/>
                    <a:gd name="T45" fmla="*/ 17 h 564"/>
                    <a:gd name="T46" fmla="*/ 442 w 812"/>
                    <a:gd name="T47" fmla="*/ 13 h 564"/>
                    <a:gd name="T48" fmla="*/ 438 w 812"/>
                    <a:gd name="T49" fmla="*/ 11 h 564"/>
                    <a:gd name="T50" fmla="*/ 428 w 812"/>
                    <a:gd name="T51" fmla="*/ 11 h 564"/>
                    <a:gd name="T52" fmla="*/ 386 w 812"/>
                    <a:gd name="T53" fmla="*/ 11 h 564"/>
                    <a:gd name="T54" fmla="*/ 360 w 812"/>
                    <a:gd name="T55" fmla="*/ 7 h 564"/>
                    <a:gd name="T56" fmla="*/ 330 w 812"/>
                    <a:gd name="T57" fmla="*/ 7 h 564"/>
                    <a:gd name="T58" fmla="*/ 288 w 812"/>
                    <a:gd name="T59" fmla="*/ 7 h 564"/>
                    <a:gd name="T60" fmla="*/ 242 w 812"/>
                    <a:gd name="T61" fmla="*/ 9 h 564"/>
                    <a:gd name="T62" fmla="*/ 196 w 812"/>
                    <a:gd name="T63" fmla="*/ 11 h 564"/>
                    <a:gd name="T64" fmla="*/ 184 w 812"/>
                    <a:gd name="T65" fmla="*/ 11 h 564"/>
                    <a:gd name="T66" fmla="*/ 160 w 812"/>
                    <a:gd name="T67" fmla="*/ 13 h 564"/>
                    <a:gd name="T68" fmla="*/ 152 w 812"/>
                    <a:gd name="T69" fmla="*/ 14 h 564"/>
                    <a:gd name="T70" fmla="*/ 128 w 812"/>
                    <a:gd name="T71" fmla="*/ 16 h 564"/>
                    <a:gd name="T72" fmla="*/ 94 w 812"/>
                    <a:gd name="T73" fmla="*/ 16 h 564"/>
                    <a:gd name="T74" fmla="*/ 66 w 812"/>
                    <a:gd name="T75" fmla="*/ 11 h 564"/>
                    <a:gd name="T76" fmla="*/ 72 w 812"/>
                    <a:gd name="T77" fmla="*/ 6 h 564"/>
                    <a:gd name="T78" fmla="*/ 44 w 812"/>
                    <a:gd name="T79" fmla="*/ 7 h 564"/>
                    <a:gd name="T80" fmla="*/ 20 w 812"/>
                    <a:gd name="T81" fmla="*/ 6 h 564"/>
                    <a:gd name="T82" fmla="*/ 24 w 812"/>
                    <a:gd name="T83" fmla="*/ 6 h 564"/>
                    <a:gd name="T84" fmla="*/ 0 w 812"/>
                    <a:gd name="T85" fmla="*/ 4 h 564"/>
                    <a:gd name="T86" fmla="*/ 814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3 w 43"/>
                    <a:gd name="T3" fmla="*/ 3 h 85"/>
                    <a:gd name="T4" fmla="*/ 76 w 43"/>
                    <a:gd name="T5" fmla="*/ 3 h 85"/>
                    <a:gd name="T6" fmla="*/ 37 w 43"/>
                    <a:gd name="T7" fmla="*/ 5 h 85"/>
                    <a:gd name="T8" fmla="*/ 1 w 43"/>
                    <a:gd name="T9" fmla="*/ 4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3 w 44"/>
                    <a:gd name="T3" fmla="*/ 2 h 74"/>
                    <a:gd name="T4" fmla="*/ 22 w 44"/>
                    <a:gd name="T5" fmla="*/ 2 h 74"/>
                    <a:gd name="T6" fmla="*/ 20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278652 w 682"/>
                    <a:gd name="T1" fmla="*/ 540620 h 557"/>
                    <a:gd name="T2" fmla="*/ 281433 w 682"/>
                    <a:gd name="T3" fmla="*/ 525737 h 557"/>
                    <a:gd name="T4" fmla="*/ 289695 w 682"/>
                    <a:gd name="T5" fmla="*/ 481409 h 557"/>
                    <a:gd name="T6" fmla="*/ 179179 w 682"/>
                    <a:gd name="T7" fmla="*/ 334021 h 557"/>
                    <a:gd name="T8" fmla="*/ 163457 w 682"/>
                    <a:gd name="T9" fmla="*/ 403177 h 557"/>
                    <a:gd name="T10" fmla="*/ 175574 w 682"/>
                    <a:gd name="T11" fmla="*/ 647625 h 557"/>
                    <a:gd name="T12" fmla="*/ 163457 w 682"/>
                    <a:gd name="T13" fmla="*/ 575767 h 557"/>
                    <a:gd name="T14" fmla="*/ 140277 w 682"/>
                    <a:gd name="T15" fmla="*/ 512115 h 557"/>
                    <a:gd name="T16" fmla="*/ 142027 w 682"/>
                    <a:gd name="T17" fmla="*/ 481409 h 557"/>
                    <a:gd name="T18" fmla="*/ 143349 w 682"/>
                    <a:gd name="T19" fmla="*/ 459616 h 557"/>
                    <a:gd name="T20" fmla="*/ 127417 w 682"/>
                    <a:gd name="T21" fmla="*/ 437106 h 557"/>
                    <a:gd name="T22" fmla="*/ 112451 w 682"/>
                    <a:gd name="T23" fmla="*/ 403177 h 557"/>
                    <a:gd name="T24" fmla="*/ 85614 w 682"/>
                    <a:gd name="T25" fmla="*/ 412132 h 557"/>
                    <a:gd name="T26" fmla="*/ 73290 w 682"/>
                    <a:gd name="T27" fmla="*/ 425351 h 557"/>
                    <a:gd name="T28" fmla="*/ 45173 w 682"/>
                    <a:gd name="T29" fmla="*/ 425351 h 557"/>
                    <a:gd name="T30" fmla="*/ 12860 w 682"/>
                    <a:gd name="T31" fmla="*/ 363599 h 557"/>
                    <a:gd name="T32" fmla="*/ 6324 w 682"/>
                    <a:gd name="T33" fmla="*/ 344404 h 557"/>
                    <a:gd name="T34" fmla="*/ 0 w 682"/>
                    <a:gd name="T35" fmla="*/ 307066 h 557"/>
                    <a:gd name="T36" fmla="*/ 14008 w 682"/>
                    <a:gd name="T37" fmla="*/ 248411 h 557"/>
                    <a:gd name="T38" fmla="*/ 18648 w 682"/>
                    <a:gd name="T39" fmla="*/ 210682 h 557"/>
                    <a:gd name="T40" fmla="*/ 29569 w 682"/>
                    <a:gd name="T41" fmla="*/ 166134 h 557"/>
                    <a:gd name="T42" fmla="*/ 47163 w 682"/>
                    <a:gd name="T43" fmla="*/ 134839 h 557"/>
                    <a:gd name="T44" fmla="*/ 97050 w 682"/>
                    <a:gd name="T45" fmla="*/ 78145 h 557"/>
                    <a:gd name="T46" fmla="*/ 127417 w 682"/>
                    <a:gd name="T47" fmla="*/ 35141 h 557"/>
                    <a:gd name="T48" fmla="*/ 149372 w 682"/>
                    <a:gd name="T49" fmla="*/ 6727 h 557"/>
                    <a:gd name="T50" fmla="*/ 210321 w 682"/>
                    <a:gd name="T51" fmla="*/ 2488 h 557"/>
                    <a:gd name="T52" fmla="*/ 230405 w 682"/>
                    <a:gd name="T53" fmla="*/ 0 h 557"/>
                    <a:gd name="T54" fmla="*/ 222306 w 682"/>
                    <a:gd name="T55" fmla="*/ 39307 h 557"/>
                    <a:gd name="T56" fmla="*/ 256575 w 682"/>
                    <a:gd name="T57" fmla="*/ 98293 h 557"/>
                    <a:gd name="T58" fmla="*/ 288020 w 682"/>
                    <a:gd name="T59" fmla="*/ 86241 h 557"/>
                    <a:gd name="T60" fmla="*/ 306345 w 682"/>
                    <a:gd name="T61" fmla="*/ 95016 h 557"/>
                    <a:gd name="T62" fmla="*/ 323657 w 682"/>
                    <a:gd name="T63" fmla="*/ 113177 h 557"/>
                    <a:gd name="T64" fmla="*/ 331467 w 682"/>
                    <a:gd name="T65" fmla="*/ 219031 h 557"/>
                    <a:gd name="T66" fmla="*/ 331467 w 682"/>
                    <a:gd name="T67" fmla="*/ 279710 h 557"/>
                    <a:gd name="T68" fmla="*/ 346737 w 682"/>
                    <a:gd name="T69" fmla="*/ 329817 h 557"/>
                    <a:gd name="T70" fmla="*/ 373846 w 682"/>
                    <a:gd name="T71" fmla="*/ 349528 h 557"/>
                    <a:gd name="T72" fmla="*/ 393747 w 682"/>
                    <a:gd name="T73" fmla="*/ 344404 h 557"/>
                    <a:gd name="T74" fmla="*/ 384477 w 682"/>
                    <a:gd name="T75" fmla="*/ 396418 h 557"/>
                    <a:gd name="T76" fmla="*/ 346737 w 682"/>
                    <a:gd name="T77" fmla="*/ 474632 h 557"/>
                    <a:gd name="T78" fmla="*/ 317510 w 682"/>
                    <a:gd name="T79" fmla="*/ 565308 h 557"/>
                    <a:gd name="T80" fmla="*/ 322071 w 682"/>
                    <a:gd name="T81" fmla="*/ 592137 h 557"/>
                    <a:gd name="T82" fmla="*/ 251855 w 682"/>
                    <a:gd name="T83" fmla="*/ 647625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137892 w 257"/>
                    <a:gd name="T1" fmla="*/ 410266 h 347"/>
                    <a:gd name="T2" fmla="*/ 132123 w 257"/>
                    <a:gd name="T3" fmla="*/ 355701 h 347"/>
                    <a:gd name="T4" fmla="*/ 123347 w 257"/>
                    <a:gd name="T5" fmla="*/ 340561 h 347"/>
                    <a:gd name="T6" fmla="*/ 122395 w 257"/>
                    <a:gd name="T7" fmla="*/ 318818 h 347"/>
                    <a:gd name="T8" fmla="*/ 118750 w 257"/>
                    <a:gd name="T9" fmla="*/ 300386 h 347"/>
                    <a:gd name="T10" fmla="*/ 118750 w 257"/>
                    <a:gd name="T11" fmla="*/ 270608 h 347"/>
                    <a:gd name="T12" fmla="*/ 117717 w 257"/>
                    <a:gd name="T13" fmla="*/ 252935 h 347"/>
                    <a:gd name="T14" fmla="*/ 129412 w 257"/>
                    <a:gd name="T15" fmla="*/ 238889 h 347"/>
                    <a:gd name="T16" fmla="*/ 145918 w 257"/>
                    <a:gd name="T17" fmla="*/ 233585 h 347"/>
                    <a:gd name="T18" fmla="*/ 145918 w 257"/>
                    <a:gd name="T19" fmla="*/ 161334 h 347"/>
                    <a:gd name="T20" fmla="*/ 30606 w 257"/>
                    <a:gd name="T21" fmla="*/ 113482 h 347"/>
                    <a:gd name="T22" fmla="*/ 18364 w 257"/>
                    <a:gd name="T23" fmla="*/ 116084 h 347"/>
                    <a:gd name="T24" fmla="*/ 9320 w 257"/>
                    <a:gd name="T25" fmla="*/ 120705 h 347"/>
                    <a:gd name="T26" fmla="*/ 0 w 257"/>
                    <a:gd name="T27" fmla="*/ 176600 h 347"/>
                    <a:gd name="T28" fmla="*/ 52628 w 257"/>
                    <a:gd name="T29" fmla="*/ 409038 h 347"/>
                    <a:gd name="T30" fmla="*/ 137892 w 257"/>
                    <a:gd name="T31" fmla="*/ 410266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8 w 57"/>
                    <a:gd name="T3" fmla="*/ 2 h 30"/>
                    <a:gd name="T4" fmla="*/ 52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7 w 693"/>
                    <a:gd name="T1" fmla="*/ 19 h 696"/>
                    <a:gd name="T2" fmla="*/ 377 w 693"/>
                    <a:gd name="T3" fmla="*/ 18 h 696"/>
                    <a:gd name="T4" fmla="*/ 309 w 693"/>
                    <a:gd name="T5" fmla="*/ 16 h 696"/>
                    <a:gd name="T6" fmla="*/ 249 w 693"/>
                    <a:gd name="T7" fmla="*/ 16 h 696"/>
                    <a:gd name="T8" fmla="*/ 221 w 693"/>
                    <a:gd name="T9" fmla="*/ 16 h 696"/>
                    <a:gd name="T10" fmla="*/ 245 w 693"/>
                    <a:gd name="T11" fmla="*/ 16 h 696"/>
                    <a:gd name="T12" fmla="*/ 277 w 693"/>
                    <a:gd name="T13" fmla="*/ 19 h 696"/>
                    <a:gd name="T14" fmla="*/ 305 w 693"/>
                    <a:gd name="T15" fmla="*/ 20 h 696"/>
                    <a:gd name="T16" fmla="*/ 317 w 693"/>
                    <a:gd name="T17" fmla="*/ 20 h 696"/>
                    <a:gd name="T18" fmla="*/ 297 w 693"/>
                    <a:gd name="T19" fmla="*/ 22 h 696"/>
                    <a:gd name="T20" fmla="*/ 245 w 693"/>
                    <a:gd name="T21" fmla="*/ 25 h 696"/>
                    <a:gd name="T22" fmla="*/ 209 w 693"/>
                    <a:gd name="T23" fmla="*/ 25 h 696"/>
                    <a:gd name="T24" fmla="*/ 97 w 693"/>
                    <a:gd name="T25" fmla="*/ 28 h 696"/>
                    <a:gd name="T26" fmla="*/ 77 w 693"/>
                    <a:gd name="T27" fmla="*/ 25 h 696"/>
                    <a:gd name="T28" fmla="*/ 45 w 693"/>
                    <a:gd name="T29" fmla="*/ 20 h 696"/>
                    <a:gd name="T30" fmla="*/ 33 w 693"/>
                    <a:gd name="T31" fmla="*/ 18 h 696"/>
                    <a:gd name="T32" fmla="*/ 53 w 693"/>
                    <a:gd name="T33" fmla="*/ 13 h 696"/>
                    <a:gd name="T34" fmla="*/ 17 w 693"/>
                    <a:gd name="T35" fmla="*/ 16 h 696"/>
                    <a:gd name="T36" fmla="*/ 81 w 693"/>
                    <a:gd name="T37" fmla="*/ 11 h 696"/>
                    <a:gd name="T38" fmla="*/ 113 w 693"/>
                    <a:gd name="T39" fmla="*/ 9 h 696"/>
                    <a:gd name="T40" fmla="*/ 37 w 693"/>
                    <a:gd name="T41" fmla="*/ 9 h 696"/>
                    <a:gd name="T42" fmla="*/ 1 w 693"/>
                    <a:gd name="T43" fmla="*/ 7 h 696"/>
                    <a:gd name="T44" fmla="*/ 25 w 693"/>
                    <a:gd name="T45" fmla="*/ 6 h 696"/>
                    <a:gd name="T46" fmla="*/ 97 w 693"/>
                    <a:gd name="T47" fmla="*/ 5 h 696"/>
                    <a:gd name="T48" fmla="*/ 205 w 693"/>
                    <a:gd name="T49" fmla="*/ 5 h 696"/>
                    <a:gd name="T50" fmla="*/ 213 w 693"/>
                    <a:gd name="T51" fmla="*/ 2 h 696"/>
                    <a:gd name="T52" fmla="*/ 245 w 693"/>
                    <a:gd name="T53" fmla="*/ 0 h 696"/>
                    <a:gd name="T54" fmla="*/ 341 w 693"/>
                    <a:gd name="T55" fmla="*/ 2 h 696"/>
                    <a:gd name="T56" fmla="*/ 313 w 693"/>
                    <a:gd name="T57" fmla="*/ 3 h 696"/>
                    <a:gd name="T58" fmla="*/ 285 w 693"/>
                    <a:gd name="T59" fmla="*/ 7 h 696"/>
                    <a:gd name="T60" fmla="*/ 345 w 693"/>
                    <a:gd name="T61" fmla="*/ 7 h 696"/>
                    <a:gd name="T62" fmla="*/ 357 w 693"/>
                    <a:gd name="T63" fmla="*/ 6 h 696"/>
                    <a:gd name="T64" fmla="*/ 401 w 693"/>
                    <a:gd name="T65" fmla="*/ 4 h 696"/>
                    <a:gd name="T66" fmla="*/ 481 w 693"/>
                    <a:gd name="T67" fmla="*/ 3 h 696"/>
                    <a:gd name="T68" fmla="*/ 508 w 693"/>
                    <a:gd name="T69" fmla="*/ 2 h 696"/>
                    <a:gd name="T70" fmla="*/ 514 w 693"/>
                    <a:gd name="T71" fmla="*/ 19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480089 w 931"/>
                    <a:gd name="T1" fmla="*/ 0 h 149"/>
                    <a:gd name="T2" fmla="*/ 83370 w 931"/>
                    <a:gd name="T3" fmla="*/ 34587 h 149"/>
                    <a:gd name="T4" fmla="*/ 52726 w 931"/>
                    <a:gd name="T5" fmla="*/ 49620 h 149"/>
                    <a:gd name="T6" fmla="*/ 36020 w 931"/>
                    <a:gd name="T7" fmla="*/ 49620 h 149"/>
                    <a:gd name="T8" fmla="*/ 12894 w 931"/>
                    <a:gd name="T9" fmla="*/ 91992 h 149"/>
                    <a:gd name="T10" fmla="*/ 0 w 931"/>
                    <a:gd name="T11" fmla="*/ 124961 h 149"/>
                    <a:gd name="T12" fmla="*/ 34375 w 931"/>
                    <a:gd name="T13" fmla="*/ 137381 h 149"/>
                    <a:gd name="T14" fmla="*/ 56315 w 931"/>
                    <a:gd name="T15" fmla="*/ 114071 h 149"/>
                    <a:gd name="T16" fmla="*/ 62995 w 931"/>
                    <a:gd name="T17" fmla="*/ 100484 h 149"/>
                    <a:gd name="T18" fmla="*/ 97404 w 931"/>
                    <a:gd name="T19" fmla="*/ 61977 h 149"/>
                    <a:gd name="T20" fmla="*/ 125148 w 931"/>
                    <a:gd name="T21" fmla="*/ 55024 h 149"/>
                    <a:gd name="T22" fmla="*/ 138177 w 931"/>
                    <a:gd name="T23" fmla="*/ 111643 h 149"/>
                    <a:gd name="T24" fmla="*/ 109509 w 931"/>
                    <a:gd name="T25" fmla="*/ 130563 h 149"/>
                    <a:gd name="T26" fmla="*/ 134368 w 931"/>
                    <a:gd name="T27" fmla="*/ 135018 h 149"/>
                    <a:gd name="T28" fmla="*/ 145506 w 931"/>
                    <a:gd name="T29" fmla="*/ 107214 h 149"/>
                    <a:gd name="T30" fmla="*/ 154921 w 931"/>
                    <a:gd name="T31" fmla="*/ 109619 h 149"/>
                    <a:gd name="T32" fmla="*/ 147264 w 931"/>
                    <a:gd name="T33" fmla="*/ 64535 h 149"/>
                    <a:gd name="T34" fmla="*/ 154921 w 931"/>
                    <a:gd name="T35" fmla="*/ 52823 h 149"/>
                    <a:gd name="T36" fmla="*/ 161042 w 931"/>
                    <a:gd name="T37" fmla="*/ 104954 h 149"/>
                    <a:gd name="T38" fmla="*/ 154921 w 931"/>
                    <a:gd name="T39" fmla="*/ 135018 h 149"/>
                    <a:gd name="T40" fmla="*/ 172635 w 931"/>
                    <a:gd name="T41" fmla="*/ 154979 h 149"/>
                    <a:gd name="T42" fmla="*/ 173966 w 931"/>
                    <a:gd name="T43" fmla="*/ 109619 h 149"/>
                    <a:gd name="T44" fmla="*/ 192792 w 931"/>
                    <a:gd name="T45" fmla="*/ 122655 h 149"/>
                    <a:gd name="T46" fmla="*/ 222409 w 931"/>
                    <a:gd name="T47" fmla="*/ 87506 h 149"/>
                    <a:gd name="T48" fmla="*/ 238190 w 931"/>
                    <a:gd name="T49" fmla="*/ 59478 h 149"/>
                    <a:gd name="T50" fmla="*/ 255877 w 931"/>
                    <a:gd name="T51" fmla="*/ 66433 h 149"/>
                    <a:gd name="T52" fmla="*/ 264867 w 931"/>
                    <a:gd name="T53" fmla="*/ 59478 h 149"/>
                    <a:gd name="T54" fmla="*/ 250996 w 931"/>
                    <a:gd name="T55" fmla="*/ 52823 h 149"/>
                    <a:gd name="T56" fmla="*/ 276130 w 931"/>
                    <a:gd name="T57" fmla="*/ 41447 h 149"/>
                    <a:gd name="T58" fmla="*/ 316665 w 931"/>
                    <a:gd name="T59" fmla="*/ 64535 h 149"/>
                    <a:gd name="T60" fmla="*/ 338287 w 931"/>
                    <a:gd name="T61" fmla="*/ 49620 h 149"/>
                    <a:gd name="T62" fmla="*/ 339761 w 931"/>
                    <a:gd name="T63" fmla="*/ 75358 h 149"/>
                    <a:gd name="T64" fmla="*/ 330657 w 931"/>
                    <a:gd name="T65" fmla="*/ 120299 h 149"/>
                    <a:gd name="T66" fmla="*/ 355930 w 931"/>
                    <a:gd name="T67" fmla="*/ 104954 h 149"/>
                    <a:gd name="T68" fmla="*/ 363242 w 931"/>
                    <a:gd name="T69" fmla="*/ 95958 h 149"/>
                    <a:gd name="T70" fmla="*/ 377378 w 931"/>
                    <a:gd name="T71" fmla="*/ 72618 h 149"/>
                    <a:gd name="T72" fmla="*/ 462235 w 931"/>
                    <a:gd name="T73" fmla="*/ 1004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5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8 w 44"/>
                    <a:gd name="T3" fmla="*/ 0 h 32"/>
                    <a:gd name="T4" fmla="*/ 54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83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6"/>
                <a:ext cx="5739" cy="1022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363" y="1"/>
                <a:ext cx="4919" cy="1034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3196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03197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32004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6E7986B-6AB3-4113-9973-CFE6343247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73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A84F9D-C75E-4E1C-B02D-E7F277041DF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30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B48DE1-9BAB-473E-9EAC-AD10C061AA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90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C7E8A7-F1B0-4BB3-89DC-A5DA01F9291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9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37639-B612-4C81-BBFF-6C9DBADC8E1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3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880BE2-ADC2-47C1-892E-DC98840054B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50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469112-43D0-48E0-9DFB-F773BED7F1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506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A1979E-3D7D-447B-8AAF-419B50B10B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197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B28F7-27D4-4A45-847C-D6984A40515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937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1B7C5E-6705-475A-9B7E-810931111D7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29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5F46CB-D1FF-44E0-8947-E02C2C21A38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241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CAD391-3A3A-4A93-B20A-46D498E58D5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8841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098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7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65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028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505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049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328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230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860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208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43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20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fld id="{57A1BFBC-C4B4-4643-86C1-56879915C522}" type="slidenum">
              <a:rPr lang="zh-CN" altLang="en-US"/>
              <a:pPr/>
              <a:t>‹#›</a:t>
            </a:fld>
            <a:endParaRPr lang="en-US" altLang="zh-CN"/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937589C9-23BE-4DE8-920D-E692843CF80C}"/>
              </a:ext>
            </a:extLst>
          </p:cNvPr>
          <p:cNvGrpSpPr/>
          <p:nvPr userDrawn="1"/>
        </p:nvGrpSpPr>
        <p:grpSpPr>
          <a:xfrm>
            <a:off x="142282" y="288798"/>
            <a:ext cx="533400" cy="426720"/>
            <a:chOff x="0" y="288798"/>
            <a:chExt cx="533400" cy="426720"/>
          </a:xfrm>
        </p:grpSpPr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3215382F-CB53-4992-8055-3E63AA884941}"/>
                </a:ext>
              </a:extLst>
            </p:cNvPr>
            <p:cNvSpPr/>
            <p:nvPr/>
          </p:nvSpPr>
          <p:spPr>
            <a:xfrm>
              <a:off x="0" y="288798"/>
              <a:ext cx="4191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A7E7A35D-3572-4410-AC23-B3AE01DE596B}"/>
                </a:ext>
              </a:extLst>
            </p:cNvPr>
            <p:cNvSpPr/>
            <p:nvPr/>
          </p:nvSpPr>
          <p:spPr>
            <a:xfrm>
              <a:off x="457200" y="288798"/>
              <a:ext cx="762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3" name="图片 162">
            <a:extLst>
              <a:ext uri="{FF2B5EF4-FFF2-40B4-BE49-F238E27FC236}">
                <a16:creationId xmlns:a16="http://schemas.microsoft.com/office/drawing/2014/main" id="{F5DD1D46-E9B6-412B-A870-F555EA614AC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805" y="244642"/>
            <a:ext cx="492595" cy="50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3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i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12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3.wmf"/><Relationship Id="rId3" Type="http://schemas.openxmlformats.org/officeDocument/2006/relationships/image" Target="../media/image19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2.wmf"/><Relationship Id="rId5" Type="http://schemas.openxmlformats.org/officeDocument/2006/relationships/image" Target="../media/image14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5.png"/><Relationship Id="rId7" Type="http://schemas.openxmlformats.org/officeDocument/2006/relationships/image" Target="../media/image2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2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6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35.w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44.wmf"/><Relationship Id="rId7" Type="http://schemas.openxmlformats.org/officeDocument/2006/relationships/oleObject" Target="../embeddings/oleObject21.bin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7.emf"/><Relationship Id="rId4" Type="http://schemas.openxmlformats.org/officeDocument/2006/relationships/image" Target="../media/image45.emf"/><Relationship Id="rId9" Type="http://schemas.openxmlformats.org/officeDocument/2006/relationships/image" Target="../media/image3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3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4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45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54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73.wmf"/><Relationship Id="rId2" Type="http://schemas.openxmlformats.org/officeDocument/2006/relationships/oleObject" Target="../embeddings/oleObject46.bin"/><Relationship Id="rId16" Type="http://schemas.openxmlformats.org/officeDocument/2006/relationships/oleObject" Target="../embeddings/oleObject5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5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86.png"/><Relationship Id="rId26" Type="http://schemas.openxmlformats.org/officeDocument/2006/relationships/image" Target="../media/image90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82.wmf"/><Relationship Id="rId17" Type="http://schemas.openxmlformats.org/officeDocument/2006/relationships/image" Target="../media/image85.png"/><Relationship Id="rId25" Type="http://schemas.openxmlformats.org/officeDocument/2006/relationships/oleObject" Target="../embeddings/oleObject64.bin"/><Relationship Id="rId2" Type="http://schemas.openxmlformats.org/officeDocument/2006/relationships/image" Target="../media/image76.png"/><Relationship Id="rId16" Type="http://schemas.openxmlformats.org/officeDocument/2006/relationships/image" Target="../media/image84.wmf"/><Relationship Id="rId20" Type="http://schemas.openxmlformats.org/officeDocument/2006/relationships/image" Target="../media/image8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89.wmf"/><Relationship Id="rId5" Type="http://schemas.openxmlformats.org/officeDocument/2006/relationships/image" Target="../media/image78.png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3.bin"/><Relationship Id="rId10" Type="http://schemas.openxmlformats.org/officeDocument/2006/relationships/image" Target="../media/image81.w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83.wmf"/><Relationship Id="rId22" Type="http://schemas.openxmlformats.org/officeDocument/2006/relationships/image" Target="../media/image8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38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7.emf"/><Relationship Id="rId5" Type="http://schemas.openxmlformats.org/officeDocument/2006/relationships/image" Target="../media/image39.wmf"/><Relationship Id="rId10" Type="http://schemas.openxmlformats.org/officeDocument/2006/relationships/image" Target="../media/image36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93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2384" y="188640"/>
            <a:ext cx="7344816" cy="648072"/>
          </a:xfrm>
        </p:spPr>
        <p:txBody>
          <a:bodyPr/>
          <a:lstStyle/>
          <a:p>
            <a:r>
              <a:rPr lang="zh-CN" altLang="en-US" sz="3600" b="1" i="0" dirty="0">
                <a:solidFill>
                  <a:srgbClr val="9933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第</a:t>
            </a:r>
            <a:r>
              <a:rPr lang="en-US" altLang="zh-CN" sz="3600" b="1" i="0" dirty="0">
                <a:solidFill>
                  <a:srgbClr val="9933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lang="zh-CN" altLang="en-US" sz="3600" b="1" i="0" dirty="0">
                <a:solidFill>
                  <a:srgbClr val="9933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章 信号的采样与重建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103313" y="1600200"/>
            <a:ext cx="7583487" cy="25495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latin typeface="+mj-lt"/>
              </a:rPr>
              <a:t>2.1 </a:t>
            </a:r>
            <a:r>
              <a:rPr lang="zh-CN" altLang="en-US" b="1" dirty="0">
                <a:latin typeface="+mj-lt"/>
              </a:rPr>
              <a:t>数字信号处理系统的模拟接口</a:t>
            </a:r>
            <a:endParaRPr lang="en-US" altLang="zh-CN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j-lt"/>
              </a:rPr>
              <a:t>2.2 </a:t>
            </a:r>
            <a:r>
              <a:rPr lang="zh-CN" altLang="en-US" b="1" dirty="0">
                <a:latin typeface="+mj-lt"/>
              </a:rPr>
              <a:t>模拟信号的采样与重建</a:t>
            </a:r>
            <a:endParaRPr lang="en-US" altLang="zh-CN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7277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729680" y="228600"/>
            <a:ext cx="79571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数字信号处理系统的模拟接口</a:t>
            </a:r>
          </a:p>
        </p:txBody>
      </p:sp>
      <p:pic>
        <p:nvPicPr>
          <p:cNvPr id="4" name="Picture 4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0808"/>
            <a:ext cx="8555754" cy="145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051720" y="5085184"/>
            <a:ext cx="5240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图</a:t>
            </a:r>
            <a:r>
              <a:rPr lang="en-US" altLang="zh-CN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2.1 </a:t>
            </a: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数字信号处理系统的简单框图</a:t>
            </a:r>
          </a:p>
        </p:txBody>
      </p:sp>
      <p:sp>
        <p:nvSpPr>
          <p:cNvPr id="9" name="矩形 8"/>
          <p:cNvSpPr/>
          <p:nvPr/>
        </p:nvSpPr>
        <p:spPr>
          <a:xfrm>
            <a:off x="395536" y="3462099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模拟低通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000000"/>
                </a:solidFill>
              </a:rPr>
              <a:t>滤波器 </a:t>
            </a:r>
            <a:endParaRPr lang="zh-CN" altLang="en-US" sz="2400" b="1" dirty="0"/>
          </a:p>
        </p:txBody>
      </p:sp>
      <p:sp>
        <p:nvSpPr>
          <p:cNvPr id="11" name="矩形 10"/>
          <p:cNvSpPr/>
          <p:nvPr/>
        </p:nvSpPr>
        <p:spPr>
          <a:xfrm>
            <a:off x="6876256" y="3429000"/>
            <a:ext cx="20882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模拟低通</a:t>
            </a:r>
            <a:r>
              <a:rPr lang="zh-CN" altLang="en-US" sz="2400" b="1" dirty="0">
                <a:solidFill>
                  <a:srgbClr val="000000"/>
                </a:solidFill>
              </a:rPr>
              <a:t>滤波器，</a:t>
            </a:r>
            <a:r>
              <a:rPr lang="zh-CN" altLang="en-US" sz="2400" b="1" dirty="0"/>
              <a:t>滤除镜像的高频分量</a:t>
            </a:r>
          </a:p>
          <a:p>
            <a:r>
              <a:rPr lang="zh-CN" altLang="en-US" sz="2400" b="1" dirty="0">
                <a:solidFill>
                  <a:srgbClr val="000000"/>
                </a:solidFill>
              </a:rPr>
              <a:t>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3078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5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68760"/>
            <a:ext cx="6531878" cy="452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339752" y="6063679"/>
            <a:ext cx="4464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图</a:t>
            </a:r>
            <a:r>
              <a:rPr lang="en-US" altLang="zh-CN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2.2 </a:t>
            </a: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模拟信号转换成数字信号</a:t>
            </a:r>
          </a:p>
        </p:txBody>
      </p:sp>
      <p:sp>
        <p:nvSpPr>
          <p:cNvPr id="6" name="Rectangle 1032"/>
          <p:cNvSpPr>
            <a:spLocks noChangeArrowheads="1"/>
          </p:cNvSpPr>
          <p:nvPr/>
        </p:nvSpPr>
        <p:spPr bwMode="auto">
          <a:xfrm>
            <a:off x="729680" y="228600"/>
            <a:ext cx="79571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数字信号处理系统的模拟接口</a:t>
            </a:r>
          </a:p>
        </p:txBody>
      </p:sp>
    </p:spTree>
    <p:extLst>
      <p:ext uri="{BB962C8B-B14F-4D97-AF65-F5344CB8AC3E}">
        <p14:creationId xmlns:p14="http://schemas.microsoft.com/office/powerpoint/2010/main" val="2535204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96751"/>
            <a:ext cx="6522734" cy="458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72021" y="5961281"/>
            <a:ext cx="5240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图</a:t>
            </a:r>
            <a:r>
              <a:rPr lang="en-US" altLang="zh-CN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2.3 </a:t>
            </a: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数字信号转换成模拟信号</a:t>
            </a:r>
          </a:p>
        </p:txBody>
      </p:sp>
      <p:sp>
        <p:nvSpPr>
          <p:cNvPr id="6" name="Rectangle 1032"/>
          <p:cNvSpPr>
            <a:spLocks noChangeArrowheads="1"/>
          </p:cNvSpPr>
          <p:nvPr/>
        </p:nvSpPr>
        <p:spPr bwMode="auto">
          <a:xfrm>
            <a:off x="729680" y="228600"/>
            <a:ext cx="79571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数字信号处理系统的模拟接口</a:t>
            </a:r>
          </a:p>
        </p:txBody>
      </p:sp>
    </p:spTree>
    <p:extLst>
      <p:ext uri="{BB962C8B-B14F-4D97-AF65-F5344CB8AC3E}">
        <p14:creationId xmlns:p14="http://schemas.microsoft.com/office/powerpoint/2010/main" val="217455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0768"/>
            <a:ext cx="7694612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710" y="3779738"/>
            <a:ext cx="6617222" cy="56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1979613" y="1772568"/>
            <a:ext cx="2232025" cy="122555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Oval 19"/>
          <p:cNvSpPr>
            <a:spLocks noChangeArrowheads="1"/>
          </p:cNvSpPr>
          <p:nvPr/>
        </p:nvSpPr>
        <p:spPr bwMode="auto">
          <a:xfrm>
            <a:off x="5724525" y="1772568"/>
            <a:ext cx="2305050" cy="12239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AutoShape 31"/>
          <p:cNvSpPr>
            <a:spLocks noChangeArrowheads="1"/>
          </p:cNvSpPr>
          <p:nvPr/>
        </p:nvSpPr>
        <p:spPr bwMode="auto">
          <a:xfrm>
            <a:off x="2987825" y="2996530"/>
            <a:ext cx="216024" cy="783208"/>
          </a:xfrm>
          <a:prstGeom prst="downArrow">
            <a:avLst>
              <a:gd name="adj1" fmla="val 50000"/>
              <a:gd name="adj2" fmla="val 6236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AutoShape 32"/>
          <p:cNvSpPr>
            <a:spLocks noChangeArrowheads="1"/>
          </p:cNvSpPr>
          <p:nvPr/>
        </p:nvSpPr>
        <p:spPr bwMode="auto">
          <a:xfrm>
            <a:off x="6803355" y="2996530"/>
            <a:ext cx="216917" cy="783208"/>
          </a:xfrm>
          <a:prstGeom prst="downArrow">
            <a:avLst>
              <a:gd name="adj1" fmla="val 50000"/>
              <a:gd name="adj2" fmla="val 6236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076077" y="4728741"/>
            <a:ext cx="3656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图</a:t>
            </a:r>
            <a:r>
              <a:rPr lang="en-US" altLang="zh-CN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2.4 </a:t>
            </a: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 图</a:t>
            </a:r>
            <a:r>
              <a:rPr lang="en-US" altLang="zh-CN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2.1</a:t>
            </a: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的简化表示</a:t>
            </a:r>
          </a:p>
        </p:txBody>
      </p:sp>
      <p:graphicFrame>
        <p:nvGraphicFramePr>
          <p:cNvPr id="10" name="Object 16"/>
          <p:cNvGraphicFramePr>
            <a:graphicFrameLocks noChangeAspect="1"/>
          </p:cNvGraphicFramePr>
          <p:nvPr/>
        </p:nvGraphicFramePr>
        <p:xfrm>
          <a:off x="2028280" y="5466680"/>
          <a:ext cx="2590272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253800" progId="Equation.DSMT4">
                  <p:embed/>
                </p:oleObj>
              </mc:Choice>
              <mc:Fallback>
                <p:oleObj name="Equation" r:id="rId4" imgW="1079280" imgH="253800" progId="Equation.DSMT4">
                  <p:embed/>
                  <p:pic>
                    <p:nvPicPr>
                      <p:cNvPr id="1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280" y="5466680"/>
                        <a:ext cx="2590272" cy="609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32"/>
          <p:cNvSpPr>
            <a:spLocks noChangeArrowheads="1"/>
          </p:cNvSpPr>
          <p:nvPr/>
        </p:nvSpPr>
        <p:spPr bwMode="auto">
          <a:xfrm>
            <a:off x="729680" y="228600"/>
            <a:ext cx="79571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2.1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数字信号处理系统的模拟接口</a:t>
            </a:r>
          </a:p>
        </p:txBody>
      </p:sp>
    </p:spTree>
    <p:extLst>
      <p:ext uri="{BB962C8B-B14F-4D97-AF65-F5344CB8AC3E}">
        <p14:creationId xmlns:p14="http://schemas.microsoft.com/office/powerpoint/2010/main" val="18112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  <p:sp>
        <p:nvSpPr>
          <p:cNvPr id="4" name="矩形 3"/>
          <p:cNvSpPr/>
          <p:nvPr/>
        </p:nvSpPr>
        <p:spPr>
          <a:xfrm>
            <a:off x="755576" y="1052736"/>
            <a:ext cx="79928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00"/>
                </a:solidFill>
              </a:rPr>
              <a:t>模拟信号经过采样以后是否会失掉一些信息？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 marL="457200" indent="-4572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00"/>
                </a:solidFill>
              </a:rPr>
              <a:t>由离散时间信号恢复成模拟信号应该具备哪些条件？</a:t>
            </a:r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3456884" y="3501008"/>
          <a:ext cx="2590272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253800" progId="Equation.DSMT4">
                  <p:embed/>
                </p:oleObj>
              </mc:Choice>
              <mc:Fallback>
                <p:oleObj name="Equation" r:id="rId2" imgW="1079280" imgH="253800" progId="Equation.DSMT4">
                  <p:embed/>
                  <p:pic>
                    <p:nvPicPr>
                      <p:cNvPr id="5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884" y="3501008"/>
                        <a:ext cx="2590272" cy="609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187624" y="3543958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等间隔采样</a:t>
            </a:r>
          </a:p>
        </p:txBody>
      </p:sp>
      <p:sp>
        <p:nvSpPr>
          <p:cNvPr id="11" name="矩形 10"/>
          <p:cNvSpPr/>
          <p:nvPr/>
        </p:nvSpPr>
        <p:spPr>
          <a:xfrm>
            <a:off x="2952011" y="5415837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00000"/>
                </a:solidFill>
              </a:rPr>
              <a:t>采样角频率</a:t>
            </a:r>
          </a:p>
        </p:txBody>
      </p:sp>
      <p:sp>
        <p:nvSpPr>
          <p:cNvPr id="14" name="矩形 13"/>
          <p:cNvSpPr/>
          <p:nvPr/>
        </p:nvSpPr>
        <p:spPr>
          <a:xfrm>
            <a:off x="3347864" y="4292733"/>
            <a:ext cx="2039218" cy="1074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14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采样周期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3333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0" hangingPunct="0">
              <a:lnSpc>
                <a:spcPct val="114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采样频率</a:t>
            </a:r>
          </a:p>
        </p:txBody>
      </p:sp>
      <p:graphicFrame>
        <p:nvGraphicFramePr>
          <p:cNvPr id="15" name="Object 9"/>
          <p:cNvGraphicFramePr>
            <a:graphicFrameLocks noChangeAspect="1"/>
          </p:cNvGraphicFramePr>
          <p:nvPr/>
        </p:nvGraphicFramePr>
        <p:xfrm>
          <a:off x="4923458" y="4864276"/>
          <a:ext cx="13398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228600" progId="Equation.DSMT4">
                  <p:embed/>
                </p:oleObj>
              </mc:Choice>
              <mc:Fallback>
                <p:oleObj name="Equation" r:id="rId4" imgW="609480" imgH="228600" progId="Equation.DSMT4">
                  <p:embed/>
                  <p:pic>
                    <p:nvPicPr>
                      <p:cNvPr id="15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458" y="4864276"/>
                        <a:ext cx="13398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4953302" y="5456045"/>
          <a:ext cx="2679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228600" progId="Equation.DSMT4">
                  <p:embed/>
                </p:oleObj>
              </mc:Choice>
              <mc:Fallback>
                <p:oleObj name="Equation" r:id="rId6" imgW="1218960" imgH="228600" progId="Equation.DSMT4">
                  <p:embed/>
                  <p:pic>
                    <p:nvPicPr>
                      <p:cNvPr id="16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302" y="5456045"/>
                        <a:ext cx="26797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511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34368"/>
            <a:ext cx="4735513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15421" y="6093296"/>
            <a:ext cx="4464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图</a:t>
            </a:r>
            <a:r>
              <a:rPr lang="en-US" altLang="zh-CN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2.5</a:t>
            </a: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  采样器及其等效电路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5644846" y="1156727"/>
          <a:ext cx="2681856" cy="578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241200" progId="Equation.DSMT4">
                  <p:embed/>
                </p:oleObj>
              </mc:Choice>
              <mc:Fallback>
                <p:oleObj name="Equation" r:id="rId4" imgW="1117440" imgH="241200" progId="Equation.DSMT4">
                  <p:embed/>
                  <p:pic>
                    <p:nvPicPr>
                      <p:cNvPr id="6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4846" y="1156727"/>
                        <a:ext cx="2681856" cy="578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5552144" y="2644541"/>
            <a:ext cx="342702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开关闭合时间非常短时，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可以认为是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周期性的冲激函数</a:t>
            </a: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5594974" y="4164420"/>
          <a:ext cx="3241620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431640" progId="Equation.DSMT4">
                  <p:embed/>
                </p:oleObj>
              </mc:Choice>
              <mc:Fallback>
                <p:oleObj name="Equation" r:id="rId6" imgW="1409400" imgH="431640" progId="Equation.DSMT4">
                  <p:embed/>
                  <p:pic>
                    <p:nvPicPr>
                      <p:cNvPr id="8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974" y="4164420"/>
                        <a:ext cx="3241620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296377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47638"/>
            <a:ext cx="320675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1187624" y="616530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图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2.6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  理想采样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1475656" y="4293096"/>
          <a:ext cx="280368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228600" progId="Equation.DSMT4">
                  <p:embed/>
                </p:oleObj>
              </mc:Choice>
              <mc:Fallback>
                <p:oleObj name="Equation" r:id="rId3" imgW="1168200" imgH="228600" progId="Equation.DSMT4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293096"/>
                        <a:ext cx="280368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005141" y="1303172"/>
          <a:ext cx="13112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5760" imgH="228600" progId="Equation.DSMT4">
                  <p:embed/>
                </p:oleObj>
              </mc:Choice>
              <mc:Fallback>
                <p:oleObj name="Equation" r:id="rId5" imgW="545760" imgH="228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5141" y="1303172"/>
                        <a:ext cx="13112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5099323" y="1387310"/>
            <a:ext cx="1344885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chemeClr val="hlink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864675" y="90872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傅里叶变换</a:t>
            </a:r>
          </a:p>
        </p:txBody>
      </p:sp>
      <p:sp>
        <p:nvSpPr>
          <p:cNvPr id="19" name="AutoShape 12"/>
          <p:cNvSpPr>
            <a:spLocks noChangeArrowheads="1"/>
          </p:cNvSpPr>
          <p:nvPr/>
        </p:nvSpPr>
        <p:spPr bwMode="auto">
          <a:xfrm>
            <a:off x="4955307" y="4521250"/>
            <a:ext cx="1344885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chemeClr val="hlink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720659" y="404266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傅里叶变换</a:t>
            </a: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7018217" y="4387106"/>
          <a:ext cx="12350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760" imgH="253800" progId="Equation.DSMT4">
                  <p:embed/>
                </p:oleObj>
              </mc:Choice>
              <mc:Fallback>
                <p:oleObj name="Equation" r:id="rId7" imgW="545760" imgH="253800" progId="Equation.DSMT4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217" y="4387106"/>
                        <a:ext cx="1235075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96368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19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467544" y="1016327"/>
          <a:ext cx="280368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228600" progId="Equation.DSMT4">
                  <p:embed/>
                </p:oleObj>
              </mc:Choice>
              <mc:Fallback>
                <p:oleObj name="Equation" r:id="rId2" imgW="1168200" imgH="228600" progId="Equation.DSMT4">
                  <p:embed/>
                  <p:pic>
                    <p:nvPicPr>
                      <p:cNvPr id="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016327"/>
                        <a:ext cx="280368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5866884" y="836712"/>
          <a:ext cx="3241620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400" imgH="431640" progId="Equation.DSMT4">
                  <p:embed/>
                </p:oleObj>
              </mc:Choice>
              <mc:Fallback>
                <p:oleObj name="Equation" r:id="rId4" imgW="1409400" imgH="431640" progId="Equation.DSMT4">
                  <p:embed/>
                  <p:pic>
                    <p:nvPicPr>
                      <p:cNvPr id="5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6884" y="836712"/>
                        <a:ext cx="3241620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5822077" y="183443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/>
              <a:t>傅里叶</a:t>
            </a:r>
            <a:r>
              <a:rPr lang="zh-CN" altLang="en-US" sz="2400" b="1" dirty="0"/>
              <a:t>级数展开</a:t>
            </a:r>
          </a:p>
        </p:txBody>
      </p:sp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5942013" y="2330450"/>
          <a:ext cx="295116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431640" progId="Equation.DSMT4">
                  <p:embed/>
                </p:oleObj>
              </mc:Choice>
              <mc:Fallback>
                <p:oleObj name="Equation" r:id="rId6" imgW="1282680" imgH="431640" progId="Equation.DSMT4">
                  <p:embed/>
                  <p:pic>
                    <p:nvPicPr>
                      <p:cNvPr id="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2013" y="2330450"/>
                        <a:ext cx="2951162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467544" y="1556792"/>
          <a:ext cx="3738420" cy="759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400" imgH="330120" progId="Equation.DSMT4">
                  <p:embed/>
                </p:oleObj>
              </mc:Choice>
              <mc:Fallback>
                <p:oleObj name="Equation" r:id="rId8" imgW="1625400" imgH="33012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556792"/>
                        <a:ext cx="3738420" cy="759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691680" y="2382143"/>
          <a:ext cx="33004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330120" progId="Equation.DSMT4">
                  <p:embed/>
                </p:oleObj>
              </mc:Choice>
              <mc:Fallback>
                <p:oleObj name="Equation" r:id="rId10" imgW="1434960" imgH="330120" progId="Equation.DSMT4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382143"/>
                        <a:ext cx="330041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1657350" y="3213100"/>
          <a:ext cx="4205288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28800" imgH="431640" progId="Equation.DSMT4">
                  <p:embed/>
                </p:oleObj>
              </mc:Choice>
              <mc:Fallback>
                <p:oleObj name="Equation" r:id="rId12" imgW="1828800" imgH="431640" progId="Equation.DSMT4">
                  <p:embed/>
                  <p:pic>
                    <p:nvPicPr>
                      <p:cNvPr id="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3213100"/>
                        <a:ext cx="4205288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1670154" y="4293096"/>
          <a:ext cx="420528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8800" imgH="431640" progId="Equation.DSMT4">
                  <p:embed/>
                </p:oleObj>
              </mc:Choice>
              <mc:Fallback>
                <p:oleObj name="Equation" r:id="rId14" imgW="1828800" imgH="431640" progId="Equation.DSMT4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154" y="4293096"/>
                        <a:ext cx="4205287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1670154" y="5445224"/>
          <a:ext cx="362108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74640" imgH="431640" progId="Equation.DSMT4">
                  <p:embed/>
                </p:oleObj>
              </mc:Choice>
              <mc:Fallback>
                <p:oleObj name="Equation" r:id="rId16" imgW="1574640" imgH="431640" progId="Equation.DSMT4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154" y="5445224"/>
                        <a:ext cx="3621087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5496" y="2222865"/>
            <a:ext cx="162736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采样信号</a:t>
            </a:r>
            <a:endParaRPr kumimoji="1" lang="en-US" altLang="zh-CN" sz="2800" b="1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r>
              <a:rPr kumimoji="1"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的频谱</a:t>
            </a:r>
            <a:endParaRPr lang="zh-CN" altLang="en-US" sz="2800" b="1" dirty="0"/>
          </a:p>
        </p:txBody>
      </p:sp>
      <p:sp>
        <p:nvSpPr>
          <p:cNvPr id="14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22121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51694"/>
            <a:ext cx="320675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1340768"/>
            <a:ext cx="3724275" cy="14192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842470"/>
            <a:ext cx="3714750" cy="146685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860032" y="6279703"/>
            <a:ext cx="34267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图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2.7</a:t>
            </a:r>
            <a:r>
              <a:rPr kumimoji="1" lang="zh-CN" altLang="en-US" sz="2400" b="1" kern="0" dirty="0">
                <a:latin typeface="Times New Roman" panose="02020603050405020304" pitchFamily="18" charset="0"/>
              </a:rPr>
              <a:t>  频谱的周期延拓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83768" y="836712"/>
            <a:ext cx="43332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时域采样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频域周期延拓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618009"/>
              </p:ext>
            </p:extLst>
          </p:nvPr>
        </p:nvGraphicFramePr>
        <p:xfrm>
          <a:off x="3707904" y="3187170"/>
          <a:ext cx="484663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8160" imgH="431640" progId="Equation.DSMT4">
                  <p:embed/>
                </p:oleObj>
              </mc:Choice>
              <mc:Fallback>
                <p:oleObj name="Equation" r:id="rId6" imgW="2108160" imgH="431640" progId="Equation.DSMT4">
                  <p:embed/>
                  <p:pic>
                    <p:nvPicPr>
                      <p:cNvPr id="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187170"/>
                        <a:ext cx="4846637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8"/>
          <p:cNvGraphicFramePr>
            <a:graphicFrameLocks noChangeAspect="1"/>
          </p:cNvGraphicFramePr>
          <p:nvPr/>
        </p:nvGraphicFramePr>
        <p:xfrm>
          <a:off x="3707904" y="4115312"/>
          <a:ext cx="5314680" cy="5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43120" imgH="393480" progId="Equation.DSMT4">
                  <p:embed/>
                </p:oleObj>
              </mc:Choice>
              <mc:Fallback>
                <p:oleObj name="Equation" r:id="rId8" imgW="3543120" imgH="393480" progId="Equation.DSMT4">
                  <p:embed/>
                  <p:pic>
                    <p:nvPicPr>
                      <p:cNvPr id="1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115312"/>
                        <a:ext cx="5314680" cy="590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850000" y="815630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★ </a:t>
            </a:r>
            <a:endParaRPr lang="zh-CN" altLang="en-US" dirty="0"/>
          </a:p>
        </p:txBody>
      </p:sp>
      <p:sp>
        <p:nvSpPr>
          <p:cNvPr id="12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418127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50432"/>
            <a:ext cx="5166360" cy="1905000"/>
          </a:xfrm>
          <a:prstGeom prst="rect">
            <a:avLst/>
          </a:prstGeom>
        </p:spPr>
      </p:pic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092805"/>
              </p:ext>
            </p:extLst>
          </p:nvPr>
        </p:nvGraphicFramePr>
        <p:xfrm>
          <a:off x="6697663" y="3454400"/>
          <a:ext cx="17970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9160" imgH="228600" progId="Equation.DSMT4">
                  <p:embed/>
                </p:oleObj>
              </mc:Choice>
              <mc:Fallback>
                <p:oleObj name="Equation" r:id="rId3" imgW="749160" imgH="22860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663" y="3454400"/>
                        <a:ext cx="17970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555274"/>
              </p:ext>
            </p:extLst>
          </p:nvPr>
        </p:nvGraphicFramePr>
        <p:xfrm>
          <a:off x="6599238" y="5092700"/>
          <a:ext cx="17970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160" imgH="228600" progId="Equation.DSMT4">
                  <p:embed/>
                </p:oleObj>
              </mc:Choice>
              <mc:Fallback>
                <p:oleObj name="Equation" r:id="rId5" imgW="749160" imgH="2286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5092700"/>
                        <a:ext cx="17970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4972643" y="5135611"/>
            <a:ext cx="1729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ym typeface="Symbol" panose="05050102010706020507" pitchFamily="18" charset="2"/>
              </a:rPr>
              <a:t>频谱的</a:t>
            </a:r>
            <a:r>
              <a:rPr kumimoji="1" lang="zh-CN" altLang="en-US" sz="2400" b="1" dirty="0">
                <a:solidFill>
                  <a:srgbClr val="3333CC"/>
                </a:solidFill>
                <a:sym typeface="Symbol" panose="05050102010706020507" pitchFamily="18" charset="2"/>
              </a:rPr>
              <a:t>混叠</a:t>
            </a:r>
            <a:endParaRPr lang="zh-CN" altLang="en-US" sz="2400" b="1" dirty="0">
              <a:solidFill>
                <a:srgbClr val="3333CC"/>
              </a:solidFill>
            </a:endParaRP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550799"/>
              </p:ext>
            </p:extLst>
          </p:nvPr>
        </p:nvGraphicFramePr>
        <p:xfrm>
          <a:off x="6599238" y="5684838"/>
          <a:ext cx="20716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228600" progId="Equation.DSMT4">
                  <p:embed/>
                </p:oleObj>
              </mc:Choice>
              <mc:Fallback>
                <p:oleObj name="Equation" r:id="rId7" imgW="863280" imgH="2286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5684838"/>
                        <a:ext cx="207168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470296" y="6245423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sym typeface="Symbol" panose="05050102010706020507" pitchFamily="18" charset="2"/>
              </a:rPr>
              <a:t>折叠频率</a:t>
            </a:r>
            <a:endParaRPr lang="zh-CN" altLang="en-US" sz="2400" dirty="0"/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7596410" y="6233176"/>
            <a:ext cx="97551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矩形 12"/>
          <p:cNvSpPr/>
          <p:nvPr/>
        </p:nvSpPr>
        <p:spPr>
          <a:xfrm>
            <a:off x="6913893" y="4002360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无混叠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464754"/>
              </p:ext>
            </p:extLst>
          </p:nvPr>
        </p:nvGraphicFramePr>
        <p:xfrm>
          <a:off x="2949336" y="1219200"/>
          <a:ext cx="251064" cy="362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120" imgH="164880" progId="Equation.DSMT4">
                  <p:embed/>
                </p:oleObj>
              </mc:Choice>
              <mc:Fallback>
                <p:oleObj name="Equation" r:id="rId9" imgW="114120" imgH="16488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336" y="1219200"/>
                        <a:ext cx="251064" cy="362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46338"/>
              </p:ext>
            </p:extLst>
          </p:nvPr>
        </p:nvGraphicFramePr>
        <p:xfrm>
          <a:off x="2751492" y="2819400"/>
          <a:ext cx="372708" cy="82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480" imgH="393480" progId="Equation.DSMT4">
                  <p:embed/>
                </p:oleObj>
              </mc:Choice>
              <mc:Fallback>
                <p:oleObj name="Equation" r:id="rId11" imgW="177480" imgH="39348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492" y="2819400"/>
                        <a:ext cx="372708" cy="826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7994" y="655320"/>
            <a:ext cx="5074920" cy="18592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354" y="2438400"/>
            <a:ext cx="533400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32520" y="4828936"/>
            <a:ext cx="7792720" cy="1114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b="1" dirty="0">
                <a:solidFill>
                  <a:srgbClr val="000000"/>
                </a:solidFill>
                <a:sym typeface="Symbol" panose="05050102010706020507" pitchFamily="18" charset="2"/>
              </a:rPr>
              <a:t>能够再恢复出原始信号的最低采样频率称为</a:t>
            </a:r>
            <a:r>
              <a:rPr kumimoji="1" lang="zh-CN" altLang="en-US" b="1" dirty="0">
                <a:solidFill>
                  <a:srgbClr val="C00000"/>
                </a:solidFill>
                <a:sym typeface="Symbol" panose="05050102010706020507" pitchFamily="18" charset="2"/>
              </a:rPr>
              <a:t>奈奎斯特采样频率</a:t>
            </a:r>
            <a:r>
              <a:rPr kumimoji="1" lang="zh-CN" altLang="en-US" b="1" dirty="0">
                <a:sym typeface="Symbol" panose="05050102010706020507" pitchFamily="18" charset="2"/>
              </a:rPr>
              <a:t>，即</a:t>
            </a:r>
            <a:r>
              <a:rPr kumimoji="1" lang="zh-CN" altLang="en-US" b="1" dirty="0">
                <a:latin typeface="+mn-ea"/>
              </a:rPr>
              <a:t>信号最高频率的两倍</a:t>
            </a:r>
            <a:r>
              <a:rPr kumimoji="1" lang="zh-CN" altLang="en-US" b="1" dirty="0">
                <a:solidFill>
                  <a:srgbClr val="000000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81000" y="1066800"/>
            <a:ext cx="855732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921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25000"/>
              </a:lnSpc>
            </a:pPr>
            <a:r>
              <a:rPr kumimoji="1" lang="zh-CN" altLang="en-US" sz="3200" b="1" dirty="0">
                <a:latin typeface="+mn-ea"/>
                <a:ea typeface="+mn-ea"/>
              </a:rPr>
              <a:t>奈奎斯特采样定理：</a:t>
            </a:r>
            <a:r>
              <a:rPr kumimoji="1"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kumimoji="1" lang="zh-CN" altLang="en-US" b="1" dirty="0">
                <a:solidFill>
                  <a:srgbClr val="FF0066"/>
                </a:solidFill>
                <a:latin typeface="+mn-ea"/>
                <a:ea typeface="+mn-ea"/>
              </a:rPr>
              <a:t>★</a:t>
            </a:r>
            <a:endParaRPr kumimoji="1" lang="zh-CN" altLang="en-US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0" hangingPunct="0">
              <a:lnSpc>
                <a:spcPct val="125000"/>
              </a:lnSpc>
            </a:pPr>
            <a:r>
              <a:rPr kumimoji="1" lang="zh-CN" altLang="en-US" b="1" dirty="0">
                <a:latin typeface="+mn-ea"/>
                <a:ea typeface="+mn-ea"/>
              </a:rPr>
              <a:t>要使实带限信号采样后能够不失真还原，采样频率</a:t>
            </a:r>
            <a:endParaRPr kumimoji="1" lang="en-US" altLang="zh-CN" b="1" dirty="0">
              <a:latin typeface="+mn-ea"/>
              <a:ea typeface="+mn-ea"/>
            </a:endParaRPr>
          </a:p>
          <a:p>
            <a:pPr algn="just" eaLnBrk="0" hangingPunct="0">
              <a:lnSpc>
                <a:spcPct val="125000"/>
              </a:lnSpc>
            </a:pPr>
            <a:r>
              <a:rPr kumimoji="1" lang="zh-CN" altLang="en-US" b="1" dirty="0">
                <a:latin typeface="+mn-ea"/>
                <a:ea typeface="+mn-ea"/>
              </a:rPr>
              <a:t>必须大于等于信号最高频率的两倍。</a:t>
            </a:r>
            <a:endParaRPr kumimoji="1" lang="en-US" altLang="zh-CN" b="1" dirty="0">
              <a:latin typeface="+mn-ea"/>
              <a:ea typeface="+mn-ea"/>
            </a:endParaRPr>
          </a:p>
        </p:txBody>
      </p:sp>
      <p:graphicFrame>
        <p:nvGraphicFramePr>
          <p:cNvPr id="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372153"/>
              </p:ext>
            </p:extLst>
          </p:nvPr>
        </p:nvGraphicFramePr>
        <p:xfrm>
          <a:off x="3121720" y="2976563"/>
          <a:ext cx="170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41200" progId="Equation.DSMT4">
                  <p:embed/>
                </p:oleObj>
              </mc:Choice>
              <mc:Fallback>
                <p:oleObj name="Equation" r:id="rId2" imgW="850680" imgH="241200" progId="Equation.DSMT4">
                  <p:embed/>
                  <p:pic>
                    <p:nvPicPr>
                      <p:cNvPr id="1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720" y="2976563"/>
                        <a:ext cx="1701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00200"/>
              </p:ext>
            </p:extLst>
          </p:nvPr>
        </p:nvGraphicFramePr>
        <p:xfrm>
          <a:off x="3121720" y="3692966"/>
          <a:ext cx="152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241200" progId="Equation.DSMT4">
                  <p:embed/>
                </p:oleObj>
              </mc:Choice>
              <mc:Fallback>
                <p:oleObj name="Equation" r:id="rId4" imgW="761760" imgH="241200" progId="Equation.DSMT4">
                  <p:embed/>
                  <p:pic>
                    <p:nvPicPr>
                      <p:cNvPr id="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720" y="3692966"/>
                        <a:ext cx="1524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5055243" y="3600658"/>
            <a:ext cx="6222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5029200" y="2895600"/>
            <a:ext cx="9621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rad/s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76132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0600" y="1066800"/>
            <a:ext cx="7315200" cy="189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kumimoji="1" lang="zh-CN" altLang="en-US" b="1" dirty="0">
                <a:solidFill>
                  <a:srgbClr val="000000"/>
                </a:solidFill>
                <a:sym typeface="Symbol" panose="05050102010706020507" pitchFamily="18" charset="2"/>
              </a:rPr>
              <a:t>工程上为了防止频谱的混叠，在采样之前要加一</a:t>
            </a:r>
            <a:r>
              <a:rPr kumimoji="1"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抗混叠滤波器</a:t>
            </a:r>
            <a:r>
              <a:rPr kumimoji="1" lang="zh-CN" altLang="en-US" b="1" dirty="0">
                <a:solidFill>
                  <a:srgbClr val="000000"/>
                </a:solidFill>
                <a:sym typeface="Symbol" panose="05050102010706020507" pitchFamily="18" charset="2"/>
              </a:rPr>
              <a:t>，阻止高于          频率分量进入，使得信号的上限频率                      。</a:t>
            </a:r>
            <a:endParaRPr lang="zh-CN" altLang="en-US" b="1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88985"/>
              </p:ext>
            </p:extLst>
          </p:nvPr>
        </p:nvGraphicFramePr>
        <p:xfrm>
          <a:off x="5715000" y="1814513"/>
          <a:ext cx="88423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" imgH="228600" progId="Equation.DSMT4">
                  <p:embed/>
                </p:oleObj>
              </mc:Choice>
              <mc:Fallback>
                <p:oleObj name="Equation" r:id="rId2" imgW="368280" imgH="228600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814513"/>
                        <a:ext cx="88423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581400"/>
            <a:ext cx="8555754" cy="145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81000" y="5181600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模拟低通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000000"/>
                </a:solidFill>
              </a:rPr>
              <a:t>滤波器 </a:t>
            </a:r>
            <a:endParaRPr lang="zh-CN" altLang="en-US" sz="2400" b="1" dirty="0"/>
          </a:p>
        </p:txBody>
      </p:sp>
      <p:graphicFrame>
        <p:nvGraphicFramePr>
          <p:cNvPr id="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900338"/>
              </p:ext>
            </p:extLst>
          </p:nvPr>
        </p:nvGraphicFramePr>
        <p:xfrm>
          <a:off x="5486400" y="2438400"/>
          <a:ext cx="177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241200" progId="Equation.DSMT4">
                  <p:embed/>
                </p:oleObj>
              </mc:Choice>
              <mc:Fallback>
                <p:oleObj name="Equation" r:id="rId5" imgW="888840" imgH="241200" progId="Equation.DSMT4">
                  <p:embed/>
                  <p:pic>
                    <p:nvPicPr>
                      <p:cNvPr id="1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438400"/>
                        <a:ext cx="1778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2019612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00200" y="1143000"/>
            <a:ext cx="609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2400" b="1" kern="100" dirty="0">
                <a:cs typeface="Times New Roman" panose="02020603050405020304" pitchFamily="18" charset="0"/>
              </a:rPr>
              <a:t>表</a:t>
            </a:r>
            <a:r>
              <a:rPr lang="en-US" altLang="zh-CN" sz="2400" b="1" kern="100" dirty="0">
                <a:cs typeface="Times New Roman" panose="02020603050405020304" pitchFamily="18" charset="0"/>
              </a:rPr>
              <a:t>2.1  </a:t>
            </a:r>
            <a:r>
              <a:rPr lang="zh-CN" altLang="zh-CN" sz="2400" b="1" kern="100" dirty="0">
                <a:cs typeface="Times New Roman" panose="02020603050405020304" pitchFamily="18" charset="0"/>
              </a:rPr>
              <a:t>一些典型的数字信号处理系统</a:t>
            </a:r>
            <a:endParaRPr lang="zh-CN" altLang="zh-CN" sz="1200" kern="1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615756"/>
              </p:ext>
            </p:extLst>
          </p:nvPr>
        </p:nvGraphicFramePr>
        <p:xfrm>
          <a:off x="1524000" y="1928020"/>
          <a:ext cx="6603999" cy="385182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01333">
                  <a:extLst>
                    <a:ext uri="{9D8B030D-6E8A-4147-A177-3AD203B41FA5}">
                      <a16:colId xmlns:a16="http://schemas.microsoft.com/office/drawing/2014/main" val="3815667957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2895185509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3056179456"/>
                    </a:ext>
                  </a:extLst>
                </a:gridCol>
              </a:tblGrid>
              <a:tr h="550261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应用系统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latin typeface="+mj-lt"/>
                        </a:rPr>
                        <a:t>上限频率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latin typeface="+mj-lt"/>
                        </a:rPr>
                        <a:t>采样频率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762116"/>
                  </a:ext>
                </a:extLst>
              </a:tr>
              <a:tr h="550261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地质勘探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 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1~2 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335833"/>
                  </a:ext>
                </a:extLst>
              </a:tr>
              <a:tr h="550261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生物医学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2~4</a:t>
                      </a:r>
                      <a:r>
                        <a:rPr lang="en-US" altLang="zh-CN" sz="2400" b="1" kern="100" baseline="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213877"/>
                  </a:ext>
                </a:extLst>
              </a:tr>
              <a:tr h="550261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机械振动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4~10 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780484"/>
                  </a:ext>
                </a:extLst>
              </a:tr>
              <a:tr h="550261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语音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8~16 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064791"/>
                  </a:ext>
                </a:extLst>
              </a:tr>
              <a:tr h="550261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音乐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40~96 kHz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188290"/>
                  </a:ext>
                </a:extLst>
              </a:tr>
              <a:tr h="550261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视频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+mj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8~10 MHz</a:t>
                      </a:r>
                      <a:endParaRPr lang="zh-CN" sz="2400" b="1" kern="100" dirty="0"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894772"/>
                  </a:ext>
                </a:extLst>
              </a:tr>
            </a:tbl>
          </a:graphicData>
        </a:graphic>
      </p:graphicFrame>
      <p:graphicFrame>
        <p:nvGraphicFramePr>
          <p:cNvPr id="11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095620"/>
              </p:ext>
            </p:extLst>
          </p:nvPr>
        </p:nvGraphicFramePr>
        <p:xfrm>
          <a:off x="5029200" y="2004240"/>
          <a:ext cx="594216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241200" progId="Equation.DSMT4">
                  <p:embed/>
                </p:oleObj>
              </mc:Choice>
              <mc:Fallback>
                <p:oleObj name="Equation" r:id="rId2" imgW="330120" imgH="241200" progId="Equation.DSMT4">
                  <p:embed/>
                  <p:pic>
                    <p:nvPicPr>
                      <p:cNvPr id="1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004240"/>
                        <a:ext cx="594216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65831"/>
              </p:ext>
            </p:extLst>
          </p:nvPr>
        </p:nvGraphicFramePr>
        <p:xfrm>
          <a:off x="7239000" y="2004240"/>
          <a:ext cx="342792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41200" progId="Equation.DSMT4">
                  <p:embed/>
                </p:oleObj>
              </mc:Choice>
              <mc:Fallback>
                <p:oleObj name="Equation" r:id="rId4" imgW="190440" imgH="241200" progId="Equation.DSMT4">
                  <p:embed/>
                  <p:pic>
                    <p:nvPicPr>
                      <p:cNvPr id="1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004240"/>
                        <a:ext cx="342792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4102185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523225"/>
              </p:ext>
            </p:extLst>
          </p:nvPr>
        </p:nvGraphicFramePr>
        <p:xfrm>
          <a:off x="5663430" y="4058412"/>
          <a:ext cx="3352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507960" progId="Equation.DSMT4">
                  <p:embed/>
                </p:oleObj>
              </mc:Choice>
              <mc:Fallback>
                <p:oleObj name="Equation" r:id="rId2" imgW="1676160" imgH="507960" progId="Equation.DSMT4">
                  <p:embed/>
                  <p:pic>
                    <p:nvPicPr>
                      <p:cNvPr id="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430" y="4058412"/>
                        <a:ext cx="3352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" y="3627120"/>
            <a:ext cx="4313682" cy="1580388"/>
          </a:xfrm>
          <a:prstGeom prst="rect">
            <a:avLst/>
          </a:prstGeom>
        </p:spPr>
      </p:pic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10480" y="838200"/>
            <a:ext cx="838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zh-CN" altLang="en-US" b="1" dirty="0">
                <a:latin typeface="+mj-lt"/>
              </a:rPr>
              <a:t>如果理想采样满足奈奎斯特定理，可以</a:t>
            </a:r>
            <a:r>
              <a:rPr kumimoji="1" lang="zh-CN" altLang="en-US" b="1" dirty="0">
                <a:latin typeface="+mj-lt"/>
                <a:sym typeface="Symbol" panose="05050102010706020507" pitchFamily="18" charset="2"/>
              </a:rPr>
              <a:t>将采样信号</a:t>
            </a:r>
            <a:r>
              <a:rPr kumimoji="1" lang="zh-CN" altLang="en-US" b="1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通过一个理想低通滤波器</a:t>
            </a:r>
            <a:r>
              <a:rPr kumimoji="1" lang="zh-CN" altLang="en-US" b="1" dirty="0">
                <a:latin typeface="+mj-lt"/>
                <a:sym typeface="Symbol" panose="05050102010706020507" pitchFamily="18" charset="2"/>
              </a:rPr>
              <a:t>来重建原模拟信号</a:t>
            </a:r>
            <a:r>
              <a:rPr kumimoji="1" lang="zh-CN" altLang="en-US" b="1" dirty="0">
                <a:latin typeface="+mj-lt"/>
              </a:rPr>
              <a:t>。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9819"/>
              </p:ext>
            </p:extLst>
          </p:nvPr>
        </p:nvGraphicFramePr>
        <p:xfrm>
          <a:off x="2438400" y="2203135"/>
          <a:ext cx="301716" cy="668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393480" progId="Equation.DSMT4">
                  <p:embed/>
                </p:oleObj>
              </mc:Choice>
              <mc:Fallback>
                <p:oleObj name="Equation" r:id="rId5" imgW="177480" imgH="393480" progId="Equation.DSMT4">
                  <p:embed/>
                  <p:pic>
                    <p:nvPicPr>
                      <p:cNvPr id="15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03135"/>
                        <a:ext cx="301716" cy="668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064947"/>
              </p:ext>
            </p:extLst>
          </p:nvPr>
        </p:nvGraphicFramePr>
        <p:xfrm>
          <a:off x="2438400" y="5815704"/>
          <a:ext cx="194004" cy="280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64880" progId="Equation.DSMT4">
                  <p:embed/>
                </p:oleObj>
              </mc:Choice>
              <mc:Fallback>
                <p:oleObj name="Equation" r:id="rId7" imgW="114120" imgH="16488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815704"/>
                        <a:ext cx="194004" cy="280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60" y="5201412"/>
            <a:ext cx="4313682" cy="158038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620" y="1868424"/>
            <a:ext cx="4533900" cy="18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7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843" y="1033918"/>
            <a:ext cx="5409944" cy="894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394090"/>
              </p:ext>
            </p:extLst>
          </p:nvPr>
        </p:nvGraphicFramePr>
        <p:xfrm>
          <a:off x="223517" y="2241300"/>
          <a:ext cx="891504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57520" imgH="431640" progId="Equation.DSMT4">
                  <p:embed/>
                </p:oleObj>
              </mc:Choice>
              <mc:Fallback>
                <p:oleObj name="Equation" r:id="rId3" imgW="4457520" imgH="431640" progId="Equation.DSMT4">
                  <p:embed/>
                  <p:pic>
                    <p:nvPicPr>
                      <p:cNvPr id="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17" y="2241300"/>
                        <a:ext cx="8915040" cy="86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918677"/>
              </p:ext>
            </p:extLst>
          </p:nvPr>
        </p:nvGraphicFramePr>
        <p:xfrm>
          <a:off x="1439687" y="3093694"/>
          <a:ext cx="7264224" cy="1675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920" imgH="761760" progId="Equation.DSMT4">
                  <p:embed/>
                </p:oleObj>
              </mc:Choice>
              <mc:Fallback>
                <p:oleObj name="Equation" r:id="rId5" imgW="3301920" imgH="761760" progId="Equation.DSMT4">
                  <p:embed/>
                  <p:pic>
                    <p:nvPicPr>
                      <p:cNvPr id="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687" y="3093694"/>
                        <a:ext cx="7264224" cy="1675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732971"/>
              </p:ext>
            </p:extLst>
          </p:nvPr>
        </p:nvGraphicFramePr>
        <p:xfrm>
          <a:off x="1219200" y="4648200"/>
          <a:ext cx="6135688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6880" imgH="799920" progId="Equation.DSMT4">
                  <p:embed/>
                </p:oleObj>
              </mc:Choice>
              <mc:Fallback>
                <p:oleObj name="Equation" r:id="rId7" imgW="2666880" imgH="799920" progId="Equation.DSMT4">
                  <p:embed/>
                  <p:pic>
                    <p:nvPicPr>
                      <p:cNvPr id="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48200"/>
                        <a:ext cx="6135688" cy="183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03286" y="3651255"/>
            <a:ext cx="1439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又因为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28600" y="5356575"/>
            <a:ext cx="1295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所以</a:t>
            </a:r>
          </a:p>
        </p:txBody>
      </p:sp>
      <p:sp>
        <p:nvSpPr>
          <p:cNvPr id="10" name="矩形 9"/>
          <p:cNvSpPr/>
          <p:nvPr/>
        </p:nvSpPr>
        <p:spPr>
          <a:xfrm>
            <a:off x="6705344" y="6248400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kumimoji="1" lang="zh-CN" altLang="en-US" b="1" dirty="0">
                <a:latin typeface="宋体" panose="02010600030101010101" pitchFamily="2" charset="-122"/>
              </a:rPr>
              <a:t>采样内插公式</a:t>
            </a:r>
          </a:p>
        </p:txBody>
      </p:sp>
      <p:sp>
        <p:nvSpPr>
          <p:cNvPr id="11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1222371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74" y="994254"/>
            <a:ext cx="3633224" cy="1672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726" y="2936744"/>
            <a:ext cx="4274943" cy="2016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048000" y="960706"/>
            <a:ext cx="1682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solidFill>
                  <a:srgbClr val="000000"/>
                </a:solidFill>
              </a:rPr>
              <a:t>内插函数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572000" y="971117"/>
            <a:ext cx="4724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/>
            <a:r>
              <a:rPr kumimoji="1" lang="zh-CN" altLang="en-US" sz="2800" b="1" dirty="0">
                <a:latin typeface="+mj-lt"/>
              </a:rPr>
              <a:t>特点：</a:t>
            </a:r>
            <a:endParaRPr kumimoji="1" lang="en-US" altLang="zh-CN" sz="2800" b="1" dirty="0">
              <a:latin typeface="+mj-lt"/>
            </a:endParaRPr>
          </a:p>
          <a:p>
            <a:pPr algn="just" eaLnBrk="0" hangingPunct="0"/>
            <a:r>
              <a:rPr kumimoji="1" lang="zh-CN" altLang="en-US" sz="2800" b="1" dirty="0">
                <a:latin typeface="+mj-lt"/>
              </a:rPr>
              <a:t>在采样点</a:t>
            </a:r>
            <a:r>
              <a:rPr kumimoji="1" lang="en-US" altLang="zh-CN" sz="2800" b="1" i="1" dirty="0" err="1">
                <a:latin typeface="+mj-lt"/>
              </a:rPr>
              <a:t>nT</a:t>
            </a:r>
            <a:r>
              <a:rPr kumimoji="1" lang="zh-CN" altLang="en-US" sz="2800" b="1" dirty="0">
                <a:latin typeface="+mj-lt"/>
              </a:rPr>
              <a:t>上，函数值为</a:t>
            </a:r>
            <a:r>
              <a:rPr kumimoji="1" lang="en-US" altLang="zh-CN" sz="2800" b="1" dirty="0">
                <a:latin typeface="+mj-lt"/>
              </a:rPr>
              <a:t>1</a:t>
            </a:r>
            <a:r>
              <a:rPr kumimoji="1" lang="zh-CN" altLang="en-US" sz="2800" b="1" dirty="0">
                <a:latin typeface="+mj-lt"/>
              </a:rPr>
              <a:t>，</a:t>
            </a:r>
            <a:endParaRPr kumimoji="1" lang="en-US" altLang="zh-CN" sz="2800" b="1" dirty="0">
              <a:latin typeface="+mj-lt"/>
            </a:endParaRPr>
          </a:p>
          <a:p>
            <a:pPr algn="just" eaLnBrk="0" hangingPunct="0"/>
            <a:r>
              <a:rPr kumimoji="1" lang="zh-CN" altLang="en-US" sz="2800" b="1" dirty="0">
                <a:latin typeface="+mj-lt"/>
              </a:rPr>
              <a:t>其余采样点上，值为零。</a:t>
            </a:r>
            <a:endParaRPr kumimoji="1" lang="zh-CN" altLang="en-US" sz="2000" b="1" dirty="0">
              <a:latin typeface="+mj-lt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57200" y="5182619"/>
            <a:ext cx="8382000" cy="1522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4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0000"/>
                </a:solidFill>
                <a:ea typeface="黑体" panose="02010609060101010101" pitchFamily="49" charset="-122"/>
              </a:rPr>
              <a:t>内插过程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被恢复的信号</a:t>
            </a:r>
            <a:r>
              <a:rPr lang="en-US" altLang="zh-CN" b="1" i="1" dirty="0">
                <a:solidFill>
                  <a:srgbClr val="000000"/>
                </a:solidFill>
                <a:latin typeface="+mj-lt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+mj-lt"/>
              </a:rPr>
              <a:t>t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在采样点的值等于</a:t>
            </a:r>
            <a:r>
              <a:rPr lang="en-US" altLang="zh-CN" b="1" i="1" dirty="0" err="1">
                <a:solidFill>
                  <a:srgbClr val="000000"/>
                </a:solidFill>
                <a:latin typeface="+mj-lt"/>
              </a:rPr>
              <a:t>x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+mj-lt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latin typeface="+mj-lt"/>
              </a:rPr>
              <a:t>nT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),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采样点之间的信号则是由各采样值内插函数的波形延伸叠加而成的。</a:t>
            </a:r>
          </a:p>
        </p:txBody>
      </p:sp>
      <p:sp>
        <p:nvSpPr>
          <p:cNvPr id="9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111649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" y="990600"/>
            <a:ext cx="8458200" cy="2191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5000"/>
              </a:lnSpc>
            </a:pPr>
            <a:r>
              <a:rPr lang="zh-CN" altLang="en-US" b="1" dirty="0">
                <a:latin typeface="+mj-lt"/>
              </a:rPr>
              <a:t>例</a:t>
            </a:r>
            <a:r>
              <a:rPr lang="en-US" altLang="zh-CN" b="1" dirty="0">
                <a:latin typeface="+mj-lt"/>
              </a:rPr>
              <a:t>2.1 </a:t>
            </a:r>
            <a:r>
              <a:rPr lang="zh-CN" altLang="en-US" b="1" dirty="0">
                <a:latin typeface="+mj-lt"/>
              </a:rPr>
              <a:t>采样的混叠。对一个模拟信号</a:t>
            </a:r>
            <a:r>
              <a:rPr lang="en-US" altLang="zh-CN" b="1" i="1" dirty="0" err="1">
                <a:latin typeface="+mj-lt"/>
              </a:rPr>
              <a:t>v</a:t>
            </a:r>
            <a:r>
              <a:rPr lang="en-US" altLang="zh-CN" b="1" i="1" baseline="-25000" dirty="0" err="1">
                <a:latin typeface="+mj-lt"/>
              </a:rPr>
              <a:t>a</a:t>
            </a:r>
            <a:r>
              <a:rPr lang="en-US" altLang="zh-CN" b="1" dirty="0">
                <a:latin typeface="+mj-lt"/>
              </a:rPr>
              <a:t>(</a:t>
            </a:r>
            <a:r>
              <a:rPr lang="en-US" altLang="zh-CN" b="1" i="1" dirty="0">
                <a:latin typeface="+mj-lt"/>
              </a:rPr>
              <a:t>t</a:t>
            </a:r>
            <a:r>
              <a:rPr lang="en-US" altLang="zh-CN" b="1" dirty="0">
                <a:latin typeface="+mj-lt"/>
              </a:rPr>
              <a:t>)</a:t>
            </a:r>
            <a:r>
              <a:rPr lang="zh-CN" altLang="en-US" b="1" dirty="0">
                <a:latin typeface="+mj-lt"/>
              </a:rPr>
              <a:t>进行等间隔采样，采样频率为</a:t>
            </a:r>
            <a:r>
              <a:rPr lang="en-US" altLang="zh-CN" b="1" dirty="0">
                <a:latin typeface="+mj-lt"/>
              </a:rPr>
              <a:t>200Hz</a:t>
            </a:r>
            <a:r>
              <a:rPr lang="zh-CN" altLang="en-US" b="1" dirty="0">
                <a:latin typeface="+mj-lt"/>
              </a:rPr>
              <a:t>，得到离散时间信号</a:t>
            </a:r>
            <a:r>
              <a:rPr lang="en-US" altLang="zh-CN" b="1" i="1" dirty="0">
                <a:latin typeface="+mj-lt"/>
              </a:rPr>
              <a:t>v(n</a:t>
            </a:r>
            <a:r>
              <a:rPr lang="en-US" altLang="zh-CN" b="1" dirty="0">
                <a:latin typeface="+mj-lt"/>
              </a:rPr>
              <a:t>)</a:t>
            </a:r>
            <a:r>
              <a:rPr lang="zh-CN" altLang="en-US" b="1" dirty="0">
                <a:latin typeface="+mj-lt"/>
              </a:rPr>
              <a:t>。</a:t>
            </a:r>
            <a:r>
              <a:rPr lang="en-US" altLang="zh-CN" b="1" i="1" dirty="0"/>
              <a:t> </a:t>
            </a:r>
            <a:r>
              <a:rPr lang="en-US" altLang="zh-CN" b="1" i="1" dirty="0" err="1"/>
              <a:t>v</a:t>
            </a:r>
            <a:r>
              <a:rPr lang="en-US" altLang="zh-CN" b="1" i="1" baseline="-25000" dirty="0" err="1"/>
              <a:t>a</a:t>
            </a:r>
            <a:r>
              <a:rPr lang="en-US" altLang="zh-CN" b="1" dirty="0"/>
              <a:t>(</a:t>
            </a:r>
            <a:r>
              <a:rPr lang="en-US" altLang="zh-CN" b="1" i="1" dirty="0"/>
              <a:t>t</a:t>
            </a:r>
            <a:r>
              <a:rPr lang="en-US" altLang="zh-CN" b="1" dirty="0"/>
              <a:t>)</a:t>
            </a:r>
            <a:r>
              <a:rPr lang="zh-CN" altLang="en-US" b="1" dirty="0">
                <a:latin typeface="+mj-lt"/>
              </a:rPr>
              <a:t>由频率为</a:t>
            </a:r>
            <a:r>
              <a:rPr lang="en-US" altLang="zh-CN" b="1" dirty="0">
                <a:latin typeface="+mj-lt"/>
              </a:rPr>
              <a:t>30Hz</a:t>
            </a:r>
            <a:r>
              <a:rPr lang="zh-CN" altLang="en-US" b="1" dirty="0">
                <a:latin typeface="+mj-lt"/>
              </a:rPr>
              <a:t>、</a:t>
            </a:r>
            <a:r>
              <a:rPr lang="en-US" altLang="zh-CN" b="1" dirty="0">
                <a:latin typeface="+mj-lt"/>
              </a:rPr>
              <a:t>150Hz</a:t>
            </a:r>
            <a:r>
              <a:rPr lang="zh-CN" altLang="en-US" b="1" dirty="0">
                <a:latin typeface="+mj-lt"/>
              </a:rPr>
              <a:t>、</a:t>
            </a:r>
            <a:r>
              <a:rPr lang="en-US" altLang="zh-CN" b="1" dirty="0">
                <a:latin typeface="+mj-lt"/>
              </a:rPr>
              <a:t>170Hz</a:t>
            </a:r>
            <a:r>
              <a:rPr lang="zh-CN" altLang="en-US" b="1" dirty="0">
                <a:latin typeface="+mj-lt"/>
              </a:rPr>
              <a:t>、</a:t>
            </a:r>
            <a:r>
              <a:rPr lang="en-US" altLang="zh-CN" b="1" dirty="0">
                <a:latin typeface="+mj-lt"/>
              </a:rPr>
              <a:t>250Hz</a:t>
            </a:r>
            <a:r>
              <a:rPr lang="zh-CN" altLang="en-US" b="1" dirty="0">
                <a:latin typeface="+mj-lt"/>
              </a:rPr>
              <a:t>、</a:t>
            </a:r>
            <a:r>
              <a:rPr lang="en-US" altLang="zh-CN" b="1" dirty="0">
                <a:latin typeface="+mj-lt"/>
              </a:rPr>
              <a:t>330Hz</a:t>
            </a:r>
            <a:r>
              <a:rPr lang="zh-CN" altLang="en-US" b="1" dirty="0">
                <a:latin typeface="+mj-lt"/>
              </a:rPr>
              <a:t>的</a:t>
            </a:r>
            <a:r>
              <a:rPr lang="en-US" altLang="zh-CN" b="1" dirty="0">
                <a:latin typeface="+mj-lt"/>
              </a:rPr>
              <a:t>5</a:t>
            </a:r>
            <a:r>
              <a:rPr lang="zh-CN" altLang="en-US" b="1" dirty="0">
                <a:latin typeface="+mj-lt"/>
              </a:rPr>
              <a:t>个正弦信号的加权和构成</a:t>
            </a:r>
          </a:p>
        </p:txBody>
      </p:sp>
      <p:graphicFrame>
        <p:nvGraphicFramePr>
          <p:cNvPr id="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341046"/>
              </p:ext>
            </p:extLst>
          </p:nvPr>
        </p:nvGraphicFramePr>
        <p:xfrm>
          <a:off x="609600" y="3359707"/>
          <a:ext cx="73437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60360" imgH="457200" progId="Equation.DSMT4">
                  <p:embed/>
                </p:oleObj>
              </mc:Choice>
              <mc:Fallback>
                <p:oleObj name="Equation" r:id="rId2" imgW="3060360" imgH="457200" progId="Equation.DSMT4">
                  <p:embed/>
                  <p:pic>
                    <p:nvPicPr>
                      <p:cNvPr id="4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359707"/>
                        <a:ext cx="73437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04800" y="4635482"/>
            <a:ext cx="55451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j-lt"/>
              </a:rPr>
              <a:t>观察采样后信号的混叠效应。</a:t>
            </a:r>
          </a:p>
        </p:txBody>
      </p:sp>
      <p:sp>
        <p:nvSpPr>
          <p:cNvPr id="7" name="矩形 6"/>
          <p:cNvSpPr/>
          <p:nvPr/>
        </p:nvSpPr>
        <p:spPr>
          <a:xfrm>
            <a:off x="304800" y="5388037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759317"/>
              </p:ext>
            </p:extLst>
          </p:nvPr>
        </p:nvGraphicFramePr>
        <p:xfrm>
          <a:off x="1130300" y="5445125"/>
          <a:ext cx="185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241200" progId="Equation.DSMT4">
                  <p:embed/>
                </p:oleObj>
              </mc:Choice>
              <mc:Fallback>
                <p:oleObj name="Equation" r:id="rId4" imgW="927000" imgH="241200" progId="Equation.DSMT4">
                  <p:embed/>
                  <p:pic>
                    <p:nvPicPr>
                      <p:cNvPr id="1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5445125"/>
                        <a:ext cx="1854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126576"/>
              </p:ext>
            </p:extLst>
          </p:nvPr>
        </p:nvGraphicFramePr>
        <p:xfrm>
          <a:off x="1157514" y="6140592"/>
          <a:ext cx="38798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65080" imgH="228600" progId="Equation.DSMT4">
                  <p:embed/>
                </p:oleObj>
              </mc:Choice>
              <mc:Fallback>
                <p:oleObj name="Equation" r:id="rId6" imgW="1765080" imgH="228600" progId="Equation.DSMT4">
                  <p:embed/>
                  <p:pic>
                    <p:nvPicPr>
                      <p:cNvPr id="15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514" y="6140592"/>
                        <a:ext cx="38798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471908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95454"/>
              </p:ext>
            </p:extLst>
          </p:nvPr>
        </p:nvGraphicFramePr>
        <p:xfrm>
          <a:off x="658608" y="838200"/>
          <a:ext cx="6732792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60360" imgH="457200" progId="Equation.DSMT4">
                  <p:embed/>
                </p:oleObj>
              </mc:Choice>
              <mc:Fallback>
                <p:oleObj name="Equation" r:id="rId2" imgW="3060360" imgH="457200" progId="Equation.DSMT4">
                  <p:embed/>
                  <p:pic>
                    <p:nvPicPr>
                      <p:cNvPr id="5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08" y="838200"/>
                        <a:ext cx="6732792" cy="1005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803026" y="1828800"/>
            <a:ext cx="12506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200 Hz</a:t>
            </a:r>
            <a:endParaRPr lang="zh-CN" altLang="en-US" sz="2800" dirty="0"/>
          </a:p>
        </p:txBody>
      </p:sp>
      <p:sp>
        <p:nvSpPr>
          <p:cNvPr id="6" name="AutoShape 67"/>
          <p:cNvSpPr>
            <a:spLocks noChangeArrowheads="1"/>
          </p:cNvSpPr>
          <p:nvPr/>
        </p:nvSpPr>
        <p:spPr bwMode="auto">
          <a:xfrm>
            <a:off x="838200" y="1853539"/>
            <a:ext cx="304800" cy="936625"/>
          </a:xfrm>
          <a:prstGeom prst="downArrow">
            <a:avLst>
              <a:gd name="adj1" fmla="val 50000"/>
              <a:gd name="adj2" fmla="val 5628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366573"/>
              </p:ext>
            </p:extLst>
          </p:nvPr>
        </p:nvGraphicFramePr>
        <p:xfrm>
          <a:off x="1295400" y="2366856"/>
          <a:ext cx="33909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177480" progId="Equation.DSMT4">
                  <p:embed/>
                </p:oleObj>
              </mc:Choice>
              <mc:Fallback>
                <p:oleObj name="Equation" r:id="rId4" imgW="1612800" imgH="17748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366856"/>
                        <a:ext cx="33909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921732"/>
              </p:ext>
            </p:extLst>
          </p:nvPr>
        </p:nvGraphicFramePr>
        <p:xfrm>
          <a:off x="666750" y="2942748"/>
          <a:ext cx="6732792" cy="949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0360" imgH="431640" progId="Equation.DSMT4">
                  <p:embed/>
                </p:oleObj>
              </mc:Choice>
              <mc:Fallback>
                <p:oleObj name="Equation" r:id="rId6" imgW="3060360" imgH="431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942748"/>
                        <a:ext cx="6732792" cy="949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853397"/>
              </p:ext>
            </p:extLst>
          </p:nvPr>
        </p:nvGraphicFramePr>
        <p:xfrm>
          <a:off x="1386326" y="4308192"/>
          <a:ext cx="6481728" cy="949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46240" imgH="431640" progId="Equation.DSMT4">
                  <p:embed/>
                </p:oleObj>
              </mc:Choice>
              <mc:Fallback>
                <p:oleObj name="Equation" r:id="rId8" imgW="2946240" imgH="431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326" y="4308192"/>
                        <a:ext cx="6481728" cy="949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056085"/>
              </p:ext>
            </p:extLst>
          </p:nvPr>
        </p:nvGraphicFramePr>
        <p:xfrm>
          <a:off x="1366864" y="5676511"/>
          <a:ext cx="6090480" cy="949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68400" imgH="431640" progId="Equation.DSMT4">
                  <p:embed/>
                </p:oleObj>
              </mc:Choice>
              <mc:Fallback>
                <p:oleObj name="Equation" r:id="rId10" imgW="2768400" imgH="4316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64" y="5676511"/>
                        <a:ext cx="6090480" cy="949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175657" y="1853937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采样频率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131101" y="3855859"/>
            <a:ext cx="4708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cs typeface="Times New Roman" panose="02020603050405020304" pitchFamily="18" charset="0"/>
              </a:rPr>
              <a:t>先</a:t>
            </a:r>
            <a:r>
              <a:rPr lang="en-US" altLang="zh-CN" sz="2400" b="1" dirty="0">
                <a:cs typeface="Times New Roman" panose="02020603050405020304" pitchFamily="18" charset="0"/>
              </a:rPr>
              <a:t>            </a:t>
            </a:r>
            <a:r>
              <a:rPr lang="zh-CN" altLang="zh-CN" sz="2400" b="1" dirty="0">
                <a:cs typeface="Times New Roman" panose="02020603050405020304" pitchFamily="18" charset="0"/>
              </a:rPr>
              <a:t>把每个</a:t>
            </a:r>
            <a:r>
              <a:rPr lang="en-US" altLang="zh-CN" sz="2400" b="1" dirty="0">
                <a:cs typeface="Times New Roman" panose="02020603050405020304" pitchFamily="18" charset="0"/>
              </a:rPr>
              <a:t>     </a:t>
            </a:r>
            <a:r>
              <a:rPr lang="zh-CN" altLang="zh-CN" sz="2400" b="1" dirty="0">
                <a:cs typeface="Times New Roman" panose="02020603050405020304" pitchFamily="18" charset="0"/>
              </a:rPr>
              <a:t>移到</a:t>
            </a:r>
            <a:r>
              <a:rPr lang="en-US" altLang="zh-CN" sz="2400" b="1" dirty="0">
                <a:cs typeface="Times New Roman" panose="02020603050405020304" pitchFamily="18" charset="0"/>
              </a:rPr>
              <a:t>               )</a:t>
            </a:r>
            <a:endParaRPr lang="zh-CN" altLang="en-US" sz="24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29282"/>
              </p:ext>
            </p:extLst>
          </p:nvPr>
        </p:nvGraphicFramePr>
        <p:xfrm>
          <a:off x="3674026" y="3911494"/>
          <a:ext cx="8286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177480" progId="Equation.DSMT4">
                  <p:embed/>
                </p:oleObj>
              </mc:Choice>
              <mc:Fallback>
                <p:oleObj name="Equation" r:id="rId12" imgW="393480" imgH="1774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4026" y="3911494"/>
                        <a:ext cx="8286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14891"/>
              </p:ext>
            </p:extLst>
          </p:nvPr>
        </p:nvGraphicFramePr>
        <p:xfrm>
          <a:off x="6578600" y="3955944"/>
          <a:ext cx="1041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00" imgH="139680" progId="Equation.DSMT4">
                  <p:embed/>
                </p:oleObj>
              </mc:Choice>
              <mc:Fallback>
                <p:oleObj name="Equation" r:id="rId14" imgW="495000" imgH="1396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600" y="3955944"/>
                        <a:ext cx="1041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3200773" y="5181600"/>
            <a:ext cx="51812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cs typeface="Times New Roman" panose="02020603050405020304" pitchFamily="18" charset="0"/>
              </a:rPr>
              <a:t>(cos</a:t>
            </a:r>
            <a:r>
              <a:rPr lang="zh-CN" altLang="en-US" sz="2400" b="1" dirty="0">
                <a:cs typeface="Times New Roman" panose="02020603050405020304" pitchFamily="18" charset="0"/>
              </a:rPr>
              <a:t>偶函数，</a:t>
            </a:r>
            <a:r>
              <a:rPr lang="en-US" altLang="zh-CN" sz="2400" b="1" dirty="0">
                <a:cs typeface="Times New Roman" panose="02020603050405020304" pitchFamily="18" charset="0"/>
              </a:rPr>
              <a:t>sin</a:t>
            </a:r>
            <a:r>
              <a:rPr lang="zh-CN" altLang="en-US" sz="2400" b="1" dirty="0">
                <a:cs typeface="Times New Roman" panose="02020603050405020304" pitchFamily="18" charset="0"/>
              </a:rPr>
              <a:t>奇函数，    在           </a:t>
            </a:r>
            <a:r>
              <a:rPr lang="en-US" altLang="zh-CN" sz="2400" b="1" dirty="0">
                <a:cs typeface="Times New Roman" panose="02020603050405020304" pitchFamily="18" charset="0"/>
              </a:rPr>
              <a:t>)</a:t>
            </a:r>
            <a:endParaRPr lang="zh-CN" altLang="en-US" sz="2400" b="1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495652"/>
              </p:ext>
            </p:extLst>
          </p:nvPr>
        </p:nvGraphicFramePr>
        <p:xfrm>
          <a:off x="7282209" y="5247836"/>
          <a:ext cx="8001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80" imgH="177480" progId="Equation.DSMT4">
                  <p:embed/>
                </p:oleObj>
              </mc:Choice>
              <mc:Fallback>
                <p:oleObj name="Equation" r:id="rId16" imgW="380880" imgH="17748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2209" y="5247836"/>
                        <a:ext cx="8001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011648"/>
              </p:ext>
            </p:extLst>
          </p:nvPr>
        </p:nvGraphicFramePr>
        <p:xfrm>
          <a:off x="5486400" y="3939847"/>
          <a:ext cx="3206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139680" progId="Equation.DSMT4">
                  <p:embed/>
                </p:oleObj>
              </mc:Choice>
              <mc:Fallback>
                <p:oleObj name="Equation" r:id="rId18" imgW="152280" imgH="13968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939847"/>
                        <a:ext cx="3206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379924"/>
              </p:ext>
            </p:extLst>
          </p:nvPr>
        </p:nvGraphicFramePr>
        <p:xfrm>
          <a:off x="6606375" y="5291312"/>
          <a:ext cx="3206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139680" progId="Equation.DSMT4">
                  <p:embed/>
                </p:oleObj>
              </mc:Choice>
              <mc:Fallback>
                <p:oleObj name="Equation" r:id="rId18" imgW="152280" imgH="13968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6375" y="5291312"/>
                        <a:ext cx="3206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81236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096538"/>
              </p:ext>
            </p:extLst>
          </p:nvPr>
        </p:nvGraphicFramePr>
        <p:xfrm>
          <a:off x="206375" y="1320800"/>
          <a:ext cx="8897938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08360" imgH="660240" progId="Equation.DSMT4">
                  <p:embed/>
                </p:oleObj>
              </mc:Choice>
              <mc:Fallback>
                <p:oleObj name="Equation" r:id="rId2" imgW="3708360" imgH="6602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1320800"/>
                        <a:ext cx="8897938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4787" y="4904116"/>
          <a:ext cx="886896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95400" imgH="228600" progId="Equation.DSMT4">
                  <p:embed/>
                </p:oleObj>
              </mc:Choice>
              <mc:Fallback>
                <p:oleObj name="Equation" r:id="rId4" imgW="3695400" imgH="2286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" y="4904116"/>
                        <a:ext cx="886896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67"/>
          <p:cNvSpPr>
            <a:spLocks noChangeArrowheads="1"/>
          </p:cNvSpPr>
          <p:nvPr/>
        </p:nvSpPr>
        <p:spPr bwMode="auto">
          <a:xfrm rot="10800000">
            <a:off x="3733800" y="3447392"/>
            <a:ext cx="304800" cy="936625"/>
          </a:xfrm>
          <a:prstGeom prst="downArrow">
            <a:avLst>
              <a:gd name="adj1" fmla="val 50000"/>
              <a:gd name="adj2" fmla="val 5628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18369" y="3432281"/>
            <a:ext cx="12506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200 Hz</a:t>
            </a:r>
            <a:endParaRPr lang="zh-CN" altLang="en-US" sz="2800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890716"/>
              </p:ext>
            </p:extLst>
          </p:nvPr>
        </p:nvGraphicFramePr>
        <p:xfrm>
          <a:off x="4310743" y="3970337"/>
          <a:ext cx="33909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177480" progId="Equation.DSMT4">
                  <p:embed/>
                </p:oleObj>
              </mc:Choice>
              <mc:Fallback>
                <p:oleObj name="Equation" r:id="rId6" imgW="1612800" imgH="1774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743" y="3970337"/>
                        <a:ext cx="33909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4191000" y="3457418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采样频率</a:t>
            </a:r>
            <a:endParaRPr lang="zh-CN" altLang="en-US" dirty="0"/>
          </a:p>
        </p:txBody>
      </p:sp>
      <p:sp>
        <p:nvSpPr>
          <p:cNvPr id="12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86583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219200"/>
            <a:ext cx="57546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295400" y="6019800"/>
            <a:ext cx="670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图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2.12</a:t>
            </a:r>
            <a:r>
              <a:rPr kumimoji="1" lang="zh-CN" altLang="en-US" sz="2400" b="1" kern="0" dirty="0">
                <a:latin typeface="Times New Roman" panose="02020603050405020304" pitchFamily="18" charset="0"/>
              </a:rPr>
              <a:t>  两个不同信号在整数采样点上的值相同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1301034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3410445" y="1527621"/>
          <a:ext cx="536416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4880" imgH="228600" progId="Equation.DSMT4">
                  <p:embed/>
                </p:oleObj>
              </mc:Choice>
              <mc:Fallback>
                <p:oleObj name="Equation" r:id="rId2" imgW="2234880" imgH="228600" progId="Equation.DSMT4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0445" y="1527621"/>
                        <a:ext cx="536416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768350" y="2083693"/>
          <a:ext cx="28352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28600" progId="Equation.DSMT4">
                  <p:embed/>
                </p:oleObj>
              </mc:Choice>
              <mc:Fallback>
                <p:oleObj name="Equation" r:id="rId4" imgW="1180800" imgH="22860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2083693"/>
                        <a:ext cx="28352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79438" y="4018028"/>
          <a:ext cx="49672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000" imgH="228600" progId="Equation.DSMT4">
                  <p:embed/>
                </p:oleObj>
              </mc:Choice>
              <mc:Fallback>
                <p:oleObj name="Equation" r:id="rId6" imgW="2070000" imgH="2286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4018028"/>
                        <a:ext cx="496728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63563" y="4675253"/>
          <a:ext cx="29559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560" imgH="228600" progId="Equation.DSMT4">
                  <p:embed/>
                </p:oleObj>
              </mc:Choice>
              <mc:Fallback>
                <p:oleObj name="Equation" r:id="rId8" imgW="1231560" imgH="22860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675253"/>
                        <a:ext cx="29559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71500" y="5318190"/>
          <a:ext cx="29860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520" imgH="228600" progId="Equation.DSMT4">
                  <p:embed/>
                </p:oleObj>
              </mc:Choice>
              <mc:Fallback>
                <p:oleObj name="Equation" r:id="rId10" imgW="1244520" imgH="228600" progId="Equation.DSMT4">
                  <p:embed/>
                  <p:pic>
                    <p:nvPicPr>
                      <p:cNvPr id="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318190"/>
                        <a:ext cx="29860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01823" y="4622755"/>
          <a:ext cx="5181408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8920" imgH="253800" progId="Equation.DSMT4">
                  <p:embed/>
                </p:oleObj>
              </mc:Choice>
              <mc:Fallback>
                <p:oleObj name="Equation" r:id="rId12" imgW="215892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1823" y="4622755"/>
                        <a:ext cx="5181408" cy="609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513844" y="5304900"/>
          <a:ext cx="5181408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8920" imgH="253800" progId="Equation.DSMT4">
                  <p:embed/>
                </p:oleObj>
              </mc:Choice>
              <mc:Fallback>
                <p:oleObj name="Equation" r:id="rId14" imgW="2158920" imgH="2538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844" y="5304900"/>
                        <a:ext cx="5181408" cy="609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232791" y="1012229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例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14838" y="1524000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对三个余弦信号</a:t>
            </a:r>
          </a:p>
        </p:txBody>
      </p:sp>
      <p:sp>
        <p:nvSpPr>
          <p:cNvPr id="14" name="矩形 13"/>
          <p:cNvSpPr/>
          <p:nvPr/>
        </p:nvSpPr>
        <p:spPr>
          <a:xfrm>
            <a:off x="3581400" y="2129540"/>
            <a:ext cx="3430747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/>
              <a:t>进行采样，采样频率</a:t>
            </a:r>
          </a:p>
        </p:txBody>
      </p:sp>
      <p:graphicFrame>
        <p:nvGraphicFramePr>
          <p:cNvPr id="15" name="对象 5"/>
          <p:cNvGraphicFramePr>
            <a:graphicFrameLocks noChangeAspect="1"/>
          </p:cNvGraphicFramePr>
          <p:nvPr/>
        </p:nvGraphicFramePr>
        <p:xfrm>
          <a:off x="6983413" y="2077343"/>
          <a:ext cx="1727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63280" imgH="241200" progId="Equation.DSMT4">
                  <p:embed/>
                </p:oleObj>
              </mc:Choice>
              <mc:Fallback>
                <p:oleObj name="Equation" r:id="rId16" imgW="863280" imgH="241200" progId="Equation.DSMT4">
                  <p:embed/>
                  <p:pic>
                    <p:nvPicPr>
                      <p:cNvPr id="1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3" y="2077343"/>
                        <a:ext cx="1727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685800" y="2686943"/>
            <a:ext cx="7366119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latin typeface="+mj-lt"/>
                <a:ea typeface="+mj-ea"/>
                <a:cs typeface="+mj-cs"/>
              </a:rPr>
              <a:t>求对应的三个输出序列，这三个序列一样吗？</a:t>
            </a:r>
          </a:p>
        </p:txBody>
      </p:sp>
      <p:sp>
        <p:nvSpPr>
          <p:cNvPr id="17" name="矩形 16"/>
          <p:cNvSpPr/>
          <p:nvPr/>
        </p:nvSpPr>
        <p:spPr>
          <a:xfrm>
            <a:off x="232791" y="3344821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960437" y="3408428"/>
          <a:ext cx="23161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54080" imgH="228600" progId="Equation.DSMT4">
                  <p:embed/>
                </p:oleObj>
              </mc:Choice>
              <mc:Fallback>
                <p:oleObj name="Equation" r:id="rId18" imgW="1054080" imgH="228600" progId="Equation.DSMT4">
                  <p:embed/>
                  <p:pic>
                    <p:nvPicPr>
                      <p:cNvPr id="18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7" y="3408428"/>
                        <a:ext cx="23161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48323" y="5953780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三个序列一样</a:t>
            </a:r>
            <a:endParaRPr lang="zh-CN" altLang="en-US" dirty="0"/>
          </a:p>
        </p:txBody>
      </p:sp>
      <p:sp>
        <p:nvSpPr>
          <p:cNvPr id="20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136740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772" y="1038761"/>
            <a:ext cx="5952271" cy="4462828"/>
          </a:xfrm>
          <a:prstGeom prst="rect">
            <a:avLst/>
          </a:prstGeom>
        </p:spPr>
      </p:pic>
      <p:sp>
        <p:nvSpPr>
          <p:cNvPr id="5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</p:spTree>
    <p:extLst>
      <p:ext uri="{BB962C8B-B14F-4D97-AF65-F5344CB8AC3E}">
        <p14:creationId xmlns:p14="http://schemas.microsoft.com/office/powerpoint/2010/main" val="3991001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70872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2.2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模拟信号的采样与重建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608" y="3032577"/>
            <a:ext cx="3157538" cy="1014413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190367"/>
              </p:ext>
            </p:extLst>
          </p:nvPr>
        </p:nvGraphicFramePr>
        <p:xfrm>
          <a:off x="7678382" y="3677898"/>
          <a:ext cx="247320" cy="24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78382" y="3677898"/>
                        <a:ext cx="247320" cy="24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127713"/>
              </p:ext>
            </p:extLst>
          </p:nvPr>
        </p:nvGraphicFramePr>
        <p:xfrm>
          <a:off x="7678382" y="4752318"/>
          <a:ext cx="247320" cy="24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78382" y="4752318"/>
                        <a:ext cx="247320" cy="24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096225"/>
              </p:ext>
            </p:extLst>
          </p:nvPr>
        </p:nvGraphicFramePr>
        <p:xfrm>
          <a:off x="7689812" y="5941038"/>
          <a:ext cx="247320" cy="24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89812" y="5941038"/>
                        <a:ext cx="247320" cy="24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7835980" y="3336515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无混叠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8056960" y="450960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混叠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8056960" y="573833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混叠</a:t>
            </a:r>
            <a:endParaRPr lang="zh-CN" altLang="en-US" sz="2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390" y="4143252"/>
            <a:ext cx="3157538" cy="11858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127" y="5353050"/>
            <a:ext cx="3128963" cy="1200150"/>
          </a:xfrm>
          <a:prstGeom prst="rect">
            <a:avLst/>
          </a:prstGeom>
        </p:spPr>
      </p:pic>
      <p:sp>
        <p:nvSpPr>
          <p:cNvPr id="13" name="Line 37"/>
          <p:cNvSpPr>
            <a:spLocks noChangeShapeType="1"/>
          </p:cNvSpPr>
          <p:nvPr/>
        </p:nvSpPr>
        <p:spPr bwMode="auto">
          <a:xfrm flipV="1">
            <a:off x="6209190" y="3336515"/>
            <a:ext cx="7739" cy="496898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" name="Line 37"/>
          <p:cNvSpPr>
            <a:spLocks noChangeShapeType="1"/>
          </p:cNvSpPr>
          <p:nvPr/>
        </p:nvSpPr>
        <p:spPr bwMode="auto">
          <a:xfrm flipV="1">
            <a:off x="5634514" y="3337583"/>
            <a:ext cx="7739" cy="496898"/>
          </a:xfrm>
          <a:prstGeom prst="line">
            <a:avLst/>
          </a:prstGeom>
          <a:noFill/>
          <a:ln w="31750">
            <a:solidFill>
              <a:srgbClr val="0000CC"/>
            </a:solidFill>
            <a:prstDash val="sysDash"/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" name="Line 37"/>
          <p:cNvSpPr>
            <a:spLocks noChangeShapeType="1"/>
          </p:cNvSpPr>
          <p:nvPr/>
        </p:nvSpPr>
        <p:spPr bwMode="auto">
          <a:xfrm flipV="1">
            <a:off x="7177565" y="3337340"/>
            <a:ext cx="7739" cy="496898"/>
          </a:xfrm>
          <a:prstGeom prst="line">
            <a:avLst/>
          </a:prstGeom>
          <a:noFill/>
          <a:ln w="31750">
            <a:solidFill>
              <a:srgbClr val="FF0000"/>
            </a:solidFill>
            <a:prstDash val="solid"/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" name="Line 37"/>
          <p:cNvSpPr>
            <a:spLocks noChangeShapeType="1"/>
          </p:cNvSpPr>
          <p:nvPr/>
        </p:nvSpPr>
        <p:spPr bwMode="auto">
          <a:xfrm flipV="1">
            <a:off x="5253515" y="3337340"/>
            <a:ext cx="7739" cy="496898"/>
          </a:xfrm>
          <a:prstGeom prst="line">
            <a:avLst/>
          </a:prstGeom>
          <a:noFill/>
          <a:ln w="31750">
            <a:solidFill>
              <a:srgbClr val="FF0000"/>
            </a:solidFill>
            <a:prstDash val="solid"/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Line 37"/>
          <p:cNvSpPr>
            <a:spLocks noChangeShapeType="1"/>
          </p:cNvSpPr>
          <p:nvPr/>
        </p:nvSpPr>
        <p:spPr bwMode="auto">
          <a:xfrm flipV="1">
            <a:off x="6596539" y="3337340"/>
            <a:ext cx="7739" cy="496898"/>
          </a:xfrm>
          <a:prstGeom prst="line">
            <a:avLst/>
          </a:prstGeom>
          <a:noFill/>
          <a:ln w="31750">
            <a:solidFill>
              <a:srgbClr val="0000CC"/>
            </a:solidFill>
            <a:prstDash val="sysDash"/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" name="Line 37"/>
          <p:cNvSpPr>
            <a:spLocks noChangeShapeType="1"/>
          </p:cNvSpPr>
          <p:nvPr/>
        </p:nvSpPr>
        <p:spPr bwMode="auto">
          <a:xfrm flipV="1">
            <a:off x="4676359" y="3337340"/>
            <a:ext cx="7739" cy="496898"/>
          </a:xfrm>
          <a:prstGeom prst="line">
            <a:avLst/>
          </a:prstGeom>
          <a:noFill/>
          <a:ln w="31750">
            <a:solidFill>
              <a:srgbClr val="0000CC"/>
            </a:solidFill>
            <a:prstDash val="sysDash"/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295029"/>
              </p:ext>
            </p:extLst>
          </p:nvPr>
        </p:nvGraphicFramePr>
        <p:xfrm>
          <a:off x="7020007" y="3864522"/>
          <a:ext cx="365472" cy="2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177480" progId="Equation.DSMT4">
                  <p:embed/>
                </p:oleObj>
              </mc:Choice>
              <mc:Fallback>
                <p:oleObj name="Equation" r:id="rId7" imgW="304560" imgH="177480" progId="Equation.DSMT4">
                  <p:embed/>
                  <p:pic>
                    <p:nvPicPr>
                      <p:cNvPr id="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007" y="3864522"/>
                        <a:ext cx="365472" cy="212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845653"/>
              </p:ext>
            </p:extLst>
          </p:nvPr>
        </p:nvGraphicFramePr>
        <p:xfrm>
          <a:off x="5061626" y="3891019"/>
          <a:ext cx="472176" cy="2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3480" imgH="177480" progId="Equation.DSMT4">
                  <p:embed/>
                </p:oleObj>
              </mc:Choice>
              <mc:Fallback>
                <p:oleObj name="Equation" r:id="rId9" imgW="393480" imgH="17748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1626" y="3891019"/>
                        <a:ext cx="472176" cy="212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374057"/>
              </p:ext>
            </p:extLst>
          </p:nvPr>
        </p:nvGraphicFramePr>
        <p:xfrm>
          <a:off x="6499109" y="3896576"/>
          <a:ext cx="350352" cy="2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60" imgH="177480" progId="Equation.DSMT4">
                  <p:embed/>
                </p:oleObj>
              </mc:Choice>
              <mc:Fallback>
                <p:oleObj name="Equation" r:id="rId11" imgW="291960" imgH="177480" progId="Equation.DSMT4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109" y="3896576"/>
                        <a:ext cx="350352" cy="212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631951"/>
              </p:ext>
            </p:extLst>
          </p:nvPr>
        </p:nvGraphicFramePr>
        <p:xfrm>
          <a:off x="4485363" y="3882685"/>
          <a:ext cx="472176" cy="2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480" imgH="177480" progId="Equation.DSMT4">
                  <p:embed/>
                </p:oleObj>
              </mc:Choice>
              <mc:Fallback>
                <p:oleObj name="Equation" r:id="rId13" imgW="393480" imgH="177480" progId="Equation.DSMT4">
                  <p:embed/>
                  <p:pic>
                    <p:nvPicPr>
                      <p:cNvPr id="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5363" y="3882685"/>
                        <a:ext cx="472176" cy="212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8692928"/>
              </p:ext>
            </p:extLst>
          </p:nvPr>
        </p:nvGraphicFramePr>
        <p:xfrm>
          <a:off x="7411918" y="3508828"/>
          <a:ext cx="332775" cy="17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01520" progId="Equation.DSMT4">
                  <p:embed/>
                </p:oleObj>
              </mc:Choice>
              <mc:Fallback>
                <p:oleObj name="Equation" r:id="rId15" imgW="177480" imgH="101520" progId="Equation.DSMT4">
                  <p:embed/>
                  <p:pic>
                    <p:nvPicPr>
                      <p:cNvPr id="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1918" y="3508828"/>
                        <a:ext cx="332775" cy="175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3317304"/>
              </p:ext>
            </p:extLst>
          </p:nvPr>
        </p:nvGraphicFramePr>
        <p:xfrm>
          <a:off x="4188106" y="3514914"/>
          <a:ext cx="332775" cy="17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01520" progId="Equation.DSMT4">
                  <p:embed/>
                </p:oleObj>
              </mc:Choice>
              <mc:Fallback>
                <p:oleObj name="Equation" r:id="rId15" imgW="177480" imgH="101520" progId="Equation.DSMT4">
                  <p:embed/>
                  <p:pic>
                    <p:nvPicPr>
                      <p:cNvPr id="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106" y="3514914"/>
                        <a:ext cx="332775" cy="175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7408233"/>
              </p:ext>
            </p:extLst>
          </p:nvPr>
        </p:nvGraphicFramePr>
        <p:xfrm>
          <a:off x="7357037" y="4625350"/>
          <a:ext cx="332775" cy="17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01520" progId="Equation.DSMT4">
                  <p:embed/>
                </p:oleObj>
              </mc:Choice>
              <mc:Fallback>
                <p:oleObj name="Equation" r:id="rId15" imgW="177480" imgH="101520" progId="Equation.DSMT4">
                  <p:embed/>
                  <p:pic>
                    <p:nvPicPr>
                      <p:cNvPr id="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037" y="4625350"/>
                        <a:ext cx="332775" cy="175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0575727"/>
              </p:ext>
            </p:extLst>
          </p:nvPr>
        </p:nvGraphicFramePr>
        <p:xfrm>
          <a:off x="4152275" y="4631436"/>
          <a:ext cx="332775" cy="17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01520" progId="Equation.DSMT4">
                  <p:embed/>
                </p:oleObj>
              </mc:Choice>
              <mc:Fallback>
                <p:oleObj name="Equation" r:id="rId15" imgW="177480" imgH="101520" progId="Equation.DSMT4">
                  <p:embed/>
                  <p:pic>
                    <p:nvPicPr>
                      <p:cNvPr id="3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275" y="4631436"/>
                        <a:ext cx="332775" cy="175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9226777"/>
              </p:ext>
            </p:extLst>
          </p:nvPr>
        </p:nvGraphicFramePr>
        <p:xfrm>
          <a:off x="7385479" y="5856124"/>
          <a:ext cx="332775" cy="17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01520" progId="Equation.DSMT4">
                  <p:embed/>
                </p:oleObj>
              </mc:Choice>
              <mc:Fallback>
                <p:oleObj name="Equation" r:id="rId15" imgW="177480" imgH="101520" progId="Equation.DSMT4">
                  <p:embed/>
                  <p:pic>
                    <p:nvPicPr>
                      <p:cNvPr id="3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479" y="5856124"/>
                        <a:ext cx="332775" cy="175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5316242"/>
              </p:ext>
            </p:extLst>
          </p:nvPr>
        </p:nvGraphicFramePr>
        <p:xfrm>
          <a:off x="4161667" y="5862210"/>
          <a:ext cx="332775" cy="17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01520" progId="Equation.DSMT4">
                  <p:embed/>
                </p:oleObj>
              </mc:Choice>
              <mc:Fallback>
                <p:oleObj name="Equation" r:id="rId15" imgW="177480" imgH="101520" progId="Equation.DSMT4">
                  <p:embed/>
                  <p:pic>
                    <p:nvPicPr>
                      <p:cNvPr id="3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667" y="5862210"/>
                        <a:ext cx="332775" cy="175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286140"/>
              </p:ext>
            </p:extLst>
          </p:nvPr>
        </p:nvGraphicFramePr>
        <p:xfrm>
          <a:off x="3655022" y="3694594"/>
          <a:ext cx="247320" cy="24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5022" y="3694594"/>
                        <a:ext cx="247320" cy="24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502457"/>
              </p:ext>
            </p:extLst>
          </p:nvPr>
        </p:nvGraphicFramePr>
        <p:xfrm>
          <a:off x="3666452" y="4803304"/>
          <a:ext cx="247320" cy="24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66452" y="4803304"/>
                        <a:ext cx="247320" cy="24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828825"/>
              </p:ext>
            </p:extLst>
          </p:nvPr>
        </p:nvGraphicFramePr>
        <p:xfrm>
          <a:off x="3643592" y="5992024"/>
          <a:ext cx="247320" cy="24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3592" y="5992024"/>
                        <a:ext cx="247320" cy="24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图片 3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11" y="5254523"/>
            <a:ext cx="3550444" cy="120729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" y="2865223"/>
            <a:ext cx="3607594" cy="2264569"/>
          </a:xfrm>
          <a:prstGeom prst="rect">
            <a:avLst/>
          </a:prstGeom>
        </p:spPr>
      </p:pic>
      <p:graphicFrame>
        <p:nvGraphicFramePr>
          <p:cNvPr id="3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392607"/>
              </p:ext>
            </p:extLst>
          </p:nvPr>
        </p:nvGraphicFramePr>
        <p:xfrm>
          <a:off x="6780492" y="864728"/>
          <a:ext cx="1485864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25480" imgH="241200" progId="Equation.DSMT4">
                  <p:embed/>
                </p:oleObj>
              </mc:Choice>
              <mc:Fallback>
                <p:oleObj name="Equation" r:id="rId19" imgW="825480" imgH="241200" progId="Equation.DSMT4">
                  <p:embed/>
                  <p:pic>
                    <p:nvPicPr>
                      <p:cNvPr id="4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492" y="864728"/>
                        <a:ext cx="1485864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057857"/>
              </p:ext>
            </p:extLst>
          </p:nvPr>
        </p:nvGraphicFramePr>
        <p:xfrm>
          <a:off x="6804606" y="1325222"/>
          <a:ext cx="2102760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68200" imgH="241200" progId="Equation.DSMT4">
                  <p:embed/>
                </p:oleObj>
              </mc:Choice>
              <mc:Fallback>
                <p:oleObj name="Equation" r:id="rId21" imgW="1168200" imgH="241200" progId="Equation.DSMT4">
                  <p:embed/>
                  <p:pic>
                    <p:nvPicPr>
                      <p:cNvPr id="4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606" y="1325222"/>
                        <a:ext cx="2102760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3783588" y="1748135"/>
            <a:ext cx="5165197" cy="461665"/>
            <a:chOff x="3962400" y="1522714"/>
            <a:chExt cx="5165197" cy="461665"/>
          </a:xfrm>
        </p:grpSpPr>
        <p:graphicFrame>
          <p:nvGraphicFramePr>
            <p:cNvPr id="37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2488548"/>
                </p:ext>
              </p:extLst>
            </p:nvPr>
          </p:nvGraphicFramePr>
          <p:xfrm>
            <a:off x="4398880" y="1547040"/>
            <a:ext cx="434160" cy="434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41200" imgH="241200" progId="Equation.DSMT4">
                    <p:embed/>
                  </p:oleObj>
                </mc:Choice>
                <mc:Fallback>
                  <p:oleObj name="Equation" r:id="rId23" imgW="241200" imgH="241200" progId="Equation.DSMT4">
                    <p:embed/>
                    <p:pic>
                      <p:nvPicPr>
                        <p:cNvPr id="5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8880" y="1547040"/>
                          <a:ext cx="434160" cy="434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矩形 37"/>
            <p:cNvSpPr/>
            <p:nvPr/>
          </p:nvSpPr>
          <p:spPr>
            <a:xfrm>
              <a:off x="3962400" y="1522714"/>
              <a:ext cx="516519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kern="0" dirty="0">
                  <a:solidFill>
                    <a:srgbClr val="000000"/>
                  </a:solidFill>
                </a:rPr>
                <a:t>以      为</a:t>
              </a:r>
              <a:r>
                <a:rPr lang="zh-CN" altLang="zh-CN" sz="2400" b="1" kern="0" dirty="0">
                  <a:solidFill>
                    <a:srgbClr val="000000"/>
                  </a:solidFill>
                </a:rPr>
                <a:t>周期</a:t>
              </a:r>
              <a:r>
                <a:rPr lang="zh-CN" altLang="en-US" sz="2400" b="1" kern="0" dirty="0">
                  <a:solidFill>
                    <a:srgbClr val="000000"/>
                  </a:solidFill>
                </a:rPr>
                <a:t>移位后再叠加，并除以</a:t>
              </a:r>
              <a:r>
                <a:rPr lang="en-US" altLang="zh-CN" sz="2400" b="1" i="1" kern="0" dirty="0">
                  <a:solidFill>
                    <a:srgbClr val="000000"/>
                  </a:solidFill>
                </a:rPr>
                <a:t>T</a:t>
              </a:r>
              <a:endParaRPr lang="zh-CN" altLang="en-US" sz="1600" i="1" kern="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726906"/>
              </p:ext>
            </p:extLst>
          </p:nvPr>
        </p:nvGraphicFramePr>
        <p:xfrm>
          <a:off x="4587519" y="2108520"/>
          <a:ext cx="284472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22360" imgH="431640" progId="Equation.DSMT4">
                  <p:embed/>
                </p:oleObj>
              </mc:Choice>
              <mc:Fallback>
                <p:oleObj name="Equation" r:id="rId25" imgW="1422360" imgH="431640" progId="Equation.DSMT4">
                  <p:embed/>
                  <p:pic>
                    <p:nvPicPr>
                      <p:cNvPr id="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519" y="2108520"/>
                        <a:ext cx="2844720" cy="86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/>
          <p:nvPr/>
        </p:nvSpPr>
        <p:spPr>
          <a:xfrm>
            <a:off x="3758722" y="828193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kern="0" dirty="0"/>
              <a:t>频谱的周期延拓</a:t>
            </a:r>
            <a:endParaRPr lang="zh-CN" altLang="en-US" sz="1800" b="1" kern="0" dirty="0"/>
          </a:p>
        </p:txBody>
      </p:sp>
    </p:spTree>
    <p:extLst>
      <p:ext uri="{BB962C8B-B14F-4D97-AF65-F5344CB8AC3E}">
        <p14:creationId xmlns:p14="http://schemas.microsoft.com/office/powerpoint/2010/main" val="202531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3516" y="914400"/>
            <a:ext cx="7467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lt"/>
              </a:rPr>
              <a:t>1.</a:t>
            </a:r>
            <a:r>
              <a:rPr lang="zh-CN" altLang="en-US" b="1" dirty="0">
                <a:latin typeface="+mj-lt"/>
              </a:rPr>
              <a:t>掌握采样信号频谱与原模拟信号频谱的关系</a:t>
            </a:r>
            <a:endParaRPr lang="en-US" altLang="zh-CN" b="1" dirty="0">
              <a:latin typeface="+mj-lt"/>
            </a:endParaRPr>
          </a:p>
        </p:txBody>
      </p:sp>
      <p:sp>
        <p:nvSpPr>
          <p:cNvPr id="5" name="Rectangle 1032"/>
          <p:cNvSpPr>
            <a:spLocks noChangeArrowheads="1"/>
          </p:cNvSpPr>
          <p:nvPr/>
        </p:nvSpPr>
        <p:spPr bwMode="auto">
          <a:xfrm>
            <a:off x="762000" y="228600"/>
            <a:ext cx="759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第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章 要点</a:t>
            </a:r>
          </a:p>
        </p:txBody>
      </p:sp>
      <p:sp>
        <p:nvSpPr>
          <p:cNvPr id="6" name="矩形 5"/>
          <p:cNvSpPr/>
          <p:nvPr/>
        </p:nvSpPr>
        <p:spPr>
          <a:xfrm>
            <a:off x="1033781" y="2897915"/>
            <a:ext cx="43332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时域采样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频域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周期延拓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graphicFrame>
        <p:nvGraphicFramePr>
          <p:cNvPr id="7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455155"/>
              </p:ext>
            </p:extLst>
          </p:nvPr>
        </p:nvGraphicFramePr>
        <p:xfrm>
          <a:off x="3200400" y="5334000"/>
          <a:ext cx="170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41200" progId="Equation.DSMT4">
                  <p:embed/>
                </p:oleObj>
              </mc:Choice>
              <mc:Fallback>
                <p:oleObj name="Equation" r:id="rId2" imgW="850680" imgH="241200" progId="Equation.DSMT4">
                  <p:embed/>
                  <p:pic>
                    <p:nvPicPr>
                      <p:cNvPr id="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334000"/>
                        <a:ext cx="1701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122931"/>
              </p:ext>
            </p:extLst>
          </p:nvPr>
        </p:nvGraphicFramePr>
        <p:xfrm>
          <a:off x="3200400" y="6019800"/>
          <a:ext cx="152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241200" progId="Equation.DSMT4">
                  <p:embed/>
                </p:oleObj>
              </mc:Choice>
              <mc:Fallback>
                <p:oleObj name="Equation" r:id="rId4" imgW="761760" imgH="241200" progId="Equation.DSMT4">
                  <p:embed/>
                  <p:pic>
                    <p:nvPicPr>
                      <p:cNvPr id="1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6019800"/>
                        <a:ext cx="1524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5230812" y="6019800"/>
            <a:ext cx="560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3516" y="4519136"/>
            <a:ext cx="794328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altLang="zh-CN" b="1" dirty="0"/>
              <a:t>2.</a:t>
            </a:r>
            <a:r>
              <a:rPr lang="zh-CN" altLang="en-US" b="1" dirty="0"/>
              <a:t>掌握采样定理（无失真采样的条件）</a:t>
            </a:r>
          </a:p>
        </p:txBody>
      </p:sp>
      <p:sp>
        <p:nvSpPr>
          <p:cNvPr id="13" name="矩形 1"/>
          <p:cNvSpPr>
            <a:spLocks noChangeArrowheads="1"/>
          </p:cNvSpPr>
          <p:nvPr/>
        </p:nvSpPr>
        <p:spPr bwMode="auto">
          <a:xfrm>
            <a:off x="5180621" y="5329535"/>
            <a:ext cx="8515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rad/s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972007"/>
              </p:ext>
            </p:extLst>
          </p:nvPr>
        </p:nvGraphicFramePr>
        <p:xfrm>
          <a:off x="6065808" y="2057400"/>
          <a:ext cx="182592" cy="263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64880" progId="Equation.DSMT4">
                  <p:embed/>
                </p:oleObj>
              </mc:Choice>
              <mc:Fallback>
                <p:oleObj name="Equation" r:id="rId6" imgW="114120" imgH="16488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5808" y="2057400"/>
                        <a:ext cx="182592" cy="263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6B08BD6D-7835-E34C-841E-F6A3FB4AD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22181"/>
              </p:ext>
            </p:extLst>
          </p:nvPr>
        </p:nvGraphicFramePr>
        <p:xfrm>
          <a:off x="6019800" y="3276600"/>
          <a:ext cx="283968" cy="629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393480" progId="Equation.DSMT4">
                  <p:embed/>
                </p:oleObj>
              </mc:Choice>
              <mc:Fallback>
                <p:oleObj name="Equation" r:id="rId8" imgW="177480" imgH="393480" progId="Equation.DSMT4">
                  <p:embed/>
                  <p:pic>
                    <p:nvPicPr>
                      <p:cNvPr id="15" name="Object 6">
                        <a:extLst>
                          <a:ext uri="{FF2B5EF4-FFF2-40B4-BE49-F238E27FC236}">
                            <a16:creationId xmlns:a16="http://schemas.microsoft.com/office/drawing/2014/main" id="{6B08BD6D-7835-E34C-841E-F6A3FB4AD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276600"/>
                        <a:ext cx="283968" cy="6295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6725" y="1501140"/>
            <a:ext cx="3806190" cy="13944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6522" y="3078480"/>
            <a:ext cx="400050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36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76200" y="177225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作业题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200" y="914400"/>
            <a:ext cx="1595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rgbClr val="000000"/>
                </a:solidFill>
                <a:cs typeface="Times New Roman" panose="02020603050405020304" pitchFamily="18" charset="0"/>
              </a:rPr>
              <a:t>2.1</a:t>
            </a:r>
            <a:r>
              <a:rPr lang="en-US" altLang="zh-CN" b="1" kern="0" dirty="0">
                <a:solidFill>
                  <a:srgbClr val="C00000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kern="0" dirty="0">
                <a:solidFill>
                  <a:srgbClr val="C00000"/>
                </a:solidFill>
                <a:cs typeface="Times New Roman" panose="02020603050405020304" pitchFamily="18" charset="0"/>
              </a:rPr>
              <a:t>修改</a:t>
            </a:r>
            <a:r>
              <a:rPr lang="en-US" altLang="zh-CN" b="1" kern="0" dirty="0">
                <a:solidFill>
                  <a:srgbClr val="C00000"/>
                </a:solidFill>
                <a:cs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8140" y="1540663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对三个正弦信号</a:t>
            </a: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588923"/>
              </p:ext>
            </p:extLst>
          </p:nvPr>
        </p:nvGraphicFramePr>
        <p:xfrm>
          <a:off x="3025835" y="1540663"/>
          <a:ext cx="52276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228600" progId="Equation.DSMT4">
                  <p:embed/>
                </p:oleObj>
              </mc:Choice>
              <mc:Fallback>
                <p:oleObj name="Equation" r:id="rId2" imgW="2273040" imgH="2286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835" y="1540663"/>
                        <a:ext cx="52276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228188"/>
              </p:ext>
            </p:extLst>
          </p:nvPr>
        </p:nvGraphicFramePr>
        <p:xfrm>
          <a:off x="349307" y="2047220"/>
          <a:ext cx="2715840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28600" progId="Equation.DSMT4">
                  <p:embed/>
                </p:oleObj>
              </mc:Choice>
              <mc:Fallback>
                <p:oleObj name="Equation" r:id="rId4" imgW="1180800" imgH="228600" progId="Equation.DSMT4">
                  <p:embed/>
                  <p:pic>
                    <p:nvPicPr>
                      <p:cNvPr id="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307" y="2047220"/>
                        <a:ext cx="2715840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3025835" y="2100489"/>
            <a:ext cx="379142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/>
              <a:t>进行采样，采样角频率</a:t>
            </a:r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72518"/>
              </p:ext>
            </p:extLst>
          </p:nvPr>
        </p:nvGraphicFramePr>
        <p:xfrm>
          <a:off x="6705600" y="2074208"/>
          <a:ext cx="211613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228600" progId="Equation.DSMT4">
                  <p:embed/>
                </p:oleObj>
              </mc:Choice>
              <mc:Fallback>
                <p:oleObj name="Equation" r:id="rId6" imgW="977760" imgH="22860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074208"/>
                        <a:ext cx="2116137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342900" y="2633889"/>
            <a:ext cx="7398179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latin typeface="宋体" panose="02010600030101010101" pitchFamily="2" charset="-122"/>
                <a:cs typeface="+mj-cs"/>
              </a:rPr>
              <a:t>求这三个采样输出序列，这三个序列一样吗？</a:t>
            </a:r>
          </a:p>
        </p:txBody>
      </p:sp>
    </p:spTree>
    <p:extLst>
      <p:ext uri="{BB962C8B-B14F-4D97-AF65-F5344CB8AC3E}">
        <p14:creationId xmlns:p14="http://schemas.microsoft.com/office/powerpoint/2010/main" val="1923617187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4">
      <a:dk1>
        <a:srgbClr val="000000"/>
      </a:dk1>
      <a:lt1>
        <a:srgbClr val="FFFFFF"/>
      </a:lt1>
      <a:dk2>
        <a:srgbClr val="000066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BFDFFF"/>
      </a:hlink>
      <a:folHlink>
        <a:srgbClr val="99CCFF"/>
      </a:folHlink>
    </a:clrScheme>
    <a:fontScheme name="Global">
      <a:majorFont>
        <a:latin typeface="Times New Roman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infor</Template>
  <TotalTime>15852</TotalTime>
  <Words>720</Words>
  <Application>Microsoft Office PowerPoint</Application>
  <PresentationFormat>全屏显示(4:3)</PresentationFormat>
  <Paragraphs>128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等线</vt:lpstr>
      <vt:lpstr>等线 Light</vt:lpstr>
      <vt:lpstr>黑体</vt:lpstr>
      <vt:lpstr>楷体_GB2312</vt:lpstr>
      <vt:lpstr>宋体</vt:lpstr>
      <vt:lpstr>Arial</vt:lpstr>
      <vt:lpstr>Symbol</vt:lpstr>
      <vt:lpstr>Tahoma</vt:lpstr>
      <vt:lpstr>Times New Roman</vt:lpstr>
      <vt:lpstr>Global</vt:lpstr>
      <vt:lpstr>自定义设计方案</vt:lpstr>
      <vt:lpstr>Equation</vt:lpstr>
      <vt:lpstr>第2章 信号的采样与重建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克琴 周</cp:lastModifiedBy>
  <cp:revision>1517</cp:revision>
  <cp:lastPrinted>2024-10-11T02:21:08Z</cp:lastPrinted>
  <dcterms:created xsi:type="dcterms:W3CDTF">1601-01-01T00:00:00Z</dcterms:created>
  <dcterms:modified xsi:type="dcterms:W3CDTF">2025-03-19T18:25:03Z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