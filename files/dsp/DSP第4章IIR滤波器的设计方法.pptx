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85" r:id="rId2"/>
  </p:sldMasterIdLst>
  <p:notesMasterIdLst>
    <p:notesMasterId r:id="rId76"/>
  </p:notesMasterIdLst>
  <p:handoutMasterIdLst>
    <p:handoutMasterId r:id="rId77"/>
  </p:handoutMasterIdLst>
  <p:sldIdLst>
    <p:sldId id="256" r:id="rId3"/>
    <p:sldId id="588" r:id="rId4"/>
    <p:sldId id="591" r:id="rId5"/>
    <p:sldId id="589" r:id="rId6"/>
    <p:sldId id="590" r:id="rId7"/>
    <p:sldId id="593" r:id="rId8"/>
    <p:sldId id="402" r:id="rId9"/>
    <p:sldId id="594" r:id="rId10"/>
    <p:sldId id="617" r:id="rId11"/>
    <p:sldId id="596" r:id="rId12"/>
    <p:sldId id="291" r:id="rId13"/>
    <p:sldId id="415" r:id="rId14"/>
    <p:sldId id="545" r:id="rId15"/>
    <p:sldId id="618" r:id="rId16"/>
    <p:sldId id="598" r:id="rId17"/>
    <p:sldId id="549" r:id="rId18"/>
    <p:sldId id="599" r:id="rId19"/>
    <p:sldId id="600" r:id="rId20"/>
    <p:sldId id="601" r:id="rId21"/>
    <p:sldId id="609" r:id="rId22"/>
    <p:sldId id="602" r:id="rId23"/>
    <p:sldId id="603" r:id="rId24"/>
    <p:sldId id="557" r:id="rId25"/>
    <p:sldId id="558" r:id="rId26"/>
    <p:sldId id="559" r:id="rId27"/>
    <p:sldId id="260" r:id="rId28"/>
    <p:sldId id="620" r:id="rId29"/>
    <p:sldId id="607" r:id="rId30"/>
    <p:sldId id="261" r:id="rId31"/>
    <p:sldId id="565" r:id="rId32"/>
    <p:sldId id="566" r:id="rId33"/>
    <p:sldId id="571" r:id="rId34"/>
    <p:sldId id="621" r:id="rId35"/>
    <p:sldId id="568" r:id="rId36"/>
    <p:sldId id="567" r:id="rId37"/>
    <p:sldId id="570" r:id="rId38"/>
    <p:sldId id="573" r:id="rId39"/>
    <p:sldId id="572" r:id="rId40"/>
    <p:sldId id="574" r:id="rId41"/>
    <p:sldId id="610" r:id="rId42"/>
    <p:sldId id="576" r:id="rId43"/>
    <p:sldId id="269" r:id="rId44"/>
    <p:sldId id="296" r:id="rId45"/>
    <p:sldId id="531" r:id="rId46"/>
    <p:sldId id="577" r:id="rId47"/>
    <p:sldId id="578" r:id="rId48"/>
    <p:sldId id="611" r:id="rId49"/>
    <p:sldId id="579" r:id="rId50"/>
    <p:sldId id="584" r:id="rId51"/>
    <p:sldId id="580" r:id="rId52"/>
    <p:sldId id="431" r:id="rId53"/>
    <p:sldId id="432" r:id="rId54"/>
    <p:sldId id="433" r:id="rId55"/>
    <p:sldId id="320" r:id="rId56"/>
    <p:sldId id="323" r:id="rId57"/>
    <p:sldId id="443" r:id="rId58"/>
    <p:sldId id="444" r:id="rId59"/>
    <p:sldId id="347" r:id="rId60"/>
    <p:sldId id="350" r:id="rId61"/>
    <p:sldId id="351" r:id="rId62"/>
    <p:sldId id="352" r:id="rId63"/>
    <p:sldId id="445" r:id="rId64"/>
    <p:sldId id="493" r:id="rId65"/>
    <p:sldId id="355" r:id="rId66"/>
    <p:sldId id="613" r:id="rId67"/>
    <p:sldId id="448" r:id="rId68"/>
    <p:sldId id="449" r:id="rId69"/>
    <p:sldId id="614" r:id="rId70"/>
    <p:sldId id="461" r:id="rId71"/>
    <p:sldId id="462" r:id="rId72"/>
    <p:sldId id="484" r:id="rId73"/>
    <p:sldId id="619" r:id="rId74"/>
    <p:sldId id="615" r:id="rId75"/>
  </p:sldIdLst>
  <p:sldSz cx="9144000" cy="6858000" type="screen4x3"/>
  <p:notesSz cx="6797675" cy="99250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993300"/>
    <a:srgbClr val="6600CC"/>
    <a:srgbClr val="FF3300"/>
    <a:srgbClr val="336600"/>
    <a:srgbClr val="800000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1932" autoAdjust="0"/>
  </p:normalViewPr>
  <p:slideViewPr>
    <p:cSldViewPr>
      <p:cViewPr varScale="1">
        <p:scale>
          <a:sx n="82" d="100"/>
          <a:sy n="82" d="100"/>
        </p:scale>
        <p:origin x="12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4392"/>
    </p:cViewPr>
  </p:sorterViewPr>
  <p:notesViewPr>
    <p:cSldViewPr>
      <p:cViewPr varScale="1">
        <p:scale>
          <a:sx n="43" d="100"/>
          <a:sy n="43" d="100"/>
        </p:scale>
        <p:origin x="-1476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491" y="0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035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491" y="9429035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52A1687-D81F-472E-8FB1-CE457F5AC4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014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07" y="0"/>
            <a:ext cx="2945184" cy="49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0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293" y="4714518"/>
            <a:ext cx="5439089" cy="4465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0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451"/>
            <a:ext cx="2945184" cy="496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0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07" y="9427451"/>
            <a:ext cx="2945184" cy="496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48" tIns="45624" rIns="91248" bIns="456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812C558-BBB5-4901-BC75-48CF9CE6E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347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90" indent="-2851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0600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6840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3079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0931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555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179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7803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9157C1-42D6-4526-BDA7-9ACD0E6D28B0}" type="slidenum">
              <a:rPr lang="en-US" altLang="zh-CN" smtClean="0">
                <a:latin typeface="Times New Roman" panose="02020603050405020304" pitchFamily="18" charset="0"/>
              </a:rPr>
              <a:pPr/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90" indent="-2851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0600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6840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3079" indent="-22812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0931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555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179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78039" indent="-2281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8FD498-FDF3-4EE4-9F24-64C228DD6B36}" type="slidenum">
              <a:rPr lang="en-US" altLang="zh-CN" smtClean="0">
                <a:latin typeface="Times New Roman" panose="02020603050405020304" pitchFamily="18" charset="0"/>
              </a:rPr>
              <a:pPr/>
              <a:t>60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-12"/>
              <a:ext cx="5760" cy="1045"/>
              <a:chOff x="0" y="-9"/>
              <a:chExt cx="5760" cy="1045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9661 w 4848"/>
                  <a:gd name="T1" fmla="*/ 14068 h 432"/>
                  <a:gd name="T2" fmla="*/ 0 w 4848"/>
                  <a:gd name="T3" fmla="*/ 14068 h 432"/>
                  <a:gd name="T4" fmla="*/ 0 w 4848"/>
                  <a:gd name="T5" fmla="*/ 0 h 432"/>
                  <a:gd name="T6" fmla="*/ 9661 w 4848"/>
                  <a:gd name="T7" fmla="*/ 0 h 432"/>
                  <a:gd name="T8" fmla="*/ 9661 w 4848"/>
                  <a:gd name="T9" fmla="*/ 14068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9 w 15"/>
                    <a:gd name="T1" fmla="*/ 7 h 23"/>
                    <a:gd name="T2" fmla="*/ 25 w 15"/>
                    <a:gd name="T3" fmla="*/ 3 h 23"/>
                    <a:gd name="T4" fmla="*/ 22 w 15"/>
                    <a:gd name="T5" fmla="*/ 10 h 23"/>
                    <a:gd name="T6" fmla="*/ 9 w 15"/>
                    <a:gd name="T7" fmla="*/ 7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8 h 23"/>
                    <a:gd name="T2" fmla="*/ 15 w 20"/>
                    <a:gd name="T3" fmla="*/ 3 h 23"/>
                    <a:gd name="T4" fmla="*/ 7 w 20"/>
                    <a:gd name="T5" fmla="*/ 11 h 23"/>
                    <a:gd name="T6" fmla="*/ 3 w 20"/>
                    <a:gd name="T7" fmla="*/ 8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20 w 30"/>
                    <a:gd name="T1" fmla="*/ 15 h 42"/>
                    <a:gd name="T2" fmla="*/ 8 w 30"/>
                    <a:gd name="T3" fmla="*/ 9 h 42"/>
                    <a:gd name="T4" fmla="*/ 0 w 30"/>
                    <a:gd name="T5" fmla="*/ 4 h 42"/>
                    <a:gd name="T6" fmla="*/ 20 w 30"/>
                    <a:gd name="T7" fmla="*/ 2 h 42"/>
                    <a:gd name="T8" fmla="*/ 34 w 30"/>
                    <a:gd name="T9" fmla="*/ 10 h 42"/>
                    <a:gd name="T10" fmla="*/ 32 w 30"/>
                    <a:gd name="T11" fmla="*/ 13 h 42"/>
                    <a:gd name="T12" fmla="*/ 20 w 30"/>
                    <a:gd name="T13" fmla="*/ 15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5 h 16"/>
                    <a:gd name="T2" fmla="*/ 3 w 25"/>
                    <a:gd name="T3" fmla="*/ 3 h 16"/>
                    <a:gd name="T4" fmla="*/ 15 w 25"/>
                    <a:gd name="T5" fmla="*/ 0 h 16"/>
                    <a:gd name="T6" fmla="*/ 15 w 25"/>
                    <a:gd name="T7" fmla="*/ 5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12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6 h 46"/>
                    <a:gd name="T8" fmla="*/ 32 w 65"/>
                    <a:gd name="T9" fmla="*/ 14 h 46"/>
                    <a:gd name="T10" fmla="*/ 12 w 65"/>
                    <a:gd name="T11" fmla="*/ 24 h 46"/>
                    <a:gd name="T12" fmla="*/ 8 w 65"/>
                    <a:gd name="T13" fmla="*/ 10 h 46"/>
                    <a:gd name="T14" fmla="*/ 12 w 65"/>
                    <a:gd name="T15" fmla="*/ 7 h 46"/>
                    <a:gd name="T16" fmla="*/ 14 w 65"/>
                    <a:gd name="T17" fmla="*/ 12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15 h 47"/>
                    <a:gd name="T2" fmla="*/ 18 w 69"/>
                    <a:gd name="T3" fmla="*/ 12 h 47"/>
                    <a:gd name="T4" fmla="*/ 48 w 69"/>
                    <a:gd name="T5" fmla="*/ 1 h 47"/>
                    <a:gd name="T6" fmla="*/ 60 w 69"/>
                    <a:gd name="T7" fmla="*/ 2 h 47"/>
                    <a:gd name="T8" fmla="*/ 46 w 69"/>
                    <a:gd name="T9" fmla="*/ 9 h 47"/>
                    <a:gd name="T10" fmla="*/ 28 w 69"/>
                    <a:gd name="T11" fmla="*/ 15 h 47"/>
                    <a:gd name="T12" fmla="*/ 22 w 69"/>
                    <a:gd name="T13" fmla="*/ 22 h 47"/>
                    <a:gd name="T14" fmla="*/ 16 w 69"/>
                    <a:gd name="T15" fmla="*/ 22 h 47"/>
                    <a:gd name="T16" fmla="*/ 12 w 69"/>
                    <a:gd name="T17" fmla="*/ 18 h 47"/>
                    <a:gd name="T18" fmla="*/ 0 w 69"/>
                    <a:gd name="T19" fmla="*/ 17 h 47"/>
                    <a:gd name="T20" fmla="*/ 0 w 69"/>
                    <a:gd name="T21" fmla="*/ 15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8 h 277"/>
                    <a:gd name="T4" fmla="*/ 46 w 355"/>
                    <a:gd name="T5" fmla="*/ 14 h 277"/>
                    <a:gd name="T6" fmla="*/ 76 w 355"/>
                    <a:gd name="T7" fmla="*/ 24 h 277"/>
                    <a:gd name="T8" fmla="*/ 92 w 355"/>
                    <a:gd name="T9" fmla="*/ 30 h 277"/>
                    <a:gd name="T10" fmla="*/ 122 w 355"/>
                    <a:gd name="T11" fmla="*/ 45 h 277"/>
                    <a:gd name="T12" fmla="*/ 136 w 355"/>
                    <a:gd name="T13" fmla="*/ 58 h 277"/>
                    <a:gd name="T14" fmla="*/ 148 w 355"/>
                    <a:gd name="T15" fmla="*/ 61 h 277"/>
                    <a:gd name="T16" fmla="*/ 154 w 355"/>
                    <a:gd name="T17" fmla="*/ 68 h 277"/>
                    <a:gd name="T18" fmla="*/ 176 w 355"/>
                    <a:gd name="T19" fmla="*/ 70 h 277"/>
                    <a:gd name="T20" fmla="*/ 170 w 355"/>
                    <a:gd name="T21" fmla="*/ 90 h 277"/>
                    <a:gd name="T22" fmla="*/ 177 w 355"/>
                    <a:gd name="T23" fmla="*/ 102 h 277"/>
                    <a:gd name="T24" fmla="*/ 194 w 355"/>
                    <a:gd name="T25" fmla="*/ 106 h 277"/>
                    <a:gd name="T26" fmla="*/ 212 w 355"/>
                    <a:gd name="T27" fmla="*/ 108 h 277"/>
                    <a:gd name="T28" fmla="*/ 232 w 355"/>
                    <a:gd name="T29" fmla="*/ 111 h 277"/>
                    <a:gd name="T30" fmla="*/ 250 w 355"/>
                    <a:gd name="T31" fmla="*/ 109 h 277"/>
                    <a:gd name="T32" fmla="*/ 268 w 355"/>
                    <a:gd name="T33" fmla="*/ 114 h 277"/>
                    <a:gd name="T34" fmla="*/ 292 w 355"/>
                    <a:gd name="T35" fmla="*/ 118 h 277"/>
                    <a:gd name="T36" fmla="*/ 310 w 355"/>
                    <a:gd name="T37" fmla="*/ 121 h 277"/>
                    <a:gd name="T38" fmla="*/ 348 w 355"/>
                    <a:gd name="T39" fmla="*/ 122 h 277"/>
                    <a:gd name="T40" fmla="*/ 338 w 355"/>
                    <a:gd name="T41" fmla="*/ 126 h 277"/>
                    <a:gd name="T42" fmla="*/ 318 w 355"/>
                    <a:gd name="T43" fmla="*/ 124 h 277"/>
                    <a:gd name="T44" fmla="*/ 296 w 355"/>
                    <a:gd name="T45" fmla="*/ 124 h 277"/>
                    <a:gd name="T46" fmla="*/ 284 w 355"/>
                    <a:gd name="T47" fmla="*/ 122 h 277"/>
                    <a:gd name="T48" fmla="*/ 248 w 355"/>
                    <a:gd name="T49" fmla="*/ 121 h 277"/>
                    <a:gd name="T50" fmla="*/ 230 w 355"/>
                    <a:gd name="T51" fmla="*/ 119 h 277"/>
                    <a:gd name="T52" fmla="*/ 172 w 355"/>
                    <a:gd name="T53" fmla="*/ 111 h 277"/>
                    <a:gd name="T54" fmla="*/ 160 w 355"/>
                    <a:gd name="T55" fmla="*/ 100 h 277"/>
                    <a:gd name="T56" fmla="*/ 126 w 355"/>
                    <a:gd name="T57" fmla="*/ 92 h 277"/>
                    <a:gd name="T58" fmla="*/ 108 w 355"/>
                    <a:gd name="T59" fmla="*/ 86 h 277"/>
                    <a:gd name="T60" fmla="*/ 94 w 355"/>
                    <a:gd name="T61" fmla="*/ 72 h 277"/>
                    <a:gd name="T62" fmla="*/ 68 w 355"/>
                    <a:gd name="T63" fmla="*/ 49 h 277"/>
                    <a:gd name="T64" fmla="*/ 64 w 355"/>
                    <a:gd name="T65" fmla="*/ 47 h 277"/>
                    <a:gd name="T66" fmla="*/ 58 w 355"/>
                    <a:gd name="T67" fmla="*/ 45 h 277"/>
                    <a:gd name="T68" fmla="*/ 54 w 355"/>
                    <a:gd name="T69" fmla="*/ 40 h 277"/>
                    <a:gd name="T70" fmla="*/ 38 w 355"/>
                    <a:gd name="T71" fmla="*/ 27 h 277"/>
                    <a:gd name="T72" fmla="*/ 20 w 355"/>
                    <a:gd name="T73" fmla="*/ 18 h 277"/>
                    <a:gd name="T74" fmla="*/ 4 w 355"/>
                    <a:gd name="T75" fmla="*/ 10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9 h 206"/>
                    <a:gd name="T2" fmla="*/ 66 w 156"/>
                    <a:gd name="T3" fmla="*/ 25 h 206"/>
                    <a:gd name="T4" fmla="*/ 68 w 156"/>
                    <a:gd name="T5" fmla="*/ 23 h 206"/>
                    <a:gd name="T6" fmla="*/ 84 w 156"/>
                    <a:gd name="T7" fmla="*/ 19 h 206"/>
                    <a:gd name="T8" fmla="*/ 110 w 156"/>
                    <a:gd name="T9" fmla="*/ 10 h 206"/>
                    <a:gd name="T10" fmla="*/ 116 w 156"/>
                    <a:gd name="T11" fmla="*/ 2 h 206"/>
                    <a:gd name="T12" fmla="*/ 128 w 156"/>
                    <a:gd name="T13" fmla="*/ 0 h 206"/>
                    <a:gd name="T14" fmla="*/ 154 w 156"/>
                    <a:gd name="T15" fmla="*/ 12 h 206"/>
                    <a:gd name="T16" fmla="*/ 150 w 156"/>
                    <a:gd name="T17" fmla="*/ 19 h 206"/>
                    <a:gd name="T18" fmla="*/ 130 w 156"/>
                    <a:gd name="T19" fmla="*/ 28 h 206"/>
                    <a:gd name="T20" fmla="*/ 136 w 156"/>
                    <a:gd name="T21" fmla="*/ 41 h 206"/>
                    <a:gd name="T22" fmla="*/ 146 w 156"/>
                    <a:gd name="T23" fmla="*/ 47 h 206"/>
                    <a:gd name="T24" fmla="*/ 150 w 156"/>
                    <a:gd name="T25" fmla="*/ 55 h 206"/>
                    <a:gd name="T26" fmla="*/ 132 w 156"/>
                    <a:gd name="T27" fmla="*/ 55 h 206"/>
                    <a:gd name="T28" fmla="*/ 120 w 156"/>
                    <a:gd name="T29" fmla="*/ 63 h 206"/>
                    <a:gd name="T30" fmla="*/ 108 w 156"/>
                    <a:gd name="T31" fmla="*/ 67 h 206"/>
                    <a:gd name="T32" fmla="*/ 104 w 156"/>
                    <a:gd name="T33" fmla="*/ 86 h 206"/>
                    <a:gd name="T34" fmla="*/ 92 w 156"/>
                    <a:gd name="T35" fmla="*/ 88 h 206"/>
                    <a:gd name="T36" fmla="*/ 86 w 156"/>
                    <a:gd name="T37" fmla="*/ 88 h 206"/>
                    <a:gd name="T38" fmla="*/ 76 w 156"/>
                    <a:gd name="T39" fmla="*/ 88 h 206"/>
                    <a:gd name="T40" fmla="*/ 72 w 156"/>
                    <a:gd name="T41" fmla="*/ 82 h 206"/>
                    <a:gd name="T42" fmla="*/ 60 w 156"/>
                    <a:gd name="T43" fmla="*/ 80 h 206"/>
                    <a:gd name="T44" fmla="*/ 42 w 156"/>
                    <a:gd name="T45" fmla="*/ 84 h 206"/>
                    <a:gd name="T46" fmla="*/ 28 w 156"/>
                    <a:gd name="T47" fmla="*/ 80 h 206"/>
                    <a:gd name="T48" fmla="*/ 10 w 156"/>
                    <a:gd name="T49" fmla="*/ 64 h 206"/>
                    <a:gd name="T50" fmla="*/ 4 w 156"/>
                    <a:gd name="T51" fmla="*/ 56 h 206"/>
                    <a:gd name="T52" fmla="*/ 0 w 156"/>
                    <a:gd name="T53" fmla="*/ 51 h 206"/>
                    <a:gd name="T54" fmla="*/ 20 w 156"/>
                    <a:gd name="T55" fmla="*/ 41 h 206"/>
                    <a:gd name="T56" fmla="*/ 32 w 156"/>
                    <a:gd name="T57" fmla="*/ 45 h 206"/>
                    <a:gd name="T58" fmla="*/ 34 w 156"/>
                    <a:gd name="T59" fmla="*/ 35 h 206"/>
                    <a:gd name="T60" fmla="*/ 52 w 156"/>
                    <a:gd name="T61" fmla="*/ 30 h 206"/>
                    <a:gd name="T62" fmla="*/ 54 w 156"/>
                    <a:gd name="T63" fmla="*/ 29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16 h 38"/>
                    <a:gd name="T2" fmla="*/ 18 w 109"/>
                    <a:gd name="T3" fmla="*/ 5 h 38"/>
                    <a:gd name="T4" fmla="*/ 46 w 109"/>
                    <a:gd name="T5" fmla="*/ 10 h 38"/>
                    <a:gd name="T6" fmla="*/ 76 w 109"/>
                    <a:gd name="T7" fmla="*/ 7 h 38"/>
                    <a:gd name="T8" fmla="*/ 94 w 109"/>
                    <a:gd name="T9" fmla="*/ 0 h 38"/>
                    <a:gd name="T10" fmla="*/ 80 w 109"/>
                    <a:gd name="T11" fmla="*/ 13 h 38"/>
                    <a:gd name="T12" fmla="*/ 64 w 109"/>
                    <a:gd name="T13" fmla="*/ 19 h 38"/>
                    <a:gd name="T14" fmla="*/ 42 w 109"/>
                    <a:gd name="T15" fmla="*/ 16 h 38"/>
                    <a:gd name="T16" fmla="*/ 14 w 109"/>
                    <a:gd name="T17" fmla="*/ 15 h 38"/>
                    <a:gd name="T18" fmla="*/ 4 w 109"/>
                    <a:gd name="T19" fmla="*/ 16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8 h 104"/>
                    <a:gd name="T2" fmla="*/ 18 w 76"/>
                    <a:gd name="T3" fmla="*/ 0 h 104"/>
                    <a:gd name="T4" fmla="*/ 34 w 76"/>
                    <a:gd name="T5" fmla="*/ 8 h 104"/>
                    <a:gd name="T6" fmla="*/ 58 w 76"/>
                    <a:gd name="T7" fmla="*/ 2 h 104"/>
                    <a:gd name="T8" fmla="*/ 42 w 76"/>
                    <a:gd name="T9" fmla="*/ 15 h 104"/>
                    <a:gd name="T10" fmla="*/ 50 w 76"/>
                    <a:gd name="T11" fmla="*/ 21 h 104"/>
                    <a:gd name="T12" fmla="*/ 54 w 76"/>
                    <a:gd name="T13" fmla="*/ 26 h 104"/>
                    <a:gd name="T14" fmla="*/ 42 w 76"/>
                    <a:gd name="T15" fmla="*/ 32 h 104"/>
                    <a:gd name="T16" fmla="*/ 34 w 76"/>
                    <a:gd name="T17" fmla="*/ 26 h 104"/>
                    <a:gd name="T18" fmla="*/ 22 w 76"/>
                    <a:gd name="T19" fmla="*/ 21 h 104"/>
                    <a:gd name="T20" fmla="*/ 28 w 76"/>
                    <a:gd name="T21" fmla="*/ 29 h 104"/>
                    <a:gd name="T22" fmla="*/ 30 w 76"/>
                    <a:gd name="T23" fmla="*/ 32 h 104"/>
                    <a:gd name="T24" fmla="*/ 20 w 76"/>
                    <a:gd name="T25" fmla="*/ 44 h 104"/>
                    <a:gd name="T26" fmla="*/ 12 w 76"/>
                    <a:gd name="T27" fmla="*/ 43 h 104"/>
                    <a:gd name="T28" fmla="*/ 8 w 76"/>
                    <a:gd name="T29" fmla="*/ 39 h 104"/>
                    <a:gd name="T30" fmla="*/ 0 w 76"/>
                    <a:gd name="T31" fmla="*/ 23 h 104"/>
                    <a:gd name="T32" fmla="*/ 2 w 76"/>
                    <a:gd name="T33" fmla="*/ 12 h 104"/>
                    <a:gd name="T34" fmla="*/ 8 w 76"/>
                    <a:gd name="T35" fmla="*/ 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11 h 61"/>
                    <a:gd name="T2" fmla="*/ 13 w 37"/>
                    <a:gd name="T3" fmla="*/ 0 h 61"/>
                    <a:gd name="T4" fmla="*/ 15 w 37"/>
                    <a:gd name="T5" fmla="*/ 11 h 61"/>
                    <a:gd name="T6" fmla="*/ 37 w 37"/>
                    <a:gd name="T7" fmla="*/ 16 h 61"/>
                    <a:gd name="T8" fmla="*/ 19 w 37"/>
                    <a:gd name="T9" fmla="*/ 18 h 61"/>
                    <a:gd name="T10" fmla="*/ 5 w 37"/>
                    <a:gd name="T11" fmla="*/ 25 h 61"/>
                    <a:gd name="T12" fmla="*/ 1 w 37"/>
                    <a:gd name="T13" fmla="*/ 14 h 61"/>
                    <a:gd name="T14" fmla="*/ 3 w 37"/>
                    <a:gd name="T15" fmla="*/ 11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5 w 49"/>
                    <a:gd name="T3" fmla="*/ 0 h 29"/>
                    <a:gd name="T4" fmla="*/ 41 w 49"/>
                    <a:gd name="T5" fmla="*/ 7 h 29"/>
                    <a:gd name="T6" fmla="*/ 31 w 49"/>
                    <a:gd name="T7" fmla="*/ 7 h 29"/>
                    <a:gd name="T8" fmla="*/ 3 w 49"/>
                    <a:gd name="T9" fmla="*/ 7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22 h 48"/>
                    <a:gd name="T2" fmla="*/ 15 w 61"/>
                    <a:gd name="T3" fmla="*/ 16 h 48"/>
                    <a:gd name="T4" fmla="*/ 3 w 61"/>
                    <a:gd name="T5" fmla="*/ 13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6 h 48"/>
                    <a:gd name="T12" fmla="*/ 53 w 61"/>
                    <a:gd name="T13" fmla="*/ 12 h 48"/>
                    <a:gd name="T14" fmla="*/ 61 w 61"/>
                    <a:gd name="T15" fmla="*/ 19 h 48"/>
                    <a:gd name="T16" fmla="*/ 41 w 61"/>
                    <a:gd name="T17" fmla="*/ 22 h 48"/>
                    <a:gd name="T18" fmla="*/ 23 w 61"/>
                    <a:gd name="T19" fmla="*/ 26 h 48"/>
                    <a:gd name="T20" fmla="*/ 21 w 61"/>
                    <a:gd name="T21" fmla="*/ 22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13 h 182"/>
                    <a:gd name="T2" fmla="*/ 36 w 286"/>
                    <a:gd name="T3" fmla="*/ 6 h 182"/>
                    <a:gd name="T4" fmla="*/ 26 w 286"/>
                    <a:gd name="T5" fmla="*/ 13 h 182"/>
                    <a:gd name="T6" fmla="*/ 0 w 286"/>
                    <a:gd name="T7" fmla="*/ 11 h 182"/>
                    <a:gd name="T8" fmla="*/ 10 w 286"/>
                    <a:gd name="T9" fmla="*/ 19 h 182"/>
                    <a:gd name="T10" fmla="*/ 16 w 286"/>
                    <a:gd name="T11" fmla="*/ 28 h 182"/>
                    <a:gd name="T12" fmla="*/ 24 w 286"/>
                    <a:gd name="T13" fmla="*/ 21 h 182"/>
                    <a:gd name="T14" fmla="*/ 30 w 286"/>
                    <a:gd name="T15" fmla="*/ 20 h 182"/>
                    <a:gd name="T16" fmla="*/ 48 w 286"/>
                    <a:gd name="T17" fmla="*/ 25 h 182"/>
                    <a:gd name="T18" fmla="*/ 70 w 286"/>
                    <a:gd name="T19" fmla="*/ 28 h 182"/>
                    <a:gd name="T20" fmla="*/ 88 w 286"/>
                    <a:gd name="T21" fmla="*/ 32 h 182"/>
                    <a:gd name="T22" fmla="*/ 106 w 286"/>
                    <a:gd name="T23" fmla="*/ 46 h 182"/>
                    <a:gd name="T24" fmla="*/ 104 w 286"/>
                    <a:gd name="T25" fmla="*/ 55 h 182"/>
                    <a:gd name="T26" fmla="*/ 98 w 286"/>
                    <a:gd name="T27" fmla="*/ 61 h 182"/>
                    <a:gd name="T28" fmla="*/ 122 w 286"/>
                    <a:gd name="T29" fmla="*/ 57 h 182"/>
                    <a:gd name="T30" fmla="*/ 140 w 286"/>
                    <a:gd name="T31" fmla="*/ 63 h 182"/>
                    <a:gd name="T32" fmla="*/ 168 w 286"/>
                    <a:gd name="T33" fmla="*/ 66 h 182"/>
                    <a:gd name="T34" fmla="*/ 174 w 286"/>
                    <a:gd name="T35" fmla="*/ 65 h 182"/>
                    <a:gd name="T36" fmla="*/ 168 w 286"/>
                    <a:gd name="T37" fmla="*/ 61 h 182"/>
                    <a:gd name="T38" fmla="*/ 178 w 286"/>
                    <a:gd name="T39" fmla="*/ 61 h 182"/>
                    <a:gd name="T40" fmla="*/ 186 w 286"/>
                    <a:gd name="T41" fmla="*/ 53 h 182"/>
                    <a:gd name="T42" fmla="*/ 202 w 286"/>
                    <a:gd name="T43" fmla="*/ 55 h 182"/>
                    <a:gd name="T44" fmla="*/ 214 w 286"/>
                    <a:gd name="T45" fmla="*/ 58 h 182"/>
                    <a:gd name="T46" fmla="*/ 244 w 286"/>
                    <a:gd name="T47" fmla="*/ 76 h 182"/>
                    <a:gd name="T48" fmla="*/ 262 w 286"/>
                    <a:gd name="T49" fmla="*/ 80 h 182"/>
                    <a:gd name="T50" fmla="*/ 284 w 286"/>
                    <a:gd name="T51" fmla="*/ 76 h 182"/>
                    <a:gd name="T52" fmla="*/ 268 w 286"/>
                    <a:gd name="T53" fmla="*/ 72 h 182"/>
                    <a:gd name="T54" fmla="*/ 256 w 286"/>
                    <a:gd name="T55" fmla="*/ 62 h 182"/>
                    <a:gd name="T56" fmla="*/ 250 w 286"/>
                    <a:gd name="T57" fmla="*/ 59 h 182"/>
                    <a:gd name="T58" fmla="*/ 248 w 286"/>
                    <a:gd name="T59" fmla="*/ 55 h 182"/>
                    <a:gd name="T60" fmla="*/ 236 w 286"/>
                    <a:gd name="T61" fmla="*/ 52 h 182"/>
                    <a:gd name="T62" fmla="*/ 240 w 286"/>
                    <a:gd name="T63" fmla="*/ 43 h 182"/>
                    <a:gd name="T64" fmla="*/ 220 w 286"/>
                    <a:gd name="T65" fmla="*/ 38 h 182"/>
                    <a:gd name="T66" fmla="*/ 210 w 286"/>
                    <a:gd name="T67" fmla="*/ 31 h 182"/>
                    <a:gd name="T68" fmla="*/ 190 w 286"/>
                    <a:gd name="T69" fmla="*/ 24 h 182"/>
                    <a:gd name="T70" fmla="*/ 168 w 286"/>
                    <a:gd name="T71" fmla="*/ 16 h 182"/>
                    <a:gd name="T72" fmla="*/ 156 w 286"/>
                    <a:gd name="T73" fmla="*/ 16 h 182"/>
                    <a:gd name="T74" fmla="*/ 120 w 286"/>
                    <a:gd name="T75" fmla="*/ 7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5 h 182"/>
                    <a:gd name="T82" fmla="*/ 56 w 286"/>
                    <a:gd name="T83" fmla="*/ 14 h 182"/>
                    <a:gd name="T84" fmla="*/ 46 w 286"/>
                    <a:gd name="T85" fmla="*/ 1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6 h 78"/>
                    <a:gd name="T2" fmla="*/ 27 w 78"/>
                    <a:gd name="T3" fmla="*/ 27 h 78"/>
                    <a:gd name="T4" fmla="*/ 45 w 78"/>
                    <a:gd name="T5" fmla="*/ 21 h 78"/>
                    <a:gd name="T6" fmla="*/ 57 w 78"/>
                    <a:gd name="T7" fmla="*/ 14 h 78"/>
                    <a:gd name="T8" fmla="*/ 43 w 78"/>
                    <a:gd name="T9" fmla="*/ 6 h 78"/>
                    <a:gd name="T10" fmla="*/ 43 w 78"/>
                    <a:gd name="T11" fmla="*/ 2 h 78"/>
                    <a:gd name="T12" fmla="*/ 71 w 78"/>
                    <a:gd name="T13" fmla="*/ 11 h 78"/>
                    <a:gd name="T14" fmla="*/ 67 w 78"/>
                    <a:gd name="T15" fmla="*/ 25 h 78"/>
                    <a:gd name="T16" fmla="*/ 33 w 78"/>
                    <a:gd name="T17" fmla="*/ 35 h 78"/>
                    <a:gd name="T18" fmla="*/ 9 w 78"/>
                    <a:gd name="T19" fmla="*/ 30 h 78"/>
                    <a:gd name="T20" fmla="*/ 3 w 78"/>
                    <a:gd name="T21" fmla="*/ 28 h 78"/>
                    <a:gd name="T22" fmla="*/ 1 w 78"/>
                    <a:gd name="T23" fmla="*/ 26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5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8 h 22"/>
                    <a:gd name="T2" fmla="*/ 14 w 26"/>
                    <a:gd name="T3" fmla="*/ 0 h 22"/>
                    <a:gd name="T4" fmla="*/ 14 w 26"/>
                    <a:gd name="T5" fmla="*/ 12 h 22"/>
                    <a:gd name="T6" fmla="*/ 8 w 26"/>
                    <a:gd name="T7" fmla="*/ 8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5 h 15"/>
                    <a:gd name="T2" fmla="*/ 13 w 20"/>
                    <a:gd name="T3" fmla="*/ 2 h 15"/>
                    <a:gd name="T4" fmla="*/ 9 w 20"/>
                    <a:gd name="T5" fmla="*/ 5 h 15"/>
                    <a:gd name="T6" fmla="*/ 7 w 20"/>
                    <a:gd name="T7" fmla="*/ 5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5 h 15"/>
                    <a:gd name="T2" fmla="*/ 11 w 20"/>
                    <a:gd name="T3" fmla="*/ 2 h 15"/>
                    <a:gd name="T4" fmla="*/ 11 w 20"/>
                    <a:gd name="T5" fmla="*/ 6 h 15"/>
                    <a:gd name="T6" fmla="*/ 7 w 20"/>
                    <a:gd name="T7" fmla="*/ 5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3 h 80"/>
                    <a:gd name="T2" fmla="*/ 14 w 80"/>
                    <a:gd name="T3" fmla="*/ 12 h 80"/>
                    <a:gd name="T4" fmla="*/ 26 w 80"/>
                    <a:gd name="T5" fmla="*/ 10 h 80"/>
                    <a:gd name="T6" fmla="*/ 48 w 80"/>
                    <a:gd name="T7" fmla="*/ 8 h 80"/>
                    <a:gd name="T8" fmla="*/ 58 w 80"/>
                    <a:gd name="T9" fmla="*/ 0 h 80"/>
                    <a:gd name="T10" fmla="*/ 80 w 80"/>
                    <a:gd name="T11" fmla="*/ 18 h 80"/>
                    <a:gd name="T12" fmla="*/ 70 w 80"/>
                    <a:gd name="T13" fmla="*/ 26 h 80"/>
                    <a:gd name="T14" fmla="*/ 54 w 80"/>
                    <a:gd name="T15" fmla="*/ 29 h 80"/>
                    <a:gd name="T16" fmla="*/ 48 w 80"/>
                    <a:gd name="T17" fmla="*/ 37 h 80"/>
                    <a:gd name="T18" fmla="*/ 32 w 80"/>
                    <a:gd name="T19" fmla="*/ 31 h 80"/>
                    <a:gd name="T20" fmla="*/ 38 w 80"/>
                    <a:gd name="T21" fmla="*/ 24 h 80"/>
                    <a:gd name="T22" fmla="*/ 30 w 80"/>
                    <a:gd name="T23" fmla="*/ 13 h 80"/>
                    <a:gd name="T24" fmla="*/ 20 w 80"/>
                    <a:gd name="T25" fmla="*/ 22 h 80"/>
                    <a:gd name="T26" fmla="*/ 8 w 80"/>
                    <a:gd name="T27" fmla="*/ 26 h 80"/>
                    <a:gd name="T28" fmla="*/ 0 w 80"/>
                    <a:gd name="T29" fmla="*/ 23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42 h 174"/>
                    <a:gd name="T2" fmla="*/ 26 w 94"/>
                    <a:gd name="T3" fmla="*/ 56 h 174"/>
                    <a:gd name="T4" fmla="*/ 32 w 94"/>
                    <a:gd name="T5" fmla="*/ 48 h 174"/>
                    <a:gd name="T6" fmla="*/ 52 w 94"/>
                    <a:gd name="T7" fmla="*/ 45 h 174"/>
                    <a:gd name="T8" fmla="*/ 46 w 94"/>
                    <a:gd name="T9" fmla="*/ 55 h 174"/>
                    <a:gd name="T10" fmla="*/ 66 w 94"/>
                    <a:gd name="T11" fmla="*/ 56 h 174"/>
                    <a:gd name="T12" fmla="*/ 76 w 94"/>
                    <a:gd name="T13" fmla="*/ 64 h 174"/>
                    <a:gd name="T14" fmla="*/ 58 w 94"/>
                    <a:gd name="T15" fmla="*/ 66 h 174"/>
                    <a:gd name="T16" fmla="*/ 74 w 94"/>
                    <a:gd name="T17" fmla="*/ 78 h 174"/>
                    <a:gd name="T18" fmla="*/ 84 w 94"/>
                    <a:gd name="T19" fmla="*/ 69 h 174"/>
                    <a:gd name="T20" fmla="*/ 82 w 94"/>
                    <a:gd name="T21" fmla="*/ 49 h 174"/>
                    <a:gd name="T22" fmla="*/ 60 w 94"/>
                    <a:gd name="T23" fmla="*/ 47 h 174"/>
                    <a:gd name="T24" fmla="*/ 50 w 94"/>
                    <a:gd name="T25" fmla="*/ 37 h 174"/>
                    <a:gd name="T26" fmla="*/ 34 w 94"/>
                    <a:gd name="T27" fmla="*/ 37 h 174"/>
                    <a:gd name="T28" fmla="*/ 30 w 94"/>
                    <a:gd name="T29" fmla="*/ 31 h 174"/>
                    <a:gd name="T30" fmla="*/ 42 w 94"/>
                    <a:gd name="T31" fmla="*/ 19 h 174"/>
                    <a:gd name="T32" fmla="*/ 30 w 94"/>
                    <a:gd name="T33" fmla="*/ 0 h 174"/>
                    <a:gd name="T34" fmla="*/ 18 w 94"/>
                    <a:gd name="T35" fmla="*/ 10 h 174"/>
                    <a:gd name="T36" fmla="*/ 4 w 94"/>
                    <a:gd name="T37" fmla="*/ 20 h 174"/>
                    <a:gd name="T38" fmla="*/ 14 w 94"/>
                    <a:gd name="T39" fmla="*/ 34 h 174"/>
                    <a:gd name="T40" fmla="*/ 14 w 94"/>
                    <a:gd name="T41" fmla="*/ 42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11 h 50"/>
                    <a:gd name="T2" fmla="*/ 12 w 32"/>
                    <a:gd name="T3" fmla="*/ 0 h 50"/>
                    <a:gd name="T4" fmla="*/ 20 w 32"/>
                    <a:gd name="T5" fmla="*/ 7 h 50"/>
                    <a:gd name="T6" fmla="*/ 22 w 32"/>
                    <a:gd name="T7" fmla="*/ 11 h 50"/>
                    <a:gd name="T8" fmla="*/ 28 w 32"/>
                    <a:gd name="T9" fmla="*/ 11 h 50"/>
                    <a:gd name="T10" fmla="*/ 32 w 32"/>
                    <a:gd name="T11" fmla="*/ 17 h 50"/>
                    <a:gd name="T12" fmla="*/ 18 w 32"/>
                    <a:gd name="T13" fmla="*/ 23 h 50"/>
                    <a:gd name="T14" fmla="*/ 6 w 32"/>
                    <a:gd name="T15" fmla="*/ 11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1 h 50"/>
                    <a:gd name="T2" fmla="*/ 26 w 43"/>
                    <a:gd name="T3" fmla="*/ 9 h 50"/>
                    <a:gd name="T4" fmla="*/ 44 w 43"/>
                    <a:gd name="T5" fmla="*/ 0 h 50"/>
                    <a:gd name="T6" fmla="*/ 28 w 43"/>
                    <a:gd name="T7" fmla="*/ 13 h 50"/>
                    <a:gd name="T8" fmla="*/ 2 w 43"/>
                    <a:gd name="T9" fmla="*/ 23 h 50"/>
                    <a:gd name="T10" fmla="*/ 0 w 43"/>
                    <a:gd name="T11" fmla="*/ 21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101 w 471"/>
                    <a:gd name="T1" fmla="*/ 1652 h 281"/>
                    <a:gd name="T2" fmla="*/ 119 w 471"/>
                    <a:gd name="T3" fmla="*/ 1478 h 281"/>
                    <a:gd name="T4" fmla="*/ 109 w 471"/>
                    <a:gd name="T5" fmla="*/ 1445 h 281"/>
                    <a:gd name="T6" fmla="*/ 80 w 471"/>
                    <a:gd name="T7" fmla="*/ 1288 h 281"/>
                    <a:gd name="T8" fmla="*/ 19 w 471"/>
                    <a:gd name="T9" fmla="*/ 1269 h 281"/>
                    <a:gd name="T10" fmla="*/ 0 w 471"/>
                    <a:gd name="T11" fmla="*/ 1127 h 281"/>
                    <a:gd name="T12" fmla="*/ 60 w 471"/>
                    <a:gd name="T13" fmla="*/ 1065 h 281"/>
                    <a:gd name="T14" fmla="*/ 28 w 471"/>
                    <a:gd name="T15" fmla="*/ 974 h 281"/>
                    <a:gd name="T16" fmla="*/ 9 w 471"/>
                    <a:gd name="T17" fmla="*/ 943 h 281"/>
                    <a:gd name="T18" fmla="*/ 140 w 471"/>
                    <a:gd name="T19" fmla="*/ 708 h 281"/>
                    <a:gd name="T20" fmla="*/ 214 w 471"/>
                    <a:gd name="T21" fmla="*/ 569 h 281"/>
                    <a:gd name="T22" fmla="*/ 208 w 471"/>
                    <a:gd name="T23" fmla="*/ 413 h 281"/>
                    <a:gd name="T24" fmla="*/ 119 w 471"/>
                    <a:gd name="T25" fmla="*/ 253 h 281"/>
                    <a:gd name="T26" fmla="*/ 100 w 471"/>
                    <a:gd name="T27" fmla="*/ 190 h 281"/>
                    <a:gd name="T28" fmla="*/ 128 w 471"/>
                    <a:gd name="T29" fmla="*/ 212 h 281"/>
                    <a:gd name="T30" fmla="*/ 235 w 471"/>
                    <a:gd name="T31" fmla="*/ 209 h 281"/>
                    <a:gd name="T32" fmla="*/ 313 w 471"/>
                    <a:gd name="T33" fmla="*/ 64 h 281"/>
                    <a:gd name="T34" fmla="*/ 403 w 471"/>
                    <a:gd name="T35" fmla="*/ 0 h 281"/>
                    <a:gd name="T36" fmla="*/ 432 w 471"/>
                    <a:gd name="T37" fmla="*/ 12 h 281"/>
                    <a:gd name="T38" fmla="*/ 452 w 471"/>
                    <a:gd name="T39" fmla="*/ 53 h 281"/>
                    <a:gd name="T40" fmla="*/ 481 w 471"/>
                    <a:gd name="T41" fmla="*/ 30 h 281"/>
                    <a:gd name="T42" fmla="*/ 540 w 471"/>
                    <a:gd name="T43" fmla="*/ 47 h 281"/>
                    <a:gd name="T44" fmla="*/ 569 w 471"/>
                    <a:gd name="T45" fmla="*/ 53 h 281"/>
                    <a:gd name="T46" fmla="*/ 694 w 471"/>
                    <a:gd name="T47" fmla="*/ 83 h 281"/>
                    <a:gd name="T48" fmla="*/ 762 w 471"/>
                    <a:gd name="T49" fmla="*/ 140 h 281"/>
                    <a:gd name="T50" fmla="*/ 822 w 471"/>
                    <a:gd name="T51" fmla="*/ 100 h 281"/>
                    <a:gd name="T52" fmla="*/ 847 w 471"/>
                    <a:gd name="T53" fmla="*/ 83 h 281"/>
                    <a:gd name="T54" fmla="*/ 957 w 471"/>
                    <a:gd name="T55" fmla="*/ 83 h 281"/>
                    <a:gd name="T56" fmla="*/ 1034 w 471"/>
                    <a:gd name="T57" fmla="*/ 190 h 281"/>
                    <a:gd name="T58" fmla="*/ 1134 w 471"/>
                    <a:gd name="T59" fmla="*/ 348 h 281"/>
                    <a:gd name="T60" fmla="*/ 1203 w 471"/>
                    <a:gd name="T61" fmla="*/ 413 h 281"/>
                    <a:gd name="T62" fmla="*/ 1261 w 471"/>
                    <a:gd name="T63" fmla="*/ 401 h 281"/>
                    <a:gd name="T64" fmla="*/ 1325 w 471"/>
                    <a:gd name="T65" fmla="*/ 382 h 281"/>
                    <a:gd name="T66" fmla="*/ 1424 w 471"/>
                    <a:gd name="T67" fmla="*/ 421 h 281"/>
                    <a:gd name="T68" fmla="*/ 1470 w 471"/>
                    <a:gd name="T69" fmla="*/ 477 h 281"/>
                    <a:gd name="T70" fmla="*/ 1511 w 471"/>
                    <a:gd name="T71" fmla="*/ 530 h 281"/>
                    <a:gd name="T72" fmla="*/ 1560 w 471"/>
                    <a:gd name="T73" fmla="*/ 656 h 281"/>
                    <a:gd name="T74" fmla="*/ 1579 w 471"/>
                    <a:gd name="T75" fmla="*/ 708 h 281"/>
                    <a:gd name="T76" fmla="*/ 1588 w 471"/>
                    <a:gd name="T77" fmla="*/ 739 h 281"/>
                    <a:gd name="T78" fmla="*/ 1520 w 471"/>
                    <a:gd name="T79" fmla="*/ 835 h 281"/>
                    <a:gd name="T80" fmla="*/ 1579 w 471"/>
                    <a:gd name="T81" fmla="*/ 834 h 281"/>
                    <a:gd name="T82" fmla="*/ 1679 w 471"/>
                    <a:gd name="T83" fmla="*/ 917 h 281"/>
                    <a:gd name="T84" fmla="*/ 1787 w 471"/>
                    <a:gd name="T85" fmla="*/ 927 h 281"/>
                    <a:gd name="T86" fmla="*/ 1865 w 471"/>
                    <a:gd name="T87" fmla="*/ 991 h 281"/>
                    <a:gd name="T88" fmla="*/ 1877 w 471"/>
                    <a:gd name="T89" fmla="*/ 1016 h 281"/>
                    <a:gd name="T90" fmla="*/ 1877 w 471"/>
                    <a:gd name="T91" fmla="*/ 1038 h 281"/>
                    <a:gd name="T92" fmla="*/ 1932 w 471"/>
                    <a:gd name="T93" fmla="*/ 1016 h 281"/>
                    <a:gd name="T94" fmla="*/ 1963 w 471"/>
                    <a:gd name="T95" fmla="*/ 1010 h 281"/>
                    <a:gd name="T96" fmla="*/ 2154 w 471"/>
                    <a:gd name="T97" fmla="*/ 1091 h 281"/>
                    <a:gd name="T98" fmla="*/ 2192 w 471"/>
                    <a:gd name="T99" fmla="*/ 1174 h 281"/>
                    <a:gd name="T100" fmla="*/ 2282 w 471"/>
                    <a:gd name="T101" fmla="*/ 1186 h 281"/>
                    <a:gd name="T102" fmla="*/ 2310 w 471"/>
                    <a:gd name="T103" fmla="*/ 1269 h 281"/>
                    <a:gd name="T104" fmla="*/ 2213 w 471"/>
                    <a:gd name="T105" fmla="*/ 1523 h 281"/>
                    <a:gd name="T106" fmla="*/ 2133 w 471"/>
                    <a:gd name="T107" fmla="*/ 1660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16 h 844"/>
                    <a:gd name="T4" fmla="*/ 550 w 984"/>
                    <a:gd name="T5" fmla="*/ 16 h 844"/>
                    <a:gd name="T6" fmla="*/ 578 w 984"/>
                    <a:gd name="T7" fmla="*/ 59 h 844"/>
                    <a:gd name="T8" fmla="*/ 586 w 984"/>
                    <a:gd name="T9" fmla="*/ 41 h 844"/>
                    <a:gd name="T10" fmla="*/ 606 w 984"/>
                    <a:gd name="T11" fmla="*/ 32 h 844"/>
                    <a:gd name="T12" fmla="*/ 642 w 984"/>
                    <a:gd name="T13" fmla="*/ 57 h 844"/>
                    <a:gd name="T14" fmla="*/ 682 w 984"/>
                    <a:gd name="T15" fmla="*/ 44 h 844"/>
                    <a:gd name="T16" fmla="*/ 706 w 984"/>
                    <a:gd name="T17" fmla="*/ 39 h 844"/>
                    <a:gd name="T18" fmla="*/ 762 w 984"/>
                    <a:gd name="T19" fmla="*/ 2 h 844"/>
                    <a:gd name="T20" fmla="*/ 798 w 984"/>
                    <a:gd name="T21" fmla="*/ 32 h 844"/>
                    <a:gd name="T22" fmla="*/ 798 w 984"/>
                    <a:gd name="T23" fmla="*/ 59 h 844"/>
                    <a:gd name="T24" fmla="*/ 790 w 984"/>
                    <a:gd name="T25" fmla="*/ 72 h 844"/>
                    <a:gd name="T26" fmla="*/ 766 w 984"/>
                    <a:gd name="T27" fmla="*/ 73 h 844"/>
                    <a:gd name="T28" fmla="*/ 762 w 984"/>
                    <a:gd name="T29" fmla="*/ 84 h 844"/>
                    <a:gd name="T30" fmla="*/ 802 w 984"/>
                    <a:gd name="T31" fmla="*/ 102 h 844"/>
                    <a:gd name="T32" fmla="*/ 786 w 984"/>
                    <a:gd name="T33" fmla="*/ 145 h 844"/>
                    <a:gd name="T34" fmla="*/ 830 w 984"/>
                    <a:gd name="T35" fmla="*/ 187 h 844"/>
                    <a:gd name="T36" fmla="*/ 854 w 984"/>
                    <a:gd name="T37" fmla="*/ 203 h 844"/>
                    <a:gd name="T38" fmla="*/ 830 w 984"/>
                    <a:gd name="T39" fmla="*/ 203 h 844"/>
                    <a:gd name="T40" fmla="*/ 746 w 984"/>
                    <a:gd name="T41" fmla="*/ 171 h 844"/>
                    <a:gd name="T42" fmla="*/ 678 w 984"/>
                    <a:gd name="T43" fmla="*/ 182 h 844"/>
                    <a:gd name="T44" fmla="*/ 590 w 984"/>
                    <a:gd name="T45" fmla="*/ 200 h 844"/>
                    <a:gd name="T46" fmla="*/ 642 w 984"/>
                    <a:gd name="T47" fmla="*/ 262 h 844"/>
                    <a:gd name="T48" fmla="*/ 710 w 984"/>
                    <a:gd name="T49" fmla="*/ 275 h 844"/>
                    <a:gd name="T50" fmla="*/ 738 w 984"/>
                    <a:gd name="T51" fmla="*/ 248 h 844"/>
                    <a:gd name="T52" fmla="*/ 774 w 984"/>
                    <a:gd name="T53" fmla="*/ 257 h 844"/>
                    <a:gd name="T54" fmla="*/ 766 w 984"/>
                    <a:gd name="T55" fmla="*/ 285 h 844"/>
                    <a:gd name="T56" fmla="*/ 802 w 984"/>
                    <a:gd name="T57" fmla="*/ 303 h 844"/>
                    <a:gd name="T58" fmla="*/ 838 w 984"/>
                    <a:gd name="T59" fmla="*/ 297 h 844"/>
                    <a:gd name="T60" fmla="*/ 922 w 984"/>
                    <a:gd name="T61" fmla="*/ 364 h 844"/>
                    <a:gd name="T62" fmla="*/ 942 w 984"/>
                    <a:gd name="T63" fmla="*/ 373 h 844"/>
                    <a:gd name="T64" fmla="*/ 874 w 984"/>
                    <a:gd name="T65" fmla="*/ 366 h 844"/>
                    <a:gd name="T66" fmla="*/ 830 w 984"/>
                    <a:gd name="T67" fmla="*/ 342 h 844"/>
                    <a:gd name="T68" fmla="*/ 778 w 984"/>
                    <a:gd name="T69" fmla="*/ 321 h 844"/>
                    <a:gd name="T70" fmla="*/ 702 w 984"/>
                    <a:gd name="T71" fmla="*/ 299 h 844"/>
                    <a:gd name="T72" fmla="*/ 614 w 984"/>
                    <a:gd name="T73" fmla="*/ 293 h 844"/>
                    <a:gd name="T74" fmla="*/ 506 w 984"/>
                    <a:gd name="T75" fmla="*/ 268 h 844"/>
                    <a:gd name="T76" fmla="*/ 462 w 984"/>
                    <a:gd name="T77" fmla="*/ 229 h 844"/>
                    <a:gd name="T78" fmla="*/ 430 w 984"/>
                    <a:gd name="T79" fmla="*/ 209 h 844"/>
                    <a:gd name="T80" fmla="*/ 382 w 984"/>
                    <a:gd name="T81" fmla="*/ 194 h 844"/>
                    <a:gd name="T82" fmla="*/ 342 w 984"/>
                    <a:gd name="T83" fmla="*/ 166 h 844"/>
                    <a:gd name="T84" fmla="*/ 354 w 984"/>
                    <a:gd name="T85" fmla="*/ 187 h 844"/>
                    <a:gd name="T86" fmla="*/ 418 w 984"/>
                    <a:gd name="T87" fmla="*/ 223 h 844"/>
                    <a:gd name="T88" fmla="*/ 422 w 984"/>
                    <a:gd name="T89" fmla="*/ 237 h 844"/>
                    <a:gd name="T90" fmla="*/ 394 w 984"/>
                    <a:gd name="T91" fmla="*/ 225 h 844"/>
                    <a:gd name="T92" fmla="*/ 354 w 984"/>
                    <a:gd name="T93" fmla="*/ 211 h 844"/>
                    <a:gd name="T94" fmla="*/ 314 w 984"/>
                    <a:gd name="T95" fmla="*/ 182 h 844"/>
                    <a:gd name="T96" fmla="*/ 266 w 984"/>
                    <a:gd name="T97" fmla="*/ 157 h 844"/>
                    <a:gd name="T98" fmla="*/ 210 w 984"/>
                    <a:gd name="T99" fmla="*/ 142 h 844"/>
                    <a:gd name="T100" fmla="*/ 154 w 984"/>
                    <a:gd name="T101" fmla="*/ 107 h 844"/>
                    <a:gd name="T102" fmla="*/ 66 w 984"/>
                    <a:gd name="T103" fmla="*/ 30 h 844"/>
                    <a:gd name="T104" fmla="*/ 34 w 984"/>
                    <a:gd name="T105" fmla="*/ 16 h 844"/>
                    <a:gd name="T106" fmla="*/ 46 w 984"/>
                    <a:gd name="T107" fmla="*/ 10 h 844"/>
                    <a:gd name="T108" fmla="*/ 102 w 984"/>
                    <a:gd name="T109" fmla="*/ 32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12 h 48"/>
                    <a:gd name="T2" fmla="*/ 10 w 36"/>
                    <a:gd name="T3" fmla="*/ 21 h 48"/>
                    <a:gd name="T4" fmla="*/ 6 w 36"/>
                    <a:gd name="T5" fmla="*/ 1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16 w 36"/>
                    <a:gd name="T3" fmla="*/ 1 h 37"/>
                    <a:gd name="T4" fmla="*/ 44 w 36"/>
                    <a:gd name="T5" fmla="*/ 6 h 37"/>
                    <a:gd name="T6" fmla="*/ 8 w 36"/>
                    <a:gd name="T7" fmla="*/ 6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25 h 96"/>
                    <a:gd name="T2" fmla="*/ 28 w 170"/>
                    <a:gd name="T3" fmla="*/ 13 h 96"/>
                    <a:gd name="T4" fmla="*/ 56 w 170"/>
                    <a:gd name="T5" fmla="*/ 11 h 96"/>
                    <a:gd name="T6" fmla="*/ 80 w 170"/>
                    <a:gd name="T7" fmla="*/ 5 h 96"/>
                    <a:gd name="T8" fmla="*/ 64 w 170"/>
                    <a:gd name="T9" fmla="*/ 13 h 96"/>
                    <a:gd name="T10" fmla="*/ 128 w 170"/>
                    <a:gd name="T11" fmla="*/ 25 h 96"/>
                    <a:gd name="T12" fmla="*/ 164 w 170"/>
                    <a:gd name="T13" fmla="*/ 33 h 96"/>
                    <a:gd name="T14" fmla="*/ 120 w 170"/>
                    <a:gd name="T15" fmla="*/ 39 h 96"/>
                    <a:gd name="T16" fmla="*/ 92 w 170"/>
                    <a:gd name="T17" fmla="*/ 30 h 96"/>
                    <a:gd name="T18" fmla="*/ 76 w 170"/>
                    <a:gd name="T19" fmla="*/ 27 h 96"/>
                    <a:gd name="T20" fmla="*/ 24 w 170"/>
                    <a:gd name="T21" fmla="*/ 21 h 96"/>
                    <a:gd name="T22" fmla="*/ 0 w 170"/>
                    <a:gd name="T23" fmla="*/ 25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12 h 44"/>
                    <a:gd name="T6" fmla="*/ 112 w 138"/>
                    <a:gd name="T7" fmla="*/ 10 h 44"/>
                    <a:gd name="T8" fmla="*/ 108 w 138"/>
                    <a:gd name="T9" fmla="*/ 22 h 44"/>
                    <a:gd name="T10" fmla="*/ 64 w 138"/>
                    <a:gd name="T11" fmla="*/ 20 h 44"/>
                    <a:gd name="T12" fmla="*/ 0 w 138"/>
                    <a:gd name="T13" fmla="*/ 18 h 44"/>
                    <a:gd name="T14" fmla="*/ 28 w 138"/>
                    <a:gd name="T15" fmla="*/ 1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11 h 42"/>
                    <a:gd name="T2" fmla="*/ 33 w 57"/>
                    <a:gd name="T3" fmla="*/ 6 h 42"/>
                    <a:gd name="T4" fmla="*/ 17 w 57"/>
                    <a:gd name="T5" fmla="*/ 11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5 w 39"/>
                    <a:gd name="T1" fmla="*/ 16 h 52"/>
                    <a:gd name="T2" fmla="*/ 15 w 39"/>
                    <a:gd name="T3" fmla="*/ 0 h 52"/>
                    <a:gd name="T4" fmla="*/ 15 w 39"/>
                    <a:gd name="T5" fmla="*/ 16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4 h 80"/>
                    <a:gd name="T2" fmla="*/ 20 w 44"/>
                    <a:gd name="T3" fmla="*/ 15 h 80"/>
                    <a:gd name="T4" fmla="*/ 28 w 44"/>
                    <a:gd name="T5" fmla="*/ 22 h 80"/>
                    <a:gd name="T6" fmla="*/ 40 w 44"/>
                    <a:gd name="T7" fmla="*/ 25 h 80"/>
                    <a:gd name="T8" fmla="*/ 28 w 44"/>
                    <a:gd name="T9" fmla="*/ 34 h 80"/>
                    <a:gd name="T10" fmla="*/ 0 w 44"/>
                    <a:gd name="T11" fmla="*/ 10 h 80"/>
                    <a:gd name="T12" fmla="*/ 4 w 44"/>
                    <a:gd name="T13" fmla="*/ 4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1073 w 323"/>
                    <a:gd name="T1" fmla="*/ 8 h 64"/>
                    <a:gd name="T2" fmla="*/ 1126 w 323"/>
                    <a:gd name="T3" fmla="*/ 48 h 64"/>
                    <a:gd name="T4" fmla="*/ 1146 w 323"/>
                    <a:gd name="T5" fmla="*/ 0 h 64"/>
                    <a:gd name="T6" fmla="*/ 1294 w 323"/>
                    <a:gd name="T7" fmla="*/ 0 h 64"/>
                    <a:gd name="T8" fmla="*/ 1403 w 323"/>
                    <a:gd name="T9" fmla="*/ 103 h 64"/>
                    <a:gd name="T10" fmla="*/ 1554 w 323"/>
                    <a:gd name="T11" fmla="*/ 61 h 64"/>
                    <a:gd name="T12" fmla="*/ 1532 w 323"/>
                    <a:gd name="T13" fmla="*/ 170 h 64"/>
                    <a:gd name="T14" fmla="*/ 1453 w 323"/>
                    <a:gd name="T15" fmla="*/ 277 h 64"/>
                    <a:gd name="T16" fmla="*/ 1437 w 323"/>
                    <a:gd name="T17" fmla="*/ 170 h 64"/>
                    <a:gd name="T18" fmla="*/ 1403 w 323"/>
                    <a:gd name="T19" fmla="*/ 183 h 64"/>
                    <a:gd name="T20" fmla="*/ 1363 w 323"/>
                    <a:gd name="T21" fmla="*/ 170 h 64"/>
                    <a:gd name="T22" fmla="*/ 1282 w 323"/>
                    <a:gd name="T23" fmla="*/ 127 h 64"/>
                    <a:gd name="T24" fmla="*/ 1113 w 323"/>
                    <a:gd name="T25" fmla="*/ 225 h 64"/>
                    <a:gd name="T26" fmla="*/ 981 w 323"/>
                    <a:gd name="T27" fmla="*/ 264 h 64"/>
                    <a:gd name="T28" fmla="*/ 1033 w 323"/>
                    <a:gd name="T29" fmla="*/ 339 h 64"/>
                    <a:gd name="T30" fmla="*/ 917 w 323"/>
                    <a:gd name="T31" fmla="*/ 373 h 64"/>
                    <a:gd name="T32" fmla="*/ 823 w 323"/>
                    <a:gd name="T33" fmla="*/ 361 h 64"/>
                    <a:gd name="T34" fmla="*/ 863 w 323"/>
                    <a:gd name="T35" fmla="*/ 339 h 64"/>
                    <a:gd name="T36" fmla="*/ 832 w 323"/>
                    <a:gd name="T37" fmla="*/ 239 h 64"/>
                    <a:gd name="T38" fmla="*/ 823 w 323"/>
                    <a:gd name="T39" fmla="*/ 183 h 64"/>
                    <a:gd name="T40" fmla="*/ 771 w 323"/>
                    <a:gd name="T41" fmla="*/ 138 h 64"/>
                    <a:gd name="T42" fmla="*/ 694 w 323"/>
                    <a:gd name="T43" fmla="*/ 161 h 64"/>
                    <a:gd name="T44" fmla="*/ 654 w 323"/>
                    <a:gd name="T45" fmla="*/ 161 h 64"/>
                    <a:gd name="T46" fmla="*/ 600 w 323"/>
                    <a:gd name="T47" fmla="*/ 148 h 64"/>
                    <a:gd name="T48" fmla="*/ 404 w 323"/>
                    <a:gd name="T49" fmla="*/ 13 h 64"/>
                    <a:gd name="T50" fmla="*/ 290 w 323"/>
                    <a:gd name="T51" fmla="*/ 83 h 64"/>
                    <a:gd name="T52" fmla="*/ 1 w 323"/>
                    <a:gd name="T53" fmla="*/ 0 h 64"/>
                    <a:gd name="T54" fmla="*/ 1073 w 323"/>
                    <a:gd name="T55" fmla="*/ 8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513 w 300"/>
                    <a:gd name="T1" fmla="*/ 193 h 31"/>
                    <a:gd name="T2" fmla="*/ 149 w 300"/>
                    <a:gd name="T3" fmla="*/ 8 h 31"/>
                    <a:gd name="T4" fmla="*/ 1393 w 300"/>
                    <a:gd name="T5" fmla="*/ 0 h 31"/>
                    <a:gd name="T6" fmla="*/ 1445 w 300"/>
                    <a:gd name="T7" fmla="*/ 87 h 31"/>
                    <a:gd name="T8" fmla="*/ 1289 w 300"/>
                    <a:gd name="T9" fmla="*/ 100 h 31"/>
                    <a:gd name="T10" fmla="*/ 513 w 300"/>
                    <a:gd name="T11" fmla="*/ 193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14 h 29"/>
                    <a:gd name="T2" fmla="*/ 12 w 41"/>
                    <a:gd name="T3" fmla="*/ 16 h 29"/>
                    <a:gd name="T4" fmla="*/ 0 w 41"/>
                    <a:gd name="T5" fmla="*/ 14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203 w 436"/>
                    <a:gd name="T1" fmla="*/ 29 h 152"/>
                    <a:gd name="T2" fmla="*/ 13164 w 436"/>
                    <a:gd name="T3" fmla="*/ 0 h 152"/>
                    <a:gd name="T4" fmla="*/ 12555 w 436"/>
                    <a:gd name="T5" fmla="*/ 1936 h 152"/>
                    <a:gd name="T6" fmla="*/ 11990 w 436"/>
                    <a:gd name="T7" fmla="*/ 2433 h 152"/>
                    <a:gd name="T8" fmla="*/ 11835 w 436"/>
                    <a:gd name="T9" fmla="*/ 2509 h 152"/>
                    <a:gd name="T10" fmla="*/ 11319 w 436"/>
                    <a:gd name="T11" fmla="*/ 2624 h 152"/>
                    <a:gd name="T12" fmla="*/ 10895 w 436"/>
                    <a:gd name="T13" fmla="*/ 3150 h 152"/>
                    <a:gd name="T14" fmla="*/ 10935 w 436"/>
                    <a:gd name="T15" fmla="*/ 3546 h 152"/>
                    <a:gd name="T16" fmla="*/ 10984 w 436"/>
                    <a:gd name="T17" fmla="*/ 3840 h 152"/>
                    <a:gd name="T18" fmla="*/ 11050 w 436"/>
                    <a:gd name="T19" fmla="*/ 4060 h 152"/>
                    <a:gd name="T20" fmla="*/ 10935 w 436"/>
                    <a:gd name="T21" fmla="*/ 4383 h 152"/>
                    <a:gd name="T22" fmla="*/ 10600 w 436"/>
                    <a:gd name="T23" fmla="*/ 4312 h 152"/>
                    <a:gd name="T24" fmla="*/ 10330 w 436"/>
                    <a:gd name="T25" fmla="*/ 4630 h 152"/>
                    <a:gd name="T26" fmla="*/ 10473 w 436"/>
                    <a:gd name="T27" fmla="*/ 3766 h 152"/>
                    <a:gd name="T28" fmla="*/ 10199 w 436"/>
                    <a:gd name="T29" fmla="*/ 3593 h 152"/>
                    <a:gd name="T30" fmla="*/ 10379 w 436"/>
                    <a:gd name="T31" fmla="*/ 3343 h 152"/>
                    <a:gd name="T32" fmla="*/ 10330 w 436"/>
                    <a:gd name="T33" fmla="*/ 3199 h 152"/>
                    <a:gd name="T34" fmla="*/ 9660 w 436"/>
                    <a:gd name="T35" fmla="*/ 3372 h 152"/>
                    <a:gd name="T36" fmla="*/ 9571 w 436"/>
                    <a:gd name="T37" fmla="*/ 3049 h 152"/>
                    <a:gd name="T38" fmla="*/ 8961 w 436"/>
                    <a:gd name="T39" fmla="*/ 3372 h 152"/>
                    <a:gd name="T40" fmla="*/ 9660 w 436"/>
                    <a:gd name="T41" fmla="*/ 3696 h 152"/>
                    <a:gd name="T42" fmla="*/ 9210 w 436"/>
                    <a:gd name="T43" fmla="*/ 4192 h 152"/>
                    <a:gd name="T44" fmla="*/ 9390 w 436"/>
                    <a:gd name="T45" fmla="*/ 4515 h 152"/>
                    <a:gd name="T46" fmla="*/ 9505 w 436"/>
                    <a:gd name="T47" fmla="*/ 4953 h 152"/>
                    <a:gd name="T48" fmla="*/ 9325 w 436"/>
                    <a:gd name="T49" fmla="*/ 4983 h 152"/>
                    <a:gd name="T50" fmla="*/ 9477 w 436"/>
                    <a:gd name="T51" fmla="*/ 5157 h 152"/>
                    <a:gd name="T52" fmla="*/ 9275 w 436"/>
                    <a:gd name="T53" fmla="*/ 5450 h 152"/>
                    <a:gd name="T54" fmla="*/ 0 w 436"/>
                    <a:gd name="T55" fmla="*/ 5350 h 152"/>
                    <a:gd name="T56" fmla="*/ 2203 w 436"/>
                    <a:gd name="T57" fmla="*/ 29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8 h 165"/>
                    <a:gd name="T2" fmla="*/ 15 w 47"/>
                    <a:gd name="T3" fmla="*/ 47 h 165"/>
                    <a:gd name="T4" fmla="*/ 17 w 47"/>
                    <a:gd name="T5" fmla="*/ 30 h 165"/>
                    <a:gd name="T6" fmla="*/ 11 w 47"/>
                    <a:gd name="T7" fmla="*/ 17 h 165"/>
                    <a:gd name="T8" fmla="*/ 17 w 47"/>
                    <a:gd name="T9" fmla="*/ 5 h 165"/>
                    <a:gd name="T10" fmla="*/ 21 w 47"/>
                    <a:gd name="T11" fmla="*/ 0 h 165"/>
                    <a:gd name="T12" fmla="*/ 31 w 47"/>
                    <a:gd name="T13" fmla="*/ 12 h 165"/>
                    <a:gd name="T14" fmla="*/ 47 w 47"/>
                    <a:gd name="T15" fmla="*/ 43 h 165"/>
                    <a:gd name="T16" fmla="*/ 31 w 47"/>
                    <a:gd name="T17" fmla="*/ 47 h 165"/>
                    <a:gd name="T18" fmla="*/ 23 w 47"/>
                    <a:gd name="T19" fmla="*/ 54 h 165"/>
                    <a:gd name="T20" fmla="*/ 21 w 47"/>
                    <a:gd name="T21" fmla="*/ 58 h 165"/>
                    <a:gd name="T22" fmla="*/ 27 w 47"/>
                    <a:gd name="T23" fmla="*/ 58 h 165"/>
                    <a:gd name="T24" fmla="*/ 31 w 47"/>
                    <a:gd name="T25" fmla="*/ 64 h 165"/>
                    <a:gd name="T26" fmla="*/ 13 w 47"/>
                    <a:gd name="T27" fmla="*/ 64 h 165"/>
                    <a:gd name="T28" fmla="*/ 7 w 47"/>
                    <a:gd name="T29" fmla="*/ 70 h 165"/>
                    <a:gd name="T30" fmla="*/ 3 w 47"/>
                    <a:gd name="T31" fmla="*/ 67 h 165"/>
                    <a:gd name="T32" fmla="*/ 5 w 47"/>
                    <a:gd name="T33" fmla="*/ 68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27 h 103"/>
                    <a:gd name="T2" fmla="*/ 30 w 138"/>
                    <a:gd name="T3" fmla="*/ 20 h 103"/>
                    <a:gd name="T4" fmla="*/ 50 w 138"/>
                    <a:gd name="T5" fmla="*/ 15 h 103"/>
                    <a:gd name="T6" fmla="*/ 54 w 138"/>
                    <a:gd name="T7" fmla="*/ 20 h 103"/>
                    <a:gd name="T8" fmla="*/ 66 w 138"/>
                    <a:gd name="T9" fmla="*/ 22 h 103"/>
                    <a:gd name="T10" fmla="*/ 80 w 138"/>
                    <a:gd name="T11" fmla="*/ 24 h 103"/>
                    <a:gd name="T12" fmla="*/ 116 w 138"/>
                    <a:gd name="T13" fmla="*/ 15 h 103"/>
                    <a:gd name="T14" fmla="*/ 130 w 138"/>
                    <a:gd name="T15" fmla="*/ 7 h 103"/>
                    <a:gd name="T16" fmla="*/ 138 w 138"/>
                    <a:gd name="T17" fmla="*/ 5 h 103"/>
                    <a:gd name="T18" fmla="*/ 106 w 138"/>
                    <a:gd name="T19" fmla="*/ 22 h 103"/>
                    <a:gd name="T20" fmla="*/ 84 w 138"/>
                    <a:gd name="T21" fmla="*/ 30 h 103"/>
                    <a:gd name="T22" fmla="*/ 66 w 138"/>
                    <a:gd name="T23" fmla="*/ 36 h 103"/>
                    <a:gd name="T24" fmla="*/ 48 w 138"/>
                    <a:gd name="T25" fmla="*/ 46 h 103"/>
                    <a:gd name="T26" fmla="*/ 26 w 138"/>
                    <a:gd name="T27" fmla="*/ 40 h 103"/>
                    <a:gd name="T28" fmla="*/ 20 w 138"/>
                    <a:gd name="T29" fmla="*/ 38 h 103"/>
                    <a:gd name="T30" fmla="*/ 22 w 138"/>
                    <a:gd name="T31" fmla="*/ 42 h 103"/>
                    <a:gd name="T32" fmla="*/ 0 w 138"/>
                    <a:gd name="T33" fmla="*/ 42 h 103"/>
                    <a:gd name="T34" fmla="*/ 10 w 138"/>
                    <a:gd name="T35" fmla="*/ 34 h 103"/>
                    <a:gd name="T36" fmla="*/ 26 w 138"/>
                    <a:gd name="T37" fmla="*/ 27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4 w 188"/>
                    <a:gd name="T1" fmla="*/ 11 h 214"/>
                    <a:gd name="T2" fmla="*/ 156 w 188"/>
                    <a:gd name="T3" fmla="*/ 2 h 214"/>
                    <a:gd name="T4" fmla="*/ 166 w 188"/>
                    <a:gd name="T5" fmla="*/ 0 h 214"/>
                    <a:gd name="T6" fmla="*/ 178 w 188"/>
                    <a:gd name="T7" fmla="*/ 11 h 214"/>
                    <a:gd name="T8" fmla="*/ 184 w 188"/>
                    <a:gd name="T9" fmla="*/ 20 h 214"/>
                    <a:gd name="T10" fmla="*/ 174 w 188"/>
                    <a:gd name="T11" fmla="*/ 26 h 214"/>
                    <a:gd name="T12" fmla="*/ 166 w 188"/>
                    <a:gd name="T13" fmla="*/ 35 h 214"/>
                    <a:gd name="T14" fmla="*/ 158 w 188"/>
                    <a:gd name="T15" fmla="*/ 58 h 214"/>
                    <a:gd name="T16" fmla="*/ 140 w 188"/>
                    <a:gd name="T17" fmla="*/ 63 h 214"/>
                    <a:gd name="T18" fmla="*/ 116 w 188"/>
                    <a:gd name="T19" fmla="*/ 63 h 214"/>
                    <a:gd name="T20" fmla="*/ 108 w 188"/>
                    <a:gd name="T21" fmla="*/ 57 h 214"/>
                    <a:gd name="T22" fmla="*/ 98 w 188"/>
                    <a:gd name="T23" fmla="*/ 67 h 214"/>
                    <a:gd name="T24" fmla="*/ 90 w 188"/>
                    <a:gd name="T25" fmla="*/ 68 h 214"/>
                    <a:gd name="T26" fmla="*/ 80 w 188"/>
                    <a:gd name="T27" fmla="*/ 61 h 214"/>
                    <a:gd name="T28" fmla="*/ 58 w 188"/>
                    <a:gd name="T29" fmla="*/ 66 h 214"/>
                    <a:gd name="T30" fmla="*/ 76 w 188"/>
                    <a:gd name="T31" fmla="*/ 65 h 214"/>
                    <a:gd name="T32" fmla="*/ 78 w 188"/>
                    <a:gd name="T33" fmla="*/ 74 h 214"/>
                    <a:gd name="T34" fmla="*/ 58 w 188"/>
                    <a:gd name="T35" fmla="*/ 76 h 214"/>
                    <a:gd name="T36" fmla="*/ 34 w 188"/>
                    <a:gd name="T37" fmla="*/ 76 h 214"/>
                    <a:gd name="T38" fmla="*/ 36 w 188"/>
                    <a:gd name="T39" fmla="*/ 71 h 214"/>
                    <a:gd name="T40" fmla="*/ 46 w 188"/>
                    <a:gd name="T41" fmla="*/ 66 h 214"/>
                    <a:gd name="T42" fmla="*/ 34 w 188"/>
                    <a:gd name="T43" fmla="*/ 67 h 214"/>
                    <a:gd name="T44" fmla="*/ 26 w 188"/>
                    <a:gd name="T45" fmla="*/ 76 h 214"/>
                    <a:gd name="T46" fmla="*/ 30 w 188"/>
                    <a:gd name="T47" fmla="*/ 86 h 214"/>
                    <a:gd name="T48" fmla="*/ 14 w 188"/>
                    <a:gd name="T49" fmla="*/ 91 h 214"/>
                    <a:gd name="T50" fmla="*/ 0 w 188"/>
                    <a:gd name="T51" fmla="*/ 98 h 214"/>
                    <a:gd name="T52" fmla="*/ 8 w 188"/>
                    <a:gd name="T53" fmla="*/ 86 h 214"/>
                    <a:gd name="T54" fmla="*/ 0 w 188"/>
                    <a:gd name="T55" fmla="*/ 75 h 214"/>
                    <a:gd name="T56" fmla="*/ 14 w 188"/>
                    <a:gd name="T57" fmla="*/ 70 h 214"/>
                    <a:gd name="T58" fmla="*/ 32 w 188"/>
                    <a:gd name="T59" fmla="*/ 61 h 214"/>
                    <a:gd name="T60" fmla="*/ 44 w 188"/>
                    <a:gd name="T61" fmla="*/ 54 h 214"/>
                    <a:gd name="T62" fmla="*/ 72 w 188"/>
                    <a:gd name="T63" fmla="*/ 53 h 214"/>
                    <a:gd name="T64" fmla="*/ 84 w 188"/>
                    <a:gd name="T65" fmla="*/ 52 h 214"/>
                    <a:gd name="T66" fmla="*/ 110 w 188"/>
                    <a:gd name="T67" fmla="*/ 36 h 214"/>
                    <a:gd name="T68" fmla="*/ 116 w 188"/>
                    <a:gd name="T69" fmla="*/ 43 h 214"/>
                    <a:gd name="T70" fmla="*/ 128 w 188"/>
                    <a:gd name="T71" fmla="*/ 35 h 214"/>
                    <a:gd name="T72" fmla="*/ 146 w 188"/>
                    <a:gd name="T73" fmla="*/ 25 h 214"/>
                    <a:gd name="T74" fmla="*/ 150 w 188"/>
                    <a:gd name="T75" fmla="*/ 20 h 214"/>
                    <a:gd name="T76" fmla="*/ 144 w 188"/>
                    <a:gd name="T77" fmla="*/ 17 h 214"/>
                    <a:gd name="T78" fmla="*/ 148 w 188"/>
                    <a:gd name="T79" fmla="*/ 14 h 214"/>
                    <a:gd name="T80" fmla="*/ 154 w 188"/>
                    <a:gd name="T81" fmla="*/ 11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3 h 13"/>
                    <a:gd name="T2" fmla="*/ 4 w 13"/>
                    <a:gd name="T3" fmla="*/ 5 h 13"/>
                    <a:gd name="T4" fmla="*/ 0 w 13"/>
                    <a:gd name="T5" fmla="*/ 3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6 w 812"/>
                    <a:gd name="T1" fmla="*/ 11 h 564"/>
                    <a:gd name="T2" fmla="*/ 782 w 812"/>
                    <a:gd name="T3" fmla="*/ 35 h 564"/>
                    <a:gd name="T4" fmla="*/ 752 w 812"/>
                    <a:gd name="T5" fmla="*/ 55 h 564"/>
                    <a:gd name="T6" fmla="*/ 726 w 812"/>
                    <a:gd name="T7" fmla="*/ 64 h 564"/>
                    <a:gd name="T8" fmla="*/ 638 w 812"/>
                    <a:gd name="T9" fmla="*/ 80 h 564"/>
                    <a:gd name="T10" fmla="*/ 636 w 812"/>
                    <a:gd name="T11" fmla="*/ 95 h 564"/>
                    <a:gd name="T12" fmla="*/ 608 w 812"/>
                    <a:gd name="T13" fmla="*/ 103 h 564"/>
                    <a:gd name="T14" fmla="*/ 624 w 812"/>
                    <a:gd name="T15" fmla="*/ 80 h 564"/>
                    <a:gd name="T16" fmla="*/ 580 w 812"/>
                    <a:gd name="T17" fmla="*/ 84 h 564"/>
                    <a:gd name="T18" fmla="*/ 560 w 812"/>
                    <a:gd name="T19" fmla="*/ 98 h 564"/>
                    <a:gd name="T20" fmla="*/ 600 w 812"/>
                    <a:gd name="T21" fmla="*/ 126 h 564"/>
                    <a:gd name="T22" fmla="*/ 598 w 812"/>
                    <a:gd name="T23" fmla="*/ 165 h 564"/>
                    <a:gd name="T24" fmla="*/ 546 w 812"/>
                    <a:gd name="T25" fmla="*/ 183 h 564"/>
                    <a:gd name="T26" fmla="*/ 526 w 812"/>
                    <a:gd name="T27" fmla="*/ 174 h 564"/>
                    <a:gd name="T28" fmla="*/ 486 w 812"/>
                    <a:gd name="T29" fmla="*/ 156 h 564"/>
                    <a:gd name="T30" fmla="*/ 466 w 812"/>
                    <a:gd name="T31" fmla="*/ 156 h 564"/>
                    <a:gd name="T32" fmla="*/ 454 w 812"/>
                    <a:gd name="T33" fmla="*/ 178 h 564"/>
                    <a:gd name="T34" fmla="*/ 504 w 812"/>
                    <a:gd name="T35" fmla="*/ 209 h 564"/>
                    <a:gd name="T36" fmla="*/ 514 w 812"/>
                    <a:gd name="T37" fmla="*/ 236 h 564"/>
                    <a:gd name="T38" fmla="*/ 530 w 812"/>
                    <a:gd name="T39" fmla="*/ 252 h 564"/>
                    <a:gd name="T40" fmla="*/ 496 w 812"/>
                    <a:gd name="T41" fmla="*/ 245 h 564"/>
                    <a:gd name="T42" fmla="*/ 474 w 812"/>
                    <a:gd name="T43" fmla="*/ 233 h 564"/>
                    <a:gd name="T44" fmla="*/ 426 w 812"/>
                    <a:gd name="T45" fmla="*/ 191 h 564"/>
                    <a:gd name="T46" fmla="*/ 430 w 812"/>
                    <a:gd name="T47" fmla="*/ 139 h 564"/>
                    <a:gd name="T48" fmla="*/ 426 w 812"/>
                    <a:gd name="T49" fmla="*/ 120 h 564"/>
                    <a:gd name="T50" fmla="*/ 416 w 812"/>
                    <a:gd name="T51" fmla="*/ 125 h 564"/>
                    <a:gd name="T52" fmla="*/ 386 w 812"/>
                    <a:gd name="T53" fmla="*/ 120 h 564"/>
                    <a:gd name="T54" fmla="*/ 360 w 812"/>
                    <a:gd name="T55" fmla="*/ 76 h 564"/>
                    <a:gd name="T56" fmla="*/ 330 w 812"/>
                    <a:gd name="T57" fmla="*/ 75 h 564"/>
                    <a:gd name="T58" fmla="*/ 288 w 812"/>
                    <a:gd name="T59" fmla="*/ 78 h 564"/>
                    <a:gd name="T60" fmla="*/ 242 w 812"/>
                    <a:gd name="T61" fmla="*/ 105 h 564"/>
                    <a:gd name="T62" fmla="*/ 196 w 812"/>
                    <a:gd name="T63" fmla="*/ 120 h 564"/>
                    <a:gd name="T64" fmla="*/ 184 w 812"/>
                    <a:gd name="T65" fmla="*/ 123 h 564"/>
                    <a:gd name="T66" fmla="*/ 160 w 812"/>
                    <a:gd name="T67" fmla="*/ 147 h 564"/>
                    <a:gd name="T68" fmla="*/ 152 w 812"/>
                    <a:gd name="T69" fmla="*/ 160 h 564"/>
                    <a:gd name="T70" fmla="*/ 128 w 812"/>
                    <a:gd name="T71" fmla="*/ 182 h 564"/>
                    <a:gd name="T72" fmla="*/ 94 w 812"/>
                    <a:gd name="T73" fmla="*/ 176 h 564"/>
                    <a:gd name="T74" fmla="*/ 66 w 812"/>
                    <a:gd name="T75" fmla="*/ 116 h 564"/>
                    <a:gd name="T76" fmla="*/ 72 w 812"/>
                    <a:gd name="T77" fmla="*/ 70 h 564"/>
                    <a:gd name="T78" fmla="*/ 44 w 812"/>
                    <a:gd name="T79" fmla="*/ 80 h 564"/>
                    <a:gd name="T80" fmla="*/ 20 w 812"/>
                    <a:gd name="T81" fmla="*/ 68 h 564"/>
                    <a:gd name="T82" fmla="*/ 24 w 812"/>
                    <a:gd name="T83" fmla="*/ 62 h 564"/>
                    <a:gd name="T84" fmla="*/ 0 w 812"/>
                    <a:gd name="T85" fmla="*/ 41 h 564"/>
                    <a:gd name="T86" fmla="*/ 802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6 h 85"/>
                    <a:gd name="T2" fmla="*/ 21 w 43"/>
                    <a:gd name="T3" fmla="*/ 3 h 85"/>
                    <a:gd name="T4" fmla="*/ 45 w 43"/>
                    <a:gd name="T5" fmla="*/ 16 h 85"/>
                    <a:gd name="T6" fmla="*/ 23 w 43"/>
                    <a:gd name="T7" fmla="*/ 41 h 85"/>
                    <a:gd name="T8" fmla="*/ 1 w 43"/>
                    <a:gd name="T9" fmla="*/ 33 h 85"/>
                    <a:gd name="T10" fmla="*/ 7 w 43"/>
                    <a:gd name="T11" fmla="*/ 6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11 h 74"/>
                    <a:gd name="T2" fmla="*/ 25 w 44"/>
                    <a:gd name="T3" fmla="*/ 2 h 74"/>
                    <a:gd name="T4" fmla="*/ 35 w 44"/>
                    <a:gd name="T5" fmla="*/ 2 h 74"/>
                    <a:gd name="T6" fmla="*/ 32 w 44"/>
                    <a:gd name="T7" fmla="*/ 11 h 74"/>
                    <a:gd name="T8" fmla="*/ 11 w 44"/>
                    <a:gd name="T9" fmla="*/ 30 h 74"/>
                    <a:gd name="T10" fmla="*/ 7 w 44"/>
                    <a:gd name="T11" fmla="*/ 24 h 74"/>
                    <a:gd name="T12" fmla="*/ 3 w 44"/>
                    <a:gd name="T13" fmla="*/ 14 h 74"/>
                    <a:gd name="T14" fmla="*/ 11 w 44"/>
                    <a:gd name="T15" fmla="*/ 11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6 h 30"/>
                    <a:gd name="T2" fmla="*/ 5 w 20"/>
                    <a:gd name="T3" fmla="*/ 12 h 30"/>
                    <a:gd name="T4" fmla="*/ 7 w 20"/>
                    <a:gd name="T5" fmla="*/ 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2360 w 682"/>
                    <a:gd name="T1" fmla="*/ 2710 h 557"/>
                    <a:gd name="T2" fmla="*/ 2383 w 682"/>
                    <a:gd name="T3" fmla="*/ 2635 h 557"/>
                    <a:gd name="T4" fmla="*/ 2453 w 682"/>
                    <a:gd name="T5" fmla="*/ 2413 h 557"/>
                    <a:gd name="T6" fmla="*/ 1517 w 682"/>
                    <a:gd name="T7" fmla="*/ 1674 h 557"/>
                    <a:gd name="T8" fmla="*/ 1384 w 682"/>
                    <a:gd name="T9" fmla="*/ 2021 h 557"/>
                    <a:gd name="T10" fmla="*/ 1487 w 682"/>
                    <a:gd name="T11" fmla="*/ 3246 h 557"/>
                    <a:gd name="T12" fmla="*/ 1384 w 682"/>
                    <a:gd name="T13" fmla="*/ 2886 h 557"/>
                    <a:gd name="T14" fmla="*/ 1188 w 682"/>
                    <a:gd name="T15" fmla="*/ 2567 h 557"/>
                    <a:gd name="T16" fmla="*/ 1203 w 682"/>
                    <a:gd name="T17" fmla="*/ 2413 h 557"/>
                    <a:gd name="T18" fmla="*/ 1214 w 682"/>
                    <a:gd name="T19" fmla="*/ 2304 h 557"/>
                    <a:gd name="T20" fmla="*/ 1079 w 682"/>
                    <a:gd name="T21" fmla="*/ 2191 h 557"/>
                    <a:gd name="T22" fmla="*/ 952 w 682"/>
                    <a:gd name="T23" fmla="*/ 2021 h 557"/>
                    <a:gd name="T24" fmla="*/ 725 w 682"/>
                    <a:gd name="T25" fmla="*/ 2066 h 557"/>
                    <a:gd name="T26" fmla="*/ 621 w 682"/>
                    <a:gd name="T27" fmla="*/ 2132 h 557"/>
                    <a:gd name="T28" fmla="*/ 382 w 682"/>
                    <a:gd name="T29" fmla="*/ 2132 h 557"/>
                    <a:gd name="T30" fmla="*/ 109 w 682"/>
                    <a:gd name="T31" fmla="*/ 1822 h 557"/>
                    <a:gd name="T32" fmla="*/ 54 w 682"/>
                    <a:gd name="T33" fmla="*/ 1726 h 557"/>
                    <a:gd name="T34" fmla="*/ 0 w 682"/>
                    <a:gd name="T35" fmla="*/ 1539 h 557"/>
                    <a:gd name="T36" fmla="*/ 119 w 682"/>
                    <a:gd name="T37" fmla="*/ 1245 h 557"/>
                    <a:gd name="T38" fmla="*/ 158 w 682"/>
                    <a:gd name="T39" fmla="*/ 1056 h 557"/>
                    <a:gd name="T40" fmla="*/ 250 w 682"/>
                    <a:gd name="T41" fmla="*/ 833 h 557"/>
                    <a:gd name="T42" fmla="*/ 399 w 682"/>
                    <a:gd name="T43" fmla="*/ 676 h 557"/>
                    <a:gd name="T44" fmla="*/ 822 w 682"/>
                    <a:gd name="T45" fmla="*/ 392 h 557"/>
                    <a:gd name="T46" fmla="*/ 1079 w 682"/>
                    <a:gd name="T47" fmla="*/ 176 h 557"/>
                    <a:gd name="T48" fmla="*/ 1265 w 682"/>
                    <a:gd name="T49" fmla="*/ 34 h 557"/>
                    <a:gd name="T50" fmla="*/ 1781 w 682"/>
                    <a:gd name="T51" fmla="*/ 12 h 557"/>
                    <a:gd name="T52" fmla="*/ 1951 w 682"/>
                    <a:gd name="T53" fmla="*/ 0 h 557"/>
                    <a:gd name="T54" fmla="*/ 1883 w 682"/>
                    <a:gd name="T55" fmla="*/ 197 h 557"/>
                    <a:gd name="T56" fmla="*/ 2173 w 682"/>
                    <a:gd name="T57" fmla="*/ 493 h 557"/>
                    <a:gd name="T58" fmla="*/ 2439 w 682"/>
                    <a:gd name="T59" fmla="*/ 432 h 557"/>
                    <a:gd name="T60" fmla="*/ 2594 w 682"/>
                    <a:gd name="T61" fmla="*/ 476 h 557"/>
                    <a:gd name="T62" fmla="*/ 2741 w 682"/>
                    <a:gd name="T63" fmla="*/ 567 h 557"/>
                    <a:gd name="T64" fmla="*/ 2807 w 682"/>
                    <a:gd name="T65" fmla="*/ 1098 h 557"/>
                    <a:gd name="T66" fmla="*/ 2807 w 682"/>
                    <a:gd name="T67" fmla="*/ 1402 h 557"/>
                    <a:gd name="T68" fmla="*/ 2936 w 682"/>
                    <a:gd name="T69" fmla="*/ 1653 h 557"/>
                    <a:gd name="T70" fmla="*/ 3166 w 682"/>
                    <a:gd name="T71" fmla="*/ 1752 h 557"/>
                    <a:gd name="T72" fmla="*/ 3335 w 682"/>
                    <a:gd name="T73" fmla="*/ 1726 h 557"/>
                    <a:gd name="T74" fmla="*/ 3256 w 682"/>
                    <a:gd name="T75" fmla="*/ 1987 h 557"/>
                    <a:gd name="T76" fmla="*/ 2936 w 682"/>
                    <a:gd name="T77" fmla="*/ 2379 h 557"/>
                    <a:gd name="T78" fmla="*/ 2689 w 682"/>
                    <a:gd name="T79" fmla="*/ 2833 h 557"/>
                    <a:gd name="T80" fmla="*/ 2727 w 682"/>
                    <a:gd name="T81" fmla="*/ 2968 h 557"/>
                    <a:gd name="T82" fmla="*/ 2133 w 682"/>
                    <a:gd name="T83" fmla="*/ 324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1186 w 257"/>
                    <a:gd name="T1" fmla="*/ 2034 h 347"/>
                    <a:gd name="T2" fmla="*/ 1136 w 257"/>
                    <a:gd name="T3" fmla="*/ 1763 h 347"/>
                    <a:gd name="T4" fmla="*/ 1060 w 257"/>
                    <a:gd name="T5" fmla="*/ 1688 h 347"/>
                    <a:gd name="T6" fmla="*/ 1052 w 257"/>
                    <a:gd name="T7" fmla="*/ 1580 h 347"/>
                    <a:gd name="T8" fmla="*/ 1021 w 257"/>
                    <a:gd name="T9" fmla="*/ 1489 h 347"/>
                    <a:gd name="T10" fmla="*/ 1021 w 257"/>
                    <a:gd name="T11" fmla="*/ 1341 h 347"/>
                    <a:gd name="T12" fmla="*/ 1012 w 257"/>
                    <a:gd name="T13" fmla="*/ 1254 h 347"/>
                    <a:gd name="T14" fmla="*/ 1113 w 257"/>
                    <a:gd name="T15" fmla="*/ 1184 h 347"/>
                    <a:gd name="T16" fmla="*/ 1255 w 257"/>
                    <a:gd name="T17" fmla="*/ 1158 h 347"/>
                    <a:gd name="T18" fmla="*/ 1255 w 257"/>
                    <a:gd name="T19" fmla="*/ 800 h 347"/>
                    <a:gd name="T20" fmla="*/ 263 w 257"/>
                    <a:gd name="T21" fmla="*/ 562 h 347"/>
                    <a:gd name="T22" fmla="*/ 158 w 257"/>
                    <a:gd name="T23" fmla="*/ 576 h 347"/>
                    <a:gd name="T24" fmla="*/ 80 w 257"/>
                    <a:gd name="T25" fmla="*/ 598 h 347"/>
                    <a:gd name="T26" fmla="*/ 0 w 257"/>
                    <a:gd name="T27" fmla="*/ 875 h 347"/>
                    <a:gd name="T28" fmla="*/ 453 w 257"/>
                    <a:gd name="T29" fmla="*/ 2028 h 347"/>
                    <a:gd name="T30" fmla="*/ 1186 w 257"/>
                    <a:gd name="T31" fmla="*/ 20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10 h 37"/>
                    <a:gd name="T2" fmla="*/ 9 w 19"/>
                    <a:gd name="T3" fmla="*/ 8 h 37"/>
                    <a:gd name="T4" fmla="*/ 3 w 19"/>
                    <a:gd name="T5" fmla="*/ 1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7 h 20"/>
                    <a:gd name="T2" fmla="*/ 12 w 22"/>
                    <a:gd name="T3" fmla="*/ 0 h 20"/>
                    <a:gd name="T4" fmla="*/ 16 w 22"/>
                    <a:gd name="T5" fmla="*/ 7 h 20"/>
                    <a:gd name="T6" fmla="*/ 8 w 22"/>
                    <a:gd name="T7" fmla="*/ 10 h 20"/>
                    <a:gd name="T8" fmla="*/ 11 w 22"/>
                    <a:gd name="T9" fmla="*/ 7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7 h 30"/>
                    <a:gd name="T2" fmla="*/ 36 w 57"/>
                    <a:gd name="T3" fmla="*/ 2 h 30"/>
                    <a:gd name="T4" fmla="*/ 40 w 57"/>
                    <a:gd name="T5" fmla="*/ 12 h 30"/>
                    <a:gd name="T6" fmla="*/ 24 w 57"/>
                    <a:gd name="T7" fmla="*/ 7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69 w 693"/>
                    <a:gd name="T1" fmla="*/ 207 h 696"/>
                    <a:gd name="T2" fmla="*/ 389 w 693"/>
                    <a:gd name="T3" fmla="*/ 202 h 696"/>
                    <a:gd name="T4" fmla="*/ 321 w 693"/>
                    <a:gd name="T5" fmla="*/ 185 h 696"/>
                    <a:gd name="T6" fmla="*/ 261 w 693"/>
                    <a:gd name="T7" fmla="*/ 178 h 696"/>
                    <a:gd name="T8" fmla="*/ 233 w 693"/>
                    <a:gd name="T9" fmla="*/ 186 h 696"/>
                    <a:gd name="T10" fmla="*/ 257 w 693"/>
                    <a:gd name="T11" fmla="*/ 191 h 696"/>
                    <a:gd name="T12" fmla="*/ 289 w 693"/>
                    <a:gd name="T13" fmla="*/ 209 h 696"/>
                    <a:gd name="T14" fmla="*/ 317 w 693"/>
                    <a:gd name="T15" fmla="*/ 213 h 696"/>
                    <a:gd name="T16" fmla="*/ 329 w 693"/>
                    <a:gd name="T17" fmla="*/ 240 h 696"/>
                    <a:gd name="T18" fmla="*/ 309 w 693"/>
                    <a:gd name="T19" fmla="*/ 247 h 696"/>
                    <a:gd name="T20" fmla="*/ 257 w 693"/>
                    <a:gd name="T21" fmla="*/ 276 h 696"/>
                    <a:gd name="T22" fmla="*/ 221 w 693"/>
                    <a:gd name="T23" fmla="*/ 280 h 696"/>
                    <a:gd name="T24" fmla="*/ 97 w 693"/>
                    <a:gd name="T25" fmla="*/ 311 h 696"/>
                    <a:gd name="T26" fmla="*/ 77 w 693"/>
                    <a:gd name="T27" fmla="*/ 276 h 696"/>
                    <a:gd name="T28" fmla="*/ 45 w 693"/>
                    <a:gd name="T29" fmla="*/ 234 h 696"/>
                    <a:gd name="T30" fmla="*/ 33 w 693"/>
                    <a:gd name="T31" fmla="*/ 199 h 696"/>
                    <a:gd name="T32" fmla="*/ 53 w 693"/>
                    <a:gd name="T33" fmla="*/ 154 h 696"/>
                    <a:gd name="T34" fmla="*/ 17 w 693"/>
                    <a:gd name="T35" fmla="*/ 175 h 696"/>
                    <a:gd name="T36" fmla="*/ 81 w 693"/>
                    <a:gd name="T37" fmla="*/ 125 h 696"/>
                    <a:gd name="T38" fmla="*/ 113 w 693"/>
                    <a:gd name="T39" fmla="*/ 92 h 696"/>
                    <a:gd name="T40" fmla="*/ 37 w 693"/>
                    <a:gd name="T41" fmla="*/ 92 h 696"/>
                    <a:gd name="T42" fmla="*/ 1 w 693"/>
                    <a:gd name="T43" fmla="*/ 87 h 696"/>
                    <a:gd name="T44" fmla="*/ 25 w 693"/>
                    <a:gd name="T45" fmla="*/ 62 h 696"/>
                    <a:gd name="T46" fmla="*/ 97 w 693"/>
                    <a:gd name="T47" fmla="*/ 50 h 696"/>
                    <a:gd name="T48" fmla="*/ 217 w 693"/>
                    <a:gd name="T49" fmla="*/ 56 h 696"/>
                    <a:gd name="T50" fmla="*/ 225 w 693"/>
                    <a:gd name="T51" fmla="*/ 29 h 696"/>
                    <a:gd name="T52" fmla="*/ 257 w 693"/>
                    <a:gd name="T53" fmla="*/ 0 h 696"/>
                    <a:gd name="T54" fmla="*/ 353 w 693"/>
                    <a:gd name="T55" fmla="*/ 20 h 696"/>
                    <a:gd name="T56" fmla="*/ 325 w 693"/>
                    <a:gd name="T57" fmla="*/ 39 h 696"/>
                    <a:gd name="T58" fmla="*/ 297 w 693"/>
                    <a:gd name="T59" fmla="*/ 78 h 696"/>
                    <a:gd name="T60" fmla="*/ 357 w 693"/>
                    <a:gd name="T61" fmla="*/ 86 h 696"/>
                    <a:gd name="T62" fmla="*/ 369 w 693"/>
                    <a:gd name="T63" fmla="*/ 60 h 696"/>
                    <a:gd name="T64" fmla="*/ 413 w 693"/>
                    <a:gd name="T65" fmla="*/ 41 h 696"/>
                    <a:gd name="T66" fmla="*/ 493 w 693"/>
                    <a:gd name="T67" fmla="*/ 39 h 696"/>
                    <a:gd name="T68" fmla="*/ 521 w 693"/>
                    <a:gd name="T69" fmla="*/ 24 h 696"/>
                    <a:gd name="T70" fmla="*/ 533 w 693"/>
                    <a:gd name="T71" fmla="*/ 205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4051 w 931"/>
                    <a:gd name="T1" fmla="*/ 0 h 149"/>
                    <a:gd name="T2" fmla="*/ 703 w 931"/>
                    <a:gd name="T3" fmla="*/ 170 h 149"/>
                    <a:gd name="T4" fmla="*/ 445 w 931"/>
                    <a:gd name="T5" fmla="*/ 244 h 149"/>
                    <a:gd name="T6" fmla="*/ 304 w 931"/>
                    <a:gd name="T7" fmla="*/ 244 h 149"/>
                    <a:gd name="T8" fmla="*/ 109 w 931"/>
                    <a:gd name="T9" fmla="*/ 453 h 149"/>
                    <a:gd name="T10" fmla="*/ 0 w 931"/>
                    <a:gd name="T11" fmla="*/ 615 h 149"/>
                    <a:gd name="T12" fmla="*/ 290 w 931"/>
                    <a:gd name="T13" fmla="*/ 676 h 149"/>
                    <a:gd name="T14" fmla="*/ 475 w 931"/>
                    <a:gd name="T15" fmla="*/ 562 h 149"/>
                    <a:gd name="T16" fmla="*/ 531 w 931"/>
                    <a:gd name="T17" fmla="*/ 495 h 149"/>
                    <a:gd name="T18" fmla="*/ 822 w 931"/>
                    <a:gd name="T19" fmla="*/ 305 h 149"/>
                    <a:gd name="T20" fmla="*/ 1056 w 931"/>
                    <a:gd name="T21" fmla="*/ 271 h 149"/>
                    <a:gd name="T22" fmla="*/ 1166 w 931"/>
                    <a:gd name="T23" fmla="*/ 550 h 149"/>
                    <a:gd name="T24" fmla="*/ 924 w 931"/>
                    <a:gd name="T25" fmla="*/ 643 h 149"/>
                    <a:gd name="T26" fmla="*/ 1134 w 931"/>
                    <a:gd name="T27" fmla="*/ 665 h 149"/>
                    <a:gd name="T28" fmla="*/ 1228 w 931"/>
                    <a:gd name="T29" fmla="*/ 528 h 149"/>
                    <a:gd name="T30" fmla="*/ 1307 w 931"/>
                    <a:gd name="T31" fmla="*/ 540 h 149"/>
                    <a:gd name="T32" fmla="*/ 1243 w 931"/>
                    <a:gd name="T33" fmla="*/ 318 h 149"/>
                    <a:gd name="T34" fmla="*/ 1307 w 931"/>
                    <a:gd name="T35" fmla="*/ 260 h 149"/>
                    <a:gd name="T36" fmla="*/ 1359 w 931"/>
                    <a:gd name="T37" fmla="*/ 517 h 149"/>
                    <a:gd name="T38" fmla="*/ 1307 w 931"/>
                    <a:gd name="T39" fmla="*/ 665 h 149"/>
                    <a:gd name="T40" fmla="*/ 1456 w 931"/>
                    <a:gd name="T41" fmla="*/ 763 h 149"/>
                    <a:gd name="T42" fmla="*/ 1468 w 931"/>
                    <a:gd name="T43" fmla="*/ 540 h 149"/>
                    <a:gd name="T44" fmla="*/ 1627 w 931"/>
                    <a:gd name="T45" fmla="*/ 604 h 149"/>
                    <a:gd name="T46" fmla="*/ 1877 w 931"/>
                    <a:gd name="T47" fmla="*/ 431 h 149"/>
                    <a:gd name="T48" fmla="*/ 2010 w 931"/>
                    <a:gd name="T49" fmla="*/ 293 h 149"/>
                    <a:gd name="T50" fmla="*/ 2159 w 931"/>
                    <a:gd name="T51" fmla="*/ 327 h 149"/>
                    <a:gd name="T52" fmla="*/ 2235 w 931"/>
                    <a:gd name="T53" fmla="*/ 293 h 149"/>
                    <a:gd name="T54" fmla="*/ 2118 w 931"/>
                    <a:gd name="T55" fmla="*/ 260 h 149"/>
                    <a:gd name="T56" fmla="*/ 2330 w 931"/>
                    <a:gd name="T57" fmla="*/ 204 h 149"/>
                    <a:gd name="T58" fmla="*/ 2672 w 931"/>
                    <a:gd name="T59" fmla="*/ 318 h 149"/>
                    <a:gd name="T60" fmla="*/ 2854 w 931"/>
                    <a:gd name="T61" fmla="*/ 244 h 149"/>
                    <a:gd name="T62" fmla="*/ 2867 w 931"/>
                    <a:gd name="T63" fmla="*/ 371 h 149"/>
                    <a:gd name="T64" fmla="*/ 2790 w 931"/>
                    <a:gd name="T65" fmla="*/ 592 h 149"/>
                    <a:gd name="T66" fmla="*/ 3003 w 931"/>
                    <a:gd name="T67" fmla="*/ 517 h 149"/>
                    <a:gd name="T68" fmla="*/ 3065 w 931"/>
                    <a:gd name="T69" fmla="*/ 473 h 149"/>
                    <a:gd name="T70" fmla="*/ 3184 w 931"/>
                    <a:gd name="T71" fmla="*/ 358 h 149"/>
                    <a:gd name="T72" fmla="*/ 3900 w 931"/>
                    <a:gd name="T73" fmla="*/ 49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13 h 30"/>
                    <a:gd name="T2" fmla="*/ 27 w 31"/>
                    <a:gd name="T3" fmla="*/ 0 h 30"/>
                    <a:gd name="T4" fmla="*/ 15 w 31"/>
                    <a:gd name="T5" fmla="*/ 12 h 30"/>
                    <a:gd name="T6" fmla="*/ 3 w 31"/>
                    <a:gd name="T7" fmla="*/ 1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16 h 32"/>
                    <a:gd name="T2" fmla="*/ 26 w 44"/>
                    <a:gd name="T3" fmla="*/ 0 h 32"/>
                    <a:gd name="T4" fmla="*/ 42 w 44"/>
                    <a:gd name="T5" fmla="*/ 3 h 32"/>
                    <a:gd name="T6" fmla="*/ 6 w 44"/>
                    <a:gd name="T7" fmla="*/ 16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7 h 18"/>
                    <a:gd name="T2" fmla="*/ 25 w 76"/>
                    <a:gd name="T3" fmla="*/ 2 h 18"/>
                    <a:gd name="T4" fmla="*/ 37 w 76"/>
                    <a:gd name="T5" fmla="*/ 7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1 h 44"/>
                    <a:gd name="T2" fmla="*/ 12 w 42"/>
                    <a:gd name="T3" fmla="*/ 5 h 44"/>
                    <a:gd name="T4" fmla="*/ 0 w 42"/>
                    <a:gd name="T5" fmla="*/ 1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9 h 30"/>
                    <a:gd name="T2" fmla="*/ 39 w 31"/>
                    <a:gd name="T3" fmla="*/ 4 h 30"/>
                    <a:gd name="T4" fmla="*/ 7 w 31"/>
                    <a:gd name="T5" fmla="*/ 9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6"/>
                <a:ext cx="5739" cy="1022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363" y="1"/>
                <a:ext cx="4919" cy="1034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8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zh-CN" altLang="en-US" noProof="0"/>
          </a:p>
        </p:txBody>
      </p:sp>
      <p:sp>
        <p:nvSpPr>
          <p:cNvPr id="288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zh-CN" altLang="en-US" noProof="0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32004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46F89-F053-4E65-A4B6-0DE7E75B131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49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889A1-307D-47CA-8F8F-F32F1FA883F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852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28F62-0F66-41B3-AEB3-3BDC946FFF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393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22B43-B1BC-4680-A62D-817A0826D1B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4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AC26E-1A08-4E57-974D-EC572DEC662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97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2EF80-DAF5-4FE7-AAFC-BCB752DD32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42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858A9-351C-4983-B6E4-D08A4CADF14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72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38BAA-0036-47CE-A161-7D00401EC1B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20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04481-DB98-4EA1-93C3-8712FD6B8E6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696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D3D29-1530-4123-8483-5606F888519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93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F0EDE-4108-4612-B1BC-0B2B16C834C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9337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2147888"/>
            <a:ext cx="38100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281488"/>
            <a:ext cx="38100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2B4F3-1925-4B40-B115-1E369E676C2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3385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697D9-5230-41FB-9DBA-453AF093859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029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46063" y="930275"/>
            <a:ext cx="8212137" cy="533241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B6B83-8B47-484F-9B42-DA54F6018EC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66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A1168-DC19-4647-ABE6-D6E547CA3E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773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C3097-D11A-4C9C-9AD1-BF9C2699E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907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283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434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261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390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857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22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997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576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266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73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57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7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i="0"/>
            </a:lvl1pPr>
          </a:lstStyle>
          <a:p>
            <a:pPr>
              <a:defRPr/>
            </a:pPr>
            <a:fld id="{5A1F0EDE-4108-4612-B1BC-0B2B16C834C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937589C9-23BE-4DE8-920D-E692843CF80C}"/>
              </a:ext>
            </a:extLst>
          </p:cNvPr>
          <p:cNvGrpSpPr/>
          <p:nvPr userDrawn="1"/>
        </p:nvGrpSpPr>
        <p:grpSpPr>
          <a:xfrm>
            <a:off x="142282" y="288798"/>
            <a:ext cx="533400" cy="426720"/>
            <a:chOff x="0" y="288798"/>
            <a:chExt cx="533400" cy="426720"/>
          </a:xfrm>
        </p:grpSpPr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3215382F-CB53-4992-8055-3E63AA884941}"/>
                </a:ext>
              </a:extLst>
            </p:cNvPr>
            <p:cNvSpPr/>
            <p:nvPr/>
          </p:nvSpPr>
          <p:spPr>
            <a:xfrm>
              <a:off x="0" y="288798"/>
              <a:ext cx="4191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A7E7A35D-3572-4410-AC23-B3AE01DE596B}"/>
                </a:ext>
              </a:extLst>
            </p:cNvPr>
            <p:cNvSpPr/>
            <p:nvPr/>
          </p:nvSpPr>
          <p:spPr>
            <a:xfrm>
              <a:off x="457200" y="288798"/>
              <a:ext cx="762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3" name="图片 162">
            <a:extLst>
              <a:ext uri="{FF2B5EF4-FFF2-40B4-BE49-F238E27FC236}">
                <a16:creationId xmlns:a16="http://schemas.microsoft.com/office/drawing/2014/main" id="{F5DD1D46-E9B6-412B-A870-F555EA614AC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805" y="244642"/>
            <a:ext cx="492595" cy="5050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20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C9847-E774-4636-A962-3484B45B7925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22D67-742B-4A85-A767-9C51444F6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06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8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media" Target="../media/media2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10" Type="http://schemas.openxmlformats.org/officeDocument/2006/relationships/image" Target="../media/image15.png"/><Relationship Id="rId4" Type="http://schemas.openxmlformats.org/officeDocument/2006/relationships/audio" Target="../media/media2.WAV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3" Type="http://schemas.openxmlformats.org/officeDocument/2006/relationships/image" Target="../media/image16.wmf"/><Relationship Id="rId21" Type="http://schemas.openxmlformats.org/officeDocument/2006/relationships/image" Target="../media/image25.w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3.wmf"/><Relationship Id="rId25" Type="http://schemas.openxmlformats.org/officeDocument/2006/relationships/image" Target="../media/image27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0.emf"/><Relationship Id="rId24" Type="http://schemas.openxmlformats.org/officeDocument/2006/relationships/oleObject" Target="../embeddings/oleObject20.bin"/><Relationship Id="rId5" Type="http://schemas.openxmlformats.org/officeDocument/2006/relationships/image" Target="../media/image17.wmf"/><Relationship Id="rId15" Type="http://schemas.openxmlformats.org/officeDocument/2006/relationships/image" Target="../media/image22.emf"/><Relationship Id="rId23" Type="http://schemas.openxmlformats.org/officeDocument/2006/relationships/image" Target="../media/image26.wmf"/><Relationship Id="rId28" Type="http://schemas.openxmlformats.org/officeDocument/2006/relationships/oleObject" Target="../embeddings/oleObject22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image" Target="../media/image30.png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4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4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38.wmf"/><Relationship Id="rId26" Type="http://schemas.openxmlformats.org/officeDocument/2006/relationships/image" Target="../media/image51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43.bin"/><Relationship Id="rId2" Type="http://schemas.openxmlformats.org/officeDocument/2006/relationships/image" Target="../media/image30.png"/><Relationship Id="rId16" Type="http://schemas.openxmlformats.org/officeDocument/2006/relationships/image" Target="../media/image48.wmf"/><Relationship Id="rId20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50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5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7.wmf"/><Relationship Id="rId22" Type="http://schemas.openxmlformats.org/officeDocument/2006/relationships/image" Target="../media/image49.wmf"/><Relationship Id="rId27" Type="http://schemas.openxmlformats.org/officeDocument/2006/relationships/oleObject" Target="../embeddings/oleObject4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7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9.w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67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8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wmf"/><Relationship Id="rId4" Type="http://schemas.openxmlformats.org/officeDocument/2006/relationships/oleObject" Target="../embeddings/oleObject7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9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98.wmf"/><Relationship Id="rId10" Type="http://schemas.openxmlformats.org/officeDocument/2006/relationships/image" Target="../media/image101.png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0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102.wmf"/><Relationship Id="rId21" Type="http://schemas.openxmlformats.org/officeDocument/2006/relationships/image" Target="../media/image109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7.wmf"/><Relationship Id="rId25" Type="http://schemas.openxmlformats.org/officeDocument/2006/relationships/image" Target="../media/image111.wmf"/><Relationship Id="rId2" Type="http://schemas.openxmlformats.org/officeDocument/2006/relationships/oleObject" Target="../embeddings/oleObject84.bin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104.wmf"/><Relationship Id="rId24" Type="http://schemas.openxmlformats.org/officeDocument/2006/relationships/oleObject" Target="../embeddings/oleObject93.bin"/><Relationship Id="rId5" Type="http://schemas.openxmlformats.org/officeDocument/2006/relationships/image" Target="../media/image99.wmf"/><Relationship Id="rId15" Type="http://schemas.openxmlformats.org/officeDocument/2006/relationships/image" Target="../media/image106.wmf"/><Relationship Id="rId23" Type="http://schemas.openxmlformats.org/officeDocument/2006/relationships/image" Target="../media/image110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9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117.w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image" Target="../media/image112.wmf"/><Relationship Id="rId21" Type="http://schemas.openxmlformats.org/officeDocument/2006/relationships/image" Target="../media/image121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19.wmf"/><Relationship Id="rId25" Type="http://schemas.openxmlformats.org/officeDocument/2006/relationships/image" Target="../media/image123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image" Target="../media/image125.w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16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113.wmf"/><Relationship Id="rId15" Type="http://schemas.openxmlformats.org/officeDocument/2006/relationships/image" Target="../media/image118.wmf"/><Relationship Id="rId23" Type="http://schemas.openxmlformats.org/officeDocument/2006/relationships/image" Target="../media/image122.emf"/><Relationship Id="rId28" Type="http://schemas.openxmlformats.org/officeDocument/2006/relationships/oleObject" Target="../embeddings/oleObject107.bin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20.wmf"/><Relationship Id="rId31" Type="http://schemas.openxmlformats.org/officeDocument/2006/relationships/image" Target="../media/image126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124.wmf"/><Relationship Id="rId30" Type="http://schemas.openxmlformats.org/officeDocument/2006/relationships/oleObject" Target="../embeddings/oleObject10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27.wmf"/><Relationship Id="rId21" Type="http://schemas.openxmlformats.org/officeDocument/2006/relationships/image" Target="../media/image121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19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30.wmf"/><Relationship Id="rId5" Type="http://schemas.openxmlformats.org/officeDocument/2006/relationships/image" Target="../media/image128.wmf"/><Relationship Id="rId15" Type="http://schemas.openxmlformats.org/officeDocument/2006/relationships/image" Target="../media/image132.wmf"/><Relationship Id="rId23" Type="http://schemas.openxmlformats.org/officeDocument/2006/relationships/image" Target="../media/image133.w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20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35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37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7" Type="http://schemas.openxmlformats.org/officeDocument/2006/relationships/image" Target="../media/image141.w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126.bin"/><Relationship Id="rId5" Type="http://schemas.openxmlformats.org/officeDocument/2006/relationships/image" Target="../media/image140.emf"/><Relationship Id="rId4" Type="http://schemas.openxmlformats.org/officeDocument/2006/relationships/oleObject" Target="../embeddings/oleObject125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wmf"/><Relationship Id="rId4" Type="http://schemas.openxmlformats.org/officeDocument/2006/relationships/oleObject" Target="../embeddings/oleObject128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emf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21" Type="http://schemas.openxmlformats.org/officeDocument/2006/relationships/image" Target="../media/image153.emf"/><Relationship Id="rId34" Type="http://schemas.openxmlformats.org/officeDocument/2006/relationships/oleObject" Target="../embeddings/oleObject145.bin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51.emf"/><Relationship Id="rId25" Type="http://schemas.openxmlformats.org/officeDocument/2006/relationships/image" Target="../media/image155.emf"/><Relationship Id="rId33" Type="http://schemas.openxmlformats.org/officeDocument/2006/relationships/image" Target="../media/image159.e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29" Type="http://schemas.openxmlformats.org/officeDocument/2006/relationships/image" Target="../media/image15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48.emf"/><Relationship Id="rId24" Type="http://schemas.openxmlformats.org/officeDocument/2006/relationships/oleObject" Target="../embeddings/oleObject140.bin"/><Relationship Id="rId32" Type="http://schemas.openxmlformats.org/officeDocument/2006/relationships/oleObject" Target="../embeddings/oleObject144.bin"/><Relationship Id="rId37" Type="http://schemas.openxmlformats.org/officeDocument/2006/relationships/image" Target="../media/image161.emf"/><Relationship Id="rId5" Type="http://schemas.openxmlformats.org/officeDocument/2006/relationships/image" Target="../media/image145.emf"/><Relationship Id="rId15" Type="http://schemas.openxmlformats.org/officeDocument/2006/relationships/image" Target="../media/image150.emf"/><Relationship Id="rId23" Type="http://schemas.openxmlformats.org/officeDocument/2006/relationships/image" Target="../media/image154.emf"/><Relationship Id="rId28" Type="http://schemas.openxmlformats.org/officeDocument/2006/relationships/oleObject" Target="../embeddings/oleObject142.bin"/><Relationship Id="rId36" Type="http://schemas.openxmlformats.org/officeDocument/2006/relationships/oleObject" Target="../embeddings/oleObject146.bin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52.emf"/><Relationship Id="rId31" Type="http://schemas.openxmlformats.org/officeDocument/2006/relationships/image" Target="../media/image158.e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47.emf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56.emf"/><Relationship Id="rId30" Type="http://schemas.openxmlformats.org/officeDocument/2006/relationships/oleObject" Target="../embeddings/oleObject143.bin"/><Relationship Id="rId35" Type="http://schemas.openxmlformats.org/officeDocument/2006/relationships/image" Target="../media/image160.emf"/><Relationship Id="rId8" Type="http://schemas.openxmlformats.org/officeDocument/2006/relationships/oleObject" Target="../embeddings/oleObject132.bin"/><Relationship Id="rId3" Type="http://schemas.openxmlformats.org/officeDocument/2006/relationships/image" Target="../media/image14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4.wmf"/><Relationship Id="rId2" Type="http://schemas.openxmlformats.org/officeDocument/2006/relationships/oleObject" Target="../embeddings/oleObject1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9.bin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4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7" Type="http://schemas.openxmlformats.org/officeDocument/2006/relationships/image" Target="../media/image167.wmf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5" Type="http://schemas.openxmlformats.org/officeDocument/2006/relationships/image" Target="../media/image166.wmf"/><Relationship Id="rId4" Type="http://schemas.openxmlformats.org/officeDocument/2006/relationships/oleObject" Target="../embeddings/oleObject15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oleObject" Target="../embeddings/oleObject153.bin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7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4.wmf"/><Relationship Id="rId7" Type="http://schemas.openxmlformats.org/officeDocument/2006/relationships/oleObject" Target="../embeddings/oleObject161.bin"/><Relationship Id="rId2" Type="http://schemas.openxmlformats.org/officeDocument/2006/relationships/oleObject" Target="../embeddings/oleObject159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6.png"/><Relationship Id="rId5" Type="http://schemas.openxmlformats.org/officeDocument/2006/relationships/image" Target="../media/image175.wmf"/><Relationship Id="rId10" Type="http://schemas.openxmlformats.org/officeDocument/2006/relationships/image" Target="../media/image178.wmf"/><Relationship Id="rId4" Type="http://schemas.openxmlformats.org/officeDocument/2006/relationships/oleObject" Target="../embeddings/oleObject160.bin"/><Relationship Id="rId9" Type="http://schemas.openxmlformats.org/officeDocument/2006/relationships/oleObject" Target="../embeddings/oleObject162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87.emf"/><Relationship Id="rId26" Type="http://schemas.openxmlformats.org/officeDocument/2006/relationships/image" Target="../media/image191.emf"/><Relationship Id="rId39" Type="http://schemas.openxmlformats.org/officeDocument/2006/relationships/oleObject" Target="../embeddings/oleObject181.bin"/><Relationship Id="rId21" Type="http://schemas.openxmlformats.org/officeDocument/2006/relationships/oleObject" Target="../embeddings/oleObject172.bin"/><Relationship Id="rId34" Type="http://schemas.openxmlformats.org/officeDocument/2006/relationships/image" Target="../media/image195.emf"/><Relationship Id="rId42" Type="http://schemas.openxmlformats.org/officeDocument/2006/relationships/image" Target="../media/image199.emf"/><Relationship Id="rId7" Type="http://schemas.openxmlformats.org/officeDocument/2006/relationships/oleObject" Target="../embeddings/oleObject165.bin"/><Relationship Id="rId2" Type="http://schemas.openxmlformats.org/officeDocument/2006/relationships/image" Target="../media/image179.png"/><Relationship Id="rId16" Type="http://schemas.openxmlformats.org/officeDocument/2006/relationships/image" Target="../media/image186.emf"/><Relationship Id="rId20" Type="http://schemas.openxmlformats.org/officeDocument/2006/relationships/image" Target="../media/image188.emf"/><Relationship Id="rId29" Type="http://schemas.openxmlformats.org/officeDocument/2006/relationships/oleObject" Target="../embeddings/oleObject176.bin"/><Relationship Id="rId41" Type="http://schemas.openxmlformats.org/officeDocument/2006/relationships/oleObject" Target="../embeddings/oleObject18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e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90.emf"/><Relationship Id="rId32" Type="http://schemas.openxmlformats.org/officeDocument/2006/relationships/image" Target="../media/image194.emf"/><Relationship Id="rId37" Type="http://schemas.openxmlformats.org/officeDocument/2006/relationships/oleObject" Target="../embeddings/oleObject180.bin"/><Relationship Id="rId40" Type="http://schemas.openxmlformats.org/officeDocument/2006/relationships/image" Target="../media/image198.emf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28" Type="http://schemas.openxmlformats.org/officeDocument/2006/relationships/image" Target="../media/image192.emf"/><Relationship Id="rId36" Type="http://schemas.openxmlformats.org/officeDocument/2006/relationships/image" Target="../media/image196.emf"/><Relationship Id="rId10" Type="http://schemas.openxmlformats.org/officeDocument/2006/relationships/image" Target="../media/image183.wmf"/><Relationship Id="rId19" Type="http://schemas.openxmlformats.org/officeDocument/2006/relationships/oleObject" Target="../embeddings/oleObject171.bin"/><Relationship Id="rId31" Type="http://schemas.openxmlformats.org/officeDocument/2006/relationships/oleObject" Target="../embeddings/oleObject177.bin"/><Relationship Id="rId44" Type="http://schemas.openxmlformats.org/officeDocument/2006/relationships/image" Target="../media/image200.emf"/><Relationship Id="rId4" Type="http://schemas.openxmlformats.org/officeDocument/2006/relationships/image" Target="../media/image180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85.emf"/><Relationship Id="rId22" Type="http://schemas.openxmlformats.org/officeDocument/2006/relationships/image" Target="../media/image189.emf"/><Relationship Id="rId27" Type="http://schemas.openxmlformats.org/officeDocument/2006/relationships/oleObject" Target="../embeddings/oleObject175.bin"/><Relationship Id="rId30" Type="http://schemas.openxmlformats.org/officeDocument/2006/relationships/image" Target="../media/image193.emf"/><Relationship Id="rId35" Type="http://schemas.openxmlformats.org/officeDocument/2006/relationships/oleObject" Target="../embeddings/oleObject179.bin"/><Relationship Id="rId43" Type="http://schemas.openxmlformats.org/officeDocument/2006/relationships/oleObject" Target="../embeddings/oleObject183.bin"/><Relationship Id="rId8" Type="http://schemas.openxmlformats.org/officeDocument/2006/relationships/image" Target="../media/image182.emf"/><Relationship Id="rId3" Type="http://schemas.openxmlformats.org/officeDocument/2006/relationships/oleObject" Target="../embeddings/oleObject163.bin"/><Relationship Id="rId12" Type="http://schemas.openxmlformats.org/officeDocument/2006/relationships/image" Target="../media/image184.e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33" Type="http://schemas.openxmlformats.org/officeDocument/2006/relationships/oleObject" Target="../embeddings/oleObject178.bin"/><Relationship Id="rId38" Type="http://schemas.openxmlformats.org/officeDocument/2006/relationships/image" Target="../media/image197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206.wmf"/><Relationship Id="rId3" Type="http://schemas.openxmlformats.org/officeDocument/2006/relationships/image" Target="../media/image201.wmf"/><Relationship Id="rId7" Type="http://schemas.openxmlformats.org/officeDocument/2006/relationships/image" Target="../media/image203.wmf"/><Relationship Id="rId12" Type="http://schemas.openxmlformats.org/officeDocument/2006/relationships/oleObject" Target="../embeddings/oleObject189.bin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5.wmf"/><Relationship Id="rId5" Type="http://schemas.openxmlformats.org/officeDocument/2006/relationships/image" Target="../media/image202.wmf"/><Relationship Id="rId10" Type="http://schemas.openxmlformats.org/officeDocument/2006/relationships/oleObject" Target="../embeddings/oleObject188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image" Target="../media/image207.wmf"/><Relationship Id="rId7" Type="http://schemas.openxmlformats.org/officeDocument/2006/relationships/image" Target="../media/image209.wmf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2.bin"/><Relationship Id="rId5" Type="http://schemas.openxmlformats.org/officeDocument/2006/relationships/image" Target="../media/image208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210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216.wmf"/><Relationship Id="rId3" Type="http://schemas.openxmlformats.org/officeDocument/2006/relationships/image" Target="../media/image211.wmf"/><Relationship Id="rId7" Type="http://schemas.openxmlformats.org/officeDocument/2006/relationships/image" Target="../media/image213.wmf"/><Relationship Id="rId12" Type="http://schemas.openxmlformats.org/officeDocument/2006/relationships/oleObject" Target="../embeddings/oleObject199.bin"/><Relationship Id="rId2" Type="http://schemas.openxmlformats.org/officeDocument/2006/relationships/oleObject" Target="../embeddings/oleObject1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215.wmf"/><Relationship Id="rId5" Type="http://schemas.openxmlformats.org/officeDocument/2006/relationships/image" Target="../media/image212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21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1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2.wmf"/><Relationship Id="rId12" Type="http://schemas.openxmlformats.org/officeDocument/2006/relationships/oleObject" Target="../embeddings/oleObject207.bin"/><Relationship Id="rId2" Type="http://schemas.openxmlformats.org/officeDocument/2006/relationships/oleObject" Target="../embeddings/oleObject2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24.wmf"/><Relationship Id="rId5" Type="http://schemas.openxmlformats.org/officeDocument/2006/relationships/image" Target="../media/image221.wmf"/><Relationship Id="rId15" Type="http://schemas.openxmlformats.org/officeDocument/2006/relationships/image" Target="../media/image226.w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23.wmf"/><Relationship Id="rId14" Type="http://schemas.openxmlformats.org/officeDocument/2006/relationships/oleObject" Target="../embeddings/oleObject20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7" Type="http://schemas.openxmlformats.org/officeDocument/2006/relationships/image" Target="../media/image219.w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5" Type="http://schemas.openxmlformats.org/officeDocument/2006/relationships/image" Target="../media/image218.wmf"/><Relationship Id="rId4" Type="http://schemas.openxmlformats.org/officeDocument/2006/relationships/oleObject" Target="../embeddings/oleObject200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image" Target="../media/image227.e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6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3" Type="http://schemas.openxmlformats.org/officeDocument/2006/relationships/image" Target="../media/image228.wmf"/><Relationship Id="rId7" Type="http://schemas.openxmlformats.org/officeDocument/2006/relationships/image" Target="../media/image230.wmf"/><Relationship Id="rId2" Type="http://schemas.openxmlformats.org/officeDocument/2006/relationships/oleObject" Target="../embeddings/oleObject2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32.wmf"/><Relationship Id="rId5" Type="http://schemas.openxmlformats.org/officeDocument/2006/relationships/image" Target="../media/image229.wmf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31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3" Type="http://schemas.openxmlformats.org/officeDocument/2006/relationships/image" Target="../media/image233.wmf"/><Relationship Id="rId7" Type="http://schemas.openxmlformats.org/officeDocument/2006/relationships/image" Target="../media/image235.w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70.wmf"/><Relationship Id="rId5" Type="http://schemas.openxmlformats.org/officeDocument/2006/relationships/image" Target="../media/image234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3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2" Type="http://schemas.openxmlformats.org/officeDocument/2006/relationships/oleObject" Target="../embeddings/oleObject218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13" Type="http://schemas.openxmlformats.org/officeDocument/2006/relationships/oleObject" Target="../embeddings/oleObject222.bin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40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239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41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3.wmf"/><Relationship Id="rId4" Type="http://schemas.openxmlformats.org/officeDocument/2006/relationships/oleObject" Target="../embeddings/oleObject224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3" Type="http://schemas.openxmlformats.org/officeDocument/2006/relationships/image" Target="../media/image245.emf"/><Relationship Id="rId7" Type="http://schemas.openxmlformats.org/officeDocument/2006/relationships/image" Target="../media/image247.emf"/><Relationship Id="rId2" Type="http://schemas.openxmlformats.org/officeDocument/2006/relationships/oleObject" Target="../embeddings/oleObject22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27.bin"/><Relationship Id="rId5" Type="http://schemas.openxmlformats.org/officeDocument/2006/relationships/image" Target="../media/image246.w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48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oleObject" Target="../embeddings/oleObject2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8.wmf"/><Relationship Id="rId4" Type="http://schemas.openxmlformats.org/officeDocument/2006/relationships/oleObject" Target="../embeddings/oleObject219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2.wmf"/><Relationship Id="rId4" Type="http://schemas.openxmlformats.org/officeDocument/2006/relationships/oleObject" Target="../embeddings/oleObject231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7" Type="http://schemas.openxmlformats.org/officeDocument/2006/relationships/image" Target="../media/image255.wmf"/><Relationship Id="rId2" Type="http://schemas.openxmlformats.org/officeDocument/2006/relationships/oleObject" Target="../embeddings/oleObject2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4.bin"/><Relationship Id="rId5" Type="http://schemas.openxmlformats.org/officeDocument/2006/relationships/image" Target="../media/image254.wmf"/><Relationship Id="rId4" Type="http://schemas.openxmlformats.org/officeDocument/2006/relationships/oleObject" Target="../embeddings/oleObject233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oleObject" Target="../embeddings/oleObject235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3" Type="http://schemas.openxmlformats.org/officeDocument/2006/relationships/image" Target="../media/image258.wmf"/><Relationship Id="rId7" Type="http://schemas.openxmlformats.org/officeDocument/2006/relationships/image" Target="../media/image260.wmf"/><Relationship Id="rId2" Type="http://schemas.openxmlformats.org/officeDocument/2006/relationships/oleObject" Target="../embeddings/oleObject236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68.wmf"/><Relationship Id="rId5" Type="http://schemas.openxmlformats.org/officeDocument/2006/relationships/image" Target="../media/image259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19336" y="228600"/>
            <a:ext cx="3276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i="0" dirty="0">
                <a:solidFill>
                  <a:srgbClr val="993300"/>
                </a:solidFill>
                <a:ea typeface="楷体_GB2312" pitchFamily="49" charset="-122"/>
              </a:rPr>
              <a:t>数字信号处理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836712"/>
            <a:ext cx="7632848" cy="1296144"/>
          </a:xfrm>
        </p:spPr>
        <p:txBody>
          <a:bodyPr/>
          <a:lstStyle/>
          <a:p>
            <a:r>
              <a:rPr lang="zh-CN" altLang="en-US" sz="3600" b="1" i="0" dirty="0"/>
              <a:t>第</a:t>
            </a:r>
            <a:r>
              <a:rPr lang="en-US" altLang="zh-CN" sz="3600" b="1" i="0" dirty="0"/>
              <a:t>4</a:t>
            </a:r>
            <a:r>
              <a:rPr lang="zh-CN" altLang="en-US" sz="3600" b="1" i="0" dirty="0"/>
              <a:t>章  无限长单位脉冲响应（</a:t>
            </a:r>
            <a:r>
              <a:rPr lang="en-US" altLang="zh-CN" sz="3600" b="1" i="0" dirty="0"/>
              <a:t>IIR</a:t>
            </a:r>
            <a:r>
              <a:rPr lang="zh-CN" altLang="en-US" sz="3600" b="1" i="0" dirty="0"/>
              <a:t>）</a:t>
            </a:r>
            <a:br>
              <a:rPr lang="en-US" altLang="zh-CN" sz="3600" b="1" i="0" dirty="0"/>
            </a:br>
            <a:r>
              <a:rPr lang="en-US" altLang="zh-CN" sz="3600" b="1" i="0" dirty="0"/>
              <a:t>            </a:t>
            </a:r>
            <a:r>
              <a:rPr lang="zh-CN" altLang="en-US" sz="3600" b="1" i="0" dirty="0"/>
              <a:t>滤波器的设计方法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19455" y="2132856"/>
            <a:ext cx="7929009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4.1 </a:t>
            </a:r>
            <a:r>
              <a:rPr lang="zh-CN" altLang="en-US" b="1" dirty="0">
                <a:latin typeface="+mj-lt"/>
              </a:rPr>
              <a:t>滤波器的基本原理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4.2 </a:t>
            </a:r>
            <a:r>
              <a:rPr lang="zh-CN" altLang="en-US" b="1" dirty="0">
                <a:latin typeface="+mj-lt"/>
              </a:rPr>
              <a:t>模拟滤波器的设计方法</a:t>
            </a:r>
            <a:endParaRPr lang="en-US" altLang="zh-CN" b="1" dirty="0">
              <a:latin typeface="+mj-lt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4.3 </a:t>
            </a:r>
            <a:r>
              <a:rPr lang="zh-CN" altLang="en-US" b="1" dirty="0">
                <a:latin typeface="+mj-lt"/>
              </a:rPr>
              <a:t>根据模拟滤波器设计</a:t>
            </a:r>
            <a:r>
              <a:rPr lang="en-US" altLang="zh-CN" b="1" dirty="0">
                <a:latin typeface="+mj-lt"/>
              </a:rPr>
              <a:t>IIR</a:t>
            </a:r>
            <a:r>
              <a:rPr lang="zh-CN" altLang="en-US" b="1" dirty="0">
                <a:latin typeface="+mj-lt"/>
              </a:rPr>
              <a:t>滤波器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4.4 </a:t>
            </a:r>
            <a:r>
              <a:rPr lang="zh-CN" altLang="en-US" b="1" dirty="0">
                <a:latin typeface="+mj-lt"/>
              </a:rPr>
              <a:t>从模拟滤波器低通原型到各种数字</a:t>
            </a:r>
            <a:endParaRPr lang="en-US" altLang="zh-CN" b="1" dirty="0">
              <a:latin typeface="+mj-l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+mj-lt"/>
              </a:rPr>
              <a:t>         </a:t>
            </a:r>
            <a:r>
              <a:rPr lang="zh-CN" altLang="en-US" b="1" dirty="0">
                <a:latin typeface="+mj-lt"/>
              </a:rPr>
              <a:t>滤波器的频率变换</a:t>
            </a:r>
            <a:endParaRPr lang="en-US" altLang="zh-CN" b="1" dirty="0">
              <a:latin typeface="+mj-lt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4.5</a:t>
            </a:r>
            <a:r>
              <a:rPr lang="zh-CN" altLang="en-US" b="1" dirty="0">
                <a:latin typeface="+mj-lt"/>
              </a:rPr>
              <a:t> 从低通数字滤波器到各种数字滤波器 </a:t>
            </a:r>
            <a:endParaRPr lang="en-US" altLang="zh-CN" b="1" dirty="0">
              <a:latin typeface="+mj-lt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+mj-lt"/>
              </a:rPr>
              <a:t>         的频率变换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latin typeface="+mj-lt"/>
              </a:rPr>
              <a:t>4.7</a:t>
            </a:r>
            <a:r>
              <a:rPr lang="zh-CN" altLang="en-US" b="1" dirty="0">
                <a:latin typeface="+mj-lt"/>
              </a:rPr>
              <a:t> 本章小结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75240" cy="4525963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1" dirty="0"/>
              <a:t>许多信息处理过程，如信号的过滤，检测、预测等都要用到滤波器。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zh-CN" altLang="en-US" b="1" dirty="0"/>
              <a:t>数字滤波器是数字信号处理中使用得最广泛的一种线性系统，是数字信号处理的重要基础。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第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章  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滤波器的设计方法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575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1544960" y="908149"/>
            <a:ext cx="2667000" cy="2124075"/>
            <a:chOff x="384" y="2598"/>
            <a:chExt cx="1680" cy="1338"/>
          </a:xfrm>
        </p:grpSpPr>
        <p:sp>
          <p:nvSpPr>
            <p:cNvPr id="7" name="Line 13"/>
            <p:cNvSpPr>
              <a:spLocks noChangeShapeType="1"/>
            </p:cNvSpPr>
            <p:nvPr/>
          </p:nvSpPr>
          <p:spPr bwMode="auto">
            <a:xfrm flipV="1">
              <a:off x="576" y="264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384" y="3696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338" y="3203"/>
              <a:ext cx="6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672" y="259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zh-CN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1680" y="364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1200" y="3663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" name="AutoShape 19"/>
            <p:cNvSpPr>
              <a:spLocks noChangeArrowheads="1"/>
            </p:cNvSpPr>
            <p:nvPr/>
          </p:nvSpPr>
          <p:spPr bwMode="auto">
            <a:xfrm>
              <a:off x="1584" y="2976"/>
              <a:ext cx="48" cy="192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utoShape 20"/>
            <p:cNvSpPr>
              <a:spLocks noChangeArrowheads="1"/>
            </p:cNvSpPr>
            <p:nvPr/>
          </p:nvSpPr>
          <p:spPr bwMode="auto">
            <a:xfrm>
              <a:off x="864" y="2976"/>
              <a:ext cx="48" cy="144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624" y="316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有用</a:t>
              </a: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1536" y="264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无用</a:t>
              </a:r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576" y="2843"/>
              <a:ext cx="768" cy="360"/>
            </a:xfrm>
            <a:custGeom>
              <a:avLst/>
              <a:gdLst>
                <a:gd name="T0" fmla="*/ 0 w 768"/>
                <a:gd name="T1" fmla="*/ 216 h 360"/>
                <a:gd name="T2" fmla="*/ 336 w 768"/>
                <a:gd name="T3" fmla="*/ 24 h 360"/>
                <a:gd name="T4" fmla="*/ 768 w 768"/>
                <a:gd name="T5" fmla="*/ 360 h 3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360">
                  <a:moveTo>
                    <a:pt x="0" y="216"/>
                  </a:moveTo>
                  <a:cubicBezTo>
                    <a:pt x="104" y="108"/>
                    <a:pt x="208" y="0"/>
                    <a:pt x="336" y="24"/>
                  </a:cubicBezTo>
                  <a:cubicBezTo>
                    <a:pt x="464" y="48"/>
                    <a:pt x="696" y="304"/>
                    <a:pt x="768" y="36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24"/>
            <p:cNvSpPr>
              <a:spLocks/>
            </p:cNvSpPr>
            <p:nvPr/>
          </p:nvSpPr>
          <p:spPr bwMode="auto">
            <a:xfrm>
              <a:off x="1338" y="3203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288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108" y="72"/>
                    <a:pt x="216" y="144"/>
                    <a:pt x="288" y="144"/>
                  </a:cubicBezTo>
                  <a:cubicBezTo>
                    <a:pt x="360" y="144"/>
                    <a:pt x="408" y="24"/>
                    <a:pt x="4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689422" y="2636937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0" name="Object 5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3446067"/>
              </p:ext>
            </p:extLst>
          </p:nvPr>
        </p:nvGraphicFramePr>
        <p:xfrm>
          <a:off x="675806" y="889575"/>
          <a:ext cx="100806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279360" progId="Equation.DSMT4">
                  <p:embed/>
                </p:oleObj>
              </mc:Choice>
              <mc:Fallback>
                <p:oleObj name="Equation" r:id="rId2" imgW="533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806" y="889575"/>
                        <a:ext cx="100806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70"/>
          <p:cNvGrpSpPr>
            <a:grpSpLocks/>
          </p:cNvGrpSpPr>
          <p:nvPr/>
        </p:nvGrpSpPr>
        <p:grpSpPr bwMode="auto">
          <a:xfrm>
            <a:off x="660326" y="2722660"/>
            <a:ext cx="3300413" cy="2184401"/>
            <a:chOff x="1684" y="1843"/>
            <a:chExt cx="2079" cy="1376"/>
          </a:xfrm>
        </p:grpSpPr>
        <p:sp>
          <p:nvSpPr>
            <p:cNvPr id="22" name="Rectangle 46"/>
            <p:cNvSpPr>
              <a:spLocks noChangeArrowheads="1"/>
            </p:cNvSpPr>
            <p:nvPr/>
          </p:nvSpPr>
          <p:spPr bwMode="auto">
            <a:xfrm>
              <a:off x="3515" y="2931"/>
              <a:ext cx="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23" name="Text Box 47"/>
            <p:cNvSpPr txBox="1">
              <a:spLocks noChangeArrowheads="1"/>
            </p:cNvSpPr>
            <p:nvPr/>
          </p:nvSpPr>
          <p:spPr bwMode="auto">
            <a:xfrm>
              <a:off x="2200" y="22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" name="Text Box 49"/>
            <p:cNvSpPr txBox="1">
              <a:spLocks noChangeArrowheads="1"/>
            </p:cNvSpPr>
            <p:nvPr/>
          </p:nvSpPr>
          <p:spPr bwMode="auto">
            <a:xfrm>
              <a:off x="2290" y="293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" name="Line 5"/>
            <p:cNvSpPr>
              <a:spLocks noChangeShapeType="1"/>
            </p:cNvSpPr>
            <p:nvPr/>
          </p:nvSpPr>
          <p:spPr bwMode="auto">
            <a:xfrm>
              <a:off x="2434" y="2035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6"/>
            <p:cNvSpPr>
              <a:spLocks noChangeShapeType="1"/>
            </p:cNvSpPr>
            <p:nvPr/>
          </p:nvSpPr>
          <p:spPr bwMode="auto">
            <a:xfrm>
              <a:off x="2290" y="2947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2434" y="2323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3106" y="232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2962" y="2947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2434" y="1843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zh-CN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880334"/>
                </p:ext>
              </p:extLst>
            </p:nvPr>
          </p:nvGraphicFramePr>
          <p:xfrm>
            <a:off x="1684" y="1942"/>
            <a:ext cx="65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5760" imgH="279360" progId="Equation.DSMT4">
                    <p:embed/>
                  </p:oleObj>
                </mc:Choice>
                <mc:Fallback>
                  <p:oleObj name="Equation" r:id="rId4" imgW="5457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1942"/>
                          <a:ext cx="650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69"/>
          <p:cNvGrpSpPr>
            <a:grpSpLocks/>
          </p:cNvGrpSpPr>
          <p:nvPr/>
        </p:nvGrpSpPr>
        <p:grpSpPr bwMode="auto">
          <a:xfrm>
            <a:off x="732334" y="4626072"/>
            <a:ext cx="3316288" cy="2209800"/>
            <a:chOff x="3373" y="1797"/>
            <a:chExt cx="2089" cy="1392"/>
          </a:xfrm>
        </p:grpSpPr>
        <p:sp>
          <p:nvSpPr>
            <p:cNvPr id="33" name="Line 11"/>
            <p:cNvSpPr>
              <a:spLocks noChangeShapeType="1"/>
            </p:cNvSpPr>
            <p:nvPr/>
          </p:nvSpPr>
          <p:spPr bwMode="auto">
            <a:xfrm flipV="1">
              <a:off x="4066" y="1939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50"/>
            <p:cNvSpPr txBox="1">
              <a:spLocks noChangeArrowheads="1"/>
            </p:cNvSpPr>
            <p:nvPr/>
          </p:nvSpPr>
          <p:spPr bwMode="auto">
            <a:xfrm>
              <a:off x="3969" y="293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35" name="Group 25"/>
            <p:cNvGrpSpPr>
              <a:grpSpLocks/>
            </p:cNvGrpSpPr>
            <p:nvPr/>
          </p:nvGrpSpPr>
          <p:grpSpPr bwMode="auto">
            <a:xfrm>
              <a:off x="3878" y="1797"/>
              <a:ext cx="1584" cy="1392"/>
              <a:chOff x="3888" y="2592"/>
              <a:chExt cx="1584" cy="1392"/>
            </a:xfrm>
          </p:grpSpPr>
          <p:sp>
            <p:nvSpPr>
              <p:cNvPr id="37" name="Line 26"/>
              <p:cNvSpPr>
                <a:spLocks noChangeShapeType="1"/>
              </p:cNvSpPr>
              <p:nvPr/>
            </p:nvSpPr>
            <p:spPr bwMode="auto">
              <a:xfrm>
                <a:off x="3888" y="3744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Line 27"/>
              <p:cNvSpPr>
                <a:spLocks noChangeShapeType="1"/>
              </p:cNvSpPr>
              <p:nvPr/>
            </p:nvSpPr>
            <p:spPr bwMode="auto">
              <a:xfrm>
                <a:off x="4848" y="321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28"/>
              <p:cNvSpPr txBox="1">
                <a:spLocks noChangeArrowheads="1"/>
              </p:cNvSpPr>
              <p:nvPr/>
            </p:nvSpPr>
            <p:spPr bwMode="auto">
              <a:xfrm>
                <a:off x="4176" y="2592"/>
                <a:ext cx="10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1" lang="zh-CN" altLang="zh-C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 Box 29"/>
              <p:cNvSpPr txBox="1">
                <a:spLocks noChangeArrowheads="1"/>
              </p:cNvSpPr>
              <p:nvPr/>
            </p:nvSpPr>
            <p:spPr bwMode="auto">
              <a:xfrm>
                <a:off x="5184" y="36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</a:p>
            </p:txBody>
          </p:sp>
          <p:sp>
            <p:nvSpPr>
              <p:cNvPr id="41" name="Text Box 30"/>
              <p:cNvSpPr txBox="1">
                <a:spLocks noChangeArrowheads="1"/>
              </p:cNvSpPr>
              <p:nvPr/>
            </p:nvSpPr>
            <p:spPr bwMode="auto">
              <a:xfrm>
                <a:off x="4704" y="3726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kumimoji="1"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42" name="Freeform 31"/>
              <p:cNvSpPr>
                <a:spLocks/>
              </p:cNvSpPr>
              <p:nvPr/>
            </p:nvSpPr>
            <p:spPr bwMode="auto">
              <a:xfrm>
                <a:off x="4080" y="2880"/>
                <a:ext cx="768" cy="360"/>
              </a:xfrm>
              <a:custGeom>
                <a:avLst/>
                <a:gdLst>
                  <a:gd name="T0" fmla="*/ 0 w 768"/>
                  <a:gd name="T1" fmla="*/ 216 h 360"/>
                  <a:gd name="T2" fmla="*/ 336 w 768"/>
                  <a:gd name="T3" fmla="*/ 24 h 360"/>
                  <a:gd name="T4" fmla="*/ 768 w 768"/>
                  <a:gd name="T5" fmla="*/ 360 h 3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8" h="360">
                    <a:moveTo>
                      <a:pt x="0" y="216"/>
                    </a:moveTo>
                    <a:cubicBezTo>
                      <a:pt x="104" y="108"/>
                      <a:pt x="208" y="0"/>
                      <a:pt x="336" y="24"/>
                    </a:cubicBezTo>
                    <a:cubicBezTo>
                      <a:pt x="464" y="48"/>
                      <a:pt x="696" y="304"/>
                      <a:pt x="768" y="36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6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171960"/>
                </p:ext>
              </p:extLst>
            </p:nvPr>
          </p:nvGraphicFramePr>
          <p:xfrm>
            <a:off x="3373" y="1904"/>
            <a:ext cx="60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7960" imgH="279360" progId="Equation.DSMT4">
                    <p:embed/>
                  </p:oleObj>
                </mc:Choice>
                <mc:Fallback>
                  <p:oleObj name="Equation" r:id="rId6" imgW="5079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3" y="1904"/>
                          <a:ext cx="60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第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章  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滤波器的设计方法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44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8147248" cy="52565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Arial" pitchFamily="34" charset="0"/>
                <a:cs typeface="Arial" pitchFamily="34" charset="0"/>
              </a:rPr>
              <a:t>设计数字滤波器（</a:t>
            </a:r>
            <a:r>
              <a:rPr lang="en-US" altLang="zh-CN" sz="2800" b="1" dirty="0">
                <a:latin typeface="Arial" pitchFamily="34" charset="0"/>
                <a:cs typeface="Arial" pitchFamily="34" charset="0"/>
              </a:rPr>
              <a:t>digital filter</a:t>
            </a:r>
            <a:r>
              <a:rPr lang="zh-CN" altLang="en-US" sz="2800" b="1" dirty="0">
                <a:latin typeface="Arial" pitchFamily="34" charset="0"/>
                <a:cs typeface="Arial" pitchFamily="34" charset="0"/>
              </a:rPr>
              <a:t>）的三个步骤：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、确定滤波器的性能指标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（滤除、保留哪些频率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成分，保留部分允许多大失真等）；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、用一因果稳定的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LTI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系统的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去逼近该性能</a:t>
            </a:r>
            <a:endParaRPr lang="en-US" altLang="zh-CN" sz="28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IIR,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、数字滤波器的实现。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包括选择运算结构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运算和存储的字长等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25000"/>
              </a:lnSpc>
              <a:buNone/>
            </a:pPr>
            <a:endParaRPr lang="zh-CN" alt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第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章  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滤波器的设计方法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486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1933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滤波器的基本原理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24553851"/>
              </p:ext>
            </p:extLst>
          </p:nvPr>
        </p:nvGraphicFramePr>
        <p:xfrm>
          <a:off x="1619672" y="2810123"/>
          <a:ext cx="52847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431800" progId="Equation.DSMT4">
                  <p:embed/>
                </p:oleObj>
              </mc:Choice>
              <mc:Fallback>
                <p:oleObj name="Equation" r:id="rId2" imgW="2171700" imgH="43180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810123"/>
                        <a:ext cx="528478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273898"/>
              </p:ext>
            </p:extLst>
          </p:nvPr>
        </p:nvGraphicFramePr>
        <p:xfrm>
          <a:off x="1832681" y="4509120"/>
          <a:ext cx="5586413" cy="20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700" imgH="838200" progId="Equation.DSMT4">
                  <p:embed/>
                </p:oleObj>
              </mc:Choice>
              <mc:Fallback>
                <p:oleObj name="Equation" r:id="rId4" imgW="2298700" imgH="838200" progId="Equation.DSMT4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681" y="4509120"/>
                        <a:ext cx="5586413" cy="203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394716" y="1700808"/>
            <a:ext cx="8569772" cy="1872208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+mn-ea"/>
              </a:rPr>
              <a:t>数字滤波器的功能（本质）是将一组</a:t>
            </a:r>
            <a:r>
              <a:rPr lang="zh-CN" altLang="en-US" sz="2800" b="1" dirty="0">
                <a:latin typeface="+mn-ea"/>
              </a:rPr>
              <a:t>输入的数字序列通过一定的运算后转变为另一组输出的数字序列。</a:t>
            </a:r>
            <a:endParaRPr lang="zh-CN" altLang="en-US" b="1" dirty="0">
              <a:latin typeface="+mn-ea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394716" y="3912517"/>
            <a:ext cx="8749284" cy="792088"/>
          </a:xfrm>
        </p:spPr>
        <p:txBody>
          <a:bodyPr/>
          <a:lstStyle/>
          <a:p>
            <a:pPr lvl="0"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数字滤波器的设计是确定其</a:t>
            </a:r>
            <a:r>
              <a:rPr lang="zh-CN" altLang="en-US" sz="2800" b="1" dirty="0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系统函数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并实现的过程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394716" y="980728"/>
            <a:ext cx="8569772" cy="567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lnSpc>
                <a:spcPct val="125000"/>
              </a:lnSpc>
              <a:spcBef>
                <a:spcPct val="20000"/>
              </a:spcBef>
              <a:buBlip>
                <a:blip r:embed="rId6"/>
              </a:buBlip>
            </a:pPr>
            <a:r>
              <a:rPr kumimoji="1" lang="zh-CN" altLang="en-US" sz="2800" b="1" dirty="0">
                <a:solidFill>
                  <a:srgbClr val="000000"/>
                </a:solidFill>
                <a:latin typeface="Tahoma"/>
                <a:ea typeface="宋体"/>
              </a:rPr>
              <a:t>滤波</a:t>
            </a:r>
            <a:r>
              <a:rPr kumimoji="1" lang="zh-CN" altLang="en-US" sz="2800" dirty="0">
                <a:solidFill>
                  <a:srgbClr val="000000"/>
                </a:solidFill>
                <a:latin typeface="Tahoma"/>
                <a:ea typeface="宋体"/>
              </a:rPr>
              <a:t>：</a:t>
            </a:r>
            <a:r>
              <a:rPr kumimoji="1" lang="zh-CN" altLang="en-US" sz="2800" b="1" dirty="0">
                <a:solidFill>
                  <a:srgbClr val="000000"/>
                </a:solidFill>
                <a:latin typeface="Tahoma"/>
                <a:ea typeface="宋体"/>
              </a:rPr>
              <a:t>滤除信号中不需要的成分，保留有用成分</a:t>
            </a:r>
          </a:p>
        </p:txBody>
      </p:sp>
    </p:spTree>
    <p:extLst>
      <p:ext uri="{BB962C8B-B14F-4D97-AF65-F5344CB8AC3E}">
        <p14:creationId xmlns:p14="http://schemas.microsoft.com/office/powerpoint/2010/main" val="351750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35235" y="980728"/>
            <a:ext cx="5234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IIR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无限长单位脉冲响应系统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</a:rPr>
              <a:t>):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8144" y="961564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无限长</a:t>
            </a:r>
            <a:endParaRPr lang="zh-CN" altLang="en-US" b="1" dirty="0">
              <a:latin typeface="+mj-lt"/>
              <a:ea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76" y="4293096"/>
            <a:ext cx="5314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kumimoji="1"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FIR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</a:rPr>
              <a:t>有限长单位脉冲响应系统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</a:rPr>
              <a:t>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2961" y="4273932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n-ea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有限长</a:t>
            </a:r>
            <a:endParaRPr lang="zh-CN" altLang="en-US" b="1" dirty="0">
              <a:latin typeface="+mj-lt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62440260"/>
              </p:ext>
            </p:extLst>
          </p:nvPr>
        </p:nvGraphicFramePr>
        <p:xfrm>
          <a:off x="1381879" y="1484784"/>
          <a:ext cx="4777740" cy="94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431800" progId="Equation.DSMT4">
                  <p:embed/>
                </p:oleObj>
              </mc:Choice>
              <mc:Fallback>
                <p:oleObj name="Equation" r:id="rId2" imgW="2171700" imgH="431800" progId="Equation.DSMT4">
                  <p:embed/>
                  <p:pic>
                    <p:nvPicPr>
                      <p:cNvPr id="0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879" y="1484784"/>
                        <a:ext cx="4777740" cy="949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21011368"/>
              </p:ext>
            </p:extLst>
          </p:nvPr>
        </p:nvGraphicFramePr>
        <p:xfrm>
          <a:off x="1383307" y="2492896"/>
          <a:ext cx="2681712" cy="1843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838080" progId="Equation.DSMT4">
                  <p:embed/>
                </p:oleObj>
              </mc:Choice>
              <mc:Fallback>
                <p:oleObj name="Equation" r:id="rId4" imgW="1218960" imgH="838080" progId="Equation.DSMT4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307" y="2492896"/>
                        <a:ext cx="2681712" cy="1843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5199731" y="3121804"/>
            <a:ext cx="3188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/>
              </a:rPr>
              <a:t>至少有一个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/>
              </a:rPr>
              <a:t>b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/>
              </a:rPr>
              <a:t>不为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宋体"/>
              </a:rPr>
              <a:t>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  <p:graphicFrame>
        <p:nvGraphicFramePr>
          <p:cNvPr id="15" name="Object 1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79774926"/>
              </p:ext>
            </p:extLst>
          </p:nvPr>
        </p:nvGraphicFramePr>
        <p:xfrm>
          <a:off x="1299919" y="4869160"/>
          <a:ext cx="30734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31640" progId="Equation.DSMT4">
                  <p:embed/>
                </p:oleObj>
              </mc:Choice>
              <mc:Fallback>
                <p:oleObj name="Equation" r:id="rId6" imgW="1396800" imgH="43164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919" y="4869160"/>
                        <a:ext cx="30734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21164856"/>
              </p:ext>
            </p:extLst>
          </p:nvPr>
        </p:nvGraphicFramePr>
        <p:xfrm>
          <a:off x="1322844" y="5877272"/>
          <a:ext cx="25161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31640" progId="Equation.DSMT4">
                  <p:embed/>
                </p:oleObj>
              </mc:Choice>
              <mc:Fallback>
                <p:oleObj name="Equation" r:id="rId8" imgW="1143000" imgH="43164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844" y="5877272"/>
                        <a:ext cx="25161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71933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滤波器的基本原理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78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980728"/>
            <a:ext cx="8034536" cy="187220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经典滤波器，幅频特性是分段常数的。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通带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(passband)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内逼近于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，阻带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(stopband)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内逼近于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滤波器的分类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3140968"/>
            <a:ext cx="6336704" cy="294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</a:pPr>
            <a:r>
              <a:rPr kumimoji="1" lang="zh-CN" altLang="en-US" sz="32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从功能上可分为四种类型：</a:t>
            </a:r>
          </a:p>
          <a:p>
            <a:pPr marL="342900" lvl="0" indent="-342900" eaLnBrk="1" hangingPunct="1">
              <a:spcBef>
                <a:spcPct val="20000"/>
              </a:spcBef>
            </a:pP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低通（</a:t>
            </a:r>
            <a:r>
              <a:rPr kumimoji="1" lang="en-US" altLang="zh-CN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lowpass</a:t>
            </a:r>
            <a:r>
              <a:rPr kumimoji="1"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LP</a:t>
            </a: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20000"/>
              </a:spcBef>
            </a:pP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高通（</a:t>
            </a:r>
            <a:r>
              <a:rPr kumimoji="1" lang="en-US" altLang="zh-CN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highpass</a:t>
            </a:r>
            <a:r>
              <a:rPr kumimoji="1"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HP</a:t>
            </a: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20000"/>
              </a:spcBef>
            </a:pP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带通（</a:t>
            </a:r>
            <a:r>
              <a:rPr kumimoji="1" lang="en-US" altLang="zh-CN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bandpass</a:t>
            </a:r>
            <a:r>
              <a:rPr kumimoji="1"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BP</a:t>
            </a: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20000"/>
              </a:spcBef>
            </a:pP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带阻（</a:t>
            </a:r>
            <a:r>
              <a:rPr kumimoji="1" lang="en-US" altLang="zh-CN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bandstop</a:t>
            </a:r>
            <a:r>
              <a:rPr kumimoji="1"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BS</a:t>
            </a:r>
            <a:r>
              <a:rPr kumimoji="1"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5" descr="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759" y="868635"/>
            <a:ext cx="1903937" cy="556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71" y="898039"/>
            <a:ext cx="1903937" cy="5555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0031" y="889556"/>
            <a:ext cx="2017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模拟滤波器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703902" y="817548"/>
            <a:ext cx="2017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数字滤波器</a:t>
            </a:r>
          </a:p>
        </p:txBody>
      </p:sp>
      <p:pic>
        <p:nvPicPr>
          <p:cNvPr id="73" name="ther846.wav">
            <a:hlinkClick r:id="" action="ppaction://media"/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128" y="77435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lowt846.wav">
            <a:hlinkClick r:id="" action="ppaction://media"/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640" y="1549427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high846.wav">
            <a:hlinkClick r:id="" action="ppaction://media"/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640" y="2779094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 Box 3"/>
          <p:cNvSpPr txBox="1">
            <a:spLocks noChangeArrowheads="1"/>
          </p:cNvSpPr>
          <p:nvPr/>
        </p:nvSpPr>
        <p:spPr bwMode="auto">
          <a:xfrm>
            <a:off x="4332525" y="139256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低通</a:t>
            </a:r>
          </a:p>
        </p:txBody>
      </p:sp>
      <p:sp>
        <p:nvSpPr>
          <p:cNvPr id="77" name="Text Box 18"/>
          <p:cNvSpPr txBox="1">
            <a:spLocks noChangeArrowheads="1"/>
          </p:cNvSpPr>
          <p:nvPr/>
        </p:nvSpPr>
        <p:spPr bwMode="auto">
          <a:xfrm>
            <a:off x="4332525" y="270066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高通</a:t>
            </a:r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4308713" y="414908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带通</a:t>
            </a:r>
          </a:p>
        </p:txBody>
      </p:sp>
      <p:sp>
        <p:nvSpPr>
          <p:cNvPr id="79" name="Text Box 53"/>
          <p:cNvSpPr txBox="1">
            <a:spLocks noChangeArrowheads="1"/>
          </p:cNvSpPr>
          <p:nvPr/>
        </p:nvSpPr>
        <p:spPr bwMode="auto">
          <a:xfrm>
            <a:off x="4307125" y="558924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带阻</a:t>
            </a:r>
          </a:p>
        </p:txBody>
      </p:sp>
      <p:sp>
        <p:nvSpPr>
          <p:cNvPr id="2" name="矩形 1"/>
          <p:cNvSpPr/>
          <p:nvPr/>
        </p:nvSpPr>
        <p:spPr>
          <a:xfrm>
            <a:off x="6429537" y="6453336"/>
            <a:ext cx="878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lt"/>
              </a:rPr>
              <a:t>图</a:t>
            </a:r>
            <a:r>
              <a:rPr lang="en-US" altLang="zh-CN" sz="2400" b="1" dirty="0">
                <a:latin typeface="+mj-lt"/>
              </a:rPr>
              <a:t>4.2</a:t>
            </a:r>
            <a:endParaRPr lang="zh-CN" altLang="en-US" sz="2400" b="1" dirty="0">
              <a:latin typeface="+mj-lt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2157755" y="6424640"/>
            <a:ext cx="878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lt"/>
              </a:rPr>
              <a:t>图</a:t>
            </a:r>
            <a:r>
              <a:rPr lang="en-US" altLang="zh-CN" sz="2400" b="1" dirty="0">
                <a:latin typeface="+mj-lt"/>
              </a:rPr>
              <a:t>4.1</a:t>
            </a:r>
            <a:endParaRPr lang="zh-CN" altLang="en-US" sz="2400" b="1" dirty="0">
              <a:latin typeface="+mj-lt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滤波器的分类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50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2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762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762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audio>
              <p:cMediaNode>
                <p:cTn id="1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audi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99592" y="908720"/>
            <a:ext cx="7992888" cy="1653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latin typeface="+mj-lt"/>
              </a:rPr>
              <a:t>数字滤波器的频率响应是以       为周期，图</a:t>
            </a:r>
            <a:r>
              <a:rPr lang="en-US" altLang="zh-CN" sz="2800" b="1" dirty="0">
                <a:latin typeface="+mj-lt"/>
              </a:rPr>
              <a:t>4.2</a:t>
            </a:r>
            <a:r>
              <a:rPr lang="zh-CN" altLang="en-US" sz="2800" b="1" dirty="0">
                <a:latin typeface="+mj-lt"/>
              </a:rPr>
              <a:t>仅</a:t>
            </a:r>
            <a:endParaRPr lang="en-US" altLang="zh-CN" sz="2800" b="1" dirty="0">
              <a:latin typeface="+mj-lt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latin typeface="+mj-lt"/>
              </a:rPr>
              <a:t>给出了              一个周期，其余按周期延拓的规律无限重复。</a:t>
            </a: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418355"/>
              </p:ext>
            </p:extLst>
          </p:nvPr>
        </p:nvGraphicFramePr>
        <p:xfrm>
          <a:off x="5364088" y="1004572"/>
          <a:ext cx="525780" cy="40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177480" progId="Equation.DSMT4">
                  <p:embed/>
                </p:oleObj>
              </mc:Choice>
              <mc:Fallback>
                <p:oleObj name="Equation" r:id="rId2" imgW="228600" imgH="177480" progId="Equation.DSMT4">
                  <p:embed/>
                  <p:pic>
                    <p:nvPicPr>
                      <p:cNvPr id="2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004572"/>
                        <a:ext cx="525780" cy="408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188284"/>
              </p:ext>
            </p:extLst>
          </p:nvPr>
        </p:nvGraphicFramePr>
        <p:xfrm>
          <a:off x="2123728" y="1628800"/>
          <a:ext cx="114141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139680" progId="Equation.DSMT4">
                  <p:embed/>
                </p:oleObj>
              </mc:Choice>
              <mc:Fallback>
                <p:oleObj name="Equation" r:id="rId4" imgW="495000" imgH="139680" progId="Equation.DSMT4">
                  <p:embed/>
                  <p:pic>
                    <p:nvPicPr>
                      <p:cNvPr id="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628800"/>
                        <a:ext cx="1141412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4"/>
          <p:cNvGrpSpPr>
            <a:grpSpLocks/>
          </p:cNvGrpSpPr>
          <p:nvPr/>
        </p:nvGrpSpPr>
        <p:grpSpPr bwMode="auto">
          <a:xfrm>
            <a:off x="404734" y="3362228"/>
            <a:ext cx="8369296" cy="1617663"/>
            <a:chOff x="356" y="247"/>
            <a:chExt cx="5272" cy="1019"/>
          </a:xfrm>
        </p:grpSpPr>
        <p:sp>
          <p:nvSpPr>
            <p:cNvPr id="19" name="Line 5"/>
            <p:cNvSpPr>
              <a:spLocks noChangeShapeType="1"/>
            </p:cNvSpPr>
            <p:nvPr/>
          </p:nvSpPr>
          <p:spPr bwMode="auto">
            <a:xfrm>
              <a:off x="356" y="1041"/>
              <a:ext cx="5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6"/>
            <p:cNvSpPr>
              <a:spLocks noChangeShapeType="1"/>
            </p:cNvSpPr>
            <p:nvPr/>
          </p:nvSpPr>
          <p:spPr bwMode="auto">
            <a:xfrm flipV="1">
              <a:off x="2823" y="465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35" y="801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5743074"/>
                </p:ext>
              </p:extLst>
            </p:nvPr>
          </p:nvGraphicFramePr>
          <p:xfrm>
            <a:off x="5483" y="1108"/>
            <a:ext cx="145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8673" imgH="60897" progId="Equation.3">
                    <p:embed/>
                  </p:oleObj>
                </mc:Choice>
                <mc:Fallback>
                  <p:oleObj name="公式" r:id="rId6" imgW="68673" imgH="60897" progId="Equation.3">
                    <p:embed/>
                    <p:pic>
                      <p:nvPicPr>
                        <p:cNvPr id="1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3" y="1108"/>
                          <a:ext cx="145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5300005"/>
                </p:ext>
              </p:extLst>
            </p:nvPr>
          </p:nvGraphicFramePr>
          <p:xfrm>
            <a:off x="2938" y="978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40" imgH="228600" progId="Equation.DSMT4">
                    <p:embed/>
                  </p:oleObj>
                </mc:Choice>
                <mc:Fallback>
                  <p:oleObj name="Equation" r:id="rId8" imgW="190440" imgH="228600" progId="Equation.DSMT4">
                    <p:embed/>
                    <p:pic>
                      <p:nvPicPr>
                        <p:cNvPr id="1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" y="978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0"/>
            <p:cNvGraphicFramePr>
              <a:graphicFrameLocks noChangeAspect="1"/>
            </p:cNvGraphicFramePr>
            <p:nvPr/>
          </p:nvGraphicFramePr>
          <p:xfrm>
            <a:off x="2708" y="656"/>
            <a:ext cx="84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0" imgH="76229" progId="Equation.3">
                    <p:embed/>
                  </p:oleObj>
                </mc:Choice>
                <mc:Fallback>
                  <p:oleObj name="公式" r:id="rId10" imgW="0" imgH="76229" progId="Equation.3">
                    <p:embed/>
                    <p:pic>
                      <p:nvPicPr>
                        <p:cNvPr id="1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656"/>
                          <a:ext cx="84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4929563"/>
                </p:ext>
              </p:extLst>
            </p:nvPr>
          </p:nvGraphicFramePr>
          <p:xfrm>
            <a:off x="2377" y="978"/>
            <a:ext cx="35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79360" imgH="228600" progId="Equation.DSMT4">
                    <p:embed/>
                  </p:oleObj>
                </mc:Choice>
                <mc:Fallback>
                  <p:oleObj name="Equation" r:id="rId12" imgW="279360" imgH="228600" progId="Equation.DSMT4">
                    <p:embed/>
                    <p:pic>
                      <p:nvPicPr>
                        <p:cNvPr id="1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7" y="978"/>
                          <a:ext cx="35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2"/>
            <p:cNvGraphicFramePr>
              <a:graphicFrameLocks noChangeAspect="1"/>
            </p:cNvGraphicFramePr>
            <p:nvPr/>
          </p:nvGraphicFramePr>
          <p:xfrm>
            <a:off x="2774" y="1056"/>
            <a:ext cx="12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8008" imgH="99120" progId="Equation.3">
                    <p:embed/>
                  </p:oleObj>
                </mc:Choice>
                <mc:Fallback>
                  <p:oleObj name="公式" r:id="rId14" imgW="38008" imgH="9912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4" y="1056"/>
                          <a:ext cx="12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9780102"/>
                </p:ext>
              </p:extLst>
            </p:nvPr>
          </p:nvGraphicFramePr>
          <p:xfrm>
            <a:off x="2839" y="247"/>
            <a:ext cx="72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45760" imgH="279360" progId="Equation.DSMT4">
                    <p:embed/>
                  </p:oleObj>
                </mc:Choice>
                <mc:Fallback>
                  <p:oleObj name="Equation" r:id="rId16" imgW="545760" imgH="279360" progId="Equation.DSMT4">
                    <p:embed/>
                    <p:pic>
                      <p:nvPicPr>
                        <p:cNvPr id="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" y="247"/>
                          <a:ext cx="722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14"/>
            <p:cNvSpPr>
              <a:spLocks noChangeShapeType="1"/>
            </p:cNvSpPr>
            <p:nvPr/>
          </p:nvSpPr>
          <p:spPr bwMode="auto">
            <a:xfrm>
              <a:off x="2028" y="999"/>
              <a:ext cx="0" cy="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7228021"/>
                </p:ext>
              </p:extLst>
            </p:nvPr>
          </p:nvGraphicFramePr>
          <p:xfrm>
            <a:off x="1889" y="1069"/>
            <a:ext cx="30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41200" imgH="139680" progId="Equation.DSMT4">
                    <p:embed/>
                  </p:oleObj>
                </mc:Choice>
                <mc:Fallback>
                  <p:oleObj name="Equation" r:id="rId18" imgW="241200" imgH="139680" progId="Equation.DSMT4">
                    <p:embed/>
                    <p:pic>
                      <p:nvPicPr>
                        <p:cNvPr id="1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9" y="1069"/>
                          <a:ext cx="30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3652" y="999"/>
              <a:ext cx="0" cy="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5939187"/>
                </p:ext>
              </p:extLst>
            </p:nvPr>
          </p:nvGraphicFramePr>
          <p:xfrm>
            <a:off x="3568" y="1063"/>
            <a:ext cx="19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280" imgH="139680" progId="Equation.DSMT4">
                    <p:embed/>
                  </p:oleObj>
                </mc:Choice>
                <mc:Fallback>
                  <p:oleObj name="Equation" r:id="rId20" imgW="152280" imgH="139680" progId="Equation.DSMT4">
                    <p:embed/>
                    <p:pic>
                      <p:nvPicPr>
                        <p:cNvPr id="2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1063"/>
                          <a:ext cx="19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6422937" y="4241703"/>
            <a:ext cx="914399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Line 16"/>
          <p:cNvSpPr>
            <a:spLocks noChangeShapeType="1"/>
          </p:cNvSpPr>
          <p:nvPr/>
        </p:nvSpPr>
        <p:spPr bwMode="auto">
          <a:xfrm>
            <a:off x="8196174" y="4556028"/>
            <a:ext cx="0" cy="66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540921"/>
              </p:ext>
            </p:extLst>
          </p:nvPr>
        </p:nvGraphicFramePr>
        <p:xfrm>
          <a:off x="7967574" y="4658216"/>
          <a:ext cx="45720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177480" progId="Equation.DSMT4">
                  <p:embed/>
                </p:oleObj>
              </mc:Choice>
              <mc:Fallback>
                <p:oleObj name="Equation" r:id="rId22" imgW="228600" imgH="177480" progId="Equation.DSMT4">
                  <p:embed/>
                  <p:pic>
                    <p:nvPicPr>
                      <p:cNvPr id="3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7574" y="4658216"/>
                        <a:ext cx="457200" cy="35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569402"/>
              </p:ext>
            </p:extLst>
          </p:nvPr>
        </p:nvGraphicFramePr>
        <p:xfrm>
          <a:off x="6696795" y="4622703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" imgH="177480" progId="Equation.DSMT4">
                  <p:embed/>
                </p:oleObj>
              </mc:Choice>
              <mc:Fallback>
                <p:oleObj name="Equation" r:id="rId24" imgW="228600" imgH="177480" progId="Equation.DSMT4">
                  <p:embed/>
                  <p:pic>
                    <p:nvPicPr>
                      <p:cNvPr id="3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795" y="4622703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365028" y="4237905"/>
            <a:ext cx="914399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172549"/>
              </p:ext>
            </p:extLst>
          </p:nvPr>
        </p:nvGraphicFramePr>
        <p:xfrm>
          <a:off x="1487165" y="4615106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4560" imgH="177480" progId="Equation.DSMT4">
                  <p:embed/>
                </p:oleObj>
              </mc:Choice>
              <mc:Fallback>
                <p:oleObj name="Equation" r:id="rId26" imgW="304560" imgH="177480" progId="Equation.DSMT4">
                  <p:embed/>
                  <p:pic>
                    <p:nvPicPr>
                      <p:cNvPr id="3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165" y="4615106"/>
                        <a:ext cx="609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832886"/>
              </p:ext>
            </p:extLst>
          </p:nvPr>
        </p:nvGraphicFramePr>
        <p:xfrm>
          <a:off x="323528" y="4635743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04560" imgH="177480" progId="Equation.DSMT4">
                  <p:embed/>
                </p:oleObj>
              </mc:Choice>
              <mc:Fallback>
                <p:oleObj name="Equation" r:id="rId28" imgW="304560" imgH="177480" progId="Equation.DSMT4">
                  <p:embed/>
                  <p:pic>
                    <p:nvPicPr>
                      <p:cNvPr id="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635743"/>
                        <a:ext cx="609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551235" y="4548431"/>
            <a:ext cx="0" cy="66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898883" y="2761764"/>
            <a:ext cx="39075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理想数字低通滤波器</a:t>
            </a: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755576" y="228600"/>
            <a:ext cx="6660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滤波器的分类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30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132856"/>
            <a:ext cx="6240780" cy="348043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040" y="857308"/>
            <a:ext cx="8060432" cy="1146046"/>
          </a:xfrm>
        </p:spPr>
        <p:txBody>
          <a:bodyPr/>
          <a:lstStyle/>
          <a:p>
            <a:r>
              <a:rPr lang="zh-CN" altLang="en-US" sz="3000" b="1" dirty="0">
                <a:solidFill>
                  <a:srgbClr val="FF0000"/>
                </a:solidFill>
              </a:rPr>
              <a:t>理想滤波器不可实现</a:t>
            </a:r>
            <a:endParaRPr lang="en-US" altLang="zh-CN" sz="3000" b="1" dirty="0">
              <a:solidFill>
                <a:srgbClr val="FF0000"/>
              </a:solidFill>
            </a:endParaRPr>
          </a:p>
          <a:p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实际滤波器通带和阻带之间有一个过渡带</a:t>
            </a:r>
            <a:endParaRPr lang="zh-CN" altLang="en-US" sz="3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可实现滤波器的特性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86549" y="6291676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低通数字滤波器的幅频特性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25394"/>
              </p:ext>
            </p:extLst>
          </p:nvPr>
        </p:nvGraphicFramePr>
        <p:xfrm>
          <a:off x="1508328" y="1957199"/>
          <a:ext cx="1255248" cy="64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5760" imgH="279360" progId="Equation.DSMT4">
                  <p:embed/>
                </p:oleObj>
              </mc:Choice>
              <mc:Fallback>
                <p:oleObj name="Equation" r:id="rId3" imgW="545760" imgH="279360" progId="Equation.DSMT4">
                  <p:embed/>
                  <p:pic>
                    <p:nvPicPr>
                      <p:cNvPr id="33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328" y="1957199"/>
                        <a:ext cx="1255248" cy="64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067674"/>
              </p:ext>
            </p:extLst>
          </p:nvPr>
        </p:nvGraphicFramePr>
        <p:xfrm>
          <a:off x="522412" y="2996952"/>
          <a:ext cx="758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228600" progId="Equation.DSMT4">
                  <p:embed/>
                </p:oleObj>
              </mc:Choice>
              <mc:Fallback>
                <p:oleObj name="Equation" r:id="rId5" imgW="368280" imgH="22860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12" y="2996952"/>
                        <a:ext cx="758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586162"/>
              </p:ext>
            </p:extLst>
          </p:nvPr>
        </p:nvGraphicFramePr>
        <p:xfrm>
          <a:off x="1001925" y="2569398"/>
          <a:ext cx="2349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64880" progId="Equation.DSMT4">
                  <p:embed/>
                </p:oleObj>
              </mc:Choice>
              <mc:Fallback>
                <p:oleObj name="Equation" r:id="rId7" imgW="114120" imgH="164880" progId="Equation.DSMT4">
                  <p:embed/>
                  <p:pic>
                    <p:nvPicPr>
                      <p:cNvPr id="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925" y="2569398"/>
                        <a:ext cx="2349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769014"/>
              </p:ext>
            </p:extLst>
          </p:nvPr>
        </p:nvGraphicFramePr>
        <p:xfrm>
          <a:off x="908484" y="4690988"/>
          <a:ext cx="3667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28600" progId="Equation.DSMT4">
                  <p:embed/>
                </p:oleObj>
              </mc:Choice>
              <mc:Fallback>
                <p:oleObj name="Equation" r:id="rId9" imgW="177480" imgH="228600" progId="Equation.DSMT4">
                  <p:embed/>
                  <p:pic>
                    <p:nvPicPr>
                      <p:cNvPr id="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484" y="4690988"/>
                        <a:ext cx="3667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562827"/>
              </p:ext>
            </p:extLst>
          </p:nvPr>
        </p:nvGraphicFramePr>
        <p:xfrm>
          <a:off x="2732088" y="5322888"/>
          <a:ext cx="392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2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5322888"/>
                        <a:ext cx="3921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650711"/>
              </p:ext>
            </p:extLst>
          </p:nvPr>
        </p:nvGraphicFramePr>
        <p:xfrm>
          <a:off x="4211960" y="5323391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5323391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035716"/>
              </p:ext>
            </p:extLst>
          </p:nvPr>
        </p:nvGraphicFramePr>
        <p:xfrm>
          <a:off x="7126288" y="5324475"/>
          <a:ext cx="3143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139680" progId="Equation.DSMT4">
                  <p:embed/>
                </p:oleObj>
              </mc:Choice>
              <mc:Fallback>
                <p:oleObj name="Equation" r:id="rId15" imgW="152280" imgH="139680" progId="Equation.DSMT4">
                  <p:embed/>
                  <p:pic>
                    <p:nvPicPr>
                      <p:cNvPr id="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6288" y="5324475"/>
                        <a:ext cx="314325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965221"/>
              </p:ext>
            </p:extLst>
          </p:nvPr>
        </p:nvGraphicFramePr>
        <p:xfrm>
          <a:off x="6359360" y="5402959"/>
          <a:ext cx="3143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80" imgH="139680" progId="Equation.DSMT4">
                  <p:embed/>
                </p:oleObj>
              </mc:Choice>
              <mc:Fallback>
                <p:oleObj name="Equation" r:id="rId17" imgW="152280" imgH="139680" progId="Equation.DSMT4">
                  <p:embed/>
                  <p:pic>
                    <p:nvPicPr>
                      <p:cNvPr id="2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360" y="5402959"/>
                        <a:ext cx="314325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78"/>
          <p:cNvSpPr>
            <a:spLocks noChangeArrowheads="1"/>
          </p:cNvSpPr>
          <p:nvPr/>
        </p:nvSpPr>
        <p:spPr bwMode="auto">
          <a:xfrm>
            <a:off x="5148064" y="5696421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阻带</a:t>
            </a:r>
          </a:p>
        </p:txBody>
      </p:sp>
      <p:sp>
        <p:nvSpPr>
          <p:cNvPr id="30" name="Rectangle 79"/>
          <p:cNvSpPr>
            <a:spLocks noChangeArrowheads="1"/>
          </p:cNvSpPr>
          <p:nvPr/>
        </p:nvSpPr>
        <p:spPr bwMode="auto">
          <a:xfrm>
            <a:off x="3228333" y="5714800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过渡带</a:t>
            </a:r>
          </a:p>
        </p:txBody>
      </p:sp>
      <p:sp>
        <p:nvSpPr>
          <p:cNvPr id="31" name="Rectangle 83"/>
          <p:cNvSpPr>
            <a:spLocks noChangeArrowheads="1"/>
          </p:cNvSpPr>
          <p:nvPr/>
        </p:nvSpPr>
        <p:spPr bwMode="auto">
          <a:xfrm>
            <a:off x="1761348" y="5645713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通带</a:t>
            </a:r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1403648" y="5711744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3" name="Line 13"/>
          <p:cNvSpPr>
            <a:spLocks noChangeShapeType="1"/>
          </p:cNvSpPr>
          <p:nvPr/>
        </p:nvSpPr>
        <p:spPr bwMode="auto">
          <a:xfrm>
            <a:off x="2915816" y="5711744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4" name="Line 13"/>
          <p:cNvSpPr>
            <a:spLocks noChangeShapeType="1"/>
          </p:cNvSpPr>
          <p:nvPr/>
        </p:nvSpPr>
        <p:spPr bwMode="auto">
          <a:xfrm>
            <a:off x="4427984" y="5733256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6516216" y="5711744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aphicFrame>
        <p:nvGraphicFramePr>
          <p:cNvPr id="3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56000"/>
              </p:ext>
            </p:extLst>
          </p:nvPr>
        </p:nvGraphicFramePr>
        <p:xfrm>
          <a:off x="1392386" y="5819799"/>
          <a:ext cx="15954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74360" imgH="203040" progId="Equation.DSMT4">
                  <p:embed/>
                </p:oleObj>
              </mc:Choice>
              <mc:Fallback>
                <p:oleObj name="Equation" r:id="rId19" imgW="774360" imgH="203040" progId="Equation.DSMT4">
                  <p:embed/>
                  <p:pic>
                    <p:nvPicPr>
                      <p:cNvPr id="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386" y="5819799"/>
                        <a:ext cx="15954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79923"/>
              </p:ext>
            </p:extLst>
          </p:nvPr>
        </p:nvGraphicFramePr>
        <p:xfrm>
          <a:off x="4365724" y="5819800"/>
          <a:ext cx="22225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79280" imgH="203040" progId="Equation.DSMT4">
                  <p:embed/>
                </p:oleObj>
              </mc:Choice>
              <mc:Fallback>
                <p:oleObj name="Equation" r:id="rId21" imgW="1079280" imgH="203040" progId="Equation.DSMT4">
                  <p:embed/>
                  <p:pic>
                    <p:nvPicPr>
                      <p:cNvPr id="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724" y="5819800"/>
                        <a:ext cx="22225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958435"/>
              </p:ext>
            </p:extLst>
          </p:nvPr>
        </p:nvGraphicFramePr>
        <p:xfrm>
          <a:off x="2868614" y="5822950"/>
          <a:ext cx="1606624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12520" imgH="203040" progId="Equation.DSMT4">
                  <p:embed/>
                </p:oleObj>
              </mc:Choice>
              <mc:Fallback>
                <p:oleObj name="Equation" r:id="rId23" imgW="812520" imgH="203040" progId="Equation.DSMT4">
                  <p:embed/>
                  <p:pic>
                    <p:nvPicPr>
                      <p:cNvPr id="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4" y="5822950"/>
                        <a:ext cx="1606624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638789"/>
              </p:ext>
            </p:extLst>
          </p:nvPr>
        </p:nvGraphicFramePr>
        <p:xfrm>
          <a:off x="6508750" y="3827071"/>
          <a:ext cx="26146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9720" imgH="228600" progId="Equation.DSMT4">
                  <p:embed/>
                </p:oleObj>
              </mc:Choice>
              <mc:Fallback>
                <p:oleObj name="Equation" r:id="rId25" imgW="1269720" imgH="22860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3827071"/>
                        <a:ext cx="26146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292968"/>
              </p:ext>
            </p:extLst>
          </p:nvPr>
        </p:nvGraphicFramePr>
        <p:xfrm>
          <a:off x="6231954" y="3291887"/>
          <a:ext cx="28765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96800" imgH="228600" progId="Equation.DSMT4">
                  <p:embed/>
                </p:oleObj>
              </mc:Choice>
              <mc:Fallback>
                <p:oleObj name="Equation" r:id="rId27" imgW="1396800" imgH="228600" progId="Equation.DSMT4">
                  <p:embed/>
                  <p:pic>
                    <p:nvPicPr>
                      <p:cNvPr id="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1954" y="3291887"/>
                        <a:ext cx="28765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4227885" y="2204864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通带边界频率</a:t>
            </a:r>
          </a:p>
        </p:txBody>
      </p:sp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492772"/>
              </p:ext>
            </p:extLst>
          </p:nvPr>
        </p:nvGraphicFramePr>
        <p:xfrm>
          <a:off x="6529388" y="2217738"/>
          <a:ext cx="392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0440" imgH="228600" progId="Equation.DSMT4">
                  <p:embed/>
                </p:oleObj>
              </mc:Choice>
              <mc:Fallback>
                <p:oleObj name="Equation" r:id="rId29" imgW="190440" imgH="22860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2217738"/>
                        <a:ext cx="3921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1"/>
          <p:cNvSpPr>
            <a:spLocks noChangeArrowheads="1"/>
          </p:cNvSpPr>
          <p:nvPr/>
        </p:nvSpPr>
        <p:spPr bwMode="auto">
          <a:xfrm>
            <a:off x="4237354" y="2719023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dirty="0"/>
              <a:t>阻带边界频率</a:t>
            </a:r>
          </a:p>
        </p:txBody>
      </p:sp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337318"/>
              </p:ext>
            </p:extLst>
          </p:nvPr>
        </p:nvGraphicFramePr>
        <p:xfrm>
          <a:off x="6516216" y="2745683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90440" imgH="228600" progId="Equation.DSMT4">
                  <p:embed/>
                </p:oleObj>
              </mc:Choice>
              <mc:Fallback>
                <p:oleObj name="Equation" r:id="rId31" imgW="190440" imgH="228600" progId="Equation.DSMT4">
                  <p:embed/>
                  <p:pic>
                    <p:nvPicPr>
                      <p:cNvPr id="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2745683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211960" y="3241549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通带波动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211960" y="3764074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最小阻带衰减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1390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467544" y="4627002"/>
            <a:ext cx="84240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最优化设计方法</a:t>
            </a:r>
          </a:p>
          <a:p>
            <a:pPr>
              <a:lnSpc>
                <a:spcPct val="125000"/>
              </a:lnSpc>
              <a:spcBef>
                <a:spcPts val="12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首先确定一种最优准则；然后，求此最佳准则下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的滤波器系数。</a:t>
            </a:r>
          </a:p>
        </p:txBody>
      </p:sp>
      <p:sp>
        <p:nvSpPr>
          <p:cNvPr id="18437" name="Rectangle 14"/>
          <p:cNvSpPr>
            <a:spLocks noChangeArrowheads="1"/>
          </p:cNvSpPr>
          <p:nvPr/>
        </p:nvSpPr>
        <p:spPr bwMode="auto">
          <a:xfrm>
            <a:off x="510125" y="1109878"/>
            <a:ext cx="8686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-180975">
              <a:spcBef>
                <a:spcPct val="20000"/>
              </a:spcBef>
              <a:buChar char="•"/>
              <a:tabLst>
                <a:tab pos="1809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809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809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IIR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滤波器通常有以下两种设计方法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  <a:p>
            <a:pPr algn="just">
              <a:lnSpc>
                <a:spcPct val="125000"/>
              </a:lnSpc>
              <a:spcBef>
                <a:spcPts val="1200"/>
              </a:spcBef>
              <a:buFontTx/>
              <a:buNone/>
            </a:pP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(1)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先设计一个合适的模拟滤波器，然后变换成满足 </a:t>
            </a:r>
            <a:endParaRPr kumimoji="1" lang="en-US" altLang="zh-CN" sz="2800" b="1" dirty="0">
              <a:solidFill>
                <a:srgbClr val="6600C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预定指标的数字滤波器。</a:t>
            </a:r>
            <a:endParaRPr kumimoji="1" lang="en-US" altLang="zh-CN" sz="2800" b="1" dirty="0">
              <a:solidFill>
                <a:srgbClr val="6600C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3608" y="2852936"/>
            <a:ext cx="770485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由于模拟的网络综合理论已经发展得很成熟，模拟滤波器有简单而严格的设计公式，设计起来方便、准确。</a:t>
            </a:r>
            <a:endParaRPr lang="zh-CN" altLang="en-US" sz="2800" b="1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可实现滤波器的特性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7" y="908720"/>
            <a:ext cx="8842375" cy="1143000"/>
          </a:xfrm>
        </p:spPr>
        <p:txBody>
          <a:bodyPr/>
          <a:lstStyle/>
          <a:p>
            <a:pPr eaLnBrk="1" hangingPunct="1"/>
            <a:r>
              <a:rPr lang="zh-CN" altLang="en-US" sz="32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由模拟滤波器设计数字滤波器步骤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916832"/>
            <a:ext cx="8640960" cy="243662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数字滤波器的技术指标转换成模拟滤波器指标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由模拟滤波器指标设计模拟滤波器</a:t>
            </a:r>
            <a:r>
              <a:rPr lang="en-US" altLang="zh-CN" sz="2800" b="1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(4.2</a:t>
            </a:r>
            <a:r>
              <a:rPr lang="zh-CN" altLang="en-US" sz="2800" b="1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r>
              <a:rPr lang="en-US" altLang="zh-CN" sz="2800" b="1" dirty="0">
                <a:solidFill>
                  <a:srgbClr val="800000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映射实现：从模拟滤波器再转换为数字滤波器</a:t>
            </a:r>
            <a:r>
              <a:rPr lang="en-US" altLang="zh-CN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(4.3</a:t>
            </a:r>
            <a:r>
              <a:rPr lang="zh-CN" altLang="en-US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r>
              <a:rPr lang="en-US" altLang="zh-CN" sz="2800" b="1" dirty="0">
                <a:solidFill>
                  <a:srgbClr val="6600C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460" name="Rectangle 6"/>
          <p:cNvSpPr>
            <a:spLocks noChangeArrowheads="1"/>
          </p:cNvSpPr>
          <p:nvPr/>
        </p:nvSpPr>
        <p:spPr bwMode="auto">
          <a:xfrm>
            <a:off x="32124" y="4725144"/>
            <a:ext cx="17315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数字滤波器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技术指标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745768" y="5214353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555776" y="4725144"/>
            <a:ext cx="17315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技术指标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094960" y="4725144"/>
            <a:ext cx="17315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7376940" y="4715908"/>
            <a:ext cx="17315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1" hangingPunct="1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4338056" y="5207320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8" name="直接箭头连接符 17"/>
          <p:cNvCxnSpPr/>
          <p:nvPr/>
        </p:nvCxnSpPr>
        <p:spPr>
          <a:xfrm flipV="1">
            <a:off x="6714320" y="5178605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939457" y="4463534"/>
            <a:ext cx="3868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latin typeface="+mj-lt"/>
              </a:rPr>
              <a:t>1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497711" y="4425454"/>
            <a:ext cx="3868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latin typeface="+mj-lt"/>
              </a:rPr>
              <a:t>2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6901421" y="4384129"/>
            <a:ext cx="3868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latin typeface="+mj-lt"/>
              </a:rPr>
              <a:t>3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4.1.2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可实现滤波器的特性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6" grpId="0"/>
      <p:bldP spid="11" grpId="0"/>
      <p:bldP spid="13" grpId="0"/>
      <p:bldP spid="12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68760"/>
            <a:ext cx="7772400" cy="496855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常用的模拟低通滤波器有巴特沃思、切比雪夫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以及椭圆滤波器。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高通、带通 、带阻等模拟滤波器可利用变量变换方法，由低通滤波器变换得到。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模拟滤波器的设计就是根据一组设计规范设计模拟系统函数</a:t>
            </a:r>
            <a:r>
              <a:rPr kumimoji="1" lang="en-US" altLang="zh-CN" sz="2800" b="1" i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25000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，使其逼近某个理想滤波器特性。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模拟滤波器的设计方法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4" y="1556792"/>
            <a:ext cx="6240780" cy="3480435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624025" y="6165304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2.14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模拟低通滤波器的幅频特性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226784"/>
              </p:ext>
            </p:extLst>
          </p:nvPr>
        </p:nvGraphicFramePr>
        <p:xfrm>
          <a:off x="1489075" y="1409700"/>
          <a:ext cx="1370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53800" progId="Equation.DSMT4">
                  <p:embed/>
                </p:oleObj>
              </mc:Choice>
              <mc:Fallback>
                <p:oleObj name="Equation" r:id="rId3" imgW="596880" imgH="253800" progId="Equation.DSMT4">
                  <p:embed/>
                  <p:pic>
                    <p:nvPicPr>
                      <p:cNvPr id="21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1409700"/>
                        <a:ext cx="13700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251352"/>
              </p:ext>
            </p:extLst>
          </p:nvPr>
        </p:nvGraphicFramePr>
        <p:xfrm>
          <a:off x="559888" y="2420888"/>
          <a:ext cx="758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228600" progId="Equation.DSMT4">
                  <p:embed/>
                </p:oleObj>
              </mc:Choice>
              <mc:Fallback>
                <p:oleObj name="Equation" r:id="rId5" imgW="368280" imgH="228600" progId="Equation.DSMT4">
                  <p:embed/>
                  <p:pic>
                    <p:nvPicPr>
                      <p:cNvPr id="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88" y="2420888"/>
                        <a:ext cx="758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42826"/>
              </p:ext>
            </p:extLst>
          </p:nvPr>
        </p:nvGraphicFramePr>
        <p:xfrm>
          <a:off x="1039401" y="1993334"/>
          <a:ext cx="2349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64880" progId="Equation.DSMT4">
                  <p:embed/>
                </p:oleObj>
              </mc:Choice>
              <mc:Fallback>
                <p:oleObj name="Equation" r:id="rId7" imgW="114120" imgH="164880" progId="Equation.DSMT4">
                  <p:embed/>
                  <p:pic>
                    <p:nvPicPr>
                      <p:cNvPr id="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401" y="1993334"/>
                        <a:ext cx="2349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653722"/>
              </p:ext>
            </p:extLst>
          </p:nvPr>
        </p:nvGraphicFramePr>
        <p:xfrm>
          <a:off x="945960" y="4114924"/>
          <a:ext cx="3667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28600" progId="Equation.DSMT4">
                  <p:embed/>
                </p:oleObj>
              </mc:Choice>
              <mc:Fallback>
                <p:oleObj name="Equation" r:id="rId9" imgW="177480" imgH="228600" progId="Equation.DSMT4">
                  <p:embed/>
                  <p:pic>
                    <p:nvPicPr>
                      <p:cNvPr id="2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960" y="4114924"/>
                        <a:ext cx="3667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522291"/>
              </p:ext>
            </p:extLst>
          </p:nvPr>
        </p:nvGraphicFramePr>
        <p:xfrm>
          <a:off x="2744788" y="4746625"/>
          <a:ext cx="444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640" imgH="228600" progId="Equation.DSMT4">
                  <p:embed/>
                </p:oleObj>
              </mc:Choice>
              <mc:Fallback>
                <p:oleObj name="Equation" r:id="rId11" imgW="215640" imgH="22860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4746625"/>
                        <a:ext cx="4445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29329"/>
              </p:ext>
            </p:extLst>
          </p:nvPr>
        </p:nvGraphicFramePr>
        <p:xfrm>
          <a:off x="4224338" y="4746625"/>
          <a:ext cx="44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228600" progId="Equation.DSMT4">
                  <p:embed/>
                </p:oleObj>
              </mc:Choice>
              <mc:Fallback>
                <p:oleObj name="Equation" r:id="rId13" imgW="215640" imgH="228600" progId="Equation.DSMT4">
                  <p:embed/>
                  <p:pic>
                    <p:nvPicPr>
                      <p:cNvPr id="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4746625"/>
                        <a:ext cx="444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595158"/>
              </p:ext>
            </p:extLst>
          </p:nvPr>
        </p:nvGraphicFramePr>
        <p:xfrm>
          <a:off x="7151688" y="4722813"/>
          <a:ext cx="3413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164880" progId="Equation.DSMT4">
                  <p:embed/>
                </p:oleObj>
              </mc:Choice>
              <mc:Fallback>
                <p:oleObj name="Equation" r:id="rId15" imgW="164880" imgH="164880" progId="Equation.DSMT4">
                  <p:embed/>
                  <p:pic>
                    <p:nvPicPr>
                      <p:cNvPr id="2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688" y="4722813"/>
                        <a:ext cx="34131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78"/>
          <p:cNvSpPr>
            <a:spLocks noChangeArrowheads="1"/>
          </p:cNvSpPr>
          <p:nvPr/>
        </p:nvSpPr>
        <p:spPr bwMode="auto">
          <a:xfrm>
            <a:off x="5185540" y="5120357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阻带</a:t>
            </a:r>
          </a:p>
        </p:txBody>
      </p:sp>
      <p:sp>
        <p:nvSpPr>
          <p:cNvPr id="16" name="Rectangle 79"/>
          <p:cNvSpPr>
            <a:spLocks noChangeArrowheads="1"/>
          </p:cNvSpPr>
          <p:nvPr/>
        </p:nvSpPr>
        <p:spPr bwMode="auto">
          <a:xfrm>
            <a:off x="3265809" y="5138736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过渡带</a:t>
            </a:r>
          </a:p>
        </p:txBody>
      </p:sp>
      <p:sp>
        <p:nvSpPr>
          <p:cNvPr id="17" name="Rectangle 83"/>
          <p:cNvSpPr>
            <a:spLocks noChangeArrowheads="1"/>
          </p:cNvSpPr>
          <p:nvPr/>
        </p:nvSpPr>
        <p:spPr bwMode="auto">
          <a:xfrm>
            <a:off x="1798824" y="5069649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 i="0" dirty="0">
                <a:solidFill>
                  <a:schemeClr val="tx2"/>
                </a:solidFill>
              </a:rPr>
              <a:t>通带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1441124" y="5135680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2953292" y="5135680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4465460" y="5157192"/>
            <a:ext cx="0" cy="45360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i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198015"/>
              </p:ext>
            </p:extLst>
          </p:nvPr>
        </p:nvGraphicFramePr>
        <p:xfrm>
          <a:off x="1429862" y="5243735"/>
          <a:ext cx="15954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74360" imgH="203040" progId="Equation.DSMT4">
                  <p:embed/>
                </p:oleObj>
              </mc:Choice>
              <mc:Fallback>
                <p:oleObj name="Equation" r:id="rId17" imgW="774360" imgH="203040" progId="Equation.DSMT4">
                  <p:embed/>
                  <p:pic>
                    <p:nvPicPr>
                      <p:cNvPr id="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862" y="5243735"/>
                        <a:ext cx="15954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650980"/>
              </p:ext>
            </p:extLst>
          </p:nvPr>
        </p:nvGraphicFramePr>
        <p:xfrm>
          <a:off x="2906090" y="5246886"/>
          <a:ext cx="1606624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12520" imgH="203040" progId="Equation.DSMT4">
                  <p:embed/>
                </p:oleObj>
              </mc:Choice>
              <mc:Fallback>
                <p:oleObj name="Equation" r:id="rId19" imgW="812520" imgH="203040" progId="Equation.DSMT4">
                  <p:embed/>
                  <p:pic>
                    <p:nvPicPr>
                      <p:cNvPr id="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090" y="5246886"/>
                        <a:ext cx="1606624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1"/>
          <p:cNvSpPr>
            <a:spLocks noChangeArrowheads="1"/>
          </p:cNvSpPr>
          <p:nvPr/>
        </p:nvSpPr>
        <p:spPr bwMode="auto">
          <a:xfrm>
            <a:off x="4299893" y="1340793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通带边界频率</a:t>
            </a:r>
          </a:p>
        </p:txBody>
      </p:sp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061613"/>
              </p:ext>
            </p:extLst>
          </p:nvPr>
        </p:nvGraphicFramePr>
        <p:xfrm>
          <a:off x="6575425" y="1354138"/>
          <a:ext cx="44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5640" imgH="228600" progId="Equation.DSMT4">
                  <p:embed/>
                </p:oleObj>
              </mc:Choice>
              <mc:Fallback>
                <p:oleObj name="Equation" r:id="rId21" imgW="215640" imgH="228600" progId="Equation.DSMT4">
                  <p:embed/>
                  <p:pic>
                    <p:nvPicPr>
                      <p:cNvPr id="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1354138"/>
                        <a:ext cx="444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4309362" y="1854952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dirty="0"/>
              <a:t>阻带边界频率</a:t>
            </a: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207201"/>
              </p:ext>
            </p:extLst>
          </p:nvPr>
        </p:nvGraphicFramePr>
        <p:xfrm>
          <a:off x="6561191" y="1882106"/>
          <a:ext cx="4460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5640" imgH="228600" progId="Equation.DSMT4">
                  <p:embed/>
                </p:oleObj>
              </mc:Choice>
              <mc:Fallback>
                <p:oleObj name="Equation" r:id="rId23" imgW="215640" imgH="228600" progId="Equation.DSMT4">
                  <p:embed/>
                  <p:pic>
                    <p:nvPicPr>
                      <p:cNvPr id="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191" y="1882106"/>
                        <a:ext cx="4460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4283968" y="2377478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通带波动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4283968" y="2900003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最小阻带衰减</a:t>
            </a:r>
            <a:endParaRPr lang="zh-CN" altLang="en-US" dirty="0"/>
          </a:p>
        </p:txBody>
      </p:sp>
      <p:graphicFrame>
        <p:nvGraphicFramePr>
          <p:cNvPr id="3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815159"/>
              </p:ext>
            </p:extLst>
          </p:nvPr>
        </p:nvGraphicFramePr>
        <p:xfrm>
          <a:off x="6524625" y="2950771"/>
          <a:ext cx="2613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9720" imgH="228600" progId="Equation.DSMT4">
                  <p:embed/>
                </p:oleObj>
              </mc:Choice>
              <mc:Fallback>
                <p:oleObj name="Equation" r:id="rId25" imgW="1269720" imgH="228600" progId="Equation.DSMT4">
                  <p:embed/>
                  <p:pic>
                    <p:nvPicPr>
                      <p:cNvPr id="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2950771"/>
                        <a:ext cx="2613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798373"/>
              </p:ext>
            </p:extLst>
          </p:nvPr>
        </p:nvGraphicFramePr>
        <p:xfrm>
          <a:off x="6234818" y="2431560"/>
          <a:ext cx="28765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96800" imgH="228600" progId="Equation.DSMT4">
                  <p:embed/>
                </p:oleObj>
              </mc:Choice>
              <mc:Fallback>
                <p:oleObj name="Equation" r:id="rId27" imgW="1396800" imgH="228600" progId="Equation.DSMT4">
                  <p:embed/>
                  <p:pic>
                    <p:nvPicPr>
                      <p:cNvPr id="4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818" y="2431560"/>
                        <a:ext cx="28765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258595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008656"/>
              </p:ext>
            </p:extLst>
          </p:nvPr>
        </p:nvGraphicFramePr>
        <p:xfrm>
          <a:off x="4451627" y="1507718"/>
          <a:ext cx="11731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228600" progId="Equation.DSMT4">
                  <p:embed/>
                </p:oleObj>
              </mc:Choice>
              <mc:Fallback>
                <p:oleObj name="Equation" r:id="rId2" imgW="533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627" y="1507718"/>
                        <a:ext cx="11731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755577" y="908720"/>
            <a:ext cx="496855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问题：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如果已知幅度平方函数                     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如何求系统函数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552" y="3501008"/>
            <a:ext cx="7848871" cy="317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先把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换成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(Ω</a:t>
            </a:r>
            <a:r>
              <a:rPr kumimoji="1"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变为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|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  <a:r>
              <a:rPr kumimoji="1"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</a:pP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为了保证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的稳定性，选用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左半平面的极点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的极点，零点可选用对称零点的 任一半。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23601"/>
              </p:ext>
            </p:extLst>
          </p:nvPr>
        </p:nvGraphicFramePr>
        <p:xfrm>
          <a:off x="5588520" y="872009"/>
          <a:ext cx="26558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79360" progId="Equation.DSMT4">
                  <p:embed/>
                </p:oleObj>
              </mc:Choice>
              <mc:Fallback>
                <p:oleObj name="Equation" r:id="rId4" imgW="1206360" imgH="2793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520" y="872009"/>
                        <a:ext cx="265588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339652"/>
              </p:ext>
            </p:extLst>
          </p:nvPr>
        </p:nvGraphicFramePr>
        <p:xfrm>
          <a:off x="573088" y="2144713"/>
          <a:ext cx="8101012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0" imgH="583920" progId="Equation.DSMT4">
                  <p:embed/>
                </p:oleObj>
              </mc:Choice>
              <mc:Fallback>
                <p:oleObj name="Equation" r:id="rId6" imgW="36828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3088" y="2144713"/>
                        <a:ext cx="8101012" cy="1284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190238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7" y="3356992"/>
            <a:ext cx="5366385" cy="3248978"/>
          </a:xfrm>
          <a:prstGeom prst="rect">
            <a:avLst/>
          </a:prstGeom>
        </p:spPr>
      </p:pic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102598"/>
              </p:ext>
            </p:extLst>
          </p:nvPr>
        </p:nvGraphicFramePr>
        <p:xfrm>
          <a:off x="3707904" y="1988840"/>
          <a:ext cx="4613910" cy="149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711200" progId="Equation.DSMT4">
                  <p:embed/>
                </p:oleObj>
              </mc:Choice>
              <mc:Fallback>
                <p:oleObj name="Equation" r:id="rId3" imgW="2197100" imgH="71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988840"/>
                        <a:ext cx="4613910" cy="1493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028805" y="3479165"/>
            <a:ext cx="31509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为滤波器阶数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043608" y="2167340"/>
            <a:ext cx="288032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其幅度平方函数：</a:t>
            </a:r>
            <a:endParaRPr kumimoji="1"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43608" y="890717"/>
            <a:ext cx="7704856" cy="1031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特点：具有通带内最大平坦的幅度特性，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且随频率的升高，幅度单调下降。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71265672"/>
              </p:ext>
            </p:extLst>
          </p:nvPr>
        </p:nvGraphicFramePr>
        <p:xfrm>
          <a:off x="5464277" y="4480608"/>
          <a:ext cx="2263140" cy="92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700" imgH="419100" progId="Equation.DSMT4">
                  <p:embed/>
                </p:oleObj>
              </mc:Choice>
              <mc:Fallback>
                <p:oleObj name="Equation" r:id="rId5" imgW="1028700" imgH="419100" progId="Equation.DSMT4">
                  <p:embed/>
                  <p:pic>
                    <p:nvPicPr>
                      <p:cNvPr id="0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277" y="4480608"/>
                        <a:ext cx="2263140" cy="922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99186135"/>
              </p:ext>
            </p:extLst>
          </p:nvPr>
        </p:nvGraphicFramePr>
        <p:xfrm>
          <a:off x="5468774" y="5370537"/>
          <a:ext cx="21526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760" imgH="393480" progId="Equation.DSMT4">
                  <p:embed/>
                </p:oleObj>
              </mc:Choice>
              <mc:Fallback>
                <p:oleObj name="Equation" r:id="rId7" imgW="977760" imgH="393480" progId="Equation.DSMT4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774" y="5370537"/>
                        <a:ext cx="21526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56347675"/>
              </p:ext>
            </p:extLst>
          </p:nvPr>
        </p:nvGraphicFramePr>
        <p:xfrm>
          <a:off x="4080779" y="4073840"/>
          <a:ext cx="6429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228600" progId="Equation.DSMT4">
                  <p:embed/>
                </p:oleObj>
              </mc:Choice>
              <mc:Fallback>
                <p:oleObj name="Equation" r:id="rId9" imgW="291960" imgH="228600" progId="Equation.DSMT4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779" y="4073840"/>
                        <a:ext cx="6429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723716" y="4002385"/>
            <a:ext cx="4528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截止频率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边界频率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7200" y="5517927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巴特沃思滤波器的振幅平方函数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052736"/>
            <a:ext cx="5976937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877050" y="1197448"/>
            <a:ext cx="1655763" cy="2952328"/>
          </a:xfrm>
          <a:prstGeom prst="wedgeRectCallout">
            <a:avLst>
              <a:gd name="adj1" fmla="val -88449"/>
              <a:gd name="adj2" fmla="val -15134"/>
            </a:avLst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45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chemeClr val="folHlink"/>
                </a:solidFill>
              </a:rPr>
              <a:t>   </a:t>
            </a:r>
            <a:r>
              <a:rPr lang="en-US" altLang="zh-CN" sz="2400" b="1" i="1" dirty="0">
                <a:solidFill>
                  <a:srgbClr val="993300"/>
                </a:solidFill>
                <a:latin typeface="+mj-lt"/>
              </a:rPr>
              <a:t>N</a:t>
            </a:r>
            <a:r>
              <a:rPr lang="zh-CN" altLang="en-US" sz="2400" b="1" dirty="0">
                <a:solidFill>
                  <a:srgbClr val="993300"/>
                </a:solidFill>
                <a:latin typeface="+mj-lt"/>
              </a:rPr>
              <a:t>增加，通带和阻带的近似性越好，过渡带越陡</a:t>
            </a: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4320381" y="1052736"/>
            <a:ext cx="1800225" cy="504825"/>
          </a:xfrm>
          <a:prstGeom prst="wedgeRoundRectCallout">
            <a:avLst>
              <a:gd name="adj1" fmla="val -60231"/>
              <a:gd name="adj2" fmla="val 84278"/>
              <a:gd name="adj3" fmla="val 16667"/>
            </a:avLst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45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2"/>
                </a:solidFill>
              </a:rPr>
              <a:t>理想低通特性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16900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 descr="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682014"/>
            <a:ext cx="2889510" cy="2699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369000"/>
              </p:ext>
            </p:extLst>
          </p:nvPr>
        </p:nvGraphicFramePr>
        <p:xfrm>
          <a:off x="1096613" y="842197"/>
          <a:ext cx="4235220" cy="143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622080" progId="Equation.DSMT4">
                  <p:embed/>
                </p:oleObj>
              </mc:Choice>
              <mc:Fallback>
                <p:oleObj name="Equation" r:id="rId3" imgW="1841400" imgH="622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613" y="842197"/>
                        <a:ext cx="4235220" cy="1430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508104" y="1088984"/>
            <a:ext cx="2829621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令分母为零，得</a:t>
            </a:r>
            <a:r>
              <a:rPr kumimoji="1" lang="zh-CN" altLang="en-US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383219"/>
              </p:ext>
            </p:extLst>
          </p:nvPr>
        </p:nvGraphicFramePr>
        <p:xfrm>
          <a:off x="5572075" y="1592423"/>
          <a:ext cx="26003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355320" progId="Equation.DSMT4">
                  <p:embed/>
                </p:oleObj>
              </mc:Choice>
              <mc:Fallback>
                <p:oleObj name="Equation" r:id="rId5" imgW="1130040" imgH="355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075" y="1592423"/>
                        <a:ext cx="26003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827584" y="2446554"/>
            <a:ext cx="7959343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可见，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Butterworth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滤波器的幅度平方函数有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342900" lvl="0" indent="-342900" eaLnBrk="1" hangingPunct="1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个极点，它们均匀对称地分布在              的圆周上。    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220072" y="6381328"/>
            <a:ext cx="3923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图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4.6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三阶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(-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的极点分布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160345"/>
              </p:ext>
            </p:extLst>
          </p:nvPr>
        </p:nvGraphicFramePr>
        <p:xfrm>
          <a:off x="5995888" y="2996952"/>
          <a:ext cx="1168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960" imgH="228600" progId="Equation.DSMT4">
                  <p:embed/>
                </p:oleObj>
              </mc:Choice>
              <mc:Fallback>
                <p:oleObj name="Equation" r:id="rId7" imgW="507960" imgH="2286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888" y="2996952"/>
                        <a:ext cx="1168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82971" y="3717032"/>
            <a:ext cx="515718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例如，阶数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=3,</a:t>
            </a:r>
          </a:p>
          <a:p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(-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的极点分布如图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4.6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所示。</a:t>
            </a:r>
            <a:endParaRPr lang="zh-CN" altLang="en-US" sz="2800" dirty="0"/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275711"/>
              </p:ext>
            </p:extLst>
          </p:nvPr>
        </p:nvGraphicFramePr>
        <p:xfrm>
          <a:off x="854801" y="5415865"/>
          <a:ext cx="4960116" cy="746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61960" imgH="355320" progId="Equation.DSMT4">
                  <p:embed/>
                </p:oleObj>
              </mc:Choice>
              <mc:Fallback>
                <p:oleObj name="Equation" r:id="rId9" imgW="2361960" imgH="355320" progId="Equation.DSMT4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01" y="5415865"/>
                        <a:ext cx="4960116" cy="746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62031" y="4919381"/>
            <a:ext cx="4809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</a:rPr>
              <a:t>选取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</a:rPr>
              <a:t>s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</a:rPr>
              <a:t>平面左半部分的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</a:rPr>
              <a:t>个极点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ea typeface="+mn-ea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358318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58856834"/>
              </p:ext>
            </p:extLst>
          </p:nvPr>
        </p:nvGraphicFramePr>
        <p:xfrm>
          <a:off x="1187624" y="1416165"/>
          <a:ext cx="5997575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320" imgH="558720" progId="Equation.DSMT4">
                  <p:embed/>
                </p:oleObj>
              </mc:Choice>
              <mc:Fallback>
                <p:oleObj name="Equation" r:id="rId2" imgW="2857320" imgH="558720" progId="Equation.DSMT4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416165"/>
                        <a:ext cx="5997575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71600" y="836712"/>
            <a:ext cx="66967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三阶巴特沃思低通滤波器的系统函数为：</a:t>
            </a: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106515"/>
              </p:ext>
            </p:extLst>
          </p:nvPr>
        </p:nvGraphicFramePr>
        <p:xfrm>
          <a:off x="2267744" y="3594720"/>
          <a:ext cx="3435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393480" progId="Equation.DSMT4">
                  <p:embed/>
                </p:oleObj>
              </mc:Choice>
              <mc:Fallback>
                <p:oleObj name="Equation" r:id="rId4" imgW="1574640" imgH="393480" progId="Equation.DSMT4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594720"/>
                        <a:ext cx="34353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683568" y="301865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 令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960611"/>
              </p:ext>
            </p:extLst>
          </p:nvPr>
        </p:nvGraphicFramePr>
        <p:xfrm>
          <a:off x="1370459" y="3047236"/>
          <a:ext cx="113850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228600" progId="Equation.DSMT4">
                  <p:embed/>
                </p:oleObj>
              </mc:Choice>
              <mc:Fallback>
                <p:oleObj name="Equation" r:id="rId6" imgW="495000" imgH="22860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459" y="3047236"/>
                        <a:ext cx="1138500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2486559" y="3018656"/>
            <a:ext cx="64059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得归一化的三阶巴特沃思低通滤波器： </a:t>
            </a: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071482"/>
              </p:ext>
            </p:extLst>
          </p:nvPr>
        </p:nvGraphicFramePr>
        <p:xfrm>
          <a:off x="5045335" y="4838278"/>
          <a:ext cx="9064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228600" progId="Equation.DSMT4">
                  <p:embed/>
                </p:oleObj>
              </mc:Choice>
              <mc:Fallback>
                <p:oleObj name="Equation" r:id="rId8" imgW="393480" imgH="228600" progId="Equation.DSMT4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335" y="4838278"/>
                        <a:ext cx="90646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881590" y="4849996"/>
            <a:ext cx="36134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反归一化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去归一化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),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974494"/>
              </p:ext>
            </p:extLst>
          </p:nvPr>
        </p:nvGraphicFramePr>
        <p:xfrm>
          <a:off x="1598302" y="5517232"/>
          <a:ext cx="636746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68400" imgH="431640" progId="Equation.DSMT4">
                  <p:embed/>
                </p:oleObj>
              </mc:Choice>
              <mc:Fallback>
                <p:oleObj name="Equation" r:id="rId10" imgW="2768400" imgH="431640" progId="Equation.DSMT4">
                  <p:embed/>
                  <p:pic>
                    <p:nvPicPr>
                      <p:cNvPr id="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302" y="5517232"/>
                        <a:ext cx="636746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4499992" y="4838278"/>
            <a:ext cx="35897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用      代替</a:t>
            </a:r>
            <a:r>
              <a:rPr kumimoji="1" lang="en-US" altLang="zh-CN" sz="2800" b="1" i="1" kern="0" dirty="0">
                <a:solidFill>
                  <a:srgbClr val="000000"/>
                </a:solidFill>
                <a:latin typeface="+mj-lt"/>
              </a:rPr>
              <a:t>s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+mj-lt"/>
              </a:rPr>
              <a:t>，得</a:t>
            </a:r>
            <a:endParaRPr lang="zh-CN" altLang="en-US" dirty="0">
              <a:latin typeface="+mj-lt"/>
            </a:endParaRP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41616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908720"/>
            <a:ext cx="6768752" cy="720080"/>
          </a:xfrm>
          <a:noFill/>
        </p:spPr>
        <p:txBody>
          <a:bodyPr/>
          <a:lstStyle/>
          <a:p>
            <a:r>
              <a:rPr lang="zh-CN" altLang="en-US" sz="32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归一化的模拟巴特沃思低通滤波器</a:t>
            </a:r>
            <a:endParaRPr lang="en-US" altLang="zh-CN" sz="1800" b="1" i="0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611369"/>
              </p:ext>
            </p:extLst>
          </p:nvPr>
        </p:nvGraphicFramePr>
        <p:xfrm>
          <a:off x="2543175" y="1628775"/>
          <a:ext cx="200977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19040" progId="Equation.DSMT4">
                  <p:embed/>
                </p:oleObj>
              </mc:Choice>
              <mc:Fallback>
                <p:oleObj name="Equation" r:id="rId2" imgW="914400" imgH="419040" progId="Equation.DSMT4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1628775"/>
                        <a:ext cx="200977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292068"/>
              </p:ext>
            </p:extLst>
          </p:nvPr>
        </p:nvGraphicFramePr>
        <p:xfrm>
          <a:off x="1187624" y="2924944"/>
          <a:ext cx="6192688" cy="30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228559282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2552288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阶数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7413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292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7051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23828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627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390801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902925"/>
              </p:ext>
            </p:extLst>
          </p:nvPr>
        </p:nvGraphicFramePr>
        <p:xfrm>
          <a:off x="3784600" y="2963863"/>
          <a:ext cx="7810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203040" progId="Equation.DSMT4">
                  <p:embed/>
                </p:oleObj>
              </mc:Choice>
              <mc:Fallback>
                <p:oleObj name="Equation" r:id="rId4" imgW="355320" imgH="20304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2963863"/>
                        <a:ext cx="7810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704311"/>
              </p:ext>
            </p:extLst>
          </p:nvPr>
        </p:nvGraphicFramePr>
        <p:xfrm>
          <a:off x="1842646" y="3002589"/>
          <a:ext cx="4191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152280" progId="Equation.DSMT4">
                  <p:embed/>
                </p:oleObj>
              </mc:Choice>
              <mc:Fallback>
                <p:oleObj name="Equation" r:id="rId6" imgW="190440" imgH="15228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646" y="3002589"/>
                        <a:ext cx="4191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92116"/>
              </p:ext>
            </p:extLst>
          </p:nvPr>
        </p:nvGraphicFramePr>
        <p:xfrm>
          <a:off x="2469580" y="4463795"/>
          <a:ext cx="2030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03040" progId="Equation.DSMT4">
                  <p:embed/>
                </p:oleObj>
              </mc:Choice>
              <mc:Fallback>
                <p:oleObj name="Equation" r:id="rId8" imgW="1015920" imgH="203040" progId="Equation.DSMT4">
                  <p:embed/>
                  <p:pic>
                    <p:nvPicPr>
                      <p:cNvPr id="7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580" y="4463795"/>
                        <a:ext cx="20304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840156"/>
              </p:ext>
            </p:extLst>
          </p:nvPr>
        </p:nvGraphicFramePr>
        <p:xfrm>
          <a:off x="2384896" y="5470270"/>
          <a:ext cx="485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25680" imgH="228600" progId="Equation.DSMT4">
                  <p:embed/>
                </p:oleObj>
              </mc:Choice>
              <mc:Fallback>
                <p:oleObj name="Equation" r:id="rId10" imgW="242568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896" y="5470270"/>
                        <a:ext cx="485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23449"/>
              </p:ext>
            </p:extLst>
          </p:nvPr>
        </p:nvGraphicFramePr>
        <p:xfrm>
          <a:off x="2484438" y="3484563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177480" progId="Equation.DSMT4">
                  <p:embed/>
                </p:oleObj>
              </mc:Choice>
              <mc:Fallback>
                <p:oleObj name="Equation" r:id="rId12" imgW="317160" imgH="177480" progId="Equation.DSMT4">
                  <p:embed/>
                  <p:pic>
                    <p:nvPicPr>
                      <p:cNvPr id="9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484563"/>
                        <a:ext cx="635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399389"/>
              </p:ext>
            </p:extLst>
          </p:nvPr>
        </p:nvGraphicFramePr>
        <p:xfrm>
          <a:off x="2483768" y="3911345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28600" progId="Equation.DSMT4">
                  <p:embed/>
                </p:oleObj>
              </mc:Choice>
              <mc:Fallback>
                <p:oleObj name="Equation" r:id="rId14" imgW="774360" imgH="228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911345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47202"/>
              </p:ext>
            </p:extLst>
          </p:nvPr>
        </p:nvGraphicFramePr>
        <p:xfrm>
          <a:off x="2416646" y="4952745"/>
          <a:ext cx="436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84120" imgH="228600" progId="Equation.DSMT4">
                  <p:embed/>
                </p:oleObj>
              </mc:Choice>
              <mc:Fallback>
                <p:oleObj name="Equation" r:id="rId16" imgW="2184120" imgH="228600" progId="Equation.DSMT4">
                  <p:embed/>
                  <p:pic>
                    <p:nvPicPr>
                      <p:cNvPr id="11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646" y="4952745"/>
                        <a:ext cx="436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巴特沃思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(Butterworth)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1068266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4.2.2</a:t>
            </a:r>
            <a:r>
              <a:rPr lang="zh-CN" altLang="en-US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 切比雪夫</a:t>
            </a:r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(</a:t>
            </a:r>
            <a:r>
              <a:rPr lang="en-US" altLang="zh-CN" sz="3200" b="1" dirty="0" err="1">
                <a:solidFill>
                  <a:srgbClr val="993300"/>
                </a:solidFill>
                <a:latin typeface="+mj-lt"/>
                <a:ea typeface="楷体_GB2312" pitchFamily="49" charset="-122"/>
              </a:rPr>
              <a:t>chebyshev</a:t>
            </a:r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)</a:t>
            </a:r>
            <a:r>
              <a:rPr lang="zh-CN" altLang="en-US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滤波器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85763" y="5983114"/>
            <a:ext cx="82280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400" b="1" dirty="0">
                <a:latin typeface="+mj-lt"/>
              </a:rPr>
              <a:t>图</a:t>
            </a:r>
            <a:r>
              <a:rPr kumimoji="1" lang="en-US" altLang="zh-CN" sz="2400" b="1" dirty="0">
                <a:latin typeface="+mj-lt"/>
              </a:rPr>
              <a:t>4.7 </a:t>
            </a:r>
            <a:r>
              <a:rPr kumimoji="1" lang="zh-CN" altLang="en-US" sz="2400" b="1" dirty="0">
                <a:solidFill>
                  <a:srgbClr val="000000"/>
                </a:solidFill>
                <a:latin typeface="+mj-lt"/>
              </a:rPr>
              <a:t>切比雪夫</a:t>
            </a:r>
            <a:r>
              <a:rPr kumimoji="1" lang="en-US" altLang="zh-CN" sz="2400" b="1" dirty="0">
                <a:solidFill>
                  <a:srgbClr val="000000"/>
                </a:solidFill>
                <a:latin typeface="+mj-lt"/>
              </a:rPr>
              <a:t>I</a:t>
            </a:r>
            <a:r>
              <a:rPr kumimoji="1" lang="zh-CN" altLang="en-US" sz="2400" b="1" dirty="0">
                <a:solidFill>
                  <a:srgbClr val="000000"/>
                </a:solidFill>
                <a:latin typeface="+mj-lt"/>
              </a:rPr>
              <a:t>型滤波器的幅度平方特性</a:t>
            </a:r>
            <a:endParaRPr kumimoji="1" lang="en-US" altLang="zh-CN" sz="2400" b="1" dirty="0">
              <a:solidFill>
                <a:srgbClr val="000000"/>
              </a:solidFill>
              <a:latin typeface="+mj-lt"/>
            </a:endParaRPr>
          </a:p>
          <a:p>
            <a:pPr algn="ctr"/>
            <a:r>
              <a:rPr kumimoji="1" lang="en-US" altLang="zh-CN" sz="2400" b="1" dirty="0">
                <a:solidFill>
                  <a:srgbClr val="000000"/>
                </a:solidFill>
                <a:latin typeface="+mj-lt"/>
              </a:rPr>
              <a:t>(a)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+mj-lt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+mj-lt"/>
              </a:rPr>
              <a:t>为奇数</a:t>
            </a:r>
            <a:r>
              <a:rPr kumimoji="1" lang="en-US" altLang="zh-CN" sz="2400" b="1" dirty="0">
                <a:solidFill>
                  <a:srgbClr val="000000"/>
                </a:solidFill>
                <a:latin typeface="+mj-lt"/>
              </a:rPr>
              <a:t>		(b)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+mj-lt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+mj-lt"/>
              </a:rPr>
              <a:t>为偶数</a:t>
            </a:r>
            <a:r>
              <a:rPr kumimoji="1" lang="zh-CN" altLang="en-US" sz="1400" b="1" dirty="0">
                <a:solidFill>
                  <a:srgbClr val="000000"/>
                </a:solidFill>
                <a:latin typeface="+mj-lt"/>
              </a:rPr>
              <a:t> </a:t>
            </a:r>
            <a:endParaRPr kumimoji="1" lang="zh-CN" altLang="en-US" sz="24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14" name="Picture 4" descr="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87171"/>
            <a:ext cx="5658318" cy="2325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683568" y="836712"/>
            <a:ext cx="80025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特点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Times New Roman" pitchFamily="18" charset="0"/>
              </a:rPr>
              <a:t>：幅值响应在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规定的频段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Times New Roman" pitchFamily="18" charset="0"/>
              </a:rPr>
              <a:t>上是等波纹的。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0476" y="1342786"/>
            <a:ext cx="8694011" cy="2057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tabLst/>
              <a:defRPr/>
            </a:pPr>
            <a:r>
              <a:rPr kumimoji="1" lang="zh-CN" altLang="en-US" sz="2800" b="1" kern="0" dirty="0">
                <a:solidFill>
                  <a:srgbClr val="C00000"/>
                </a:solidFill>
                <a:latin typeface="+mj-lt"/>
              </a:rPr>
              <a:t>切比雪夫</a:t>
            </a:r>
            <a:r>
              <a:rPr kumimoji="1" lang="en-US" altLang="zh-CN" sz="2800" b="1" kern="0" dirty="0">
                <a:solidFill>
                  <a:srgbClr val="C00000"/>
                </a:solidFill>
                <a:latin typeface="+mj-lt"/>
              </a:rPr>
              <a:t>Ⅰ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+mj-lt"/>
              </a:rPr>
              <a:t>型滤波器：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j-lt"/>
              </a:rPr>
              <a:t>在通带是等波纹的，在阻带是单调下降。</a:t>
            </a:r>
          </a:p>
          <a:p>
            <a:pPr marR="0" lvl="1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tabLst/>
              <a:defRPr/>
            </a:pPr>
            <a:r>
              <a:rPr kumimoji="1" lang="zh-CN" altLang="en-US" sz="28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切比雪夫</a:t>
            </a:r>
            <a:r>
              <a:rPr kumimoji="1" lang="en-US" altLang="zh-CN" sz="28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Ⅱ</a:t>
            </a:r>
            <a:r>
              <a:rPr kumimoji="1" lang="zh-CN" altLang="en-US" sz="28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型滤波器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+mj-lt"/>
              </a:rPr>
              <a:t>：在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j-lt"/>
              </a:rPr>
              <a:t>通带是单调</a:t>
            </a:r>
            <a:r>
              <a:rPr kumimoji="1" lang="zh-CN" altLang="en-US" sz="2800" b="1" kern="0" dirty="0">
                <a:solidFill>
                  <a:srgbClr val="000000"/>
                </a:solidFill>
              </a:rPr>
              <a:t>下降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j-lt"/>
              </a:rPr>
              <a:t>，在阻带是等波纹的。 </a:t>
            </a:r>
          </a:p>
        </p:txBody>
      </p:sp>
    </p:spTree>
    <p:extLst>
      <p:ext uri="{BB962C8B-B14F-4D97-AF65-F5344CB8AC3E}">
        <p14:creationId xmlns:p14="http://schemas.microsoft.com/office/powerpoint/2010/main" val="4258543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056615"/>
              </p:ext>
            </p:extLst>
          </p:nvPr>
        </p:nvGraphicFramePr>
        <p:xfrm>
          <a:off x="1835696" y="1910138"/>
          <a:ext cx="5363712" cy="1492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622080" progId="Equation.DSMT4">
                  <p:embed/>
                </p:oleObj>
              </mc:Choice>
              <mc:Fallback>
                <p:oleObj name="Equation" r:id="rId2" imgW="2234880" imgH="6220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910138"/>
                        <a:ext cx="5363712" cy="1492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043608" y="1196752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66"/>
                </a:solidFill>
                <a:latin typeface="Times New Roman"/>
                <a:ea typeface="宋体"/>
                <a:cs typeface="+mj-cs"/>
              </a:rPr>
              <a:t>幅度平方函数</a:t>
            </a:r>
            <a:endParaRPr lang="zh-CN" altLang="en-US" sz="2000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687663"/>
              </p:ext>
            </p:extLst>
          </p:nvPr>
        </p:nvGraphicFramePr>
        <p:xfrm>
          <a:off x="1198128" y="3718049"/>
          <a:ext cx="3651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06" imgH="228501" progId="Equation.DSMT4">
                  <p:embed/>
                </p:oleObj>
              </mc:Choice>
              <mc:Fallback>
                <p:oleObj name="Equation" r:id="rId4" imgW="21580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128" y="3718049"/>
                        <a:ext cx="3651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392171"/>
              </p:ext>
            </p:extLst>
          </p:nvPr>
        </p:nvGraphicFramePr>
        <p:xfrm>
          <a:off x="1188207" y="4204320"/>
          <a:ext cx="2635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835" imgH="139518" progId="Equation.DSMT4">
                  <p:embed/>
                </p:oleObj>
              </mc:Choice>
              <mc:Fallback>
                <p:oleObj name="Equation" r:id="rId6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207" y="4204320"/>
                        <a:ext cx="2635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382299"/>
              </p:ext>
            </p:extLst>
          </p:nvPr>
        </p:nvGraphicFramePr>
        <p:xfrm>
          <a:off x="5628196" y="4185288"/>
          <a:ext cx="2635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6835" imgH="139518" progId="Equation.3">
                  <p:embed/>
                </p:oleObj>
              </mc:Choice>
              <mc:Fallback>
                <p:oleObj name="公式" r:id="rId8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196" y="4185288"/>
                        <a:ext cx="2635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546423" y="3645024"/>
            <a:ext cx="7058025" cy="194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有效通带截止频率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与通带波动有关的参量，   大 ，波纹大。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endParaRPr kumimoji="1" lang="en-US" altLang="zh-CN" sz="2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kumimoji="1"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阶切比雪夫多项式</a:t>
            </a:r>
            <a:endParaRPr kumimoji="1" lang="en-US" altLang="zh-CN" sz="2600" b="1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43" y="5085184"/>
            <a:ext cx="95571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6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613667"/>
              </p:ext>
            </p:extLst>
          </p:nvPr>
        </p:nvGraphicFramePr>
        <p:xfrm>
          <a:off x="2144295" y="4532262"/>
          <a:ext cx="12128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177480" progId="Equation.DSMT4">
                  <p:embed/>
                </p:oleObj>
              </mc:Choice>
              <mc:Fallback>
                <p:oleObj name="Equation" r:id="rId10" imgW="583920" imgH="17748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295" y="4532262"/>
                        <a:ext cx="12128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4.2.2</a:t>
            </a:r>
            <a:r>
              <a:rPr lang="zh-CN" altLang="en-US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 切比雪夫</a:t>
            </a:r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(</a:t>
            </a:r>
            <a:r>
              <a:rPr lang="en-US" altLang="zh-CN" sz="3200" b="1" dirty="0" err="1">
                <a:solidFill>
                  <a:srgbClr val="993300"/>
                </a:solidFill>
                <a:latin typeface="+mj-lt"/>
                <a:ea typeface="楷体_GB2312" pitchFamily="49" charset="-122"/>
              </a:rPr>
              <a:t>chebyshev</a:t>
            </a:r>
            <a:r>
              <a:rPr lang="en-US" altLang="zh-CN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)</a:t>
            </a:r>
            <a:r>
              <a:rPr lang="zh-CN" altLang="en-US" sz="3200" b="1" dirty="0">
                <a:solidFill>
                  <a:srgbClr val="993300"/>
                </a:solidFill>
                <a:latin typeface="+mj-lt"/>
                <a:ea typeface="楷体_GB2312" pitchFamily="49" charset="-122"/>
              </a:rPr>
              <a:t>滤波器</a:t>
            </a:r>
          </a:p>
        </p:txBody>
      </p:sp>
    </p:spTree>
    <p:extLst>
      <p:ext uri="{BB962C8B-B14F-4D97-AF65-F5344CB8AC3E}">
        <p14:creationId xmlns:p14="http://schemas.microsoft.com/office/powerpoint/2010/main" val="3305594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712" y="5157192"/>
            <a:ext cx="6048672" cy="1008112"/>
          </a:xfrm>
        </p:spPr>
        <p:txBody>
          <a:bodyPr/>
          <a:lstStyle/>
          <a:p>
            <a:pPr eaLnBrk="1" hangingPunct="1"/>
            <a:r>
              <a:rPr kumimoji="1" lang="zh-CN" altLang="en-US" sz="2800" b="1" i="0" dirty="0">
                <a:solidFill>
                  <a:schemeClr val="tx1"/>
                </a:solidFill>
                <a:ea typeface="宋体" panose="02010600030101010101" pitchFamily="2" charset="-122"/>
              </a:rPr>
              <a:t>图</a:t>
            </a:r>
            <a:r>
              <a:rPr kumimoji="1" lang="en-US" altLang="zh-CN" sz="2800" b="1" i="0" dirty="0">
                <a:solidFill>
                  <a:schemeClr val="tx1"/>
                </a:solidFill>
                <a:ea typeface="宋体" panose="02010600030101010101" pitchFamily="2" charset="-122"/>
              </a:rPr>
              <a:t>4.9  </a:t>
            </a:r>
            <a:r>
              <a:rPr kumimoji="1" lang="zh-CN" altLang="en-US" sz="2800" b="1" i="0" dirty="0">
                <a:solidFill>
                  <a:schemeClr val="tx1"/>
                </a:solidFill>
                <a:ea typeface="宋体" panose="02010600030101010101" pitchFamily="2" charset="-122"/>
              </a:rPr>
              <a:t>椭圆滤波器幅度平方函数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879009" y="1011858"/>
            <a:ext cx="76534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特点：</a:t>
            </a:r>
            <a:r>
              <a:rPr kumimoji="1"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幅值响应在通带和阻带内都是等波纹的</a:t>
            </a:r>
          </a:p>
        </p:txBody>
      </p:sp>
      <p:pic>
        <p:nvPicPr>
          <p:cNvPr id="8" name="Picture 6" descr="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8064500" cy="331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875537" y="6165304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(a)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为奇数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	(b)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为偶数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4.2.3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椭圆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(elliptic)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899592" y="987355"/>
            <a:ext cx="8007424" cy="165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对于给定的阶数和给定的波纹要求，椭圆滤波器能获得较其它滤波器更</a:t>
            </a:r>
            <a:r>
              <a:rPr kumimoji="1"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窄的过渡带宽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，就这点而言，椭圆滤波器是最优的。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4.2.3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椭圆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(elliptic)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</a:p>
        </p:txBody>
      </p:sp>
      <p:graphicFrame>
        <p:nvGraphicFramePr>
          <p:cNvPr id="7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250069"/>
              </p:ext>
            </p:extLst>
          </p:nvPr>
        </p:nvGraphicFramePr>
        <p:xfrm>
          <a:off x="1947812" y="3572371"/>
          <a:ext cx="5140872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431640" progId="Equation.DSMT4">
                  <p:embed/>
                </p:oleObj>
              </mc:Choice>
              <mc:Fallback>
                <p:oleObj name="Equation" r:id="rId2" imgW="2336760" imgH="431640" progId="Equation.DSMT4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12" y="3572371"/>
                        <a:ext cx="5140872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880320" y="4941168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/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—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雅可比椭圆函数</a:t>
            </a:r>
          </a:p>
          <a:p>
            <a:pPr lvl="0" algn="just">
              <a:spcBef>
                <a:spcPts val="1200"/>
              </a:spcBef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表示波纹性质的参量</a:t>
            </a:r>
          </a:p>
        </p:txBody>
      </p:sp>
      <p:sp>
        <p:nvSpPr>
          <p:cNvPr id="11" name="Rectangle 3"/>
          <p:cNvSpPr/>
          <p:nvPr/>
        </p:nvSpPr>
        <p:spPr>
          <a:xfrm>
            <a:off x="899592" y="2898045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66"/>
                </a:solidFill>
                <a:latin typeface="Times New Roman"/>
                <a:ea typeface="宋体"/>
                <a:cs typeface="+mj-cs"/>
              </a:rPr>
              <a:t>幅度平方函数</a:t>
            </a:r>
            <a:endParaRPr lang="zh-CN" altLang="en-US" sz="2000" dirty="0"/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722048"/>
              </p:ext>
            </p:extLst>
          </p:nvPr>
        </p:nvGraphicFramePr>
        <p:xfrm>
          <a:off x="1771352" y="4941168"/>
          <a:ext cx="13970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41200" progId="Equation.DSMT4">
                  <p:embed/>
                </p:oleObj>
              </mc:Choice>
              <mc:Fallback>
                <p:oleObj name="Equation" r:id="rId4" imgW="634680" imgH="2412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352" y="4941168"/>
                        <a:ext cx="13970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1124744"/>
            <a:ext cx="7993583" cy="4537075"/>
          </a:xfrm>
        </p:spPr>
        <p:txBody>
          <a:bodyPr/>
          <a:lstStyle/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一般，相同指标下，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椭圆滤波器阶次最低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切比雪夫次之，巴特沃思最高。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参数的灵敏度则恰恰相反。即参数灵敏度：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巴特沃思最佳（最不灵敏），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切比雪夫次之，椭圆最差（最灵敏）。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模拟滤波器的设计方法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2962" y="170080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根据模拟滤波器设计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9512" y="813375"/>
            <a:ext cx="8435975" cy="342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-200025" eaLnBrk="1" hangingPunct="1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400" b="1" i="0" dirty="0">
                <a:latin typeface="+mj-lt"/>
              </a:rPr>
              <a:t>	</a:t>
            </a:r>
            <a:r>
              <a:rPr lang="zh-CN" altLang="en-US" sz="2800" b="1" i="0" dirty="0">
                <a:solidFill>
                  <a:srgbClr val="000000"/>
                </a:solidFill>
                <a:latin typeface="+mj-lt"/>
              </a:rPr>
              <a:t>利用模拟滤波器设计数字滤波器，就是</a:t>
            </a:r>
            <a:r>
              <a:rPr lang="zh-CN" altLang="en-US" sz="2800" b="1" i="0" dirty="0">
                <a:latin typeface="+mj-lt"/>
              </a:rPr>
              <a:t>从已知的模拟滤波器系统函数</a:t>
            </a:r>
            <a:r>
              <a:rPr lang="en-US" altLang="zh-CN" sz="2800" b="1" i="1" dirty="0">
                <a:latin typeface="+mj-lt"/>
              </a:rPr>
              <a:t>H</a:t>
            </a:r>
            <a:r>
              <a:rPr lang="en-US" altLang="zh-CN" sz="2800" b="1" i="1" baseline="-25000" dirty="0">
                <a:latin typeface="+mj-lt"/>
              </a:rPr>
              <a:t>a</a:t>
            </a:r>
            <a:r>
              <a:rPr lang="en-US" altLang="zh-CN" sz="2800" b="1" i="0" dirty="0">
                <a:latin typeface="+mj-lt"/>
              </a:rPr>
              <a:t>(</a:t>
            </a:r>
            <a:r>
              <a:rPr lang="en-US" altLang="zh-CN" sz="2800" b="1" i="1" dirty="0">
                <a:latin typeface="+mj-lt"/>
              </a:rPr>
              <a:t>s</a:t>
            </a:r>
            <a:r>
              <a:rPr lang="en-US" altLang="zh-CN" sz="2800" b="1" i="0" dirty="0">
                <a:latin typeface="+mj-lt"/>
              </a:rPr>
              <a:t>)</a:t>
            </a:r>
            <a:r>
              <a:rPr lang="zh-CN" altLang="en-US" sz="2800" b="1" i="0" dirty="0">
                <a:latin typeface="+mj-lt"/>
              </a:rPr>
              <a:t>设计数字滤波器</a:t>
            </a:r>
            <a:r>
              <a:rPr lang="zh-CN" altLang="en-US" sz="2800" b="1" dirty="0"/>
              <a:t>系统</a:t>
            </a:r>
            <a:r>
              <a:rPr lang="zh-CN" altLang="en-US" sz="2800" b="1" i="0" dirty="0">
                <a:latin typeface="+mj-lt"/>
              </a:rPr>
              <a:t>函数</a:t>
            </a:r>
            <a:r>
              <a:rPr lang="en-US" altLang="zh-CN" sz="2800" b="1" i="1" dirty="0">
                <a:latin typeface="+mj-lt"/>
              </a:rPr>
              <a:t>H</a:t>
            </a:r>
            <a:r>
              <a:rPr lang="en-US" altLang="zh-CN" sz="2800" b="1" i="0" dirty="0">
                <a:latin typeface="+mj-lt"/>
              </a:rPr>
              <a:t>(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en-US" altLang="zh-CN" sz="2800" b="1" i="0" dirty="0">
                <a:latin typeface="+mj-lt"/>
              </a:rPr>
              <a:t>)</a:t>
            </a:r>
            <a:r>
              <a:rPr lang="zh-CN" altLang="en-US" sz="2800" b="1" i="0" dirty="0">
                <a:latin typeface="+mj-lt"/>
              </a:rPr>
              <a:t>。</a:t>
            </a:r>
            <a:endParaRPr lang="en-US" altLang="zh-CN" sz="2800" b="1" i="0" dirty="0">
              <a:latin typeface="+mj-lt"/>
            </a:endParaRPr>
          </a:p>
          <a:p>
            <a:pPr indent="-200025" eaLnBrk="1" hangingPunct="1">
              <a:lnSpc>
                <a:spcPct val="125000"/>
              </a:lnSpc>
              <a:spcBef>
                <a:spcPts val="1200"/>
              </a:spcBef>
              <a:tabLst>
                <a:tab pos="466725" algn="l"/>
              </a:tabLst>
            </a:pP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这种由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s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平面到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平面的变换</a:t>
            </a:r>
            <a:r>
              <a:rPr lang="zh-CN" altLang="en-US" sz="2800" b="1" i="0" dirty="0">
                <a:solidFill>
                  <a:srgbClr val="000000"/>
                </a:solidFill>
                <a:latin typeface="+mj-lt"/>
              </a:rPr>
              <a:t>应满足</a:t>
            </a:r>
            <a:r>
              <a:rPr lang="zh-CN" altLang="en-US" sz="2800" b="1" i="0" dirty="0">
                <a:solidFill>
                  <a:srgbClr val="C00000"/>
                </a:solidFill>
                <a:latin typeface="+mj-lt"/>
              </a:rPr>
              <a:t>两</a:t>
            </a: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条</a:t>
            </a:r>
            <a:r>
              <a:rPr lang="zh-CN" altLang="en-US" sz="2800" b="1" i="0" dirty="0">
                <a:solidFill>
                  <a:srgbClr val="C00000"/>
                </a:solidFill>
                <a:latin typeface="+mj-lt"/>
              </a:rPr>
              <a:t>基本要求</a:t>
            </a:r>
            <a:r>
              <a:rPr lang="zh-CN" altLang="en-US" sz="2800" b="1" i="0" dirty="0">
                <a:solidFill>
                  <a:srgbClr val="FF0066"/>
                </a:solidFill>
                <a:latin typeface="+mj-lt"/>
              </a:rPr>
              <a:t>★</a:t>
            </a:r>
            <a:r>
              <a:rPr lang="zh-CN" altLang="en-US" sz="2800" b="1" i="0" dirty="0">
                <a:latin typeface="+mj-lt"/>
              </a:rPr>
              <a:t> </a:t>
            </a:r>
            <a:r>
              <a:rPr lang="zh-CN" altLang="en-US" sz="2800" b="1" i="0" dirty="0">
                <a:solidFill>
                  <a:srgbClr val="000000"/>
                </a:solidFill>
                <a:latin typeface="+mj-lt"/>
              </a:rPr>
              <a:t>：</a:t>
            </a:r>
          </a:p>
          <a:p>
            <a:pPr indent="-200025" eaLnBrk="1" hangingPunct="1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800" b="1" i="0" dirty="0">
                <a:solidFill>
                  <a:srgbClr val="000000"/>
                </a:solidFill>
                <a:latin typeface="+mj-lt"/>
              </a:rPr>
              <a:t>（</a:t>
            </a:r>
            <a:r>
              <a:rPr lang="en-US" altLang="zh-CN" sz="2800" b="1" i="0" dirty="0">
                <a:solidFill>
                  <a:srgbClr val="000000"/>
                </a:solidFill>
                <a:latin typeface="+mj-lt"/>
              </a:rPr>
              <a:t>1</a:t>
            </a:r>
            <a:r>
              <a:rPr lang="zh-CN" altLang="en-US" sz="2800" b="1" i="0" dirty="0">
                <a:solidFill>
                  <a:srgbClr val="000000"/>
                </a:solidFill>
                <a:latin typeface="+mj-lt"/>
              </a:rPr>
              <a:t>）</a:t>
            </a:r>
            <a:r>
              <a:rPr lang="en-US" altLang="zh-CN" sz="2800" b="1" i="1" dirty="0">
                <a:latin typeface="Times New Roman"/>
              </a:rPr>
              <a:t>H</a:t>
            </a:r>
            <a:r>
              <a:rPr lang="en-US" altLang="zh-CN" sz="2800" b="1" dirty="0">
                <a:latin typeface="Times New Roman"/>
              </a:rPr>
              <a:t>(</a:t>
            </a:r>
            <a:r>
              <a:rPr lang="en-US" altLang="zh-CN" sz="2800" b="1" i="1" dirty="0">
                <a:latin typeface="Times New Roman"/>
              </a:rPr>
              <a:t>z</a:t>
            </a:r>
            <a:r>
              <a:rPr lang="en-US" altLang="zh-CN" sz="2800" b="1" dirty="0">
                <a:latin typeface="Times New Roman"/>
              </a:rPr>
              <a:t>)</a:t>
            </a:r>
            <a:r>
              <a:rPr lang="zh-CN" altLang="en-US" sz="2800" b="1" i="0" dirty="0">
                <a:latin typeface="+mj-lt"/>
              </a:rPr>
              <a:t>的</a:t>
            </a:r>
            <a:r>
              <a:rPr lang="zh-CN" altLang="en-US" sz="2800" b="1" dirty="0">
                <a:latin typeface="+mj-lt"/>
              </a:rPr>
              <a:t>频响要能模仿</a:t>
            </a:r>
            <a:r>
              <a:rPr lang="en-US" altLang="zh-CN" sz="2800" b="1" i="1" dirty="0">
                <a:latin typeface="Times New Roman"/>
              </a:rPr>
              <a:t>H</a:t>
            </a:r>
            <a:r>
              <a:rPr lang="en-US" altLang="zh-CN" sz="2800" b="1" i="1" baseline="-25000" dirty="0">
                <a:latin typeface="Times New Roman"/>
              </a:rPr>
              <a:t>a</a:t>
            </a:r>
            <a:r>
              <a:rPr lang="en-US" altLang="zh-CN" sz="2800" b="1" dirty="0">
                <a:latin typeface="Times New Roman"/>
              </a:rPr>
              <a:t>(</a:t>
            </a:r>
            <a:r>
              <a:rPr lang="en-US" altLang="zh-CN" sz="2800" b="1" i="1" dirty="0">
                <a:latin typeface="Times New Roman"/>
              </a:rPr>
              <a:t>s</a:t>
            </a:r>
            <a:r>
              <a:rPr lang="en-US" altLang="zh-CN" sz="2800" b="1" dirty="0">
                <a:latin typeface="Times New Roman"/>
              </a:rPr>
              <a:t>)</a:t>
            </a:r>
            <a:r>
              <a:rPr lang="zh-CN" altLang="en-US" sz="2800" b="1" i="0" dirty="0">
                <a:latin typeface="+mj-lt"/>
              </a:rPr>
              <a:t>的频响，即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s</a:t>
            </a:r>
            <a:r>
              <a:rPr lang="zh-CN" altLang="en-US" sz="28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平面的</a:t>
            </a:r>
            <a:endParaRPr lang="en-US" altLang="zh-CN" sz="2800" b="1" i="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  <a:p>
            <a:pPr indent="-200025" eaLnBrk="1" hangingPunct="1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         </a:t>
            </a:r>
            <a:r>
              <a:rPr lang="zh-CN" altLang="en-US" sz="28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虚轴应映射到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z</a:t>
            </a:r>
            <a:r>
              <a:rPr lang="zh-CN" altLang="en-US" sz="28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平面的单位圆</a:t>
            </a:r>
            <a:r>
              <a:rPr lang="en-US" altLang="zh-CN" sz="2800" b="1" i="0" dirty="0">
                <a:latin typeface="+mj-lt"/>
              </a:rPr>
              <a:t>(|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en-US" altLang="zh-CN" sz="2800" b="1" i="0" dirty="0">
                <a:latin typeface="+mj-lt"/>
              </a:rPr>
              <a:t>|=1)</a:t>
            </a:r>
            <a:r>
              <a:rPr lang="zh-CN" altLang="en-US" sz="2800" b="1" i="0" dirty="0">
                <a:latin typeface="+mj-lt"/>
              </a:rPr>
              <a:t> 上。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EE0230-2A7A-4E10-F500-B76BF38C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36" y="4435032"/>
            <a:ext cx="3223453" cy="18722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BD1AFC-B0C5-F17D-549F-50ECF6D5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623319"/>
            <a:ext cx="2553056" cy="1495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2D2D568-F9DE-EC7C-CC36-BB91567BE7BE}"/>
              </a:ext>
            </a:extLst>
          </p:cNvPr>
          <p:cNvSpPr txBox="1"/>
          <p:nvPr/>
        </p:nvSpPr>
        <p:spPr>
          <a:xfrm>
            <a:off x="251520" y="980728"/>
            <a:ext cx="8352928" cy="1653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00025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800" b="1" i="0" dirty="0">
                <a:latin typeface="+mj-lt"/>
              </a:rPr>
              <a:t>（</a:t>
            </a:r>
            <a:r>
              <a:rPr lang="en-US" altLang="zh-CN" sz="2800" b="1" i="0" dirty="0">
                <a:latin typeface="+mj-lt"/>
              </a:rPr>
              <a:t>2</a:t>
            </a:r>
            <a:r>
              <a:rPr lang="zh-CN" altLang="en-US" sz="2800" b="1" i="0" dirty="0">
                <a:latin typeface="+mj-lt"/>
              </a:rPr>
              <a:t>）</a:t>
            </a:r>
            <a:r>
              <a:rPr lang="zh-CN" altLang="en-US" sz="2800" b="1" dirty="0"/>
              <a:t>因果稳定的</a:t>
            </a:r>
            <a:r>
              <a:rPr lang="en-US" altLang="zh-CN" sz="2800" b="1" i="1" dirty="0">
                <a:latin typeface="Times New Roman"/>
              </a:rPr>
              <a:t>H</a:t>
            </a:r>
            <a:r>
              <a:rPr lang="en-US" altLang="zh-CN" sz="2800" b="1" i="1" baseline="-25000" dirty="0">
                <a:latin typeface="Times New Roman"/>
              </a:rPr>
              <a:t>a</a:t>
            </a:r>
            <a:r>
              <a:rPr lang="en-US" altLang="zh-CN" sz="2800" b="1" dirty="0">
                <a:latin typeface="Times New Roman"/>
              </a:rPr>
              <a:t>(</a:t>
            </a:r>
            <a:r>
              <a:rPr lang="en-US" altLang="zh-CN" sz="2800" b="1" i="1" dirty="0">
                <a:latin typeface="Times New Roman"/>
              </a:rPr>
              <a:t>s</a:t>
            </a:r>
            <a:r>
              <a:rPr lang="en-US" altLang="zh-CN" sz="2800" b="1" dirty="0">
                <a:latin typeface="Times New Roman"/>
              </a:rPr>
              <a:t>)</a:t>
            </a:r>
            <a:r>
              <a:rPr lang="zh-CN" altLang="en-US" sz="2800" b="1" dirty="0">
                <a:latin typeface="Times New Roman"/>
              </a:rPr>
              <a:t>应能</a:t>
            </a:r>
            <a:r>
              <a:rPr lang="zh-CN" altLang="en-US" sz="2800" b="1" i="0" dirty="0">
                <a:latin typeface="+mj-lt"/>
              </a:rPr>
              <a:t>映射成</a:t>
            </a:r>
            <a:r>
              <a:rPr lang="zh-CN" altLang="en-US" sz="2800" b="1" dirty="0"/>
              <a:t>因果稳定的</a:t>
            </a:r>
            <a:r>
              <a:rPr lang="en-US" altLang="zh-CN" sz="2800" b="1" i="1" dirty="0">
                <a:latin typeface="Times New Roman"/>
              </a:rPr>
              <a:t>H</a:t>
            </a:r>
            <a:r>
              <a:rPr lang="en-US" altLang="zh-CN" sz="2800" b="1" dirty="0">
                <a:latin typeface="Times New Roman"/>
              </a:rPr>
              <a:t>(</a:t>
            </a:r>
            <a:r>
              <a:rPr lang="en-US" altLang="zh-CN" sz="2800" b="1" i="1" dirty="0">
                <a:latin typeface="Times New Roman"/>
              </a:rPr>
              <a:t>z</a:t>
            </a:r>
            <a:r>
              <a:rPr lang="en-US" altLang="zh-CN" sz="2800" b="1" dirty="0">
                <a:latin typeface="Times New Roman"/>
              </a:rPr>
              <a:t>)</a:t>
            </a:r>
            <a:r>
              <a:rPr lang="zh-CN" altLang="en-US" sz="2800" b="1" i="0" dirty="0">
                <a:latin typeface="+mj-lt"/>
              </a:rPr>
              <a:t> ，</a:t>
            </a:r>
            <a:endParaRPr lang="en-US" altLang="zh-CN" sz="2800" b="1" i="0" dirty="0">
              <a:latin typeface="+mj-lt"/>
            </a:endParaRPr>
          </a:p>
          <a:p>
            <a:pPr indent="-200025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800" b="1" dirty="0">
                <a:latin typeface="+mj-lt"/>
              </a:rPr>
              <a:t>          </a:t>
            </a:r>
            <a:r>
              <a:rPr lang="zh-CN" altLang="en-US" sz="2800" b="1" i="0" dirty="0">
                <a:latin typeface="+mj-lt"/>
              </a:rPr>
              <a:t>即</a:t>
            </a:r>
            <a:r>
              <a:rPr lang="en-US" altLang="zh-CN" sz="2800" b="1" i="1" dirty="0">
                <a:solidFill>
                  <a:srgbClr val="FF0000"/>
                </a:solidFill>
                <a:latin typeface="+mj-lt"/>
              </a:rPr>
              <a:t>s</a:t>
            </a:r>
            <a:r>
              <a:rPr lang="zh-CN" altLang="en-US" sz="2800" b="1" i="0" dirty="0">
                <a:solidFill>
                  <a:srgbClr val="FF0000"/>
                </a:solidFill>
                <a:latin typeface="+mj-lt"/>
              </a:rPr>
              <a:t>平面的左半平面 </a:t>
            </a:r>
            <a:r>
              <a:rPr lang="en-US" altLang="zh-CN" sz="2800" b="1" i="0" dirty="0">
                <a:latin typeface="+mj-lt"/>
              </a:rPr>
              <a:t>(Re[</a:t>
            </a:r>
            <a:r>
              <a:rPr lang="en-US" altLang="zh-CN" sz="2800" b="1" i="1" dirty="0">
                <a:latin typeface="+mj-lt"/>
              </a:rPr>
              <a:t>s</a:t>
            </a:r>
            <a:r>
              <a:rPr lang="en-US" altLang="zh-CN" sz="2800" b="1" i="0" dirty="0">
                <a:latin typeface="+mj-lt"/>
              </a:rPr>
              <a:t>]</a:t>
            </a:r>
            <a:r>
              <a:rPr lang="zh-CN" altLang="en-US" sz="2800" b="1" i="0" dirty="0">
                <a:latin typeface="+mj-lt"/>
              </a:rPr>
              <a:t>＜</a:t>
            </a:r>
            <a:r>
              <a:rPr lang="en-US" altLang="zh-CN" sz="2800" b="1" i="0" dirty="0">
                <a:latin typeface="+mj-lt"/>
              </a:rPr>
              <a:t>0) </a:t>
            </a:r>
            <a:r>
              <a:rPr lang="zh-CN" altLang="en-US" sz="2800" b="1" i="0" dirty="0">
                <a:solidFill>
                  <a:srgbClr val="FF0000"/>
                </a:solidFill>
                <a:latin typeface="+mj-lt"/>
              </a:rPr>
              <a:t>应映射到</a:t>
            </a:r>
            <a:r>
              <a:rPr lang="en-US" altLang="zh-CN" sz="2800" b="1" i="1" dirty="0">
                <a:solidFill>
                  <a:srgbClr val="FF0000"/>
                </a:solidFill>
                <a:latin typeface="+mj-lt"/>
              </a:rPr>
              <a:t>z</a:t>
            </a:r>
            <a:r>
              <a:rPr lang="zh-CN" altLang="en-US" sz="2800" b="1" i="0" dirty="0">
                <a:solidFill>
                  <a:srgbClr val="FF0000"/>
                </a:solidFill>
                <a:latin typeface="+mj-lt"/>
              </a:rPr>
              <a:t>平面</a:t>
            </a:r>
            <a:endParaRPr lang="en-US" altLang="zh-CN" sz="2800" b="1" i="0" dirty="0">
              <a:solidFill>
                <a:srgbClr val="FF0000"/>
              </a:solidFill>
              <a:latin typeface="+mj-lt"/>
            </a:endParaRPr>
          </a:p>
          <a:p>
            <a:pPr indent="-200025">
              <a:lnSpc>
                <a:spcPct val="125000"/>
              </a:lnSpc>
              <a:tabLst>
                <a:tab pos="46672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+mj-lt"/>
              </a:rPr>
              <a:t>          </a:t>
            </a:r>
            <a:r>
              <a:rPr lang="zh-CN" altLang="en-US" sz="2800" b="1" i="0" dirty="0">
                <a:solidFill>
                  <a:srgbClr val="FF0000"/>
                </a:solidFill>
                <a:latin typeface="+mj-lt"/>
              </a:rPr>
              <a:t>的单位圆以内</a:t>
            </a:r>
            <a:r>
              <a:rPr lang="en-US" altLang="zh-CN" sz="2800" b="1" i="0" dirty="0">
                <a:latin typeface="+mj-lt"/>
              </a:rPr>
              <a:t>(|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en-US" altLang="zh-CN" sz="2800" b="1" i="0" dirty="0">
                <a:latin typeface="+mj-lt"/>
              </a:rPr>
              <a:t>|&lt;1)</a:t>
            </a:r>
            <a:r>
              <a:rPr lang="zh-CN" altLang="en-US" sz="2800" b="1" i="0" dirty="0">
                <a:latin typeface="+mj-lt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B6BFDD-A1B8-5E53-B522-2BE4E5054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56992"/>
            <a:ext cx="3056464" cy="22409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B5C9B8-1C83-D666-31F3-B11DB918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3532466"/>
            <a:ext cx="3115022" cy="207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33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9592" y="1268760"/>
            <a:ext cx="7758855" cy="1708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00025">
              <a:lnSpc>
                <a:spcPct val="125000"/>
              </a:lnSpc>
              <a:tabLst>
                <a:tab pos="466725" algn="l"/>
              </a:tabLst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本节讨论如何由模拟滤波器得到特性相近的数字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indent="-200025">
              <a:lnSpc>
                <a:spcPct val="125000"/>
              </a:lnSpc>
              <a:tabLst>
                <a:tab pos="466725" algn="l"/>
              </a:tabLst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滤波器，也即从模拟滤波器映射成数字滤波器的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indent="-200025">
              <a:lnSpc>
                <a:spcPct val="125000"/>
              </a:lnSpc>
              <a:tabLst>
                <a:tab pos="466725" algn="l"/>
              </a:tabLst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问题。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396546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脉冲响应不变法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899997" y="4649418"/>
            <a:ext cx="2810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双线性变换法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880525" y="3173780"/>
            <a:ext cx="7568505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200025">
              <a:lnSpc>
                <a:spcPct val="125000"/>
              </a:lnSpc>
              <a:tabLst>
                <a:tab pos="466725" algn="l"/>
              </a:tabLst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主要有两种常用的映射变换方法：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根据模拟滤波器设计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008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5"/>
          <p:cNvSpPr>
            <a:spLocks noChangeArrowheads="1"/>
          </p:cNvSpPr>
          <p:nvPr/>
        </p:nvSpPr>
        <p:spPr bwMode="auto">
          <a:xfrm>
            <a:off x="975581" y="1008310"/>
            <a:ext cx="7876678" cy="2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6700">
              <a:spcBef>
                <a:spcPct val="20000"/>
              </a:spcBef>
              <a:buChar char="•"/>
              <a:tabLst>
                <a:tab pos="533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脉冲响应不变法是使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数字滤波器的单位脉冲响应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逼近模拟滤波器的冲激响应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，让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正好等于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的采样值，即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为采样周期。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1095127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</a:t>
            </a:r>
            <a:endParaRPr lang="zh-CN" altLang="en-US" sz="2000" dirty="0"/>
          </a:p>
        </p:txBody>
      </p:sp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292654"/>
              </p:ext>
            </p:extLst>
          </p:nvPr>
        </p:nvGraphicFramePr>
        <p:xfrm>
          <a:off x="251520" y="3634953"/>
          <a:ext cx="254127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44500" progId="Equation.DSMT4">
                  <p:embed/>
                </p:oleObj>
              </mc:Choice>
              <mc:Fallback>
                <p:oleObj name="Equation" r:id="rId2" imgW="1104900" imgH="444500" progId="Equation.DSMT4">
                  <p:embed/>
                  <p:pic>
                    <p:nvPicPr>
                      <p:cNvPr id="4587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634953"/>
                        <a:ext cx="254127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43377"/>
              </p:ext>
            </p:extLst>
          </p:nvPr>
        </p:nvGraphicFramePr>
        <p:xfrm>
          <a:off x="4860032" y="3634953"/>
          <a:ext cx="28622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431640" progId="Equation.DSMT4">
                  <p:embed/>
                </p:oleObj>
              </mc:Choice>
              <mc:Fallback>
                <p:oleObj name="Equation" r:id="rId4" imgW="1244520" imgH="431640" progId="Equation.DSMT4">
                  <p:embed/>
                  <p:pic>
                    <p:nvPicPr>
                      <p:cNvPr id="4587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3634953"/>
                        <a:ext cx="286226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581483"/>
              </p:ext>
            </p:extLst>
          </p:nvPr>
        </p:nvGraphicFramePr>
        <p:xfrm>
          <a:off x="4283968" y="5389141"/>
          <a:ext cx="47910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600" imgH="431640" progId="Equation.DSMT4">
                  <p:embed/>
                </p:oleObj>
              </mc:Choice>
              <mc:Fallback>
                <p:oleObj name="Equation" r:id="rId6" imgW="2082600" imgH="431640" progId="Equation.DSMT4">
                  <p:embed/>
                  <p:pic>
                    <p:nvPicPr>
                      <p:cNvPr id="4587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5389141"/>
                        <a:ext cx="47910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203698"/>
              </p:ext>
            </p:extLst>
          </p:nvPr>
        </p:nvGraphicFramePr>
        <p:xfrm>
          <a:off x="107504" y="5388320"/>
          <a:ext cx="3036522" cy="992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227" imgH="431613" progId="Equation.DSMT4">
                  <p:embed/>
                </p:oleObj>
              </mc:Choice>
              <mc:Fallback>
                <p:oleObj name="Equation" r:id="rId8" imgW="1320227" imgH="431613" progId="Equation.DSMT4">
                  <p:embed/>
                  <p:pic>
                    <p:nvPicPr>
                      <p:cNvPr id="4587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5388320"/>
                        <a:ext cx="3036522" cy="992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419872" y="4169120"/>
            <a:ext cx="9144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5580112" y="4626320"/>
            <a:ext cx="0" cy="762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3347864" y="5885976"/>
            <a:ext cx="8382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/>
          <p:nvPr/>
        </p:nvSpPr>
        <p:spPr bwMode="auto">
          <a:xfrm>
            <a:off x="107504" y="3429000"/>
            <a:ext cx="3142456" cy="3312368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9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291944"/>
              </p:ext>
            </p:extLst>
          </p:nvPr>
        </p:nvGraphicFramePr>
        <p:xfrm>
          <a:off x="899592" y="1475824"/>
          <a:ext cx="5867136" cy="296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1346040" progId="Equation.DSMT4">
                  <p:embed/>
                </p:oleObj>
              </mc:Choice>
              <mc:Fallback>
                <p:oleObj name="Equation" r:id="rId2" imgW="2666880" imgH="1346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475824"/>
                        <a:ext cx="5867136" cy="296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719943"/>
              </p:ext>
            </p:extLst>
          </p:nvPr>
        </p:nvGraphicFramePr>
        <p:xfrm>
          <a:off x="935287" y="5431368"/>
          <a:ext cx="2766060" cy="94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300" imgH="431800" progId="Equation.DSMT4">
                  <p:embed/>
                </p:oleObj>
              </mc:Choice>
              <mc:Fallback>
                <p:oleObj name="Equation" r:id="rId4" imgW="12573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287" y="5431368"/>
                        <a:ext cx="2766060" cy="949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16114" y="977924"/>
            <a:ext cx="80043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理想采样          的拉氏变换            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552903"/>
              </p:ext>
            </p:extLst>
          </p:nvPr>
        </p:nvGraphicFramePr>
        <p:xfrm>
          <a:off x="5076056" y="908720"/>
          <a:ext cx="9636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253800" progId="Equation.DSMT4">
                  <p:embed/>
                </p:oleObj>
              </mc:Choice>
              <mc:Fallback>
                <p:oleObj name="Equation" r:id="rId6" imgW="419040" imgH="253800" progId="Equation.DSMT4">
                  <p:embed/>
                  <p:pic>
                    <p:nvPicPr>
                      <p:cNvPr id="459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908720"/>
                        <a:ext cx="9636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517839"/>
              </p:ext>
            </p:extLst>
          </p:nvPr>
        </p:nvGraphicFramePr>
        <p:xfrm>
          <a:off x="2411760" y="977924"/>
          <a:ext cx="787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253800" progId="Equation.DSMT4">
                  <p:embed/>
                </p:oleObj>
              </mc:Choice>
              <mc:Fallback>
                <p:oleObj name="Equation" r:id="rId8" imgW="342720" imgH="2538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977924"/>
                        <a:ext cx="787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816114" y="477798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采样序列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变换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B25038-789B-AB3B-A4D7-6B52E2AFFC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2655" y="5390899"/>
            <a:ext cx="2081673" cy="7255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97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9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9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9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228792"/>
              </p:ext>
            </p:extLst>
          </p:nvPr>
        </p:nvGraphicFramePr>
        <p:xfrm>
          <a:off x="5436096" y="2967714"/>
          <a:ext cx="1950048" cy="115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82400" progId="Equation.DSMT4">
                  <p:embed/>
                </p:oleObj>
              </mc:Choice>
              <mc:Fallback>
                <p:oleObj name="Equation" r:id="rId2" imgW="8125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2967714"/>
                        <a:ext cx="1950048" cy="1157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861695" y="905916"/>
            <a:ext cx="76707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理想采样          的拉氏变换            与采样序列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变换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平面与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平面的映射关系     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835588"/>
              </p:ext>
            </p:extLst>
          </p:nvPr>
        </p:nvGraphicFramePr>
        <p:xfrm>
          <a:off x="5121637" y="836712"/>
          <a:ext cx="9636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53800" progId="Equation.DSMT4">
                  <p:embed/>
                </p:oleObj>
              </mc:Choice>
              <mc:Fallback>
                <p:oleObj name="Equation" r:id="rId4" imgW="419040" imgH="2538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637" y="836712"/>
                        <a:ext cx="9636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828476"/>
              </p:ext>
            </p:extLst>
          </p:nvPr>
        </p:nvGraphicFramePr>
        <p:xfrm>
          <a:off x="2457341" y="905916"/>
          <a:ext cx="787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253800" progId="Equation.DSMT4">
                  <p:embed/>
                </p:oleObj>
              </mc:Choice>
              <mc:Fallback>
                <p:oleObj name="Equation" r:id="rId6" imgW="342720" imgH="2538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341" y="905916"/>
                        <a:ext cx="787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092011"/>
              </p:ext>
            </p:extLst>
          </p:nvPr>
        </p:nvGraphicFramePr>
        <p:xfrm>
          <a:off x="1547664" y="3284984"/>
          <a:ext cx="3809376" cy="487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03040" progId="Equation.DSMT4">
                  <p:embed/>
                </p:oleObj>
              </mc:Choice>
              <mc:Fallback>
                <p:oleObj name="Equation" r:id="rId8" imgW="1587240" imgH="203040" progId="Equation.DSMT4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284984"/>
                        <a:ext cx="3809376" cy="487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279506"/>
              </p:ext>
            </p:extLst>
          </p:nvPr>
        </p:nvGraphicFramePr>
        <p:xfrm>
          <a:off x="3489805" y="1844824"/>
          <a:ext cx="1188720" cy="527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" imgH="203040" progId="Equation.DSMT4">
                  <p:embed/>
                </p:oleObj>
              </mc:Choice>
              <mc:Fallback>
                <p:oleObj name="Equation" r:id="rId10" imgW="457200" imgH="20304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805" y="1844824"/>
                        <a:ext cx="1188720" cy="527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080069"/>
              </p:ext>
            </p:extLst>
          </p:nvPr>
        </p:nvGraphicFramePr>
        <p:xfrm>
          <a:off x="1615606" y="2492896"/>
          <a:ext cx="3078432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228600" progId="Equation.DSMT4">
                  <p:embed/>
                </p:oleObj>
              </mc:Choice>
              <mc:Fallback>
                <p:oleObj name="Equation" r:id="rId12" imgW="1282680" imgH="22860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606" y="2492896"/>
                        <a:ext cx="3078432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925490" y="2505521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30314" y="328498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dirty="0"/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845185"/>
              </p:ext>
            </p:extLst>
          </p:nvPr>
        </p:nvGraphicFramePr>
        <p:xfrm>
          <a:off x="1345230" y="4732720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80" imgH="177480" progId="Equation.DSMT4">
                  <p:embed/>
                </p:oleObj>
              </mc:Choice>
              <mc:Fallback>
                <p:oleObj name="Equation" r:id="rId14" imgW="380880" imgH="177480" progId="Equation.DSMT4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230" y="4732720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498807"/>
              </p:ext>
            </p:extLst>
          </p:nvPr>
        </p:nvGraphicFramePr>
        <p:xfrm>
          <a:off x="2797897" y="4749254"/>
          <a:ext cx="792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120" imgH="164880" progId="Equation.DSMT4">
                  <p:embed/>
                </p:oleObj>
              </mc:Choice>
              <mc:Fallback>
                <p:oleObj name="Equation" r:id="rId16" imgW="330120" imgH="164880" progId="Equation.DSMT4">
                  <p:embed/>
                  <p:pic>
                    <p:nvPicPr>
                      <p:cNvPr id="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897" y="4749254"/>
                        <a:ext cx="792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921628" y="4693330"/>
            <a:ext cx="2164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时，</a:t>
            </a:r>
            <a:endParaRPr lang="zh-CN" altLang="en-US" dirty="0"/>
          </a:p>
        </p:txBody>
      </p:sp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1997"/>
              </p:ext>
            </p:extLst>
          </p:nvPr>
        </p:nvGraphicFramePr>
        <p:xfrm>
          <a:off x="1338501" y="5445764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80" imgH="177480" progId="Equation.DSMT4">
                  <p:embed/>
                </p:oleObj>
              </mc:Choice>
              <mc:Fallback>
                <p:oleObj name="Equation" r:id="rId18" imgW="380880" imgH="177480" progId="Equation.DSMT4">
                  <p:embed/>
                  <p:pic>
                    <p:nvPicPr>
                      <p:cNvPr id="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501" y="5445764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182868"/>
              </p:ext>
            </p:extLst>
          </p:nvPr>
        </p:nvGraphicFramePr>
        <p:xfrm>
          <a:off x="2797897" y="5388389"/>
          <a:ext cx="792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0120" imgH="164880" progId="Equation.DSMT4">
                  <p:embed/>
                </p:oleObj>
              </mc:Choice>
              <mc:Fallback>
                <p:oleObj name="Equation" r:id="rId20" imgW="330120" imgH="164880" progId="Equation.DSMT4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897" y="5388389"/>
                        <a:ext cx="792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667608"/>
              </p:ext>
            </p:extLst>
          </p:nvPr>
        </p:nvGraphicFramePr>
        <p:xfrm>
          <a:off x="1328035" y="6112552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80880" imgH="177480" progId="Equation.DSMT4">
                  <p:embed/>
                </p:oleObj>
              </mc:Choice>
              <mc:Fallback>
                <p:oleObj name="Equation" r:id="rId22" imgW="380880" imgH="177480" progId="Equation.DSMT4">
                  <p:embed/>
                  <p:pic>
                    <p:nvPicPr>
                      <p:cNvPr id="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035" y="6112552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268984"/>
              </p:ext>
            </p:extLst>
          </p:nvPr>
        </p:nvGraphicFramePr>
        <p:xfrm>
          <a:off x="2797971" y="6096913"/>
          <a:ext cx="792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30120" imgH="164880" progId="Equation.DSMT4">
                  <p:embed/>
                </p:oleObj>
              </mc:Choice>
              <mc:Fallback>
                <p:oleObj name="Equation" r:id="rId24" imgW="330120" imgH="164880" progId="Equation.DSMT4">
                  <p:embed/>
                  <p:pic>
                    <p:nvPicPr>
                      <p:cNvPr id="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971" y="6096913"/>
                        <a:ext cx="792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08657" y="4061813"/>
            <a:ext cx="1872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由此可见：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4825" y="5360566"/>
            <a:ext cx="2164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时，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904359" y="6057856"/>
            <a:ext cx="2164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时，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51920" y="4668446"/>
            <a:ext cx="47160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0025" eaLnBrk="1" hangingPunct="1">
              <a:lnSpc>
                <a:spcPct val="125000"/>
              </a:lnSpc>
              <a:tabLst>
                <a:tab pos="466725" algn="l"/>
              </a:tabLst>
            </a:pP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s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平面的虚轴映射为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z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平面的单位圆</a:t>
            </a:r>
            <a:endParaRPr lang="zh-CN" altLang="en-US" sz="2400" dirty="0"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51921" y="5309034"/>
            <a:ext cx="51125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00025" eaLnBrk="1" hangingPunct="1">
              <a:lnSpc>
                <a:spcPct val="125000"/>
              </a:lnSpc>
              <a:tabLst>
                <a:tab pos="466725" algn="l"/>
              </a:tabLst>
            </a:pPr>
            <a:r>
              <a:rPr lang="en-US" altLang="zh-CN" sz="2400" b="1" i="1" dirty="0">
                <a:solidFill>
                  <a:srgbClr val="FF0000"/>
                </a:solidFill>
                <a:latin typeface="+mj-lt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latin typeface="+mj-lt"/>
              </a:rPr>
              <a:t>左半平面映射为</a:t>
            </a:r>
            <a:r>
              <a:rPr lang="en-US" altLang="zh-CN" sz="2400" b="1" i="1" dirty="0">
                <a:solidFill>
                  <a:srgbClr val="FF0000"/>
                </a:solidFill>
                <a:latin typeface="+mj-lt"/>
              </a:rPr>
              <a:t>z</a:t>
            </a:r>
            <a:r>
              <a:rPr lang="zh-CN" altLang="en-US" sz="2400" b="1" dirty="0">
                <a:solidFill>
                  <a:srgbClr val="FF0000"/>
                </a:solidFill>
                <a:latin typeface="+mj-lt"/>
              </a:rPr>
              <a:t>平面的单位圆内部</a:t>
            </a:r>
            <a:endParaRPr lang="zh-CN" alt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841351" y="6063724"/>
            <a:ext cx="49071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s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右半平面映射为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z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平面的单位圆外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29" grpId="0"/>
      <p:bldP spid="4" grpId="0"/>
      <p:bldP spid="30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2"/>
          <p:cNvSpPr/>
          <p:nvPr/>
        </p:nvSpPr>
        <p:spPr>
          <a:xfrm>
            <a:off x="838200" y="3581400"/>
            <a:ext cx="3581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35" name="Line 3"/>
          <p:cNvSpPr/>
          <p:nvPr/>
        </p:nvSpPr>
        <p:spPr>
          <a:xfrm>
            <a:off x="2667000" y="1524000"/>
            <a:ext cx="0" cy="434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4036" name="Line 4"/>
          <p:cNvSpPr/>
          <p:nvPr/>
        </p:nvSpPr>
        <p:spPr>
          <a:xfrm>
            <a:off x="990600" y="3124200"/>
            <a:ext cx="29718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7" name="Line 5"/>
          <p:cNvSpPr/>
          <p:nvPr/>
        </p:nvSpPr>
        <p:spPr>
          <a:xfrm flipV="1">
            <a:off x="971550" y="4038600"/>
            <a:ext cx="3067050" cy="381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8" name="Line 6"/>
          <p:cNvSpPr/>
          <p:nvPr/>
        </p:nvSpPr>
        <p:spPr>
          <a:xfrm>
            <a:off x="1042988" y="2205038"/>
            <a:ext cx="29718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4039" name="Line 7"/>
          <p:cNvSpPr/>
          <p:nvPr/>
        </p:nvSpPr>
        <p:spPr>
          <a:xfrm>
            <a:off x="1219200" y="5029200"/>
            <a:ext cx="28956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2667000" y="1143000"/>
          <a:ext cx="4270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1300" imgH="203200" progId="Equation.DSMT4">
                  <p:embed/>
                </p:oleObj>
              </mc:Choice>
              <mc:Fallback>
                <p:oleObj r:id="rId2" imgW="241300" imgH="203200" progId="Equation.DSMT4">
                  <p:embed/>
                  <p:pic>
                    <p:nvPicPr>
                      <p:cNvPr id="44040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7000" y="1143000"/>
                        <a:ext cx="427038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4495800" y="3429000"/>
          <a:ext cx="26987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" imgH="139700" progId="Equation.DSMT4">
                  <p:embed/>
                </p:oleObj>
              </mc:Choice>
              <mc:Fallback>
                <p:oleObj r:id="rId4" imgW="152400" imgH="139700" progId="Equation.DSMT4">
                  <p:embed/>
                  <p:pic>
                    <p:nvPicPr>
                      <p:cNvPr id="44041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5800" y="3429000"/>
                        <a:ext cx="269875" cy="247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2667000" y="3352800"/>
          <a:ext cx="254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" imgH="177165" progId="Equation.3">
                  <p:embed/>
                </p:oleObj>
              </mc:Choice>
              <mc:Fallback>
                <p:oleObj r:id="rId6" imgW="127000" imgH="177165" progId="Equation.3">
                  <p:embed/>
                  <p:pic>
                    <p:nvPicPr>
                      <p:cNvPr id="44042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7000" y="3352800"/>
                        <a:ext cx="2540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11"/>
          <p:cNvGraphicFramePr>
            <a:graphicFrameLocks noChangeAspect="1"/>
          </p:cNvGraphicFramePr>
          <p:nvPr/>
        </p:nvGraphicFramePr>
        <p:xfrm>
          <a:off x="2616200" y="3962400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1000" imgH="304800" progId="Equation.DSMT4">
                  <p:embed/>
                </p:oleObj>
              </mc:Choice>
              <mc:Fallback>
                <p:oleObj r:id="rId8" imgW="381000" imgH="304800" progId="Equation.DSMT4">
                  <p:embed/>
                  <p:pic>
                    <p:nvPicPr>
                      <p:cNvPr id="44043" name="Object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16200" y="3962400"/>
                        <a:ext cx="7620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2717800" y="1752600"/>
          <a:ext cx="711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55600" imgH="304800" progId="Equation.DSMT4">
                  <p:embed/>
                </p:oleObj>
              </mc:Choice>
              <mc:Fallback>
                <p:oleObj r:id="rId10" imgW="355600" imgH="304800" progId="Equation.DSMT4">
                  <p:embed/>
                  <p:pic>
                    <p:nvPicPr>
                      <p:cNvPr id="44044" name="Object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7800" y="1752600"/>
                        <a:ext cx="7112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2717800" y="4953000"/>
          <a:ext cx="91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7200" imgH="304800" progId="Equation.DSMT4">
                  <p:embed/>
                </p:oleObj>
              </mc:Choice>
              <mc:Fallback>
                <p:oleObj r:id="rId12" imgW="457200" imgH="304800" progId="Equation.DSMT4">
                  <p:embed/>
                  <p:pic>
                    <p:nvPicPr>
                      <p:cNvPr id="44045" name="Object 1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17800" y="4953000"/>
                        <a:ext cx="914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Object 14"/>
          <p:cNvGraphicFramePr>
            <a:graphicFrameLocks noChangeAspect="1"/>
          </p:cNvGraphicFramePr>
          <p:nvPr/>
        </p:nvGraphicFramePr>
        <p:xfrm>
          <a:off x="2730500" y="25908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6700" imgH="304800" progId="Equation.DSMT4">
                  <p:embed/>
                </p:oleObj>
              </mc:Choice>
              <mc:Fallback>
                <p:oleObj r:id="rId14" imgW="266700" imgH="304800" progId="Equation.DSMT4">
                  <p:embed/>
                  <p:pic>
                    <p:nvPicPr>
                      <p:cNvPr id="44046" name="Object 1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30500" y="2590800"/>
                        <a:ext cx="533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7" name="Line 15"/>
          <p:cNvSpPr/>
          <p:nvPr/>
        </p:nvSpPr>
        <p:spPr>
          <a:xfrm>
            <a:off x="5105400" y="3657600"/>
            <a:ext cx="3505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8" name="Line 16"/>
          <p:cNvSpPr/>
          <p:nvPr/>
        </p:nvSpPr>
        <p:spPr>
          <a:xfrm>
            <a:off x="6858000" y="1600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65937" name="Oval 17"/>
          <p:cNvSpPr/>
          <p:nvPr/>
        </p:nvSpPr>
        <p:spPr>
          <a:xfrm>
            <a:off x="5943600" y="2743200"/>
            <a:ext cx="1752600" cy="1828800"/>
          </a:xfrm>
          <a:prstGeom prst="ellipse">
            <a:avLst/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050" name="Line 18"/>
          <p:cNvSpPr/>
          <p:nvPr/>
        </p:nvSpPr>
        <p:spPr>
          <a:xfrm>
            <a:off x="6858000" y="25908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1" name="Line 19"/>
          <p:cNvSpPr/>
          <p:nvPr/>
        </p:nvSpPr>
        <p:spPr>
          <a:xfrm>
            <a:off x="6019800" y="3657600"/>
            <a:ext cx="1828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44052" name="Object 20"/>
          <p:cNvGraphicFramePr>
            <a:graphicFrameLocks noChangeAspect="1"/>
          </p:cNvGraphicFramePr>
          <p:nvPr/>
        </p:nvGraphicFramePr>
        <p:xfrm>
          <a:off x="6324600" y="1066800"/>
          <a:ext cx="130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94665" imgH="203200" progId="Equation.3">
                  <p:embed/>
                </p:oleObj>
              </mc:Choice>
              <mc:Fallback>
                <p:oleObj r:id="rId16" imgW="494665" imgH="203200" progId="Equation.3">
                  <p:embed/>
                  <p:pic>
                    <p:nvPicPr>
                      <p:cNvPr id="44052" name="Object 2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24600" y="1066800"/>
                        <a:ext cx="1308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3" name="Object 21"/>
          <p:cNvGraphicFramePr>
            <a:graphicFrameLocks noChangeAspect="1"/>
          </p:cNvGraphicFramePr>
          <p:nvPr/>
        </p:nvGraphicFramePr>
        <p:xfrm>
          <a:off x="8077200" y="3124200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93700" imgH="203200" progId="Equation.3">
                  <p:embed/>
                </p:oleObj>
              </mc:Choice>
              <mc:Fallback>
                <p:oleObj r:id="rId18" imgW="393700" imgH="203200" progId="Equation.3">
                  <p:embed/>
                  <p:pic>
                    <p:nvPicPr>
                      <p:cNvPr id="44053" name="Object 2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077200" y="3124200"/>
                        <a:ext cx="10668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6629400" y="3657600"/>
          <a:ext cx="254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" imgH="177165" progId="Equation.3">
                  <p:embed/>
                </p:oleObj>
              </mc:Choice>
              <mc:Fallback>
                <p:oleObj r:id="rId6" imgW="127000" imgH="177165" progId="Equation.3">
                  <p:embed/>
                  <p:pic>
                    <p:nvPicPr>
                      <p:cNvPr id="44054" name="Object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29400" y="3657600"/>
                        <a:ext cx="2540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>
          <a:off x="5486400" y="4114800"/>
          <a:ext cx="3730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52400" imgH="139700" progId="Equation.3">
                  <p:embed/>
                </p:oleObj>
              </mc:Choice>
              <mc:Fallback>
                <p:oleObj r:id="rId20" imgW="152400" imgH="139700" progId="Equation.3">
                  <p:embed/>
                  <p:pic>
                    <p:nvPicPr>
                      <p:cNvPr id="44055" name="Object 2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86400" y="4114800"/>
                        <a:ext cx="373063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Text Box 24"/>
          <p:cNvSpPr txBox="1"/>
          <p:nvPr/>
        </p:nvSpPr>
        <p:spPr>
          <a:xfrm>
            <a:off x="2133600" y="61722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</a:t>
            </a:r>
          </a:p>
        </p:txBody>
      </p:sp>
      <p:sp>
        <p:nvSpPr>
          <p:cNvPr id="44057" name="Text Box 25"/>
          <p:cNvSpPr txBox="1"/>
          <p:nvPr/>
        </p:nvSpPr>
        <p:spPr>
          <a:xfrm>
            <a:off x="6172200" y="5562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Z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</a:t>
            </a:r>
          </a:p>
        </p:txBody>
      </p:sp>
      <p:sp>
        <p:nvSpPr>
          <p:cNvPr id="44058" name="Freeform 26"/>
          <p:cNvSpPr/>
          <p:nvPr/>
        </p:nvSpPr>
        <p:spPr>
          <a:xfrm>
            <a:off x="5791200" y="3962400"/>
            <a:ext cx="2286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44" h="240">
                <a:moveTo>
                  <a:pt x="0" y="0"/>
                </a:moveTo>
                <a:cubicBezTo>
                  <a:pt x="16" y="56"/>
                  <a:pt x="32" y="112"/>
                  <a:pt x="48" y="144"/>
                </a:cubicBezTo>
                <a:cubicBezTo>
                  <a:pt x="64" y="176"/>
                  <a:pt x="80" y="176"/>
                  <a:pt x="96" y="192"/>
                </a:cubicBezTo>
                <a:cubicBezTo>
                  <a:pt x="112" y="208"/>
                  <a:pt x="136" y="232"/>
                  <a:pt x="144" y="24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947" name="Line 27"/>
          <p:cNvSpPr/>
          <p:nvPr/>
        </p:nvSpPr>
        <p:spPr>
          <a:xfrm>
            <a:off x="2627313" y="3141663"/>
            <a:ext cx="0" cy="935037"/>
          </a:xfrm>
          <a:prstGeom prst="line">
            <a:avLst/>
          </a:prstGeom>
          <a:ln w="539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5948" name="Line 28"/>
          <p:cNvSpPr/>
          <p:nvPr/>
        </p:nvSpPr>
        <p:spPr>
          <a:xfrm>
            <a:off x="1835150" y="3141663"/>
            <a:ext cx="0" cy="935037"/>
          </a:xfrm>
          <a:prstGeom prst="line">
            <a:avLst/>
          </a:prstGeom>
          <a:ln w="381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5949" name="Oval 29"/>
          <p:cNvSpPr/>
          <p:nvPr/>
        </p:nvSpPr>
        <p:spPr>
          <a:xfrm>
            <a:off x="6372225" y="3213100"/>
            <a:ext cx="936625" cy="936625"/>
          </a:xfrm>
          <a:prstGeom prst="ellipse">
            <a:avLst/>
          </a:prstGeom>
          <a:noFill/>
          <a:ln w="381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5950" name="Line 30"/>
          <p:cNvSpPr/>
          <p:nvPr/>
        </p:nvSpPr>
        <p:spPr>
          <a:xfrm>
            <a:off x="3419475" y="3141663"/>
            <a:ext cx="0" cy="935037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5951" name="Oval 31"/>
          <p:cNvSpPr/>
          <p:nvPr/>
        </p:nvSpPr>
        <p:spPr>
          <a:xfrm>
            <a:off x="5508625" y="2349500"/>
            <a:ext cx="2592388" cy="2592388"/>
          </a:xfrm>
          <a:prstGeom prst="ellipse">
            <a:avLst/>
          </a:prstGeom>
          <a:noFill/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06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142371"/>
              </p:ext>
            </p:extLst>
          </p:nvPr>
        </p:nvGraphicFramePr>
        <p:xfrm>
          <a:off x="2805955" y="545306"/>
          <a:ext cx="1296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495935" imgH="51435" progId="Equation.3">
                  <p:embed/>
                </p:oleObj>
              </mc:Choice>
              <mc:Fallback>
                <p:oleObj r:id="rId22" imgW="495935" imgH="51435" progId="Equation.3">
                  <p:embed/>
                  <p:pic>
                    <p:nvPicPr>
                      <p:cNvPr id="44064" name="Object 32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8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05955" y="545306"/>
                        <a:ext cx="1296988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Text Box 33"/>
          <p:cNvSpPr txBox="1"/>
          <p:nvPr/>
        </p:nvSpPr>
        <p:spPr>
          <a:xfrm>
            <a:off x="724693" y="484981"/>
            <a:ext cx="80819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思考：单位圆          是由虚轴的哪部分映射而来的？</a:t>
            </a:r>
          </a:p>
        </p:txBody>
      </p:sp>
      <p:graphicFrame>
        <p:nvGraphicFramePr>
          <p:cNvPr id="4406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35246"/>
              </p:ext>
            </p:extLst>
          </p:nvPr>
        </p:nvGraphicFramePr>
        <p:xfrm>
          <a:off x="4392613" y="945130"/>
          <a:ext cx="12573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238125" imgH="116205" progId="Equation.DSMT4">
                  <p:embed/>
                </p:oleObj>
              </mc:Choice>
              <mc:Fallback>
                <p:oleObj r:id="rId24" imgW="238125" imgH="116205" progId="Equation.DSMT4">
                  <p:embed/>
                  <p:pic>
                    <p:nvPicPr>
                      <p:cNvPr id="44066" name="Object 34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CC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2613" y="945130"/>
                        <a:ext cx="1257300" cy="7318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951262"/>
              </p:ext>
            </p:extLst>
          </p:nvPr>
        </p:nvGraphicFramePr>
        <p:xfrm>
          <a:off x="4421674" y="1735917"/>
          <a:ext cx="11874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520700" imgH="431800" progId="Equation.3">
                  <p:embed/>
                </p:oleObj>
              </mc:Choice>
              <mc:Fallback>
                <p:oleObj r:id="rId26" imgW="520700" imgH="431800" progId="Equation.3">
                  <p:embed/>
                  <p:pic>
                    <p:nvPicPr>
                      <p:cNvPr id="44067" name="Object 3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21674" y="1735917"/>
                        <a:ext cx="1187450" cy="9572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8" name="Object 36"/>
          <p:cNvGraphicFramePr>
            <a:graphicFrameLocks noGrp="1" noChangeAspect="1"/>
          </p:cNvGraphicFramePr>
          <p:nvPr>
            <p:ph sz="half" idx="1"/>
          </p:nvPr>
        </p:nvGraphicFramePr>
        <p:xfrm>
          <a:off x="1797050" y="4198938"/>
          <a:ext cx="347663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90500" imgH="139700" progId="Equation.3">
                  <p:embed/>
                </p:oleObj>
              </mc:Choice>
              <mc:Fallback>
                <p:oleObj r:id="rId28" imgW="190500" imgH="139700" progId="Equation.3">
                  <p:embed/>
                  <p:pic>
                    <p:nvPicPr>
                      <p:cNvPr id="44068" name="Object 36"/>
                      <p:cNvPicPr/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>
                      <a:xfrm>
                        <a:off x="1797050" y="4198938"/>
                        <a:ext cx="347663" cy="2651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9" name="Object 37"/>
          <p:cNvGraphicFramePr>
            <a:graphicFrameLocks noGrp="1" noChangeAspect="1"/>
          </p:cNvGraphicFramePr>
          <p:nvPr>
            <p:ph sz="half" idx="2"/>
          </p:nvPr>
        </p:nvGraphicFramePr>
        <p:xfrm>
          <a:off x="3392488" y="4198938"/>
          <a:ext cx="347662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203200" imgH="139700" progId="Equation.3">
                  <p:embed/>
                </p:oleObj>
              </mc:Choice>
              <mc:Fallback>
                <p:oleObj r:id="rId30" imgW="203200" imgH="139700" progId="Equation.3">
                  <p:embed/>
                  <p:pic>
                    <p:nvPicPr>
                      <p:cNvPr id="44069" name="Object 37"/>
                      <p:cNvPicPr/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>
                      <a:xfrm>
                        <a:off x="3392488" y="4198938"/>
                        <a:ext cx="347662" cy="2492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37" grpId="0" animBg="1"/>
      <p:bldP spid="465949" grpId="0" animBg="1"/>
      <p:bldP spid="4659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2"/>
          <p:cNvSpPr/>
          <p:nvPr/>
        </p:nvSpPr>
        <p:spPr>
          <a:xfrm>
            <a:off x="838200" y="3581400"/>
            <a:ext cx="3581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59" name="Line 3"/>
          <p:cNvSpPr/>
          <p:nvPr/>
        </p:nvSpPr>
        <p:spPr>
          <a:xfrm>
            <a:off x="2667000" y="1524000"/>
            <a:ext cx="0" cy="434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5060" name="Line 4"/>
          <p:cNvSpPr/>
          <p:nvPr/>
        </p:nvSpPr>
        <p:spPr>
          <a:xfrm>
            <a:off x="990600" y="3124200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5"/>
          <p:cNvSpPr/>
          <p:nvPr/>
        </p:nvSpPr>
        <p:spPr>
          <a:xfrm>
            <a:off x="990600" y="4038600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Rectangle 6"/>
          <p:cNvSpPr/>
          <p:nvPr/>
        </p:nvSpPr>
        <p:spPr>
          <a:xfrm>
            <a:off x="1143000" y="3124200"/>
            <a:ext cx="1524000" cy="914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5063" name="Line 7"/>
          <p:cNvSpPr/>
          <p:nvPr/>
        </p:nvSpPr>
        <p:spPr>
          <a:xfrm>
            <a:off x="1066800" y="2209800"/>
            <a:ext cx="29718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5064" name="Line 8"/>
          <p:cNvSpPr/>
          <p:nvPr/>
        </p:nvSpPr>
        <p:spPr>
          <a:xfrm>
            <a:off x="1219200" y="5029200"/>
            <a:ext cx="28956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45065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2667000" y="1143000"/>
          <a:ext cx="4270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1300" imgH="203200" progId="Equation.DSMT4">
                  <p:embed/>
                </p:oleObj>
              </mc:Choice>
              <mc:Fallback>
                <p:oleObj r:id="rId2" imgW="241300" imgH="203200" progId="Equation.DSMT4">
                  <p:embed/>
                  <p:pic>
                    <p:nvPicPr>
                      <p:cNvPr id="45065" name="Object 9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667000" y="1143000"/>
                        <a:ext cx="427038" cy="3603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4495800" y="3429000"/>
          <a:ext cx="26987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" imgH="139700" progId="Equation.3">
                  <p:embed/>
                </p:oleObj>
              </mc:Choice>
              <mc:Fallback>
                <p:oleObj r:id="rId4" imgW="152400" imgH="139700" progId="Equation.3">
                  <p:embed/>
                  <p:pic>
                    <p:nvPicPr>
                      <p:cNvPr id="45066" name="Object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5800" y="3429000"/>
                        <a:ext cx="269875" cy="247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1"/>
          <p:cNvGraphicFramePr>
            <a:graphicFrameLocks noChangeAspect="1"/>
          </p:cNvGraphicFramePr>
          <p:nvPr/>
        </p:nvGraphicFramePr>
        <p:xfrm>
          <a:off x="2667000" y="3352800"/>
          <a:ext cx="254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" imgH="177165" progId="Equation.3">
                  <p:embed/>
                </p:oleObj>
              </mc:Choice>
              <mc:Fallback>
                <p:oleObj r:id="rId6" imgW="127000" imgH="177165" progId="Equation.3">
                  <p:embed/>
                  <p:pic>
                    <p:nvPicPr>
                      <p:cNvPr id="45067" name="Object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7000" y="3352800"/>
                        <a:ext cx="2540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12"/>
          <p:cNvGraphicFramePr>
            <a:graphicFrameLocks noChangeAspect="1"/>
          </p:cNvGraphicFramePr>
          <p:nvPr/>
        </p:nvGraphicFramePr>
        <p:xfrm>
          <a:off x="2616200" y="3962400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1000" imgH="304800" progId="Equation.DSMT4">
                  <p:embed/>
                </p:oleObj>
              </mc:Choice>
              <mc:Fallback>
                <p:oleObj r:id="rId8" imgW="381000" imgH="304800" progId="Equation.DSMT4">
                  <p:embed/>
                  <p:pic>
                    <p:nvPicPr>
                      <p:cNvPr id="45068" name="Object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16200" y="3962400"/>
                        <a:ext cx="7620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/>
          <p:cNvGraphicFramePr>
            <a:graphicFrameLocks noChangeAspect="1"/>
          </p:cNvGraphicFramePr>
          <p:nvPr/>
        </p:nvGraphicFramePr>
        <p:xfrm>
          <a:off x="2717800" y="1752600"/>
          <a:ext cx="711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55600" imgH="304800" progId="Equation.DSMT4">
                  <p:embed/>
                </p:oleObj>
              </mc:Choice>
              <mc:Fallback>
                <p:oleObj r:id="rId10" imgW="355600" imgH="304800" progId="Equation.DSMT4">
                  <p:embed/>
                  <p:pic>
                    <p:nvPicPr>
                      <p:cNvPr id="45069" name="Object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7800" y="1752600"/>
                        <a:ext cx="7112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2717800" y="4953000"/>
          <a:ext cx="91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7200" imgH="304800" progId="Equation.DSMT4">
                  <p:embed/>
                </p:oleObj>
              </mc:Choice>
              <mc:Fallback>
                <p:oleObj r:id="rId12" imgW="457200" imgH="304800" progId="Equation.DSMT4">
                  <p:embed/>
                  <p:pic>
                    <p:nvPicPr>
                      <p:cNvPr id="45070" name="Object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17800" y="4953000"/>
                        <a:ext cx="914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Object 15"/>
          <p:cNvGraphicFramePr>
            <a:graphicFrameLocks noChangeAspect="1"/>
          </p:cNvGraphicFramePr>
          <p:nvPr/>
        </p:nvGraphicFramePr>
        <p:xfrm>
          <a:off x="2730500" y="25908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6700" imgH="304800" progId="Equation.DSMT4">
                  <p:embed/>
                </p:oleObj>
              </mc:Choice>
              <mc:Fallback>
                <p:oleObj r:id="rId14" imgW="266700" imgH="304800" progId="Equation.DSMT4">
                  <p:embed/>
                  <p:pic>
                    <p:nvPicPr>
                      <p:cNvPr id="45071" name="Object 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30500" y="2590800"/>
                        <a:ext cx="533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2" name="Line 16"/>
          <p:cNvSpPr/>
          <p:nvPr/>
        </p:nvSpPr>
        <p:spPr>
          <a:xfrm>
            <a:off x="5105400" y="3657600"/>
            <a:ext cx="3505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73" name="Line 17"/>
          <p:cNvSpPr/>
          <p:nvPr/>
        </p:nvSpPr>
        <p:spPr>
          <a:xfrm>
            <a:off x="6858000" y="1600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5074" name="Oval 18"/>
          <p:cNvSpPr/>
          <p:nvPr/>
        </p:nvSpPr>
        <p:spPr>
          <a:xfrm>
            <a:off x="5943600" y="2743200"/>
            <a:ext cx="1752600" cy="1828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5075" name="Line 19"/>
          <p:cNvSpPr/>
          <p:nvPr/>
        </p:nvSpPr>
        <p:spPr>
          <a:xfrm>
            <a:off x="6858000" y="25908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20"/>
          <p:cNvSpPr/>
          <p:nvPr/>
        </p:nvSpPr>
        <p:spPr>
          <a:xfrm>
            <a:off x="6019800" y="3657600"/>
            <a:ext cx="1828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45077" name="Object 21"/>
          <p:cNvGraphicFramePr>
            <a:graphicFrameLocks noChangeAspect="1"/>
          </p:cNvGraphicFramePr>
          <p:nvPr/>
        </p:nvGraphicFramePr>
        <p:xfrm>
          <a:off x="6324600" y="1066800"/>
          <a:ext cx="130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94665" imgH="203200" progId="Equation.3">
                  <p:embed/>
                </p:oleObj>
              </mc:Choice>
              <mc:Fallback>
                <p:oleObj r:id="rId16" imgW="494665" imgH="203200" progId="Equation.3">
                  <p:embed/>
                  <p:pic>
                    <p:nvPicPr>
                      <p:cNvPr id="45077" name="Object 2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24600" y="1066800"/>
                        <a:ext cx="1308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8" name="Object 22"/>
          <p:cNvGraphicFramePr>
            <a:graphicFrameLocks noChangeAspect="1"/>
          </p:cNvGraphicFramePr>
          <p:nvPr/>
        </p:nvGraphicFramePr>
        <p:xfrm>
          <a:off x="8077200" y="3124200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93700" imgH="203200" progId="Equation.3">
                  <p:embed/>
                </p:oleObj>
              </mc:Choice>
              <mc:Fallback>
                <p:oleObj r:id="rId18" imgW="393700" imgH="203200" progId="Equation.3">
                  <p:embed/>
                  <p:pic>
                    <p:nvPicPr>
                      <p:cNvPr id="45078" name="Object 2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077200" y="3124200"/>
                        <a:ext cx="10668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9" name="Object 23"/>
          <p:cNvGraphicFramePr>
            <a:graphicFrameLocks noChangeAspect="1"/>
          </p:cNvGraphicFramePr>
          <p:nvPr/>
        </p:nvGraphicFramePr>
        <p:xfrm>
          <a:off x="6629400" y="3657600"/>
          <a:ext cx="254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" imgH="177165" progId="Equation.3">
                  <p:embed/>
                </p:oleObj>
              </mc:Choice>
              <mc:Fallback>
                <p:oleObj r:id="rId6" imgW="127000" imgH="177165" progId="Equation.3">
                  <p:embed/>
                  <p:pic>
                    <p:nvPicPr>
                      <p:cNvPr id="45079" name="Object 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29400" y="3657600"/>
                        <a:ext cx="2540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0" name="Object 24"/>
          <p:cNvGraphicFramePr>
            <a:graphicFrameLocks noChangeAspect="1"/>
          </p:cNvGraphicFramePr>
          <p:nvPr/>
        </p:nvGraphicFramePr>
        <p:xfrm>
          <a:off x="5486400" y="4114800"/>
          <a:ext cx="3730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52400" imgH="139700" progId="Equation.3">
                  <p:embed/>
                </p:oleObj>
              </mc:Choice>
              <mc:Fallback>
                <p:oleObj r:id="rId20" imgW="152400" imgH="139700" progId="Equation.3">
                  <p:embed/>
                  <p:pic>
                    <p:nvPicPr>
                      <p:cNvPr id="45080" name="Object 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86400" y="4114800"/>
                        <a:ext cx="373063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1" name="Text Box 25"/>
          <p:cNvSpPr txBox="1"/>
          <p:nvPr/>
        </p:nvSpPr>
        <p:spPr>
          <a:xfrm>
            <a:off x="2133600" y="61722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S </a:t>
            </a:r>
            <a:r>
              <a:rPr lang="zh-CN" altLang="en-US" sz="2400" b="1" dirty="0">
                <a:latin typeface="Times New Roman" panose="02020603050405020304" pitchFamily="18" charset="0"/>
              </a:rPr>
              <a:t>平面</a:t>
            </a:r>
          </a:p>
        </p:txBody>
      </p:sp>
      <p:sp>
        <p:nvSpPr>
          <p:cNvPr id="45082" name="Text Box 26"/>
          <p:cNvSpPr txBox="1"/>
          <p:nvPr/>
        </p:nvSpPr>
        <p:spPr>
          <a:xfrm>
            <a:off x="6172200" y="5562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Z </a:t>
            </a:r>
            <a:r>
              <a:rPr lang="zh-CN" altLang="en-US" sz="2400" b="1" dirty="0">
                <a:latin typeface="Times New Roman" panose="02020603050405020304" pitchFamily="18" charset="0"/>
              </a:rPr>
              <a:t>平面</a:t>
            </a:r>
          </a:p>
        </p:txBody>
      </p:sp>
      <p:sp>
        <p:nvSpPr>
          <p:cNvPr id="45083" name="Freeform 27"/>
          <p:cNvSpPr/>
          <p:nvPr/>
        </p:nvSpPr>
        <p:spPr>
          <a:xfrm>
            <a:off x="5791200" y="3962400"/>
            <a:ext cx="2286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44" h="240">
                <a:moveTo>
                  <a:pt x="0" y="0"/>
                </a:moveTo>
                <a:cubicBezTo>
                  <a:pt x="16" y="56"/>
                  <a:pt x="32" y="112"/>
                  <a:pt x="48" y="144"/>
                </a:cubicBezTo>
                <a:cubicBezTo>
                  <a:pt x="64" y="176"/>
                  <a:pt x="80" y="176"/>
                  <a:pt x="96" y="192"/>
                </a:cubicBezTo>
                <a:cubicBezTo>
                  <a:pt x="112" y="208"/>
                  <a:pt x="136" y="232"/>
                  <a:pt x="144" y="24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5781675" y="6096000"/>
          <a:ext cx="22034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711200" imgH="139700" progId="Equation.DSMT4">
                  <p:embed/>
                </p:oleObj>
              </mc:Choice>
              <mc:Fallback>
                <p:oleObj r:id="rId22" imgW="711200" imgH="139700" progId="Equation.DSMT4">
                  <p:embed/>
                  <p:pic>
                    <p:nvPicPr>
                      <p:cNvPr id="45084" name="Object 2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81675" y="6096000"/>
                        <a:ext cx="2203450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498453"/>
              </p:ext>
            </p:extLst>
          </p:nvPr>
        </p:nvGraphicFramePr>
        <p:xfrm>
          <a:off x="3966592" y="4365104"/>
          <a:ext cx="533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195" imgH="203112" progId="Equation.DSMT4">
                  <p:embed/>
                </p:oleObj>
              </mc:Choice>
              <mc:Fallback>
                <p:oleObj name="Equation" r:id="rId2" imgW="241195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6592" y="4365104"/>
                        <a:ext cx="533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323528" y="1544165"/>
            <a:ext cx="8686800" cy="3886200"/>
            <a:chOff x="192" y="849"/>
            <a:chExt cx="5472" cy="2448"/>
          </a:xfrm>
        </p:grpSpPr>
        <p:grpSp>
          <p:nvGrpSpPr>
            <p:cNvPr id="48133" name="Group 5"/>
            <p:cNvGrpSpPr>
              <a:grpSpLocks/>
            </p:cNvGrpSpPr>
            <p:nvPr/>
          </p:nvGrpSpPr>
          <p:grpSpPr bwMode="auto">
            <a:xfrm>
              <a:off x="192" y="849"/>
              <a:ext cx="5472" cy="2448"/>
              <a:chOff x="192" y="849"/>
              <a:chExt cx="5472" cy="2448"/>
            </a:xfrm>
          </p:grpSpPr>
          <p:grpSp>
            <p:nvGrpSpPr>
              <p:cNvPr id="48135" name="Group 6"/>
              <p:cNvGrpSpPr>
                <a:grpSpLocks/>
              </p:cNvGrpSpPr>
              <p:nvPr/>
            </p:nvGrpSpPr>
            <p:grpSpPr bwMode="auto">
              <a:xfrm>
                <a:off x="192" y="849"/>
                <a:ext cx="5472" cy="2448"/>
                <a:chOff x="192" y="849"/>
                <a:chExt cx="5472" cy="2448"/>
              </a:xfrm>
            </p:grpSpPr>
            <p:sp>
              <p:nvSpPr>
                <p:cNvPr id="48137" name="Rectangle 7"/>
                <p:cNvSpPr>
                  <a:spLocks noChangeArrowheads="1"/>
                </p:cNvSpPr>
                <p:nvPr/>
              </p:nvSpPr>
              <p:spPr bwMode="auto">
                <a:xfrm>
                  <a:off x="192" y="864"/>
                  <a:ext cx="5472" cy="24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25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b="1" i="1" dirty="0">
                      <a:solidFill>
                        <a:srgbClr val="000000"/>
                      </a:solidFill>
                      <a:latin typeface="+mj-lt"/>
                    </a:rPr>
                    <a:t>s</a:t>
                  </a: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平面上每一条宽为          的横带部分，都将重叠地映射到</a:t>
                  </a:r>
                  <a:r>
                    <a:rPr lang="en-US" altLang="zh-CN" sz="2800" b="1" i="1" dirty="0">
                      <a:solidFill>
                        <a:srgbClr val="000000"/>
                      </a:solidFill>
                      <a:latin typeface="+mj-lt"/>
                    </a:rPr>
                    <a:t>z</a:t>
                  </a: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平面的整个平面上</a:t>
                  </a:r>
                  <a:r>
                    <a:rPr lang="en-US" altLang="zh-CN" sz="2800" b="1" dirty="0">
                      <a:solidFill>
                        <a:srgbClr val="000000"/>
                      </a:solidFill>
                      <a:latin typeface="+mj-lt"/>
                    </a:rPr>
                    <a:t>:        </a:t>
                  </a:r>
                </a:p>
                <a:p>
                  <a:pPr eaLnBrk="1" hangingPunct="1">
                    <a:lnSpc>
                      <a:spcPct val="125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每一横带的左半部分映射到</a:t>
                  </a:r>
                  <a:r>
                    <a:rPr lang="en-US" altLang="zh-CN" sz="2800" b="1" i="1" dirty="0">
                      <a:solidFill>
                        <a:srgbClr val="000000"/>
                      </a:solidFill>
                      <a:latin typeface="+mj-lt"/>
                    </a:rPr>
                    <a:t>z</a:t>
                  </a: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平面单位圆以内，        </a:t>
                  </a:r>
                </a:p>
                <a:p>
                  <a:pPr eaLnBrk="1" hangingPunct="1">
                    <a:lnSpc>
                      <a:spcPct val="125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每一横带的右半部分映射到</a:t>
                  </a:r>
                  <a:r>
                    <a:rPr lang="en-US" altLang="zh-CN" sz="2800" b="1" i="1" dirty="0">
                      <a:solidFill>
                        <a:srgbClr val="000000"/>
                      </a:solidFill>
                      <a:latin typeface="+mj-lt"/>
                    </a:rPr>
                    <a:t>z</a:t>
                  </a: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平面单位圆以外，</a:t>
                  </a:r>
                </a:p>
                <a:p>
                  <a:pPr eaLnBrk="1" hangingPunct="1">
                    <a:lnSpc>
                      <a:spcPct val="125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               </a:t>
                  </a:r>
                </a:p>
                <a:p>
                  <a:pPr eaLnBrk="1" hangingPunct="1">
                    <a:lnSpc>
                      <a:spcPct val="125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800" b="1" dirty="0">
                      <a:solidFill>
                        <a:srgbClr val="000000"/>
                      </a:solidFill>
                      <a:latin typeface="+mj-lt"/>
                    </a:rPr>
                    <a:t>     轴映射到单位圆上，     轴上每一段          都对应于绕单位圆一周。</a:t>
                  </a:r>
                </a:p>
              </p:txBody>
            </p:sp>
            <p:graphicFrame>
              <p:nvGraphicFramePr>
                <p:cNvPr id="48138" name="Object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98678159"/>
                    </p:ext>
                  </p:extLst>
                </p:nvPr>
              </p:nvGraphicFramePr>
              <p:xfrm>
                <a:off x="2142" y="849"/>
                <a:ext cx="547" cy="4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355292" imgH="304536" progId="Equation.DSMT4">
                        <p:embed/>
                      </p:oleObj>
                    </mc:Choice>
                    <mc:Fallback>
                      <p:oleObj name="Equation" r:id="rId4" imgW="355292" imgH="304536" progId="Equation.DSMT4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42" y="849"/>
                              <a:ext cx="547" cy="4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8136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6686368"/>
                  </p:ext>
                </p:extLst>
              </p:nvPr>
            </p:nvGraphicFramePr>
            <p:xfrm>
              <a:off x="192" y="2633"/>
              <a:ext cx="336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41195" imgH="203112" progId="Equation.DSMT4">
                      <p:embed/>
                    </p:oleObj>
                  </mc:Choice>
                  <mc:Fallback>
                    <p:oleObj name="Equation" r:id="rId6" imgW="241195" imgH="203112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2633"/>
                            <a:ext cx="336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13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3958060"/>
                </p:ext>
              </p:extLst>
            </p:nvPr>
          </p:nvGraphicFramePr>
          <p:xfrm>
            <a:off x="4002" y="2563"/>
            <a:ext cx="497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5292" imgH="304536" progId="Equation.DSMT4">
                    <p:embed/>
                  </p:oleObj>
                </mc:Choice>
                <mc:Fallback>
                  <p:oleObj name="Equation" r:id="rId8" imgW="355292" imgH="30453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2" y="2563"/>
                          <a:ext cx="497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7236" y="4510608"/>
            <a:ext cx="6048672" cy="682972"/>
          </a:xfrm>
        </p:spPr>
        <p:txBody>
          <a:bodyPr/>
          <a:lstStyle/>
          <a:p>
            <a:r>
              <a:rPr kumimoji="1" lang="zh-CN" altLang="en-US" sz="2400" b="1" i="0" dirty="0">
                <a:solidFill>
                  <a:schemeClr val="tx1"/>
                </a:solidFill>
                <a:ea typeface="宋体" panose="02010600030101010101" pitchFamily="2" charset="-122"/>
              </a:rPr>
              <a:t>图</a:t>
            </a:r>
            <a:r>
              <a:rPr kumimoji="1" lang="en-US" altLang="zh-CN" sz="2400" b="1" i="0" dirty="0">
                <a:solidFill>
                  <a:schemeClr val="tx1"/>
                </a:solidFill>
                <a:ea typeface="宋体" panose="02010600030101010101" pitchFamily="2" charset="-122"/>
              </a:rPr>
              <a:t>4.13</a:t>
            </a:r>
            <a:r>
              <a:rPr kumimoji="1" lang="zh-CN" altLang="en-US" sz="2400" b="1" i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b="1" i="0" dirty="0">
                <a:solidFill>
                  <a:schemeClr val="tx1"/>
                </a:solidFill>
                <a:ea typeface="宋体" panose="02010600030101010101" pitchFamily="2" charset="-122"/>
              </a:rPr>
              <a:t>脉冲响应不变法的映射关系</a:t>
            </a:r>
            <a:endParaRPr kumimoji="1" lang="zh-CN" altLang="en-US" sz="2400" b="1" i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395536" y="5517232"/>
            <a:ext cx="8407275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+mn-ea"/>
                <a:ea typeface="+mn-ea"/>
              </a:rPr>
              <a:t>∴</a:t>
            </a:r>
            <a:r>
              <a:rPr kumimoji="1" lang="zh-CN" altLang="en-US" sz="2800" b="1" dirty="0">
                <a:latin typeface="+mn-ea"/>
                <a:ea typeface="+mn-ea"/>
              </a:rPr>
              <a:t>脉冲响应不变法满足变换的两个条件，但映射关系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  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不是一一对应</a:t>
            </a:r>
            <a:r>
              <a:rPr kumimoji="1" lang="zh-CN" altLang="en-US" sz="2800" b="1" dirty="0">
                <a:latin typeface="+mn-ea"/>
                <a:ea typeface="+mn-ea"/>
              </a:rPr>
              <a:t>的。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04468"/>
            <a:ext cx="6972300" cy="3406140"/>
          </a:xfrm>
          <a:prstGeom prst="rect">
            <a:avLst/>
          </a:prstGeom>
        </p:spPr>
      </p:pic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611188" y="1125762"/>
            <a:ext cx="8291512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因为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kumimoji="1"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而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kumimoji="1"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kumimoji="1"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所以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脉冲响应不变法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的映射过程为</a:t>
            </a:r>
          </a:p>
        </p:txBody>
      </p:sp>
      <p:graphicFrame>
        <p:nvGraphicFramePr>
          <p:cNvPr id="50179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4478651"/>
              </p:ext>
            </p:extLst>
          </p:nvPr>
        </p:nvGraphicFramePr>
        <p:xfrm>
          <a:off x="1475656" y="4653484"/>
          <a:ext cx="5760288" cy="63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266400" progId="Equation.DSMT4">
                  <p:embed/>
                </p:oleObj>
              </mc:Choice>
              <mc:Fallback>
                <p:oleObj name="Equation" r:id="rId2" imgW="2400120" imgH="26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653484"/>
                        <a:ext cx="5760288" cy="63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20255870"/>
              </p:ext>
            </p:extLst>
          </p:nvPr>
        </p:nvGraphicFramePr>
        <p:xfrm>
          <a:off x="1698625" y="1844824"/>
          <a:ext cx="4933980" cy="99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73592" imgH="396262" progId="Equation.DSMT4">
                  <p:embed/>
                </p:oleObj>
              </mc:Choice>
              <mc:Fallback>
                <p:oleObj name="Equation" r:id="rId4" imgW="1973592" imgH="39626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25" y="1844824"/>
                        <a:ext cx="4933980" cy="990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35388982"/>
              </p:ext>
            </p:extLst>
          </p:nvPr>
        </p:nvGraphicFramePr>
        <p:xfrm>
          <a:off x="1907703" y="980728"/>
          <a:ext cx="2984400" cy="76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304560" progId="Equation.DSMT4">
                  <p:embed/>
                </p:oleObj>
              </mc:Choice>
              <mc:Fallback>
                <p:oleObj name="Equation" r:id="rId6" imgW="1193760" imgH="304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3" y="980728"/>
                        <a:ext cx="2984400" cy="76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610600" cy="2286000"/>
          </a:xfrm>
        </p:spPr>
        <p:txBody>
          <a:bodyPr/>
          <a:lstStyle/>
          <a:p>
            <a:pPr eaLnBrk="1" hangingPunct="1"/>
            <a:r>
              <a:rPr kumimoji="1" lang="zh-CN" altLang="en-US" b="1" dirty="0">
                <a:solidFill>
                  <a:srgbClr val="000000"/>
                </a:solidFill>
              </a:rPr>
              <a:t>混叠：</a:t>
            </a:r>
          </a:p>
          <a:p>
            <a:pPr eaLnBrk="1" hangingPunct="1">
              <a:buFontTx/>
              <a:buNone/>
            </a:pPr>
            <a:r>
              <a:rPr kumimoji="1" lang="zh-CN" altLang="en-US" b="1" dirty="0">
                <a:solidFill>
                  <a:srgbClr val="000000"/>
                </a:solidFill>
              </a:rPr>
              <a:t>数字滤波器的频响并不是简单的重现模拟滤波</a:t>
            </a:r>
          </a:p>
          <a:p>
            <a:pPr eaLnBrk="1" hangingPunct="1">
              <a:buFontTx/>
              <a:buNone/>
            </a:pPr>
            <a:r>
              <a:rPr kumimoji="1" lang="zh-CN" altLang="en-US" b="1" dirty="0">
                <a:solidFill>
                  <a:srgbClr val="000000"/>
                </a:solidFill>
              </a:rPr>
              <a:t>器的频响，而是模拟滤波器频响的周期延拓：</a:t>
            </a:r>
            <a:endParaRPr kumimoji="1" lang="zh-CN" altLang="en-US" b="1" dirty="0"/>
          </a:p>
          <a:p>
            <a:pPr eaLnBrk="1" hangingPunct="1"/>
            <a:endParaRPr lang="en-US" altLang="zh-CN" b="1" dirty="0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925676"/>
              </p:ext>
            </p:extLst>
          </p:nvPr>
        </p:nvGraphicFramePr>
        <p:xfrm>
          <a:off x="1028700" y="4667250"/>
          <a:ext cx="50292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431640" progId="Equation.DSMT4">
                  <p:embed/>
                </p:oleObj>
              </mc:Choice>
              <mc:Fallback>
                <p:oleObj name="Equation" r:id="rId2" imgW="209520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4667250"/>
                        <a:ext cx="502920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177925"/>
              </p:ext>
            </p:extLst>
          </p:nvPr>
        </p:nvGraphicFramePr>
        <p:xfrm>
          <a:off x="942975" y="3138488"/>
          <a:ext cx="664527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431640" progId="Equation.DSMT4">
                  <p:embed/>
                </p:oleObj>
              </mc:Choice>
              <mc:Fallback>
                <p:oleObj name="Equation" r:id="rId4" imgW="27684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3138488"/>
                        <a:ext cx="6645275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808038" y="744538"/>
            <a:ext cx="40989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频率响应的模仿情况 </a:t>
            </a: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774700" y="3252788"/>
            <a:ext cx="3565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 flipV="1">
            <a:off x="774700" y="1971675"/>
            <a:ext cx="0" cy="12811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047750" y="1971675"/>
          <a:ext cx="6175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143" imgH="144684" progId="Equation.3">
                  <p:embed/>
                </p:oleObj>
              </mc:Choice>
              <mc:Fallback>
                <p:oleObj name="公式" r:id="rId2" imgW="259143" imgH="14468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1971675"/>
                        <a:ext cx="6175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Arc 8"/>
          <p:cNvSpPr>
            <a:spLocks/>
          </p:cNvSpPr>
          <p:nvPr/>
        </p:nvSpPr>
        <p:spPr bwMode="auto">
          <a:xfrm flipH="1" flipV="1">
            <a:off x="774700" y="2155825"/>
            <a:ext cx="3108325" cy="1004888"/>
          </a:xfrm>
          <a:custGeom>
            <a:avLst/>
            <a:gdLst>
              <a:gd name="T0" fmla="*/ 0 w 21224"/>
              <a:gd name="T1" fmla="*/ 0 h 21600"/>
              <a:gd name="T2" fmla="*/ 2147483646 w 21224"/>
              <a:gd name="T3" fmla="*/ 2147483646 h 21600"/>
              <a:gd name="T4" fmla="*/ 0 w 21224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24" h="21600" fill="none" extrusionOk="0">
                <a:moveTo>
                  <a:pt x="-1" y="0"/>
                </a:moveTo>
                <a:cubicBezTo>
                  <a:pt x="10381" y="0"/>
                  <a:pt x="19294" y="7385"/>
                  <a:pt x="21223" y="17586"/>
                </a:cubicBezTo>
              </a:path>
              <a:path w="21224" h="21600" stroke="0" extrusionOk="0">
                <a:moveTo>
                  <a:pt x="-1" y="0"/>
                </a:moveTo>
                <a:cubicBezTo>
                  <a:pt x="10381" y="0"/>
                  <a:pt x="19294" y="7385"/>
                  <a:pt x="21223" y="175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4430713" y="3070225"/>
          <a:ext cx="15875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0" imgH="68671" progId="Equation.3">
                  <p:embed/>
                </p:oleObj>
              </mc:Choice>
              <mc:Fallback>
                <p:oleObj name="公式" r:id="rId4" imgW="0" imgH="6867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3070225"/>
                        <a:ext cx="158750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20638" y="2333625"/>
            <a:ext cx="4508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模拟</a:t>
            </a:r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1962150" y="3605213"/>
            <a:ext cx="0" cy="9207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2057400" y="3825875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离散化</a:t>
            </a:r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731838" y="6126163"/>
            <a:ext cx="3565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V="1">
            <a:off x="731838" y="4846638"/>
            <a:ext cx="0" cy="127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914400" y="4754563"/>
          <a:ext cx="57150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8694" imgH="114236" progId="Equation.3">
                  <p:embed/>
                </p:oleObj>
              </mc:Choice>
              <mc:Fallback>
                <p:oleObj name="公式" r:id="rId6" imgW="228694" imgH="11423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54563"/>
                        <a:ext cx="57150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Arc 16"/>
          <p:cNvSpPr>
            <a:spLocks/>
          </p:cNvSpPr>
          <p:nvPr/>
        </p:nvSpPr>
        <p:spPr bwMode="auto">
          <a:xfrm flipH="1" flipV="1">
            <a:off x="731838" y="5029200"/>
            <a:ext cx="3108325" cy="1006475"/>
          </a:xfrm>
          <a:custGeom>
            <a:avLst/>
            <a:gdLst>
              <a:gd name="T0" fmla="*/ 0 w 21224"/>
              <a:gd name="T1" fmla="*/ 0 h 21600"/>
              <a:gd name="T2" fmla="*/ 2147483646 w 21224"/>
              <a:gd name="T3" fmla="*/ 2147483646 h 21600"/>
              <a:gd name="T4" fmla="*/ 0 w 21224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24" h="21600" fill="none" extrusionOk="0">
                <a:moveTo>
                  <a:pt x="-1" y="0"/>
                </a:moveTo>
                <a:cubicBezTo>
                  <a:pt x="10381" y="0"/>
                  <a:pt x="19294" y="7385"/>
                  <a:pt x="21223" y="17586"/>
                </a:cubicBezTo>
              </a:path>
              <a:path w="21224" h="21600" stroke="0" extrusionOk="0">
                <a:moveTo>
                  <a:pt x="-1" y="0"/>
                </a:moveTo>
                <a:cubicBezTo>
                  <a:pt x="10381" y="0"/>
                  <a:pt x="19294" y="7385"/>
                  <a:pt x="21223" y="175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4352925" y="5953125"/>
          <a:ext cx="22701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008" imgH="60897" progId="Equation.3">
                  <p:embed/>
                </p:oleObj>
              </mc:Choice>
              <mc:Fallback>
                <p:oleObj name="公式" r:id="rId8" imgW="38008" imgH="6089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5953125"/>
                        <a:ext cx="22701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731838" y="5211763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965200" y="5456238"/>
            <a:ext cx="1588" cy="669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1203325" y="5595938"/>
            <a:ext cx="0" cy="523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1" name="Line 21"/>
          <p:cNvSpPr>
            <a:spLocks noChangeShapeType="1"/>
          </p:cNvSpPr>
          <p:nvPr/>
        </p:nvSpPr>
        <p:spPr bwMode="auto">
          <a:xfrm>
            <a:off x="1439863" y="5703888"/>
            <a:ext cx="0" cy="422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2" name="Line 22"/>
          <p:cNvSpPr>
            <a:spLocks noChangeShapeType="1"/>
          </p:cNvSpPr>
          <p:nvPr/>
        </p:nvSpPr>
        <p:spPr bwMode="auto">
          <a:xfrm>
            <a:off x="1676400" y="5772150"/>
            <a:ext cx="0" cy="3540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3" name="Line 23"/>
          <p:cNvSpPr>
            <a:spLocks noChangeShapeType="1"/>
          </p:cNvSpPr>
          <p:nvPr/>
        </p:nvSpPr>
        <p:spPr bwMode="auto">
          <a:xfrm>
            <a:off x="1911350" y="5830888"/>
            <a:ext cx="0" cy="295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>
            <a:off x="2147888" y="5884863"/>
            <a:ext cx="0" cy="2397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>
            <a:off x="2384425" y="5937250"/>
            <a:ext cx="0" cy="1825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6" name="Line 26"/>
          <p:cNvSpPr>
            <a:spLocks noChangeShapeType="1"/>
          </p:cNvSpPr>
          <p:nvPr/>
        </p:nvSpPr>
        <p:spPr bwMode="auto">
          <a:xfrm>
            <a:off x="2620963" y="5962650"/>
            <a:ext cx="0" cy="160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2857500" y="6000750"/>
            <a:ext cx="0" cy="1254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>
            <a:off x="3092450" y="6022975"/>
            <a:ext cx="0" cy="920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3328988" y="6035675"/>
            <a:ext cx="0" cy="904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0" name="Line 30"/>
          <p:cNvSpPr>
            <a:spLocks noChangeShapeType="1"/>
          </p:cNvSpPr>
          <p:nvPr/>
        </p:nvSpPr>
        <p:spPr bwMode="auto">
          <a:xfrm>
            <a:off x="3565525" y="6042025"/>
            <a:ext cx="0" cy="84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31" name="Object 31"/>
          <p:cNvGraphicFramePr>
            <a:graphicFrameLocks noChangeAspect="1"/>
          </p:cNvGraphicFramePr>
          <p:nvPr/>
        </p:nvGraphicFramePr>
        <p:xfrm>
          <a:off x="3713163" y="6013450"/>
          <a:ext cx="320675" cy="13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9122" imgH="0" progId="Equation.3">
                  <p:embed/>
                </p:oleObj>
              </mc:Choice>
              <mc:Fallback>
                <p:oleObj name="公式" r:id="rId10" imgW="99122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6013450"/>
                        <a:ext cx="320675" cy="13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2" name="Text Box 32"/>
          <p:cNvSpPr txBox="1">
            <a:spLocks noChangeArrowheads="1"/>
          </p:cNvSpPr>
          <p:nvPr/>
        </p:nvSpPr>
        <p:spPr bwMode="auto">
          <a:xfrm>
            <a:off x="0" y="5181600"/>
            <a:ext cx="460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数字</a:t>
            </a:r>
          </a:p>
        </p:txBody>
      </p:sp>
      <p:sp>
        <p:nvSpPr>
          <p:cNvPr id="51233" name="Text Box 33"/>
          <p:cNvSpPr txBox="1">
            <a:spLocks noChangeArrowheads="1"/>
          </p:cNvSpPr>
          <p:nvPr/>
        </p:nvSpPr>
        <p:spPr bwMode="auto">
          <a:xfrm>
            <a:off x="6118225" y="1322388"/>
            <a:ext cx="9048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频域</a:t>
            </a:r>
          </a:p>
        </p:txBody>
      </p:sp>
      <p:sp>
        <p:nvSpPr>
          <p:cNvPr id="51234" name="Text Box 34"/>
          <p:cNvSpPr txBox="1">
            <a:spLocks noChangeArrowheads="1"/>
          </p:cNvSpPr>
          <p:nvPr/>
        </p:nvSpPr>
        <p:spPr bwMode="auto">
          <a:xfrm>
            <a:off x="1863725" y="1316038"/>
            <a:ext cx="9048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时域</a:t>
            </a:r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>
            <a:off x="5021263" y="3262313"/>
            <a:ext cx="3565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 flipV="1">
            <a:off x="6683375" y="1998663"/>
            <a:ext cx="0" cy="12811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>
            <a:off x="6110288" y="2490788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8" name="Line 38"/>
          <p:cNvSpPr>
            <a:spLocks noChangeShapeType="1"/>
          </p:cNvSpPr>
          <p:nvPr/>
        </p:nvSpPr>
        <p:spPr bwMode="auto">
          <a:xfrm>
            <a:off x="7253288" y="2490788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9" name="Line 39"/>
          <p:cNvSpPr>
            <a:spLocks noChangeShapeType="1"/>
          </p:cNvSpPr>
          <p:nvPr/>
        </p:nvSpPr>
        <p:spPr bwMode="auto">
          <a:xfrm>
            <a:off x="6105525" y="2490788"/>
            <a:ext cx="1141413" cy="15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40" name="Object 40"/>
          <p:cNvGraphicFramePr>
            <a:graphicFrameLocks noChangeAspect="1"/>
          </p:cNvGraphicFramePr>
          <p:nvPr/>
        </p:nvGraphicFramePr>
        <p:xfrm>
          <a:off x="6575425" y="3302000"/>
          <a:ext cx="2270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08" imgH="99120" progId="Equation.3">
                  <p:embed/>
                </p:oleObj>
              </mc:Choice>
              <mc:Fallback>
                <p:oleObj name="公式" r:id="rId12" imgW="38008" imgH="9912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3302000"/>
                        <a:ext cx="2270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1" name="Object 41"/>
          <p:cNvGraphicFramePr>
            <a:graphicFrameLocks noChangeAspect="1"/>
          </p:cNvGraphicFramePr>
          <p:nvPr/>
        </p:nvGraphicFramePr>
        <p:xfrm>
          <a:off x="8597900" y="3097213"/>
          <a:ext cx="295275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6231" imgH="76229" progId="Equation.3">
                  <p:embed/>
                </p:oleObj>
              </mc:Choice>
              <mc:Fallback>
                <p:oleObj name="公式" r:id="rId14" imgW="76231" imgH="7622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7900" y="3097213"/>
                        <a:ext cx="295275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2" name="Object 42"/>
          <p:cNvGraphicFramePr>
            <a:graphicFrameLocks noChangeAspect="1"/>
          </p:cNvGraphicFramePr>
          <p:nvPr/>
        </p:nvGraphicFramePr>
        <p:xfrm>
          <a:off x="6872288" y="1839913"/>
          <a:ext cx="1050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5395" imgH="175349" progId="Equation.3">
                  <p:embed/>
                </p:oleObj>
              </mc:Choice>
              <mc:Fallback>
                <p:oleObj name="公式" r:id="rId16" imgW="495395" imgH="175349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1839913"/>
                        <a:ext cx="1050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3" name="Line 43"/>
          <p:cNvSpPr>
            <a:spLocks noChangeShapeType="1"/>
          </p:cNvSpPr>
          <p:nvPr/>
        </p:nvSpPr>
        <p:spPr bwMode="auto">
          <a:xfrm flipV="1">
            <a:off x="5792788" y="3159125"/>
            <a:ext cx="0" cy="92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44" name="Line 44"/>
          <p:cNvSpPr>
            <a:spLocks noChangeShapeType="1"/>
          </p:cNvSpPr>
          <p:nvPr/>
        </p:nvSpPr>
        <p:spPr bwMode="auto">
          <a:xfrm flipV="1">
            <a:off x="7586663" y="3159125"/>
            <a:ext cx="0" cy="92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45" name="Object 45"/>
          <p:cNvGraphicFramePr>
            <a:graphicFrameLocks noChangeAspect="1"/>
          </p:cNvGraphicFramePr>
          <p:nvPr/>
        </p:nvGraphicFramePr>
        <p:xfrm>
          <a:off x="7299325" y="3313113"/>
          <a:ext cx="595313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1369" imgH="99120" progId="Equation.3">
                  <p:embed/>
                </p:oleObj>
              </mc:Choice>
              <mc:Fallback>
                <p:oleObj name="公式" r:id="rId18" imgW="251369" imgH="9912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9325" y="3313113"/>
                        <a:ext cx="595313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6" name="Object 46"/>
          <p:cNvGraphicFramePr>
            <a:graphicFrameLocks noChangeAspect="1"/>
          </p:cNvGraphicFramePr>
          <p:nvPr/>
        </p:nvGraphicFramePr>
        <p:xfrm>
          <a:off x="5449888" y="3279775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65824" imgH="99120" progId="Equation.3">
                  <p:embed/>
                </p:oleObj>
              </mc:Choice>
              <mc:Fallback>
                <p:oleObj name="公式" r:id="rId20" imgW="365824" imgH="9912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3279775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7"/>
          <p:cNvGraphicFramePr>
            <a:graphicFrameLocks noChangeAspect="1"/>
          </p:cNvGraphicFramePr>
          <p:nvPr/>
        </p:nvGraphicFramePr>
        <p:xfrm>
          <a:off x="6438900" y="2170113"/>
          <a:ext cx="1571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0" imgH="76229" progId="Equation.3">
                  <p:embed/>
                </p:oleObj>
              </mc:Choice>
              <mc:Fallback>
                <p:oleObj name="公式" r:id="rId22" imgW="0" imgH="76229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2170113"/>
                        <a:ext cx="1571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8" name="Line 48"/>
          <p:cNvSpPr>
            <a:spLocks noChangeShapeType="1"/>
          </p:cNvSpPr>
          <p:nvPr/>
        </p:nvSpPr>
        <p:spPr bwMode="auto">
          <a:xfrm>
            <a:off x="4957763" y="6142038"/>
            <a:ext cx="3565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49" name="Line 49"/>
          <p:cNvSpPr>
            <a:spLocks noChangeShapeType="1"/>
          </p:cNvSpPr>
          <p:nvPr/>
        </p:nvSpPr>
        <p:spPr bwMode="auto">
          <a:xfrm flipV="1">
            <a:off x="6667500" y="4752975"/>
            <a:ext cx="0" cy="1927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0" name="Line 50"/>
          <p:cNvSpPr>
            <a:spLocks noChangeShapeType="1"/>
          </p:cNvSpPr>
          <p:nvPr/>
        </p:nvSpPr>
        <p:spPr bwMode="auto">
          <a:xfrm>
            <a:off x="6092825" y="5119688"/>
            <a:ext cx="0" cy="1012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1" name="Line 51"/>
          <p:cNvSpPr>
            <a:spLocks noChangeShapeType="1"/>
          </p:cNvSpPr>
          <p:nvPr/>
        </p:nvSpPr>
        <p:spPr bwMode="auto">
          <a:xfrm>
            <a:off x="7229475" y="5119688"/>
            <a:ext cx="1588" cy="10239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2" name="Line 52"/>
          <p:cNvSpPr>
            <a:spLocks noChangeShapeType="1"/>
          </p:cNvSpPr>
          <p:nvPr/>
        </p:nvSpPr>
        <p:spPr bwMode="auto">
          <a:xfrm>
            <a:off x="6088063" y="5119688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3" name="Line 53"/>
          <p:cNvSpPr>
            <a:spLocks noChangeShapeType="1"/>
          </p:cNvSpPr>
          <p:nvPr/>
        </p:nvSpPr>
        <p:spPr bwMode="auto">
          <a:xfrm>
            <a:off x="4957763" y="6523038"/>
            <a:ext cx="3565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54" name="Object 54"/>
          <p:cNvGraphicFramePr>
            <a:graphicFrameLocks noChangeAspect="1"/>
          </p:cNvGraphicFramePr>
          <p:nvPr/>
        </p:nvGraphicFramePr>
        <p:xfrm>
          <a:off x="8620125" y="6465888"/>
          <a:ext cx="2730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8673" imgH="60897" progId="Equation.3">
                  <p:embed/>
                </p:oleObj>
              </mc:Choice>
              <mc:Fallback>
                <p:oleObj name="公式" r:id="rId24" imgW="68673" imgH="60897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25" y="6465888"/>
                        <a:ext cx="2730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5" name="Object 55"/>
          <p:cNvGraphicFramePr>
            <a:graphicFrameLocks noChangeAspect="1"/>
          </p:cNvGraphicFramePr>
          <p:nvPr/>
        </p:nvGraphicFramePr>
        <p:xfrm>
          <a:off x="6457950" y="6148388"/>
          <a:ext cx="2254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8008" imgH="99120" progId="Equation.3">
                  <p:embed/>
                </p:oleObj>
              </mc:Choice>
              <mc:Fallback>
                <p:oleObj name="公式" r:id="rId26" imgW="38008" imgH="9912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6148388"/>
                        <a:ext cx="2254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6" name="Line 56"/>
          <p:cNvSpPr>
            <a:spLocks noChangeShapeType="1"/>
          </p:cNvSpPr>
          <p:nvPr/>
        </p:nvSpPr>
        <p:spPr bwMode="auto">
          <a:xfrm flipV="1">
            <a:off x="5753100" y="6373813"/>
            <a:ext cx="0" cy="149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7" name="Line 57"/>
          <p:cNvSpPr>
            <a:spLocks noChangeShapeType="1"/>
          </p:cNvSpPr>
          <p:nvPr/>
        </p:nvSpPr>
        <p:spPr bwMode="auto">
          <a:xfrm flipV="1">
            <a:off x="7546975" y="6373813"/>
            <a:ext cx="0" cy="149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58" name="Object 58"/>
          <p:cNvGraphicFramePr>
            <a:graphicFrameLocks noChangeAspect="1"/>
          </p:cNvGraphicFramePr>
          <p:nvPr/>
        </p:nvGraphicFramePr>
        <p:xfrm>
          <a:off x="7442200" y="6607175"/>
          <a:ext cx="25082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0899" imgH="60897" progId="Equation.3">
                  <p:embed/>
                </p:oleObj>
              </mc:Choice>
              <mc:Fallback>
                <p:oleObj name="公式" r:id="rId28" imgW="60899" imgH="6089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6607175"/>
                        <a:ext cx="250825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9" name="Object 59"/>
          <p:cNvGraphicFramePr>
            <a:graphicFrameLocks noChangeAspect="1"/>
          </p:cNvGraphicFramePr>
          <p:nvPr/>
        </p:nvGraphicFramePr>
        <p:xfrm>
          <a:off x="6126163" y="4741863"/>
          <a:ext cx="5064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90470" imgH="99120" progId="Equation.3">
                  <p:embed/>
                </p:oleObj>
              </mc:Choice>
              <mc:Fallback>
                <p:oleObj name="公式" r:id="rId30" imgW="190470" imgH="9912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163" y="4741863"/>
                        <a:ext cx="5064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0" name="Line 60"/>
          <p:cNvSpPr>
            <a:spLocks noChangeShapeType="1"/>
          </p:cNvSpPr>
          <p:nvPr/>
        </p:nvSpPr>
        <p:spPr bwMode="auto">
          <a:xfrm>
            <a:off x="6678613" y="3632200"/>
            <a:ext cx="0" cy="9207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1" name="Text Box 61"/>
          <p:cNvSpPr txBox="1">
            <a:spLocks noChangeArrowheads="1"/>
          </p:cNvSpPr>
          <p:nvPr/>
        </p:nvSpPr>
        <p:spPr bwMode="auto">
          <a:xfrm>
            <a:off x="6745288" y="3852863"/>
            <a:ext cx="125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周期化</a:t>
            </a:r>
          </a:p>
        </p:txBody>
      </p:sp>
      <p:graphicFrame>
        <p:nvGraphicFramePr>
          <p:cNvPr id="51262" name="Object 62"/>
          <p:cNvGraphicFramePr>
            <a:graphicFrameLocks noChangeAspect="1"/>
          </p:cNvGraphicFramePr>
          <p:nvPr/>
        </p:nvGraphicFramePr>
        <p:xfrm>
          <a:off x="8597900" y="5964238"/>
          <a:ext cx="2952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76231" imgH="76229" progId="Equation.3">
                  <p:embed/>
                </p:oleObj>
              </mc:Choice>
              <mc:Fallback>
                <p:oleObj name="公式" r:id="rId32" imgW="76231" imgH="76229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7900" y="5964238"/>
                        <a:ext cx="295275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3" name="Line 63"/>
          <p:cNvSpPr>
            <a:spLocks noChangeShapeType="1"/>
          </p:cNvSpPr>
          <p:nvPr/>
        </p:nvSpPr>
        <p:spPr bwMode="auto">
          <a:xfrm flipV="1">
            <a:off x="5753100" y="6038850"/>
            <a:ext cx="0" cy="92075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4" name="Line 64"/>
          <p:cNvSpPr>
            <a:spLocks noChangeShapeType="1"/>
          </p:cNvSpPr>
          <p:nvPr/>
        </p:nvSpPr>
        <p:spPr bwMode="auto">
          <a:xfrm flipV="1">
            <a:off x="7546975" y="6038850"/>
            <a:ext cx="0" cy="92075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65" name="Object 65"/>
          <p:cNvGraphicFramePr>
            <a:graphicFrameLocks noChangeAspect="1"/>
          </p:cNvGraphicFramePr>
          <p:nvPr/>
        </p:nvGraphicFramePr>
        <p:xfrm>
          <a:off x="7259638" y="6164263"/>
          <a:ext cx="59531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51369" imgH="99120" progId="Equation.3">
                  <p:embed/>
                </p:oleObj>
              </mc:Choice>
              <mc:Fallback>
                <p:oleObj name="公式" r:id="rId34" imgW="251369" imgH="9912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6164263"/>
                        <a:ext cx="595312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6" name="Object 66"/>
          <p:cNvGraphicFramePr>
            <a:graphicFrameLocks noChangeAspect="1"/>
          </p:cNvGraphicFramePr>
          <p:nvPr/>
        </p:nvGraphicFramePr>
        <p:xfrm>
          <a:off x="5397500" y="6164263"/>
          <a:ext cx="8001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365824" imgH="99120" progId="Equation.3">
                  <p:embed/>
                </p:oleObj>
              </mc:Choice>
              <mc:Fallback>
                <p:oleObj name="公式" r:id="rId36" imgW="365824" imgH="9912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6164263"/>
                        <a:ext cx="8001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7" name="Line 67"/>
          <p:cNvSpPr>
            <a:spLocks noChangeShapeType="1"/>
          </p:cNvSpPr>
          <p:nvPr/>
        </p:nvSpPr>
        <p:spPr bwMode="auto">
          <a:xfrm>
            <a:off x="7859713" y="5130800"/>
            <a:ext cx="0" cy="10017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8" name="Line 68"/>
          <p:cNvSpPr>
            <a:spLocks noChangeShapeType="1"/>
          </p:cNvSpPr>
          <p:nvPr/>
        </p:nvSpPr>
        <p:spPr bwMode="auto">
          <a:xfrm flipV="1">
            <a:off x="7859713" y="5116513"/>
            <a:ext cx="338137" cy="3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9" name="Line 69"/>
          <p:cNvSpPr>
            <a:spLocks noChangeShapeType="1"/>
          </p:cNvSpPr>
          <p:nvPr/>
        </p:nvSpPr>
        <p:spPr bwMode="auto">
          <a:xfrm>
            <a:off x="5422900" y="5119688"/>
            <a:ext cx="0" cy="1012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0" name="Line 70"/>
          <p:cNvSpPr>
            <a:spLocks noChangeShapeType="1"/>
          </p:cNvSpPr>
          <p:nvPr/>
        </p:nvSpPr>
        <p:spPr bwMode="auto">
          <a:xfrm flipV="1">
            <a:off x="5084763" y="5116513"/>
            <a:ext cx="338137" cy="3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1" name="Arc 71"/>
          <p:cNvSpPr>
            <a:spLocks/>
          </p:cNvSpPr>
          <p:nvPr/>
        </p:nvSpPr>
        <p:spPr bwMode="auto">
          <a:xfrm>
            <a:off x="6684963" y="2490788"/>
            <a:ext cx="563562" cy="2603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2" name="Arc 72"/>
          <p:cNvSpPr>
            <a:spLocks/>
          </p:cNvSpPr>
          <p:nvPr/>
        </p:nvSpPr>
        <p:spPr bwMode="auto">
          <a:xfrm rot="5400000" flipV="1">
            <a:off x="7412038" y="2528888"/>
            <a:ext cx="508000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3" name="Arc 73"/>
          <p:cNvSpPr>
            <a:spLocks/>
          </p:cNvSpPr>
          <p:nvPr/>
        </p:nvSpPr>
        <p:spPr bwMode="auto">
          <a:xfrm flipH="1">
            <a:off x="6119813" y="2490788"/>
            <a:ext cx="565150" cy="2603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4" name="Arc 74"/>
          <p:cNvSpPr>
            <a:spLocks/>
          </p:cNvSpPr>
          <p:nvPr/>
        </p:nvSpPr>
        <p:spPr bwMode="auto">
          <a:xfrm rot="-5400000" flipH="1" flipV="1">
            <a:off x="5453063" y="2528888"/>
            <a:ext cx="508000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5" name="Arc 75"/>
          <p:cNvSpPr>
            <a:spLocks/>
          </p:cNvSpPr>
          <p:nvPr/>
        </p:nvSpPr>
        <p:spPr bwMode="auto">
          <a:xfrm>
            <a:off x="6667500" y="5119688"/>
            <a:ext cx="546100" cy="3651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6" name="Arc 76"/>
          <p:cNvSpPr>
            <a:spLocks/>
          </p:cNvSpPr>
          <p:nvPr/>
        </p:nvSpPr>
        <p:spPr bwMode="auto">
          <a:xfrm flipH="1">
            <a:off x="6086475" y="5116513"/>
            <a:ext cx="603250" cy="368300"/>
          </a:xfrm>
          <a:custGeom>
            <a:avLst/>
            <a:gdLst>
              <a:gd name="T0" fmla="*/ 0 w 21587"/>
              <a:gd name="T1" fmla="*/ 0 h 21600"/>
              <a:gd name="T2" fmla="*/ 2147483646 w 21587"/>
              <a:gd name="T3" fmla="*/ 2147483646 h 21600"/>
              <a:gd name="T4" fmla="*/ 0 w 21587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7" h="21600" fill="none" extrusionOk="0">
                <a:moveTo>
                  <a:pt x="-1" y="0"/>
                </a:moveTo>
                <a:cubicBezTo>
                  <a:pt x="11635" y="0"/>
                  <a:pt x="21180" y="9216"/>
                  <a:pt x="21586" y="20845"/>
                </a:cubicBezTo>
              </a:path>
              <a:path w="21587" h="21600" stroke="0" extrusionOk="0">
                <a:moveTo>
                  <a:pt x="-1" y="0"/>
                </a:moveTo>
                <a:cubicBezTo>
                  <a:pt x="11635" y="0"/>
                  <a:pt x="21180" y="9216"/>
                  <a:pt x="21586" y="2084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7" name="Arc 77"/>
          <p:cNvSpPr>
            <a:spLocks/>
          </p:cNvSpPr>
          <p:nvPr/>
        </p:nvSpPr>
        <p:spPr bwMode="auto">
          <a:xfrm rot="5400000" flipV="1">
            <a:off x="7326312" y="5313363"/>
            <a:ext cx="612775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8" name="Arc 78"/>
          <p:cNvSpPr>
            <a:spLocks/>
          </p:cNvSpPr>
          <p:nvPr/>
        </p:nvSpPr>
        <p:spPr bwMode="auto">
          <a:xfrm rot="-5400000" flipH="1" flipV="1">
            <a:off x="5362575" y="5313363"/>
            <a:ext cx="612775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9" name="Arc 79"/>
          <p:cNvSpPr>
            <a:spLocks/>
          </p:cNvSpPr>
          <p:nvPr/>
        </p:nvSpPr>
        <p:spPr bwMode="auto">
          <a:xfrm rot="-5400000" flipH="1" flipV="1">
            <a:off x="7133431" y="5307807"/>
            <a:ext cx="614363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0" name="Arc 80"/>
          <p:cNvSpPr>
            <a:spLocks/>
          </p:cNvSpPr>
          <p:nvPr/>
        </p:nvSpPr>
        <p:spPr bwMode="auto">
          <a:xfrm flipH="1">
            <a:off x="7859713" y="5119688"/>
            <a:ext cx="546100" cy="342900"/>
          </a:xfrm>
          <a:custGeom>
            <a:avLst/>
            <a:gdLst>
              <a:gd name="T0" fmla="*/ 2147483646 w 21600"/>
              <a:gd name="T1" fmla="*/ 0 h 20158"/>
              <a:gd name="T2" fmla="*/ 2147483646 w 21600"/>
              <a:gd name="T3" fmla="*/ 2147483646 h 20158"/>
              <a:gd name="T4" fmla="*/ 0 w 21600"/>
              <a:gd name="T5" fmla="*/ 2147483646 h 201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0158" fill="none" extrusionOk="0">
                <a:moveTo>
                  <a:pt x="7759" y="0"/>
                </a:moveTo>
                <a:cubicBezTo>
                  <a:pt x="16098" y="3210"/>
                  <a:pt x="21600" y="11222"/>
                  <a:pt x="21600" y="20158"/>
                </a:cubicBezTo>
              </a:path>
              <a:path w="21600" h="20158" stroke="0" extrusionOk="0">
                <a:moveTo>
                  <a:pt x="7759" y="0"/>
                </a:moveTo>
                <a:cubicBezTo>
                  <a:pt x="16098" y="3210"/>
                  <a:pt x="21600" y="11222"/>
                  <a:pt x="21600" y="20158"/>
                </a:cubicBezTo>
                <a:lnTo>
                  <a:pt x="0" y="20158"/>
                </a:lnTo>
                <a:lnTo>
                  <a:pt x="7759" y="0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1" name="Arc 81"/>
          <p:cNvSpPr>
            <a:spLocks/>
          </p:cNvSpPr>
          <p:nvPr/>
        </p:nvSpPr>
        <p:spPr bwMode="auto">
          <a:xfrm rot="5400000" flipV="1">
            <a:off x="5535612" y="5313363"/>
            <a:ext cx="612775" cy="838200"/>
          </a:xfrm>
          <a:custGeom>
            <a:avLst/>
            <a:gdLst>
              <a:gd name="T0" fmla="*/ 2147483646 w 20775"/>
              <a:gd name="T1" fmla="*/ 0 h 21556"/>
              <a:gd name="T2" fmla="*/ 2147483646 w 20775"/>
              <a:gd name="T3" fmla="*/ 2147483646 h 21556"/>
              <a:gd name="T4" fmla="*/ 0 w 20775"/>
              <a:gd name="T5" fmla="*/ 2147483646 h 215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75" h="21556" fill="none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</a:path>
              <a:path w="20775" h="21556" stroke="0" extrusionOk="0">
                <a:moveTo>
                  <a:pt x="1376" y="-1"/>
                </a:moveTo>
                <a:cubicBezTo>
                  <a:pt x="10501" y="582"/>
                  <a:pt x="18271" y="6847"/>
                  <a:pt x="20774" y="15642"/>
                </a:cubicBezTo>
                <a:lnTo>
                  <a:pt x="0" y="21556"/>
                </a:lnTo>
                <a:lnTo>
                  <a:pt x="1376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2" name="Arc 82"/>
          <p:cNvSpPr>
            <a:spLocks/>
          </p:cNvSpPr>
          <p:nvPr/>
        </p:nvSpPr>
        <p:spPr bwMode="auto">
          <a:xfrm>
            <a:off x="4876800" y="5149850"/>
            <a:ext cx="546100" cy="336550"/>
          </a:xfrm>
          <a:custGeom>
            <a:avLst/>
            <a:gdLst>
              <a:gd name="T0" fmla="*/ 2147483646 w 21600"/>
              <a:gd name="T1" fmla="*/ 0 h 19928"/>
              <a:gd name="T2" fmla="*/ 2147483646 w 21600"/>
              <a:gd name="T3" fmla="*/ 2147483646 h 19928"/>
              <a:gd name="T4" fmla="*/ 0 w 21600"/>
              <a:gd name="T5" fmla="*/ 2147483646 h 199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9928" fill="none" extrusionOk="0">
                <a:moveTo>
                  <a:pt x="8332" y="-1"/>
                </a:moveTo>
                <a:cubicBezTo>
                  <a:pt x="16368" y="3359"/>
                  <a:pt x="21600" y="11217"/>
                  <a:pt x="21600" y="19928"/>
                </a:cubicBezTo>
              </a:path>
              <a:path w="21600" h="19928" stroke="0" extrusionOk="0">
                <a:moveTo>
                  <a:pt x="8332" y="-1"/>
                </a:moveTo>
                <a:cubicBezTo>
                  <a:pt x="16368" y="3359"/>
                  <a:pt x="21600" y="11217"/>
                  <a:pt x="21600" y="19928"/>
                </a:cubicBezTo>
                <a:lnTo>
                  <a:pt x="0" y="19928"/>
                </a:lnTo>
                <a:lnTo>
                  <a:pt x="8332" y="-1"/>
                </a:lnTo>
                <a:close/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1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1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1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1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1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1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1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1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1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1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1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1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51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1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1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1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1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51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1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1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1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1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51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5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1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1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1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51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5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51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5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51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5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51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5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5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1" grpId="0" animBg="1"/>
      <p:bldP spid="51212" grpId="0"/>
      <p:bldP spid="51213" grpId="0" animBg="1"/>
      <p:bldP spid="51214" grpId="0" animBg="1"/>
      <p:bldP spid="51216" grpId="0" animBg="1"/>
      <p:bldP spid="51218" grpId="0" animBg="1"/>
      <p:bldP spid="51219" grpId="0" animBg="1"/>
      <p:bldP spid="51220" grpId="0" animBg="1"/>
      <p:bldP spid="51221" grpId="0" animBg="1"/>
      <p:bldP spid="51222" grpId="0" animBg="1"/>
      <p:bldP spid="51223" grpId="0" animBg="1"/>
      <p:bldP spid="51224" grpId="0" animBg="1"/>
      <p:bldP spid="51225" grpId="0" animBg="1"/>
      <p:bldP spid="51226" grpId="0" animBg="1"/>
      <p:bldP spid="51227" grpId="0" animBg="1"/>
      <p:bldP spid="51228" grpId="0" animBg="1"/>
      <p:bldP spid="51229" grpId="0" animBg="1"/>
      <p:bldP spid="51230" grpId="0" animBg="1"/>
      <p:bldP spid="51232" grpId="0"/>
      <p:bldP spid="51248" grpId="0" animBg="1"/>
      <p:bldP spid="51249" grpId="0" animBg="1"/>
      <p:bldP spid="51250" grpId="0" animBg="1"/>
      <p:bldP spid="51251" grpId="0" animBg="1"/>
      <p:bldP spid="51252" grpId="0" animBg="1"/>
      <p:bldP spid="51253" grpId="0" animBg="1"/>
      <p:bldP spid="51256" grpId="0" animBg="1"/>
      <p:bldP spid="51257" grpId="0" animBg="1"/>
      <p:bldP spid="51260" grpId="0" animBg="1"/>
      <p:bldP spid="51261" grpId="0"/>
      <p:bldP spid="51263" grpId="0" animBg="1"/>
      <p:bldP spid="51264" grpId="0" animBg="1"/>
      <p:bldP spid="51267" grpId="0" animBg="1"/>
      <p:bldP spid="51268" grpId="0" animBg="1"/>
      <p:bldP spid="51269" grpId="0" animBg="1"/>
      <p:bldP spid="51270" grpId="0" animBg="1"/>
      <p:bldP spid="51275" grpId="0" animBg="1"/>
      <p:bldP spid="51276" grpId="0" animBg="1"/>
      <p:bldP spid="51277" grpId="0" animBg="1"/>
      <p:bldP spid="51278" grpId="0" animBg="1"/>
      <p:bldP spid="51279" grpId="0" animBg="1"/>
      <p:bldP spid="51280" grpId="0" animBg="1"/>
      <p:bldP spid="51281" grpId="0" animBg="1"/>
      <p:bldP spid="5128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idx="1"/>
          </p:nvPr>
        </p:nvSpPr>
        <p:spPr>
          <a:xfrm>
            <a:off x="724544" y="2134568"/>
            <a:ext cx="7772400" cy="4114800"/>
          </a:xfrm>
        </p:spPr>
        <p:txBody>
          <a:bodyPr/>
          <a:lstStyle/>
          <a:p>
            <a:pPr algn="just"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103668"/>
              </p:ext>
            </p:extLst>
          </p:nvPr>
        </p:nvGraphicFramePr>
        <p:xfrm>
          <a:off x="1303982" y="2501280"/>
          <a:ext cx="56292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6868" imgH="406224" progId="Equation.DSMT4">
                  <p:embed/>
                </p:oleObj>
              </mc:Choice>
              <mc:Fallback>
                <p:oleObj name="Equation" r:id="rId2" imgW="1916868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982" y="2501280"/>
                        <a:ext cx="562927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19744" y="908720"/>
            <a:ext cx="8458200" cy="1095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正如第二章的采样定律中所讨论的，如果模拟滤波器的频响带限于折叠频率        以内</a:t>
            </a: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419744" y="2099717"/>
            <a:ext cx="727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34280" y="3850630"/>
            <a:ext cx="8458200" cy="1095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这时数字滤波器的频响才能不失真地重现模拟滤波器的频响</a:t>
            </a:r>
            <a:r>
              <a:rPr kumimoji="1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存在于折叠频率      以内</a:t>
            </a:r>
            <a:r>
              <a:rPr kumimoji="1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490765"/>
              </p:ext>
            </p:extLst>
          </p:nvPr>
        </p:nvGraphicFramePr>
        <p:xfrm>
          <a:off x="1334144" y="5092080"/>
          <a:ext cx="63182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406400" progId="Equation.DSMT4">
                  <p:embed/>
                </p:oleObj>
              </mc:Choice>
              <mc:Fallback>
                <p:oleObj name="Equation" r:id="rId4" imgW="2070100" imgH="40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144" y="5092080"/>
                        <a:ext cx="63182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3897"/>
              </p:ext>
            </p:extLst>
          </p:nvPr>
        </p:nvGraphicFramePr>
        <p:xfrm>
          <a:off x="4250704" y="1488728"/>
          <a:ext cx="1193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28600" progId="Equation.DSMT4">
                  <p:embed/>
                </p:oleObj>
              </mc:Choice>
              <mc:Fallback>
                <p:oleObj name="Equation" r:id="rId6" imgW="406080" imgH="228600" progId="Equation.DSMT4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704" y="1488728"/>
                        <a:ext cx="1193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685513"/>
              </p:ext>
            </p:extLst>
          </p:nvPr>
        </p:nvGraphicFramePr>
        <p:xfrm>
          <a:off x="4289601" y="4441056"/>
          <a:ext cx="1193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28600" progId="Equation.DSMT4">
                  <p:embed/>
                </p:oleObj>
              </mc:Choice>
              <mc:Fallback>
                <p:oleObj name="Equation" r:id="rId6" imgW="406080" imgH="22860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601" y="4441056"/>
                        <a:ext cx="1193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611560" y="3987369"/>
            <a:ext cx="2207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6600CC"/>
                </a:solidFill>
                <a:latin typeface="+mj-lt"/>
              </a:rPr>
              <a:t>加修正因子</a:t>
            </a:r>
            <a:r>
              <a:rPr kumimoji="1" lang="en-US" altLang="zh-CN" sz="2800" b="1" i="1" dirty="0">
                <a:solidFill>
                  <a:srgbClr val="6600CC"/>
                </a:solidFill>
                <a:latin typeface="+mj-lt"/>
              </a:rPr>
              <a:t>T</a:t>
            </a:r>
            <a:endParaRPr kumimoji="1" lang="zh-CN" altLang="en-US" sz="2800" b="1" i="1" dirty="0">
              <a:solidFill>
                <a:srgbClr val="6600CC"/>
              </a:solidFill>
              <a:latin typeface="+mj-lt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36355"/>
              </p:ext>
            </p:extLst>
          </p:nvPr>
        </p:nvGraphicFramePr>
        <p:xfrm>
          <a:off x="1879600" y="908720"/>
          <a:ext cx="503078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431640" progId="Equation.DSMT4">
                  <p:embed/>
                </p:oleObj>
              </mc:Choice>
              <mc:Fallback>
                <p:oleObj name="Equation" r:id="rId2" imgW="2095200" imgH="431640" progId="Equation.DSMT4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908720"/>
                        <a:ext cx="5030788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728024"/>
              </p:ext>
            </p:extLst>
          </p:nvPr>
        </p:nvGraphicFramePr>
        <p:xfrm>
          <a:off x="3254375" y="2635250"/>
          <a:ext cx="250983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444240" progId="Equation.DSMT4">
                  <p:embed/>
                </p:oleObj>
              </mc:Choice>
              <mc:Fallback>
                <p:oleObj name="Equation" r:id="rId4" imgW="1091880" imgH="444240" progId="Equation.DSMT4">
                  <p:embed/>
                  <p:pic>
                    <p:nvPicPr>
                      <p:cNvPr id="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2635250"/>
                        <a:ext cx="2509838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975707"/>
              </p:ext>
            </p:extLst>
          </p:nvPr>
        </p:nvGraphicFramePr>
        <p:xfrm>
          <a:off x="3203848" y="3789040"/>
          <a:ext cx="3036522" cy="992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480" imgH="431640" progId="Equation.DSMT4">
                  <p:embed/>
                </p:oleObj>
              </mc:Choice>
              <mc:Fallback>
                <p:oleObj name="Equation" r:id="rId6" imgW="1320480" imgH="431640" progId="Equation.DSMT4">
                  <p:embed/>
                  <p:pic>
                    <p:nvPicPr>
                      <p:cNvPr id="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789040"/>
                        <a:ext cx="3036522" cy="992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 bwMode="auto">
          <a:xfrm>
            <a:off x="3347864" y="908720"/>
            <a:ext cx="360040" cy="1036637"/>
          </a:xfrm>
          <a:prstGeom prst="roundRect">
            <a:avLst/>
          </a:prstGeom>
          <a:noFill/>
          <a:ln w="222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67967" y="2067656"/>
            <a:ext cx="76322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+mj-lt"/>
              </a:rPr>
              <a:t>为了消除因子</a:t>
            </a:r>
            <a:r>
              <a:rPr kumimoji="1" lang="en-US" altLang="zh-CN" sz="2800" b="1" dirty="0">
                <a:latin typeface="+mj-lt"/>
              </a:rPr>
              <a:t>1/</a:t>
            </a:r>
            <a:r>
              <a:rPr kumimoji="1" lang="en-US" altLang="zh-CN" sz="2800" b="1" i="1" dirty="0">
                <a:latin typeface="+mj-lt"/>
              </a:rPr>
              <a:t>T</a:t>
            </a:r>
            <a:r>
              <a:rPr kumimoji="1" lang="zh-CN" altLang="en-US" sz="2800" b="1" i="1" dirty="0">
                <a:latin typeface="+mj-lt"/>
              </a:rPr>
              <a:t> </a:t>
            </a:r>
            <a:r>
              <a:rPr kumimoji="1" lang="zh-CN" altLang="en-US" sz="2800" b="1" dirty="0">
                <a:latin typeface="+mj-lt"/>
              </a:rPr>
              <a:t>对数字滤波器幅度响应的影响</a:t>
            </a:r>
          </a:p>
        </p:txBody>
      </p:sp>
      <p:sp>
        <p:nvSpPr>
          <p:cNvPr id="10" name="矩形 9"/>
          <p:cNvSpPr/>
          <p:nvPr/>
        </p:nvSpPr>
        <p:spPr>
          <a:xfrm>
            <a:off x="7236296" y="400506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467544" y="4870551"/>
            <a:ext cx="851326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+mj-lt"/>
              </a:rPr>
              <a:t>如果模拟滤波器是因果稳定的，则所有极点 </a:t>
            </a:r>
            <a:r>
              <a:rPr lang="en-US" altLang="zh-CN" sz="2800" b="1" i="1" dirty="0" err="1">
                <a:latin typeface="+mj-lt"/>
              </a:rPr>
              <a:t>s</a:t>
            </a:r>
            <a:r>
              <a:rPr lang="en-US" altLang="zh-CN" sz="2800" b="1" i="1" baseline="-25000" dirty="0" err="1">
                <a:latin typeface="+mj-lt"/>
              </a:rPr>
              <a:t>i</a:t>
            </a:r>
            <a:r>
              <a:rPr lang="en-US" altLang="zh-CN" sz="2800" b="1" dirty="0">
                <a:latin typeface="+mj-lt"/>
              </a:rPr>
              <a:t> </a:t>
            </a:r>
            <a:r>
              <a:rPr lang="zh-CN" altLang="en-US" sz="2800" b="1" dirty="0">
                <a:latin typeface="+mj-lt"/>
              </a:rPr>
              <a:t>都在</a:t>
            </a:r>
            <a:r>
              <a:rPr lang="en-US" altLang="zh-CN" sz="2800" b="1" i="1" dirty="0">
                <a:latin typeface="+mj-lt"/>
              </a:rPr>
              <a:t>s</a:t>
            </a:r>
            <a:r>
              <a:rPr lang="zh-CN" altLang="en-US" sz="2800" b="1" dirty="0">
                <a:latin typeface="+mj-lt"/>
              </a:rPr>
              <a:t>左半平面，对应的</a:t>
            </a:r>
            <a:r>
              <a:rPr lang="en-US" altLang="zh-CN" sz="2800" b="1" i="1" dirty="0">
                <a:latin typeface="+mj-lt"/>
              </a:rPr>
              <a:t>H</a:t>
            </a:r>
            <a:r>
              <a:rPr lang="en-US" altLang="zh-CN" sz="2800" b="1" dirty="0">
                <a:latin typeface="+mj-lt"/>
              </a:rPr>
              <a:t>(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en-US" altLang="zh-CN" sz="2800" b="1" dirty="0">
                <a:latin typeface="+mj-lt"/>
              </a:rPr>
              <a:t>)</a:t>
            </a:r>
            <a:r>
              <a:rPr lang="zh-CN" altLang="en-US" sz="2800" b="1" dirty="0">
                <a:latin typeface="+mj-lt"/>
              </a:rPr>
              <a:t>的极点都在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zh-CN" altLang="en-US" sz="2800" b="1" dirty="0">
                <a:latin typeface="+mj-lt"/>
              </a:rPr>
              <a:t>平面的单位圆内，</a:t>
            </a:r>
            <a:endParaRPr lang="en-US" altLang="zh-CN" sz="2800" b="1" dirty="0">
              <a:latin typeface="+mj-lt"/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>
                <a:latin typeface="+mj-lt"/>
              </a:rPr>
              <a:t>数字滤波器也是因果稳定的。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737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529010" y="1124744"/>
            <a:ext cx="49231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脉冲响应不变法的</a:t>
            </a: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优点：</a:t>
            </a:r>
            <a:r>
              <a:rPr kumimoji="1" lang="zh-CN" altLang="en-US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489248" y="1873541"/>
            <a:ext cx="79531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频率变换关系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</a:t>
            </a:r>
            <a:r>
              <a:rPr kumimoji="1" lang="en-US" altLang="zh-CN" sz="2800" b="1" i="1" dirty="0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b="1" dirty="0">
                <a:latin typeface="宋体" panose="02010600030101010101" pitchFamily="2" charset="-122"/>
              </a:rPr>
              <a:t>是线性的，    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。</a:t>
            </a:r>
            <a:endParaRPr kumimoji="1"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55300" name="Text Box 6"/>
          <p:cNvSpPr txBox="1">
            <a:spLocks noChangeArrowheads="1"/>
          </p:cNvSpPr>
          <p:nvPr/>
        </p:nvSpPr>
        <p:spPr bwMode="auto">
          <a:xfrm>
            <a:off x="467545" y="3579112"/>
            <a:ext cx="80648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由于</a:t>
            </a:r>
            <a:r>
              <a:rPr kumimoji="1" lang="zh-CN" altLang="en-US" b="1" dirty="0">
                <a:solidFill>
                  <a:srgbClr val="800000"/>
                </a:solidFill>
                <a:latin typeface="宋体" panose="02010600030101010101" pitchFamily="2" charset="-122"/>
              </a:rPr>
              <a:t>频率混叠效应</a:t>
            </a:r>
            <a:r>
              <a:rPr kumimoji="1" lang="zh-CN" altLang="en-US" b="1" dirty="0">
                <a:latin typeface="宋体" panose="02010600030101010101" pitchFamily="2" charset="-122"/>
              </a:rPr>
              <a:t>，脉冲响应不变法适用于带限的滤波器，例如低通和带通滤波器。</a:t>
            </a:r>
          </a:p>
        </p:txBody>
      </p:sp>
      <p:sp>
        <p:nvSpPr>
          <p:cNvPr id="55302" name="Text Box 8"/>
          <p:cNvSpPr txBox="1">
            <a:spLocks noChangeArrowheads="1"/>
          </p:cNvSpPr>
          <p:nvPr/>
        </p:nvSpPr>
        <p:spPr bwMode="auto">
          <a:xfrm>
            <a:off x="467544" y="2924944"/>
            <a:ext cx="49231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脉冲响应不变法的</a:t>
            </a:r>
            <a:r>
              <a:rPr kumimoji="1"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缺点：</a:t>
            </a:r>
            <a:r>
              <a:rPr kumimoji="1" lang="zh-CN" altLang="en-US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5303" name="Rectangle 10"/>
          <p:cNvSpPr>
            <a:spLocks noChangeArrowheads="1"/>
          </p:cNvSpPr>
          <p:nvPr/>
        </p:nvSpPr>
        <p:spPr bwMode="auto">
          <a:xfrm>
            <a:off x="467544" y="5170557"/>
            <a:ext cx="856895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800000"/>
                </a:solidFill>
                <a:latin typeface="宋体" panose="02010600030101010101" pitchFamily="2" charset="-122"/>
              </a:rPr>
              <a:t>高通和带阻</a:t>
            </a:r>
            <a:r>
              <a:rPr kumimoji="1" lang="zh-CN" altLang="en-US" b="1" dirty="0">
                <a:latin typeface="宋体" panose="02010600030101010101" pitchFamily="2" charset="-122"/>
              </a:rPr>
              <a:t>滤波器</a:t>
            </a:r>
            <a:r>
              <a:rPr kumimoji="1" lang="en-US" altLang="zh-CN" b="1" dirty="0">
                <a:latin typeface="宋体" panose="02010600030101010101" pitchFamily="2" charset="-122"/>
              </a:rPr>
              <a:t>, </a:t>
            </a:r>
            <a:r>
              <a:rPr kumimoji="1" lang="zh-CN" altLang="en-US" b="1" dirty="0">
                <a:solidFill>
                  <a:srgbClr val="800000"/>
                </a:solidFill>
                <a:latin typeface="宋体" panose="02010600030101010101" pitchFamily="2" charset="-122"/>
              </a:rPr>
              <a:t>不宜</a:t>
            </a:r>
            <a:r>
              <a:rPr kumimoji="1" lang="zh-CN" altLang="en-US" b="1" dirty="0">
                <a:latin typeface="宋体" panose="02010600030101010101" pitchFamily="2" charset="-122"/>
              </a:rPr>
              <a:t>采用脉冲响应不变法。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228466"/>
              </p:ext>
            </p:extLst>
          </p:nvPr>
        </p:nvGraphicFramePr>
        <p:xfrm>
          <a:off x="6228184" y="1993851"/>
          <a:ext cx="13096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177480" progId="Equation.DSMT4">
                  <p:embed/>
                </p:oleObj>
              </mc:Choice>
              <mc:Fallback>
                <p:oleObj name="Equation" r:id="rId2" imgW="545760" imgH="177480" progId="Equation.DSMT4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993851"/>
                        <a:ext cx="13096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  <p:bldP spid="55302" grpId="0"/>
      <p:bldP spid="5530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6228773"/>
              </p:ext>
            </p:extLst>
          </p:nvPr>
        </p:nvGraphicFramePr>
        <p:xfrm>
          <a:off x="899592" y="2817778"/>
          <a:ext cx="4614444" cy="1021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444240" progId="Equation.DSMT4">
                  <p:embed/>
                </p:oleObj>
              </mc:Choice>
              <mc:Fallback>
                <p:oleObj name="Equation" r:id="rId2" imgW="200628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817778"/>
                        <a:ext cx="4614444" cy="1021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1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9627533"/>
              </p:ext>
            </p:extLst>
          </p:nvPr>
        </p:nvGraphicFramePr>
        <p:xfrm>
          <a:off x="899592" y="4413741"/>
          <a:ext cx="3037104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431640" progId="Equation.DSMT4">
                  <p:embed/>
                </p:oleObj>
              </mc:Choice>
              <mc:Fallback>
                <p:oleObj name="Equation" r:id="rId4" imgW="132048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413741"/>
                        <a:ext cx="3037104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Rectangle 8"/>
          <p:cNvSpPr>
            <a:spLocks noChangeArrowheads="1"/>
          </p:cNvSpPr>
          <p:nvPr/>
        </p:nvSpPr>
        <p:spPr bwMode="auto">
          <a:xfrm>
            <a:off x="395288" y="934839"/>
            <a:ext cx="83820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+mj-lt"/>
              </a:rPr>
              <a:t>例</a:t>
            </a:r>
            <a:r>
              <a:rPr kumimoji="1" lang="en-US" altLang="zh-CN" sz="2800" b="1" dirty="0">
                <a:latin typeface="+mj-lt"/>
              </a:rPr>
              <a:t>4.3</a:t>
            </a:r>
            <a:r>
              <a:rPr kumimoji="1" lang="zh-CN" altLang="en-US" sz="2800" dirty="0">
                <a:latin typeface="+mj-lt"/>
              </a:rPr>
              <a:t>  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将一个具有如下系统函数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         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kumimoji="1" lang="zh-CN" altLang="en-US" sz="2800" b="1" dirty="0">
              <a:solidFill>
                <a:srgbClr val="000000"/>
              </a:solidFill>
              <a:latin typeface="+mj-lt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的模拟滤波器用 </a:t>
            </a:r>
            <a:r>
              <a:rPr kumimoji="1" lang="zh-CN" altLang="en-US" sz="2800" b="1" dirty="0">
                <a:solidFill>
                  <a:srgbClr val="FF0000"/>
                </a:solidFill>
                <a:latin typeface="+mj-lt"/>
              </a:rPr>
              <a:t>脉冲响应不变法 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数字化。</a:t>
            </a:r>
            <a:endParaRPr kumimoji="1" lang="zh-CN" altLang="en-US" sz="2400" b="1" dirty="0">
              <a:solidFill>
                <a:srgbClr val="000000"/>
              </a:solidFill>
              <a:latin typeface="+mj-lt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graphicFrame>
        <p:nvGraphicFramePr>
          <p:cNvPr id="5734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282268"/>
              </p:ext>
            </p:extLst>
          </p:nvPr>
        </p:nvGraphicFramePr>
        <p:xfrm>
          <a:off x="2486025" y="1354138"/>
          <a:ext cx="50292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419040" progId="Equation.DSMT4">
                  <p:embed/>
                </p:oleObj>
              </mc:Choice>
              <mc:Fallback>
                <p:oleObj name="Equation" r:id="rId6" imgW="228600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1354138"/>
                        <a:ext cx="50292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485661"/>
              </p:ext>
            </p:extLst>
          </p:nvPr>
        </p:nvGraphicFramePr>
        <p:xfrm>
          <a:off x="3951696" y="4458218"/>
          <a:ext cx="36226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06080" progId="Equation.DSMT4">
                  <p:embed/>
                </p:oleObj>
              </mc:Choice>
              <mc:Fallback>
                <p:oleObj name="Equation" r:id="rId8" imgW="1574640" imgH="4060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696" y="4458218"/>
                        <a:ext cx="362267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291781"/>
              </p:ext>
            </p:extLst>
          </p:nvPr>
        </p:nvGraphicFramePr>
        <p:xfrm>
          <a:off x="3936696" y="5575002"/>
          <a:ext cx="429418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444240" progId="Equation.DSMT4">
                  <p:embed/>
                </p:oleObj>
              </mc:Choice>
              <mc:Fallback>
                <p:oleObj name="Equation" r:id="rId10" imgW="186660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6696" y="5575002"/>
                        <a:ext cx="429418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129522" y="297778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解：</a:t>
            </a:r>
          </a:p>
        </p:txBody>
      </p:sp>
      <p:sp>
        <p:nvSpPr>
          <p:cNvPr id="4" name="矩形 3"/>
          <p:cNvSpPr/>
          <p:nvPr/>
        </p:nvSpPr>
        <p:spPr>
          <a:xfrm>
            <a:off x="123418" y="93483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FF0066"/>
                </a:solidFill>
                <a:latin typeface="Times New Roman"/>
              </a:rPr>
              <a:t>★</a:t>
            </a:r>
            <a:endParaRPr lang="zh-CN" altLang="en-US" dirty="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776150" y="3861048"/>
            <a:ext cx="2207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6600CC"/>
                </a:solidFill>
                <a:latin typeface="+mj-lt"/>
              </a:rPr>
              <a:t>加修正因子</a:t>
            </a:r>
            <a:r>
              <a:rPr kumimoji="1" lang="en-US" altLang="zh-CN" sz="2800" b="1" i="1" dirty="0">
                <a:solidFill>
                  <a:srgbClr val="6600CC"/>
                </a:solidFill>
                <a:latin typeface="+mj-lt"/>
              </a:rPr>
              <a:t>T</a:t>
            </a:r>
            <a:endParaRPr kumimoji="1" lang="zh-CN" altLang="en-US" sz="2800" b="1" i="1" dirty="0">
              <a:solidFill>
                <a:srgbClr val="6600CC"/>
              </a:solidFill>
              <a:latin typeface="+mj-lt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0188"/>
              </p:ext>
            </p:extLst>
          </p:nvPr>
        </p:nvGraphicFramePr>
        <p:xfrm>
          <a:off x="207963" y="874713"/>
          <a:ext cx="76581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44640" imgH="457200" progId="Equation.DSMT4">
                  <p:embed/>
                </p:oleObj>
              </mc:Choice>
              <mc:Fallback>
                <p:oleObj name="Equation" r:id="rId2" imgW="364464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3" y="874713"/>
                        <a:ext cx="76581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1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810891145"/>
              </p:ext>
            </p:extLst>
          </p:nvPr>
        </p:nvGraphicFramePr>
        <p:xfrm>
          <a:off x="214313" y="1935163"/>
          <a:ext cx="69881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080" imgH="444240" progId="Equation.DSMT4">
                  <p:embed/>
                </p:oleObj>
              </mc:Choice>
              <mc:Fallback>
                <p:oleObj name="Equation" r:id="rId4" imgW="3340080" imgH="4442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935163"/>
                        <a:ext cx="6988175" cy="930275"/>
                      </a:xfrm>
                      <a:prstGeom prst="rect">
                        <a:avLst/>
                      </a:prstGeom>
                      <a:pattFill prst="pct5">
                        <a:fgClr>
                          <a:schemeClr val="accent1"/>
                        </a:fgClr>
                        <a:bgClr>
                          <a:schemeClr val="bg1"/>
                        </a:bgClr>
                      </a:patt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0"/>
          <p:cNvSpPr txBox="1">
            <a:spLocks noChangeArrowheads="1"/>
          </p:cNvSpPr>
          <p:nvPr/>
        </p:nvSpPr>
        <p:spPr bwMode="auto">
          <a:xfrm>
            <a:off x="323528" y="5877272"/>
            <a:ext cx="790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j-lt"/>
              </a:rPr>
              <a:t>图</a:t>
            </a:r>
            <a:r>
              <a:rPr lang="en-US" altLang="zh-CN" sz="2400" b="1" dirty="0">
                <a:latin typeface="+mj-lt"/>
              </a:rPr>
              <a:t>4.14 </a:t>
            </a:r>
            <a:r>
              <a:rPr lang="zh-CN" altLang="en-US" sz="2400" b="1" dirty="0">
                <a:latin typeface="+mj-lt"/>
              </a:rPr>
              <a:t>不同采样频率下的幅频响应与模拟幅频响应的比较</a:t>
            </a:r>
          </a:p>
        </p:txBody>
      </p:sp>
      <p:pic>
        <p:nvPicPr>
          <p:cNvPr id="6" name="Picture 3" descr="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37260"/>
            <a:ext cx="8893175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846079"/>
              </p:ext>
            </p:extLst>
          </p:nvPr>
        </p:nvGraphicFramePr>
        <p:xfrm>
          <a:off x="3398515" y="6321772"/>
          <a:ext cx="10858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342720" progId="Equation.DSMT4">
                  <p:embed/>
                </p:oleObj>
              </mc:Choice>
              <mc:Fallback>
                <p:oleObj name="Equation" r:id="rId7" imgW="863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515" y="6321772"/>
                        <a:ext cx="10858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34485"/>
              </p:ext>
            </p:extLst>
          </p:nvPr>
        </p:nvGraphicFramePr>
        <p:xfrm>
          <a:off x="5220568" y="6301609"/>
          <a:ext cx="10302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920" imgH="393480" progId="Equation.DSMT4">
                  <p:embed/>
                </p:oleObj>
              </mc:Choice>
              <mc:Fallback>
                <p:oleObj name="Equation" r:id="rId9" imgW="799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568" y="6301609"/>
                        <a:ext cx="10302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956214" y="6301609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(a)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755918" y="6340588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(b)</a:t>
            </a:r>
            <a:endParaRPr lang="zh-CN" altLang="en-US" sz="2000" kern="0" dirty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脉冲响应不变法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1072" y="1052736"/>
            <a:ext cx="7885384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720000" algn="just"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脉冲响应不变法的主要缺点是产生频响的混叠失真，这是因为从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平面到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平面不是一一映射关系。为了克服这一缺点，设想变换分为两步：</a:t>
            </a:r>
          </a:p>
          <a:p>
            <a:pPr lvl="0" indent="720000" algn="just"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第一步：将整个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平面压缩到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s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+mj-lt"/>
                <a:ea typeface="+mn-ea"/>
              </a:rPr>
              <a:t>1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平面的一条横带里；</a:t>
            </a:r>
            <a:endParaRPr kumimoji="1" lang="en-US" altLang="zh-CN" sz="2800" b="1" dirty="0">
              <a:solidFill>
                <a:srgbClr val="000000"/>
              </a:solidFill>
              <a:latin typeface="+mj-lt"/>
              <a:ea typeface="+mn-ea"/>
            </a:endParaRPr>
          </a:p>
          <a:p>
            <a:pPr lvl="0" indent="720000" algn="just"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第二步：通过标准变换关系将此横带变换到整个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平面上去。</a:t>
            </a:r>
          </a:p>
          <a:p>
            <a:pPr lvl="0" algn="just"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        由此建立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平面与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  <a:ea typeface="+mn-ea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  <a:ea typeface="+mn-ea"/>
              </a:rPr>
              <a:t>平面一一对应的单值关系，消除多值性，也就消除了混叠现象。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Oval 2" descr="宽上对角线"/>
          <p:cNvSpPr>
            <a:spLocks noChangeArrowheads="1"/>
          </p:cNvSpPr>
          <p:nvPr/>
        </p:nvSpPr>
        <p:spPr bwMode="auto">
          <a:xfrm>
            <a:off x="6356350" y="2288505"/>
            <a:ext cx="1079500" cy="10795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2067" name="Line 3"/>
          <p:cNvSpPr>
            <a:spLocks noChangeShapeType="1"/>
          </p:cNvSpPr>
          <p:nvPr/>
        </p:nvSpPr>
        <p:spPr bwMode="auto">
          <a:xfrm>
            <a:off x="2190750" y="1609055"/>
            <a:ext cx="0" cy="24003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68" name="Rectangle 4" descr="宽上对角线"/>
          <p:cNvSpPr>
            <a:spLocks noChangeArrowheads="1"/>
          </p:cNvSpPr>
          <p:nvPr/>
        </p:nvSpPr>
        <p:spPr bwMode="auto">
          <a:xfrm>
            <a:off x="595313" y="1650330"/>
            <a:ext cx="1571625" cy="23733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2075" name="Line 11"/>
          <p:cNvSpPr>
            <a:spLocks noChangeShapeType="1"/>
          </p:cNvSpPr>
          <p:nvPr/>
        </p:nvSpPr>
        <p:spPr bwMode="auto">
          <a:xfrm flipV="1">
            <a:off x="2190750" y="1609055"/>
            <a:ext cx="0" cy="2262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10972"/>
              </p:ext>
            </p:extLst>
          </p:nvPr>
        </p:nvGraphicFramePr>
        <p:xfrm>
          <a:off x="2189163" y="2826668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08" imgH="99120" progId="Equation.DSMT4">
                  <p:embed/>
                </p:oleObj>
              </mc:Choice>
              <mc:Fallback>
                <p:oleObj name="Equation" r:id="rId3" imgW="38008" imgH="991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2826668"/>
                        <a:ext cx="25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311845"/>
              </p:ext>
            </p:extLst>
          </p:nvPr>
        </p:nvGraphicFramePr>
        <p:xfrm>
          <a:off x="2659063" y="2580605"/>
          <a:ext cx="304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673" imgH="60897" progId="Equation.DSMT4">
                  <p:embed/>
                </p:oleObj>
              </mc:Choice>
              <mc:Fallback>
                <p:oleObj name="Equation" r:id="rId5" imgW="68673" imgH="6089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2580605"/>
                        <a:ext cx="304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447884"/>
              </p:ext>
            </p:extLst>
          </p:nvPr>
        </p:nvGraphicFramePr>
        <p:xfrm>
          <a:off x="2209800" y="1375693"/>
          <a:ext cx="48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463" imgH="114236" progId="Equation.DSMT4">
                  <p:embed/>
                </p:oleObj>
              </mc:Choice>
              <mc:Fallback>
                <p:oleObj name="Equation" r:id="rId7" imgW="152463" imgH="114236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5693"/>
                        <a:ext cx="482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79" name="Rectangle 15" descr="宽上对角线"/>
          <p:cNvSpPr>
            <a:spLocks noChangeArrowheads="1"/>
          </p:cNvSpPr>
          <p:nvPr/>
        </p:nvSpPr>
        <p:spPr bwMode="auto">
          <a:xfrm>
            <a:off x="3416300" y="2393280"/>
            <a:ext cx="1571625" cy="8366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2080" name="Line 16"/>
          <p:cNvSpPr>
            <a:spLocks noChangeShapeType="1"/>
          </p:cNvSpPr>
          <p:nvPr/>
        </p:nvSpPr>
        <p:spPr bwMode="auto">
          <a:xfrm>
            <a:off x="3416300" y="2829843"/>
            <a:ext cx="2038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81" name="Line 17"/>
          <p:cNvSpPr>
            <a:spLocks noChangeShapeType="1"/>
          </p:cNvSpPr>
          <p:nvPr/>
        </p:nvSpPr>
        <p:spPr bwMode="auto">
          <a:xfrm rot="16200000">
            <a:off x="3875881" y="2762374"/>
            <a:ext cx="2262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8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355017"/>
              </p:ext>
            </p:extLst>
          </p:nvPr>
        </p:nvGraphicFramePr>
        <p:xfrm>
          <a:off x="5444077" y="2492896"/>
          <a:ext cx="355320" cy="42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304560" progId="Equation.DSMT4">
                  <p:embed/>
                </p:oleObj>
              </mc:Choice>
              <mc:Fallback>
                <p:oleObj name="Equation" r:id="rId9" imgW="253800" imgH="3045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077" y="2492896"/>
                        <a:ext cx="355320" cy="426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688787"/>
              </p:ext>
            </p:extLst>
          </p:nvPr>
        </p:nvGraphicFramePr>
        <p:xfrm>
          <a:off x="5054600" y="1459830"/>
          <a:ext cx="55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70" imgH="144684" progId="Equation.DSMT4">
                  <p:embed/>
                </p:oleObj>
              </mc:Choice>
              <mc:Fallback>
                <p:oleObj name="Equation" r:id="rId11" imgW="190470" imgH="144684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1459830"/>
                        <a:ext cx="55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5763"/>
              </p:ext>
            </p:extLst>
          </p:nvPr>
        </p:nvGraphicFramePr>
        <p:xfrm>
          <a:off x="5022850" y="2820318"/>
          <a:ext cx="25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008" imgH="99120" progId="Equation.3">
                  <p:embed/>
                </p:oleObj>
              </mc:Choice>
              <mc:Fallback>
                <p:oleObj name="公式" r:id="rId13" imgW="38008" imgH="991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2820318"/>
                        <a:ext cx="25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85" name="Line 21"/>
          <p:cNvSpPr>
            <a:spLocks noChangeShapeType="1"/>
          </p:cNvSpPr>
          <p:nvPr/>
        </p:nvSpPr>
        <p:spPr bwMode="auto">
          <a:xfrm>
            <a:off x="5006975" y="2393280"/>
            <a:ext cx="0" cy="8366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65584"/>
              </p:ext>
            </p:extLst>
          </p:nvPr>
        </p:nvGraphicFramePr>
        <p:xfrm>
          <a:off x="5060950" y="2209130"/>
          <a:ext cx="66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1369" imgH="99120" progId="Equation.DSMT4">
                  <p:embed/>
                </p:oleObj>
              </mc:Choice>
              <mc:Fallback>
                <p:oleObj name="Equation" r:id="rId15" imgW="251369" imgH="9912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2209130"/>
                        <a:ext cx="660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924607"/>
              </p:ext>
            </p:extLst>
          </p:nvPr>
        </p:nvGraphicFramePr>
        <p:xfrm>
          <a:off x="5083175" y="3031455"/>
          <a:ext cx="9048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5824" imgH="99120" progId="Equation.DSMT4">
                  <p:embed/>
                </p:oleObj>
              </mc:Choice>
              <mc:Fallback>
                <p:oleObj name="Equation" r:id="rId17" imgW="365824" imgH="9912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3175" y="3031455"/>
                        <a:ext cx="9048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88" name="Text Box 24"/>
          <p:cNvSpPr txBox="1">
            <a:spLocks noChangeArrowheads="1"/>
          </p:cNvSpPr>
          <p:nvPr/>
        </p:nvSpPr>
        <p:spPr bwMode="auto">
          <a:xfrm>
            <a:off x="4513171" y="4663758"/>
            <a:ext cx="11352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+mj-lt"/>
                <a:cs typeface="Times New Roman" panose="02020603050405020304" pitchFamily="18" charset="0"/>
              </a:rPr>
              <a:t>s</a:t>
            </a:r>
            <a:r>
              <a:rPr kumimoji="1" lang="en-US" altLang="zh-CN" sz="1400" b="1" dirty="0">
                <a:latin typeface="+mj-lt"/>
                <a:cs typeface="Times New Roman" panose="02020603050405020304" pitchFamily="18" charset="0"/>
              </a:rPr>
              <a:t>1</a:t>
            </a:r>
            <a:r>
              <a:rPr kumimoji="1" lang="zh-CN" altLang="zh-CN" sz="2800" b="1" dirty="0">
                <a:latin typeface="+mj-lt"/>
                <a:cs typeface="Times New Roman" panose="02020603050405020304" pitchFamily="18" charset="0"/>
              </a:rPr>
              <a:t>平面</a:t>
            </a:r>
            <a:endParaRPr kumimoji="1" lang="zh-CN" altLang="en-US" sz="2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72089" name="Oval 25"/>
          <p:cNvSpPr>
            <a:spLocks noChangeArrowheads="1"/>
          </p:cNvSpPr>
          <p:nvPr/>
        </p:nvSpPr>
        <p:spPr bwMode="auto">
          <a:xfrm>
            <a:off x="6356350" y="2288505"/>
            <a:ext cx="1079500" cy="10795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209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981463"/>
              </p:ext>
            </p:extLst>
          </p:nvPr>
        </p:nvGraphicFramePr>
        <p:xfrm>
          <a:off x="7939088" y="2436143"/>
          <a:ext cx="78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4709" imgH="114236" progId="Equation.DSMT4">
                  <p:embed/>
                </p:oleObj>
              </mc:Choice>
              <mc:Fallback>
                <p:oleObj name="Equation" r:id="rId19" imgW="304709" imgH="11423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9088" y="2436143"/>
                        <a:ext cx="78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450782"/>
              </p:ext>
            </p:extLst>
          </p:nvPr>
        </p:nvGraphicFramePr>
        <p:xfrm>
          <a:off x="7016750" y="1474118"/>
          <a:ext cx="96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03832" imgH="114236" progId="Equation.DSMT4">
                  <p:embed/>
                </p:oleObj>
              </mc:Choice>
              <mc:Fallback>
                <p:oleObj name="Equation" r:id="rId21" imgW="403832" imgH="114236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1474118"/>
                        <a:ext cx="96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523198"/>
              </p:ext>
            </p:extLst>
          </p:nvPr>
        </p:nvGraphicFramePr>
        <p:xfrm>
          <a:off x="7459663" y="2512343"/>
          <a:ext cx="17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76229" progId="Equation.DSMT4">
                  <p:embed/>
                </p:oleObj>
              </mc:Choice>
              <mc:Fallback>
                <p:oleObj name="Equation" r:id="rId23" imgW="0" imgH="7622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663" y="2512343"/>
                        <a:ext cx="177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93" name="Line 29"/>
          <p:cNvSpPr>
            <a:spLocks noChangeShapeType="1"/>
          </p:cNvSpPr>
          <p:nvPr/>
        </p:nvSpPr>
        <p:spPr bwMode="auto">
          <a:xfrm rot="16200000">
            <a:off x="5753894" y="2767137"/>
            <a:ext cx="2262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9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67704"/>
              </p:ext>
            </p:extLst>
          </p:nvPr>
        </p:nvGraphicFramePr>
        <p:xfrm>
          <a:off x="6918325" y="2863180"/>
          <a:ext cx="2524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8008" imgH="99120" progId="Equation.DSMT4">
                  <p:embed/>
                </p:oleObj>
              </mc:Choice>
              <mc:Fallback>
                <p:oleObj name="Equation" r:id="rId25" imgW="38008" imgH="991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2863180"/>
                        <a:ext cx="2524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95" name="Line 31"/>
          <p:cNvSpPr>
            <a:spLocks noChangeShapeType="1"/>
          </p:cNvSpPr>
          <p:nvPr/>
        </p:nvSpPr>
        <p:spPr bwMode="auto">
          <a:xfrm>
            <a:off x="5951538" y="2825080"/>
            <a:ext cx="2124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96" name="Text Box 32"/>
          <p:cNvSpPr txBox="1">
            <a:spLocks noChangeArrowheads="1"/>
          </p:cNvSpPr>
          <p:nvPr/>
        </p:nvSpPr>
        <p:spPr bwMode="auto">
          <a:xfrm>
            <a:off x="7372599" y="4662170"/>
            <a:ext cx="10647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+mj-lt"/>
                <a:cs typeface="Times New Roman" panose="02020603050405020304" pitchFamily="18" charset="0"/>
              </a:rPr>
              <a:t>z</a:t>
            </a:r>
            <a:r>
              <a:rPr kumimoji="1" lang="zh-CN" altLang="zh-CN" sz="2800" b="1" dirty="0">
                <a:latin typeface="+mj-lt"/>
                <a:cs typeface="Times New Roman" panose="02020603050405020304" pitchFamily="18" charset="0"/>
              </a:rPr>
              <a:t>平面</a:t>
            </a:r>
            <a:endParaRPr kumimoji="1" lang="zh-CN" altLang="en-US" sz="2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72097" name="Text Box 33"/>
          <p:cNvSpPr txBox="1">
            <a:spLocks noChangeArrowheads="1"/>
          </p:cNvSpPr>
          <p:nvPr/>
        </p:nvSpPr>
        <p:spPr bwMode="auto">
          <a:xfrm>
            <a:off x="1283042" y="4665345"/>
            <a:ext cx="10454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+mj-lt"/>
                <a:cs typeface="Times New Roman" panose="02020603050405020304" pitchFamily="18" charset="0"/>
              </a:rPr>
              <a:t>s</a:t>
            </a:r>
            <a:r>
              <a:rPr kumimoji="1" lang="zh-CN" altLang="zh-CN" sz="2800" b="1" dirty="0">
                <a:latin typeface="+mj-lt"/>
                <a:cs typeface="Times New Roman" panose="02020603050405020304" pitchFamily="18" charset="0"/>
              </a:rPr>
              <a:t>平面</a:t>
            </a:r>
            <a:endParaRPr kumimoji="1" lang="zh-CN" altLang="en-US" sz="2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72098" name="Line 34"/>
          <p:cNvSpPr>
            <a:spLocks noChangeShapeType="1"/>
          </p:cNvSpPr>
          <p:nvPr/>
        </p:nvSpPr>
        <p:spPr bwMode="auto">
          <a:xfrm flipV="1">
            <a:off x="568325" y="2820318"/>
            <a:ext cx="2090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9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910170"/>
              </p:ext>
            </p:extLst>
          </p:nvPr>
        </p:nvGraphicFramePr>
        <p:xfrm>
          <a:off x="2049463" y="5273824"/>
          <a:ext cx="533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2912" imgH="38007" progId="Equation.DSMT4">
                  <p:embed/>
                </p:oleObj>
              </mc:Choice>
              <mc:Fallback>
                <p:oleObj name="Equation" r:id="rId27" imgW="182912" imgH="3800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5273824"/>
                        <a:ext cx="533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889753"/>
              </p:ext>
            </p:extLst>
          </p:nvPr>
        </p:nvGraphicFramePr>
        <p:xfrm>
          <a:off x="4327525" y="5203974"/>
          <a:ext cx="91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373382" imgH="99120" progId="Equation.3">
                  <p:embed/>
                </p:oleObj>
              </mc:Choice>
              <mc:Fallback>
                <p:oleObj name="公式" r:id="rId29" imgW="373382" imgH="9912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5203974"/>
                        <a:ext cx="914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0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637951"/>
              </p:ext>
            </p:extLst>
          </p:nvPr>
        </p:nvGraphicFramePr>
        <p:xfrm>
          <a:off x="2051050" y="5778971"/>
          <a:ext cx="533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82912" imgH="60897" progId="Equation.DSMT4">
                  <p:embed/>
                </p:oleObj>
              </mc:Choice>
              <mc:Fallback>
                <p:oleObj name="Equation" r:id="rId31" imgW="182912" imgH="60897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778971"/>
                        <a:ext cx="533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0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542487"/>
              </p:ext>
            </p:extLst>
          </p:nvPr>
        </p:nvGraphicFramePr>
        <p:xfrm>
          <a:off x="4387850" y="573769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59143" imgH="99120" progId="Equation.3">
                  <p:embed/>
                </p:oleObj>
              </mc:Choice>
              <mc:Fallback>
                <p:oleObj name="公式" r:id="rId33" imgW="259143" imgH="9912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5737696"/>
                        <a:ext cx="685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103" name="Line 39"/>
          <p:cNvSpPr>
            <a:spLocks noChangeShapeType="1"/>
          </p:cNvSpPr>
          <p:nvPr/>
        </p:nvSpPr>
        <p:spPr bwMode="auto">
          <a:xfrm>
            <a:off x="2641600" y="5918671"/>
            <a:ext cx="158273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sp>
        <p:nvSpPr>
          <p:cNvPr id="472104" name="Line 40"/>
          <p:cNvSpPr>
            <a:spLocks noChangeShapeType="1"/>
          </p:cNvSpPr>
          <p:nvPr/>
        </p:nvSpPr>
        <p:spPr bwMode="auto">
          <a:xfrm>
            <a:off x="2668588" y="5389711"/>
            <a:ext cx="15557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graphicFrame>
        <p:nvGraphicFramePr>
          <p:cNvPr id="47210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702713"/>
              </p:ext>
            </p:extLst>
          </p:nvPr>
        </p:nvGraphicFramePr>
        <p:xfrm>
          <a:off x="2281238" y="5420072"/>
          <a:ext cx="24622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143038" imgH="144684" progId="Equation.DSMT4">
                  <p:embed/>
                </p:oleObj>
              </mc:Choice>
              <mc:Fallback>
                <p:oleObj name="Equation" r:id="rId35" imgW="1143038" imgH="144684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5420072"/>
                        <a:ext cx="24622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0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740032"/>
              </p:ext>
            </p:extLst>
          </p:nvPr>
        </p:nvGraphicFramePr>
        <p:xfrm>
          <a:off x="2251075" y="4514999"/>
          <a:ext cx="241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27705" imgH="144684" progId="Equation.DSMT4">
                  <p:embed/>
                </p:oleObj>
              </mc:Choice>
              <mc:Fallback>
                <p:oleObj name="Equation" r:id="rId37" imgW="1127705" imgH="144684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5" y="4514999"/>
                        <a:ext cx="241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107" name="Line 43"/>
          <p:cNvSpPr>
            <a:spLocks noChangeShapeType="1"/>
          </p:cNvSpPr>
          <p:nvPr/>
        </p:nvSpPr>
        <p:spPr bwMode="auto">
          <a:xfrm>
            <a:off x="2774950" y="4959499"/>
            <a:ext cx="14081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graphicFrame>
        <p:nvGraphicFramePr>
          <p:cNvPr id="47210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858298"/>
              </p:ext>
            </p:extLst>
          </p:nvPr>
        </p:nvGraphicFramePr>
        <p:xfrm>
          <a:off x="6110288" y="4462611"/>
          <a:ext cx="96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403832" imgH="114236" progId="Equation.DSMT4">
                  <p:embed/>
                </p:oleObj>
              </mc:Choice>
              <mc:Fallback>
                <p:oleObj name="Equation" r:id="rId39" imgW="403832" imgH="114236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4462611"/>
                        <a:ext cx="96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109" name="Line 45"/>
          <p:cNvSpPr>
            <a:spLocks noChangeShapeType="1"/>
          </p:cNvSpPr>
          <p:nvPr/>
        </p:nvSpPr>
        <p:spPr bwMode="auto">
          <a:xfrm>
            <a:off x="5870575" y="4916636"/>
            <a:ext cx="14081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sp>
        <p:nvSpPr>
          <p:cNvPr id="472110" name="Line 46"/>
          <p:cNvSpPr>
            <a:spLocks noChangeShapeType="1"/>
          </p:cNvSpPr>
          <p:nvPr/>
        </p:nvSpPr>
        <p:spPr bwMode="auto">
          <a:xfrm flipV="1">
            <a:off x="1501775" y="5070623"/>
            <a:ext cx="0" cy="113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sp>
        <p:nvSpPr>
          <p:cNvPr id="472111" name="Line 47"/>
          <p:cNvSpPr>
            <a:spLocks noChangeShapeType="1"/>
          </p:cNvSpPr>
          <p:nvPr/>
        </p:nvSpPr>
        <p:spPr bwMode="auto">
          <a:xfrm>
            <a:off x="1498600" y="6193308"/>
            <a:ext cx="6397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sp>
        <p:nvSpPr>
          <p:cNvPr id="472112" name="Line 48"/>
          <p:cNvSpPr>
            <a:spLocks noChangeShapeType="1"/>
          </p:cNvSpPr>
          <p:nvPr/>
        </p:nvSpPr>
        <p:spPr bwMode="auto">
          <a:xfrm flipV="1">
            <a:off x="7885113" y="5116660"/>
            <a:ext cx="0" cy="108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j-lt"/>
            </a:endParaRPr>
          </a:p>
        </p:txBody>
      </p:sp>
      <p:sp>
        <p:nvSpPr>
          <p:cNvPr id="472113" name="Text Box 49"/>
          <p:cNvSpPr txBox="1">
            <a:spLocks noChangeArrowheads="1"/>
          </p:cNvSpPr>
          <p:nvPr/>
        </p:nvSpPr>
        <p:spPr bwMode="auto">
          <a:xfrm>
            <a:off x="3162300" y="615024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+mj-lt"/>
                <a:cs typeface="Times New Roman" panose="02020603050405020304" pitchFamily="18" charset="0"/>
              </a:rPr>
              <a:t>一一对应</a:t>
            </a:r>
          </a:p>
        </p:txBody>
      </p:sp>
      <p:sp>
        <p:nvSpPr>
          <p:cNvPr id="472114" name="Arc 50"/>
          <p:cNvSpPr>
            <a:spLocks/>
          </p:cNvSpPr>
          <p:nvPr/>
        </p:nvSpPr>
        <p:spPr bwMode="auto">
          <a:xfrm rot="10800000">
            <a:off x="2195513" y="3963318"/>
            <a:ext cx="555625" cy="284162"/>
          </a:xfrm>
          <a:custGeom>
            <a:avLst/>
            <a:gdLst>
              <a:gd name="T0" fmla="*/ 0 w 21588"/>
              <a:gd name="T1" fmla="*/ 0 h 21600"/>
              <a:gd name="T2" fmla="*/ 2147483646 w 21588"/>
              <a:gd name="T3" fmla="*/ 2147483646 h 21600"/>
              <a:gd name="T4" fmla="*/ 0 w 2158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8" h="21600" fill="none" extrusionOk="0">
                <a:moveTo>
                  <a:pt x="-1" y="0"/>
                </a:moveTo>
                <a:cubicBezTo>
                  <a:pt x="11653" y="0"/>
                  <a:pt x="21206" y="9244"/>
                  <a:pt x="21588" y="20891"/>
                </a:cubicBezTo>
              </a:path>
              <a:path w="21588" h="21600" stroke="0" extrusionOk="0">
                <a:moveTo>
                  <a:pt x="-1" y="0"/>
                </a:moveTo>
                <a:cubicBezTo>
                  <a:pt x="11653" y="0"/>
                  <a:pt x="21206" y="9244"/>
                  <a:pt x="21588" y="2089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115" name="Arc 51"/>
          <p:cNvSpPr>
            <a:spLocks/>
          </p:cNvSpPr>
          <p:nvPr/>
        </p:nvSpPr>
        <p:spPr bwMode="auto">
          <a:xfrm flipV="1">
            <a:off x="2754313" y="3822030"/>
            <a:ext cx="979487" cy="42545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9"/>
                  <a:pt x="20980" y="16466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9"/>
                  <a:pt x="20980" y="1646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116" name="Arc 52"/>
          <p:cNvSpPr>
            <a:spLocks/>
          </p:cNvSpPr>
          <p:nvPr/>
        </p:nvSpPr>
        <p:spPr bwMode="auto">
          <a:xfrm rot="10800000" flipV="1">
            <a:off x="3719513" y="3260055"/>
            <a:ext cx="1622425" cy="873125"/>
          </a:xfrm>
          <a:custGeom>
            <a:avLst/>
            <a:gdLst>
              <a:gd name="T0" fmla="*/ 2147483646 w 21269"/>
              <a:gd name="T1" fmla="*/ 0 h 21095"/>
              <a:gd name="T2" fmla="*/ 2147483646 w 21269"/>
              <a:gd name="T3" fmla="*/ 2147483646 h 21095"/>
              <a:gd name="T4" fmla="*/ 0 w 21269"/>
              <a:gd name="T5" fmla="*/ 2147483646 h 210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69" h="21095" fill="none" extrusionOk="0">
                <a:moveTo>
                  <a:pt x="4642" y="-1"/>
                </a:moveTo>
                <a:cubicBezTo>
                  <a:pt x="13180" y="1878"/>
                  <a:pt x="19744" y="8719"/>
                  <a:pt x="21269" y="17328"/>
                </a:cubicBezTo>
              </a:path>
              <a:path w="21269" h="21095" stroke="0" extrusionOk="0">
                <a:moveTo>
                  <a:pt x="4642" y="-1"/>
                </a:moveTo>
                <a:cubicBezTo>
                  <a:pt x="13180" y="1878"/>
                  <a:pt x="19744" y="8719"/>
                  <a:pt x="21269" y="17328"/>
                </a:cubicBezTo>
                <a:lnTo>
                  <a:pt x="0" y="21095"/>
                </a:lnTo>
                <a:lnTo>
                  <a:pt x="4642" y="-1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11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175191"/>
              </p:ext>
            </p:extLst>
          </p:nvPr>
        </p:nvGraphicFramePr>
        <p:xfrm>
          <a:off x="2217738" y="3909343"/>
          <a:ext cx="533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82912" imgH="38007" progId="Equation.DSMT4">
                  <p:embed/>
                </p:oleObj>
              </mc:Choice>
              <mc:Fallback>
                <p:oleObj name="Equation" r:id="rId41" imgW="182912" imgH="38007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3909343"/>
                        <a:ext cx="533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118" name="Arc 54"/>
          <p:cNvSpPr>
            <a:spLocks/>
          </p:cNvSpPr>
          <p:nvPr/>
        </p:nvSpPr>
        <p:spPr bwMode="auto">
          <a:xfrm rot="10800000">
            <a:off x="3811588" y="1521743"/>
            <a:ext cx="1538287" cy="873125"/>
          </a:xfrm>
          <a:custGeom>
            <a:avLst/>
            <a:gdLst>
              <a:gd name="T0" fmla="*/ 2147483646 w 21269"/>
              <a:gd name="T1" fmla="*/ 0 h 21095"/>
              <a:gd name="T2" fmla="*/ 2147483646 w 21269"/>
              <a:gd name="T3" fmla="*/ 2147483646 h 21095"/>
              <a:gd name="T4" fmla="*/ 0 w 21269"/>
              <a:gd name="T5" fmla="*/ 2147483646 h 210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69" h="21095" fill="none" extrusionOk="0">
                <a:moveTo>
                  <a:pt x="4642" y="-1"/>
                </a:moveTo>
                <a:cubicBezTo>
                  <a:pt x="13180" y="1878"/>
                  <a:pt x="19744" y="8719"/>
                  <a:pt x="21269" y="17328"/>
                </a:cubicBezTo>
              </a:path>
              <a:path w="21269" h="21095" stroke="0" extrusionOk="0">
                <a:moveTo>
                  <a:pt x="4642" y="-1"/>
                </a:moveTo>
                <a:cubicBezTo>
                  <a:pt x="13180" y="1878"/>
                  <a:pt x="19744" y="8719"/>
                  <a:pt x="21269" y="17328"/>
                </a:cubicBezTo>
                <a:lnTo>
                  <a:pt x="0" y="21095"/>
                </a:lnTo>
                <a:lnTo>
                  <a:pt x="4642" y="-1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119" name="Arc 55"/>
          <p:cNvSpPr>
            <a:spLocks/>
          </p:cNvSpPr>
          <p:nvPr/>
        </p:nvSpPr>
        <p:spPr bwMode="auto">
          <a:xfrm>
            <a:off x="2830513" y="1343943"/>
            <a:ext cx="979487" cy="4699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9"/>
                  <a:pt x="20980" y="16466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9"/>
                  <a:pt x="20980" y="1646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120" name="Arc 56"/>
          <p:cNvSpPr>
            <a:spLocks/>
          </p:cNvSpPr>
          <p:nvPr/>
        </p:nvSpPr>
        <p:spPr bwMode="auto">
          <a:xfrm rot="10800000" flipV="1">
            <a:off x="2271713" y="1340768"/>
            <a:ext cx="555625" cy="252412"/>
          </a:xfrm>
          <a:custGeom>
            <a:avLst/>
            <a:gdLst>
              <a:gd name="T0" fmla="*/ 0 w 21588"/>
              <a:gd name="T1" fmla="*/ 0 h 21600"/>
              <a:gd name="T2" fmla="*/ 2147483646 w 21588"/>
              <a:gd name="T3" fmla="*/ 2147483646 h 21600"/>
              <a:gd name="T4" fmla="*/ 0 w 2158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8" h="21600" fill="none" extrusionOk="0">
                <a:moveTo>
                  <a:pt x="-1" y="0"/>
                </a:moveTo>
                <a:cubicBezTo>
                  <a:pt x="11653" y="0"/>
                  <a:pt x="21206" y="9244"/>
                  <a:pt x="21588" y="20891"/>
                </a:cubicBezTo>
              </a:path>
              <a:path w="21588" h="21600" stroke="0" extrusionOk="0">
                <a:moveTo>
                  <a:pt x="-1" y="0"/>
                </a:moveTo>
                <a:cubicBezTo>
                  <a:pt x="11653" y="0"/>
                  <a:pt x="21206" y="9244"/>
                  <a:pt x="21588" y="2089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12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393334"/>
              </p:ext>
            </p:extLst>
          </p:nvPr>
        </p:nvGraphicFramePr>
        <p:xfrm>
          <a:off x="1687513" y="1358230"/>
          <a:ext cx="533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82912" imgH="60897" progId="Equation.DSMT4">
                  <p:embed/>
                </p:oleObj>
              </mc:Choice>
              <mc:Fallback>
                <p:oleObj name="Equation" r:id="rId43" imgW="182912" imgH="60897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1358230"/>
                        <a:ext cx="533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4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7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47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7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7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47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47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47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47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47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47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47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8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47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500"/>
                                        <p:tgtEl>
                                          <p:spTgt spid="47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47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47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4" dur="500"/>
                                        <p:tgtEl>
                                          <p:spTgt spid="47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7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47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7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500"/>
                                        <p:tgtEl>
                                          <p:spTgt spid="47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5" dur="500"/>
                                        <p:tgtEl>
                                          <p:spTgt spid="47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9" dur="500"/>
                                        <p:tgtEl>
                                          <p:spTgt spid="47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8" dur="500"/>
                                        <p:tgtEl>
                                          <p:spTgt spid="47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47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3" dur="500"/>
                                        <p:tgtEl>
                                          <p:spTgt spid="47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8" dur="500"/>
                                        <p:tgtEl>
                                          <p:spTgt spid="47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2" dur="500"/>
                                        <p:tgtEl>
                                          <p:spTgt spid="47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6" dur="500"/>
                                        <p:tgtEl>
                                          <p:spTgt spid="47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6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0" dur="500"/>
                                        <p:tgtEl>
                                          <p:spTgt spid="47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47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8" dur="500"/>
                                        <p:tgtEl>
                                          <p:spTgt spid="47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3" dur="500"/>
                                        <p:tgtEl>
                                          <p:spTgt spid="47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8" dur="500"/>
                                        <p:tgtEl>
                                          <p:spTgt spid="47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2" dur="500"/>
                                        <p:tgtEl>
                                          <p:spTgt spid="47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7" dur="500"/>
                                        <p:tgtEl>
                                          <p:spTgt spid="47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1" dur="500"/>
                                        <p:tgtEl>
                                          <p:spTgt spid="47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6" dur="500"/>
                                        <p:tgtEl>
                                          <p:spTgt spid="47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72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72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72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72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47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6" grpId="0" animBg="1"/>
      <p:bldP spid="472068" grpId="0" animBg="1" autoUpdateAnimBg="0"/>
      <p:bldP spid="472079" grpId="0" animBg="1" autoUpdateAnimBg="0"/>
      <p:bldP spid="472088" grpId="0" autoUpdateAnimBg="0"/>
      <p:bldP spid="472089" grpId="0" animBg="1"/>
      <p:bldP spid="472096" grpId="0" autoUpdateAnimBg="0"/>
      <p:bldP spid="472097" grpId="0" autoUpdateAnimBg="0"/>
      <p:bldP spid="47211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6300192" y="1102518"/>
            <a:ext cx="2659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通常取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+mj-lt"/>
              </a:rPr>
              <a:t>=2/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</a:rPr>
              <a:t>T</a:t>
            </a:r>
            <a:endParaRPr kumimoji="1" lang="en-US" altLang="zh-CN" sz="2800" b="1" dirty="0">
              <a:latin typeface="+mj-lt"/>
            </a:endParaRPr>
          </a:p>
        </p:txBody>
      </p:sp>
      <p:graphicFrame>
        <p:nvGraphicFramePr>
          <p:cNvPr id="61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305400"/>
              </p:ext>
            </p:extLst>
          </p:nvPr>
        </p:nvGraphicFramePr>
        <p:xfrm>
          <a:off x="4099125" y="3532978"/>
          <a:ext cx="1981152" cy="103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431640" progId="Equation.DSMT4">
                  <p:embed/>
                </p:oleObj>
              </mc:Choice>
              <mc:Fallback>
                <p:oleObj name="Equation" r:id="rId2" imgW="82548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125" y="3532978"/>
                        <a:ext cx="1981152" cy="1035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Text Box 9"/>
          <p:cNvSpPr txBox="1">
            <a:spLocks noChangeArrowheads="1"/>
          </p:cNvSpPr>
          <p:nvPr/>
        </p:nvSpPr>
        <p:spPr bwMode="auto">
          <a:xfrm>
            <a:off x="1159374" y="2106537"/>
            <a:ext cx="8353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再将     平面通过标准变换关系映射到</a:t>
            </a:r>
            <a:r>
              <a:rPr kumimoji="1" lang="en-US" altLang="zh-CN" sz="2800" b="1" dirty="0">
                <a:solidFill>
                  <a:srgbClr val="000000"/>
                </a:solidFill>
                <a:latin typeface="+mj-lt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平面，</a:t>
            </a:r>
            <a:endParaRPr kumimoji="1" lang="zh-CN" altLang="en-US" sz="2800" b="1" dirty="0">
              <a:latin typeface="+mj-lt"/>
            </a:endParaRPr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836474"/>
              </p:ext>
            </p:extLst>
          </p:nvPr>
        </p:nvGraphicFramePr>
        <p:xfrm>
          <a:off x="1979712" y="2062379"/>
          <a:ext cx="365472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062379"/>
                        <a:ext cx="365472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827279"/>
              </p:ext>
            </p:extLst>
          </p:nvPr>
        </p:nvGraphicFramePr>
        <p:xfrm>
          <a:off x="1225550" y="838200"/>
          <a:ext cx="4699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419040" progId="Equation.DSMT4">
                  <p:embed/>
                </p:oleObj>
              </mc:Choice>
              <mc:Fallback>
                <p:oleObj name="Equation" r:id="rId6" imgW="187956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838200"/>
                        <a:ext cx="46990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225673"/>
              </p:ext>
            </p:extLst>
          </p:nvPr>
        </p:nvGraphicFramePr>
        <p:xfrm>
          <a:off x="2085676" y="2726620"/>
          <a:ext cx="12060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400" imgH="203040" progId="Equation.DSMT4">
                  <p:embed/>
                </p:oleObj>
              </mc:Choice>
              <mc:Fallback>
                <p:oleObj name="Equation" r:id="rId8" imgW="48240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676" y="2726620"/>
                        <a:ext cx="1206000" cy="50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179659" y="2765649"/>
            <a:ext cx="3536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/>
              </a:rPr>
              <a:t>即令               ，得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855836"/>
              </p:ext>
            </p:extLst>
          </p:nvPr>
        </p:nvGraphicFramePr>
        <p:xfrm>
          <a:off x="4537868" y="5220003"/>
          <a:ext cx="27733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419040" progId="Equation.DSMT4">
                  <p:embed/>
                </p:oleObj>
              </mc:Choice>
              <mc:Fallback>
                <p:oleObj name="Equation" r:id="rId10" imgW="1155600" imgH="419040" progId="Equation.DSMT4">
                  <p:embed/>
                  <p:pic>
                    <p:nvPicPr>
                      <p:cNvPr id="63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868" y="5220003"/>
                        <a:ext cx="27733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123126" y="3650562"/>
            <a:ext cx="2945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i="1" dirty="0">
                <a:latin typeface="Times New Roman"/>
              </a:rPr>
              <a:t> s</a:t>
            </a:r>
            <a:r>
              <a:rPr kumimoji="1" lang="zh-CN" altLang="en-US" sz="2800" b="1" dirty="0">
                <a:latin typeface="Times New Roman"/>
              </a:rPr>
              <a:t>平面与</a:t>
            </a:r>
            <a:r>
              <a:rPr kumimoji="1" lang="en-US" altLang="zh-CN" sz="2800" b="1" i="1" dirty="0">
                <a:latin typeface="Times New Roman"/>
              </a:rPr>
              <a:t>z</a:t>
            </a:r>
            <a:r>
              <a:rPr kumimoji="1" lang="zh-CN" altLang="en-US" sz="2800" b="1" dirty="0">
                <a:latin typeface="Times New Roman"/>
              </a:rPr>
              <a:t>平面的</a:t>
            </a:r>
            <a:endParaRPr kumimoji="1" lang="en-US" altLang="zh-CN" sz="2800" b="1" dirty="0">
              <a:latin typeface="Times New Roman"/>
            </a:endParaRPr>
          </a:p>
          <a:p>
            <a:r>
              <a:rPr kumimoji="1" lang="zh-CN" altLang="en-US" sz="2800" b="1" dirty="0">
                <a:latin typeface="Times New Roman"/>
              </a:rPr>
              <a:t>单值映射关系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34970" y="378408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66"/>
                </a:solidFill>
                <a:latin typeface="Times New Roman"/>
              </a:rPr>
              <a:t>★</a:t>
            </a:r>
            <a:endParaRPr lang="zh-CN" altLang="en-US" dirty="0"/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815653"/>
              </p:ext>
            </p:extLst>
          </p:nvPr>
        </p:nvGraphicFramePr>
        <p:xfrm>
          <a:off x="638621" y="5135989"/>
          <a:ext cx="341312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431640" progId="Equation.DSMT4">
                  <p:embed/>
                </p:oleObj>
              </mc:Choice>
              <mc:Fallback>
                <p:oleObj name="Equation" r:id="rId12" imgW="1422360" imgH="431640" progId="Equation.DSMT4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21" y="5135989"/>
                        <a:ext cx="341312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778010"/>
              </p:ext>
            </p:extLst>
          </p:nvPr>
        </p:nvGraphicFramePr>
        <p:xfrm>
          <a:off x="1702456" y="2815880"/>
          <a:ext cx="3630613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558720" progId="Equation.DSMT4">
                  <p:embed/>
                </p:oleObj>
              </mc:Choice>
              <mc:Fallback>
                <p:oleObj name="Equation" r:id="rId2" imgW="1650960" imgH="558720" progId="Equation.DSMT4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56" y="2815880"/>
                        <a:ext cx="3630613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875619" y="1022703"/>
            <a:ext cx="8160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例：   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40319" y="1736909"/>
            <a:ext cx="5928226" cy="1031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采样周期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</a:rPr>
              <a:t>=2,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试用双线性变换法将它</a:t>
            </a:r>
            <a:endParaRPr lang="en-US" altLang="zh-CN" sz="2800" b="1" dirty="0">
              <a:solidFill>
                <a:srgbClr val="000000"/>
              </a:solidFill>
              <a:latin typeface="+mj-lt"/>
            </a:endParaRPr>
          </a:p>
          <a:p>
            <a:pPr lvl="0" eaLnBrk="1" hangingPunct="1">
              <a:spcBef>
                <a:spcPts val="6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转变为数字系统函数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7739" y="1033572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/>
              </a:rPr>
              <a:t>设有一模拟滤波器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224837"/>
              </p:ext>
            </p:extLst>
          </p:nvPr>
        </p:nvGraphicFramePr>
        <p:xfrm>
          <a:off x="4711700" y="806450"/>
          <a:ext cx="31083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93480" progId="Equation.DSMT4">
                  <p:embed/>
                </p:oleObj>
              </mc:Choice>
              <mc:Fallback>
                <p:oleObj name="Equation" r:id="rId4" imgW="1295280" imgH="393480" progId="Equation.DSMT4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806450"/>
                        <a:ext cx="31083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/>
          <p:nvPr/>
        </p:nvSpPr>
        <p:spPr>
          <a:xfrm>
            <a:off x="857671" y="306896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解：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57300"/>
              </p:ext>
            </p:extLst>
          </p:nvPr>
        </p:nvGraphicFramePr>
        <p:xfrm>
          <a:off x="2497950" y="5589240"/>
          <a:ext cx="2653992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431640" progId="Equation.DSMT4">
                  <p:embed/>
                </p:oleObj>
              </mc:Choice>
              <mc:Fallback>
                <p:oleObj name="Equation" r:id="rId6" imgW="1206360" imgH="431640" progId="Equation.DSMT4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950" y="5589240"/>
                        <a:ext cx="2653992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962601"/>
              </p:ext>
            </p:extLst>
          </p:nvPr>
        </p:nvGraphicFramePr>
        <p:xfrm>
          <a:off x="2483768" y="4092525"/>
          <a:ext cx="3603600" cy="1340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609480" progId="Equation.DSMT4">
                  <p:embed/>
                </p:oleObj>
              </mc:Choice>
              <mc:Fallback>
                <p:oleObj name="Equation" r:id="rId8" imgW="1638000" imgH="609480" progId="Equation.DSMT4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092525"/>
                        <a:ext cx="3603600" cy="1340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43140" y="1033572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66"/>
                </a:solidFill>
                <a:latin typeface="Times New Roman"/>
              </a:rPr>
              <a:t>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26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-2590800" y="6540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611560" y="2261722"/>
            <a:ext cx="1368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+mj-lt"/>
              </a:rPr>
              <a:t>(1)</a:t>
            </a: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考虑</a:t>
            </a:r>
            <a:endParaRPr kumimoji="1" lang="en-US" altLang="zh-CN" sz="2800" dirty="0">
              <a:latin typeface="宋体" panose="02010600030101010101" pitchFamily="2" charset="-122"/>
            </a:endParaRPr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72869"/>
              </p:ext>
            </p:extLst>
          </p:nvPr>
        </p:nvGraphicFramePr>
        <p:xfrm>
          <a:off x="1112093" y="3168073"/>
          <a:ext cx="21637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419040" progId="Equation.DSMT4">
                  <p:embed/>
                </p:oleObj>
              </mc:Choice>
              <mc:Fallback>
                <p:oleObj name="Equation" r:id="rId2" imgW="90144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093" y="3168073"/>
                        <a:ext cx="216376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043608" y="836712"/>
            <a:ext cx="77768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双线性变换是否满足从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平面到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+mj-lt"/>
              </a:rPr>
              <a:t>z</a:t>
            </a:r>
            <a:r>
              <a:rPr kumimoji="1" lang="zh-CN" altLang="en-US" sz="2800" b="1" dirty="0">
                <a:solidFill>
                  <a:srgbClr val="000000"/>
                </a:solidFill>
                <a:latin typeface="+mj-lt"/>
              </a:rPr>
              <a:t>平面映射变换的两个基本要求</a:t>
            </a:r>
            <a:r>
              <a:rPr kumimoji="1" lang="en-US" altLang="zh-CN" sz="2800" b="1" dirty="0">
                <a:solidFill>
                  <a:srgbClr val="000000"/>
                </a:solidFill>
                <a:latin typeface="+mj-lt"/>
              </a:rPr>
              <a:t>?</a:t>
            </a:r>
            <a:endParaRPr kumimoji="1" lang="zh-CN" altLang="en-US" sz="2800" b="1" dirty="0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212598"/>
              </p:ext>
            </p:extLst>
          </p:nvPr>
        </p:nvGraphicFramePr>
        <p:xfrm>
          <a:off x="1914227" y="2248253"/>
          <a:ext cx="12176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215640" progId="Equation.DSMT4">
                  <p:embed/>
                </p:oleObj>
              </mc:Choice>
              <mc:Fallback>
                <p:oleObj name="Equation" r:id="rId4" imgW="507960" imgH="215640" progId="Equation.DSMT4">
                  <p:embed/>
                  <p:pic>
                    <p:nvPicPr>
                      <p:cNvPr id="4403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227" y="2248253"/>
                        <a:ext cx="12176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100454"/>
              </p:ext>
            </p:extLst>
          </p:nvPr>
        </p:nvGraphicFramePr>
        <p:xfrm>
          <a:off x="3980731" y="1988399"/>
          <a:ext cx="210343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431640" progId="Equation.DSMT4">
                  <p:embed/>
                </p:oleObj>
              </mc:Choice>
              <mc:Fallback>
                <p:oleObj name="Equation" r:id="rId6" imgW="876240" imgH="431640" progId="Equation.DSMT4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731" y="1988399"/>
                        <a:ext cx="2103437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131840" y="2242558"/>
            <a:ext cx="1008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代入</a:t>
            </a:r>
            <a:endParaRPr kumimoji="1"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49075" y="2199542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/>
              </a:rPr>
              <a:t>得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5642084"/>
            <a:ext cx="6768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</a:rPr>
              <a:t>平面的虚轴映射到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</a:rPr>
              <a:t>z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</a:rPr>
              <a:t>平面的单位圆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751514"/>
              </p:ext>
            </p:extLst>
          </p:nvPr>
        </p:nvGraphicFramePr>
        <p:xfrm>
          <a:off x="3275856" y="3154682"/>
          <a:ext cx="3841200" cy="111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444240" progId="Equation.DSMT4">
                  <p:embed/>
                </p:oleObj>
              </mc:Choice>
              <mc:Fallback>
                <p:oleObj name="Equation" r:id="rId8" imgW="1536480" imgH="44424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154682"/>
                        <a:ext cx="3841200" cy="111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63487"/>
              </p:ext>
            </p:extLst>
          </p:nvPr>
        </p:nvGraphicFramePr>
        <p:xfrm>
          <a:off x="1331640" y="4374122"/>
          <a:ext cx="53355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444240" progId="Equation.DSMT4">
                  <p:embed/>
                </p:oleObj>
              </mc:Choice>
              <mc:Fallback>
                <p:oleObj name="Equation" r:id="rId10" imgW="2222280" imgH="444240" progId="Equation.DSMT4">
                  <p:embed/>
                  <p:pic>
                    <p:nvPicPr>
                      <p:cNvPr id="645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374122"/>
                        <a:ext cx="53355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0BFA043E-C1BD-5DC3-5327-AE0AA29BB8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331512"/>
              </p:ext>
            </p:extLst>
          </p:nvPr>
        </p:nvGraphicFramePr>
        <p:xfrm>
          <a:off x="6594417" y="4993065"/>
          <a:ext cx="22240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000" imgH="393480" progId="Equation.DSMT4">
                  <p:embed/>
                </p:oleObj>
              </mc:Choice>
              <mc:Fallback>
                <p:oleObj name="Equation" r:id="rId12" imgW="927000" imgH="393480" progId="Equation.DSMT4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17" y="4993065"/>
                        <a:ext cx="22240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68960"/>
            <a:ext cx="4392613" cy="247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1511300" y="6021710"/>
            <a:ext cx="44422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图</a:t>
            </a:r>
            <a:r>
              <a:rPr lang="en-US" altLang="zh-CN" sz="2400" b="1" dirty="0"/>
              <a:t>4.16   </a:t>
            </a:r>
            <a:r>
              <a:rPr lang="zh-CN" altLang="en-US" sz="2400" b="1" dirty="0"/>
              <a:t>双线性变换的频率关系</a:t>
            </a:r>
            <a:endParaRPr lang="en-US" altLang="zh-CN" sz="2400" b="1" dirty="0"/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386026"/>
              </p:ext>
            </p:extLst>
          </p:nvPr>
        </p:nvGraphicFramePr>
        <p:xfrm>
          <a:off x="1639359" y="970493"/>
          <a:ext cx="22240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393480" progId="Equation.DSMT4">
                  <p:embed/>
                </p:oleObj>
              </mc:Choice>
              <mc:Fallback>
                <p:oleObj name="Equation" r:id="rId3" imgW="927000" imgH="393480" progId="Equation.DSMT4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359" y="970493"/>
                        <a:ext cx="22240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48874" y="2052137"/>
            <a:ext cx="41969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与</a:t>
            </a: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904712"/>
              </p:ext>
            </p:extLst>
          </p:nvPr>
        </p:nvGraphicFramePr>
        <p:xfrm>
          <a:off x="2627784" y="2169899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39680" progId="Equation.DSMT4">
                  <p:embed/>
                </p:oleObj>
              </mc:Choice>
              <mc:Fallback>
                <p:oleObj name="Equation" r:id="rId5" imgW="152280" imgH="13968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169899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983043"/>
              </p:ext>
            </p:extLst>
          </p:nvPr>
        </p:nvGraphicFramePr>
        <p:xfrm>
          <a:off x="1695447" y="210889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47" y="210889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584982"/>
              </p:ext>
            </p:extLst>
          </p:nvPr>
        </p:nvGraphicFramePr>
        <p:xfrm>
          <a:off x="1316189" y="986593"/>
          <a:ext cx="1635049" cy="467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03112" progId="Equation.DSMT4">
                  <p:embed/>
                </p:oleObj>
              </mc:Choice>
              <mc:Fallback>
                <p:oleObj name="Equation" r:id="rId2" imgW="710891" imgH="20311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89" y="986593"/>
                        <a:ext cx="1635049" cy="467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517753"/>
              </p:ext>
            </p:extLst>
          </p:nvPr>
        </p:nvGraphicFramePr>
        <p:xfrm>
          <a:off x="1967400" y="3587349"/>
          <a:ext cx="9763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03040" progId="Equation.DSMT4">
                  <p:embed/>
                </p:oleObj>
              </mc:Choice>
              <mc:Fallback>
                <p:oleObj name="Equation" r:id="rId4" imgW="40608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400" y="3587349"/>
                        <a:ext cx="976312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142480"/>
              </p:ext>
            </p:extLst>
          </p:nvPr>
        </p:nvGraphicFramePr>
        <p:xfrm>
          <a:off x="383224" y="3606498"/>
          <a:ext cx="913608" cy="42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670" imgH="177646" progId="Equation.DSMT4">
                  <p:embed/>
                </p:oleObj>
              </mc:Choice>
              <mc:Fallback>
                <p:oleObj name="Equation" r:id="rId6" imgW="380670" imgH="17764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4" y="3606498"/>
                        <a:ext cx="913608" cy="42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 Box 7"/>
          <p:cNvSpPr txBox="1">
            <a:spLocks noChangeArrowheads="1"/>
          </p:cNvSpPr>
          <p:nvPr/>
        </p:nvSpPr>
        <p:spPr bwMode="auto">
          <a:xfrm>
            <a:off x="1247320" y="3573161"/>
            <a:ext cx="57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6554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855567"/>
              </p:ext>
            </p:extLst>
          </p:nvPr>
        </p:nvGraphicFramePr>
        <p:xfrm>
          <a:off x="359052" y="5709683"/>
          <a:ext cx="913608" cy="42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670" imgH="177646" progId="Equation.DSMT4">
                  <p:embed/>
                </p:oleObj>
              </mc:Choice>
              <mc:Fallback>
                <p:oleObj name="Equation" r:id="rId8" imgW="380670" imgH="1776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52" y="5709683"/>
                        <a:ext cx="913608" cy="42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979932"/>
              </p:ext>
            </p:extLst>
          </p:nvPr>
        </p:nvGraphicFramePr>
        <p:xfrm>
          <a:off x="1930528" y="5709683"/>
          <a:ext cx="974515" cy="487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48" imgH="203024" progId="Equation.DSMT4">
                  <p:embed/>
                </p:oleObj>
              </mc:Choice>
              <mc:Fallback>
                <p:oleObj name="Equation" r:id="rId10" imgW="406048" imgH="20302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528" y="5709683"/>
                        <a:ext cx="974515" cy="487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5" name="Text Box 7"/>
          <p:cNvSpPr txBox="1">
            <a:spLocks noChangeArrowheads="1"/>
          </p:cNvSpPr>
          <p:nvPr/>
        </p:nvSpPr>
        <p:spPr bwMode="auto">
          <a:xfrm>
            <a:off x="1210448" y="5696983"/>
            <a:ext cx="576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065397"/>
              </p:ext>
            </p:extLst>
          </p:nvPr>
        </p:nvGraphicFramePr>
        <p:xfrm>
          <a:off x="5148064" y="1219841"/>
          <a:ext cx="3653748" cy="2079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39880" imgH="990360" progId="Equation.DSMT4">
                  <p:embed/>
                </p:oleObj>
              </mc:Choice>
              <mc:Fallback>
                <p:oleObj name="Equation" r:id="rId12" imgW="1739880" imgH="990360" progId="Equation.DSMT4">
                  <p:embed/>
                  <p:pic>
                    <p:nvPicPr>
                      <p:cNvPr id="65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219841"/>
                        <a:ext cx="3653748" cy="2079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83568" y="958562"/>
            <a:ext cx="1368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+mj-lt"/>
              </a:rPr>
              <a:t>(2)</a:t>
            </a:r>
            <a:endParaRPr kumimoji="1" lang="en-US" altLang="zh-CN" sz="2800" dirty="0">
              <a:latin typeface="宋体" panose="02010600030101010101" pitchFamily="2" charset="-122"/>
            </a:endParaRP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06109"/>
              </p:ext>
            </p:extLst>
          </p:nvPr>
        </p:nvGraphicFramePr>
        <p:xfrm>
          <a:off x="368232" y="1421639"/>
          <a:ext cx="4546080" cy="167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73040" imgH="838080" progId="Equation.DSMT4">
                  <p:embed/>
                </p:oleObj>
              </mc:Choice>
              <mc:Fallback>
                <p:oleObj name="Equation" r:id="rId14" imgW="2273040" imgH="83808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32" y="1421639"/>
                        <a:ext cx="4546080" cy="1676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317657" y="3539132"/>
            <a:ext cx="55980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左半平面映射在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z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平面的单位圆内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88188" y="5661248"/>
            <a:ext cx="5532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s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右半平面映射在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z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平面的单位圆外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1580" y="4173096"/>
            <a:ext cx="81108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因果稳定的</a:t>
            </a:r>
            <a:r>
              <a:rPr lang="zh-CN" altLang="en-US" sz="2800" b="1" dirty="0">
                <a:latin typeface="+mj-lt"/>
              </a:rPr>
              <a:t>模拟滤波器经过双线性变换后，得到的</a:t>
            </a:r>
            <a:r>
              <a:rPr lang="zh-CN" altLang="en-US" sz="2800" b="1" dirty="0"/>
              <a:t>数字滤波器</a:t>
            </a:r>
            <a:r>
              <a:rPr lang="en-US" altLang="zh-CN" sz="2800" b="1" i="1" dirty="0">
                <a:latin typeface="+mj-lt"/>
              </a:rPr>
              <a:t>H</a:t>
            </a:r>
            <a:r>
              <a:rPr lang="en-US" altLang="zh-CN" sz="2800" b="1" dirty="0">
                <a:latin typeface="+mj-lt"/>
              </a:rPr>
              <a:t>(</a:t>
            </a:r>
            <a:r>
              <a:rPr lang="en-US" altLang="zh-CN" sz="2800" b="1" i="1" dirty="0">
                <a:latin typeface="+mj-lt"/>
              </a:rPr>
              <a:t>z</a:t>
            </a:r>
            <a:r>
              <a:rPr lang="en-US" altLang="zh-CN" sz="2800" b="1" dirty="0">
                <a:latin typeface="+mj-lt"/>
              </a:rPr>
              <a:t>)</a:t>
            </a:r>
            <a:r>
              <a:rPr lang="zh-CN" altLang="en-US" sz="2800" b="1" dirty="0">
                <a:latin typeface="+mj-lt"/>
              </a:rPr>
              <a:t>也是因果稳定的。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827584" y="1412776"/>
            <a:ext cx="41312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双线性变换法的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811105" y="2155658"/>
            <a:ext cx="7521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平面与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平面是单值的一一对应关系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1231266" y="4825901"/>
            <a:ext cx="30684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    成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71343" y="4014688"/>
            <a:ext cx="41312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双线性变换法的</a:t>
            </a: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缺点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777767" y="2854158"/>
            <a:ext cx="3520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不会产生混叠现象； 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89468"/>
              </p:ext>
            </p:extLst>
          </p:nvPr>
        </p:nvGraphicFramePr>
        <p:xfrm>
          <a:off x="5418030" y="4644678"/>
          <a:ext cx="22240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030" y="4644678"/>
                        <a:ext cx="22240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248043"/>
              </p:ext>
            </p:extLst>
          </p:nvPr>
        </p:nvGraphicFramePr>
        <p:xfrm>
          <a:off x="1686487" y="4945583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39680" progId="Equation.DSMT4">
                  <p:embed/>
                </p:oleObj>
              </mc:Choice>
              <mc:Fallback>
                <p:oleObj name="Equation" r:id="rId4" imgW="152280" imgH="13968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487" y="4945583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827006"/>
              </p:ext>
            </p:extLst>
          </p:nvPr>
        </p:nvGraphicFramePr>
        <p:xfrm>
          <a:off x="877947" y="489795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64880" progId="Equation.DSMT4">
                  <p:embed/>
                </p:oleObj>
              </mc:Choice>
              <mc:Fallback>
                <p:oleObj name="Equation" r:id="rId6" imgW="164880" imgH="164880" progId="Equation.DSMT4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947" y="489795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683568" y="908720"/>
            <a:ext cx="8208912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成非线性关系，导致：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数字滤波器的幅频响应相对于模拟滤波器的幅频响应有畸变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使数字滤波器与模拟滤波器在响应与频率的对应关系上发生畸变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例如，一个模拟微分器，它的幅度与频率是直线关系，但通过双线性变换后，就不可能得到数字微分器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9635" name="Text Box 4"/>
          <p:cNvSpPr txBox="1">
            <a:spLocks noChangeArrowheads="1"/>
          </p:cNvSpPr>
          <p:nvPr/>
        </p:nvSpPr>
        <p:spPr bwMode="auto">
          <a:xfrm>
            <a:off x="702268" y="4131077"/>
            <a:ext cx="79928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线性相位模拟滤波器经双线性变换后，得到的数字滤波器为非线性相位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702740" y="5212357"/>
            <a:ext cx="78296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要求模拟滤波器的幅频响应必须是分段恒定的，故双线性变换只能用于设计低通、高通、带通、带阻等选频滤波器。</a:t>
            </a: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idx="1"/>
          </p:nvPr>
        </p:nvSpPr>
        <p:spPr>
          <a:xfrm>
            <a:off x="395536" y="1124744"/>
            <a:ext cx="8280920" cy="4464496"/>
          </a:xfrm>
        </p:spPr>
        <p:txBody>
          <a:bodyPr/>
          <a:lstStyle/>
          <a:p>
            <a:pPr marL="0" indent="720000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虽然双线性变换有这样的缺点，但它目前仍是使用得最普遍、最有成效的一种设计工具。这是因为大多数滤波器都具有</a:t>
            </a:r>
            <a:r>
              <a:rPr lang="zh-CN" altLang="en-US" sz="2800" b="1" dirty="0">
                <a:solidFill>
                  <a:srgbClr val="CC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分段常数的频响特性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低通、高通、带通和带阻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等，通过双线性变换后，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其幅频特性仍保持分段常数的特性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 typeface="Times New Roman" panose="02020603050405020304" pitchFamily="18" charset="0"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各个分段的临界频率点发生了非线性变化，即畸变。这种频率点的畸变可以通过</a:t>
            </a:r>
            <a:r>
              <a:rPr kumimoji="1"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预畸变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来加以校正。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4"/>
          <p:cNvSpPr>
            <a:spLocks noChangeArrowheads="1"/>
          </p:cNvSpPr>
          <p:nvPr/>
        </p:nvSpPr>
        <p:spPr bwMode="auto">
          <a:xfrm>
            <a:off x="44213" y="5083394"/>
            <a:ext cx="56986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4.17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双线性变换时频率的预畸</a:t>
            </a:r>
          </a:p>
        </p:txBody>
      </p:sp>
      <p:sp>
        <p:nvSpPr>
          <p:cNvPr id="71684" name="Rectangle 6"/>
          <p:cNvSpPr>
            <a:spLocks noChangeArrowheads="1"/>
          </p:cNvSpPr>
          <p:nvPr/>
        </p:nvSpPr>
        <p:spPr bwMode="auto">
          <a:xfrm>
            <a:off x="6033368" y="1635045"/>
            <a:ext cx="1498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6600CC"/>
                </a:solidFill>
                <a:latin typeface="宋体" panose="02010600030101010101" pitchFamily="2" charset="-122"/>
              </a:rPr>
              <a:t>预畸变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71686" name="Rectangle 9"/>
          <p:cNvSpPr>
            <a:spLocks noChangeArrowheads="1"/>
          </p:cNvSpPr>
          <p:nvPr/>
        </p:nvSpPr>
        <p:spPr bwMode="auto">
          <a:xfrm>
            <a:off x="6047656" y="3140968"/>
            <a:ext cx="2968625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将模拟滤波器的临界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频率事先加以畸变，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然后通过双线性变换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正好映射到所需要的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频率上。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124744"/>
            <a:ext cx="5334000" cy="3909060"/>
          </a:xfrm>
          <a:prstGeom prst="rect">
            <a:avLst/>
          </a:prstGeom>
        </p:spPr>
      </p:pic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59432"/>
              </p:ext>
            </p:extLst>
          </p:nvPr>
        </p:nvGraphicFramePr>
        <p:xfrm>
          <a:off x="6119664" y="2204864"/>
          <a:ext cx="22240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393480" progId="Equation.DSMT4">
                  <p:embed/>
                </p:oleObj>
              </mc:Choice>
              <mc:Fallback>
                <p:oleObj name="Equation" r:id="rId3" imgW="927000" imgH="393480" progId="Equation.DSMT4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664" y="2204864"/>
                        <a:ext cx="22240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39552" y="5733256"/>
            <a:ext cx="828040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注意：预畸不能在整个频率段消除非线性畸变，</a:t>
            </a:r>
            <a:endParaRPr kumimoji="1"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只能消除滤波器在特征频率点的畸变</a:t>
            </a:r>
          </a:p>
        </p:txBody>
      </p:sp>
      <p:sp>
        <p:nvSpPr>
          <p:cNvPr id="9" name="矩形 8"/>
          <p:cNvSpPr/>
          <p:nvPr/>
        </p:nvSpPr>
        <p:spPr>
          <a:xfrm>
            <a:off x="5574322" y="163570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66"/>
                </a:solidFill>
                <a:latin typeface="Times New Roman"/>
              </a:rPr>
              <a:t>★</a:t>
            </a:r>
            <a:endParaRPr lang="zh-CN" altLang="en-US" dirty="0"/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4.3.2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 双线性变换法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908720"/>
            <a:ext cx="3101801" cy="842541"/>
          </a:xfrm>
        </p:spPr>
        <p:txBody>
          <a:bodyPr/>
          <a:lstStyle/>
          <a:p>
            <a:pPr eaLnBrk="1" hangingPunct="1"/>
            <a:r>
              <a:rPr lang="en-US" altLang="zh-CN" sz="3600" b="1" i="0">
                <a:solidFill>
                  <a:srgbClr val="000000"/>
                </a:solidFill>
                <a:ea typeface="宋体" panose="02010600030101010101" pitchFamily="2" charset="-122"/>
              </a:rPr>
              <a:t>4.3</a:t>
            </a:r>
            <a:r>
              <a:rPr lang="zh-CN" altLang="en-US" sz="3600" b="1" i="0">
                <a:solidFill>
                  <a:srgbClr val="000000"/>
                </a:solidFill>
                <a:ea typeface="宋体" panose="02010600030101010101" pitchFamily="2" charset="-122"/>
              </a:rPr>
              <a:t>要点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751261"/>
            <a:ext cx="7920880" cy="2901875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低通、高通、带通和带阻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DF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的幅频特性</a:t>
            </a:r>
          </a:p>
          <a:p>
            <a:pPr eaLnBrk="1" hangingPunct="1"/>
            <a:r>
              <a:rPr lang="en-US" altLang="zh-CN" b="1" i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平面到</a:t>
            </a:r>
            <a:r>
              <a:rPr lang="en-US" altLang="zh-CN" b="1" i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平面变换的两条基本要求</a:t>
            </a:r>
            <a:endParaRPr lang="en-US" altLang="zh-CN" b="1" dirty="0">
              <a:solidFill>
                <a:srgbClr val="000000"/>
              </a:solidFill>
              <a:latin typeface="+mj-lt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脉冲响应不变法</a:t>
            </a: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双线性变换法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1933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4.3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根据模拟滤波器设计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IIR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滤波器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5"/>
          <p:cNvSpPr txBox="1">
            <a:spLocks noChangeArrowheads="1"/>
          </p:cNvSpPr>
          <p:nvPr/>
        </p:nvSpPr>
        <p:spPr bwMode="auto">
          <a:xfrm>
            <a:off x="116805" y="3867274"/>
            <a:ext cx="1826619" cy="830997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模拟归一化低通原型</a:t>
            </a:r>
          </a:p>
        </p:txBody>
      </p:sp>
      <p:sp>
        <p:nvSpPr>
          <p:cNvPr id="74756" name="Text Box 6"/>
          <p:cNvSpPr txBox="1">
            <a:spLocks noChangeArrowheads="1"/>
          </p:cNvSpPr>
          <p:nvPr/>
        </p:nvSpPr>
        <p:spPr bwMode="auto">
          <a:xfrm>
            <a:off x="3169567" y="3718049"/>
            <a:ext cx="1828800" cy="121285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模拟低通、高通、带通、带阻</a:t>
            </a:r>
          </a:p>
        </p:txBody>
      </p:sp>
      <p:sp>
        <p:nvSpPr>
          <p:cNvPr id="74757" name="Text Box 7"/>
          <p:cNvSpPr txBox="1">
            <a:spLocks noChangeArrowheads="1"/>
          </p:cNvSpPr>
          <p:nvPr/>
        </p:nvSpPr>
        <p:spPr bwMode="auto">
          <a:xfrm>
            <a:off x="7092280" y="3645024"/>
            <a:ext cx="1908175" cy="121285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数字低通、高通、带通、带阻</a:t>
            </a:r>
          </a:p>
        </p:txBody>
      </p:sp>
      <p:sp>
        <p:nvSpPr>
          <p:cNvPr id="74758" name="Line 8"/>
          <p:cNvSpPr>
            <a:spLocks noChangeShapeType="1"/>
          </p:cNvSpPr>
          <p:nvPr/>
        </p:nvSpPr>
        <p:spPr bwMode="auto">
          <a:xfrm>
            <a:off x="1950367" y="4326062"/>
            <a:ext cx="121920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4759" name="Line 9"/>
          <p:cNvSpPr>
            <a:spLocks noChangeShapeType="1"/>
          </p:cNvSpPr>
          <p:nvPr/>
        </p:nvSpPr>
        <p:spPr bwMode="auto">
          <a:xfrm>
            <a:off x="4998367" y="4249862"/>
            <a:ext cx="205740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4760" name="Text Box 10"/>
          <p:cNvSpPr txBox="1">
            <a:spLocks noChangeArrowheads="1"/>
          </p:cNvSpPr>
          <p:nvPr/>
        </p:nvSpPr>
        <p:spPr bwMode="auto">
          <a:xfrm>
            <a:off x="1945605" y="3618037"/>
            <a:ext cx="129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solidFill>
                  <a:srgbClr val="800000"/>
                </a:solidFill>
                <a:latin typeface="宋体" panose="02010600030101010101" pitchFamily="2" charset="-122"/>
              </a:rPr>
              <a:t>模拟</a:t>
            </a:r>
            <a:r>
              <a:rPr kumimoji="1" lang="en-US" altLang="zh-CN" sz="1800" b="1" dirty="0">
                <a:solidFill>
                  <a:srgbClr val="800000"/>
                </a:solidFill>
                <a:latin typeface="宋体" panose="02010600030101010101" pitchFamily="2" charset="-122"/>
              </a:rPr>
              <a:t>-</a:t>
            </a:r>
            <a:r>
              <a:rPr kumimoji="1" lang="zh-CN" altLang="en-US" sz="1800" b="1" dirty="0">
                <a:solidFill>
                  <a:srgbClr val="800000"/>
                </a:solidFill>
                <a:latin typeface="宋体" panose="02010600030101010101" pitchFamily="2" charset="-122"/>
              </a:rPr>
              <a:t>模拟频率变换</a:t>
            </a:r>
          </a:p>
        </p:txBody>
      </p:sp>
      <p:sp>
        <p:nvSpPr>
          <p:cNvPr id="74763" name="Line 13"/>
          <p:cNvSpPr>
            <a:spLocks noChangeShapeType="1"/>
          </p:cNvSpPr>
          <p:nvPr/>
        </p:nvSpPr>
        <p:spPr bwMode="auto">
          <a:xfrm>
            <a:off x="1043608" y="4697537"/>
            <a:ext cx="0" cy="122396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4764" name="Line 14"/>
          <p:cNvSpPr>
            <a:spLocks noChangeShapeType="1"/>
          </p:cNvSpPr>
          <p:nvPr/>
        </p:nvSpPr>
        <p:spPr bwMode="auto">
          <a:xfrm>
            <a:off x="1043609" y="5921499"/>
            <a:ext cx="6805908" cy="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4765" name="Line 15"/>
          <p:cNvSpPr>
            <a:spLocks noChangeShapeType="1"/>
          </p:cNvSpPr>
          <p:nvPr/>
        </p:nvSpPr>
        <p:spPr bwMode="auto">
          <a:xfrm flipV="1">
            <a:off x="7849517" y="4841999"/>
            <a:ext cx="0" cy="107950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4766" name="Text Box 16"/>
          <p:cNvSpPr txBox="1">
            <a:spLocks noChangeArrowheads="1"/>
          </p:cNvSpPr>
          <p:nvPr/>
        </p:nvSpPr>
        <p:spPr bwMode="auto">
          <a:xfrm>
            <a:off x="2305967" y="5969124"/>
            <a:ext cx="410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800000"/>
                </a:solidFill>
                <a:latin typeface="宋体" panose="02010600030101010101" pitchFamily="2" charset="-122"/>
              </a:rPr>
              <a:t>模拟</a:t>
            </a:r>
            <a:r>
              <a:rPr kumimoji="1" lang="en-US" altLang="zh-CN" sz="2400" b="1">
                <a:solidFill>
                  <a:srgbClr val="800000"/>
                </a:solidFill>
                <a:latin typeface="宋体" panose="02010600030101010101" pitchFamily="2" charset="-122"/>
              </a:rPr>
              <a:t>——</a:t>
            </a:r>
            <a:r>
              <a:rPr kumimoji="1" lang="zh-CN" altLang="en-US" sz="2400" b="1">
                <a:solidFill>
                  <a:srgbClr val="800000"/>
                </a:solidFill>
                <a:latin typeface="宋体" panose="02010600030101010101" pitchFamily="2" charset="-122"/>
              </a:rPr>
              <a:t>数字频率变换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755576" y="188640"/>
            <a:ext cx="723704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93300"/>
                </a:solidFill>
                <a:ea typeface="楷体_GB2312" pitchFamily="49" charset="-122"/>
              </a:rPr>
              <a:t>4.4</a:t>
            </a:r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从模拟滤波器低通原型到各种数字滤波器</a:t>
            </a:r>
            <a:endParaRPr lang="en-US" altLang="zh-CN" sz="2800" b="1" dirty="0">
              <a:solidFill>
                <a:srgbClr val="993300"/>
              </a:solidFill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     的频率变换</a:t>
            </a:r>
            <a:endParaRPr lang="zh-CN" altLang="en-US" sz="28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1190252"/>
            <a:ext cx="85326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模拟滤波器的设计中，只要掌握原型变换，就可以通过归一化低通原型的参数，去设计各种实际的低通、高通、带通或带阻滤波器。这一套成熟、有效的设计方法，也可通过前面所讨论的各种变换应用于数字滤波器的设计，具体过程如下：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34231" y="368741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kumimoji="1" lang="zh-CN" altLang="en-US" sz="2400" b="1" dirty="0">
                <a:solidFill>
                  <a:srgbClr val="800000"/>
                </a:solidFill>
                <a:latin typeface="宋体" panose="02010600030101010101" pitchFamily="2" charset="-122"/>
              </a:rPr>
              <a:t>映射变换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nimBg="1"/>
      <p:bldP spid="74757" grpId="0" animBg="1"/>
      <p:bldP spid="74758" grpId="0" animBg="1"/>
      <p:bldP spid="74759" grpId="0" animBg="1"/>
      <p:bldP spid="74760" grpId="0"/>
      <p:bldP spid="74763" grpId="0" animBg="1"/>
      <p:bldP spid="74764" grpId="0" animBg="1"/>
      <p:bldP spid="74765" grpId="0" animBg="1"/>
      <p:bldP spid="74766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65897" y="1004535"/>
            <a:ext cx="14977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数字低通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滤波器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技术指标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706358" y="1613953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9" name="矩形 8"/>
          <p:cNvSpPr/>
          <p:nvPr/>
        </p:nvSpPr>
        <p:spPr>
          <a:xfrm>
            <a:off x="2595203" y="1004535"/>
            <a:ext cx="16086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模拟低通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技术指标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094032" y="980728"/>
            <a:ext cx="142218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模拟低通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7492220" y="980728"/>
            <a:ext cx="142218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数字低通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滤波器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1" hangingPunct="1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298646" y="1606920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直接箭头连接符 12"/>
          <p:cNvCxnSpPr/>
          <p:nvPr/>
        </p:nvCxnSpPr>
        <p:spPr>
          <a:xfrm flipV="1">
            <a:off x="6674910" y="1578205"/>
            <a:ext cx="738000" cy="7033"/>
          </a:xfrm>
          <a:prstGeom prst="straightConnector1">
            <a:avLst/>
          </a:prstGeom>
          <a:noFill/>
          <a:ln w="22225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4" name="矩形 3"/>
          <p:cNvSpPr/>
          <p:nvPr/>
        </p:nvSpPr>
        <p:spPr>
          <a:xfrm>
            <a:off x="351660" y="2420888"/>
            <a:ext cx="3129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脉冲响应不变法</a:t>
            </a:r>
            <a:endParaRPr lang="zh-CN" altLang="en-US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263452" y="2856474"/>
            <a:ext cx="1152525" cy="765175"/>
          </a:xfrm>
        </p:spPr>
        <p:txBody>
          <a:bodyPr/>
          <a:lstStyle/>
          <a:p>
            <a:pPr eaLnBrk="1" hangingPunct="1"/>
            <a:r>
              <a:rPr kumimoji="1" lang="zh-CN" altLang="en-US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4.8</a:t>
            </a:r>
            <a:endParaRPr lang="zh-CN" altLang="en-US" sz="2800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259488" y="3017674"/>
            <a:ext cx="76690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设采样频率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用脉冲响应不变法设计一个三阶巴特沃思低通滤波器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边界频率                   。</a:t>
            </a: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24507"/>
              </p:ext>
            </p:extLst>
          </p:nvPr>
        </p:nvGraphicFramePr>
        <p:xfrm>
          <a:off x="3024795" y="5818605"/>
          <a:ext cx="37782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393480" progId="Equation.DSMT4">
                  <p:embed/>
                </p:oleObj>
              </mc:Choice>
              <mc:Fallback>
                <p:oleObj name="Equation" r:id="rId2" imgW="1574640" imgH="393480" progId="Equation.DSMT4">
                  <p:embed/>
                  <p:pic>
                    <p:nvPicPr>
                      <p:cNvPr id="71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795" y="5818605"/>
                        <a:ext cx="37782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439133"/>
              </p:ext>
            </p:extLst>
          </p:nvPr>
        </p:nvGraphicFramePr>
        <p:xfrm>
          <a:off x="3023920" y="3034947"/>
          <a:ext cx="17366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28600" progId="Equation.DSMT4">
                  <p:embed/>
                </p:oleObj>
              </mc:Choice>
              <mc:Fallback>
                <p:oleObj name="Equation" r:id="rId4" imgW="723600" imgH="228600" progId="Equation.DSMT4">
                  <p:embed/>
                  <p:pic>
                    <p:nvPicPr>
                      <p:cNvPr id="76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920" y="3034947"/>
                        <a:ext cx="17366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655352"/>
              </p:ext>
            </p:extLst>
          </p:nvPr>
        </p:nvGraphicFramePr>
        <p:xfrm>
          <a:off x="1298110" y="4509120"/>
          <a:ext cx="32607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228600" progId="Equation.DSMT4">
                  <p:embed/>
                </p:oleObj>
              </mc:Choice>
              <mc:Fallback>
                <p:oleObj name="Equation" r:id="rId6" imgW="1358640" imgH="228600" progId="Equation.DSMT4">
                  <p:embed/>
                  <p:pic>
                    <p:nvPicPr>
                      <p:cNvPr id="7169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110" y="4509120"/>
                        <a:ext cx="32607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754375"/>
              </p:ext>
            </p:extLst>
          </p:nvPr>
        </p:nvGraphicFramePr>
        <p:xfrm>
          <a:off x="1300695" y="5183981"/>
          <a:ext cx="28956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228600" progId="Equation.DSMT4">
                  <p:embed/>
                </p:oleObj>
              </mc:Choice>
              <mc:Fallback>
                <p:oleObj name="Equation" r:id="rId8" imgW="1206360" imgH="228600" progId="Equation.DSMT4">
                  <p:embed/>
                  <p:pic>
                    <p:nvPicPr>
                      <p:cNvPr id="7169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695" y="5183981"/>
                        <a:ext cx="28956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"/>
          <p:cNvSpPr>
            <a:spLocks noChangeArrowheads="1"/>
          </p:cNvSpPr>
          <p:nvPr/>
        </p:nvSpPr>
        <p:spPr bwMode="auto">
          <a:xfrm>
            <a:off x="340567" y="4474108"/>
            <a:ext cx="904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2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810484"/>
              </p:ext>
            </p:extLst>
          </p:nvPr>
        </p:nvGraphicFramePr>
        <p:xfrm>
          <a:off x="1686090" y="3877980"/>
          <a:ext cx="17366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228600" progId="Equation.DSMT4">
                  <p:embed/>
                </p:oleObj>
              </mc:Choice>
              <mc:Fallback>
                <p:oleObj name="Equation" r:id="rId10" imgW="723600" imgH="228600" progId="Equation.DSMT4">
                  <p:embed/>
                  <p:pic>
                    <p:nvPicPr>
                      <p:cNvPr id="7681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090" y="3877980"/>
                        <a:ext cx="17366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-11989" y="6002124"/>
            <a:ext cx="36478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查表格，归一化的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590823"/>
              </p:ext>
            </p:extLst>
          </p:nvPr>
        </p:nvGraphicFramePr>
        <p:xfrm>
          <a:off x="473521" y="1364744"/>
          <a:ext cx="633857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444500" progId="Equation.DSMT4">
                  <p:embed/>
                </p:oleObj>
              </mc:Choice>
              <mc:Fallback>
                <p:oleObj name="Equation" r:id="rId2" imgW="27559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21" y="1364744"/>
                        <a:ext cx="633857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971600" y="911895"/>
            <a:ext cx="132686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反归一，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584210"/>
              </p:ext>
            </p:extLst>
          </p:nvPr>
        </p:nvGraphicFramePr>
        <p:xfrm>
          <a:off x="1371922" y="2622550"/>
          <a:ext cx="74485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482400" progId="Equation.DSMT4">
                  <p:embed/>
                </p:oleObj>
              </mc:Choice>
              <mc:Fallback>
                <p:oleObj name="Equation" r:id="rId4" imgW="3238200" imgH="482400" progId="Equation.DSMT4">
                  <p:embed/>
                  <p:pic>
                    <p:nvPicPr>
                      <p:cNvPr id="727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922" y="2622550"/>
                        <a:ext cx="744855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970513"/>
              </p:ext>
            </p:extLst>
          </p:nvPr>
        </p:nvGraphicFramePr>
        <p:xfrm>
          <a:off x="450850" y="3960813"/>
          <a:ext cx="835342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32040" imgH="457200" progId="Equation.DSMT4">
                  <p:embed/>
                </p:oleObj>
              </mc:Choice>
              <mc:Fallback>
                <p:oleObj name="Equation" r:id="rId6" imgW="3632040" imgH="457200" progId="Equation.DSMT4">
                  <p:embed/>
                  <p:pic>
                    <p:nvPicPr>
                      <p:cNvPr id="788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960813"/>
                        <a:ext cx="8353425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12032"/>
              </p:ext>
            </p:extLst>
          </p:nvPr>
        </p:nvGraphicFramePr>
        <p:xfrm>
          <a:off x="467099" y="5301208"/>
          <a:ext cx="7740650" cy="1109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65280" imgH="482400" progId="Equation.DSMT4">
                  <p:embed/>
                </p:oleObj>
              </mc:Choice>
              <mc:Fallback>
                <p:oleObj name="Equation" r:id="rId8" imgW="3365280" imgH="482400" progId="Equation.DSMT4">
                  <p:embed/>
                  <p:pic>
                    <p:nvPicPr>
                      <p:cNvPr id="7885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99" y="5301208"/>
                        <a:ext cx="7740650" cy="1109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312277"/>
              </p:ext>
            </p:extLst>
          </p:nvPr>
        </p:nvGraphicFramePr>
        <p:xfrm>
          <a:off x="3059832" y="908720"/>
          <a:ext cx="9064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228600" progId="Equation.DSMT4">
                  <p:embed/>
                </p:oleObj>
              </mc:Choice>
              <mc:Fallback>
                <p:oleObj name="Equation" r:id="rId10" imgW="393480" imgH="228600" progId="Equation.DSMT4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908720"/>
                        <a:ext cx="90646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514489" y="908720"/>
            <a:ext cx="35897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用      代替</a:t>
            </a:r>
            <a:r>
              <a:rPr kumimoji="1" lang="en-US" altLang="zh-CN" sz="2800" b="1" i="1" kern="0" dirty="0">
                <a:solidFill>
                  <a:srgbClr val="000000"/>
                </a:solidFill>
                <a:latin typeface="+mj-lt"/>
              </a:rPr>
              <a:t>s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+mj-lt"/>
              </a:rPr>
              <a:t>，得</a:t>
            </a:r>
            <a:endParaRPr lang="zh-CN" altLang="en-US" dirty="0">
              <a:latin typeface="+mj-lt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5" name="Object 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554427"/>
              </p:ext>
            </p:extLst>
          </p:nvPr>
        </p:nvGraphicFramePr>
        <p:xfrm>
          <a:off x="1043608" y="4096172"/>
          <a:ext cx="70389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431640" progId="Equation.DSMT4">
                  <p:embed/>
                </p:oleObj>
              </mc:Choice>
              <mc:Fallback>
                <p:oleObj name="Equation" r:id="rId2" imgW="307332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096172"/>
                        <a:ext cx="703897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99592" y="3291175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1" hangingPunct="1"/>
            <a:r>
              <a:rPr kumimoji="1" lang="zh-CN" altLang="en-US" sz="2800" b="1" dirty="0">
                <a:solidFill>
                  <a:srgbClr val="6600CC"/>
                </a:solidFill>
                <a:latin typeface="宋体" panose="02010600030101010101" pitchFamily="2" charset="-122"/>
              </a:rPr>
              <a:t>修正后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954764"/>
            <a:ext cx="8064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可见，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与采样周期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T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有关，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T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越小，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 H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的相对增益越大，这是不希望的。</a:t>
            </a:r>
            <a:endParaRPr lang="en-US" altLang="zh-CN" sz="2800" b="1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为此，实际应用脉冲响应不变法时稍作一点修正，即求出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</a:rPr>
              <a:t>后，再乘以因子</a:t>
            </a:r>
            <a:r>
              <a:rPr lang="en-US" altLang="zh-CN" sz="2800" b="1" i="1" dirty="0">
                <a:solidFill>
                  <a:srgbClr val="000000"/>
                </a:solidFill>
                <a:latin typeface="+mj-lt"/>
              </a:rPr>
              <a:t>T</a:t>
            </a:r>
            <a:endParaRPr lang="zh-CN" altLang="en-US" sz="2800" b="1" dirty="0">
              <a:latin typeface="+mj-lt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8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83" name="Rectangle 3"/>
          <p:cNvSpPr>
            <a:spLocks noChangeArrowheads="1"/>
          </p:cNvSpPr>
          <p:nvPr/>
        </p:nvSpPr>
        <p:spPr bwMode="auto">
          <a:xfrm>
            <a:off x="681660" y="1340768"/>
            <a:ext cx="782115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4.9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设采样频率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用双线性变换法设计一个三阶巴特沃思低通滤波器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边界频率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9884" name="矩形 13"/>
          <p:cNvSpPr>
            <a:spLocks noChangeArrowheads="1"/>
          </p:cNvSpPr>
          <p:nvPr/>
        </p:nvSpPr>
        <p:spPr bwMode="auto">
          <a:xfrm>
            <a:off x="631206" y="2766690"/>
            <a:ext cx="10080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6" name="矩形 15"/>
          <p:cNvSpPr/>
          <p:nvPr/>
        </p:nvSpPr>
        <p:spPr>
          <a:xfrm>
            <a:off x="723173" y="836712"/>
            <a:ext cx="276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双线性变换法</a:t>
            </a:r>
            <a:endParaRPr lang="zh-CN" altLang="en-US" dirty="0"/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417452"/>
              </p:ext>
            </p:extLst>
          </p:nvPr>
        </p:nvGraphicFramePr>
        <p:xfrm>
          <a:off x="3525811" y="1372986"/>
          <a:ext cx="17366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228600" progId="Equation.DSMT4">
                  <p:embed/>
                </p:oleObj>
              </mc:Choice>
              <mc:Fallback>
                <p:oleObj name="Equation" r:id="rId3" imgW="723600" imgH="228600" progId="Equation.DSMT4">
                  <p:embed/>
                  <p:pic>
                    <p:nvPicPr>
                      <p:cNvPr id="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11" y="1372986"/>
                        <a:ext cx="17366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269522"/>
              </p:ext>
            </p:extLst>
          </p:nvPr>
        </p:nvGraphicFramePr>
        <p:xfrm>
          <a:off x="1180526" y="2222554"/>
          <a:ext cx="17366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28600" progId="Equation.DSMT4">
                  <p:embed/>
                </p:oleObj>
              </mc:Choice>
              <mc:Fallback>
                <p:oleObj name="Equation" r:id="rId5" imgW="723600" imgH="228600" progId="Equation.DSMT4">
                  <p:embed/>
                  <p:pic>
                    <p:nvPicPr>
                      <p:cNvPr id="2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526" y="2222554"/>
                        <a:ext cx="17366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080955"/>
              </p:ext>
            </p:extLst>
          </p:nvPr>
        </p:nvGraphicFramePr>
        <p:xfrm>
          <a:off x="1535113" y="2808288"/>
          <a:ext cx="31242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640" imgH="228600" progId="Equation.DSMT4">
                  <p:embed/>
                </p:oleObj>
              </mc:Choice>
              <mc:Fallback>
                <p:oleObj name="Equation" r:id="rId7" imgW="1358640" imgH="228600" progId="Equation.DSMT4">
                  <p:embed/>
                  <p:pic>
                    <p:nvPicPr>
                      <p:cNvPr id="7987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2808288"/>
                        <a:ext cx="31242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68836"/>
              </p:ext>
            </p:extLst>
          </p:nvPr>
        </p:nvGraphicFramePr>
        <p:xfrm>
          <a:off x="1723342" y="3310337"/>
          <a:ext cx="30368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480" imgH="393480" progId="Equation.DSMT4">
                  <p:embed/>
                </p:oleObj>
              </mc:Choice>
              <mc:Fallback>
                <p:oleObj name="Equation" r:id="rId9" imgW="1320480" imgH="393480" progId="Equation.DSMT4">
                  <p:embed/>
                  <p:pic>
                    <p:nvPicPr>
                      <p:cNvPr id="7987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342" y="3310337"/>
                        <a:ext cx="3036887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11560" y="3533619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预畸</a:t>
            </a:r>
            <a:endParaRPr lang="zh-CN" altLang="en-US" dirty="0"/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502312"/>
              </p:ext>
            </p:extLst>
          </p:nvPr>
        </p:nvGraphicFramePr>
        <p:xfrm>
          <a:off x="2283186" y="4178933"/>
          <a:ext cx="3621672" cy="905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74640" imgH="393480" progId="Equation.DSMT4">
                  <p:embed/>
                </p:oleObj>
              </mc:Choice>
              <mc:Fallback>
                <p:oleObj name="Equation" r:id="rId11" imgW="1574640" imgH="393480" progId="Equation.DSMT4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186" y="4178933"/>
                        <a:ext cx="3621672" cy="905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556172" y="4350866"/>
            <a:ext cx="17009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归一化的</a:t>
            </a:r>
          </a:p>
        </p:txBody>
      </p:sp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230163"/>
              </p:ext>
            </p:extLst>
          </p:nvPr>
        </p:nvGraphicFramePr>
        <p:xfrm>
          <a:off x="1639269" y="5575002"/>
          <a:ext cx="633857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55900" imgH="444500" progId="Equation.DSMT4">
                  <p:embed/>
                </p:oleObj>
              </mc:Choice>
              <mc:Fallback>
                <p:oleObj name="Equation" r:id="rId13" imgW="2755900" imgH="444500" progId="Equation.DSMT4">
                  <p:embed/>
                  <p:pic>
                    <p:nvPicPr>
                      <p:cNvPr id="7987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269" y="5575002"/>
                        <a:ext cx="633857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202385" y="1338771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66"/>
                </a:solidFill>
                <a:latin typeface="Times New Roman"/>
              </a:rPr>
              <a:t>★</a:t>
            </a:r>
            <a:endParaRPr lang="zh-CN" altLang="en-US" dirty="0"/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517093" y="5160367"/>
            <a:ext cx="132686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反归一，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77270"/>
              </p:ext>
            </p:extLst>
          </p:nvPr>
        </p:nvGraphicFramePr>
        <p:xfrm>
          <a:off x="2605325" y="5157192"/>
          <a:ext cx="9064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480" imgH="228600" progId="Equation.DSMT4">
                  <p:embed/>
                </p:oleObj>
              </mc:Choice>
              <mc:Fallback>
                <p:oleObj name="Equation" r:id="rId15" imgW="393480" imgH="2286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325" y="5157192"/>
                        <a:ext cx="90646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059982" y="5157192"/>
            <a:ext cx="35897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用      代替</a:t>
            </a:r>
            <a:r>
              <a:rPr kumimoji="1" lang="en-US" altLang="zh-CN" sz="2800" b="1" i="1" kern="0" dirty="0">
                <a:solidFill>
                  <a:srgbClr val="000000"/>
                </a:solidFill>
                <a:latin typeface="+mj-lt"/>
              </a:rPr>
              <a:t>s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+mj-lt"/>
              </a:rPr>
              <a:t>，得</a:t>
            </a:r>
            <a:endParaRPr lang="zh-CN" altLang="en-US" dirty="0">
              <a:latin typeface="+mj-lt"/>
            </a:endParaRP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21" grpId="0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073457"/>
              </p:ext>
            </p:extLst>
          </p:nvPr>
        </p:nvGraphicFramePr>
        <p:xfrm>
          <a:off x="539552" y="1031207"/>
          <a:ext cx="53340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1269720" progId="Equation.DSMT4">
                  <p:embed/>
                </p:oleObj>
              </mc:Choice>
              <mc:Fallback>
                <p:oleObj name="Equation" r:id="rId2" imgW="2666880" imgH="1269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031207"/>
                        <a:ext cx="53340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353527"/>
              </p:ext>
            </p:extLst>
          </p:nvPr>
        </p:nvGraphicFramePr>
        <p:xfrm>
          <a:off x="539552" y="3789040"/>
          <a:ext cx="83566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1117440" progId="Equation.DSMT4">
                  <p:embed/>
                </p:oleObj>
              </mc:Choice>
              <mc:Fallback>
                <p:oleObj name="Equation" r:id="rId4" imgW="4178160" imgH="1117440" progId="Equation.DSMT4">
                  <p:embed/>
                  <p:pic>
                    <p:nvPicPr>
                      <p:cNvPr id="819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789040"/>
                        <a:ext cx="83566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251520" y="3645024"/>
            <a:ext cx="6805908" cy="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28" y="1363221"/>
            <a:ext cx="7523163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6588224" y="3212976"/>
            <a:ext cx="2376264" cy="720204"/>
          </a:xfrm>
          <a:prstGeom prst="wedgeRectCallout">
            <a:avLst>
              <a:gd name="adj1" fmla="val -94745"/>
              <a:gd name="adj2" fmla="val 18128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45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tx2"/>
                </a:solidFill>
              </a:rPr>
              <a:t>脉冲响应不变法</a:t>
            </a:r>
          </a:p>
        </p:txBody>
      </p:sp>
      <p:sp>
        <p:nvSpPr>
          <p:cNvPr id="20" name="AutoShape 8"/>
          <p:cNvSpPr>
            <a:spLocks noChangeArrowheads="1"/>
          </p:cNvSpPr>
          <p:nvPr/>
        </p:nvSpPr>
        <p:spPr bwMode="auto">
          <a:xfrm>
            <a:off x="3131840" y="4364335"/>
            <a:ext cx="2160587" cy="504825"/>
          </a:xfrm>
          <a:prstGeom prst="wedgeRectCallout">
            <a:avLst>
              <a:gd name="adj1" fmla="val -50440"/>
              <a:gd name="adj2" fmla="val 40250"/>
            </a:avLst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45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993300"/>
                </a:solidFill>
              </a:rPr>
              <a:t>双线性变换法</a:t>
            </a: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V="1">
            <a:off x="4787602" y="4005188"/>
            <a:ext cx="719138" cy="3016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 flipH="1">
            <a:off x="5938936" y="3502472"/>
            <a:ext cx="649288" cy="857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低通变换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高通变换</a:t>
            </a:r>
          </a:p>
        </p:txBody>
      </p:sp>
      <p:sp>
        <p:nvSpPr>
          <p:cNvPr id="43" name="Rectangle 8"/>
          <p:cNvSpPr>
            <a:spLocks noChangeArrowheads="1"/>
          </p:cNvSpPr>
          <p:nvPr/>
        </p:nvSpPr>
        <p:spPr bwMode="auto">
          <a:xfrm>
            <a:off x="899592" y="1041117"/>
            <a:ext cx="8064896" cy="33239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00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</a:rPr>
              <a:t>设计高通、带通、带阻等数字滤波器时，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有两种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方法：</a:t>
            </a:r>
          </a:p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rgbClr val="000000"/>
                </a:solidFill>
              </a:rPr>
              <a:t>① 先设计一个相应的高通、带通或带阻模拟滤波器，然后转换为数字滤波器。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00"/>
                </a:solidFill>
              </a:rPr>
              <a:t>② </a:t>
            </a:r>
            <a:r>
              <a:rPr lang="zh-CN" altLang="en-US" sz="2800" b="1" dirty="0">
                <a:solidFill>
                  <a:srgbClr val="000000"/>
                </a:solidFill>
              </a:rPr>
              <a:t>直接利用模拟滤波器的低通原型，通过一定的频率变换关系，一步完成各种数字滤波器的设计。</a:t>
            </a:r>
          </a:p>
        </p:txBody>
      </p:sp>
      <p:sp>
        <p:nvSpPr>
          <p:cNvPr id="10" name="矩形 9"/>
          <p:cNvSpPr/>
          <p:nvPr/>
        </p:nvSpPr>
        <p:spPr>
          <a:xfrm>
            <a:off x="899592" y="4797152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这里只讨论第二种方法。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889655" y="1542295"/>
            <a:ext cx="7976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将低通设计变换式中的</a:t>
            </a:r>
            <a:r>
              <a:rPr kumimoji="1"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代之以</a:t>
            </a:r>
            <a:r>
              <a:rPr kumimoji="1"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kumimoji="1"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，就可得到数字高通滤波器。</a:t>
            </a:r>
            <a:endParaRPr kumimoji="1" lang="en-US" altLang="zh-CN" sz="2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62420"/>
              </p:ext>
            </p:extLst>
          </p:nvPr>
        </p:nvGraphicFramePr>
        <p:xfrm>
          <a:off x="3225006" y="2569560"/>
          <a:ext cx="1865314" cy="896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7214" imgH="373372" progId="Equation.DSMT4">
                  <p:embed/>
                </p:oleObj>
              </mc:Choice>
              <mc:Fallback>
                <p:oleObj name="Equation" r:id="rId2" imgW="777214" imgH="37337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006" y="2569560"/>
                        <a:ext cx="1865314" cy="896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98929535"/>
              </p:ext>
            </p:extLst>
          </p:nvPr>
        </p:nvGraphicFramePr>
        <p:xfrm>
          <a:off x="744800" y="3712429"/>
          <a:ext cx="7787640" cy="1306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400" imgH="622300" progId="Equation.DSMT4">
                  <p:embed/>
                </p:oleObj>
              </mc:Choice>
              <mc:Fallback>
                <p:oleObj name="Equation" r:id="rId4" imgW="3708400" imgH="622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800" y="3712429"/>
                        <a:ext cx="7787640" cy="1306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09177436"/>
              </p:ext>
            </p:extLst>
          </p:nvPr>
        </p:nvGraphicFramePr>
        <p:xfrm>
          <a:off x="3227228" y="5307467"/>
          <a:ext cx="2348355" cy="911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1024" imgH="396262" progId="Equation.DSMT4">
                  <p:embed/>
                </p:oleObj>
              </mc:Choice>
              <mc:Fallback>
                <p:oleObj name="Equation" r:id="rId6" imgW="1021024" imgH="39626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228" y="5307467"/>
                        <a:ext cx="2348355" cy="911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89655" y="940408"/>
            <a:ext cx="65360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基于双线性变换法的高通滤波器设计：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498335"/>
              </p:ext>
            </p:extLst>
          </p:nvPr>
        </p:nvGraphicFramePr>
        <p:xfrm>
          <a:off x="6499598" y="5243537"/>
          <a:ext cx="239553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1120" imgH="431640" progId="Equation.DSMT4">
                  <p:embed/>
                </p:oleObj>
              </mc:Choice>
              <mc:Fallback>
                <p:oleObj name="Equation" r:id="rId8" imgW="1041120" imgH="431640" progId="Equation.DSMT4">
                  <p:embed/>
                  <p:pic>
                    <p:nvPicPr>
                      <p:cNvPr id="849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598" y="5243537"/>
                        <a:ext cx="239553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826858" y="544522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endParaRPr lang="zh-CN" altLang="en-US" dirty="0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高通变换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150" y="1052736"/>
            <a:ext cx="5545138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059310" y="6165304"/>
            <a:ext cx="2831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图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4.25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  高通变换</a:t>
            </a:r>
            <a:r>
              <a:rPr lang="zh-CN" altLang="en-US" b="1" dirty="0">
                <a:latin typeface="+mj-lt"/>
              </a:rPr>
              <a:t> </a:t>
            </a:r>
          </a:p>
        </p:txBody>
      </p:sp>
      <p:sp>
        <p:nvSpPr>
          <p:cNvPr id="14" name="Text Box 40"/>
          <p:cNvSpPr txBox="1">
            <a:spLocks noChangeArrowheads="1"/>
          </p:cNvSpPr>
          <p:nvPr/>
        </p:nvSpPr>
        <p:spPr bwMode="auto">
          <a:xfrm>
            <a:off x="215502" y="3291111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宋体" panose="02010600030101010101" pitchFamily="2" charset="-122"/>
              </a:rPr>
              <a:t>模拟低通</a:t>
            </a:r>
          </a:p>
        </p:txBody>
      </p:sp>
      <p:sp>
        <p:nvSpPr>
          <p:cNvPr id="15" name="Text Box 41"/>
          <p:cNvSpPr txBox="1">
            <a:spLocks noChangeArrowheads="1"/>
          </p:cNvSpPr>
          <p:nvPr/>
        </p:nvSpPr>
        <p:spPr bwMode="auto">
          <a:xfrm>
            <a:off x="1835174" y="4005064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6600CC"/>
                </a:solidFill>
                <a:latin typeface="宋体" panose="02010600030101010101" pitchFamily="2" charset="-122"/>
              </a:rPr>
              <a:t>数字高通</a:t>
            </a: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高通变换</a:t>
            </a:r>
          </a:p>
        </p:txBody>
      </p:sp>
    </p:spTree>
    <p:extLst>
      <p:ext uri="{BB962C8B-B14F-4D97-AF65-F5344CB8AC3E}">
        <p14:creationId xmlns:p14="http://schemas.microsoft.com/office/powerpoint/2010/main" val="6391249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800" y="980728"/>
            <a:ext cx="720080" cy="457200"/>
          </a:xfrm>
        </p:spPr>
        <p:txBody>
          <a:bodyPr/>
          <a:lstStyle/>
          <a:p>
            <a:pPr eaLnBrk="1" hangingPunct="1"/>
            <a:r>
              <a:rPr lang="zh-CN" altLang="en-US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5288" y="980728"/>
            <a:ext cx="8305800" cy="99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25000"/>
              </a:spcAft>
              <a:buFontTx/>
              <a:buNone/>
            </a:pPr>
            <a:r>
              <a:rPr kumimoji="1" lang="en-US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用双线性变换法设计一个三阶巴特沃思高通滤波器，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截止频率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=1kHz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，采样频率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=4kHz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7044" name="Text Box 5"/>
          <p:cNvSpPr txBox="1">
            <a:spLocks noChangeArrowheads="1"/>
          </p:cNvSpPr>
          <p:nvPr/>
        </p:nvSpPr>
        <p:spPr bwMode="auto">
          <a:xfrm>
            <a:off x="971550" y="2272578"/>
            <a:ext cx="7632700" cy="4324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）首先确定</a:t>
            </a:r>
            <a:r>
              <a:rPr kumimoji="1"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数字高通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截止频率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）根据频率的非线性关系，确定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预畸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模拟低通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滤波器的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截止频率 （计算不取负号）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）以 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</a:t>
            </a:r>
            <a:r>
              <a:rPr kumimoji="1" lang="el-GR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1"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代入归一化的三阶巴特沃思</a:t>
            </a:r>
            <a:r>
              <a:rPr kumimoji="1"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模拟低通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滤波器传递函数，得</a:t>
            </a:r>
          </a:p>
        </p:txBody>
      </p:sp>
      <p:graphicFrame>
        <p:nvGraphicFramePr>
          <p:cNvPr id="8704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797027"/>
              </p:ext>
            </p:extLst>
          </p:nvPr>
        </p:nvGraphicFramePr>
        <p:xfrm>
          <a:off x="2160679" y="4444605"/>
          <a:ext cx="4965516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431640" progId="Equation.DSMT4">
                  <p:embed/>
                </p:oleObj>
              </mc:Choice>
              <mc:Fallback>
                <p:oleObj name="Equation" r:id="rId2" imgW="215892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679" y="4444605"/>
                        <a:ext cx="4965516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80800" y="225770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458196"/>
              </p:ext>
            </p:extLst>
          </p:nvPr>
        </p:nvGraphicFramePr>
        <p:xfrm>
          <a:off x="2699792" y="2833130"/>
          <a:ext cx="31242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228600" progId="Equation.DSMT4">
                  <p:embed/>
                </p:oleObj>
              </mc:Choice>
              <mc:Fallback>
                <p:oleObj name="Equation" r:id="rId4" imgW="1358640" imgH="228600" progId="Equation.DSMT4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833130"/>
                        <a:ext cx="31242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高通变换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856903"/>
              </p:ext>
            </p:extLst>
          </p:nvPr>
        </p:nvGraphicFramePr>
        <p:xfrm>
          <a:off x="1187624" y="780044"/>
          <a:ext cx="6455088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431640" progId="Equation.DSMT4">
                  <p:embed/>
                </p:oleObj>
              </mc:Choice>
              <mc:Fallback>
                <p:oleObj name="Equation" r:id="rId2" imgW="280656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780044"/>
                        <a:ext cx="6455088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4044"/>
              </p:ext>
            </p:extLst>
          </p:nvPr>
        </p:nvGraphicFramePr>
        <p:xfrm>
          <a:off x="1044512" y="2348880"/>
          <a:ext cx="6191784" cy="417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080" imgH="1815840" progId="Equation.DSMT4">
                  <p:embed/>
                </p:oleObj>
              </mc:Choice>
              <mc:Fallback>
                <p:oleObj name="Equation" r:id="rId4" imgW="2692080" imgH="18158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12" y="2348880"/>
                        <a:ext cx="6191784" cy="4176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8" name="Text Box 8"/>
          <p:cNvSpPr txBox="1">
            <a:spLocks noChangeArrowheads="1"/>
          </p:cNvSpPr>
          <p:nvPr/>
        </p:nvSpPr>
        <p:spPr bwMode="auto">
          <a:xfrm>
            <a:off x="827088" y="1810303"/>
            <a:ext cx="8316912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）将双线性变换关系式代入，求</a:t>
            </a:r>
            <a:r>
              <a:rPr kumimoji="1" lang="zh-CN" altLang="en-US" sz="28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数字高通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(z)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55576" y="228600"/>
            <a:ext cx="72370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4.4.2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高通变换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 i="0" dirty="0"/>
              <a:t>4.4</a:t>
            </a:r>
            <a:r>
              <a:rPr lang="zh-CN" altLang="en-US" sz="3200" b="1" i="0" dirty="0"/>
              <a:t>要点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5" y="1981200"/>
            <a:ext cx="8784976" cy="151980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/>
              <a:t> </a:t>
            </a:r>
            <a:r>
              <a:rPr lang="zh-CN" altLang="en-US" sz="2800" b="1" dirty="0"/>
              <a:t>从模拟滤波器低通原型到各种数字滤波器的频率变换：</a:t>
            </a:r>
          </a:p>
          <a:p>
            <a:pPr eaLnBrk="1" hangingPunct="1">
              <a:buFontTx/>
              <a:buNone/>
            </a:pPr>
            <a:r>
              <a:rPr lang="zh-CN" altLang="en-US" sz="2800" b="1" dirty="0"/>
              <a:t> 要求会</a:t>
            </a:r>
            <a:r>
              <a:rPr lang="zh-CN" altLang="en-US" sz="2800" b="1" dirty="0">
                <a:solidFill>
                  <a:srgbClr val="FF0000"/>
                </a:solidFill>
              </a:rPr>
              <a:t>低通变换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19336" y="188640"/>
            <a:ext cx="723704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93300"/>
                </a:solidFill>
                <a:ea typeface="楷体_GB2312" pitchFamily="49" charset="-122"/>
              </a:rPr>
              <a:t>4.4</a:t>
            </a:r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从模拟滤波器低通原型到各种数字滤波器</a:t>
            </a:r>
            <a:endParaRPr lang="en-US" altLang="zh-CN" sz="2800" b="1" dirty="0">
              <a:solidFill>
                <a:srgbClr val="993300"/>
              </a:solidFill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     的频率变换</a:t>
            </a:r>
            <a:endParaRPr lang="zh-CN" altLang="en-US" sz="28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281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5288" y="3213100"/>
            <a:ext cx="84582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0"/>
              </a:spcBef>
              <a:spcAft>
                <a:spcPct val="25000"/>
              </a:spcAft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为便于区分变换前后两个不同的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平面，将变换前的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平面定义为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平面，从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到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的映射关系为：</a:t>
            </a:r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886010"/>
              </p:ext>
            </p:extLst>
          </p:nvPr>
        </p:nvGraphicFramePr>
        <p:xfrm>
          <a:off x="3059831" y="4291482"/>
          <a:ext cx="19224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228600" progId="Equation.DSMT4">
                  <p:embed/>
                </p:oleObj>
              </mc:Choice>
              <mc:Fallback>
                <p:oleObj name="Equation" r:id="rId2" imgW="7999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1" y="4291482"/>
                        <a:ext cx="192246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1043533" y="4998119"/>
            <a:ext cx="540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于是，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DF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的原型变换可表示为：</a:t>
            </a:r>
          </a:p>
        </p:txBody>
      </p:sp>
      <p:graphicFrame>
        <p:nvGraphicFramePr>
          <p:cNvPr id="962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318637"/>
              </p:ext>
            </p:extLst>
          </p:nvPr>
        </p:nvGraphicFramePr>
        <p:xfrm>
          <a:off x="2283991" y="5802522"/>
          <a:ext cx="3474144" cy="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330120" progId="Equation.DSMT4">
                  <p:embed/>
                </p:oleObj>
              </mc:Choice>
              <mc:Fallback>
                <p:oleObj name="Equation" r:id="rId4" imgW="1447560" imgH="3301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991" y="5802522"/>
                        <a:ext cx="3474144" cy="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55576" y="188640"/>
            <a:ext cx="673298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93300"/>
                </a:solidFill>
                <a:ea typeface="楷体_GB2312" pitchFamily="49" charset="-122"/>
              </a:rPr>
              <a:t>4.5</a:t>
            </a:r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从低通数字滤波器到各种数字滤波器</a:t>
            </a:r>
            <a:endParaRPr lang="en-US" altLang="zh-CN" sz="2800" b="1" dirty="0">
              <a:solidFill>
                <a:srgbClr val="993300"/>
              </a:solidFill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     的频率变换</a:t>
            </a:r>
            <a:endParaRPr lang="zh-CN" altLang="en-US" sz="28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930" y="1180889"/>
            <a:ext cx="83205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720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从低通数字滤波器到各种类型数字滤波器的频率变换，也称为</a:t>
            </a:r>
            <a:r>
              <a:rPr kumimoji="1"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平面变换法。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520138"/>
              </p:ext>
            </p:extLst>
          </p:nvPr>
        </p:nvGraphicFramePr>
        <p:xfrm>
          <a:off x="3469513" y="2413539"/>
          <a:ext cx="19494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392" imgH="266584" progId="Equation.DSMT4">
                  <p:embed/>
                </p:oleObj>
              </mc:Choice>
              <mc:Fallback>
                <p:oleObj name="Equation" r:id="rId6" imgW="939392" imgH="266584" progId="Equation.DSMT4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513" y="2413539"/>
                        <a:ext cx="19494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412432" y="2432362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00"/>
                </a:solidFill>
              </a:rPr>
              <a:t>各种</a:t>
            </a:r>
            <a:r>
              <a:rPr lang="en-US" altLang="zh-CN" sz="2800" b="1" dirty="0">
                <a:solidFill>
                  <a:srgbClr val="000000"/>
                </a:solidFill>
              </a:rPr>
              <a:t>DF</a:t>
            </a:r>
            <a:r>
              <a:rPr lang="zh-CN" altLang="en-US" sz="2800" b="1" dirty="0">
                <a:solidFill>
                  <a:srgbClr val="000000"/>
                </a:solidFill>
              </a:rPr>
              <a:t>的</a:t>
            </a:r>
            <a:r>
              <a:rPr lang="en-US" altLang="zh-CN" sz="2800" b="1" i="1" dirty="0">
                <a:solidFill>
                  <a:srgbClr val="000000"/>
                </a:solidFill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</a:rPr>
              <a:t>(z)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3528" y="2432362"/>
            <a:ext cx="28280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DF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低通原型函数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/>
      <p:bldP spid="9626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755650" y="2450009"/>
            <a:ext cx="7488238" cy="184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函数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(z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要保证：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的单位圆内部必须对应于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的单位圆内部</a:t>
            </a:r>
          </a:p>
          <a:p>
            <a:pPr algn="just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的单位圆映射到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的单位圆</a:t>
            </a:r>
          </a:p>
        </p:txBody>
      </p:sp>
      <p:graphicFrame>
        <p:nvGraphicFramePr>
          <p:cNvPr id="97283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540606"/>
              </p:ext>
            </p:extLst>
          </p:nvPr>
        </p:nvGraphicFramePr>
        <p:xfrm>
          <a:off x="2668588" y="1327646"/>
          <a:ext cx="3329388" cy="75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330120" progId="Equation.DSMT4">
                  <p:embed/>
                </p:oleObj>
              </mc:Choice>
              <mc:Fallback>
                <p:oleObj name="Equation" r:id="rId2" imgW="1447560" imgH="330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1327646"/>
                        <a:ext cx="3329388" cy="759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55576" y="188640"/>
            <a:ext cx="673298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93300"/>
                </a:solidFill>
                <a:ea typeface="楷体_GB2312" pitchFamily="49" charset="-122"/>
              </a:rPr>
              <a:t>4.5</a:t>
            </a:r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从低通数字滤波器到各种数字滤波器</a:t>
            </a:r>
            <a:endParaRPr lang="en-US" altLang="zh-CN" sz="2800" b="1" dirty="0">
              <a:solidFill>
                <a:srgbClr val="993300"/>
              </a:solidFill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993300"/>
                </a:solidFill>
                <a:ea typeface="楷体_GB2312" pitchFamily="49" charset="-122"/>
              </a:rPr>
              <a:t>      的频率变换</a:t>
            </a:r>
            <a:endParaRPr lang="zh-CN" altLang="en-US" sz="28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26" descr="数字低通到各数字滤波器变换公式表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5"/>
          <a:stretch>
            <a:fillRect/>
          </a:stretch>
        </p:blipFill>
        <p:spPr bwMode="auto">
          <a:xfrm>
            <a:off x="1187624" y="828671"/>
            <a:ext cx="6781800" cy="602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584341" y="132799"/>
            <a:ext cx="994183" cy="5598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1" hangingPunct="1">
              <a:lnSpc>
                <a:spcPct val="120000"/>
              </a:lnSpc>
              <a:spcBef>
                <a:spcPct val="25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A7E573-CF45-44B9-A235-3DB56F7F0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1869"/>
            <a:ext cx="26068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Arial" panose="020B0604020202020204" pitchFamily="34" charset="0"/>
              </a:rPr>
              <a:t>4.7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 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本章小结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39552" y="980728"/>
            <a:ext cx="8136904" cy="41764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数字滤波器的设计问题可归结为寻找适当的</a:t>
            </a:r>
            <a:r>
              <a:rPr lang="zh-CN" altLang="en-US" sz="3000" b="1" dirty="0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系统函数</a:t>
            </a:r>
            <a:r>
              <a:rPr lang="zh-CN" altLang="en-US" sz="3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以满足特定的幅度要求</a:t>
            </a:r>
            <a:r>
              <a:rPr lang="zh-CN" altLang="en-US" sz="3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30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本章着眼于设计稳定、因果的</a:t>
            </a:r>
            <a:r>
              <a:rPr lang="en-US" altLang="zh-CN" sz="30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IIR</a:t>
            </a:r>
            <a:r>
              <a:rPr lang="zh-CN" altLang="en-US" sz="30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数字滤波器。</a:t>
            </a:r>
            <a:endParaRPr lang="en-US" altLang="zh-CN" sz="3000" b="1" dirty="0">
              <a:solidFill>
                <a:srgbClr val="000000"/>
              </a:solidFill>
              <a:latin typeface="+mj-lt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IIR</a:t>
            </a:r>
            <a:r>
              <a:rPr lang="zh-CN" altLang="en-US" sz="30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数字滤波器设计通常是由模拟滤波器得到的，</a:t>
            </a:r>
            <a:r>
              <a:rPr lang="zh-CN" altLang="en-US" sz="3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首先将</a:t>
            </a:r>
            <a:r>
              <a:rPr lang="en-US" altLang="zh-CN" sz="3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IIR</a:t>
            </a:r>
            <a:r>
              <a:rPr lang="zh-CN" altLang="en-US" sz="3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数字滤波器的指标要求转换成模拟滤波器的指标要求，设计出模拟滤波器后，再将</a:t>
            </a:r>
            <a:r>
              <a:rPr lang="en-US" altLang="zh-CN" sz="3000" b="1" i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平面的系统函数映射到</a:t>
            </a:r>
            <a:r>
              <a:rPr lang="en-US" altLang="zh-CN" sz="3000" b="1" i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平面。</a:t>
            </a:r>
            <a:endParaRPr lang="en-US" altLang="zh-CN" sz="3000" b="1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148" y="4421377"/>
            <a:ext cx="8640960" cy="243662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endParaRPr lang="en-US" altLang="zh-CN" sz="2800" b="1" dirty="0">
              <a:solidFill>
                <a:srgbClr val="6600CC"/>
              </a:solidFill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5940569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双线性变换法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75830" y="5289612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脉冲响应不变法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5774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5120" y="177400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127" y="836712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 </a:t>
            </a:r>
            <a:endParaRPr lang="zh-CN" altLang="en-US" sz="1600" dirty="0"/>
          </a:p>
        </p:txBody>
      </p:sp>
      <p:sp>
        <p:nvSpPr>
          <p:cNvPr id="10" name="Rectangle 2"/>
          <p:cNvSpPr txBox="1">
            <a:spLocks/>
          </p:cNvSpPr>
          <p:nvPr/>
        </p:nvSpPr>
        <p:spPr bwMode="auto">
          <a:xfrm>
            <a:off x="553573" y="836712"/>
            <a:ext cx="8458200" cy="171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已知模拟系统函数                                    试用脉冲响应不变法将以上模拟系统函数转换为数字系统函数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，采样周期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=0.5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11333"/>
              </p:ext>
            </p:extLst>
          </p:nvPr>
        </p:nvGraphicFramePr>
        <p:xfrm>
          <a:off x="3595223" y="659487"/>
          <a:ext cx="29781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393480" progId="Equation.DSMT4">
                  <p:embed/>
                </p:oleObj>
              </mc:Choice>
              <mc:Fallback>
                <p:oleObj name="Equation" r:id="rId2" imgW="1295280" imgH="393480" progId="Equation.DSMT4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223" y="659487"/>
                        <a:ext cx="29781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4923" y="2758185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4.4 </a:t>
            </a:r>
            <a:endParaRPr lang="zh-CN" altLang="en-US" sz="1600" dirty="0"/>
          </a:p>
        </p:txBody>
      </p:sp>
      <p:sp>
        <p:nvSpPr>
          <p:cNvPr id="13" name="Rectangle 2"/>
          <p:cNvSpPr txBox="1">
            <a:spLocks/>
          </p:cNvSpPr>
          <p:nvPr/>
        </p:nvSpPr>
        <p:spPr bwMode="auto">
          <a:xfrm>
            <a:off x="547223" y="2758185"/>
            <a:ext cx="8001000" cy="11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设有一模拟滤波器                        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采样周期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=2,</a:t>
            </a:r>
            <a:r>
              <a:rPr lang="zh-CN" altLang="en-US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试用双线性变换法将它转变为数字系统函数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+mn-cs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691381"/>
              </p:ext>
            </p:extLst>
          </p:nvPr>
        </p:nvGraphicFramePr>
        <p:xfrm>
          <a:off x="3595223" y="2580960"/>
          <a:ext cx="27749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393480" progId="Equation.DSMT4">
                  <p:embed/>
                </p:oleObj>
              </mc:Choice>
              <mc:Fallback>
                <p:oleObj name="Equation" r:id="rId4" imgW="1206360" imgH="393480" progId="Equation.DSMT4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223" y="2580960"/>
                        <a:ext cx="27749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5496" y="4335572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4.8 </a:t>
            </a:r>
            <a:endParaRPr lang="zh-CN" altLang="en-US" sz="1600" dirty="0"/>
          </a:p>
        </p:txBody>
      </p:sp>
      <p:sp>
        <p:nvSpPr>
          <p:cNvPr id="16" name="Rectangle 2"/>
          <p:cNvSpPr txBox="1">
            <a:spLocks/>
          </p:cNvSpPr>
          <p:nvPr/>
        </p:nvSpPr>
        <p:spPr bwMode="auto">
          <a:xfrm>
            <a:off x="547223" y="4286900"/>
            <a:ext cx="8686800" cy="119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lvl="0" algn="l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用双线性变换法设计一个三阶巴特沃思数字低通滤波器，采样频率                        边界频率             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689477"/>
              </p:ext>
            </p:extLst>
          </p:nvPr>
        </p:nvGraphicFramePr>
        <p:xfrm>
          <a:off x="2757023" y="4992912"/>
          <a:ext cx="21002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228600" progId="Equation.DSMT4">
                  <p:embed/>
                </p:oleObj>
              </mc:Choice>
              <mc:Fallback>
                <p:oleObj name="Equation" r:id="rId6" imgW="876240" imgH="22860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023" y="4992912"/>
                        <a:ext cx="21002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076069"/>
              </p:ext>
            </p:extLst>
          </p:nvPr>
        </p:nvGraphicFramePr>
        <p:xfrm>
          <a:off x="6324136" y="4972700"/>
          <a:ext cx="1919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28600" progId="Equation.DSMT4">
                  <p:embed/>
                </p:oleObj>
              </mc:Choice>
              <mc:Fallback>
                <p:oleObj name="Equation" r:id="rId8" imgW="799920" imgH="228600" progId="Equation.DSMT4">
                  <p:embed/>
                  <p:pic>
                    <p:nvPicPr>
                      <p:cNvPr id="1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136" y="4972700"/>
                        <a:ext cx="1919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407779" y="5636965"/>
            <a:ext cx="17009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归一化的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52262"/>
              </p:ext>
            </p:extLst>
          </p:nvPr>
        </p:nvGraphicFramePr>
        <p:xfrm>
          <a:off x="3108695" y="5479947"/>
          <a:ext cx="3435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393480" progId="Equation.DSMT4">
                  <p:embed/>
                </p:oleObj>
              </mc:Choice>
              <mc:Fallback>
                <p:oleObj name="Equation" r:id="rId10" imgW="1574640" imgH="393480" progId="Equation.DSMT4">
                  <p:embed/>
                  <p:pic>
                    <p:nvPicPr>
                      <p:cNvPr id="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695" y="5479947"/>
                        <a:ext cx="34353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48319"/>
      </p:ext>
    </p:extLst>
  </p:cSld>
  <p:clrMapOvr>
    <a:masterClrMapping/>
  </p:clrMapOvr>
</p:sld>
</file>

<file path=ppt/theme/theme1.xml><?xml version="1.0" encoding="utf-8"?>
<a:theme xmlns:a="http://schemas.openxmlformats.org/drawingml/2006/main" name="DSP2024">
  <a:themeElements>
    <a:clrScheme name="Global 4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BFDFFF"/>
      </a:hlink>
      <a:folHlink>
        <a:srgbClr val="99CCFF"/>
      </a:folHlink>
    </a:clrScheme>
    <a:fontScheme name="Global">
      <a:majorFont>
        <a:latin typeface="Times New Roman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DSP2024</Template>
  <TotalTime>9280</TotalTime>
  <Words>3540</Words>
  <Application>Microsoft Office PowerPoint</Application>
  <PresentationFormat>全屏显示(4:3)</PresentationFormat>
  <Paragraphs>462</Paragraphs>
  <Slides>73</Slides>
  <Notes>2</Notes>
  <HiddenSlides>0</HiddenSlides>
  <MMClips>3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73</vt:i4>
      </vt:variant>
    </vt:vector>
  </HeadingPairs>
  <TitlesOfParts>
    <vt:vector size="88" baseType="lpstr">
      <vt:lpstr>等线</vt:lpstr>
      <vt:lpstr>等线 Light</vt:lpstr>
      <vt:lpstr>黑体</vt:lpstr>
      <vt:lpstr>楷体_GB2312</vt:lpstr>
      <vt:lpstr>宋体</vt:lpstr>
      <vt:lpstr>Arial</vt:lpstr>
      <vt:lpstr>Tahoma</vt:lpstr>
      <vt:lpstr>Times New Roman</vt:lpstr>
      <vt:lpstr>Wingdings</vt:lpstr>
      <vt:lpstr>DSP2024</vt:lpstr>
      <vt:lpstr>自定义设计方案</vt:lpstr>
      <vt:lpstr>Equation</vt:lpstr>
      <vt:lpstr>公式</vt:lpstr>
      <vt:lpstr>MathType 7.0 Equation</vt:lpstr>
      <vt:lpstr>Equation.3</vt:lpstr>
      <vt:lpstr>第4章  无限长单位脉冲响应（IIR）             滤波器的设计方法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由模拟滤波器设计数字滤波器步骤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归一化的模拟巴特沃思低通滤波器</vt:lpstr>
      <vt:lpstr>PowerPoint 演示文稿</vt:lpstr>
      <vt:lpstr>PowerPoint 演示文稿</vt:lpstr>
      <vt:lpstr>图4.9  椭圆滤波器幅度平方函数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图4.13 脉冲响应不变法的映射关系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4.3要点</vt:lpstr>
      <vt:lpstr>PowerPoint 演示文稿</vt:lpstr>
      <vt:lpstr>例4.8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</vt:lpstr>
      <vt:lpstr>PowerPoint 演示文稿</vt:lpstr>
      <vt:lpstr>4.4要点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无限长单位脉冲响应（IIR）             滤波器的设计方法</dc:title>
  <dc:creator>user</dc:creator>
  <cp:lastModifiedBy>克琴 周</cp:lastModifiedBy>
  <cp:revision>1081</cp:revision>
  <cp:lastPrinted>2025-04-23T20:15:02Z</cp:lastPrinted>
  <dcterms:created xsi:type="dcterms:W3CDTF">2001-09-22T01:55:13Z</dcterms:created>
  <dcterms:modified xsi:type="dcterms:W3CDTF">2025-05-07T18:33:30Z</dcterms:modified>
</cp:coreProperties>
</file>