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 id="2147483685" r:id="rId2"/>
  </p:sldMasterIdLst>
  <p:notesMasterIdLst>
    <p:notesMasterId r:id="rId107"/>
  </p:notesMasterIdLst>
  <p:handoutMasterIdLst>
    <p:handoutMasterId r:id="rId108"/>
  </p:handoutMasterIdLst>
  <p:sldIdLst>
    <p:sldId id="256" r:id="rId3"/>
    <p:sldId id="588" r:id="rId4"/>
    <p:sldId id="617" r:id="rId5"/>
    <p:sldId id="619" r:id="rId6"/>
    <p:sldId id="620" r:id="rId7"/>
    <p:sldId id="270" r:id="rId8"/>
    <p:sldId id="621" r:id="rId9"/>
    <p:sldId id="272" r:id="rId10"/>
    <p:sldId id="421" r:id="rId11"/>
    <p:sldId id="273" r:id="rId12"/>
    <p:sldId id="622" r:id="rId13"/>
    <p:sldId id="623" r:id="rId14"/>
    <p:sldId id="624" r:id="rId15"/>
    <p:sldId id="278" r:id="rId16"/>
    <p:sldId id="625" r:id="rId17"/>
    <p:sldId id="634" r:id="rId18"/>
    <p:sldId id="635" r:id="rId19"/>
    <p:sldId id="626" r:id="rId20"/>
    <p:sldId id="627" r:id="rId21"/>
    <p:sldId id="628" r:id="rId22"/>
    <p:sldId id="629" r:id="rId23"/>
    <p:sldId id="630" r:id="rId24"/>
    <p:sldId id="631" r:id="rId25"/>
    <p:sldId id="632" r:id="rId26"/>
    <p:sldId id="633" r:id="rId27"/>
    <p:sldId id="637" r:id="rId28"/>
    <p:sldId id="638" r:id="rId29"/>
    <p:sldId id="639" r:id="rId30"/>
    <p:sldId id="636" r:id="rId31"/>
    <p:sldId id="640" r:id="rId32"/>
    <p:sldId id="641" r:id="rId33"/>
    <p:sldId id="642" r:id="rId34"/>
    <p:sldId id="643" r:id="rId35"/>
    <p:sldId id="419" r:id="rId36"/>
    <p:sldId id="645" r:id="rId37"/>
    <p:sldId id="414" r:id="rId38"/>
    <p:sldId id="415" r:id="rId39"/>
    <p:sldId id="646" r:id="rId40"/>
    <p:sldId id="647" r:id="rId41"/>
    <p:sldId id="648" r:id="rId42"/>
    <p:sldId id="650" r:id="rId43"/>
    <p:sldId id="651" r:id="rId44"/>
    <p:sldId id="652" r:id="rId45"/>
    <p:sldId id="653" r:id="rId46"/>
    <p:sldId id="655" r:id="rId47"/>
    <p:sldId id="656" r:id="rId48"/>
    <p:sldId id="654" r:id="rId49"/>
    <p:sldId id="657" r:id="rId50"/>
    <p:sldId id="658" r:id="rId51"/>
    <p:sldId id="659" r:id="rId52"/>
    <p:sldId id="660" r:id="rId53"/>
    <p:sldId id="644" r:id="rId54"/>
    <p:sldId id="662" r:id="rId55"/>
    <p:sldId id="665" r:id="rId56"/>
    <p:sldId id="666" r:id="rId57"/>
    <p:sldId id="667" r:id="rId58"/>
    <p:sldId id="668" r:id="rId59"/>
    <p:sldId id="670" r:id="rId60"/>
    <p:sldId id="672" r:id="rId61"/>
    <p:sldId id="673" r:id="rId62"/>
    <p:sldId id="676" r:id="rId63"/>
    <p:sldId id="678" r:id="rId64"/>
    <p:sldId id="680" r:id="rId65"/>
    <p:sldId id="679" r:id="rId66"/>
    <p:sldId id="683" r:id="rId67"/>
    <p:sldId id="684" r:id="rId68"/>
    <p:sldId id="686" r:id="rId69"/>
    <p:sldId id="687" r:id="rId70"/>
    <p:sldId id="688" r:id="rId71"/>
    <p:sldId id="689" r:id="rId72"/>
    <p:sldId id="691" r:id="rId73"/>
    <p:sldId id="692" r:id="rId74"/>
    <p:sldId id="693" r:id="rId75"/>
    <p:sldId id="694" r:id="rId76"/>
    <p:sldId id="696" r:id="rId77"/>
    <p:sldId id="697" r:id="rId78"/>
    <p:sldId id="698" r:id="rId79"/>
    <p:sldId id="699" r:id="rId80"/>
    <p:sldId id="700" r:id="rId81"/>
    <p:sldId id="701" r:id="rId82"/>
    <p:sldId id="702" r:id="rId83"/>
    <p:sldId id="703" r:id="rId84"/>
    <p:sldId id="704" r:id="rId85"/>
    <p:sldId id="705" r:id="rId86"/>
    <p:sldId id="706" r:id="rId87"/>
    <p:sldId id="711" r:id="rId88"/>
    <p:sldId id="741" r:id="rId89"/>
    <p:sldId id="713" r:id="rId90"/>
    <p:sldId id="715" r:id="rId91"/>
    <p:sldId id="721" r:id="rId92"/>
    <p:sldId id="722" r:id="rId93"/>
    <p:sldId id="723" r:id="rId94"/>
    <p:sldId id="727" r:id="rId95"/>
    <p:sldId id="726" r:id="rId96"/>
    <p:sldId id="719" r:id="rId97"/>
    <p:sldId id="730" r:id="rId98"/>
    <p:sldId id="731" r:id="rId99"/>
    <p:sldId id="733" r:id="rId100"/>
    <p:sldId id="735" r:id="rId101"/>
    <p:sldId id="737" r:id="rId102"/>
    <p:sldId id="738" r:id="rId103"/>
    <p:sldId id="740" r:id="rId104"/>
    <p:sldId id="742" r:id="rId105"/>
    <p:sldId id="743" r:id="rId106"/>
  </p:sldIdLst>
  <p:sldSz cx="9144000" cy="6858000" type="screen4x3"/>
  <p:notesSz cx="6797675" cy="992505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00"/>
    <a:srgbClr val="CC0099"/>
    <a:srgbClr val="6600CC"/>
    <a:srgbClr val="FF3300"/>
    <a:srgbClr val="336600"/>
    <a:srgbClr val="800000"/>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9" autoAdjust="0"/>
    <p:restoredTop sz="91932" autoAdjust="0"/>
  </p:normalViewPr>
  <p:slideViewPr>
    <p:cSldViewPr>
      <p:cViewPr varScale="1">
        <p:scale>
          <a:sx n="82" d="100"/>
          <a:sy n="82" d="100"/>
        </p:scale>
        <p:origin x="128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4392"/>
    </p:cViewPr>
  </p:sorterViewPr>
  <p:notesViewPr>
    <p:cSldViewPr>
      <p:cViewPr varScale="1">
        <p:scale>
          <a:sx n="43" d="100"/>
          <a:sy n="43" d="100"/>
        </p:scale>
        <p:origin x="-1476" y="-96"/>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notesMaster" Target="notesMasters/notesMaster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handoutMaster" Target="handoutMasters/handout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presProps" Target="pres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45184" cy="496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15363" name="Rectangle 3"/>
          <p:cNvSpPr>
            <a:spLocks noGrp="1" noChangeArrowheads="1"/>
          </p:cNvSpPr>
          <p:nvPr>
            <p:ph type="dt" sz="quarter" idx="1"/>
          </p:nvPr>
        </p:nvSpPr>
        <p:spPr bwMode="auto">
          <a:xfrm>
            <a:off x="3852491" y="0"/>
            <a:ext cx="2945184" cy="496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t" anchorCtr="0" compatLnSpc="1">
            <a:prstTxWarp prst="textNoShape">
              <a:avLst/>
            </a:prstTxWarp>
          </a:bodyPr>
          <a:lstStyle>
            <a:lvl1pPr algn="r" eaLnBrk="1" hangingPunct="1">
              <a:defRPr kumimoji="1" sz="1200">
                <a:latin typeface="Times New Roman" pitchFamily="18" charset="0"/>
              </a:defRPr>
            </a:lvl1pPr>
          </a:lstStyle>
          <a:p>
            <a:pPr>
              <a:defRPr/>
            </a:pPr>
            <a:endParaRPr lang="en-US" altLang="zh-CN"/>
          </a:p>
        </p:txBody>
      </p:sp>
      <p:sp>
        <p:nvSpPr>
          <p:cNvPr id="15364" name="Rectangle 4"/>
          <p:cNvSpPr>
            <a:spLocks noGrp="1" noChangeArrowheads="1"/>
          </p:cNvSpPr>
          <p:nvPr>
            <p:ph type="ftr" sz="quarter" idx="2"/>
          </p:nvPr>
        </p:nvSpPr>
        <p:spPr bwMode="auto">
          <a:xfrm>
            <a:off x="0" y="9429035"/>
            <a:ext cx="2945184" cy="496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15365" name="Rectangle 5"/>
          <p:cNvSpPr>
            <a:spLocks noGrp="1" noChangeArrowheads="1"/>
          </p:cNvSpPr>
          <p:nvPr>
            <p:ph type="sldNum" sz="quarter" idx="3"/>
          </p:nvPr>
        </p:nvSpPr>
        <p:spPr bwMode="auto">
          <a:xfrm>
            <a:off x="3852491" y="9429035"/>
            <a:ext cx="2945184" cy="496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852A1687-D81F-472E-8FB1-CE457F5AC4A1}" type="slidenum">
              <a:rPr lang="en-US" altLang="zh-CN"/>
              <a:pPr>
                <a:defRPr/>
              </a:pPr>
              <a:t>‹#›</a:t>
            </a:fld>
            <a:endParaRPr lang="en-US" altLang="zh-CN"/>
          </a:p>
        </p:txBody>
      </p:sp>
    </p:spTree>
    <p:extLst>
      <p:ext uri="{BB962C8B-B14F-4D97-AF65-F5344CB8AC3E}">
        <p14:creationId xmlns:p14="http://schemas.microsoft.com/office/powerpoint/2010/main" val="30010146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0274" name="Rectangle 2"/>
          <p:cNvSpPr>
            <a:spLocks noGrp="1" noChangeArrowheads="1"/>
          </p:cNvSpPr>
          <p:nvPr>
            <p:ph type="hdr" sz="quarter"/>
          </p:nvPr>
        </p:nvSpPr>
        <p:spPr bwMode="auto">
          <a:xfrm>
            <a:off x="0" y="0"/>
            <a:ext cx="2945184" cy="496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310275" name="Rectangle 3"/>
          <p:cNvSpPr>
            <a:spLocks noGrp="1" noChangeArrowheads="1"/>
          </p:cNvSpPr>
          <p:nvPr>
            <p:ph type="dt" idx="1"/>
          </p:nvPr>
        </p:nvSpPr>
        <p:spPr bwMode="auto">
          <a:xfrm>
            <a:off x="3850907" y="0"/>
            <a:ext cx="2945184" cy="496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t" anchorCtr="0" compatLnSpc="1">
            <a:prstTxWarp prst="textNoShape">
              <a:avLst/>
            </a:prstTxWarp>
          </a:bodyPr>
          <a:lstStyle>
            <a:lvl1pPr algn="r" eaLnBrk="1" hangingPunct="1">
              <a:defRPr kumimoji="1" sz="1200">
                <a:latin typeface="Times New Roman" pitchFamily="18" charset="0"/>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9163" y="744538"/>
            <a:ext cx="4960937" cy="37211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0277" name="Rectangle 5"/>
          <p:cNvSpPr>
            <a:spLocks noGrp="1" noChangeArrowheads="1"/>
          </p:cNvSpPr>
          <p:nvPr>
            <p:ph type="body" sz="quarter" idx="3"/>
          </p:nvPr>
        </p:nvSpPr>
        <p:spPr bwMode="auto">
          <a:xfrm>
            <a:off x="679293" y="4714518"/>
            <a:ext cx="5439089" cy="4465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0278" name="Rectangle 6"/>
          <p:cNvSpPr>
            <a:spLocks noGrp="1" noChangeArrowheads="1"/>
          </p:cNvSpPr>
          <p:nvPr>
            <p:ph type="ftr" sz="quarter" idx="4"/>
          </p:nvPr>
        </p:nvSpPr>
        <p:spPr bwMode="auto">
          <a:xfrm>
            <a:off x="0" y="9427451"/>
            <a:ext cx="2945184" cy="496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310279" name="Rectangle 7"/>
          <p:cNvSpPr>
            <a:spLocks noGrp="1" noChangeArrowheads="1"/>
          </p:cNvSpPr>
          <p:nvPr>
            <p:ph type="sldNum" sz="quarter" idx="5"/>
          </p:nvPr>
        </p:nvSpPr>
        <p:spPr bwMode="auto">
          <a:xfrm>
            <a:off x="3850907" y="9427451"/>
            <a:ext cx="2945184" cy="496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48" tIns="45624" rIns="91248" bIns="45624"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1812C558-BBB5-4901-BC75-48CF9CE6EEA9}" type="slidenum">
              <a:rPr lang="en-US" altLang="zh-CN"/>
              <a:pPr>
                <a:defRPr/>
              </a:pPr>
              <a:t>‹#›</a:t>
            </a:fld>
            <a:endParaRPr lang="en-US" altLang="zh-CN"/>
          </a:p>
        </p:txBody>
      </p:sp>
    </p:spTree>
    <p:extLst>
      <p:ext uri="{BB962C8B-B14F-4D97-AF65-F5344CB8AC3E}">
        <p14:creationId xmlns:p14="http://schemas.microsoft.com/office/powerpoint/2010/main" val="25243474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p:spPr>
      </p:sp>
      <p:sp>
        <p:nvSpPr>
          <p:cNvPr id="5123" name="备注占位符 2"/>
          <p:cNvSpPr>
            <a:spLocks noGrp="1"/>
          </p:cNvSpPr>
          <p:nvPr>
            <p:ph type="body" idx="1"/>
          </p:nvPr>
        </p:nvSpPr>
        <p:spPr>
          <a:noFill/>
        </p:spPr>
        <p:txBody>
          <a:bodyPr/>
          <a:lstStyle/>
          <a:p>
            <a:endParaRPr lang="zh-CN" altLang="en-US"/>
          </a:p>
        </p:txBody>
      </p:sp>
      <p:sp>
        <p:nvSpPr>
          <p:cNvPr id="5124"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1390" indent="-285150">
              <a:defRPr>
                <a:solidFill>
                  <a:schemeClr val="tx1"/>
                </a:solidFill>
                <a:latin typeface="Arial" panose="020B0604020202020204" pitchFamily="34" charset="0"/>
                <a:ea typeface="宋体" panose="02010600030101010101" pitchFamily="2" charset="-122"/>
              </a:defRPr>
            </a:lvl2pPr>
            <a:lvl3pPr marL="1140600" indent="-228120">
              <a:defRPr>
                <a:solidFill>
                  <a:schemeClr val="tx1"/>
                </a:solidFill>
                <a:latin typeface="Arial" panose="020B0604020202020204" pitchFamily="34" charset="0"/>
                <a:ea typeface="宋体" panose="02010600030101010101" pitchFamily="2" charset="-122"/>
              </a:defRPr>
            </a:lvl3pPr>
            <a:lvl4pPr marL="1596840" indent="-228120">
              <a:defRPr>
                <a:solidFill>
                  <a:schemeClr val="tx1"/>
                </a:solidFill>
                <a:latin typeface="Arial" panose="020B0604020202020204" pitchFamily="34" charset="0"/>
                <a:ea typeface="宋体" panose="02010600030101010101" pitchFamily="2" charset="-122"/>
              </a:defRPr>
            </a:lvl4pPr>
            <a:lvl5pPr marL="2053079" indent="-228120">
              <a:defRPr>
                <a:solidFill>
                  <a:schemeClr val="tx1"/>
                </a:solidFill>
                <a:latin typeface="Arial" panose="020B0604020202020204" pitchFamily="34" charset="0"/>
                <a:ea typeface="宋体" panose="02010600030101010101" pitchFamily="2" charset="-122"/>
              </a:defRPr>
            </a:lvl5pPr>
            <a:lvl6pPr marL="2509319" indent="-22812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65559" indent="-22812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1799" indent="-22812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78039" indent="-22812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E9157C1-42D6-4526-BDA7-9ACD0E6D28B0}" type="slidenum">
              <a:rPr lang="en-US" altLang="zh-CN" smtClean="0">
                <a:latin typeface="Times New Roman" panose="02020603050405020304" pitchFamily="18" charset="0"/>
              </a:rPr>
              <a:pPr/>
              <a:t>1</a:t>
            </a:fld>
            <a:endParaRPr lang="en-US"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grpSp>
          <p:nvGrpSpPr>
            <p:cNvPr id="6" name="Group 4"/>
            <p:cNvGrpSpPr>
              <a:grpSpLocks/>
            </p:cNvGrpSpPr>
            <p:nvPr userDrawn="1"/>
          </p:nvGrpSpPr>
          <p:grpSpPr bwMode="auto">
            <a:xfrm>
              <a:off x="0" y="-12"/>
              <a:ext cx="5760" cy="1045"/>
              <a:chOff x="0" y="-9"/>
              <a:chExt cx="5760" cy="1045"/>
            </a:xfrm>
          </p:grpSpPr>
          <p:sp>
            <p:nvSpPr>
              <p:cNvPr id="8" name="Freeform 5"/>
              <p:cNvSpPr>
                <a:spLocks/>
              </p:cNvSpPr>
              <p:nvPr userDrawn="1"/>
            </p:nvSpPr>
            <p:spPr bwMode="ltGray">
              <a:xfrm>
                <a:off x="0" y="4"/>
                <a:ext cx="5760" cy="1032"/>
              </a:xfrm>
              <a:custGeom>
                <a:avLst/>
                <a:gdLst>
                  <a:gd name="T0" fmla="*/ 9661 w 4848"/>
                  <a:gd name="T1" fmla="*/ 14068 h 432"/>
                  <a:gd name="T2" fmla="*/ 0 w 4848"/>
                  <a:gd name="T3" fmla="*/ 14068 h 432"/>
                  <a:gd name="T4" fmla="*/ 0 w 4848"/>
                  <a:gd name="T5" fmla="*/ 0 h 432"/>
                  <a:gd name="T6" fmla="*/ 9661 w 4848"/>
                  <a:gd name="T7" fmla="*/ 0 h 432"/>
                  <a:gd name="T8" fmla="*/ 9661 w 4848"/>
                  <a:gd name="T9" fmla="*/ 14068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ffectLst/>
              <a:extLst>
                <a:ext uri="{91240B29-F687-4F45-9708-019B960494DF}">
                  <a14:hiddenLine xmlns:a14="http://schemas.microsoft.com/office/drawing/2010/main" w="9525">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9 w 15"/>
                    <a:gd name="T1" fmla="*/ 7 h 23"/>
                    <a:gd name="T2" fmla="*/ 25 w 15"/>
                    <a:gd name="T3" fmla="*/ 3 h 23"/>
                    <a:gd name="T4" fmla="*/ 22 w 15"/>
                    <a:gd name="T5" fmla="*/ 10 h 23"/>
                    <a:gd name="T6" fmla="*/ 9 w 15"/>
                    <a:gd name="T7" fmla="*/ 7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8"/>
                <p:cNvSpPr>
                  <a:spLocks/>
                </p:cNvSpPr>
                <p:nvPr userDrawn="1"/>
              </p:nvSpPr>
              <p:spPr bwMode="ltGray">
                <a:xfrm>
                  <a:off x="3406" y="1015"/>
                  <a:ext cx="21" cy="20"/>
                </a:xfrm>
                <a:custGeom>
                  <a:avLst/>
                  <a:gdLst>
                    <a:gd name="T0" fmla="*/ 3 w 20"/>
                    <a:gd name="T1" fmla="*/ 8 h 23"/>
                    <a:gd name="T2" fmla="*/ 15 w 20"/>
                    <a:gd name="T3" fmla="*/ 3 h 23"/>
                    <a:gd name="T4" fmla="*/ 7 w 20"/>
                    <a:gd name="T5" fmla="*/ 11 h 23"/>
                    <a:gd name="T6" fmla="*/ 3 w 20"/>
                    <a:gd name="T7" fmla="*/ 8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9"/>
                <p:cNvSpPr>
                  <a:spLocks/>
                </p:cNvSpPr>
                <p:nvPr userDrawn="1"/>
              </p:nvSpPr>
              <p:spPr bwMode="ltGray">
                <a:xfrm>
                  <a:off x="2909" y="908"/>
                  <a:ext cx="31" cy="34"/>
                </a:xfrm>
                <a:custGeom>
                  <a:avLst/>
                  <a:gdLst>
                    <a:gd name="T0" fmla="*/ 20 w 30"/>
                    <a:gd name="T1" fmla="*/ 15 h 42"/>
                    <a:gd name="T2" fmla="*/ 8 w 30"/>
                    <a:gd name="T3" fmla="*/ 9 h 42"/>
                    <a:gd name="T4" fmla="*/ 0 w 30"/>
                    <a:gd name="T5" fmla="*/ 4 h 42"/>
                    <a:gd name="T6" fmla="*/ 20 w 30"/>
                    <a:gd name="T7" fmla="*/ 2 h 42"/>
                    <a:gd name="T8" fmla="*/ 34 w 30"/>
                    <a:gd name="T9" fmla="*/ 10 h 42"/>
                    <a:gd name="T10" fmla="*/ 32 w 30"/>
                    <a:gd name="T11" fmla="*/ 13 h 42"/>
                    <a:gd name="T12" fmla="*/ 20 w 30"/>
                    <a:gd name="T13" fmla="*/ 15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Freeform 10"/>
                <p:cNvSpPr>
                  <a:spLocks/>
                </p:cNvSpPr>
                <p:nvPr userDrawn="1"/>
              </p:nvSpPr>
              <p:spPr bwMode="ltGray">
                <a:xfrm>
                  <a:off x="2551" y="940"/>
                  <a:ext cx="25" cy="12"/>
                </a:xfrm>
                <a:custGeom>
                  <a:avLst/>
                  <a:gdLst>
                    <a:gd name="T0" fmla="*/ 15 w 25"/>
                    <a:gd name="T1" fmla="*/ 5 h 16"/>
                    <a:gd name="T2" fmla="*/ 3 w 25"/>
                    <a:gd name="T3" fmla="*/ 3 h 16"/>
                    <a:gd name="T4" fmla="*/ 15 w 25"/>
                    <a:gd name="T5" fmla="*/ 0 h 16"/>
                    <a:gd name="T6" fmla="*/ 15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Freeform 11"/>
                <p:cNvSpPr>
                  <a:spLocks/>
                </p:cNvSpPr>
                <p:nvPr userDrawn="1"/>
              </p:nvSpPr>
              <p:spPr bwMode="ltGray">
                <a:xfrm>
                  <a:off x="2443" y="954"/>
                  <a:ext cx="65" cy="39"/>
                </a:xfrm>
                <a:custGeom>
                  <a:avLst/>
                  <a:gdLst>
                    <a:gd name="T0" fmla="*/ 14 w 65"/>
                    <a:gd name="T1" fmla="*/ 12 h 46"/>
                    <a:gd name="T2" fmla="*/ 30 w 65"/>
                    <a:gd name="T3" fmla="*/ 3 h 46"/>
                    <a:gd name="T4" fmla="*/ 42 w 65"/>
                    <a:gd name="T5" fmla="*/ 0 h 46"/>
                    <a:gd name="T6" fmla="*/ 58 w 65"/>
                    <a:gd name="T7" fmla="*/ 6 h 46"/>
                    <a:gd name="T8" fmla="*/ 32 w 65"/>
                    <a:gd name="T9" fmla="*/ 14 h 46"/>
                    <a:gd name="T10" fmla="*/ 12 w 65"/>
                    <a:gd name="T11" fmla="*/ 24 h 46"/>
                    <a:gd name="T12" fmla="*/ 8 w 65"/>
                    <a:gd name="T13" fmla="*/ 10 h 46"/>
                    <a:gd name="T14" fmla="*/ 12 w 65"/>
                    <a:gd name="T15" fmla="*/ 7 h 46"/>
                    <a:gd name="T16" fmla="*/ 14 w 65"/>
                    <a:gd name="T17" fmla="*/ 12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Freeform 12"/>
                <p:cNvSpPr>
                  <a:spLocks/>
                </p:cNvSpPr>
                <p:nvPr userDrawn="1"/>
              </p:nvSpPr>
              <p:spPr bwMode="ltGray">
                <a:xfrm>
                  <a:off x="2375" y="952"/>
                  <a:ext cx="68" cy="39"/>
                </a:xfrm>
                <a:custGeom>
                  <a:avLst/>
                  <a:gdLst>
                    <a:gd name="T0" fmla="*/ 0 w 69"/>
                    <a:gd name="T1" fmla="*/ 15 h 47"/>
                    <a:gd name="T2" fmla="*/ 18 w 69"/>
                    <a:gd name="T3" fmla="*/ 12 h 47"/>
                    <a:gd name="T4" fmla="*/ 48 w 69"/>
                    <a:gd name="T5" fmla="*/ 1 h 47"/>
                    <a:gd name="T6" fmla="*/ 60 w 69"/>
                    <a:gd name="T7" fmla="*/ 2 h 47"/>
                    <a:gd name="T8" fmla="*/ 46 w 69"/>
                    <a:gd name="T9" fmla="*/ 9 h 47"/>
                    <a:gd name="T10" fmla="*/ 28 w 69"/>
                    <a:gd name="T11" fmla="*/ 15 h 47"/>
                    <a:gd name="T12" fmla="*/ 22 w 69"/>
                    <a:gd name="T13" fmla="*/ 22 h 47"/>
                    <a:gd name="T14" fmla="*/ 16 w 69"/>
                    <a:gd name="T15" fmla="*/ 22 h 47"/>
                    <a:gd name="T16" fmla="*/ 12 w 69"/>
                    <a:gd name="T17" fmla="*/ 18 h 47"/>
                    <a:gd name="T18" fmla="*/ 0 w 69"/>
                    <a:gd name="T19" fmla="*/ 17 h 47"/>
                    <a:gd name="T20" fmla="*/ 0 w 69"/>
                    <a:gd name="T21" fmla="*/ 15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8 h 277"/>
                    <a:gd name="T4" fmla="*/ 46 w 355"/>
                    <a:gd name="T5" fmla="*/ 14 h 277"/>
                    <a:gd name="T6" fmla="*/ 76 w 355"/>
                    <a:gd name="T7" fmla="*/ 24 h 277"/>
                    <a:gd name="T8" fmla="*/ 92 w 355"/>
                    <a:gd name="T9" fmla="*/ 30 h 277"/>
                    <a:gd name="T10" fmla="*/ 122 w 355"/>
                    <a:gd name="T11" fmla="*/ 45 h 277"/>
                    <a:gd name="T12" fmla="*/ 136 w 355"/>
                    <a:gd name="T13" fmla="*/ 58 h 277"/>
                    <a:gd name="T14" fmla="*/ 148 w 355"/>
                    <a:gd name="T15" fmla="*/ 61 h 277"/>
                    <a:gd name="T16" fmla="*/ 154 w 355"/>
                    <a:gd name="T17" fmla="*/ 68 h 277"/>
                    <a:gd name="T18" fmla="*/ 176 w 355"/>
                    <a:gd name="T19" fmla="*/ 70 h 277"/>
                    <a:gd name="T20" fmla="*/ 170 w 355"/>
                    <a:gd name="T21" fmla="*/ 90 h 277"/>
                    <a:gd name="T22" fmla="*/ 177 w 355"/>
                    <a:gd name="T23" fmla="*/ 102 h 277"/>
                    <a:gd name="T24" fmla="*/ 194 w 355"/>
                    <a:gd name="T25" fmla="*/ 106 h 277"/>
                    <a:gd name="T26" fmla="*/ 212 w 355"/>
                    <a:gd name="T27" fmla="*/ 108 h 277"/>
                    <a:gd name="T28" fmla="*/ 232 w 355"/>
                    <a:gd name="T29" fmla="*/ 111 h 277"/>
                    <a:gd name="T30" fmla="*/ 250 w 355"/>
                    <a:gd name="T31" fmla="*/ 109 h 277"/>
                    <a:gd name="T32" fmla="*/ 268 w 355"/>
                    <a:gd name="T33" fmla="*/ 114 h 277"/>
                    <a:gd name="T34" fmla="*/ 292 w 355"/>
                    <a:gd name="T35" fmla="*/ 118 h 277"/>
                    <a:gd name="T36" fmla="*/ 310 w 355"/>
                    <a:gd name="T37" fmla="*/ 121 h 277"/>
                    <a:gd name="T38" fmla="*/ 348 w 355"/>
                    <a:gd name="T39" fmla="*/ 122 h 277"/>
                    <a:gd name="T40" fmla="*/ 338 w 355"/>
                    <a:gd name="T41" fmla="*/ 126 h 277"/>
                    <a:gd name="T42" fmla="*/ 318 w 355"/>
                    <a:gd name="T43" fmla="*/ 124 h 277"/>
                    <a:gd name="T44" fmla="*/ 296 w 355"/>
                    <a:gd name="T45" fmla="*/ 124 h 277"/>
                    <a:gd name="T46" fmla="*/ 284 w 355"/>
                    <a:gd name="T47" fmla="*/ 122 h 277"/>
                    <a:gd name="T48" fmla="*/ 248 w 355"/>
                    <a:gd name="T49" fmla="*/ 121 h 277"/>
                    <a:gd name="T50" fmla="*/ 230 w 355"/>
                    <a:gd name="T51" fmla="*/ 119 h 277"/>
                    <a:gd name="T52" fmla="*/ 172 w 355"/>
                    <a:gd name="T53" fmla="*/ 111 h 277"/>
                    <a:gd name="T54" fmla="*/ 160 w 355"/>
                    <a:gd name="T55" fmla="*/ 100 h 277"/>
                    <a:gd name="T56" fmla="*/ 126 w 355"/>
                    <a:gd name="T57" fmla="*/ 92 h 277"/>
                    <a:gd name="T58" fmla="*/ 108 w 355"/>
                    <a:gd name="T59" fmla="*/ 86 h 277"/>
                    <a:gd name="T60" fmla="*/ 94 w 355"/>
                    <a:gd name="T61" fmla="*/ 72 h 277"/>
                    <a:gd name="T62" fmla="*/ 68 w 355"/>
                    <a:gd name="T63" fmla="*/ 49 h 277"/>
                    <a:gd name="T64" fmla="*/ 64 w 355"/>
                    <a:gd name="T65" fmla="*/ 47 h 277"/>
                    <a:gd name="T66" fmla="*/ 58 w 355"/>
                    <a:gd name="T67" fmla="*/ 45 h 277"/>
                    <a:gd name="T68" fmla="*/ 54 w 355"/>
                    <a:gd name="T69" fmla="*/ 40 h 277"/>
                    <a:gd name="T70" fmla="*/ 38 w 355"/>
                    <a:gd name="T71" fmla="*/ 27 h 277"/>
                    <a:gd name="T72" fmla="*/ 20 w 355"/>
                    <a:gd name="T73" fmla="*/ 18 h 277"/>
                    <a:gd name="T74" fmla="*/ 4 w 355"/>
                    <a:gd name="T75" fmla="*/ 10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14"/>
                <p:cNvSpPr>
                  <a:spLocks/>
                </p:cNvSpPr>
                <p:nvPr userDrawn="1"/>
              </p:nvSpPr>
              <p:spPr bwMode="ltGray">
                <a:xfrm>
                  <a:off x="2222" y="724"/>
                  <a:ext cx="157" cy="167"/>
                </a:xfrm>
                <a:custGeom>
                  <a:avLst/>
                  <a:gdLst>
                    <a:gd name="T0" fmla="*/ 54 w 156"/>
                    <a:gd name="T1" fmla="*/ 29 h 206"/>
                    <a:gd name="T2" fmla="*/ 66 w 156"/>
                    <a:gd name="T3" fmla="*/ 25 h 206"/>
                    <a:gd name="T4" fmla="*/ 68 w 156"/>
                    <a:gd name="T5" fmla="*/ 23 h 206"/>
                    <a:gd name="T6" fmla="*/ 84 w 156"/>
                    <a:gd name="T7" fmla="*/ 19 h 206"/>
                    <a:gd name="T8" fmla="*/ 110 w 156"/>
                    <a:gd name="T9" fmla="*/ 10 h 206"/>
                    <a:gd name="T10" fmla="*/ 116 w 156"/>
                    <a:gd name="T11" fmla="*/ 2 h 206"/>
                    <a:gd name="T12" fmla="*/ 128 w 156"/>
                    <a:gd name="T13" fmla="*/ 0 h 206"/>
                    <a:gd name="T14" fmla="*/ 154 w 156"/>
                    <a:gd name="T15" fmla="*/ 12 h 206"/>
                    <a:gd name="T16" fmla="*/ 150 w 156"/>
                    <a:gd name="T17" fmla="*/ 19 h 206"/>
                    <a:gd name="T18" fmla="*/ 130 w 156"/>
                    <a:gd name="T19" fmla="*/ 28 h 206"/>
                    <a:gd name="T20" fmla="*/ 136 w 156"/>
                    <a:gd name="T21" fmla="*/ 41 h 206"/>
                    <a:gd name="T22" fmla="*/ 146 w 156"/>
                    <a:gd name="T23" fmla="*/ 47 h 206"/>
                    <a:gd name="T24" fmla="*/ 150 w 156"/>
                    <a:gd name="T25" fmla="*/ 55 h 206"/>
                    <a:gd name="T26" fmla="*/ 132 w 156"/>
                    <a:gd name="T27" fmla="*/ 55 h 206"/>
                    <a:gd name="T28" fmla="*/ 120 w 156"/>
                    <a:gd name="T29" fmla="*/ 63 h 206"/>
                    <a:gd name="T30" fmla="*/ 108 w 156"/>
                    <a:gd name="T31" fmla="*/ 67 h 206"/>
                    <a:gd name="T32" fmla="*/ 104 w 156"/>
                    <a:gd name="T33" fmla="*/ 86 h 206"/>
                    <a:gd name="T34" fmla="*/ 92 w 156"/>
                    <a:gd name="T35" fmla="*/ 88 h 206"/>
                    <a:gd name="T36" fmla="*/ 86 w 156"/>
                    <a:gd name="T37" fmla="*/ 88 h 206"/>
                    <a:gd name="T38" fmla="*/ 76 w 156"/>
                    <a:gd name="T39" fmla="*/ 88 h 206"/>
                    <a:gd name="T40" fmla="*/ 72 w 156"/>
                    <a:gd name="T41" fmla="*/ 82 h 206"/>
                    <a:gd name="T42" fmla="*/ 60 w 156"/>
                    <a:gd name="T43" fmla="*/ 80 h 206"/>
                    <a:gd name="T44" fmla="*/ 42 w 156"/>
                    <a:gd name="T45" fmla="*/ 84 h 206"/>
                    <a:gd name="T46" fmla="*/ 28 w 156"/>
                    <a:gd name="T47" fmla="*/ 80 h 206"/>
                    <a:gd name="T48" fmla="*/ 10 w 156"/>
                    <a:gd name="T49" fmla="*/ 64 h 206"/>
                    <a:gd name="T50" fmla="*/ 4 w 156"/>
                    <a:gd name="T51" fmla="*/ 56 h 206"/>
                    <a:gd name="T52" fmla="*/ 0 w 156"/>
                    <a:gd name="T53" fmla="*/ 51 h 206"/>
                    <a:gd name="T54" fmla="*/ 20 w 156"/>
                    <a:gd name="T55" fmla="*/ 41 h 206"/>
                    <a:gd name="T56" fmla="*/ 32 w 156"/>
                    <a:gd name="T57" fmla="*/ 45 h 206"/>
                    <a:gd name="T58" fmla="*/ 34 w 156"/>
                    <a:gd name="T59" fmla="*/ 35 h 206"/>
                    <a:gd name="T60" fmla="*/ 52 w 156"/>
                    <a:gd name="T61" fmla="*/ 30 h 206"/>
                    <a:gd name="T62" fmla="*/ 54 w 156"/>
                    <a:gd name="T63" fmla="*/ 29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Freeform 15"/>
                <p:cNvSpPr>
                  <a:spLocks/>
                </p:cNvSpPr>
                <p:nvPr userDrawn="1"/>
              </p:nvSpPr>
              <p:spPr bwMode="ltGray">
                <a:xfrm>
                  <a:off x="2375" y="800"/>
                  <a:ext cx="110" cy="32"/>
                </a:xfrm>
                <a:custGeom>
                  <a:avLst/>
                  <a:gdLst>
                    <a:gd name="T0" fmla="*/ 4 w 109"/>
                    <a:gd name="T1" fmla="*/ 16 h 38"/>
                    <a:gd name="T2" fmla="*/ 18 w 109"/>
                    <a:gd name="T3" fmla="*/ 5 h 38"/>
                    <a:gd name="T4" fmla="*/ 46 w 109"/>
                    <a:gd name="T5" fmla="*/ 10 h 38"/>
                    <a:gd name="T6" fmla="*/ 76 w 109"/>
                    <a:gd name="T7" fmla="*/ 7 h 38"/>
                    <a:gd name="T8" fmla="*/ 94 w 109"/>
                    <a:gd name="T9" fmla="*/ 0 h 38"/>
                    <a:gd name="T10" fmla="*/ 80 w 109"/>
                    <a:gd name="T11" fmla="*/ 13 h 38"/>
                    <a:gd name="T12" fmla="*/ 64 w 109"/>
                    <a:gd name="T13" fmla="*/ 19 h 38"/>
                    <a:gd name="T14" fmla="*/ 42 w 109"/>
                    <a:gd name="T15" fmla="*/ 16 h 38"/>
                    <a:gd name="T16" fmla="*/ 14 w 109"/>
                    <a:gd name="T17" fmla="*/ 15 h 38"/>
                    <a:gd name="T18" fmla="*/ 4 w 109"/>
                    <a:gd name="T19" fmla="*/ 16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Freeform 16"/>
                <p:cNvSpPr>
                  <a:spLocks/>
                </p:cNvSpPr>
                <p:nvPr userDrawn="1"/>
              </p:nvSpPr>
              <p:spPr bwMode="ltGray">
                <a:xfrm>
                  <a:off x="2370" y="839"/>
                  <a:ext cx="75" cy="84"/>
                </a:xfrm>
                <a:custGeom>
                  <a:avLst/>
                  <a:gdLst>
                    <a:gd name="T0" fmla="*/ 8 w 76"/>
                    <a:gd name="T1" fmla="*/ 8 h 104"/>
                    <a:gd name="T2" fmla="*/ 18 w 76"/>
                    <a:gd name="T3" fmla="*/ 0 h 104"/>
                    <a:gd name="T4" fmla="*/ 34 w 76"/>
                    <a:gd name="T5" fmla="*/ 8 h 104"/>
                    <a:gd name="T6" fmla="*/ 58 w 76"/>
                    <a:gd name="T7" fmla="*/ 2 h 104"/>
                    <a:gd name="T8" fmla="*/ 42 w 76"/>
                    <a:gd name="T9" fmla="*/ 15 h 104"/>
                    <a:gd name="T10" fmla="*/ 50 w 76"/>
                    <a:gd name="T11" fmla="*/ 21 h 104"/>
                    <a:gd name="T12" fmla="*/ 54 w 76"/>
                    <a:gd name="T13" fmla="*/ 26 h 104"/>
                    <a:gd name="T14" fmla="*/ 42 w 76"/>
                    <a:gd name="T15" fmla="*/ 32 h 104"/>
                    <a:gd name="T16" fmla="*/ 34 w 76"/>
                    <a:gd name="T17" fmla="*/ 26 h 104"/>
                    <a:gd name="T18" fmla="*/ 22 w 76"/>
                    <a:gd name="T19" fmla="*/ 21 h 104"/>
                    <a:gd name="T20" fmla="*/ 28 w 76"/>
                    <a:gd name="T21" fmla="*/ 29 h 104"/>
                    <a:gd name="T22" fmla="*/ 30 w 76"/>
                    <a:gd name="T23" fmla="*/ 32 h 104"/>
                    <a:gd name="T24" fmla="*/ 20 w 76"/>
                    <a:gd name="T25" fmla="*/ 44 h 104"/>
                    <a:gd name="T26" fmla="*/ 12 w 76"/>
                    <a:gd name="T27" fmla="*/ 43 h 104"/>
                    <a:gd name="T28" fmla="*/ 8 w 76"/>
                    <a:gd name="T29" fmla="*/ 39 h 104"/>
                    <a:gd name="T30" fmla="*/ 0 w 76"/>
                    <a:gd name="T31" fmla="*/ 23 h 104"/>
                    <a:gd name="T32" fmla="*/ 2 w 76"/>
                    <a:gd name="T33" fmla="*/ 12 h 104"/>
                    <a:gd name="T34" fmla="*/ 8 w 76"/>
                    <a:gd name="T35" fmla="*/ 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Freeform 17"/>
                <p:cNvSpPr>
                  <a:spLocks/>
                </p:cNvSpPr>
                <p:nvPr userDrawn="1"/>
              </p:nvSpPr>
              <p:spPr bwMode="ltGray">
                <a:xfrm>
                  <a:off x="2497" y="793"/>
                  <a:ext cx="37" cy="49"/>
                </a:xfrm>
                <a:custGeom>
                  <a:avLst/>
                  <a:gdLst>
                    <a:gd name="T0" fmla="*/ 3 w 37"/>
                    <a:gd name="T1" fmla="*/ 11 h 61"/>
                    <a:gd name="T2" fmla="*/ 13 w 37"/>
                    <a:gd name="T3" fmla="*/ 0 h 61"/>
                    <a:gd name="T4" fmla="*/ 15 w 37"/>
                    <a:gd name="T5" fmla="*/ 11 h 61"/>
                    <a:gd name="T6" fmla="*/ 37 w 37"/>
                    <a:gd name="T7" fmla="*/ 16 h 61"/>
                    <a:gd name="T8" fmla="*/ 19 w 37"/>
                    <a:gd name="T9" fmla="*/ 18 h 61"/>
                    <a:gd name="T10" fmla="*/ 5 w 37"/>
                    <a:gd name="T11" fmla="*/ 25 h 61"/>
                    <a:gd name="T12" fmla="*/ 1 w 37"/>
                    <a:gd name="T13" fmla="*/ 14 h 61"/>
                    <a:gd name="T14" fmla="*/ 3 w 37"/>
                    <a:gd name="T15" fmla="*/ 11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8"/>
                <p:cNvSpPr>
                  <a:spLocks/>
                </p:cNvSpPr>
                <p:nvPr userDrawn="1"/>
              </p:nvSpPr>
              <p:spPr bwMode="ltGray">
                <a:xfrm>
                  <a:off x="2506" y="869"/>
                  <a:ext cx="47" cy="24"/>
                </a:xfrm>
                <a:custGeom>
                  <a:avLst/>
                  <a:gdLst>
                    <a:gd name="T0" fmla="*/ 7 w 49"/>
                    <a:gd name="T1" fmla="*/ 0 h 29"/>
                    <a:gd name="T2" fmla="*/ 25 w 49"/>
                    <a:gd name="T3" fmla="*/ 0 h 29"/>
                    <a:gd name="T4" fmla="*/ 41 w 49"/>
                    <a:gd name="T5" fmla="*/ 7 h 29"/>
                    <a:gd name="T6" fmla="*/ 31 w 49"/>
                    <a:gd name="T7" fmla="*/ 7 h 29"/>
                    <a:gd name="T8" fmla="*/ 3 w 49"/>
                    <a:gd name="T9" fmla="*/ 7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Freeform 19"/>
                <p:cNvSpPr>
                  <a:spLocks/>
                </p:cNvSpPr>
                <p:nvPr userDrawn="1"/>
              </p:nvSpPr>
              <p:spPr bwMode="ltGray">
                <a:xfrm>
                  <a:off x="2555" y="832"/>
                  <a:ext cx="61" cy="42"/>
                </a:xfrm>
                <a:custGeom>
                  <a:avLst/>
                  <a:gdLst>
                    <a:gd name="T0" fmla="*/ 21 w 61"/>
                    <a:gd name="T1" fmla="*/ 22 h 48"/>
                    <a:gd name="T2" fmla="*/ 15 w 61"/>
                    <a:gd name="T3" fmla="*/ 16 h 48"/>
                    <a:gd name="T4" fmla="*/ 3 w 61"/>
                    <a:gd name="T5" fmla="*/ 13 h 48"/>
                    <a:gd name="T6" fmla="*/ 13 w 61"/>
                    <a:gd name="T7" fmla="*/ 4 h 48"/>
                    <a:gd name="T8" fmla="*/ 25 w 61"/>
                    <a:gd name="T9" fmla="*/ 0 h 48"/>
                    <a:gd name="T10" fmla="*/ 49 w 61"/>
                    <a:gd name="T11" fmla="*/ 6 h 48"/>
                    <a:gd name="T12" fmla="*/ 53 w 61"/>
                    <a:gd name="T13" fmla="*/ 12 h 48"/>
                    <a:gd name="T14" fmla="*/ 61 w 61"/>
                    <a:gd name="T15" fmla="*/ 19 h 48"/>
                    <a:gd name="T16" fmla="*/ 41 w 61"/>
                    <a:gd name="T17" fmla="*/ 22 h 48"/>
                    <a:gd name="T18" fmla="*/ 23 w 61"/>
                    <a:gd name="T19" fmla="*/ 26 h 48"/>
                    <a:gd name="T20" fmla="*/ 21 w 61"/>
                    <a:gd name="T21" fmla="*/ 22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Freeform 20"/>
                <p:cNvSpPr>
                  <a:spLocks/>
                </p:cNvSpPr>
                <p:nvPr userDrawn="1"/>
              </p:nvSpPr>
              <p:spPr bwMode="ltGray">
                <a:xfrm>
                  <a:off x="2572" y="852"/>
                  <a:ext cx="286" cy="149"/>
                </a:xfrm>
                <a:custGeom>
                  <a:avLst/>
                  <a:gdLst>
                    <a:gd name="T0" fmla="*/ 46 w 286"/>
                    <a:gd name="T1" fmla="*/ 13 h 182"/>
                    <a:gd name="T2" fmla="*/ 36 w 286"/>
                    <a:gd name="T3" fmla="*/ 6 h 182"/>
                    <a:gd name="T4" fmla="*/ 26 w 286"/>
                    <a:gd name="T5" fmla="*/ 13 h 182"/>
                    <a:gd name="T6" fmla="*/ 0 w 286"/>
                    <a:gd name="T7" fmla="*/ 11 h 182"/>
                    <a:gd name="T8" fmla="*/ 10 w 286"/>
                    <a:gd name="T9" fmla="*/ 19 h 182"/>
                    <a:gd name="T10" fmla="*/ 16 w 286"/>
                    <a:gd name="T11" fmla="*/ 28 h 182"/>
                    <a:gd name="T12" fmla="*/ 24 w 286"/>
                    <a:gd name="T13" fmla="*/ 21 h 182"/>
                    <a:gd name="T14" fmla="*/ 30 w 286"/>
                    <a:gd name="T15" fmla="*/ 20 h 182"/>
                    <a:gd name="T16" fmla="*/ 48 w 286"/>
                    <a:gd name="T17" fmla="*/ 25 h 182"/>
                    <a:gd name="T18" fmla="*/ 70 w 286"/>
                    <a:gd name="T19" fmla="*/ 28 h 182"/>
                    <a:gd name="T20" fmla="*/ 88 w 286"/>
                    <a:gd name="T21" fmla="*/ 32 h 182"/>
                    <a:gd name="T22" fmla="*/ 106 w 286"/>
                    <a:gd name="T23" fmla="*/ 46 h 182"/>
                    <a:gd name="T24" fmla="*/ 104 w 286"/>
                    <a:gd name="T25" fmla="*/ 55 h 182"/>
                    <a:gd name="T26" fmla="*/ 98 w 286"/>
                    <a:gd name="T27" fmla="*/ 61 h 182"/>
                    <a:gd name="T28" fmla="*/ 122 w 286"/>
                    <a:gd name="T29" fmla="*/ 57 h 182"/>
                    <a:gd name="T30" fmla="*/ 140 w 286"/>
                    <a:gd name="T31" fmla="*/ 63 h 182"/>
                    <a:gd name="T32" fmla="*/ 168 w 286"/>
                    <a:gd name="T33" fmla="*/ 66 h 182"/>
                    <a:gd name="T34" fmla="*/ 174 w 286"/>
                    <a:gd name="T35" fmla="*/ 65 h 182"/>
                    <a:gd name="T36" fmla="*/ 168 w 286"/>
                    <a:gd name="T37" fmla="*/ 61 h 182"/>
                    <a:gd name="T38" fmla="*/ 178 w 286"/>
                    <a:gd name="T39" fmla="*/ 61 h 182"/>
                    <a:gd name="T40" fmla="*/ 186 w 286"/>
                    <a:gd name="T41" fmla="*/ 53 h 182"/>
                    <a:gd name="T42" fmla="*/ 202 w 286"/>
                    <a:gd name="T43" fmla="*/ 55 h 182"/>
                    <a:gd name="T44" fmla="*/ 214 w 286"/>
                    <a:gd name="T45" fmla="*/ 58 h 182"/>
                    <a:gd name="T46" fmla="*/ 244 w 286"/>
                    <a:gd name="T47" fmla="*/ 76 h 182"/>
                    <a:gd name="T48" fmla="*/ 262 w 286"/>
                    <a:gd name="T49" fmla="*/ 80 h 182"/>
                    <a:gd name="T50" fmla="*/ 284 w 286"/>
                    <a:gd name="T51" fmla="*/ 76 h 182"/>
                    <a:gd name="T52" fmla="*/ 268 w 286"/>
                    <a:gd name="T53" fmla="*/ 72 h 182"/>
                    <a:gd name="T54" fmla="*/ 256 w 286"/>
                    <a:gd name="T55" fmla="*/ 62 h 182"/>
                    <a:gd name="T56" fmla="*/ 250 w 286"/>
                    <a:gd name="T57" fmla="*/ 59 h 182"/>
                    <a:gd name="T58" fmla="*/ 248 w 286"/>
                    <a:gd name="T59" fmla="*/ 55 h 182"/>
                    <a:gd name="T60" fmla="*/ 236 w 286"/>
                    <a:gd name="T61" fmla="*/ 52 h 182"/>
                    <a:gd name="T62" fmla="*/ 240 w 286"/>
                    <a:gd name="T63" fmla="*/ 43 h 182"/>
                    <a:gd name="T64" fmla="*/ 220 w 286"/>
                    <a:gd name="T65" fmla="*/ 38 h 182"/>
                    <a:gd name="T66" fmla="*/ 210 w 286"/>
                    <a:gd name="T67" fmla="*/ 31 h 182"/>
                    <a:gd name="T68" fmla="*/ 190 w 286"/>
                    <a:gd name="T69" fmla="*/ 24 h 182"/>
                    <a:gd name="T70" fmla="*/ 168 w 286"/>
                    <a:gd name="T71" fmla="*/ 16 h 182"/>
                    <a:gd name="T72" fmla="*/ 156 w 286"/>
                    <a:gd name="T73" fmla="*/ 16 h 182"/>
                    <a:gd name="T74" fmla="*/ 120 w 286"/>
                    <a:gd name="T75" fmla="*/ 7 h 182"/>
                    <a:gd name="T76" fmla="*/ 102 w 286"/>
                    <a:gd name="T77" fmla="*/ 2 h 182"/>
                    <a:gd name="T78" fmla="*/ 96 w 286"/>
                    <a:gd name="T79" fmla="*/ 0 h 182"/>
                    <a:gd name="T80" fmla="*/ 70 w 286"/>
                    <a:gd name="T81" fmla="*/ 5 h 182"/>
                    <a:gd name="T82" fmla="*/ 56 w 286"/>
                    <a:gd name="T83" fmla="*/ 14 h 182"/>
                    <a:gd name="T84" fmla="*/ 46 w 286"/>
                    <a:gd name="T85" fmla="*/ 1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Freeform 21"/>
                <p:cNvSpPr>
                  <a:spLocks/>
                </p:cNvSpPr>
                <p:nvPr userDrawn="1"/>
              </p:nvSpPr>
              <p:spPr bwMode="ltGray">
                <a:xfrm>
                  <a:off x="2820" y="866"/>
                  <a:ext cx="78" cy="64"/>
                </a:xfrm>
                <a:custGeom>
                  <a:avLst/>
                  <a:gdLst>
                    <a:gd name="T0" fmla="*/ 1 w 78"/>
                    <a:gd name="T1" fmla="*/ 26 h 78"/>
                    <a:gd name="T2" fmla="*/ 27 w 78"/>
                    <a:gd name="T3" fmla="*/ 27 h 78"/>
                    <a:gd name="T4" fmla="*/ 45 w 78"/>
                    <a:gd name="T5" fmla="*/ 21 h 78"/>
                    <a:gd name="T6" fmla="*/ 57 w 78"/>
                    <a:gd name="T7" fmla="*/ 14 h 78"/>
                    <a:gd name="T8" fmla="*/ 43 w 78"/>
                    <a:gd name="T9" fmla="*/ 6 h 78"/>
                    <a:gd name="T10" fmla="*/ 43 w 78"/>
                    <a:gd name="T11" fmla="*/ 2 h 78"/>
                    <a:gd name="T12" fmla="*/ 71 w 78"/>
                    <a:gd name="T13" fmla="*/ 11 h 78"/>
                    <a:gd name="T14" fmla="*/ 67 w 78"/>
                    <a:gd name="T15" fmla="*/ 25 h 78"/>
                    <a:gd name="T16" fmla="*/ 33 w 78"/>
                    <a:gd name="T17" fmla="*/ 35 h 78"/>
                    <a:gd name="T18" fmla="*/ 9 w 78"/>
                    <a:gd name="T19" fmla="*/ 30 h 78"/>
                    <a:gd name="T20" fmla="*/ 3 w 78"/>
                    <a:gd name="T21" fmla="*/ 28 h 78"/>
                    <a:gd name="T22" fmla="*/ 1 w 78"/>
                    <a:gd name="T23" fmla="*/ 26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Freeform 22"/>
                <p:cNvSpPr>
                  <a:spLocks/>
                </p:cNvSpPr>
                <p:nvPr userDrawn="1"/>
              </p:nvSpPr>
              <p:spPr bwMode="ltGray">
                <a:xfrm>
                  <a:off x="2984" y="732"/>
                  <a:ext cx="19" cy="14"/>
                </a:xfrm>
                <a:custGeom>
                  <a:avLst/>
                  <a:gdLst>
                    <a:gd name="T0" fmla="*/ 3 w 17"/>
                    <a:gd name="T1" fmla="*/ 2 h 18"/>
                    <a:gd name="T2" fmla="*/ 3 w 17"/>
                    <a:gd name="T3" fmla="*/ 5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Freeform 23"/>
                <p:cNvSpPr>
                  <a:spLocks/>
                </p:cNvSpPr>
                <p:nvPr userDrawn="1"/>
              </p:nvSpPr>
              <p:spPr bwMode="ltGray">
                <a:xfrm>
                  <a:off x="3083" y="830"/>
                  <a:ext cx="26" cy="19"/>
                </a:xfrm>
                <a:custGeom>
                  <a:avLst/>
                  <a:gdLst>
                    <a:gd name="T0" fmla="*/ 8 w 26"/>
                    <a:gd name="T1" fmla="*/ 8 h 22"/>
                    <a:gd name="T2" fmla="*/ 14 w 26"/>
                    <a:gd name="T3" fmla="*/ 0 h 22"/>
                    <a:gd name="T4" fmla="*/ 14 w 26"/>
                    <a:gd name="T5" fmla="*/ 12 h 22"/>
                    <a:gd name="T6" fmla="*/ 8 w 26"/>
                    <a:gd name="T7" fmla="*/ 8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Freeform 24"/>
                <p:cNvSpPr>
                  <a:spLocks/>
                </p:cNvSpPr>
                <p:nvPr userDrawn="1"/>
              </p:nvSpPr>
              <p:spPr bwMode="ltGray">
                <a:xfrm>
                  <a:off x="2766" y="610"/>
                  <a:ext cx="19" cy="12"/>
                </a:xfrm>
                <a:custGeom>
                  <a:avLst/>
                  <a:gdLst>
                    <a:gd name="T0" fmla="*/ 7 w 20"/>
                    <a:gd name="T1" fmla="*/ 5 h 15"/>
                    <a:gd name="T2" fmla="*/ 13 w 20"/>
                    <a:gd name="T3" fmla="*/ 2 h 15"/>
                    <a:gd name="T4" fmla="*/ 9 w 20"/>
                    <a:gd name="T5" fmla="*/ 5 h 15"/>
                    <a:gd name="T6" fmla="*/ 7 w 20"/>
                    <a:gd name="T7" fmla="*/ 5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Freeform 25"/>
                <p:cNvSpPr>
                  <a:spLocks/>
                </p:cNvSpPr>
                <p:nvPr userDrawn="1"/>
              </p:nvSpPr>
              <p:spPr bwMode="ltGray">
                <a:xfrm>
                  <a:off x="2600" y="712"/>
                  <a:ext cx="19" cy="12"/>
                </a:xfrm>
                <a:custGeom>
                  <a:avLst/>
                  <a:gdLst>
                    <a:gd name="T0" fmla="*/ 7 w 20"/>
                    <a:gd name="T1" fmla="*/ 5 h 15"/>
                    <a:gd name="T2" fmla="*/ 11 w 20"/>
                    <a:gd name="T3" fmla="*/ 2 h 15"/>
                    <a:gd name="T4" fmla="*/ 11 w 20"/>
                    <a:gd name="T5" fmla="*/ 6 h 15"/>
                    <a:gd name="T6" fmla="*/ 7 w 20"/>
                    <a:gd name="T7" fmla="*/ 5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Freeform 26"/>
                <p:cNvSpPr>
                  <a:spLocks/>
                </p:cNvSpPr>
                <p:nvPr userDrawn="1"/>
              </p:nvSpPr>
              <p:spPr bwMode="ltGray">
                <a:xfrm>
                  <a:off x="2417" y="680"/>
                  <a:ext cx="80" cy="66"/>
                </a:xfrm>
                <a:custGeom>
                  <a:avLst/>
                  <a:gdLst>
                    <a:gd name="T0" fmla="*/ 0 w 80"/>
                    <a:gd name="T1" fmla="*/ 23 h 80"/>
                    <a:gd name="T2" fmla="*/ 14 w 80"/>
                    <a:gd name="T3" fmla="*/ 12 h 80"/>
                    <a:gd name="T4" fmla="*/ 26 w 80"/>
                    <a:gd name="T5" fmla="*/ 10 h 80"/>
                    <a:gd name="T6" fmla="*/ 48 w 80"/>
                    <a:gd name="T7" fmla="*/ 8 h 80"/>
                    <a:gd name="T8" fmla="*/ 58 w 80"/>
                    <a:gd name="T9" fmla="*/ 0 h 80"/>
                    <a:gd name="T10" fmla="*/ 80 w 80"/>
                    <a:gd name="T11" fmla="*/ 18 h 80"/>
                    <a:gd name="T12" fmla="*/ 70 w 80"/>
                    <a:gd name="T13" fmla="*/ 26 h 80"/>
                    <a:gd name="T14" fmla="*/ 54 w 80"/>
                    <a:gd name="T15" fmla="*/ 29 h 80"/>
                    <a:gd name="T16" fmla="*/ 48 w 80"/>
                    <a:gd name="T17" fmla="*/ 37 h 80"/>
                    <a:gd name="T18" fmla="*/ 32 w 80"/>
                    <a:gd name="T19" fmla="*/ 31 h 80"/>
                    <a:gd name="T20" fmla="*/ 38 w 80"/>
                    <a:gd name="T21" fmla="*/ 24 h 80"/>
                    <a:gd name="T22" fmla="*/ 30 w 80"/>
                    <a:gd name="T23" fmla="*/ 13 h 80"/>
                    <a:gd name="T24" fmla="*/ 20 w 80"/>
                    <a:gd name="T25" fmla="*/ 22 h 80"/>
                    <a:gd name="T26" fmla="*/ 8 w 80"/>
                    <a:gd name="T27" fmla="*/ 26 h 80"/>
                    <a:gd name="T28" fmla="*/ 0 w 80"/>
                    <a:gd name="T29" fmla="*/ 23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Freeform 27"/>
                <p:cNvSpPr>
                  <a:spLocks/>
                </p:cNvSpPr>
                <p:nvPr userDrawn="1"/>
              </p:nvSpPr>
              <p:spPr bwMode="ltGray">
                <a:xfrm>
                  <a:off x="2391" y="541"/>
                  <a:ext cx="94" cy="142"/>
                </a:xfrm>
                <a:custGeom>
                  <a:avLst/>
                  <a:gdLst>
                    <a:gd name="T0" fmla="*/ 14 w 94"/>
                    <a:gd name="T1" fmla="*/ 42 h 174"/>
                    <a:gd name="T2" fmla="*/ 26 w 94"/>
                    <a:gd name="T3" fmla="*/ 56 h 174"/>
                    <a:gd name="T4" fmla="*/ 32 w 94"/>
                    <a:gd name="T5" fmla="*/ 48 h 174"/>
                    <a:gd name="T6" fmla="*/ 52 w 94"/>
                    <a:gd name="T7" fmla="*/ 45 h 174"/>
                    <a:gd name="T8" fmla="*/ 46 w 94"/>
                    <a:gd name="T9" fmla="*/ 55 h 174"/>
                    <a:gd name="T10" fmla="*/ 66 w 94"/>
                    <a:gd name="T11" fmla="*/ 56 h 174"/>
                    <a:gd name="T12" fmla="*/ 76 w 94"/>
                    <a:gd name="T13" fmla="*/ 64 h 174"/>
                    <a:gd name="T14" fmla="*/ 58 w 94"/>
                    <a:gd name="T15" fmla="*/ 66 h 174"/>
                    <a:gd name="T16" fmla="*/ 74 w 94"/>
                    <a:gd name="T17" fmla="*/ 78 h 174"/>
                    <a:gd name="T18" fmla="*/ 84 w 94"/>
                    <a:gd name="T19" fmla="*/ 69 h 174"/>
                    <a:gd name="T20" fmla="*/ 82 w 94"/>
                    <a:gd name="T21" fmla="*/ 49 h 174"/>
                    <a:gd name="T22" fmla="*/ 60 w 94"/>
                    <a:gd name="T23" fmla="*/ 47 h 174"/>
                    <a:gd name="T24" fmla="*/ 50 w 94"/>
                    <a:gd name="T25" fmla="*/ 37 h 174"/>
                    <a:gd name="T26" fmla="*/ 34 w 94"/>
                    <a:gd name="T27" fmla="*/ 37 h 174"/>
                    <a:gd name="T28" fmla="*/ 30 w 94"/>
                    <a:gd name="T29" fmla="*/ 31 h 174"/>
                    <a:gd name="T30" fmla="*/ 42 w 94"/>
                    <a:gd name="T31" fmla="*/ 19 h 174"/>
                    <a:gd name="T32" fmla="*/ 30 w 94"/>
                    <a:gd name="T33" fmla="*/ 0 h 174"/>
                    <a:gd name="T34" fmla="*/ 18 w 94"/>
                    <a:gd name="T35" fmla="*/ 10 h 174"/>
                    <a:gd name="T36" fmla="*/ 4 w 94"/>
                    <a:gd name="T37" fmla="*/ 20 h 174"/>
                    <a:gd name="T38" fmla="*/ 14 w 94"/>
                    <a:gd name="T39" fmla="*/ 34 h 174"/>
                    <a:gd name="T40" fmla="*/ 14 w 94"/>
                    <a:gd name="T41" fmla="*/ 4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Freeform 28"/>
                <p:cNvSpPr>
                  <a:spLocks/>
                </p:cNvSpPr>
                <p:nvPr userDrawn="1"/>
              </p:nvSpPr>
              <p:spPr bwMode="ltGray">
                <a:xfrm>
                  <a:off x="2415" y="644"/>
                  <a:ext cx="32" cy="41"/>
                </a:xfrm>
                <a:custGeom>
                  <a:avLst/>
                  <a:gdLst>
                    <a:gd name="T0" fmla="*/ 6 w 32"/>
                    <a:gd name="T1" fmla="*/ 11 h 50"/>
                    <a:gd name="T2" fmla="*/ 12 w 32"/>
                    <a:gd name="T3" fmla="*/ 0 h 50"/>
                    <a:gd name="T4" fmla="*/ 20 w 32"/>
                    <a:gd name="T5" fmla="*/ 7 h 50"/>
                    <a:gd name="T6" fmla="*/ 22 w 32"/>
                    <a:gd name="T7" fmla="*/ 11 h 50"/>
                    <a:gd name="T8" fmla="*/ 28 w 32"/>
                    <a:gd name="T9" fmla="*/ 11 h 50"/>
                    <a:gd name="T10" fmla="*/ 32 w 32"/>
                    <a:gd name="T11" fmla="*/ 17 h 50"/>
                    <a:gd name="T12" fmla="*/ 18 w 32"/>
                    <a:gd name="T13" fmla="*/ 23 h 50"/>
                    <a:gd name="T14" fmla="*/ 6 w 32"/>
                    <a:gd name="T15" fmla="*/ 11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Freeform 29"/>
                <p:cNvSpPr>
                  <a:spLocks/>
                </p:cNvSpPr>
                <p:nvPr userDrawn="1"/>
              </p:nvSpPr>
              <p:spPr bwMode="ltGray">
                <a:xfrm>
                  <a:off x="2349" y="654"/>
                  <a:ext cx="45" cy="41"/>
                </a:xfrm>
                <a:custGeom>
                  <a:avLst/>
                  <a:gdLst>
                    <a:gd name="T0" fmla="*/ 0 w 43"/>
                    <a:gd name="T1" fmla="*/ 21 h 50"/>
                    <a:gd name="T2" fmla="*/ 26 w 43"/>
                    <a:gd name="T3" fmla="*/ 9 h 50"/>
                    <a:gd name="T4" fmla="*/ 44 w 43"/>
                    <a:gd name="T5" fmla="*/ 0 h 50"/>
                    <a:gd name="T6" fmla="*/ 28 w 43"/>
                    <a:gd name="T7" fmla="*/ 13 h 50"/>
                    <a:gd name="T8" fmla="*/ 2 w 43"/>
                    <a:gd name="T9" fmla="*/ 23 h 50"/>
                    <a:gd name="T10" fmla="*/ 0 w 43"/>
                    <a:gd name="T11" fmla="*/ 21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Freeform 30"/>
                <p:cNvSpPr>
                  <a:spLocks/>
                </p:cNvSpPr>
                <p:nvPr userDrawn="1"/>
              </p:nvSpPr>
              <p:spPr bwMode="ltGray">
                <a:xfrm>
                  <a:off x="4808" y="597"/>
                  <a:ext cx="701" cy="438"/>
                </a:xfrm>
                <a:custGeom>
                  <a:avLst/>
                  <a:gdLst>
                    <a:gd name="T0" fmla="*/ 101 w 471"/>
                    <a:gd name="T1" fmla="*/ 1652 h 281"/>
                    <a:gd name="T2" fmla="*/ 119 w 471"/>
                    <a:gd name="T3" fmla="*/ 1478 h 281"/>
                    <a:gd name="T4" fmla="*/ 109 w 471"/>
                    <a:gd name="T5" fmla="*/ 1445 h 281"/>
                    <a:gd name="T6" fmla="*/ 80 w 471"/>
                    <a:gd name="T7" fmla="*/ 1288 h 281"/>
                    <a:gd name="T8" fmla="*/ 19 w 471"/>
                    <a:gd name="T9" fmla="*/ 1269 h 281"/>
                    <a:gd name="T10" fmla="*/ 0 w 471"/>
                    <a:gd name="T11" fmla="*/ 1127 h 281"/>
                    <a:gd name="T12" fmla="*/ 60 w 471"/>
                    <a:gd name="T13" fmla="*/ 1065 h 281"/>
                    <a:gd name="T14" fmla="*/ 28 w 471"/>
                    <a:gd name="T15" fmla="*/ 974 h 281"/>
                    <a:gd name="T16" fmla="*/ 9 w 471"/>
                    <a:gd name="T17" fmla="*/ 943 h 281"/>
                    <a:gd name="T18" fmla="*/ 140 w 471"/>
                    <a:gd name="T19" fmla="*/ 708 h 281"/>
                    <a:gd name="T20" fmla="*/ 214 w 471"/>
                    <a:gd name="T21" fmla="*/ 569 h 281"/>
                    <a:gd name="T22" fmla="*/ 208 w 471"/>
                    <a:gd name="T23" fmla="*/ 413 h 281"/>
                    <a:gd name="T24" fmla="*/ 119 w 471"/>
                    <a:gd name="T25" fmla="*/ 253 h 281"/>
                    <a:gd name="T26" fmla="*/ 100 w 471"/>
                    <a:gd name="T27" fmla="*/ 190 h 281"/>
                    <a:gd name="T28" fmla="*/ 128 w 471"/>
                    <a:gd name="T29" fmla="*/ 212 h 281"/>
                    <a:gd name="T30" fmla="*/ 235 w 471"/>
                    <a:gd name="T31" fmla="*/ 209 h 281"/>
                    <a:gd name="T32" fmla="*/ 313 w 471"/>
                    <a:gd name="T33" fmla="*/ 64 h 281"/>
                    <a:gd name="T34" fmla="*/ 403 w 471"/>
                    <a:gd name="T35" fmla="*/ 0 h 281"/>
                    <a:gd name="T36" fmla="*/ 432 w 471"/>
                    <a:gd name="T37" fmla="*/ 12 h 281"/>
                    <a:gd name="T38" fmla="*/ 452 w 471"/>
                    <a:gd name="T39" fmla="*/ 53 h 281"/>
                    <a:gd name="T40" fmla="*/ 481 w 471"/>
                    <a:gd name="T41" fmla="*/ 30 h 281"/>
                    <a:gd name="T42" fmla="*/ 540 w 471"/>
                    <a:gd name="T43" fmla="*/ 47 h 281"/>
                    <a:gd name="T44" fmla="*/ 569 w 471"/>
                    <a:gd name="T45" fmla="*/ 53 h 281"/>
                    <a:gd name="T46" fmla="*/ 694 w 471"/>
                    <a:gd name="T47" fmla="*/ 83 h 281"/>
                    <a:gd name="T48" fmla="*/ 762 w 471"/>
                    <a:gd name="T49" fmla="*/ 140 h 281"/>
                    <a:gd name="T50" fmla="*/ 822 w 471"/>
                    <a:gd name="T51" fmla="*/ 100 h 281"/>
                    <a:gd name="T52" fmla="*/ 847 w 471"/>
                    <a:gd name="T53" fmla="*/ 83 h 281"/>
                    <a:gd name="T54" fmla="*/ 957 w 471"/>
                    <a:gd name="T55" fmla="*/ 83 h 281"/>
                    <a:gd name="T56" fmla="*/ 1034 w 471"/>
                    <a:gd name="T57" fmla="*/ 190 h 281"/>
                    <a:gd name="T58" fmla="*/ 1134 w 471"/>
                    <a:gd name="T59" fmla="*/ 348 h 281"/>
                    <a:gd name="T60" fmla="*/ 1203 w 471"/>
                    <a:gd name="T61" fmla="*/ 413 h 281"/>
                    <a:gd name="T62" fmla="*/ 1261 w 471"/>
                    <a:gd name="T63" fmla="*/ 401 h 281"/>
                    <a:gd name="T64" fmla="*/ 1325 w 471"/>
                    <a:gd name="T65" fmla="*/ 382 h 281"/>
                    <a:gd name="T66" fmla="*/ 1424 w 471"/>
                    <a:gd name="T67" fmla="*/ 421 h 281"/>
                    <a:gd name="T68" fmla="*/ 1470 w 471"/>
                    <a:gd name="T69" fmla="*/ 477 h 281"/>
                    <a:gd name="T70" fmla="*/ 1511 w 471"/>
                    <a:gd name="T71" fmla="*/ 530 h 281"/>
                    <a:gd name="T72" fmla="*/ 1560 w 471"/>
                    <a:gd name="T73" fmla="*/ 656 h 281"/>
                    <a:gd name="T74" fmla="*/ 1579 w 471"/>
                    <a:gd name="T75" fmla="*/ 708 h 281"/>
                    <a:gd name="T76" fmla="*/ 1588 w 471"/>
                    <a:gd name="T77" fmla="*/ 739 h 281"/>
                    <a:gd name="T78" fmla="*/ 1520 w 471"/>
                    <a:gd name="T79" fmla="*/ 835 h 281"/>
                    <a:gd name="T80" fmla="*/ 1579 w 471"/>
                    <a:gd name="T81" fmla="*/ 834 h 281"/>
                    <a:gd name="T82" fmla="*/ 1679 w 471"/>
                    <a:gd name="T83" fmla="*/ 917 h 281"/>
                    <a:gd name="T84" fmla="*/ 1787 w 471"/>
                    <a:gd name="T85" fmla="*/ 927 h 281"/>
                    <a:gd name="T86" fmla="*/ 1865 w 471"/>
                    <a:gd name="T87" fmla="*/ 991 h 281"/>
                    <a:gd name="T88" fmla="*/ 1877 w 471"/>
                    <a:gd name="T89" fmla="*/ 1016 h 281"/>
                    <a:gd name="T90" fmla="*/ 1877 w 471"/>
                    <a:gd name="T91" fmla="*/ 1038 h 281"/>
                    <a:gd name="T92" fmla="*/ 1932 w 471"/>
                    <a:gd name="T93" fmla="*/ 1016 h 281"/>
                    <a:gd name="T94" fmla="*/ 1963 w 471"/>
                    <a:gd name="T95" fmla="*/ 1010 h 281"/>
                    <a:gd name="T96" fmla="*/ 2154 w 471"/>
                    <a:gd name="T97" fmla="*/ 1091 h 281"/>
                    <a:gd name="T98" fmla="*/ 2192 w 471"/>
                    <a:gd name="T99" fmla="*/ 1174 h 281"/>
                    <a:gd name="T100" fmla="*/ 2282 w 471"/>
                    <a:gd name="T101" fmla="*/ 1186 h 281"/>
                    <a:gd name="T102" fmla="*/ 2310 w 471"/>
                    <a:gd name="T103" fmla="*/ 1269 h 281"/>
                    <a:gd name="T104" fmla="*/ 2213 w 471"/>
                    <a:gd name="T105" fmla="*/ 1523 h 281"/>
                    <a:gd name="T106" fmla="*/ 2133 w 471"/>
                    <a:gd name="T107" fmla="*/ 1660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16 h 844"/>
                    <a:gd name="T4" fmla="*/ 550 w 984"/>
                    <a:gd name="T5" fmla="*/ 16 h 844"/>
                    <a:gd name="T6" fmla="*/ 578 w 984"/>
                    <a:gd name="T7" fmla="*/ 59 h 844"/>
                    <a:gd name="T8" fmla="*/ 586 w 984"/>
                    <a:gd name="T9" fmla="*/ 41 h 844"/>
                    <a:gd name="T10" fmla="*/ 606 w 984"/>
                    <a:gd name="T11" fmla="*/ 32 h 844"/>
                    <a:gd name="T12" fmla="*/ 642 w 984"/>
                    <a:gd name="T13" fmla="*/ 57 h 844"/>
                    <a:gd name="T14" fmla="*/ 682 w 984"/>
                    <a:gd name="T15" fmla="*/ 44 h 844"/>
                    <a:gd name="T16" fmla="*/ 706 w 984"/>
                    <a:gd name="T17" fmla="*/ 39 h 844"/>
                    <a:gd name="T18" fmla="*/ 762 w 984"/>
                    <a:gd name="T19" fmla="*/ 2 h 844"/>
                    <a:gd name="T20" fmla="*/ 798 w 984"/>
                    <a:gd name="T21" fmla="*/ 32 h 844"/>
                    <a:gd name="T22" fmla="*/ 798 w 984"/>
                    <a:gd name="T23" fmla="*/ 59 h 844"/>
                    <a:gd name="T24" fmla="*/ 790 w 984"/>
                    <a:gd name="T25" fmla="*/ 72 h 844"/>
                    <a:gd name="T26" fmla="*/ 766 w 984"/>
                    <a:gd name="T27" fmla="*/ 73 h 844"/>
                    <a:gd name="T28" fmla="*/ 762 w 984"/>
                    <a:gd name="T29" fmla="*/ 84 h 844"/>
                    <a:gd name="T30" fmla="*/ 802 w 984"/>
                    <a:gd name="T31" fmla="*/ 102 h 844"/>
                    <a:gd name="T32" fmla="*/ 786 w 984"/>
                    <a:gd name="T33" fmla="*/ 145 h 844"/>
                    <a:gd name="T34" fmla="*/ 830 w 984"/>
                    <a:gd name="T35" fmla="*/ 187 h 844"/>
                    <a:gd name="T36" fmla="*/ 854 w 984"/>
                    <a:gd name="T37" fmla="*/ 203 h 844"/>
                    <a:gd name="T38" fmla="*/ 830 w 984"/>
                    <a:gd name="T39" fmla="*/ 203 h 844"/>
                    <a:gd name="T40" fmla="*/ 746 w 984"/>
                    <a:gd name="T41" fmla="*/ 171 h 844"/>
                    <a:gd name="T42" fmla="*/ 678 w 984"/>
                    <a:gd name="T43" fmla="*/ 182 h 844"/>
                    <a:gd name="T44" fmla="*/ 590 w 984"/>
                    <a:gd name="T45" fmla="*/ 200 h 844"/>
                    <a:gd name="T46" fmla="*/ 642 w 984"/>
                    <a:gd name="T47" fmla="*/ 262 h 844"/>
                    <a:gd name="T48" fmla="*/ 710 w 984"/>
                    <a:gd name="T49" fmla="*/ 275 h 844"/>
                    <a:gd name="T50" fmla="*/ 738 w 984"/>
                    <a:gd name="T51" fmla="*/ 248 h 844"/>
                    <a:gd name="T52" fmla="*/ 774 w 984"/>
                    <a:gd name="T53" fmla="*/ 257 h 844"/>
                    <a:gd name="T54" fmla="*/ 766 w 984"/>
                    <a:gd name="T55" fmla="*/ 285 h 844"/>
                    <a:gd name="T56" fmla="*/ 802 w 984"/>
                    <a:gd name="T57" fmla="*/ 303 h 844"/>
                    <a:gd name="T58" fmla="*/ 838 w 984"/>
                    <a:gd name="T59" fmla="*/ 297 h 844"/>
                    <a:gd name="T60" fmla="*/ 922 w 984"/>
                    <a:gd name="T61" fmla="*/ 364 h 844"/>
                    <a:gd name="T62" fmla="*/ 942 w 984"/>
                    <a:gd name="T63" fmla="*/ 373 h 844"/>
                    <a:gd name="T64" fmla="*/ 874 w 984"/>
                    <a:gd name="T65" fmla="*/ 366 h 844"/>
                    <a:gd name="T66" fmla="*/ 830 w 984"/>
                    <a:gd name="T67" fmla="*/ 342 h 844"/>
                    <a:gd name="T68" fmla="*/ 778 w 984"/>
                    <a:gd name="T69" fmla="*/ 321 h 844"/>
                    <a:gd name="T70" fmla="*/ 702 w 984"/>
                    <a:gd name="T71" fmla="*/ 299 h 844"/>
                    <a:gd name="T72" fmla="*/ 614 w 984"/>
                    <a:gd name="T73" fmla="*/ 293 h 844"/>
                    <a:gd name="T74" fmla="*/ 506 w 984"/>
                    <a:gd name="T75" fmla="*/ 268 h 844"/>
                    <a:gd name="T76" fmla="*/ 462 w 984"/>
                    <a:gd name="T77" fmla="*/ 229 h 844"/>
                    <a:gd name="T78" fmla="*/ 430 w 984"/>
                    <a:gd name="T79" fmla="*/ 209 h 844"/>
                    <a:gd name="T80" fmla="*/ 382 w 984"/>
                    <a:gd name="T81" fmla="*/ 194 h 844"/>
                    <a:gd name="T82" fmla="*/ 342 w 984"/>
                    <a:gd name="T83" fmla="*/ 166 h 844"/>
                    <a:gd name="T84" fmla="*/ 354 w 984"/>
                    <a:gd name="T85" fmla="*/ 187 h 844"/>
                    <a:gd name="T86" fmla="*/ 418 w 984"/>
                    <a:gd name="T87" fmla="*/ 223 h 844"/>
                    <a:gd name="T88" fmla="*/ 422 w 984"/>
                    <a:gd name="T89" fmla="*/ 237 h 844"/>
                    <a:gd name="T90" fmla="*/ 394 w 984"/>
                    <a:gd name="T91" fmla="*/ 225 h 844"/>
                    <a:gd name="T92" fmla="*/ 354 w 984"/>
                    <a:gd name="T93" fmla="*/ 211 h 844"/>
                    <a:gd name="T94" fmla="*/ 314 w 984"/>
                    <a:gd name="T95" fmla="*/ 182 h 844"/>
                    <a:gd name="T96" fmla="*/ 266 w 984"/>
                    <a:gd name="T97" fmla="*/ 157 h 844"/>
                    <a:gd name="T98" fmla="*/ 210 w 984"/>
                    <a:gd name="T99" fmla="*/ 142 h 844"/>
                    <a:gd name="T100" fmla="*/ 154 w 984"/>
                    <a:gd name="T101" fmla="*/ 107 h 844"/>
                    <a:gd name="T102" fmla="*/ 66 w 984"/>
                    <a:gd name="T103" fmla="*/ 30 h 844"/>
                    <a:gd name="T104" fmla="*/ 34 w 984"/>
                    <a:gd name="T105" fmla="*/ 16 h 844"/>
                    <a:gd name="T106" fmla="*/ 46 w 984"/>
                    <a:gd name="T107" fmla="*/ 10 h 844"/>
                    <a:gd name="T108" fmla="*/ 102 w 984"/>
                    <a:gd name="T109" fmla="*/ 32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Freeform 32"/>
                <p:cNvSpPr>
                  <a:spLocks/>
                </p:cNvSpPr>
                <p:nvPr userDrawn="1"/>
              </p:nvSpPr>
              <p:spPr bwMode="ltGray">
                <a:xfrm>
                  <a:off x="3577" y="490"/>
                  <a:ext cx="36" cy="39"/>
                </a:xfrm>
                <a:custGeom>
                  <a:avLst/>
                  <a:gdLst>
                    <a:gd name="T0" fmla="*/ 6 w 36"/>
                    <a:gd name="T1" fmla="*/ 12 h 48"/>
                    <a:gd name="T2" fmla="*/ 10 w 36"/>
                    <a:gd name="T3" fmla="*/ 21 h 48"/>
                    <a:gd name="T4" fmla="*/ 6 w 36"/>
                    <a:gd name="T5" fmla="*/ 1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Freeform 33"/>
                <p:cNvSpPr>
                  <a:spLocks/>
                </p:cNvSpPr>
                <p:nvPr userDrawn="1"/>
              </p:nvSpPr>
              <p:spPr bwMode="ltGray">
                <a:xfrm>
                  <a:off x="3549" y="475"/>
                  <a:ext cx="38" cy="29"/>
                </a:xfrm>
                <a:custGeom>
                  <a:avLst/>
                  <a:gdLst>
                    <a:gd name="T0" fmla="*/ 0 w 36"/>
                    <a:gd name="T1" fmla="*/ 2 h 37"/>
                    <a:gd name="T2" fmla="*/ 16 w 36"/>
                    <a:gd name="T3" fmla="*/ 1 h 37"/>
                    <a:gd name="T4" fmla="*/ 44 w 36"/>
                    <a:gd name="T5" fmla="*/ 6 h 37"/>
                    <a:gd name="T6" fmla="*/ 8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Freeform 34"/>
                <p:cNvSpPr>
                  <a:spLocks/>
                </p:cNvSpPr>
                <p:nvPr userDrawn="1"/>
              </p:nvSpPr>
              <p:spPr bwMode="ltGray">
                <a:xfrm>
                  <a:off x="4686" y="394"/>
                  <a:ext cx="171" cy="81"/>
                </a:xfrm>
                <a:custGeom>
                  <a:avLst/>
                  <a:gdLst>
                    <a:gd name="T0" fmla="*/ 0 w 170"/>
                    <a:gd name="T1" fmla="*/ 25 h 96"/>
                    <a:gd name="T2" fmla="*/ 28 w 170"/>
                    <a:gd name="T3" fmla="*/ 13 h 96"/>
                    <a:gd name="T4" fmla="*/ 56 w 170"/>
                    <a:gd name="T5" fmla="*/ 11 h 96"/>
                    <a:gd name="T6" fmla="*/ 80 w 170"/>
                    <a:gd name="T7" fmla="*/ 5 h 96"/>
                    <a:gd name="T8" fmla="*/ 64 w 170"/>
                    <a:gd name="T9" fmla="*/ 13 h 96"/>
                    <a:gd name="T10" fmla="*/ 128 w 170"/>
                    <a:gd name="T11" fmla="*/ 25 h 96"/>
                    <a:gd name="T12" fmla="*/ 164 w 170"/>
                    <a:gd name="T13" fmla="*/ 33 h 96"/>
                    <a:gd name="T14" fmla="*/ 120 w 170"/>
                    <a:gd name="T15" fmla="*/ 39 h 96"/>
                    <a:gd name="T16" fmla="*/ 92 w 170"/>
                    <a:gd name="T17" fmla="*/ 30 h 96"/>
                    <a:gd name="T18" fmla="*/ 76 w 170"/>
                    <a:gd name="T19" fmla="*/ 27 h 96"/>
                    <a:gd name="T20" fmla="*/ 24 w 170"/>
                    <a:gd name="T21" fmla="*/ 21 h 96"/>
                    <a:gd name="T22" fmla="*/ 0 w 170"/>
                    <a:gd name="T23" fmla="*/ 25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12 h 44"/>
                    <a:gd name="T6" fmla="*/ 112 w 138"/>
                    <a:gd name="T7" fmla="*/ 10 h 44"/>
                    <a:gd name="T8" fmla="*/ 108 w 138"/>
                    <a:gd name="T9" fmla="*/ 22 h 44"/>
                    <a:gd name="T10" fmla="*/ 64 w 138"/>
                    <a:gd name="T11" fmla="*/ 20 h 44"/>
                    <a:gd name="T12" fmla="*/ 0 w 138"/>
                    <a:gd name="T13" fmla="*/ 18 h 44"/>
                    <a:gd name="T14" fmla="*/ 28 w 138"/>
                    <a:gd name="T15" fmla="*/ 1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Freeform 36"/>
                <p:cNvSpPr>
                  <a:spLocks/>
                </p:cNvSpPr>
                <p:nvPr userDrawn="1"/>
              </p:nvSpPr>
              <p:spPr bwMode="ltGray">
                <a:xfrm>
                  <a:off x="4794" y="480"/>
                  <a:ext cx="56" cy="34"/>
                </a:xfrm>
                <a:custGeom>
                  <a:avLst/>
                  <a:gdLst>
                    <a:gd name="T0" fmla="*/ 17 w 57"/>
                    <a:gd name="T1" fmla="*/ 11 h 42"/>
                    <a:gd name="T2" fmla="*/ 33 w 57"/>
                    <a:gd name="T3" fmla="*/ 6 h 42"/>
                    <a:gd name="T4" fmla="*/ 17 w 57"/>
                    <a:gd name="T5" fmla="*/ 11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Freeform 37"/>
                <p:cNvSpPr>
                  <a:spLocks/>
                </p:cNvSpPr>
                <p:nvPr userDrawn="1"/>
              </p:nvSpPr>
              <p:spPr bwMode="ltGray">
                <a:xfrm>
                  <a:off x="4757" y="375"/>
                  <a:ext cx="37" cy="44"/>
                </a:xfrm>
                <a:custGeom>
                  <a:avLst/>
                  <a:gdLst>
                    <a:gd name="T0" fmla="*/ 15 w 39"/>
                    <a:gd name="T1" fmla="*/ 16 h 52"/>
                    <a:gd name="T2" fmla="*/ 15 w 39"/>
                    <a:gd name="T3" fmla="*/ 0 h 52"/>
                    <a:gd name="T4" fmla="*/ 15 w 39"/>
                    <a:gd name="T5" fmla="*/ 16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Freeform 38"/>
                <p:cNvSpPr>
                  <a:spLocks/>
                </p:cNvSpPr>
                <p:nvPr userDrawn="1"/>
              </p:nvSpPr>
              <p:spPr bwMode="ltGray">
                <a:xfrm>
                  <a:off x="5054" y="507"/>
                  <a:ext cx="45" cy="66"/>
                </a:xfrm>
                <a:custGeom>
                  <a:avLst/>
                  <a:gdLst>
                    <a:gd name="T0" fmla="*/ 4 w 44"/>
                    <a:gd name="T1" fmla="*/ 4 h 80"/>
                    <a:gd name="T2" fmla="*/ 20 w 44"/>
                    <a:gd name="T3" fmla="*/ 15 h 80"/>
                    <a:gd name="T4" fmla="*/ 28 w 44"/>
                    <a:gd name="T5" fmla="*/ 22 h 80"/>
                    <a:gd name="T6" fmla="*/ 40 w 44"/>
                    <a:gd name="T7" fmla="*/ 25 h 80"/>
                    <a:gd name="T8" fmla="*/ 28 w 44"/>
                    <a:gd name="T9" fmla="*/ 34 h 80"/>
                    <a:gd name="T10" fmla="*/ 0 w 44"/>
                    <a:gd name="T11" fmla="*/ 10 h 80"/>
                    <a:gd name="T12" fmla="*/ 4 w 44"/>
                    <a:gd name="T13" fmla="*/ 4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Freeform 39"/>
                <p:cNvSpPr>
                  <a:spLocks/>
                </p:cNvSpPr>
                <p:nvPr userDrawn="1"/>
              </p:nvSpPr>
              <p:spPr bwMode="ltGray">
                <a:xfrm>
                  <a:off x="4260" y="6"/>
                  <a:ext cx="480" cy="100"/>
                </a:xfrm>
                <a:custGeom>
                  <a:avLst/>
                  <a:gdLst>
                    <a:gd name="T0" fmla="*/ 1073 w 323"/>
                    <a:gd name="T1" fmla="*/ 8 h 64"/>
                    <a:gd name="T2" fmla="*/ 1126 w 323"/>
                    <a:gd name="T3" fmla="*/ 48 h 64"/>
                    <a:gd name="T4" fmla="*/ 1146 w 323"/>
                    <a:gd name="T5" fmla="*/ 0 h 64"/>
                    <a:gd name="T6" fmla="*/ 1294 w 323"/>
                    <a:gd name="T7" fmla="*/ 0 h 64"/>
                    <a:gd name="T8" fmla="*/ 1403 w 323"/>
                    <a:gd name="T9" fmla="*/ 103 h 64"/>
                    <a:gd name="T10" fmla="*/ 1554 w 323"/>
                    <a:gd name="T11" fmla="*/ 61 h 64"/>
                    <a:gd name="T12" fmla="*/ 1532 w 323"/>
                    <a:gd name="T13" fmla="*/ 170 h 64"/>
                    <a:gd name="T14" fmla="*/ 1453 w 323"/>
                    <a:gd name="T15" fmla="*/ 277 h 64"/>
                    <a:gd name="T16" fmla="*/ 1437 w 323"/>
                    <a:gd name="T17" fmla="*/ 170 h 64"/>
                    <a:gd name="T18" fmla="*/ 1403 w 323"/>
                    <a:gd name="T19" fmla="*/ 183 h 64"/>
                    <a:gd name="T20" fmla="*/ 1363 w 323"/>
                    <a:gd name="T21" fmla="*/ 170 h 64"/>
                    <a:gd name="T22" fmla="*/ 1282 w 323"/>
                    <a:gd name="T23" fmla="*/ 127 h 64"/>
                    <a:gd name="T24" fmla="*/ 1113 w 323"/>
                    <a:gd name="T25" fmla="*/ 225 h 64"/>
                    <a:gd name="T26" fmla="*/ 981 w 323"/>
                    <a:gd name="T27" fmla="*/ 264 h 64"/>
                    <a:gd name="T28" fmla="*/ 1033 w 323"/>
                    <a:gd name="T29" fmla="*/ 339 h 64"/>
                    <a:gd name="T30" fmla="*/ 917 w 323"/>
                    <a:gd name="T31" fmla="*/ 373 h 64"/>
                    <a:gd name="T32" fmla="*/ 823 w 323"/>
                    <a:gd name="T33" fmla="*/ 361 h 64"/>
                    <a:gd name="T34" fmla="*/ 863 w 323"/>
                    <a:gd name="T35" fmla="*/ 339 h 64"/>
                    <a:gd name="T36" fmla="*/ 832 w 323"/>
                    <a:gd name="T37" fmla="*/ 239 h 64"/>
                    <a:gd name="T38" fmla="*/ 823 w 323"/>
                    <a:gd name="T39" fmla="*/ 183 h 64"/>
                    <a:gd name="T40" fmla="*/ 771 w 323"/>
                    <a:gd name="T41" fmla="*/ 138 h 64"/>
                    <a:gd name="T42" fmla="*/ 694 w 323"/>
                    <a:gd name="T43" fmla="*/ 161 h 64"/>
                    <a:gd name="T44" fmla="*/ 654 w 323"/>
                    <a:gd name="T45" fmla="*/ 161 h 64"/>
                    <a:gd name="T46" fmla="*/ 600 w 323"/>
                    <a:gd name="T47" fmla="*/ 148 h 64"/>
                    <a:gd name="T48" fmla="*/ 404 w 323"/>
                    <a:gd name="T49" fmla="*/ 13 h 64"/>
                    <a:gd name="T50" fmla="*/ 290 w 323"/>
                    <a:gd name="T51" fmla="*/ 83 h 64"/>
                    <a:gd name="T52" fmla="*/ 1 w 323"/>
                    <a:gd name="T53" fmla="*/ 0 h 64"/>
                    <a:gd name="T54" fmla="*/ 1073 w 323"/>
                    <a:gd name="T55" fmla="*/ 8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Freeform 40"/>
                <p:cNvSpPr>
                  <a:spLocks/>
                </p:cNvSpPr>
                <p:nvPr userDrawn="1"/>
              </p:nvSpPr>
              <p:spPr bwMode="ltGray">
                <a:xfrm>
                  <a:off x="3835" y="3"/>
                  <a:ext cx="446" cy="49"/>
                </a:xfrm>
                <a:custGeom>
                  <a:avLst/>
                  <a:gdLst>
                    <a:gd name="T0" fmla="*/ 513 w 300"/>
                    <a:gd name="T1" fmla="*/ 193 h 31"/>
                    <a:gd name="T2" fmla="*/ 149 w 300"/>
                    <a:gd name="T3" fmla="*/ 8 h 31"/>
                    <a:gd name="T4" fmla="*/ 1393 w 300"/>
                    <a:gd name="T5" fmla="*/ 0 h 31"/>
                    <a:gd name="T6" fmla="*/ 1445 w 300"/>
                    <a:gd name="T7" fmla="*/ 87 h 31"/>
                    <a:gd name="T8" fmla="*/ 1289 w 300"/>
                    <a:gd name="T9" fmla="*/ 100 h 31"/>
                    <a:gd name="T10" fmla="*/ 513 w 300"/>
                    <a:gd name="T11" fmla="*/ 193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Freeform 41"/>
                <p:cNvSpPr>
                  <a:spLocks/>
                </p:cNvSpPr>
                <p:nvPr userDrawn="1"/>
              </p:nvSpPr>
              <p:spPr bwMode="ltGray">
                <a:xfrm>
                  <a:off x="2853" y="74"/>
                  <a:ext cx="42" cy="25"/>
                </a:xfrm>
                <a:custGeom>
                  <a:avLst/>
                  <a:gdLst>
                    <a:gd name="T0" fmla="*/ 0 w 41"/>
                    <a:gd name="T1" fmla="*/ 14 h 29"/>
                    <a:gd name="T2" fmla="*/ 12 w 41"/>
                    <a:gd name="T3" fmla="*/ 16 h 29"/>
                    <a:gd name="T4" fmla="*/ 0 w 41"/>
                    <a:gd name="T5" fmla="*/ 14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Freeform 42"/>
                <p:cNvSpPr>
                  <a:spLocks/>
                </p:cNvSpPr>
                <p:nvPr userDrawn="1"/>
              </p:nvSpPr>
              <p:spPr bwMode="ltGray">
                <a:xfrm>
                  <a:off x="1704" y="3"/>
                  <a:ext cx="1022" cy="372"/>
                </a:xfrm>
                <a:custGeom>
                  <a:avLst/>
                  <a:gdLst>
                    <a:gd name="T0" fmla="*/ 2203 w 436"/>
                    <a:gd name="T1" fmla="*/ 29 h 152"/>
                    <a:gd name="T2" fmla="*/ 13164 w 436"/>
                    <a:gd name="T3" fmla="*/ 0 h 152"/>
                    <a:gd name="T4" fmla="*/ 12555 w 436"/>
                    <a:gd name="T5" fmla="*/ 1936 h 152"/>
                    <a:gd name="T6" fmla="*/ 11990 w 436"/>
                    <a:gd name="T7" fmla="*/ 2433 h 152"/>
                    <a:gd name="T8" fmla="*/ 11835 w 436"/>
                    <a:gd name="T9" fmla="*/ 2509 h 152"/>
                    <a:gd name="T10" fmla="*/ 11319 w 436"/>
                    <a:gd name="T11" fmla="*/ 2624 h 152"/>
                    <a:gd name="T12" fmla="*/ 10895 w 436"/>
                    <a:gd name="T13" fmla="*/ 3150 h 152"/>
                    <a:gd name="T14" fmla="*/ 10935 w 436"/>
                    <a:gd name="T15" fmla="*/ 3546 h 152"/>
                    <a:gd name="T16" fmla="*/ 10984 w 436"/>
                    <a:gd name="T17" fmla="*/ 3840 h 152"/>
                    <a:gd name="T18" fmla="*/ 11050 w 436"/>
                    <a:gd name="T19" fmla="*/ 4060 h 152"/>
                    <a:gd name="T20" fmla="*/ 10935 w 436"/>
                    <a:gd name="T21" fmla="*/ 4383 h 152"/>
                    <a:gd name="T22" fmla="*/ 10600 w 436"/>
                    <a:gd name="T23" fmla="*/ 4312 h 152"/>
                    <a:gd name="T24" fmla="*/ 10330 w 436"/>
                    <a:gd name="T25" fmla="*/ 4630 h 152"/>
                    <a:gd name="T26" fmla="*/ 10473 w 436"/>
                    <a:gd name="T27" fmla="*/ 3766 h 152"/>
                    <a:gd name="T28" fmla="*/ 10199 w 436"/>
                    <a:gd name="T29" fmla="*/ 3593 h 152"/>
                    <a:gd name="T30" fmla="*/ 10379 w 436"/>
                    <a:gd name="T31" fmla="*/ 3343 h 152"/>
                    <a:gd name="T32" fmla="*/ 10330 w 436"/>
                    <a:gd name="T33" fmla="*/ 3199 h 152"/>
                    <a:gd name="T34" fmla="*/ 9660 w 436"/>
                    <a:gd name="T35" fmla="*/ 3372 h 152"/>
                    <a:gd name="T36" fmla="*/ 9571 w 436"/>
                    <a:gd name="T37" fmla="*/ 3049 h 152"/>
                    <a:gd name="T38" fmla="*/ 8961 w 436"/>
                    <a:gd name="T39" fmla="*/ 3372 h 152"/>
                    <a:gd name="T40" fmla="*/ 9660 w 436"/>
                    <a:gd name="T41" fmla="*/ 3696 h 152"/>
                    <a:gd name="T42" fmla="*/ 9210 w 436"/>
                    <a:gd name="T43" fmla="*/ 4192 h 152"/>
                    <a:gd name="T44" fmla="*/ 9390 w 436"/>
                    <a:gd name="T45" fmla="*/ 4515 h 152"/>
                    <a:gd name="T46" fmla="*/ 9505 w 436"/>
                    <a:gd name="T47" fmla="*/ 4953 h 152"/>
                    <a:gd name="T48" fmla="*/ 9325 w 436"/>
                    <a:gd name="T49" fmla="*/ 4983 h 152"/>
                    <a:gd name="T50" fmla="*/ 9477 w 436"/>
                    <a:gd name="T51" fmla="*/ 5157 h 152"/>
                    <a:gd name="T52" fmla="*/ 9275 w 436"/>
                    <a:gd name="T53" fmla="*/ 5450 h 152"/>
                    <a:gd name="T54" fmla="*/ 0 w 436"/>
                    <a:gd name="T55" fmla="*/ 5350 h 152"/>
                    <a:gd name="T56" fmla="*/ 2203 w 436"/>
                    <a:gd name="T57" fmla="*/ 29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Freeform 43"/>
                <p:cNvSpPr>
                  <a:spLocks/>
                </p:cNvSpPr>
                <p:nvPr userDrawn="1"/>
              </p:nvSpPr>
              <p:spPr bwMode="ltGray">
                <a:xfrm>
                  <a:off x="2729" y="-9"/>
                  <a:ext cx="47" cy="134"/>
                </a:xfrm>
                <a:custGeom>
                  <a:avLst/>
                  <a:gdLst>
                    <a:gd name="T0" fmla="*/ 5 w 47"/>
                    <a:gd name="T1" fmla="*/ 68 h 165"/>
                    <a:gd name="T2" fmla="*/ 15 w 47"/>
                    <a:gd name="T3" fmla="*/ 47 h 165"/>
                    <a:gd name="T4" fmla="*/ 17 w 47"/>
                    <a:gd name="T5" fmla="*/ 30 h 165"/>
                    <a:gd name="T6" fmla="*/ 11 w 47"/>
                    <a:gd name="T7" fmla="*/ 17 h 165"/>
                    <a:gd name="T8" fmla="*/ 17 w 47"/>
                    <a:gd name="T9" fmla="*/ 5 h 165"/>
                    <a:gd name="T10" fmla="*/ 21 w 47"/>
                    <a:gd name="T11" fmla="*/ 0 h 165"/>
                    <a:gd name="T12" fmla="*/ 31 w 47"/>
                    <a:gd name="T13" fmla="*/ 12 h 165"/>
                    <a:gd name="T14" fmla="*/ 47 w 47"/>
                    <a:gd name="T15" fmla="*/ 43 h 165"/>
                    <a:gd name="T16" fmla="*/ 31 w 47"/>
                    <a:gd name="T17" fmla="*/ 47 h 165"/>
                    <a:gd name="T18" fmla="*/ 23 w 47"/>
                    <a:gd name="T19" fmla="*/ 54 h 165"/>
                    <a:gd name="T20" fmla="*/ 21 w 47"/>
                    <a:gd name="T21" fmla="*/ 58 h 165"/>
                    <a:gd name="T22" fmla="*/ 27 w 47"/>
                    <a:gd name="T23" fmla="*/ 58 h 165"/>
                    <a:gd name="T24" fmla="*/ 31 w 47"/>
                    <a:gd name="T25" fmla="*/ 64 h 165"/>
                    <a:gd name="T26" fmla="*/ 13 w 47"/>
                    <a:gd name="T27" fmla="*/ 64 h 165"/>
                    <a:gd name="T28" fmla="*/ 7 w 47"/>
                    <a:gd name="T29" fmla="*/ 70 h 165"/>
                    <a:gd name="T30" fmla="*/ 3 w 47"/>
                    <a:gd name="T31" fmla="*/ 67 h 165"/>
                    <a:gd name="T32" fmla="*/ 5 w 47"/>
                    <a:gd name="T33" fmla="*/ 68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Freeform 44"/>
                <p:cNvSpPr>
                  <a:spLocks/>
                </p:cNvSpPr>
                <p:nvPr userDrawn="1"/>
              </p:nvSpPr>
              <p:spPr bwMode="ltGray">
                <a:xfrm>
                  <a:off x="2701" y="103"/>
                  <a:ext cx="138" cy="84"/>
                </a:xfrm>
                <a:custGeom>
                  <a:avLst/>
                  <a:gdLst>
                    <a:gd name="T0" fmla="*/ 26 w 138"/>
                    <a:gd name="T1" fmla="*/ 27 h 103"/>
                    <a:gd name="T2" fmla="*/ 30 w 138"/>
                    <a:gd name="T3" fmla="*/ 20 h 103"/>
                    <a:gd name="T4" fmla="*/ 50 w 138"/>
                    <a:gd name="T5" fmla="*/ 15 h 103"/>
                    <a:gd name="T6" fmla="*/ 54 w 138"/>
                    <a:gd name="T7" fmla="*/ 20 h 103"/>
                    <a:gd name="T8" fmla="*/ 66 w 138"/>
                    <a:gd name="T9" fmla="*/ 22 h 103"/>
                    <a:gd name="T10" fmla="*/ 80 w 138"/>
                    <a:gd name="T11" fmla="*/ 24 h 103"/>
                    <a:gd name="T12" fmla="*/ 116 w 138"/>
                    <a:gd name="T13" fmla="*/ 15 h 103"/>
                    <a:gd name="T14" fmla="*/ 130 w 138"/>
                    <a:gd name="T15" fmla="*/ 7 h 103"/>
                    <a:gd name="T16" fmla="*/ 138 w 138"/>
                    <a:gd name="T17" fmla="*/ 5 h 103"/>
                    <a:gd name="T18" fmla="*/ 106 w 138"/>
                    <a:gd name="T19" fmla="*/ 22 h 103"/>
                    <a:gd name="T20" fmla="*/ 84 w 138"/>
                    <a:gd name="T21" fmla="*/ 30 h 103"/>
                    <a:gd name="T22" fmla="*/ 66 w 138"/>
                    <a:gd name="T23" fmla="*/ 36 h 103"/>
                    <a:gd name="T24" fmla="*/ 48 w 138"/>
                    <a:gd name="T25" fmla="*/ 46 h 103"/>
                    <a:gd name="T26" fmla="*/ 26 w 138"/>
                    <a:gd name="T27" fmla="*/ 40 h 103"/>
                    <a:gd name="T28" fmla="*/ 20 w 138"/>
                    <a:gd name="T29" fmla="*/ 38 h 103"/>
                    <a:gd name="T30" fmla="*/ 22 w 138"/>
                    <a:gd name="T31" fmla="*/ 42 h 103"/>
                    <a:gd name="T32" fmla="*/ 0 w 138"/>
                    <a:gd name="T33" fmla="*/ 42 h 103"/>
                    <a:gd name="T34" fmla="*/ 10 w 138"/>
                    <a:gd name="T35" fmla="*/ 34 h 103"/>
                    <a:gd name="T36" fmla="*/ 26 w 138"/>
                    <a:gd name="T37" fmla="*/ 27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Freeform 45"/>
                <p:cNvSpPr>
                  <a:spLocks/>
                </p:cNvSpPr>
                <p:nvPr userDrawn="1"/>
              </p:nvSpPr>
              <p:spPr bwMode="ltGray">
                <a:xfrm>
                  <a:off x="2553" y="182"/>
                  <a:ext cx="187" cy="176"/>
                </a:xfrm>
                <a:custGeom>
                  <a:avLst/>
                  <a:gdLst>
                    <a:gd name="T0" fmla="*/ 154 w 188"/>
                    <a:gd name="T1" fmla="*/ 11 h 214"/>
                    <a:gd name="T2" fmla="*/ 156 w 188"/>
                    <a:gd name="T3" fmla="*/ 2 h 214"/>
                    <a:gd name="T4" fmla="*/ 166 w 188"/>
                    <a:gd name="T5" fmla="*/ 0 h 214"/>
                    <a:gd name="T6" fmla="*/ 178 w 188"/>
                    <a:gd name="T7" fmla="*/ 11 h 214"/>
                    <a:gd name="T8" fmla="*/ 184 w 188"/>
                    <a:gd name="T9" fmla="*/ 20 h 214"/>
                    <a:gd name="T10" fmla="*/ 174 w 188"/>
                    <a:gd name="T11" fmla="*/ 26 h 214"/>
                    <a:gd name="T12" fmla="*/ 166 w 188"/>
                    <a:gd name="T13" fmla="*/ 35 h 214"/>
                    <a:gd name="T14" fmla="*/ 158 w 188"/>
                    <a:gd name="T15" fmla="*/ 58 h 214"/>
                    <a:gd name="T16" fmla="*/ 140 w 188"/>
                    <a:gd name="T17" fmla="*/ 63 h 214"/>
                    <a:gd name="T18" fmla="*/ 116 w 188"/>
                    <a:gd name="T19" fmla="*/ 63 h 214"/>
                    <a:gd name="T20" fmla="*/ 108 w 188"/>
                    <a:gd name="T21" fmla="*/ 57 h 214"/>
                    <a:gd name="T22" fmla="*/ 98 w 188"/>
                    <a:gd name="T23" fmla="*/ 67 h 214"/>
                    <a:gd name="T24" fmla="*/ 90 w 188"/>
                    <a:gd name="T25" fmla="*/ 68 h 214"/>
                    <a:gd name="T26" fmla="*/ 80 w 188"/>
                    <a:gd name="T27" fmla="*/ 61 h 214"/>
                    <a:gd name="T28" fmla="*/ 58 w 188"/>
                    <a:gd name="T29" fmla="*/ 66 h 214"/>
                    <a:gd name="T30" fmla="*/ 76 w 188"/>
                    <a:gd name="T31" fmla="*/ 65 h 214"/>
                    <a:gd name="T32" fmla="*/ 78 w 188"/>
                    <a:gd name="T33" fmla="*/ 74 h 214"/>
                    <a:gd name="T34" fmla="*/ 58 w 188"/>
                    <a:gd name="T35" fmla="*/ 76 h 214"/>
                    <a:gd name="T36" fmla="*/ 34 w 188"/>
                    <a:gd name="T37" fmla="*/ 76 h 214"/>
                    <a:gd name="T38" fmla="*/ 36 w 188"/>
                    <a:gd name="T39" fmla="*/ 71 h 214"/>
                    <a:gd name="T40" fmla="*/ 46 w 188"/>
                    <a:gd name="T41" fmla="*/ 66 h 214"/>
                    <a:gd name="T42" fmla="*/ 34 w 188"/>
                    <a:gd name="T43" fmla="*/ 67 h 214"/>
                    <a:gd name="T44" fmla="*/ 26 w 188"/>
                    <a:gd name="T45" fmla="*/ 76 h 214"/>
                    <a:gd name="T46" fmla="*/ 30 w 188"/>
                    <a:gd name="T47" fmla="*/ 86 h 214"/>
                    <a:gd name="T48" fmla="*/ 14 w 188"/>
                    <a:gd name="T49" fmla="*/ 91 h 214"/>
                    <a:gd name="T50" fmla="*/ 0 w 188"/>
                    <a:gd name="T51" fmla="*/ 98 h 214"/>
                    <a:gd name="T52" fmla="*/ 8 w 188"/>
                    <a:gd name="T53" fmla="*/ 86 h 214"/>
                    <a:gd name="T54" fmla="*/ 0 w 188"/>
                    <a:gd name="T55" fmla="*/ 75 h 214"/>
                    <a:gd name="T56" fmla="*/ 14 w 188"/>
                    <a:gd name="T57" fmla="*/ 70 h 214"/>
                    <a:gd name="T58" fmla="*/ 32 w 188"/>
                    <a:gd name="T59" fmla="*/ 61 h 214"/>
                    <a:gd name="T60" fmla="*/ 44 w 188"/>
                    <a:gd name="T61" fmla="*/ 54 h 214"/>
                    <a:gd name="T62" fmla="*/ 72 w 188"/>
                    <a:gd name="T63" fmla="*/ 53 h 214"/>
                    <a:gd name="T64" fmla="*/ 84 w 188"/>
                    <a:gd name="T65" fmla="*/ 52 h 214"/>
                    <a:gd name="T66" fmla="*/ 110 w 188"/>
                    <a:gd name="T67" fmla="*/ 36 h 214"/>
                    <a:gd name="T68" fmla="*/ 116 w 188"/>
                    <a:gd name="T69" fmla="*/ 43 h 214"/>
                    <a:gd name="T70" fmla="*/ 128 w 188"/>
                    <a:gd name="T71" fmla="*/ 35 h 214"/>
                    <a:gd name="T72" fmla="*/ 146 w 188"/>
                    <a:gd name="T73" fmla="*/ 25 h 214"/>
                    <a:gd name="T74" fmla="*/ 150 w 188"/>
                    <a:gd name="T75" fmla="*/ 20 h 214"/>
                    <a:gd name="T76" fmla="*/ 144 w 188"/>
                    <a:gd name="T77" fmla="*/ 17 h 214"/>
                    <a:gd name="T78" fmla="*/ 148 w 188"/>
                    <a:gd name="T79" fmla="*/ 14 h 214"/>
                    <a:gd name="T80" fmla="*/ 154 w 188"/>
                    <a:gd name="T81" fmla="*/ 11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Freeform 46"/>
                <p:cNvSpPr>
                  <a:spLocks/>
                </p:cNvSpPr>
                <p:nvPr userDrawn="1"/>
              </p:nvSpPr>
              <p:spPr bwMode="ltGray">
                <a:xfrm>
                  <a:off x="2677" y="233"/>
                  <a:ext cx="14" cy="10"/>
                </a:xfrm>
                <a:custGeom>
                  <a:avLst/>
                  <a:gdLst>
                    <a:gd name="T0" fmla="*/ 0 w 13"/>
                    <a:gd name="T1" fmla="*/ 3 h 13"/>
                    <a:gd name="T2" fmla="*/ 4 w 13"/>
                    <a:gd name="T3" fmla="*/ 5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Freeform 47"/>
                <p:cNvSpPr>
                  <a:spLocks/>
                </p:cNvSpPr>
                <p:nvPr userDrawn="1"/>
              </p:nvSpPr>
              <p:spPr bwMode="ltGray">
                <a:xfrm>
                  <a:off x="1627" y="353"/>
                  <a:ext cx="813" cy="462"/>
                </a:xfrm>
                <a:custGeom>
                  <a:avLst/>
                  <a:gdLst>
                    <a:gd name="T0" fmla="*/ 816 w 812"/>
                    <a:gd name="T1" fmla="*/ 11 h 564"/>
                    <a:gd name="T2" fmla="*/ 782 w 812"/>
                    <a:gd name="T3" fmla="*/ 35 h 564"/>
                    <a:gd name="T4" fmla="*/ 752 w 812"/>
                    <a:gd name="T5" fmla="*/ 55 h 564"/>
                    <a:gd name="T6" fmla="*/ 726 w 812"/>
                    <a:gd name="T7" fmla="*/ 64 h 564"/>
                    <a:gd name="T8" fmla="*/ 638 w 812"/>
                    <a:gd name="T9" fmla="*/ 80 h 564"/>
                    <a:gd name="T10" fmla="*/ 636 w 812"/>
                    <a:gd name="T11" fmla="*/ 95 h 564"/>
                    <a:gd name="T12" fmla="*/ 608 w 812"/>
                    <a:gd name="T13" fmla="*/ 103 h 564"/>
                    <a:gd name="T14" fmla="*/ 624 w 812"/>
                    <a:gd name="T15" fmla="*/ 80 h 564"/>
                    <a:gd name="T16" fmla="*/ 580 w 812"/>
                    <a:gd name="T17" fmla="*/ 84 h 564"/>
                    <a:gd name="T18" fmla="*/ 560 w 812"/>
                    <a:gd name="T19" fmla="*/ 98 h 564"/>
                    <a:gd name="T20" fmla="*/ 600 w 812"/>
                    <a:gd name="T21" fmla="*/ 126 h 564"/>
                    <a:gd name="T22" fmla="*/ 598 w 812"/>
                    <a:gd name="T23" fmla="*/ 165 h 564"/>
                    <a:gd name="T24" fmla="*/ 546 w 812"/>
                    <a:gd name="T25" fmla="*/ 183 h 564"/>
                    <a:gd name="T26" fmla="*/ 526 w 812"/>
                    <a:gd name="T27" fmla="*/ 174 h 564"/>
                    <a:gd name="T28" fmla="*/ 486 w 812"/>
                    <a:gd name="T29" fmla="*/ 156 h 564"/>
                    <a:gd name="T30" fmla="*/ 466 w 812"/>
                    <a:gd name="T31" fmla="*/ 156 h 564"/>
                    <a:gd name="T32" fmla="*/ 454 w 812"/>
                    <a:gd name="T33" fmla="*/ 178 h 564"/>
                    <a:gd name="T34" fmla="*/ 504 w 812"/>
                    <a:gd name="T35" fmla="*/ 209 h 564"/>
                    <a:gd name="T36" fmla="*/ 514 w 812"/>
                    <a:gd name="T37" fmla="*/ 236 h 564"/>
                    <a:gd name="T38" fmla="*/ 530 w 812"/>
                    <a:gd name="T39" fmla="*/ 252 h 564"/>
                    <a:gd name="T40" fmla="*/ 496 w 812"/>
                    <a:gd name="T41" fmla="*/ 245 h 564"/>
                    <a:gd name="T42" fmla="*/ 474 w 812"/>
                    <a:gd name="T43" fmla="*/ 233 h 564"/>
                    <a:gd name="T44" fmla="*/ 426 w 812"/>
                    <a:gd name="T45" fmla="*/ 191 h 564"/>
                    <a:gd name="T46" fmla="*/ 430 w 812"/>
                    <a:gd name="T47" fmla="*/ 139 h 564"/>
                    <a:gd name="T48" fmla="*/ 426 w 812"/>
                    <a:gd name="T49" fmla="*/ 120 h 564"/>
                    <a:gd name="T50" fmla="*/ 416 w 812"/>
                    <a:gd name="T51" fmla="*/ 125 h 564"/>
                    <a:gd name="T52" fmla="*/ 386 w 812"/>
                    <a:gd name="T53" fmla="*/ 120 h 564"/>
                    <a:gd name="T54" fmla="*/ 360 w 812"/>
                    <a:gd name="T55" fmla="*/ 76 h 564"/>
                    <a:gd name="T56" fmla="*/ 330 w 812"/>
                    <a:gd name="T57" fmla="*/ 75 h 564"/>
                    <a:gd name="T58" fmla="*/ 288 w 812"/>
                    <a:gd name="T59" fmla="*/ 78 h 564"/>
                    <a:gd name="T60" fmla="*/ 242 w 812"/>
                    <a:gd name="T61" fmla="*/ 105 h 564"/>
                    <a:gd name="T62" fmla="*/ 196 w 812"/>
                    <a:gd name="T63" fmla="*/ 120 h 564"/>
                    <a:gd name="T64" fmla="*/ 184 w 812"/>
                    <a:gd name="T65" fmla="*/ 123 h 564"/>
                    <a:gd name="T66" fmla="*/ 160 w 812"/>
                    <a:gd name="T67" fmla="*/ 147 h 564"/>
                    <a:gd name="T68" fmla="*/ 152 w 812"/>
                    <a:gd name="T69" fmla="*/ 160 h 564"/>
                    <a:gd name="T70" fmla="*/ 128 w 812"/>
                    <a:gd name="T71" fmla="*/ 182 h 564"/>
                    <a:gd name="T72" fmla="*/ 94 w 812"/>
                    <a:gd name="T73" fmla="*/ 176 h 564"/>
                    <a:gd name="T74" fmla="*/ 66 w 812"/>
                    <a:gd name="T75" fmla="*/ 116 h 564"/>
                    <a:gd name="T76" fmla="*/ 72 w 812"/>
                    <a:gd name="T77" fmla="*/ 70 h 564"/>
                    <a:gd name="T78" fmla="*/ 44 w 812"/>
                    <a:gd name="T79" fmla="*/ 80 h 564"/>
                    <a:gd name="T80" fmla="*/ 20 w 812"/>
                    <a:gd name="T81" fmla="*/ 68 h 564"/>
                    <a:gd name="T82" fmla="*/ 24 w 812"/>
                    <a:gd name="T83" fmla="*/ 62 h 564"/>
                    <a:gd name="T84" fmla="*/ 0 w 812"/>
                    <a:gd name="T85" fmla="*/ 41 h 564"/>
                    <a:gd name="T86" fmla="*/ 802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Freeform 48"/>
                <p:cNvSpPr>
                  <a:spLocks/>
                </p:cNvSpPr>
                <p:nvPr userDrawn="1"/>
              </p:nvSpPr>
              <p:spPr bwMode="ltGray">
                <a:xfrm>
                  <a:off x="1770" y="671"/>
                  <a:ext cx="45" cy="71"/>
                </a:xfrm>
                <a:custGeom>
                  <a:avLst/>
                  <a:gdLst>
                    <a:gd name="T0" fmla="*/ 7 w 43"/>
                    <a:gd name="T1" fmla="*/ 6 h 85"/>
                    <a:gd name="T2" fmla="*/ 21 w 43"/>
                    <a:gd name="T3" fmla="*/ 3 h 85"/>
                    <a:gd name="T4" fmla="*/ 45 w 43"/>
                    <a:gd name="T5" fmla="*/ 16 h 85"/>
                    <a:gd name="T6" fmla="*/ 23 w 43"/>
                    <a:gd name="T7" fmla="*/ 41 h 85"/>
                    <a:gd name="T8" fmla="*/ 1 w 43"/>
                    <a:gd name="T9" fmla="*/ 33 h 85"/>
                    <a:gd name="T10" fmla="*/ 7 w 43"/>
                    <a:gd name="T11" fmla="*/ 6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Freeform 49"/>
                <p:cNvSpPr>
                  <a:spLocks/>
                </p:cNvSpPr>
                <p:nvPr userDrawn="1"/>
              </p:nvSpPr>
              <p:spPr bwMode="ltGray">
                <a:xfrm>
                  <a:off x="2394" y="431"/>
                  <a:ext cx="42" cy="59"/>
                </a:xfrm>
                <a:custGeom>
                  <a:avLst/>
                  <a:gdLst>
                    <a:gd name="T0" fmla="*/ 11 w 44"/>
                    <a:gd name="T1" fmla="*/ 11 h 74"/>
                    <a:gd name="T2" fmla="*/ 25 w 44"/>
                    <a:gd name="T3" fmla="*/ 2 h 74"/>
                    <a:gd name="T4" fmla="*/ 35 w 44"/>
                    <a:gd name="T5" fmla="*/ 2 h 74"/>
                    <a:gd name="T6" fmla="*/ 32 w 44"/>
                    <a:gd name="T7" fmla="*/ 11 h 74"/>
                    <a:gd name="T8" fmla="*/ 11 w 44"/>
                    <a:gd name="T9" fmla="*/ 30 h 74"/>
                    <a:gd name="T10" fmla="*/ 7 w 44"/>
                    <a:gd name="T11" fmla="*/ 24 h 74"/>
                    <a:gd name="T12" fmla="*/ 3 w 44"/>
                    <a:gd name="T13" fmla="*/ 14 h 74"/>
                    <a:gd name="T14" fmla="*/ 11 w 44"/>
                    <a:gd name="T15" fmla="*/ 11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Freeform 50"/>
                <p:cNvSpPr>
                  <a:spLocks/>
                </p:cNvSpPr>
                <p:nvPr userDrawn="1"/>
              </p:nvSpPr>
              <p:spPr bwMode="ltGray">
                <a:xfrm>
                  <a:off x="2513" y="402"/>
                  <a:ext cx="21" cy="24"/>
                </a:xfrm>
                <a:custGeom>
                  <a:avLst/>
                  <a:gdLst>
                    <a:gd name="T0" fmla="*/ 7 w 20"/>
                    <a:gd name="T1" fmla="*/ 6 h 30"/>
                    <a:gd name="T2" fmla="*/ 5 w 20"/>
                    <a:gd name="T3" fmla="*/ 12 h 30"/>
                    <a:gd name="T4" fmla="*/ 7 w 20"/>
                    <a:gd name="T5" fmla="*/ 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Freeform 51"/>
                <p:cNvSpPr>
                  <a:spLocks/>
                </p:cNvSpPr>
                <p:nvPr userDrawn="1"/>
              </p:nvSpPr>
              <p:spPr bwMode="ltGray">
                <a:xfrm>
                  <a:off x="333" y="169"/>
                  <a:ext cx="1015" cy="866"/>
                </a:xfrm>
                <a:custGeom>
                  <a:avLst/>
                  <a:gdLst>
                    <a:gd name="T0" fmla="*/ 2360 w 682"/>
                    <a:gd name="T1" fmla="*/ 2710 h 557"/>
                    <a:gd name="T2" fmla="*/ 2383 w 682"/>
                    <a:gd name="T3" fmla="*/ 2635 h 557"/>
                    <a:gd name="T4" fmla="*/ 2453 w 682"/>
                    <a:gd name="T5" fmla="*/ 2413 h 557"/>
                    <a:gd name="T6" fmla="*/ 1517 w 682"/>
                    <a:gd name="T7" fmla="*/ 1674 h 557"/>
                    <a:gd name="T8" fmla="*/ 1384 w 682"/>
                    <a:gd name="T9" fmla="*/ 2021 h 557"/>
                    <a:gd name="T10" fmla="*/ 1487 w 682"/>
                    <a:gd name="T11" fmla="*/ 3246 h 557"/>
                    <a:gd name="T12" fmla="*/ 1384 w 682"/>
                    <a:gd name="T13" fmla="*/ 2886 h 557"/>
                    <a:gd name="T14" fmla="*/ 1188 w 682"/>
                    <a:gd name="T15" fmla="*/ 2567 h 557"/>
                    <a:gd name="T16" fmla="*/ 1203 w 682"/>
                    <a:gd name="T17" fmla="*/ 2413 h 557"/>
                    <a:gd name="T18" fmla="*/ 1214 w 682"/>
                    <a:gd name="T19" fmla="*/ 2304 h 557"/>
                    <a:gd name="T20" fmla="*/ 1079 w 682"/>
                    <a:gd name="T21" fmla="*/ 2191 h 557"/>
                    <a:gd name="T22" fmla="*/ 952 w 682"/>
                    <a:gd name="T23" fmla="*/ 2021 h 557"/>
                    <a:gd name="T24" fmla="*/ 725 w 682"/>
                    <a:gd name="T25" fmla="*/ 2066 h 557"/>
                    <a:gd name="T26" fmla="*/ 621 w 682"/>
                    <a:gd name="T27" fmla="*/ 2132 h 557"/>
                    <a:gd name="T28" fmla="*/ 382 w 682"/>
                    <a:gd name="T29" fmla="*/ 2132 h 557"/>
                    <a:gd name="T30" fmla="*/ 109 w 682"/>
                    <a:gd name="T31" fmla="*/ 1822 h 557"/>
                    <a:gd name="T32" fmla="*/ 54 w 682"/>
                    <a:gd name="T33" fmla="*/ 1726 h 557"/>
                    <a:gd name="T34" fmla="*/ 0 w 682"/>
                    <a:gd name="T35" fmla="*/ 1539 h 557"/>
                    <a:gd name="T36" fmla="*/ 119 w 682"/>
                    <a:gd name="T37" fmla="*/ 1245 h 557"/>
                    <a:gd name="T38" fmla="*/ 158 w 682"/>
                    <a:gd name="T39" fmla="*/ 1056 h 557"/>
                    <a:gd name="T40" fmla="*/ 250 w 682"/>
                    <a:gd name="T41" fmla="*/ 833 h 557"/>
                    <a:gd name="T42" fmla="*/ 399 w 682"/>
                    <a:gd name="T43" fmla="*/ 676 h 557"/>
                    <a:gd name="T44" fmla="*/ 822 w 682"/>
                    <a:gd name="T45" fmla="*/ 392 h 557"/>
                    <a:gd name="T46" fmla="*/ 1079 w 682"/>
                    <a:gd name="T47" fmla="*/ 176 h 557"/>
                    <a:gd name="T48" fmla="*/ 1265 w 682"/>
                    <a:gd name="T49" fmla="*/ 34 h 557"/>
                    <a:gd name="T50" fmla="*/ 1781 w 682"/>
                    <a:gd name="T51" fmla="*/ 12 h 557"/>
                    <a:gd name="T52" fmla="*/ 1951 w 682"/>
                    <a:gd name="T53" fmla="*/ 0 h 557"/>
                    <a:gd name="T54" fmla="*/ 1883 w 682"/>
                    <a:gd name="T55" fmla="*/ 197 h 557"/>
                    <a:gd name="T56" fmla="*/ 2173 w 682"/>
                    <a:gd name="T57" fmla="*/ 493 h 557"/>
                    <a:gd name="T58" fmla="*/ 2439 w 682"/>
                    <a:gd name="T59" fmla="*/ 432 h 557"/>
                    <a:gd name="T60" fmla="*/ 2594 w 682"/>
                    <a:gd name="T61" fmla="*/ 476 h 557"/>
                    <a:gd name="T62" fmla="*/ 2741 w 682"/>
                    <a:gd name="T63" fmla="*/ 567 h 557"/>
                    <a:gd name="T64" fmla="*/ 2807 w 682"/>
                    <a:gd name="T65" fmla="*/ 1098 h 557"/>
                    <a:gd name="T66" fmla="*/ 2807 w 682"/>
                    <a:gd name="T67" fmla="*/ 1402 h 557"/>
                    <a:gd name="T68" fmla="*/ 2936 w 682"/>
                    <a:gd name="T69" fmla="*/ 1653 h 557"/>
                    <a:gd name="T70" fmla="*/ 3166 w 682"/>
                    <a:gd name="T71" fmla="*/ 1752 h 557"/>
                    <a:gd name="T72" fmla="*/ 3335 w 682"/>
                    <a:gd name="T73" fmla="*/ 1726 h 557"/>
                    <a:gd name="T74" fmla="*/ 3256 w 682"/>
                    <a:gd name="T75" fmla="*/ 1987 h 557"/>
                    <a:gd name="T76" fmla="*/ 2936 w 682"/>
                    <a:gd name="T77" fmla="*/ 2379 h 557"/>
                    <a:gd name="T78" fmla="*/ 2689 w 682"/>
                    <a:gd name="T79" fmla="*/ 2833 h 557"/>
                    <a:gd name="T80" fmla="*/ 2727 w 682"/>
                    <a:gd name="T81" fmla="*/ 2968 h 557"/>
                    <a:gd name="T82" fmla="*/ 2133 w 682"/>
                    <a:gd name="T83" fmla="*/ 324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Freeform 52"/>
                <p:cNvSpPr>
                  <a:spLocks/>
                </p:cNvSpPr>
                <p:nvPr userDrawn="1"/>
              </p:nvSpPr>
              <p:spPr bwMode="ltGray">
                <a:xfrm>
                  <a:off x="727" y="495"/>
                  <a:ext cx="382" cy="540"/>
                </a:xfrm>
                <a:custGeom>
                  <a:avLst/>
                  <a:gdLst>
                    <a:gd name="T0" fmla="*/ 1186 w 257"/>
                    <a:gd name="T1" fmla="*/ 2034 h 347"/>
                    <a:gd name="T2" fmla="*/ 1136 w 257"/>
                    <a:gd name="T3" fmla="*/ 1763 h 347"/>
                    <a:gd name="T4" fmla="*/ 1060 w 257"/>
                    <a:gd name="T5" fmla="*/ 1688 h 347"/>
                    <a:gd name="T6" fmla="*/ 1052 w 257"/>
                    <a:gd name="T7" fmla="*/ 1580 h 347"/>
                    <a:gd name="T8" fmla="*/ 1021 w 257"/>
                    <a:gd name="T9" fmla="*/ 1489 h 347"/>
                    <a:gd name="T10" fmla="*/ 1021 w 257"/>
                    <a:gd name="T11" fmla="*/ 1341 h 347"/>
                    <a:gd name="T12" fmla="*/ 1012 w 257"/>
                    <a:gd name="T13" fmla="*/ 1254 h 347"/>
                    <a:gd name="T14" fmla="*/ 1113 w 257"/>
                    <a:gd name="T15" fmla="*/ 1184 h 347"/>
                    <a:gd name="T16" fmla="*/ 1255 w 257"/>
                    <a:gd name="T17" fmla="*/ 1158 h 347"/>
                    <a:gd name="T18" fmla="*/ 1255 w 257"/>
                    <a:gd name="T19" fmla="*/ 800 h 347"/>
                    <a:gd name="T20" fmla="*/ 263 w 257"/>
                    <a:gd name="T21" fmla="*/ 562 h 347"/>
                    <a:gd name="T22" fmla="*/ 158 w 257"/>
                    <a:gd name="T23" fmla="*/ 576 h 347"/>
                    <a:gd name="T24" fmla="*/ 80 w 257"/>
                    <a:gd name="T25" fmla="*/ 598 h 347"/>
                    <a:gd name="T26" fmla="*/ 0 w 257"/>
                    <a:gd name="T27" fmla="*/ 875 h 347"/>
                    <a:gd name="T28" fmla="*/ 453 w 257"/>
                    <a:gd name="T29" fmla="*/ 2028 h 347"/>
                    <a:gd name="T30" fmla="*/ 1186 w 257"/>
                    <a:gd name="T31" fmla="*/ 20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a:extLst>
                  <a:ext uri="{91240B29-F687-4F45-9708-019B960494DF}">
                    <a14:hiddenLine xmlns:a14="http://schemas.microsoft.com/office/drawing/2010/main" w="9525">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Freeform 53"/>
                <p:cNvSpPr>
                  <a:spLocks/>
                </p:cNvSpPr>
                <p:nvPr userDrawn="1"/>
              </p:nvSpPr>
              <p:spPr bwMode="ltGray">
                <a:xfrm>
                  <a:off x="1400" y="896"/>
                  <a:ext cx="16" cy="29"/>
                </a:xfrm>
                <a:custGeom>
                  <a:avLst/>
                  <a:gdLst>
                    <a:gd name="T0" fmla="*/ 3 w 19"/>
                    <a:gd name="T1" fmla="*/ 10 h 37"/>
                    <a:gd name="T2" fmla="*/ 9 w 19"/>
                    <a:gd name="T3" fmla="*/ 8 h 37"/>
                    <a:gd name="T4" fmla="*/ 3 w 19"/>
                    <a:gd name="T5" fmla="*/ 1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Freeform 54"/>
                <p:cNvSpPr>
                  <a:spLocks/>
                </p:cNvSpPr>
                <p:nvPr userDrawn="1"/>
              </p:nvSpPr>
              <p:spPr bwMode="ltGray">
                <a:xfrm>
                  <a:off x="1379" y="617"/>
                  <a:ext cx="21" cy="17"/>
                </a:xfrm>
                <a:custGeom>
                  <a:avLst/>
                  <a:gdLst>
                    <a:gd name="T0" fmla="*/ 11 w 22"/>
                    <a:gd name="T1" fmla="*/ 7 h 20"/>
                    <a:gd name="T2" fmla="*/ 12 w 22"/>
                    <a:gd name="T3" fmla="*/ 0 h 20"/>
                    <a:gd name="T4" fmla="*/ 16 w 22"/>
                    <a:gd name="T5" fmla="*/ 7 h 20"/>
                    <a:gd name="T6" fmla="*/ 8 w 22"/>
                    <a:gd name="T7" fmla="*/ 10 h 20"/>
                    <a:gd name="T8" fmla="*/ 11 w 22"/>
                    <a:gd name="T9" fmla="*/ 7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Freeform 55"/>
                <p:cNvSpPr>
                  <a:spLocks/>
                </p:cNvSpPr>
                <p:nvPr userDrawn="1"/>
              </p:nvSpPr>
              <p:spPr bwMode="ltGray">
                <a:xfrm>
                  <a:off x="453" y="275"/>
                  <a:ext cx="58" cy="24"/>
                </a:xfrm>
                <a:custGeom>
                  <a:avLst/>
                  <a:gdLst>
                    <a:gd name="T0" fmla="*/ 24 w 57"/>
                    <a:gd name="T1" fmla="*/ 7 h 30"/>
                    <a:gd name="T2" fmla="*/ 36 w 57"/>
                    <a:gd name="T3" fmla="*/ 2 h 30"/>
                    <a:gd name="T4" fmla="*/ 40 w 57"/>
                    <a:gd name="T5" fmla="*/ 12 h 30"/>
                    <a:gd name="T6" fmla="*/ 24 w 57"/>
                    <a:gd name="T7" fmla="*/ 7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Freeform 56"/>
                <p:cNvSpPr>
                  <a:spLocks/>
                </p:cNvSpPr>
                <p:nvPr userDrawn="1"/>
              </p:nvSpPr>
              <p:spPr bwMode="ltGray">
                <a:xfrm>
                  <a:off x="1161" y="50"/>
                  <a:ext cx="691" cy="569"/>
                </a:xfrm>
                <a:custGeom>
                  <a:avLst/>
                  <a:gdLst>
                    <a:gd name="T0" fmla="*/ 469 w 693"/>
                    <a:gd name="T1" fmla="*/ 207 h 696"/>
                    <a:gd name="T2" fmla="*/ 389 w 693"/>
                    <a:gd name="T3" fmla="*/ 202 h 696"/>
                    <a:gd name="T4" fmla="*/ 321 w 693"/>
                    <a:gd name="T5" fmla="*/ 185 h 696"/>
                    <a:gd name="T6" fmla="*/ 261 w 693"/>
                    <a:gd name="T7" fmla="*/ 178 h 696"/>
                    <a:gd name="T8" fmla="*/ 233 w 693"/>
                    <a:gd name="T9" fmla="*/ 186 h 696"/>
                    <a:gd name="T10" fmla="*/ 257 w 693"/>
                    <a:gd name="T11" fmla="*/ 191 h 696"/>
                    <a:gd name="T12" fmla="*/ 289 w 693"/>
                    <a:gd name="T13" fmla="*/ 209 h 696"/>
                    <a:gd name="T14" fmla="*/ 317 w 693"/>
                    <a:gd name="T15" fmla="*/ 213 h 696"/>
                    <a:gd name="T16" fmla="*/ 329 w 693"/>
                    <a:gd name="T17" fmla="*/ 240 h 696"/>
                    <a:gd name="T18" fmla="*/ 309 w 693"/>
                    <a:gd name="T19" fmla="*/ 247 h 696"/>
                    <a:gd name="T20" fmla="*/ 257 w 693"/>
                    <a:gd name="T21" fmla="*/ 276 h 696"/>
                    <a:gd name="T22" fmla="*/ 221 w 693"/>
                    <a:gd name="T23" fmla="*/ 280 h 696"/>
                    <a:gd name="T24" fmla="*/ 97 w 693"/>
                    <a:gd name="T25" fmla="*/ 311 h 696"/>
                    <a:gd name="T26" fmla="*/ 77 w 693"/>
                    <a:gd name="T27" fmla="*/ 276 h 696"/>
                    <a:gd name="T28" fmla="*/ 45 w 693"/>
                    <a:gd name="T29" fmla="*/ 234 h 696"/>
                    <a:gd name="T30" fmla="*/ 33 w 693"/>
                    <a:gd name="T31" fmla="*/ 199 h 696"/>
                    <a:gd name="T32" fmla="*/ 53 w 693"/>
                    <a:gd name="T33" fmla="*/ 154 h 696"/>
                    <a:gd name="T34" fmla="*/ 17 w 693"/>
                    <a:gd name="T35" fmla="*/ 175 h 696"/>
                    <a:gd name="T36" fmla="*/ 81 w 693"/>
                    <a:gd name="T37" fmla="*/ 125 h 696"/>
                    <a:gd name="T38" fmla="*/ 113 w 693"/>
                    <a:gd name="T39" fmla="*/ 92 h 696"/>
                    <a:gd name="T40" fmla="*/ 37 w 693"/>
                    <a:gd name="T41" fmla="*/ 92 h 696"/>
                    <a:gd name="T42" fmla="*/ 1 w 693"/>
                    <a:gd name="T43" fmla="*/ 87 h 696"/>
                    <a:gd name="T44" fmla="*/ 25 w 693"/>
                    <a:gd name="T45" fmla="*/ 62 h 696"/>
                    <a:gd name="T46" fmla="*/ 97 w 693"/>
                    <a:gd name="T47" fmla="*/ 50 h 696"/>
                    <a:gd name="T48" fmla="*/ 217 w 693"/>
                    <a:gd name="T49" fmla="*/ 56 h 696"/>
                    <a:gd name="T50" fmla="*/ 225 w 693"/>
                    <a:gd name="T51" fmla="*/ 29 h 696"/>
                    <a:gd name="T52" fmla="*/ 257 w 693"/>
                    <a:gd name="T53" fmla="*/ 0 h 696"/>
                    <a:gd name="T54" fmla="*/ 353 w 693"/>
                    <a:gd name="T55" fmla="*/ 20 h 696"/>
                    <a:gd name="T56" fmla="*/ 325 w 693"/>
                    <a:gd name="T57" fmla="*/ 39 h 696"/>
                    <a:gd name="T58" fmla="*/ 297 w 693"/>
                    <a:gd name="T59" fmla="*/ 78 h 696"/>
                    <a:gd name="T60" fmla="*/ 357 w 693"/>
                    <a:gd name="T61" fmla="*/ 86 h 696"/>
                    <a:gd name="T62" fmla="*/ 369 w 693"/>
                    <a:gd name="T63" fmla="*/ 60 h 696"/>
                    <a:gd name="T64" fmla="*/ 413 w 693"/>
                    <a:gd name="T65" fmla="*/ 41 h 696"/>
                    <a:gd name="T66" fmla="*/ 493 w 693"/>
                    <a:gd name="T67" fmla="*/ 39 h 696"/>
                    <a:gd name="T68" fmla="*/ 521 w 693"/>
                    <a:gd name="T69" fmla="*/ 24 h 696"/>
                    <a:gd name="T70" fmla="*/ 533 w 693"/>
                    <a:gd name="T71" fmla="*/ 205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Freeform 57"/>
                <p:cNvSpPr>
                  <a:spLocks/>
                </p:cNvSpPr>
                <p:nvPr userDrawn="1"/>
              </p:nvSpPr>
              <p:spPr bwMode="ltGray">
                <a:xfrm>
                  <a:off x="689" y="6"/>
                  <a:ext cx="1386" cy="232"/>
                </a:xfrm>
                <a:custGeom>
                  <a:avLst/>
                  <a:gdLst>
                    <a:gd name="T0" fmla="*/ 4051 w 931"/>
                    <a:gd name="T1" fmla="*/ 0 h 149"/>
                    <a:gd name="T2" fmla="*/ 703 w 931"/>
                    <a:gd name="T3" fmla="*/ 170 h 149"/>
                    <a:gd name="T4" fmla="*/ 445 w 931"/>
                    <a:gd name="T5" fmla="*/ 244 h 149"/>
                    <a:gd name="T6" fmla="*/ 304 w 931"/>
                    <a:gd name="T7" fmla="*/ 244 h 149"/>
                    <a:gd name="T8" fmla="*/ 109 w 931"/>
                    <a:gd name="T9" fmla="*/ 453 h 149"/>
                    <a:gd name="T10" fmla="*/ 0 w 931"/>
                    <a:gd name="T11" fmla="*/ 615 h 149"/>
                    <a:gd name="T12" fmla="*/ 290 w 931"/>
                    <a:gd name="T13" fmla="*/ 676 h 149"/>
                    <a:gd name="T14" fmla="*/ 475 w 931"/>
                    <a:gd name="T15" fmla="*/ 562 h 149"/>
                    <a:gd name="T16" fmla="*/ 531 w 931"/>
                    <a:gd name="T17" fmla="*/ 495 h 149"/>
                    <a:gd name="T18" fmla="*/ 822 w 931"/>
                    <a:gd name="T19" fmla="*/ 305 h 149"/>
                    <a:gd name="T20" fmla="*/ 1056 w 931"/>
                    <a:gd name="T21" fmla="*/ 271 h 149"/>
                    <a:gd name="T22" fmla="*/ 1166 w 931"/>
                    <a:gd name="T23" fmla="*/ 550 h 149"/>
                    <a:gd name="T24" fmla="*/ 924 w 931"/>
                    <a:gd name="T25" fmla="*/ 643 h 149"/>
                    <a:gd name="T26" fmla="*/ 1134 w 931"/>
                    <a:gd name="T27" fmla="*/ 665 h 149"/>
                    <a:gd name="T28" fmla="*/ 1228 w 931"/>
                    <a:gd name="T29" fmla="*/ 528 h 149"/>
                    <a:gd name="T30" fmla="*/ 1307 w 931"/>
                    <a:gd name="T31" fmla="*/ 540 h 149"/>
                    <a:gd name="T32" fmla="*/ 1243 w 931"/>
                    <a:gd name="T33" fmla="*/ 318 h 149"/>
                    <a:gd name="T34" fmla="*/ 1307 w 931"/>
                    <a:gd name="T35" fmla="*/ 260 h 149"/>
                    <a:gd name="T36" fmla="*/ 1359 w 931"/>
                    <a:gd name="T37" fmla="*/ 517 h 149"/>
                    <a:gd name="T38" fmla="*/ 1307 w 931"/>
                    <a:gd name="T39" fmla="*/ 665 h 149"/>
                    <a:gd name="T40" fmla="*/ 1456 w 931"/>
                    <a:gd name="T41" fmla="*/ 763 h 149"/>
                    <a:gd name="T42" fmla="*/ 1468 w 931"/>
                    <a:gd name="T43" fmla="*/ 540 h 149"/>
                    <a:gd name="T44" fmla="*/ 1627 w 931"/>
                    <a:gd name="T45" fmla="*/ 604 h 149"/>
                    <a:gd name="T46" fmla="*/ 1877 w 931"/>
                    <a:gd name="T47" fmla="*/ 431 h 149"/>
                    <a:gd name="T48" fmla="*/ 2010 w 931"/>
                    <a:gd name="T49" fmla="*/ 293 h 149"/>
                    <a:gd name="T50" fmla="*/ 2159 w 931"/>
                    <a:gd name="T51" fmla="*/ 327 h 149"/>
                    <a:gd name="T52" fmla="*/ 2235 w 931"/>
                    <a:gd name="T53" fmla="*/ 293 h 149"/>
                    <a:gd name="T54" fmla="*/ 2118 w 931"/>
                    <a:gd name="T55" fmla="*/ 260 h 149"/>
                    <a:gd name="T56" fmla="*/ 2330 w 931"/>
                    <a:gd name="T57" fmla="*/ 204 h 149"/>
                    <a:gd name="T58" fmla="*/ 2672 w 931"/>
                    <a:gd name="T59" fmla="*/ 318 h 149"/>
                    <a:gd name="T60" fmla="*/ 2854 w 931"/>
                    <a:gd name="T61" fmla="*/ 244 h 149"/>
                    <a:gd name="T62" fmla="*/ 2867 w 931"/>
                    <a:gd name="T63" fmla="*/ 371 h 149"/>
                    <a:gd name="T64" fmla="*/ 2790 w 931"/>
                    <a:gd name="T65" fmla="*/ 592 h 149"/>
                    <a:gd name="T66" fmla="*/ 3003 w 931"/>
                    <a:gd name="T67" fmla="*/ 517 h 149"/>
                    <a:gd name="T68" fmla="*/ 3065 w 931"/>
                    <a:gd name="T69" fmla="*/ 473 h 149"/>
                    <a:gd name="T70" fmla="*/ 3184 w 931"/>
                    <a:gd name="T71" fmla="*/ 358 h 149"/>
                    <a:gd name="T72" fmla="*/ 3900 w 931"/>
                    <a:gd name="T73" fmla="*/ 49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Freeform 58"/>
                <p:cNvSpPr>
                  <a:spLocks/>
                </p:cNvSpPr>
                <p:nvPr userDrawn="1"/>
              </p:nvSpPr>
              <p:spPr bwMode="ltGray">
                <a:xfrm>
                  <a:off x="971" y="91"/>
                  <a:ext cx="30" cy="25"/>
                </a:xfrm>
                <a:custGeom>
                  <a:avLst/>
                  <a:gdLst>
                    <a:gd name="T0" fmla="*/ 3 w 31"/>
                    <a:gd name="T1" fmla="*/ 13 h 30"/>
                    <a:gd name="T2" fmla="*/ 27 w 31"/>
                    <a:gd name="T3" fmla="*/ 0 h 30"/>
                    <a:gd name="T4" fmla="*/ 15 w 31"/>
                    <a:gd name="T5" fmla="*/ 12 h 30"/>
                    <a:gd name="T6" fmla="*/ 3 w 31"/>
                    <a:gd name="T7" fmla="*/ 1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Freeform 59"/>
                <p:cNvSpPr>
                  <a:spLocks/>
                </p:cNvSpPr>
                <p:nvPr userDrawn="1"/>
              </p:nvSpPr>
              <p:spPr bwMode="ltGray">
                <a:xfrm>
                  <a:off x="935" y="125"/>
                  <a:ext cx="45" cy="27"/>
                </a:xfrm>
                <a:custGeom>
                  <a:avLst/>
                  <a:gdLst>
                    <a:gd name="T0" fmla="*/ 6 w 44"/>
                    <a:gd name="T1" fmla="*/ 16 h 32"/>
                    <a:gd name="T2" fmla="*/ 26 w 44"/>
                    <a:gd name="T3" fmla="*/ 0 h 32"/>
                    <a:gd name="T4" fmla="*/ 42 w 44"/>
                    <a:gd name="T5" fmla="*/ 3 h 32"/>
                    <a:gd name="T6" fmla="*/ 6 w 44"/>
                    <a:gd name="T7" fmla="*/ 16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Freeform 60"/>
                <p:cNvSpPr>
                  <a:spLocks/>
                </p:cNvSpPr>
                <p:nvPr userDrawn="1"/>
              </p:nvSpPr>
              <p:spPr bwMode="ltGray">
                <a:xfrm>
                  <a:off x="1081" y="226"/>
                  <a:ext cx="75" cy="14"/>
                </a:xfrm>
                <a:custGeom>
                  <a:avLst/>
                  <a:gdLst>
                    <a:gd name="T0" fmla="*/ 37 w 76"/>
                    <a:gd name="T1" fmla="*/ 7 h 18"/>
                    <a:gd name="T2" fmla="*/ 25 w 76"/>
                    <a:gd name="T3" fmla="*/ 2 h 18"/>
                    <a:gd name="T4" fmla="*/ 37 w 76"/>
                    <a:gd name="T5" fmla="*/ 7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Freeform 61"/>
                <p:cNvSpPr>
                  <a:spLocks/>
                </p:cNvSpPr>
                <p:nvPr userDrawn="1"/>
              </p:nvSpPr>
              <p:spPr bwMode="ltGray">
                <a:xfrm>
                  <a:off x="1210" y="223"/>
                  <a:ext cx="42" cy="37"/>
                </a:xfrm>
                <a:custGeom>
                  <a:avLst/>
                  <a:gdLst>
                    <a:gd name="T0" fmla="*/ 0 w 42"/>
                    <a:gd name="T1" fmla="*/ 11 h 44"/>
                    <a:gd name="T2" fmla="*/ 12 w 42"/>
                    <a:gd name="T3" fmla="*/ 5 h 44"/>
                    <a:gd name="T4" fmla="*/ 0 w 42"/>
                    <a:gd name="T5" fmla="*/ 1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Freeform 62"/>
                <p:cNvSpPr>
                  <a:spLocks/>
                </p:cNvSpPr>
                <p:nvPr userDrawn="1"/>
              </p:nvSpPr>
              <p:spPr bwMode="ltGray">
                <a:xfrm>
                  <a:off x="865" y="123"/>
                  <a:ext cx="33" cy="24"/>
                </a:xfrm>
                <a:custGeom>
                  <a:avLst/>
                  <a:gdLst>
                    <a:gd name="T0" fmla="*/ 7 w 31"/>
                    <a:gd name="T1" fmla="*/ 9 h 30"/>
                    <a:gd name="T2" fmla="*/ 39 w 31"/>
                    <a:gd name="T3" fmla="*/ 4 h 30"/>
                    <a:gd name="T4" fmla="*/ 7 w 31"/>
                    <a:gd name="T5" fmla="*/ 9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 name="Group 63"/>
              <p:cNvGrpSpPr>
                <a:grpSpLocks/>
              </p:cNvGrpSpPr>
              <p:nvPr userDrawn="1"/>
            </p:nvGrpSpPr>
            <p:grpSpPr bwMode="auto">
              <a:xfrm>
                <a:off x="7" y="6"/>
                <a:ext cx="5739" cy="1022"/>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75"/>
              <p:cNvGrpSpPr>
                <a:grpSpLocks/>
              </p:cNvGrpSpPr>
              <p:nvPr userDrawn="1"/>
            </p:nvGrpSpPr>
            <p:grpSpPr bwMode="auto">
              <a:xfrm>
                <a:off x="363" y="1"/>
                <a:ext cx="4919" cy="1034"/>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8860" name="Rectangle 92"/>
          <p:cNvSpPr>
            <a:spLocks noGrp="1" noChangeArrowheads="1"/>
          </p:cNvSpPr>
          <p:nvPr>
            <p:ph type="ctrTitle"/>
          </p:nvPr>
        </p:nvSpPr>
        <p:spPr>
          <a:xfrm>
            <a:off x="1828800" y="1828800"/>
            <a:ext cx="6934200" cy="2362200"/>
          </a:xfrm>
        </p:spPr>
        <p:txBody>
          <a:bodyPr/>
          <a:lstStyle>
            <a:lvl1pPr>
              <a:defRPr/>
            </a:lvl1pPr>
          </a:lstStyle>
          <a:p>
            <a:pPr lvl="0"/>
            <a:r>
              <a:rPr lang="en-US" altLang="zh-CN" noProof="0"/>
              <a:t>Click to edit Master title style</a:t>
            </a:r>
            <a:endParaRPr lang="zh-CN" altLang="en-US" noProof="0"/>
          </a:p>
        </p:txBody>
      </p:sp>
      <p:sp>
        <p:nvSpPr>
          <p:cNvPr id="288861"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pPr lvl="0"/>
            <a:r>
              <a:rPr lang="en-US" altLang="zh-CN" noProof="0"/>
              <a:t>Click to edit Master subtitle style</a:t>
            </a:r>
            <a:endParaRPr lang="zh-CN" altLang="en-US" noProof="0"/>
          </a:p>
        </p:txBody>
      </p:sp>
      <p:sp>
        <p:nvSpPr>
          <p:cNvPr id="94" name="Rectangle 94"/>
          <p:cNvSpPr>
            <a:spLocks noGrp="1" noChangeArrowheads="1"/>
          </p:cNvSpPr>
          <p:nvPr>
            <p:ph type="dt" sz="half" idx="10"/>
          </p:nvPr>
        </p:nvSpPr>
        <p:spPr>
          <a:xfrm>
            <a:off x="533400" y="6324600"/>
            <a:ext cx="1905000" cy="457200"/>
          </a:xfrm>
        </p:spPr>
        <p:txBody>
          <a:bodyPr/>
          <a:lstStyle>
            <a:lvl1pPr>
              <a:defRPr/>
            </a:lvl1pPr>
          </a:lstStyle>
          <a:p>
            <a:pPr>
              <a:defRPr/>
            </a:pPr>
            <a:endParaRPr lang="en-US" altLang="zh-CN"/>
          </a:p>
        </p:txBody>
      </p:sp>
      <p:sp>
        <p:nvSpPr>
          <p:cNvPr id="95" name="Rectangle 95"/>
          <p:cNvSpPr>
            <a:spLocks noGrp="1" noChangeArrowheads="1"/>
          </p:cNvSpPr>
          <p:nvPr>
            <p:ph type="ftr" sz="quarter" idx="11"/>
          </p:nvPr>
        </p:nvSpPr>
        <p:spPr>
          <a:xfrm>
            <a:off x="3200400" y="6324600"/>
            <a:ext cx="2895600" cy="457200"/>
          </a:xfrm>
        </p:spPr>
        <p:txBody>
          <a:bodyPr/>
          <a:lstStyle>
            <a:lvl1pPr>
              <a:defRPr/>
            </a:lvl1pPr>
          </a:lstStyle>
          <a:p>
            <a:pPr>
              <a:defRPr/>
            </a:pPr>
            <a:endParaRPr lang="en-US" altLang="zh-CN"/>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BD246F89-F053-4E65-A4B6-0DE7E75B131D}" type="slidenum">
              <a:rPr lang="en-US" altLang="zh-CN" smtClean="0"/>
              <a:pPr>
                <a:defRPr/>
              </a:pPr>
              <a:t>‹#›</a:t>
            </a:fld>
            <a:endParaRPr lang="en-US" altLang="zh-CN"/>
          </a:p>
        </p:txBody>
      </p:sp>
    </p:spTree>
    <p:extLst>
      <p:ext uri="{BB962C8B-B14F-4D97-AF65-F5344CB8AC3E}">
        <p14:creationId xmlns:p14="http://schemas.microsoft.com/office/powerpoint/2010/main" val="4139498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4C889A1-307D-47CA-8F8F-F32F1FA883F9}" type="slidenum">
              <a:rPr lang="en-US" altLang="zh-CN" smtClean="0"/>
              <a:pPr>
                <a:defRPr/>
              </a:pPr>
              <a:t>‹#›</a:t>
            </a:fld>
            <a:endParaRPr lang="en-US" altLang="zh-CN"/>
          </a:p>
        </p:txBody>
      </p:sp>
    </p:spTree>
    <p:extLst>
      <p:ext uri="{BB962C8B-B14F-4D97-AF65-F5344CB8AC3E}">
        <p14:creationId xmlns:p14="http://schemas.microsoft.com/office/powerpoint/2010/main" val="2098520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en-US" altLang="zh-CN"/>
              <a:t>Click to edit Master title style</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9D28F62-0F66-41B3-AEB3-3BDC946FFFF6}" type="slidenum">
              <a:rPr lang="en-US" altLang="zh-CN" smtClean="0"/>
              <a:pPr>
                <a:defRPr/>
              </a:pPr>
              <a:t>‹#›</a:t>
            </a:fld>
            <a:endParaRPr lang="en-US" altLang="zh-CN"/>
          </a:p>
        </p:txBody>
      </p:sp>
    </p:spTree>
    <p:extLst>
      <p:ext uri="{BB962C8B-B14F-4D97-AF65-F5344CB8AC3E}">
        <p14:creationId xmlns:p14="http://schemas.microsoft.com/office/powerpoint/2010/main" val="2913932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685800" y="2147888"/>
            <a:ext cx="3810000" cy="41148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48200" y="2147888"/>
            <a:ext cx="3810000" cy="41148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CD22B43-B1BC-4680-A62D-817A0826D1B0}" type="slidenum">
              <a:rPr lang="en-US" altLang="zh-CN" smtClean="0"/>
              <a:pPr>
                <a:defRPr/>
              </a:pPr>
              <a:t>‹#›</a:t>
            </a:fld>
            <a:endParaRPr lang="en-US" altLang="zh-CN"/>
          </a:p>
        </p:txBody>
      </p:sp>
    </p:spTree>
    <p:extLst>
      <p:ext uri="{BB962C8B-B14F-4D97-AF65-F5344CB8AC3E}">
        <p14:creationId xmlns:p14="http://schemas.microsoft.com/office/powerpoint/2010/main" val="151844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en-US" altLang="zh-CN"/>
              <a:t>Click to edit Master title style</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p:cNvSpPr>
            <a:spLocks noGrp="1"/>
          </p:cNvSpPr>
          <p:nvPr>
            <p:ph sz="half" idx="2"/>
          </p:nvPr>
        </p:nvSpPr>
        <p:spPr>
          <a:xfrm>
            <a:off x="630238" y="2505075"/>
            <a:ext cx="386873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p:cNvSpPr>
            <a:spLocks noGrp="1"/>
          </p:cNvSpPr>
          <p:nvPr>
            <p:ph sz="quarter" idx="4"/>
          </p:nvPr>
        </p:nvSpPr>
        <p:spPr>
          <a:xfrm>
            <a:off x="4629150" y="2505075"/>
            <a:ext cx="38877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AA6AC26E-1A08-4E57-974D-EC572DEC662B}" type="slidenum">
              <a:rPr lang="en-US" altLang="zh-CN" smtClean="0"/>
              <a:pPr>
                <a:defRPr/>
              </a:pPr>
              <a:t>‹#›</a:t>
            </a:fld>
            <a:endParaRPr lang="en-US" altLang="zh-CN"/>
          </a:p>
        </p:txBody>
      </p:sp>
    </p:spTree>
    <p:extLst>
      <p:ext uri="{BB962C8B-B14F-4D97-AF65-F5344CB8AC3E}">
        <p14:creationId xmlns:p14="http://schemas.microsoft.com/office/powerpoint/2010/main" val="1680977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EA22EF80-DAF5-4FE7-AAFC-BCB752DD3204}" type="slidenum">
              <a:rPr lang="en-US" altLang="zh-CN" smtClean="0"/>
              <a:pPr>
                <a:defRPr/>
              </a:pPr>
              <a:t>‹#›</a:t>
            </a:fld>
            <a:endParaRPr lang="en-US" altLang="zh-CN"/>
          </a:p>
        </p:txBody>
      </p:sp>
    </p:spTree>
    <p:extLst>
      <p:ext uri="{BB962C8B-B14F-4D97-AF65-F5344CB8AC3E}">
        <p14:creationId xmlns:p14="http://schemas.microsoft.com/office/powerpoint/2010/main" val="829423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4B858A9-351C-4983-B6E4-D08A4CADF14E}" type="slidenum">
              <a:rPr lang="en-US" altLang="zh-CN" smtClean="0"/>
              <a:pPr>
                <a:defRPr/>
              </a:pPr>
              <a:t>‹#›</a:t>
            </a:fld>
            <a:endParaRPr lang="en-US" altLang="zh-CN"/>
          </a:p>
        </p:txBody>
      </p:sp>
    </p:spTree>
    <p:extLst>
      <p:ext uri="{BB962C8B-B14F-4D97-AF65-F5344CB8AC3E}">
        <p14:creationId xmlns:p14="http://schemas.microsoft.com/office/powerpoint/2010/main" val="1776729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en-US" altLang="zh-CN"/>
              <a:t>Click to edit Master title style</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9A38BAA-0036-47CE-A161-7D00401EC1B7}" type="slidenum">
              <a:rPr lang="en-US" altLang="zh-CN" smtClean="0"/>
              <a:pPr>
                <a:defRPr/>
              </a:pPr>
              <a:t>‹#›</a:t>
            </a:fld>
            <a:endParaRPr lang="en-US" altLang="zh-CN"/>
          </a:p>
        </p:txBody>
      </p:sp>
    </p:spTree>
    <p:extLst>
      <p:ext uri="{BB962C8B-B14F-4D97-AF65-F5344CB8AC3E}">
        <p14:creationId xmlns:p14="http://schemas.microsoft.com/office/powerpoint/2010/main" val="3585202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en-US" altLang="zh-CN"/>
              <a:t>Click to edit Master title style</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D304481-DB98-4EA1-93C3-8712FD6B8E68}" type="slidenum">
              <a:rPr lang="en-US" altLang="zh-CN" smtClean="0"/>
              <a:pPr>
                <a:defRPr/>
              </a:pPr>
              <a:t>‹#›</a:t>
            </a:fld>
            <a:endParaRPr lang="en-US" altLang="zh-CN"/>
          </a:p>
        </p:txBody>
      </p:sp>
    </p:spTree>
    <p:extLst>
      <p:ext uri="{BB962C8B-B14F-4D97-AF65-F5344CB8AC3E}">
        <p14:creationId xmlns:p14="http://schemas.microsoft.com/office/powerpoint/2010/main" val="1986962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D6D3D29-1530-4123-8483-5606F8885193}" type="slidenum">
              <a:rPr lang="en-US" altLang="zh-CN" smtClean="0"/>
              <a:pPr>
                <a:defRPr/>
              </a:pPr>
              <a:t>‹#›</a:t>
            </a:fld>
            <a:endParaRPr lang="en-US" altLang="zh-CN"/>
          </a:p>
        </p:txBody>
      </p:sp>
    </p:spTree>
    <p:extLst>
      <p:ext uri="{BB962C8B-B14F-4D97-AF65-F5344CB8AC3E}">
        <p14:creationId xmlns:p14="http://schemas.microsoft.com/office/powerpoint/2010/main" val="4211932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05563" y="930275"/>
            <a:ext cx="2052637" cy="5332413"/>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246063" y="930275"/>
            <a:ext cx="6007100" cy="5332413"/>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A1F0EDE-4108-4612-B1BC-0B2B16C834C5}" type="slidenum">
              <a:rPr lang="en-US" altLang="zh-CN" smtClean="0"/>
              <a:pPr>
                <a:defRPr/>
              </a:pPr>
              <a:t>‹#›</a:t>
            </a:fld>
            <a:endParaRPr lang="en-US" altLang="zh-CN"/>
          </a:p>
        </p:txBody>
      </p:sp>
    </p:spTree>
    <p:extLst>
      <p:ext uri="{BB962C8B-B14F-4D97-AF65-F5344CB8AC3E}">
        <p14:creationId xmlns:p14="http://schemas.microsoft.com/office/powerpoint/2010/main" val="3939337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46063" y="930275"/>
            <a:ext cx="7772400" cy="114300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85800" y="2147888"/>
            <a:ext cx="3810000" cy="41148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quarter" idx="2"/>
          </p:nvPr>
        </p:nvSpPr>
        <p:spPr>
          <a:xfrm>
            <a:off x="4648200" y="2147888"/>
            <a:ext cx="3810000" cy="1981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内容占位符 4"/>
          <p:cNvSpPr>
            <a:spLocks noGrp="1"/>
          </p:cNvSpPr>
          <p:nvPr>
            <p:ph sz="quarter" idx="3"/>
          </p:nvPr>
        </p:nvSpPr>
        <p:spPr>
          <a:xfrm>
            <a:off x="4648200" y="4281488"/>
            <a:ext cx="3810000" cy="1981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EC72B4F3-1925-4B40-B115-1E369E676C20}" type="slidenum">
              <a:rPr lang="en-US" altLang="zh-CN" smtClean="0"/>
              <a:pPr>
                <a:defRPr/>
              </a:pPr>
              <a:t>‹#›</a:t>
            </a:fld>
            <a:endParaRPr lang="en-US" altLang="zh-CN"/>
          </a:p>
        </p:txBody>
      </p:sp>
    </p:spTree>
    <p:extLst>
      <p:ext uri="{BB962C8B-B14F-4D97-AF65-F5344CB8AC3E}">
        <p14:creationId xmlns:p14="http://schemas.microsoft.com/office/powerpoint/2010/main" val="2903385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46063" y="930275"/>
            <a:ext cx="7772400" cy="114300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85800" y="2147888"/>
            <a:ext cx="3810000" cy="41148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48200" y="2147888"/>
            <a:ext cx="3810000" cy="41148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6A697D9-5230-41FB-9DBA-453AF093859B}" type="slidenum">
              <a:rPr lang="en-US" altLang="zh-CN" smtClean="0"/>
              <a:pPr>
                <a:defRPr/>
              </a:pPr>
              <a:t>‹#›</a:t>
            </a:fld>
            <a:endParaRPr lang="en-US" altLang="zh-CN"/>
          </a:p>
        </p:txBody>
      </p:sp>
    </p:spTree>
    <p:extLst>
      <p:ext uri="{BB962C8B-B14F-4D97-AF65-F5344CB8AC3E}">
        <p14:creationId xmlns:p14="http://schemas.microsoft.com/office/powerpoint/2010/main" val="2481029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46063" y="930275"/>
            <a:ext cx="8212137" cy="533241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0BDB6B83-8B47-484F-9B42-DA54F6018ECA}" type="slidenum">
              <a:rPr lang="en-US" altLang="zh-CN" smtClean="0"/>
              <a:pPr>
                <a:defRPr/>
              </a:pPr>
              <a:t>‹#›</a:t>
            </a:fld>
            <a:endParaRPr lang="en-US" altLang="zh-CN"/>
          </a:p>
        </p:txBody>
      </p:sp>
    </p:spTree>
    <p:extLst>
      <p:ext uri="{BB962C8B-B14F-4D97-AF65-F5344CB8AC3E}">
        <p14:creationId xmlns:p14="http://schemas.microsoft.com/office/powerpoint/2010/main" val="22186695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66FA1168-DC19-4647-ABE6-D6E547CA3EC9}" type="slidenum">
              <a:rPr lang="en-US" altLang="zh-CN"/>
              <a:pPr>
                <a:defRPr/>
              </a:pPr>
              <a:t>‹#›</a:t>
            </a:fld>
            <a:endParaRPr lang="en-US" altLang="zh-CN"/>
          </a:p>
        </p:txBody>
      </p:sp>
    </p:spTree>
    <p:extLst>
      <p:ext uri="{BB962C8B-B14F-4D97-AF65-F5344CB8AC3E}">
        <p14:creationId xmlns:p14="http://schemas.microsoft.com/office/powerpoint/2010/main" val="145773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2178283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3609434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2841261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2448390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36568577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959122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5667997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32635768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36466266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38087735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DCC9847-E774-4636-A962-3484B45B7925}" type="datetimeFigureOut">
              <a:rPr lang="zh-CN" altLang="en-US" smtClean="0"/>
              <a:t>2025/6/15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2732571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748" name="Rectangle 4"/>
          <p:cNvSpPr>
            <a:spLocks noGrp="1" noChangeArrowheads="1"/>
          </p:cNvSpPr>
          <p:nvPr>
            <p:ph type="dt" sz="half" idx="2"/>
          </p:nvPr>
        </p:nvSpPr>
        <p:spPr bwMode="auto">
          <a:xfrm>
            <a:off x="68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i="0"/>
            </a:lvl1pPr>
          </a:lstStyle>
          <a:p>
            <a:pPr>
              <a:defRPr/>
            </a:pPr>
            <a:endParaRPr lang="en-US" altLang="zh-CN"/>
          </a:p>
        </p:txBody>
      </p:sp>
      <p:sp>
        <p:nvSpPr>
          <p:cNvPr id="287749" name="Rectangle 5"/>
          <p:cNvSpPr>
            <a:spLocks noGrp="1" noChangeArrowheads="1"/>
          </p:cNvSpPr>
          <p:nvPr>
            <p:ph type="ftr" sz="quarter" idx="3"/>
          </p:nvPr>
        </p:nvSpPr>
        <p:spPr bwMode="auto">
          <a:xfrm>
            <a:off x="31242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i="0"/>
            </a:lvl1pPr>
          </a:lstStyle>
          <a:p>
            <a:pPr>
              <a:defRPr/>
            </a:pPr>
            <a:endParaRPr lang="en-US" altLang="zh-CN"/>
          </a:p>
        </p:txBody>
      </p:sp>
      <p:sp>
        <p:nvSpPr>
          <p:cNvPr id="287750" name="Rectangle 6"/>
          <p:cNvSpPr>
            <a:spLocks noGrp="1" noChangeArrowheads="1"/>
          </p:cNvSpPr>
          <p:nvPr>
            <p:ph type="sldNum" sz="quarter" idx="4"/>
          </p:nvPr>
        </p:nvSpPr>
        <p:spPr bwMode="auto">
          <a:xfrm>
            <a:off x="65532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i="0"/>
            </a:lvl1pPr>
          </a:lstStyle>
          <a:p>
            <a:pPr>
              <a:defRPr/>
            </a:pPr>
            <a:fld id="{5A1F0EDE-4108-4612-B1BC-0B2B16C834C5}" type="slidenum">
              <a:rPr lang="en-US" altLang="zh-CN" smtClean="0"/>
              <a:pPr>
                <a:defRPr/>
              </a:pPr>
              <a:t>‹#›</a:t>
            </a:fld>
            <a:endParaRPr lang="en-US" altLang="zh-CN"/>
          </a:p>
        </p:txBody>
      </p:sp>
      <p:grpSp>
        <p:nvGrpSpPr>
          <p:cNvPr id="160" name="组合 159">
            <a:extLst>
              <a:ext uri="{FF2B5EF4-FFF2-40B4-BE49-F238E27FC236}">
                <a16:creationId xmlns:a16="http://schemas.microsoft.com/office/drawing/2014/main" id="{937589C9-23BE-4DE8-920D-E692843CF80C}"/>
              </a:ext>
            </a:extLst>
          </p:cNvPr>
          <p:cNvGrpSpPr/>
          <p:nvPr userDrawn="1"/>
        </p:nvGrpSpPr>
        <p:grpSpPr>
          <a:xfrm>
            <a:off x="142282" y="288798"/>
            <a:ext cx="533400" cy="426720"/>
            <a:chOff x="0" y="288798"/>
            <a:chExt cx="533400" cy="426720"/>
          </a:xfrm>
        </p:grpSpPr>
        <p:sp>
          <p:nvSpPr>
            <p:cNvPr id="161" name="矩形 160">
              <a:extLst>
                <a:ext uri="{FF2B5EF4-FFF2-40B4-BE49-F238E27FC236}">
                  <a16:creationId xmlns:a16="http://schemas.microsoft.com/office/drawing/2014/main" id="{3215382F-CB53-4992-8055-3E63AA884941}"/>
                </a:ext>
              </a:extLst>
            </p:cNvPr>
            <p:cNvSpPr/>
            <p:nvPr/>
          </p:nvSpPr>
          <p:spPr>
            <a:xfrm>
              <a:off x="0" y="288798"/>
              <a:ext cx="4191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a:extLst>
                <a:ext uri="{FF2B5EF4-FFF2-40B4-BE49-F238E27FC236}">
                  <a16:creationId xmlns:a16="http://schemas.microsoft.com/office/drawing/2014/main" id="{A7E7A35D-3572-4410-AC23-B3AE01DE596B}"/>
                </a:ext>
              </a:extLst>
            </p:cNvPr>
            <p:cNvSpPr/>
            <p:nvPr/>
          </p:nvSpPr>
          <p:spPr>
            <a:xfrm>
              <a:off x="457200" y="288798"/>
              <a:ext cx="762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3" name="图片 162">
            <a:extLst>
              <a:ext uri="{FF2B5EF4-FFF2-40B4-BE49-F238E27FC236}">
                <a16:creationId xmlns:a16="http://schemas.microsoft.com/office/drawing/2014/main" id="{F5DD1D46-E9B6-412B-A870-F555EA614AC5}"/>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422805" y="244642"/>
            <a:ext cx="492595" cy="505044"/>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Lst>
  <p:txStyles>
    <p:titleStyle>
      <a:lvl1pPr algn="l" rtl="0" eaLnBrk="1" fontAlgn="base" hangingPunct="1">
        <a:spcBef>
          <a:spcPct val="0"/>
        </a:spcBef>
        <a:spcAft>
          <a:spcPct val="0"/>
        </a:spcAft>
        <a:defRPr kumimoji="1" sz="4400" i="1" kern="1200">
          <a:solidFill>
            <a:schemeClr val="tx2"/>
          </a:solidFill>
          <a:latin typeface="+mj-lt"/>
          <a:ea typeface="+mj-ea"/>
          <a:cs typeface="+mj-cs"/>
        </a:defRPr>
      </a:lvl1pPr>
      <a:lvl2pPr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1" fontAlgn="base" hangingPunct="1">
        <a:spcBef>
          <a:spcPct val="20000"/>
        </a:spcBef>
        <a:spcAft>
          <a:spcPct val="0"/>
        </a:spcAft>
        <a:buBlip>
          <a:blip r:embed="rId18"/>
        </a:buBlip>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SzPct val="75000"/>
        <a:buBlip>
          <a:blip r:embed="rId19"/>
        </a:buBlip>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CC9847-E774-4636-A962-3484B45B7925}" type="datetimeFigureOut">
              <a:rPr lang="zh-CN" altLang="en-US" smtClean="0"/>
              <a:t>2025/6/15</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22D67-742B-4A85-A767-9C51444F6649}" type="slidenum">
              <a:rPr lang="zh-CN" altLang="en-US" smtClean="0"/>
              <a:t>‹#›</a:t>
            </a:fld>
            <a:endParaRPr lang="zh-CN" altLang="en-US"/>
          </a:p>
        </p:txBody>
      </p:sp>
    </p:spTree>
    <p:extLst>
      <p:ext uri="{BB962C8B-B14F-4D97-AF65-F5344CB8AC3E}">
        <p14:creationId xmlns:p14="http://schemas.microsoft.com/office/powerpoint/2010/main" val="155706062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5.x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5.bin"/><Relationship Id="rId1" Type="http://schemas.openxmlformats.org/officeDocument/2006/relationships/slideLayout" Target="../slideLayouts/slideLayout15.xml"/><Relationship Id="rId6" Type="http://schemas.openxmlformats.org/officeDocument/2006/relationships/oleObject" Target="../embeddings/oleObject7.bin"/><Relationship Id="rId5" Type="http://schemas.openxmlformats.org/officeDocument/2006/relationships/image" Target="../media/image14.wmf"/><Relationship Id="rId4"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18.wmf"/><Relationship Id="rId12" Type="http://schemas.openxmlformats.org/officeDocument/2006/relationships/oleObject" Target="../embeddings/oleObject13.bin"/><Relationship Id="rId2" Type="http://schemas.openxmlformats.org/officeDocument/2006/relationships/oleObject" Target="../embeddings/oleObject8.bin"/><Relationship Id="rId1" Type="http://schemas.openxmlformats.org/officeDocument/2006/relationships/slideLayout" Target="../slideLayouts/slideLayout15.xml"/><Relationship Id="rId6" Type="http://schemas.openxmlformats.org/officeDocument/2006/relationships/oleObject" Target="../embeddings/oleObject10.bin"/><Relationship Id="rId11" Type="http://schemas.openxmlformats.org/officeDocument/2006/relationships/image" Target="../media/image20.wmf"/><Relationship Id="rId5" Type="http://schemas.openxmlformats.org/officeDocument/2006/relationships/image" Target="../media/image17.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9.wmf"/></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16.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6.wmf"/></Relationships>
</file>

<file path=ppt/slides/_rels/slide15.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8.wmf"/><Relationship Id="rId7" Type="http://schemas.openxmlformats.org/officeDocument/2006/relationships/oleObject" Target="../embeddings/oleObject16.bin"/><Relationship Id="rId2" Type="http://schemas.openxmlformats.org/officeDocument/2006/relationships/oleObject" Target="../embeddings/oleObject19.bin"/><Relationship Id="rId1" Type="http://schemas.openxmlformats.org/officeDocument/2006/relationships/slideLayout" Target="../slideLayouts/slideLayout15.xml"/><Relationship Id="rId6" Type="http://schemas.openxmlformats.org/officeDocument/2006/relationships/image" Target="../media/image26.wmf"/><Relationship Id="rId5" Type="http://schemas.openxmlformats.org/officeDocument/2006/relationships/oleObject" Target="../embeddings/oleObject17.bin"/><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0.bin"/><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1.bin"/><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2.bin"/><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23.bin"/><Relationship Id="rId1" Type="http://schemas.openxmlformats.org/officeDocument/2006/relationships/slideLayout" Target="../slideLayouts/slideLayout15.xml"/><Relationship Id="rId6" Type="http://schemas.openxmlformats.org/officeDocument/2006/relationships/oleObject" Target="../embeddings/oleObject25.bin"/><Relationship Id="rId5" Type="http://schemas.openxmlformats.org/officeDocument/2006/relationships/image" Target="../media/image36.wmf"/><Relationship Id="rId4" Type="http://schemas.openxmlformats.org/officeDocument/2006/relationships/oleObject" Target="../embeddings/oleObject24.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38.png"/><Relationship Id="rId1" Type="http://schemas.openxmlformats.org/officeDocument/2006/relationships/slideLayout" Target="../slideLayouts/slideLayout15.xml"/><Relationship Id="rId4" Type="http://schemas.openxmlformats.org/officeDocument/2006/relationships/image" Target="../media/image35.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2.wmf"/><Relationship Id="rId7" Type="http://schemas.openxmlformats.org/officeDocument/2006/relationships/image" Target="../media/image40.wmf"/><Relationship Id="rId2" Type="http://schemas.openxmlformats.org/officeDocument/2006/relationships/oleObject" Target="../embeddings/oleObject20.bin"/><Relationship Id="rId1" Type="http://schemas.openxmlformats.org/officeDocument/2006/relationships/slideLayout" Target="../slideLayouts/slideLayout15.xml"/><Relationship Id="rId6" Type="http://schemas.openxmlformats.org/officeDocument/2006/relationships/oleObject" Target="../embeddings/oleObject27.bin"/><Relationship Id="rId5" Type="http://schemas.openxmlformats.org/officeDocument/2006/relationships/image" Target="../media/image39.wmf"/><Relationship Id="rId4" Type="http://schemas.openxmlformats.org/officeDocument/2006/relationships/oleObject" Target="../embeddings/oleObject26.bin"/></Relationships>
</file>

<file path=ppt/slides/_rels/slide2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29.bin"/><Relationship Id="rId1" Type="http://schemas.openxmlformats.org/officeDocument/2006/relationships/slideLayout" Target="../slideLayouts/slideLayout15.xml"/><Relationship Id="rId5" Type="http://schemas.openxmlformats.org/officeDocument/2006/relationships/image" Target="../media/image42.wmf"/><Relationship Id="rId4" Type="http://schemas.openxmlformats.org/officeDocument/2006/relationships/oleObject" Target="../embeddings/oleObject30.bin"/></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0.bin"/><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31.bin"/><Relationship Id="rId1" Type="http://schemas.openxmlformats.org/officeDocument/2006/relationships/slideLayout" Target="../slideLayouts/slideLayout15.xml"/><Relationship Id="rId6" Type="http://schemas.openxmlformats.org/officeDocument/2006/relationships/oleObject" Target="../embeddings/oleObject33.bin"/><Relationship Id="rId5" Type="http://schemas.openxmlformats.org/officeDocument/2006/relationships/image" Target="../media/image45.wmf"/><Relationship Id="rId4" Type="http://schemas.openxmlformats.org/officeDocument/2006/relationships/oleObject" Target="../embeddings/oleObject32.bin"/></Relationships>
</file>

<file path=ppt/slides/_rels/slide31.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4.bin"/><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35.bin"/><Relationship Id="rId1" Type="http://schemas.openxmlformats.org/officeDocument/2006/relationships/slideLayout" Target="../slideLayouts/slideLayout15.xml"/><Relationship Id="rId6" Type="http://schemas.openxmlformats.org/officeDocument/2006/relationships/image" Target="../media/image49.wmf"/><Relationship Id="rId5" Type="http://schemas.openxmlformats.org/officeDocument/2006/relationships/oleObject" Target="../embeddings/oleObject36.bin"/><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37.bin"/><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38.bin"/><Relationship Id="rId1" Type="http://schemas.openxmlformats.org/officeDocument/2006/relationships/slideLayout" Target="../slideLayouts/slideLayout15.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39.bin"/><Relationship Id="rId1" Type="http://schemas.openxmlformats.org/officeDocument/2006/relationships/slideLayout" Target="../slideLayouts/slideLayout4.xml"/><Relationship Id="rId5" Type="http://schemas.openxmlformats.org/officeDocument/2006/relationships/image" Target="../media/image51.wmf"/><Relationship Id="rId4" Type="http://schemas.openxmlformats.org/officeDocument/2006/relationships/oleObject" Target="../embeddings/oleObject40.bin"/></Relationships>
</file>

<file path=ppt/slides/_rels/slide37.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41.bin"/><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42.bin"/><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43.bin"/><Relationship Id="rId1" Type="http://schemas.openxmlformats.org/officeDocument/2006/relationships/slideLayout" Target="../slideLayouts/slideLayout15.xml"/><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44.bin"/><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45.bin"/><Relationship Id="rId1" Type="http://schemas.openxmlformats.org/officeDocument/2006/relationships/slideLayout" Target="../slideLayouts/slideLayout15.xml"/><Relationship Id="rId6" Type="http://schemas.openxmlformats.org/officeDocument/2006/relationships/image" Target="../media/image62.wmf"/><Relationship Id="rId5" Type="http://schemas.openxmlformats.org/officeDocument/2006/relationships/oleObject" Target="../embeddings/oleObject46.bin"/><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47.bin"/><Relationship Id="rId7" Type="http://schemas.openxmlformats.org/officeDocument/2006/relationships/oleObject" Target="../embeddings/oleObject46.bin"/><Relationship Id="rId2" Type="http://schemas.openxmlformats.org/officeDocument/2006/relationships/image" Target="../media/image59.png"/><Relationship Id="rId1" Type="http://schemas.openxmlformats.org/officeDocument/2006/relationships/slideLayout" Target="../slideLayouts/slideLayout15.xml"/><Relationship Id="rId6" Type="http://schemas.openxmlformats.org/officeDocument/2006/relationships/image" Target="../media/image64.wmf"/><Relationship Id="rId5" Type="http://schemas.openxmlformats.org/officeDocument/2006/relationships/oleObject" Target="../embeddings/oleObject48.bin"/><Relationship Id="rId4" Type="http://schemas.openxmlformats.org/officeDocument/2006/relationships/image" Target="../media/image63.wmf"/></Relationships>
</file>

<file path=ppt/slides/_rels/slide44.xml.rels><?xml version="1.0" encoding="UTF-8" standalone="yes"?>
<Relationships xmlns="http://schemas.openxmlformats.org/package/2006/relationships"><Relationship Id="rId3" Type="http://schemas.openxmlformats.org/officeDocument/2006/relationships/image" Target="../media/image65.wmf"/><Relationship Id="rId7" Type="http://schemas.openxmlformats.org/officeDocument/2006/relationships/image" Target="../media/image67.wmf"/><Relationship Id="rId2" Type="http://schemas.openxmlformats.org/officeDocument/2006/relationships/oleObject" Target="../embeddings/oleObject49.bin"/><Relationship Id="rId1" Type="http://schemas.openxmlformats.org/officeDocument/2006/relationships/slideLayout" Target="../slideLayouts/slideLayout15.xml"/><Relationship Id="rId6" Type="http://schemas.openxmlformats.org/officeDocument/2006/relationships/oleObject" Target="../embeddings/oleObject51.bin"/><Relationship Id="rId5" Type="http://schemas.openxmlformats.org/officeDocument/2006/relationships/image" Target="../media/image66.wmf"/><Relationship Id="rId4" Type="http://schemas.openxmlformats.org/officeDocument/2006/relationships/oleObject" Target="../embeddings/oleObject50.bin"/></Relationships>
</file>

<file path=ppt/slides/_rels/slide45.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oleObject" Target="../embeddings/oleObject57.bin"/><Relationship Id="rId3" Type="http://schemas.openxmlformats.org/officeDocument/2006/relationships/image" Target="../media/image68.wmf"/><Relationship Id="rId7" Type="http://schemas.openxmlformats.org/officeDocument/2006/relationships/oleObject" Target="../embeddings/oleObject54.bin"/><Relationship Id="rId12" Type="http://schemas.openxmlformats.org/officeDocument/2006/relationships/image" Target="../media/image73.wmf"/><Relationship Id="rId2" Type="http://schemas.openxmlformats.org/officeDocument/2006/relationships/oleObject" Target="../embeddings/oleObject52.bin"/><Relationship Id="rId1" Type="http://schemas.openxmlformats.org/officeDocument/2006/relationships/slideLayout" Target="../slideLayouts/slideLayout15.xml"/><Relationship Id="rId6" Type="http://schemas.openxmlformats.org/officeDocument/2006/relationships/image" Target="../media/image70.wmf"/><Relationship Id="rId11" Type="http://schemas.openxmlformats.org/officeDocument/2006/relationships/oleObject" Target="../embeddings/oleObject56.bin"/><Relationship Id="rId5" Type="http://schemas.openxmlformats.org/officeDocument/2006/relationships/oleObject" Target="../embeddings/oleObject53.bin"/><Relationship Id="rId10" Type="http://schemas.openxmlformats.org/officeDocument/2006/relationships/image" Target="../media/image72.wmf"/><Relationship Id="rId4" Type="http://schemas.openxmlformats.org/officeDocument/2006/relationships/image" Target="../media/image69.png"/><Relationship Id="rId9" Type="http://schemas.openxmlformats.org/officeDocument/2006/relationships/oleObject" Target="../embeddings/oleObject55.bin"/><Relationship Id="rId14" Type="http://schemas.openxmlformats.org/officeDocument/2006/relationships/image" Target="../media/image74.wmf"/></Relationships>
</file>

<file path=ppt/slides/_rels/slide46.xml.rels><?xml version="1.0" encoding="UTF-8" standalone="yes"?>
<Relationships xmlns="http://schemas.openxmlformats.org/package/2006/relationships"><Relationship Id="rId3" Type="http://schemas.openxmlformats.org/officeDocument/2006/relationships/image" Target="../media/image75.wmf"/><Relationship Id="rId7" Type="http://schemas.openxmlformats.org/officeDocument/2006/relationships/image" Target="../media/image77.wmf"/><Relationship Id="rId2" Type="http://schemas.openxmlformats.org/officeDocument/2006/relationships/oleObject" Target="../embeddings/oleObject58.bin"/><Relationship Id="rId1" Type="http://schemas.openxmlformats.org/officeDocument/2006/relationships/slideLayout" Target="../slideLayouts/slideLayout15.xml"/><Relationship Id="rId6" Type="http://schemas.openxmlformats.org/officeDocument/2006/relationships/oleObject" Target="../embeddings/oleObject60.bin"/><Relationship Id="rId5" Type="http://schemas.openxmlformats.org/officeDocument/2006/relationships/image" Target="../media/image76.wmf"/><Relationship Id="rId4" Type="http://schemas.openxmlformats.org/officeDocument/2006/relationships/oleObject" Target="../embeddings/oleObject59.bin"/></Relationships>
</file>

<file path=ppt/slides/_rels/slide4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oleObject" Target="../embeddings/oleObject61.bin"/><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80.wmf"/><Relationship Id="rId7" Type="http://schemas.openxmlformats.org/officeDocument/2006/relationships/image" Target="../media/image82.wmf"/><Relationship Id="rId2" Type="http://schemas.openxmlformats.org/officeDocument/2006/relationships/oleObject" Target="../embeddings/oleObject62.bin"/><Relationship Id="rId1" Type="http://schemas.openxmlformats.org/officeDocument/2006/relationships/slideLayout" Target="../slideLayouts/slideLayout15.xml"/><Relationship Id="rId6" Type="http://schemas.openxmlformats.org/officeDocument/2006/relationships/oleObject" Target="../embeddings/oleObject64.bin"/><Relationship Id="rId5" Type="http://schemas.openxmlformats.org/officeDocument/2006/relationships/image" Target="../media/image81.wmf"/><Relationship Id="rId4" Type="http://schemas.openxmlformats.org/officeDocument/2006/relationships/oleObject" Target="../embeddings/oleObject63.bin"/></Relationships>
</file>

<file path=ppt/slides/_rels/slide50.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image" Target="../media/image83.wmf"/><Relationship Id="rId7" Type="http://schemas.openxmlformats.org/officeDocument/2006/relationships/oleObject" Target="../embeddings/oleObject67.bin"/><Relationship Id="rId12" Type="http://schemas.openxmlformats.org/officeDocument/2006/relationships/image" Target="../media/image88.wmf"/><Relationship Id="rId2" Type="http://schemas.openxmlformats.org/officeDocument/2006/relationships/oleObject" Target="../embeddings/oleObject65.bin"/><Relationship Id="rId1" Type="http://schemas.openxmlformats.org/officeDocument/2006/relationships/slideLayout" Target="../slideLayouts/slideLayout15.xml"/><Relationship Id="rId6" Type="http://schemas.openxmlformats.org/officeDocument/2006/relationships/image" Target="../media/image85.png"/><Relationship Id="rId11" Type="http://schemas.openxmlformats.org/officeDocument/2006/relationships/oleObject" Target="../embeddings/oleObject69.bin"/><Relationship Id="rId5" Type="http://schemas.openxmlformats.org/officeDocument/2006/relationships/image" Target="../media/image84.wmf"/><Relationship Id="rId10" Type="http://schemas.openxmlformats.org/officeDocument/2006/relationships/image" Target="../media/image87.wmf"/><Relationship Id="rId4" Type="http://schemas.openxmlformats.org/officeDocument/2006/relationships/oleObject" Target="../embeddings/oleObject66.bin"/><Relationship Id="rId9" Type="http://schemas.openxmlformats.org/officeDocument/2006/relationships/oleObject" Target="../embeddings/oleObject68.bin"/></Relationships>
</file>

<file path=ppt/slides/_rels/slide5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oleObject" Target="../embeddings/oleObject70.bin"/><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oleObject" Target="../embeddings/oleObject71.bin"/><Relationship Id="rId1" Type="http://schemas.openxmlformats.org/officeDocument/2006/relationships/slideLayout" Target="../slideLayouts/slideLayout15.xml"/><Relationship Id="rId5" Type="http://schemas.openxmlformats.org/officeDocument/2006/relationships/image" Target="../media/image90.wmf"/><Relationship Id="rId4" Type="http://schemas.openxmlformats.org/officeDocument/2006/relationships/oleObject" Target="../embeddings/oleObject70.bin"/></Relationships>
</file>

<file path=ppt/slides/_rels/slide58.x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oleObject" Target="../embeddings/oleObject72.bin"/><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image" Target="../media/image90.wmf"/><Relationship Id="rId7" Type="http://schemas.openxmlformats.org/officeDocument/2006/relationships/image" Target="../media/image94.wmf"/><Relationship Id="rId2" Type="http://schemas.openxmlformats.org/officeDocument/2006/relationships/oleObject" Target="../embeddings/oleObject70.bin"/><Relationship Id="rId1" Type="http://schemas.openxmlformats.org/officeDocument/2006/relationships/slideLayout" Target="../slideLayouts/slideLayout15.xml"/><Relationship Id="rId6" Type="http://schemas.openxmlformats.org/officeDocument/2006/relationships/oleObject" Target="../embeddings/oleObject74.bin"/><Relationship Id="rId5" Type="http://schemas.openxmlformats.org/officeDocument/2006/relationships/image" Target="../media/image93.wmf"/><Relationship Id="rId4" Type="http://schemas.openxmlformats.org/officeDocument/2006/relationships/oleObject" Target="../embeddings/oleObject73.bin"/></Relationships>
</file>

<file path=ppt/slides/_rels/slide60.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98.wmf"/><Relationship Id="rId2" Type="http://schemas.openxmlformats.org/officeDocument/2006/relationships/image" Target="../media/image95.png"/><Relationship Id="rId1" Type="http://schemas.openxmlformats.org/officeDocument/2006/relationships/slideLayout" Target="../slideLayouts/slideLayout15.xml"/><Relationship Id="rId6" Type="http://schemas.openxmlformats.org/officeDocument/2006/relationships/oleObject" Target="../embeddings/oleObject76.bin"/><Relationship Id="rId5" Type="http://schemas.openxmlformats.org/officeDocument/2006/relationships/image" Target="../media/image97.wmf"/><Relationship Id="rId4" Type="http://schemas.openxmlformats.org/officeDocument/2006/relationships/oleObject" Target="../embeddings/oleObject75.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image" Target="../media/image99.png"/><Relationship Id="rId1" Type="http://schemas.openxmlformats.org/officeDocument/2006/relationships/slideLayout" Target="../slideLayouts/slideLayout15.xml"/><Relationship Id="rId4" Type="http://schemas.openxmlformats.org/officeDocument/2006/relationships/image" Target="../media/image100.wmf"/></Relationships>
</file>

<file path=ppt/slides/_rels/slide6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93.wmf"/><Relationship Id="rId2" Type="http://schemas.openxmlformats.org/officeDocument/2006/relationships/image" Target="../media/image101.png"/><Relationship Id="rId1" Type="http://schemas.openxmlformats.org/officeDocument/2006/relationships/slideLayout" Target="../slideLayouts/slideLayout15.xml"/><Relationship Id="rId6" Type="http://schemas.openxmlformats.org/officeDocument/2006/relationships/image" Target="../media/image103.wmf"/><Relationship Id="rId11" Type="http://schemas.openxmlformats.org/officeDocument/2006/relationships/oleObject" Target="../embeddings/oleObject73.bin"/><Relationship Id="rId5" Type="http://schemas.openxmlformats.org/officeDocument/2006/relationships/oleObject" Target="../embeddings/oleObject79.bin"/><Relationship Id="rId10" Type="http://schemas.openxmlformats.org/officeDocument/2006/relationships/image" Target="../media/image105.wmf"/><Relationship Id="rId4" Type="http://schemas.openxmlformats.org/officeDocument/2006/relationships/image" Target="../media/image102.wmf"/><Relationship Id="rId9" Type="http://schemas.openxmlformats.org/officeDocument/2006/relationships/oleObject" Target="../embeddings/oleObject81.bin"/></Relationships>
</file>

<file path=ppt/slides/_rels/slide64.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oleObject" Target="../embeddings/oleObject82.bin"/><Relationship Id="rId1" Type="http://schemas.openxmlformats.org/officeDocument/2006/relationships/slideLayout" Target="../slideLayouts/slideLayout15.xml"/><Relationship Id="rId5" Type="http://schemas.openxmlformats.org/officeDocument/2006/relationships/image" Target="../media/image107.wmf"/><Relationship Id="rId4" Type="http://schemas.openxmlformats.org/officeDocument/2006/relationships/oleObject" Target="../embeddings/oleObject83.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image" Target="../media/image108.png"/><Relationship Id="rId1" Type="http://schemas.openxmlformats.org/officeDocument/2006/relationships/slideLayout" Target="../slideLayouts/slideLayout15.xml"/><Relationship Id="rId6" Type="http://schemas.openxmlformats.org/officeDocument/2006/relationships/image" Target="../media/image110.wmf"/><Relationship Id="rId5" Type="http://schemas.openxmlformats.org/officeDocument/2006/relationships/oleObject" Target="../embeddings/oleObject85.bin"/><Relationship Id="rId4" Type="http://schemas.openxmlformats.org/officeDocument/2006/relationships/image" Target="../media/image109.wmf"/></Relationships>
</file>

<file path=ppt/slides/_rels/slide66.xml.rels><?xml version="1.0" encoding="UTF-8" standalone="yes"?>
<Relationships xmlns="http://schemas.openxmlformats.org/package/2006/relationships"><Relationship Id="rId3" Type="http://schemas.openxmlformats.org/officeDocument/2006/relationships/image" Target="../media/image111.wmf"/><Relationship Id="rId7" Type="http://schemas.openxmlformats.org/officeDocument/2006/relationships/image" Target="../media/image113.wmf"/><Relationship Id="rId2" Type="http://schemas.openxmlformats.org/officeDocument/2006/relationships/oleObject" Target="../embeddings/oleObject86.bin"/><Relationship Id="rId1" Type="http://schemas.openxmlformats.org/officeDocument/2006/relationships/slideLayout" Target="../slideLayouts/slideLayout15.xml"/><Relationship Id="rId6" Type="http://schemas.openxmlformats.org/officeDocument/2006/relationships/oleObject" Target="../embeddings/oleObject88.bin"/><Relationship Id="rId5" Type="http://schemas.openxmlformats.org/officeDocument/2006/relationships/image" Target="../media/image112.wmf"/><Relationship Id="rId4" Type="http://schemas.openxmlformats.org/officeDocument/2006/relationships/oleObject" Target="../embeddings/oleObject87.bin"/></Relationships>
</file>

<file path=ppt/slides/_rels/slide67.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4.wmf"/><Relationship Id="rId7" Type="http://schemas.openxmlformats.org/officeDocument/2006/relationships/image" Target="../media/image116.wmf"/><Relationship Id="rId2" Type="http://schemas.openxmlformats.org/officeDocument/2006/relationships/oleObject" Target="../embeddings/oleObject89.bin"/><Relationship Id="rId1" Type="http://schemas.openxmlformats.org/officeDocument/2006/relationships/slideLayout" Target="../slideLayouts/slideLayout15.xml"/><Relationship Id="rId6" Type="http://schemas.openxmlformats.org/officeDocument/2006/relationships/oleObject" Target="../embeddings/oleObject91.bin"/><Relationship Id="rId5" Type="http://schemas.openxmlformats.org/officeDocument/2006/relationships/image" Target="../media/image115.wmf"/><Relationship Id="rId4" Type="http://schemas.openxmlformats.org/officeDocument/2006/relationships/oleObject" Target="../embeddings/oleObject90.bin"/></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95.bin"/><Relationship Id="rId3" Type="http://schemas.openxmlformats.org/officeDocument/2006/relationships/image" Target="../media/image118.wmf"/><Relationship Id="rId7" Type="http://schemas.openxmlformats.org/officeDocument/2006/relationships/image" Target="../media/image120.wmf"/><Relationship Id="rId2" Type="http://schemas.openxmlformats.org/officeDocument/2006/relationships/oleObject" Target="../embeddings/oleObject92.bin"/><Relationship Id="rId1" Type="http://schemas.openxmlformats.org/officeDocument/2006/relationships/slideLayout" Target="../slideLayouts/slideLayout15.xml"/><Relationship Id="rId6" Type="http://schemas.openxmlformats.org/officeDocument/2006/relationships/oleObject" Target="../embeddings/oleObject94.bin"/><Relationship Id="rId11" Type="http://schemas.openxmlformats.org/officeDocument/2006/relationships/image" Target="../media/image122.wmf"/><Relationship Id="rId5" Type="http://schemas.openxmlformats.org/officeDocument/2006/relationships/image" Target="../media/image119.wmf"/><Relationship Id="rId10" Type="http://schemas.openxmlformats.org/officeDocument/2006/relationships/oleObject" Target="../embeddings/oleObject96.bin"/><Relationship Id="rId4" Type="http://schemas.openxmlformats.org/officeDocument/2006/relationships/oleObject" Target="../embeddings/oleObject93.bin"/><Relationship Id="rId9" Type="http://schemas.openxmlformats.org/officeDocument/2006/relationships/image" Target="../media/image121.wmf"/></Relationships>
</file>

<file path=ppt/slides/_rels/slide6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oleObject" Target="../embeddings/oleObject97.bin"/><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8" Type="http://schemas.openxmlformats.org/officeDocument/2006/relationships/image" Target="../media/image128.wmf"/><Relationship Id="rId3" Type="http://schemas.openxmlformats.org/officeDocument/2006/relationships/image" Target="../media/image125.wmf"/><Relationship Id="rId7" Type="http://schemas.openxmlformats.org/officeDocument/2006/relationships/oleObject" Target="../embeddings/oleObject100.bin"/><Relationship Id="rId2" Type="http://schemas.openxmlformats.org/officeDocument/2006/relationships/oleObject" Target="../embeddings/oleObject98.bin"/><Relationship Id="rId1" Type="http://schemas.openxmlformats.org/officeDocument/2006/relationships/slideLayout" Target="../slideLayouts/slideLayout15.xml"/><Relationship Id="rId6" Type="http://schemas.openxmlformats.org/officeDocument/2006/relationships/image" Target="../media/image127.png"/><Relationship Id="rId5" Type="http://schemas.openxmlformats.org/officeDocument/2006/relationships/image" Target="../media/image126.wmf"/><Relationship Id="rId10" Type="http://schemas.openxmlformats.org/officeDocument/2006/relationships/image" Target="../media/image129.wmf"/><Relationship Id="rId4" Type="http://schemas.openxmlformats.org/officeDocument/2006/relationships/oleObject" Target="../embeddings/oleObject99.bin"/><Relationship Id="rId9" Type="http://schemas.openxmlformats.org/officeDocument/2006/relationships/oleObject" Target="../embeddings/oleObject101.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05.bin"/><Relationship Id="rId3" Type="http://schemas.openxmlformats.org/officeDocument/2006/relationships/image" Target="../media/image130.wmf"/><Relationship Id="rId7" Type="http://schemas.openxmlformats.org/officeDocument/2006/relationships/image" Target="../media/image132.wmf"/><Relationship Id="rId2" Type="http://schemas.openxmlformats.org/officeDocument/2006/relationships/oleObject" Target="../embeddings/oleObject102.bin"/><Relationship Id="rId1" Type="http://schemas.openxmlformats.org/officeDocument/2006/relationships/slideLayout" Target="../slideLayouts/slideLayout15.xml"/><Relationship Id="rId6" Type="http://schemas.openxmlformats.org/officeDocument/2006/relationships/oleObject" Target="../embeddings/oleObject104.bin"/><Relationship Id="rId11" Type="http://schemas.openxmlformats.org/officeDocument/2006/relationships/image" Target="../media/image134.wmf"/><Relationship Id="rId5" Type="http://schemas.openxmlformats.org/officeDocument/2006/relationships/image" Target="../media/image131.wmf"/><Relationship Id="rId10" Type="http://schemas.openxmlformats.org/officeDocument/2006/relationships/oleObject" Target="../embeddings/oleObject106.bin"/><Relationship Id="rId4" Type="http://schemas.openxmlformats.org/officeDocument/2006/relationships/oleObject" Target="../embeddings/oleObject103.bin"/><Relationship Id="rId9" Type="http://schemas.openxmlformats.org/officeDocument/2006/relationships/image" Target="../media/image133.wmf"/></Relationships>
</file>

<file path=ppt/slides/_rels/slide73.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oleObject" Target="../embeddings/oleObject107.bin"/><Relationship Id="rId1" Type="http://schemas.openxmlformats.org/officeDocument/2006/relationships/slideLayout" Target="../slideLayouts/slideLayout15.xml"/><Relationship Id="rId5" Type="http://schemas.openxmlformats.org/officeDocument/2006/relationships/image" Target="../media/image136.wmf"/><Relationship Id="rId4" Type="http://schemas.openxmlformats.org/officeDocument/2006/relationships/oleObject" Target="../embeddings/oleObject108.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42.wmf"/><Relationship Id="rId18" Type="http://schemas.openxmlformats.org/officeDocument/2006/relationships/oleObject" Target="../embeddings/oleObject117.bin"/><Relationship Id="rId3" Type="http://schemas.openxmlformats.org/officeDocument/2006/relationships/image" Target="../media/image137.wmf"/><Relationship Id="rId21" Type="http://schemas.openxmlformats.org/officeDocument/2006/relationships/image" Target="../media/image146.wmf"/><Relationship Id="rId7" Type="http://schemas.openxmlformats.org/officeDocument/2006/relationships/image" Target="../media/image139.wmf"/><Relationship Id="rId12" Type="http://schemas.openxmlformats.org/officeDocument/2006/relationships/oleObject" Target="../embeddings/oleObject114.bin"/><Relationship Id="rId17" Type="http://schemas.openxmlformats.org/officeDocument/2006/relationships/image" Target="../media/image144.wmf"/><Relationship Id="rId25" Type="http://schemas.openxmlformats.org/officeDocument/2006/relationships/image" Target="../media/image148.wmf"/><Relationship Id="rId2" Type="http://schemas.openxmlformats.org/officeDocument/2006/relationships/oleObject" Target="../embeddings/oleObject109.bin"/><Relationship Id="rId16" Type="http://schemas.openxmlformats.org/officeDocument/2006/relationships/oleObject" Target="../embeddings/oleObject116.bin"/><Relationship Id="rId20" Type="http://schemas.openxmlformats.org/officeDocument/2006/relationships/oleObject" Target="../embeddings/oleObject118.bin"/><Relationship Id="rId1" Type="http://schemas.openxmlformats.org/officeDocument/2006/relationships/slideLayout" Target="../slideLayouts/slideLayout15.xml"/><Relationship Id="rId6" Type="http://schemas.openxmlformats.org/officeDocument/2006/relationships/oleObject" Target="../embeddings/oleObject111.bin"/><Relationship Id="rId11" Type="http://schemas.openxmlformats.org/officeDocument/2006/relationships/image" Target="../media/image141.wmf"/><Relationship Id="rId24" Type="http://schemas.openxmlformats.org/officeDocument/2006/relationships/oleObject" Target="../embeddings/oleObject120.bin"/><Relationship Id="rId5" Type="http://schemas.openxmlformats.org/officeDocument/2006/relationships/image" Target="../media/image138.wmf"/><Relationship Id="rId15" Type="http://schemas.openxmlformats.org/officeDocument/2006/relationships/image" Target="../media/image143.wmf"/><Relationship Id="rId23" Type="http://schemas.openxmlformats.org/officeDocument/2006/relationships/image" Target="../media/image147.wmf"/><Relationship Id="rId10" Type="http://schemas.openxmlformats.org/officeDocument/2006/relationships/oleObject" Target="../embeddings/oleObject113.bin"/><Relationship Id="rId19" Type="http://schemas.openxmlformats.org/officeDocument/2006/relationships/image" Target="../media/image145.wmf"/><Relationship Id="rId4" Type="http://schemas.openxmlformats.org/officeDocument/2006/relationships/oleObject" Target="../embeddings/oleObject110.bin"/><Relationship Id="rId9" Type="http://schemas.openxmlformats.org/officeDocument/2006/relationships/image" Target="../media/image140.wmf"/><Relationship Id="rId14" Type="http://schemas.openxmlformats.org/officeDocument/2006/relationships/oleObject" Target="../embeddings/oleObject115.bin"/><Relationship Id="rId22" Type="http://schemas.openxmlformats.org/officeDocument/2006/relationships/oleObject" Target="../embeddings/oleObject119.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124.bin"/><Relationship Id="rId13" Type="http://schemas.openxmlformats.org/officeDocument/2006/relationships/image" Target="../media/image154.wmf"/><Relationship Id="rId3" Type="http://schemas.openxmlformats.org/officeDocument/2006/relationships/image" Target="../media/image149.wmf"/><Relationship Id="rId7" Type="http://schemas.openxmlformats.org/officeDocument/2006/relationships/image" Target="../media/image151.wmf"/><Relationship Id="rId12" Type="http://schemas.openxmlformats.org/officeDocument/2006/relationships/oleObject" Target="../embeddings/oleObject126.bin"/><Relationship Id="rId2" Type="http://schemas.openxmlformats.org/officeDocument/2006/relationships/oleObject" Target="../embeddings/oleObject121.bin"/><Relationship Id="rId1" Type="http://schemas.openxmlformats.org/officeDocument/2006/relationships/slideLayout" Target="../slideLayouts/slideLayout15.xml"/><Relationship Id="rId6" Type="http://schemas.openxmlformats.org/officeDocument/2006/relationships/oleObject" Target="../embeddings/oleObject123.bin"/><Relationship Id="rId11" Type="http://schemas.openxmlformats.org/officeDocument/2006/relationships/image" Target="../media/image153.wmf"/><Relationship Id="rId5" Type="http://schemas.openxmlformats.org/officeDocument/2006/relationships/image" Target="../media/image150.emf"/><Relationship Id="rId15" Type="http://schemas.openxmlformats.org/officeDocument/2006/relationships/image" Target="../media/image155.wmf"/><Relationship Id="rId10" Type="http://schemas.openxmlformats.org/officeDocument/2006/relationships/oleObject" Target="../embeddings/oleObject125.bin"/><Relationship Id="rId4" Type="http://schemas.openxmlformats.org/officeDocument/2006/relationships/oleObject" Target="../embeddings/oleObject122.bin"/><Relationship Id="rId9" Type="http://schemas.openxmlformats.org/officeDocument/2006/relationships/image" Target="../media/image152.wmf"/><Relationship Id="rId14" Type="http://schemas.openxmlformats.org/officeDocument/2006/relationships/oleObject" Target="../embeddings/oleObject127.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161.wmf"/><Relationship Id="rId18" Type="http://schemas.openxmlformats.org/officeDocument/2006/relationships/oleObject" Target="../embeddings/oleObject136.bin"/><Relationship Id="rId26" Type="http://schemas.openxmlformats.org/officeDocument/2006/relationships/oleObject" Target="../embeddings/oleObject140.bin"/><Relationship Id="rId3" Type="http://schemas.openxmlformats.org/officeDocument/2006/relationships/image" Target="../media/image156.wmf"/><Relationship Id="rId21" Type="http://schemas.openxmlformats.org/officeDocument/2006/relationships/image" Target="../media/image165.wmf"/><Relationship Id="rId7" Type="http://schemas.openxmlformats.org/officeDocument/2006/relationships/image" Target="../media/image158.wmf"/><Relationship Id="rId12" Type="http://schemas.openxmlformats.org/officeDocument/2006/relationships/oleObject" Target="../embeddings/oleObject133.bin"/><Relationship Id="rId17" Type="http://schemas.openxmlformats.org/officeDocument/2006/relationships/image" Target="../media/image163.wmf"/><Relationship Id="rId25" Type="http://schemas.openxmlformats.org/officeDocument/2006/relationships/image" Target="../media/image167.wmf"/><Relationship Id="rId2" Type="http://schemas.openxmlformats.org/officeDocument/2006/relationships/oleObject" Target="../embeddings/oleObject128.bin"/><Relationship Id="rId16" Type="http://schemas.openxmlformats.org/officeDocument/2006/relationships/oleObject" Target="../embeddings/oleObject135.bin"/><Relationship Id="rId20" Type="http://schemas.openxmlformats.org/officeDocument/2006/relationships/oleObject" Target="../embeddings/oleObject137.bin"/><Relationship Id="rId29" Type="http://schemas.openxmlformats.org/officeDocument/2006/relationships/image" Target="../media/image169.wmf"/><Relationship Id="rId1" Type="http://schemas.openxmlformats.org/officeDocument/2006/relationships/slideLayout" Target="../slideLayouts/slideLayout15.xml"/><Relationship Id="rId6" Type="http://schemas.openxmlformats.org/officeDocument/2006/relationships/oleObject" Target="../embeddings/oleObject130.bin"/><Relationship Id="rId11" Type="http://schemas.openxmlformats.org/officeDocument/2006/relationships/image" Target="../media/image160.wmf"/><Relationship Id="rId24" Type="http://schemas.openxmlformats.org/officeDocument/2006/relationships/oleObject" Target="../embeddings/oleObject139.bin"/><Relationship Id="rId5" Type="http://schemas.openxmlformats.org/officeDocument/2006/relationships/image" Target="../media/image157.wmf"/><Relationship Id="rId15" Type="http://schemas.openxmlformats.org/officeDocument/2006/relationships/image" Target="../media/image162.wmf"/><Relationship Id="rId23" Type="http://schemas.openxmlformats.org/officeDocument/2006/relationships/image" Target="../media/image166.wmf"/><Relationship Id="rId28" Type="http://schemas.openxmlformats.org/officeDocument/2006/relationships/oleObject" Target="../embeddings/oleObject141.bin"/><Relationship Id="rId10" Type="http://schemas.openxmlformats.org/officeDocument/2006/relationships/oleObject" Target="../embeddings/oleObject132.bin"/><Relationship Id="rId19" Type="http://schemas.openxmlformats.org/officeDocument/2006/relationships/image" Target="../media/image164.wmf"/><Relationship Id="rId31" Type="http://schemas.openxmlformats.org/officeDocument/2006/relationships/image" Target="../media/image170.wmf"/><Relationship Id="rId4" Type="http://schemas.openxmlformats.org/officeDocument/2006/relationships/oleObject" Target="../embeddings/oleObject129.bin"/><Relationship Id="rId9" Type="http://schemas.openxmlformats.org/officeDocument/2006/relationships/image" Target="../media/image159.wmf"/><Relationship Id="rId14" Type="http://schemas.openxmlformats.org/officeDocument/2006/relationships/oleObject" Target="../embeddings/oleObject134.bin"/><Relationship Id="rId22" Type="http://schemas.openxmlformats.org/officeDocument/2006/relationships/oleObject" Target="../embeddings/oleObject138.bin"/><Relationship Id="rId27" Type="http://schemas.openxmlformats.org/officeDocument/2006/relationships/image" Target="../media/image168.wmf"/><Relationship Id="rId30" Type="http://schemas.openxmlformats.org/officeDocument/2006/relationships/oleObject" Target="../embeddings/oleObject142.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143.bin"/><Relationship Id="rId13" Type="http://schemas.openxmlformats.org/officeDocument/2006/relationships/image" Target="../media/image173.wmf"/><Relationship Id="rId3" Type="http://schemas.openxmlformats.org/officeDocument/2006/relationships/image" Target="../media/image151.wmf"/><Relationship Id="rId7" Type="http://schemas.openxmlformats.org/officeDocument/2006/relationships/image" Target="../media/image170.wmf"/><Relationship Id="rId12" Type="http://schemas.openxmlformats.org/officeDocument/2006/relationships/oleObject" Target="../embeddings/oleObject145.bin"/><Relationship Id="rId17" Type="http://schemas.openxmlformats.org/officeDocument/2006/relationships/image" Target="../media/image175.wmf"/><Relationship Id="rId2" Type="http://schemas.openxmlformats.org/officeDocument/2006/relationships/oleObject" Target="../embeddings/oleObject123.bin"/><Relationship Id="rId16" Type="http://schemas.openxmlformats.org/officeDocument/2006/relationships/oleObject" Target="../embeddings/oleObject147.bin"/><Relationship Id="rId1" Type="http://schemas.openxmlformats.org/officeDocument/2006/relationships/slideLayout" Target="../slideLayouts/slideLayout15.xml"/><Relationship Id="rId6" Type="http://schemas.openxmlformats.org/officeDocument/2006/relationships/oleObject" Target="../embeddings/oleObject142.bin"/><Relationship Id="rId11" Type="http://schemas.openxmlformats.org/officeDocument/2006/relationships/image" Target="../media/image172.wmf"/><Relationship Id="rId5" Type="http://schemas.openxmlformats.org/officeDocument/2006/relationships/image" Target="../media/image152.wmf"/><Relationship Id="rId15" Type="http://schemas.openxmlformats.org/officeDocument/2006/relationships/image" Target="../media/image174.wmf"/><Relationship Id="rId10" Type="http://schemas.openxmlformats.org/officeDocument/2006/relationships/oleObject" Target="../embeddings/oleObject144.bin"/><Relationship Id="rId4" Type="http://schemas.openxmlformats.org/officeDocument/2006/relationships/oleObject" Target="../embeddings/oleObject124.bin"/><Relationship Id="rId9" Type="http://schemas.openxmlformats.org/officeDocument/2006/relationships/image" Target="../media/image171.wmf"/><Relationship Id="rId14" Type="http://schemas.openxmlformats.org/officeDocument/2006/relationships/oleObject" Target="../embeddings/oleObject146.bin"/></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132.bin"/><Relationship Id="rId13" Type="http://schemas.openxmlformats.org/officeDocument/2006/relationships/image" Target="../media/image162.wmf"/><Relationship Id="rId18" Type="http://schemas.openxmlformats.org/officeDocument/2006/relationships/oleObject" Target="../embeddings/oleObject149.bin"/><Relationship Id="rId26" Type="http://schemas.openxmlformats.org/officeDocument/2006/relationships/oleObject" Target="../embeddings/oleObject139.bin"/><Relationship Id="rId3" Type="http://schemas.openxmlformats.org/officeDocument/2006/relationships/image" Target="../media/image157.wmf"/><Relationship Id="rId21" Type="http://schemas.openxmlformats.org/officeDocument/2006/relationships/image" Target="../media/image166.wmf"/><Relationship Id="rId7" Type="http://schemas.openxmlformats.org/officeDocument/2006/relationships/image" Target="../media/image159.wmf"/><Relationship Id="rId12" Type="http://schemas.openxmlformats.org/officeDocument/2006/relationships/oleObject" Target="../embeddings/oleObject134.bin"/><Relationship Id="rId17" Type="http://schemas.openxmlformats.org/officeDocument/2006/relationships/image" Target="../media/image176.wmf"/><Relationship Id="rId25" Type="http://schemas.openxmlformats.org/officeDocument/2006/relationships/image" Target="../media/image178.wmf"/><Relationship Id="rId2" Type="http://schemas.openxmlformats.org/officeDocument/2006/relationships/oleObject" Target="../embeddings/oleObject129.bin"/><Relationship Id="rId16" Type="http://schemas.openxmlformats.org/officeDocument/2006/relationships/oleObject" Target="../embeddings/oleObject148.bin"/><Relationship Id="rId20" Type="http://schemas.openxmlformats.org/officeDocument/2006/relationships/oleObject" Target="../embeddings/oleObject138.bin"/><Relationship Id="rId29" Type="http://schemas.openxmlformats.org/officeDocument/2006/relationships/image" Target="../media/image169.wmf"/><Relationship Id="rId1" Type="http://schemas.openxmlformats.org/officeDocument/2006/relationships/slideLayout" Target="../slideLayouts/slideLayout15.xml"/><Relationship Id="rId6" Type="http://schemas.openxmlformats.org/officeDocument/2006/relationships/oleObject" Target="../embeddings/oleObject131.bin"/><Relationship Id="rId11" Type="http://schemas.openxmlformats.org/officeDocument/2006/relationships/image" Target="../media/image161.wmf"/><Relationship Id="rId24" Type="http://schemas.openxmlformats.org/officeDocument/2006/relationships/oleObject" Target="../embeddings/oleObject150.bin"/><Relationship Id="rId5" Type="http://schemas.openxmlformats.org/officeDocument/2006/relationships/image" Target="../media/image158.wmf"/><Relationship Id="rId15" Type="http://schemas.openxmlformats.org/officeDocument/2006/relationships/image" Target="../media/image163.wmf"/><Relationship Id="rId23" Type="http://schemas.openxmlformats.org/officeDocument/2006/relationships/image" Target="../media/image151.wmf"/><Relationship Id="rId28" Type="http://schemas.openxmlformats.org/officeDocument/2006/relationships/oleObject" Target="../embeddings/oleObject141.bin"/><Relationship Id="rId10" Type="http://schemas.openxmlformats.org/officeDocument/2006/relationships/oleObject" Target="../embeddings/oleObject133.bin"/><Relationship Id="rId19" Type="http://schemas.openxmlformats.org/officeDocument/2006/relationships/image" Target="../media/image177.wmf"/><Relationship Id="rId4" Type="http://schemas.openxmlformats.org/officeDocument/2006/relationships/oleObject" Target="../embeddings/oleObject130.bin"/><Relationship Id="rId9" Type="http://schemas.openxmlformats.org/officeDocument/2006/relationships/image" Target="../media/image160.wmf"/><Relationship Id="rId14" Type="http://schemas.openxmlformats.org/officeDocument/2006/relationships/oleObject" Target="../embeddings/oleObject135.bin"/><Relationship Id="rId22" Type="http://schemas.openxmlformats.org/officeDocument/2006/relationships/oleObject" Target="../embeddings/oleObject123.bin"/><Relationship Id="rId27" Type="http://schemas.openxmlformats.org/officeDocument/2006/relationships/image" Target="../media/image167.wmf"/></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image" Target="../media/image152.wmf"/><Relationship Id="rId3" Type="http://schemas.openxmlformats.org/officeDocument/2006/relationships/image" Target="../media/image179.wmf"/><Relationship Id="rId7" Type="http://schemas.openxmlformats.org/officeDocument/2006/relationships/image" Target="../media/image180.wmf"/><Relationship Id="rId12" Type="http://schemas.openxmlformats.org/officeDocument/2006/relationships/oleObject" Target="../embeddings/oleObject124.bin"/><Relationship Id="rId2" Type="http://schemas.openxmlformats.org/officeDocument/2006/relationships/oleObject" Target="../embeddings/oleObject151.bin"/><Relationship Id="rId1" Type="http://schemas.openxmlformats.org/officeDocument/2006/relationships/slideLayout" Target="../slideLayouts/slideLayout15.xml"/><Relationship Id="rId6" Type="http://schemas.openxmlformats.org/officeDocument/2006/relationships/oleObject" Target="../embeddings/oleObject152.bin"/><Relationship Id="rId11" Type="http://schemas.openxmlformats.org/officeDocument/2006/relationships/image" Target="../media/image182.wmf"/><Relationship Id="rId5" Type="http://schemas.openxmlformats.org/officeDocument/2006/relationships/image" Target="../media/image172.wmf"/><Relationship Id="rId10" Type="http://schemas.openxmlformats.org/officeDocument/2006/relationships/oleObject" Target="../embeddings/oleObject154.bin"/><Relationship Id="rId4" Type="http://schemas.openxmlformats.org/officeDocument/2006/relationships/oleObject" Target="../embeddings/oleObject144.bin"/><Relationship Id="rId9" Type="http://schemas.openxmlformats.org/officeDocument/2006/relationships/image" Target="../media/image181.wmf"/></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158.bin"/><Relationship Id="rId13" Type="http://schemas.openxmlformats.org/officeDocument/2006/relationships/image" Target="../media/image188.wmf"/><Relationship Id="rId18" Type="http://schemas.openxmlformats.org/officeDocument/2006/relationships/oleObject" Target="../embeddings/oleObject163.bin"/><Relationship Id="rId26" Type="http://schemas.openxmlformats.org/officeDocument/2006/relationships/oleObject" Target="../embeddings/oleObject166.bin"/><Relationship Id="rId3" Type="http://schemas.openxmlformats.org/officeDocument/2006/relationships/image" Target="../media/image183.wmf"/><Relationship Id="rId21" Type="http://schemas.openxmlformats.org/officeDocument/2006/relationships/image" Target="../media/image192.wmf"/><Relationship Id="rId7" Type="http://schemas.openxmlformats.org/officeDocument/2006/relationships/image" Target="../media/image185.wmf"/><Relationship Id="rId12" Type="http://schemas.openxmlformats.org/officeDocument/2006/relationships/oleObject" Target="../embeddings/oleObject160.bin"/><Relationship Id="rId17" Type="http://schemas.openxmlformats.org/officeDocument/2006/relationships/image" Target="../media/image190.wmf"/><Relationship Id="rId25" Type="http://schemas.openxmlformats.org/officeDocument/2006/relationships/image" Target="../media/image193.wmf"/><Relationship Id="rId2" Type="http://schemas.openxmlformats.org/officeDocument/2006/relationships/oleObject" Target="../embeddings/oleObject155.bin"/><Relationship Id="rId16" Type="http://schemas.openxmlformats.org/officeDocument/2006/relationships/oleObject" Target="../embeddings/oleObject162.bin"/><Relationship Id="rId20" Type="http://schemas.openxmlformats.org/officeDocument/2006/relationships/oleObject" Target="../embeddings/oleObject164.bin"/><Relationship Id="rId1" Type="http://schemas.openxmlformats.org/officeDocument/2006/relationships/slideLayout" Target="../slideLayouts/slideLayout15.xml"/><Relationship Id="rId6" Type="http://schemas.openxmlformats.org/officeDocument/2006/relationships/oleObject" Target="../embeddings/oleObject157.bin"/><Relationship Id="rId11" Type="http://schemas.openxmlformats.org/officeDocument/2006/relationships/image" Target="../media/image187.wmf"/><Relationship Id="rId24" Type="http://schemas.openxmlformats.org/officeDocument/2006/relationships/oleObject" Target="../embeddings/oleObject165.bin"/><Relationship Id="rId5" Type="http://schemas.openxmlformats.org/officeDocument/2006/relationships/image" Target="../media/image184.wmf"/><Relationship Id="rId15" Type="http://schemas.openxmlformats.org/officeDocument/2006/relationships/image" Target="../media/image189.wmf"/><Relationship Id="rId23" Type="http://schemas.openxmlformats.org/officeDocument/2006/relationships/image" Target="../media/image167.wmf"/><Relationship Id="rId10" Type="http://schemas.openxmlformats.org/officeDocument/2006/relationships/oleObject" Target="../embeddings/oleObject159.bin"/><Relationship Id="rId19" Type="http://schemas.openxmlformats.org/officeDocument/2006/relationships/image" Target="../media/image191.wmf"/><Relationship Id="rId4" Type="http://schemas.openxmlformats.org/officeDocument/2006/relationships/oleObject" Target="../embeddings/oleObject156.bin"/><Relationship Id="rId9" Type="http://schemas.openxmlformats.org/officeDocument/2006/relationships/image" Target="../media/image186.wmf"/><Relationship Id="rId14" Type="http://schemas.openxmlformats.org/officeDocument/2006/relationships/oleObject" Target="../embeddings/oleObject161.bin"/><Relationship Id="rId22" Type="http://schemas.openxmlformats.org/officeDocument/2006/relationships/oleObject" Target="../embeddings/oleObject139.bin"/><Relationship Id="rId27" Type="http://schemas.openxmlformats.org/officeDocument/2006/relationships/image" Target="../media/image194.wmf"/></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168.bin"/><Relationship Id="rId13" Type="http://schemas.openxmlformats.org/officeDocument/2006/relationships/image" Target="../media/image198.wmf"/><Relationship Id="rId3" Type="http://schemas.openxmlformats.org/officeDocument/2006/relationships/image" Target="../media/image195.wmf"/><Relationship Id="rId7" Type="http://schemas.openxmlformats.org/officeDocument/2006/relationships/image" Target="../media/image171.wmf"/><Relationship Id="rId12" Type="http://schemas.openxmlformats.org/officeDocument/2006/relationships/oleObject" Target="../embeddings/oleObject170.bin"/><Relationship Id="rId17" Type="http://schemas.openxmlformats.org/officeDocument/2006/relationships/image" Target="../media/image200.wmf"/><Relationship Id="rId2" Type="http://schemas.openxmlformats.org/officeDocument/2006/relationships/oleObject" Target="../embeddings/oleObject167.bin"/><Relationship Id="rId16" Type="http://schemas.openxmlformats.org/officeDocument/2006/relationships/oleObject" Target="../embeddings/oleObject172.bin"/><Relationship Id="rId1" Type="http://schemas.openxmlformats.org/officeDocument/2006/relationships/slideLayout" Target="../slideLayouts/slideLayout15.xml"/><Relationship Id="rId6" Type="http://schemas.openxmlformats.org/officeDocument/2006/relationships/oleObject" Target="../embeddings/oleObject143.bin"/><Relationship Id="rId11" Type="http://schemas.openxmlformats.org/officeDocument/2006/relationships/image" Target="../media/image197.wmf"/><Relationship Id="rId5" Type="http://schemas.openxmlformats.org/officeDocument/2006/relationships/image" Target="../media/image170.wmf"/><Relationship Id="rId15" Type="http://schemas.openxmlformats.org/officeDocument/2006/relationships/image" Target="../media/image199.wmf"/><Relationship Id="rId10" Type="http://schemas.openxmlformats.org/officeDocument/2006/relationships/oleObject" Target="../embeddings/oleObject169.bin"/><Relationship Id="rId4" Type="http://schemas.openxmlformats.org/officeDocument/2006/relationships/oleObject" Target="../embeddings/oleObject142.bin"/><Relationship Id="rId9" Type="http://schemas.openxmlformats.org/officeDocument/2006/relationships/image" Target="../media/image196.wmf"/><Relationship Id="rId14" Type="http://schemas.openxmlformats.org/officeDocument/2006/relationships/oleObject" Target="../embeddings/oleObject171.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8" Type="http://schemas.openxmlformats.org/officeDocument/2006/relationships/image" Target="../media/image204.wmf"/><Relationship Id="rId3" Type="http://schemas.openxmlformats.org/officeDocument/2006/relationships/oleObject" Target="../embeddings/oleObject173.bin"/><Relationship Id="rId7" Type="http://schemas.openxmlformats.org/officeDocument/2006/relationships/oleObject" Target="../embeddings/oleObject175.bin"/><Relationship Id="rId2" Type="http://schemas.openxmlformats.org/officeDocument/2006/relationships/image" Target="../media/image201.png"/><Relationship Id="rId1" Type="http://schemas.openxmlformats.org/officeDocument/2006/relationships/slideLayout" Target="../slideLayouts/slideLayout15.xml"/><Relationship Id="rId6" Type="http://schemas.openxmlformats.org/officeDocument/2006/relationships/image" Target="../media/image203.wmf"/><Relationship Id="rId5" Type="http://schemas.openxmlformats.org/officeDocument/2006/relationships/oleObject" Target="../embeddings/oleObject174.bin"/><Relationship Id="rId4" Type="http://schemas.openxmlformats.org/officeDocument/2006/relationships/image" Target="../media/image202.wmf"/></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179.bin"/><Relationship Id="rId3" Type="http://schemas.openxmlformats.org/officeDocument/2006/relationships/image" Target="../media/image205.wmf"/><Relationship Id="rId7" Type="http://schemas.openxmlformats.org/officeDocument/2006/relationships/image" Target="../media/image207.wmf"/><Relationship Id="rId2" Type="http://schemas.openxmlformats.org/officeDocument/2006/relationships/oleObject" Target="../embeddings/oleObject176.bin"/><Relationship Id="rId1" Type="http://schemas.openxmlformats.org/officeDocument/2006/relationships/slideLayout" Target="../slideLayouts/slideLayout15.xml"/><Relationship Id="rId6" Type="http://schemas.openxmlformats.org/officeDocument/2006/relationships/oleObject" Target="../embeddings/oleObject178.bin"/><Relationship Id="rId11" Type="http://schemas.openxmlformats.org/officeDocument/2006/relationships/image" Target="../media/image209.wmf"/><Relationship Id="rId5" Type="http://schemas.openxmlformats.org/officeDocument/2006/relationships/image" Target="../media/image206.wmf"/><Relationship Id="rId10" Type="http://schemas.openxmlformats.org/officeDocument/2006/relationships/oleObject" Target="../embeddings/oleObject180.bin"/><Relationship Id="rId4" Type="http://schemas.openxmlformats.org/officeDocument/2006/relationships/oleObject" Target="../embeddings/oleObject177.bin"/><Relationship Id="rId9" Type="http://schemas.openxmlformats.org/officeDocument/2006/relationships/image" Target="../media/image208.wmf"/></Relationships>
</file>

<file path=ppt/slides/_rels/slide87.x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oleObject" Target="../embeddings/oleObject181.bin"/><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8" Type="http://schemas.openxmlformats.org/officeDocument/2006/relationships/image" Target="../media/image214.wmf"/><Relationship Id="rId3" Type="http://schemas.openxmlformats.org/officeDocument/2006/relationships/image" Target="../media/image211.wmf"/><Relationship Id="rId7" Type="http://schemas.openxmlformats.org/officeDocument/2006/relationships/oleObject" Target="../embeddings/oleObject184.bin"/><Relationship Id="rId2" Type="http://schemas.openxmlformats.org/officeDocument/2006/relationships/oleObject" Target="../embeddings/oleObject182.bin"/><Relationship Id="rId1" Type="http://schemas.openxmlformats.org/officeDocument/2006/relationships/slideLayout" Target="../slideLayouts/slideLayout15.xml"/><Relationship Id="rId6" Type="http://schemas.openxmlformats.org/officeDocument/2006/relationships/image" Target="../media/image213.wmf"/><Relationship Id="rId5" Type="http://schemas.openxmlformats.org/officeDocument/2006/relationships/oleObject" Target="../embeddings/oleObject183.bin"/><Relationship Id="rId4" Type="http://schemas.openxmlformats.org/officeDocument/2006/relationships/image" Target="../media/image212.png"/></Relationships>
</file>

<file path=ppt/slides/_rels/slide90.xml.rels><?xml version="1.0" encoding="UTF-8" standalone="yes"?>
<Relationships xmlns="http://schemas.openxmlformats.org/package/2006/relationships"><Relationship Id="rId3" Type="http://schemas.openxmlformats.org/officeDocument/2006/relationships/image" Target="../media/image215.wmf"/><Relationship Id="rId2" Type="http://schemas.openxmlformats.org/officeDocument/2006/relationships/oleObject" Target="../embeddings/oleObject185.bin"/><Relationship Id="rId1" Type="http://schemas.openxmlformats.org/officeDocument/2006/relationships/slideLayout" Target="../slideLayouts/slideLayout15.xml"/><Relationship Id="rId5" Type="http://schemas.openxmlformats.org/officeDocument/2006/relationships/image" Target="../media/image216.wmf"/><Relationship Id="rId4" Type="http://schemas.openxmlformats.org/officeDocument/2006/relationships/oleObject" Target="../embeddings/oleObject186.bin"/></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190.bin"/><Relationship Id="rId3" Type="http://schemas.openxmlformats.org/officeDocument/2006/relationships/image" Target="../media/image217.wmf"/><Relationship Id="rId7" Type="http://schemas.openxmlformats.org/officeDocument/2006/relationships/image" Target="../media/image219.wmf"/><Relationship Id="rId2" Type="http://schemas.openxmlformats.org/officeDocument/2006/relationships/oleObject" Target="../embeddings/oleObject187.bin"/><Relationship Id="rId1" Type="http://schemas.openxmlformats.org/officeDocument/2006/relationships/slideLayout" Target="../slideLayouts/slideLayout15.xml"/><Relationship Id="rId6" Type="http://schemas.openxmlformats.org/officeDocument/2006/relationships/oleObject" Target="../embeddings/oleObject189.bin"/><Relationship Id="rId5" Type="http://schemas.openxmlformats.org/officeDocument/2006/relationships/image" Target="../media/image218.wmf"/><Relationship Id="rId4" Type="http://schemas.openxmlformats.org/officeDocument/2006/relationships/oleObject" Target="../embeddings/oleObject188.bin"/><Relationship Id="rId9" Type="http://schemas.openxmlformats.org/officeDocument/2006/relationships/image" Target="../media/image220.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90.bin"/><Relationship Id="rId2" Type="http://schemas.openxmlformats.org/officeDocument/2006/relationships/image" Target="../media/image221.png"/><Relationship Id="rId1" Type="http://schemas.openxmlformats.org/officeDocument/2006/relationships/slideLayout" Target="../slideLayouts/slideLayout15.xml"/><Relationship Id="rId4" Type="http://schemas.openxmlformats.org/officeDocument/2006/relationships/image" Target="../media/image220.wmf"/></Relationships>
</file>

<file path=ppt/slides/_rels/slide93.xml.rels><?xml version="1.0" encoding="UTF-8" standalone="yes"?>
<Relationships xmlns="http://schemas.openxmlformats.org/package/2006/relationships"><Relationship Id="rId8" Type="http://schemas.openxmlformats.org/officeDocument/2006/relationships/oleObject" Target="../embeddings/oleObject194.bin"/><Relationship Id="rId13" Type="http://schemas.openxmlformats.org/officeDocument/2006/relationships/image" Target="../media/image227.wmf"/><Relationship Id="rId3" Type="http://schemas.openxmlformats.org/officeDocument/2006/relationships/image" Target="../media/image222.wmf"/><Relationship Id="rId7" Type="http://schemas.openxmlformats.org/officeDocument/2006/relationships/image" Target="../media/image224.wmf"/><Relationship Id="rId12" Type="http://schemas.openxmlformats.org/officeDocument/2006/relationships/oleObject" Target="../embeddings/oleObject196.bin"/><Relationship Id="rId2" Type="http://schemas.openxmlformats.org/officeDocument/2006/relationships/oleObject" Target="../embeddings/oleObject191.bin"/><Relationship Id="rId1" Type="http://schemas.openxmlformats.org/officeDocument/2006/relationships/slideLayout" Target="../slideLayouts/slideLayout15.xml"/><Relationship Id="rId6" Type="http://schemas.openxmlformats.org/officeDocument/2006/relationships/oleObject" Target="../embeddings/oleObject193.bin"/><Relationship Id="rId11" Type="http://schemas.openxmlformats.org/officeDocument/2006/relationships/image" Target="../media/image226.wmf"/><Relationship Id="rId5" Type="http://schemas.openxmlformats.org/officeDocument/2006/relationships/image" Target="../media/image223.wmf"/><Relationship Id="rId10" Type="http://schemas.openxmlformats.org/officeDocument/2006/relationships/oleObject" Target="../embeddings/oleObject195.bin"/><Relationship Id="rId4" Type="http://schemas.openxmlformats.org/officeDocument/2006/relationships/oleObject" Target="../embeddings/oleObject192.bin"/><Relationship Id="rId9" Type="http://schemas.openxmlformats.org/officeDocument/2006/relationships/image" Target="../media/image225.wmf"/></Relationships>
</file>

<file path=ppt/slides/_rels/slide94.xml.rels><?xml version="1.0" encoding="UTF-8" standalone="yes"?>
<Relationships xmlns="http://schemas.openxmlformats.org/package/2006/relationships"><Relationship Id="rId3" Type="http://schemas.openxmlformats.org/officeDocument/2006/relationships/image" Target="../media/image228.wmf"/><Relationship Id="rId7" Type="http://schemas.openxmlformats.org/officeDocument/2006/relationships/image" Target="../media/image226.wmf"/><Relationship Id="rId2" Type="http://schemas.openxmlformats.org/officeDocument/2006/relationships/oleObject" Target="../embeddings/oleObject197.bin"/><Relationship Id="rId1" Type="http://schemas.openxmlformats.org/officeDocument/2006/relationships/slideLayout" Target="../slideLayouts/slideLayout15.xml"/><Relationship Id="rId6" Type="http://schemas.openxmlformats.org/officeDocument/2006/relationships/oleObject" Target="../embeddings/oleObject195.bin"/><Relationship Id="rId5" Type="http://schemas.openxmlformats.org/officeDocument/2006/relationships/image" Target="../media/image229.wmf"/><Relationship Id="rId4" Type="http://schemas.openxmlformats.org/officeDocument/2006/relationships/oleObject" Target="../embeddings/oleObject198.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99.bin"/><Relationship Id="rId2" Type="http://schemas.openxmlformats.org/officeDocument/2006/relationships/image" Target="../media/image230.emf"/><Relationship Id="rId1" Type="http://schemas.openxmlformats.org/officeDocument/2006/relationships/slideLayout" Target="../slideLayouts/slideLayout15.xml"/><Relationship Id="rId5" Type="http://schemas.openxmlformats.org/officeDocument/2006/relationships/image" Target="../media/image232.emf"/><Relationship Id="rId4" Type="http://schemas.openxmlformats.org/officeDocument/2006/relationships/image" Target="../media/image231.wmf"/></Relationships>
</file>

<file path=ppt/slides/_rels/slide97.xml.rels><?xml version="1.0" encoding="UTF-8" standalone="yes"?>
<Relationships xmlns="http://schemas.openxmlformats.org/package/2006/relationships"><Relationship Id="rId3" Type="http://schemas.openxmlformats.org/officeDocument/2006/relationships/image" Target="../media/image233.wmf"/><Relationship Id="rId7" Type="http://schemas.openxmlformats.org/officeDocument/2006/relationships/image" Target="../media/image235.wmf"/><Relationship Id="rId2" Type="http://schemas.openxmlformats.org/officeDocument/2006/relationships/oleObject" Target="../embeddings/oleObject200.bin"/><Relationship Id="rId1" Type="http://schemas.openxmlformats.org/officeDocument/2006/relationships/slideLayout" Target="../slideLayouts/slideLayout15.xml"/><Relationship Id="rId6" Type="http://schemas.openxmlformats.org/officeDocument/2006/relationships/oleObject" Target="../embeddings/oleObject202.bin"/><Relationship Id="rId5" Type="http://schemas.openxmlformats.org/officeDocument/2006/relationships/image" Target="../media/image234.wmf"/><Relationship Id="rId4" Type="http://schemas.openxmlformats.org/officeDocument/2006/relationships/oleObject" Target="../embeddings/oleObject201.bin"/></Relationships>
</file>

<file path=ppt/slides/_rels/slide98.xml.rels><?xml version="1.0" encoding="UTF-8" standalone="yes"?>
<Relationships xmlns="http://schemas.openxmlformats.org/package/2006/relationships"><Relationship Id="rId8" Type="http://schemas.openxmlformats.org/officeDocument/2006/relationships/oleObject" Target="../embeddings/oleObject206.bin"/><Relationship Id="rId13" Type="http://schemas.openxmlformats.org/officeDocument/2006/relationships/image" Target="../media/image241.wmf"/><Relationship Id="rId3" Type="http://schemas.openxmlformats.org/officeDocument/2006/relationships/image" Target="../media/image236.wmf"/><Relationship Id="rId7" Type="http://schemas.openxmlformats.org/officeDocument/2006/relationships/image" Target="../media/image238.wmf"/><Relationship Id="rId12" Type="http://schemas.openxmlformats.org/officeDocument/2006/relationships/oleObject" Target="../embeddings/oleObject208.bin"/><Relationship Id="rId17" Type="http://schemas.openxmlformats.org/officeDocument/2006/relationships/image" Target="../media/image243.wmf"/><Relationship Id="rId2" Type="http://schemas.openxmlformats.org/officeDocument/2006/relationships/oleObject" Target="../embeddings/oleObject203.bin"/><Relationship Id="rId16" Type="http://schemas.openxmlformats.org/officeDocument/2006/relationships/oleObject" Target="../embeddings/oleObject210.bin"/><Relationship Id="rId1" Type="http://schemas.openxmlformats.org/officeDocument/2006/relationships/slideLayout" Target="../slideLayouts/slideLayout15.xml"/><Relationship Id="rId6" Type="http://schemas.openxmlformats.org/officeDocument/2006/relationships/oleObject" Target="../embeddings/oleObject205.bin"/><Relationship Id="rId11" Type="http://schemas.openxmlformats.org/officeDocument/2006/relationships/image" Target="../media/image240.wmf"/><Relationship Id="rId5" Type="http://schemas.openxmlformats.org/officeDocument/2006/relationships/image" Target="../media/image237.wmf"/><Relationship Id="rId15" Type="http://schemas.openxmlformats.org/officeDocument/2006/relationships/image" Target="../media/image242.wmf"/><Relationship Id="rId10" Type="http://schemas.openxmlformats.org/officeDocument/2006/relationships/oleObject" Target="../embeddings/oleObject207.bin"/><Relationship Id="rId4" Type="http://schemas.openxmlformats.org/officeDocument/2006/relationships/oleObject" Target="../embeddings/oleObject204.bin"/><Relationship Id="rId9" Type="http://schemas.openxmlformats.org/officeDocument/2006/relationships/image" Target="../media/image239.wmf"/><Relationship Id="rId14" Type="http://schemas.openxmlformats.org/officeDocument/2006/relationships/oleObject" Target="../embeddings/oleObject209.bin"/></Relationships>
</file>

<file path=ppt/slides/_rels/slide99.x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oleObject" Target="../embeddings/oleObject208.bin"/><Relationship Id="rId1" Type="http://schemas.openxmlformats.org/officeDocument/2006/relationships/slideLayout" Target="../slideLayouts/slideLayout15.xml"/><Relationship Id="rId5" Type="http://schemas.openxmlformats.org/officeDocument/2006/relationships/image" Target="../media/image244.wmf"/><Relationship Id="rId4" Type="http://schemas.openxmlformats.org/officeDocument/2006/relationships/oleObject" Target="../embeddings/oleObject211.bin"/></Relationships>
</file>

<file path=ppt/slides/_rels/slide100.xml.rels><?xml version="1.0" encoding="UTF-8" standalone="yes"?>
<Relationships xmlns="http://schemas.openxmlformats.org/package/2006/relationships"><Relationship Id="rId2" Type="http://schemas.openxmlformats.org/officeDocument/2006/relationships/image" Target="../media/image245.png"/><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3" Type="http://schemas.openxmlformats.org/officeDocument/2006/relationships/image" Target="../media/image246.wmf"/><Relationship Id="rId2" Type="http://schemas.openxmlformats.org/officeDocument/2006/relationships/oleObject" Target="../embeddings/oleObject212.bin"/><Relationship Id="rId1" Type="http://schemas.openxmlformats.org/officeDocument/2006/relationships/slideLayout" Target="../slideLayouts/slideLayout22.xml"/><Relationship Id="rId5" Type="http://schemas.openxmlformats.org/officeDocument/2006/relationships/image" Target="../media/image247.wmf"/><Relationship Id="rId4" Type="http://schemas.openxmlformats.org/officeDocument/2006/relationships/oleObject" Target="../embeddings/oleObject213.bin"/></Relationships>
</file>

<file path=ppt/slides/_rels/slide104.xml.rels><?xml version="1.0" encoding="UTF-8" standalone="yes"?>
<Relationships xmlns="http://schemas.openxmlformats.org/package/2006/relationships"><Relationship Id="rId3" Type="http://schemas.openxmlformats.org/officeDocument/2006/relationships/image" Target="../media/image248.wmf"/><Relationship Id="rId2" Type="http://schemas.openxmlformats.org/officeDocument/2006/relationships/oleObject" Target="../embeddings/oleObject214.bin"/><Relationship Id="rId1" Type="http://schemas.openxmlformats.org/officeDocument/2006/relationships/slideLayout" Target="../slideLayouts/slideLayout22.xml"/><Relationship Id="rId5" Type="http://schemas.openxmlformats.org/officeDocument/2006/relationships/image" Target="../media/image249.wmf"/><Relationship Id="rId4" Type="http://schemas.openxmlformats.org/officeDocument/2006/relationships/oleObject" Target="../embeddings/oleObject21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3276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i="0" dirty="0">
                <a:solidFill>
                  <a:srgbClr val="993300"/>
                </a:solidFill>
                <a:ea typeface="楷体_GB2312" pitchFamily="49" charset="-122"/>
              </a:rPr>
              <a:t>数字信号处理</a:t>
            </a:r>
          </a:p>
        </p:txBody>
      </p:sp>
      <p:sp>
        <p:nvSpPr>
          <p:cNvPr id="8" name="Rectangle 2"/>
          <p:cNvSpPr>
            <a:spLocks noGrp="1" noChangeArrowheads="1"/>
          </p:cNvSpPr>
          <p:nvPr>
            <p:ph type="title"/>
          </p:nvPr>
        </p:nvSpPr>
        <p:spPr>
          <a:xfrm>
            <a:off x="755576" y="836712"/>
            <a:ext cx="7632848" cy="1296144"/>
          </a:xfrm>
        </p:spPr>
        <p:txBody>
          <a:bodyPr/>
          <a:lstStyle/>
          <a:p>
            <a:pPr algn="ctr"/>
            <a:r>
              <a:rPr lang="zh-CN" altLang="en-US" sz="3600" b="1" i="0" dirty="0"/>
              <a:t>第</a:t>
            </a:r>
            <a:r>
              <a:rPr lang="en-US" altLang="zh-CN" sz="3600" b="1" i="0" dirty="0"/>
              <a:t>6</a:t>
            </a:r>
            <a:r>
              <a:rPr lang="zh-CN" altLang="en-US" sz="3600" b="1" i="0" dirty="0"/>
              <a:t>章  数字信号处理系统的实现</a:t>
            </a:r>
          </a:p>
        </p:txBody>
      </p:sp>
      <p:sp>
        <p:nvSpPr>
          <p:cNvPr id="4" name="Rectangle 3"/>
          <p:cNvSpPr txBox="1">
            <a:spLocks noChangeArrowheads="1"/>
          </p:cNvSpPr>
          <p:nvPr/>
        </p:nvSpPr>
        <p:spPr bwMode="auto">
          <a:xfrm>
            <a:off x="819455" y="2204864"/>
            <a:ext cx="8073025"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3"/>
              </a:buBlip>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SzPct val="75000"/>
              <a:buBlip>
                <a:blip r:embed="rId4"/>
              </a:buBlip>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pPr>
            <a:r>
              <a:rPr lang="en-US" altLang="zh-CN" b="1" dirty="0">
                <a:latin typeface="+mj-lt"/>
              </a:rPr>
              <a:t>6.1 </a:t>
            </a:r>
            <a:r>
              <a:rPr lang="zh-CN" altLang="en-US" b="1" dirty="0">
                <a:latin typeface="+mj-lt"/>
              </a:rPr>
              <a:t>数字滤波器的结构</a:t>
            </a:r>
          </a:p>
          <a:p>
            <a:pPr>
              <a:lnSpc>
                <a:spcPct val="125000"/>
              </a:lnSpc>
              <a:spcBef>
                <a:spcPts val="0"/>
              </a:spcBef>
            </a:pPr>
            <a:r>
              <a:rPr lang="en-US" altLang="zh-CN" b="1" dirty="0">
                <a:latin typeface="+mj-lt"/>
              </a:rPr>
              <a:t>6.2 </a:t>
            </a:r>
            <a:r>
              <a:rPr lang="zh-CN" altLang="en-US" b="1" dirty="0">
                <a:latin typeface="+mj-lt"/>
              </a:rPr>
              <a:t>量化与量化误差</a:t>
            </a:r>
          </a:p>
          <a:p>
            <a:pPr>
              <a:lnSpc>
                <a:spcPct val="125000"/>
              </a:lnSpc>
              <a:spcBef>
                <a:spcPts val="0"/>
              </a:spcBef>
            </a:pPr>
            <a:r>
              <a:rPr lang="en-US" altLang="zh-CN" sz="3000" b="1" dirty="0">
                <a:latin typeface="+mj-lt"/>
              </a:rPr>
              <a:t>6.3 </a:t>
            </a:r>
            <a:r>
              <a:rPr lang="zh-CN" altLang="en-US" sz="3000" b="1" dirty="0">
                <a:latin typeface="+mj-lt"/>
              </a:rPr>
              <a:t>有限字长运算对数字信号处理系统的影响</a:t>
            </a:r>
          </a:p>
          <a:p>
            <a:pPr>
              <a:lnSpc>
                <a:spcPct val="125000"/>
              </a:lnSpc>
              <a:spcBef>
                <a:spcPts val="0"/>
              </a:spcBef>
            </a:pPr>
            <a:r>
              <a:rPr lang="en-US" altLang="zh-CN" b="1" dirty="0">
                <a:latin typeface="+mj-lt"/>
              </a:rPr>
              <a:t>6.4 </a:t>
            </a:r>
            <a:r>
              <a:rPr lang="zh-CN" altLang="en-US" b="1" dirty="0">
                <a:latin typeface="+mj-lt"/>
              </a:rPr>
              <a:t>极限环振荡</a:t>
            </a:r>
          </a:p>
          <a:p>
            <a:pPr>
              <a:lnSpc>
                <a:spcPct val="125000"/>
              </a:lnSpc>
              <a:spcBef>
                <a:spcPts val="0"/>
              </a:spcBef>
            </a:pPr>
            <a:r>
              <a:rPr lang="en-US" altLang="zh-CN" b="1" dirty="0">
                <a:latin typeface="+mj-lt"/>
              </a:rPr>
              <a:t>6.5 </a:t>
            </a:r>
            <a:r>
              <a:rPr lang="zh-CN" altLang="en-US" b="1" dirty="0">
                <a:latin typeface="+mj-lt"/>
              </a:rPr>
              <a:t>系数量化对数字滤波器的影响</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16260" y="836712"/>
            <a:ext cx="8376220" cy="1368152"/>
          </a:xfrm>
        </p:spPr>
        <p:txBody>
          <a:bodyPr/>
          <a:lstStyle/>
          <a:p>
            <a:pPr>
              <a:lnSpc>
                <a:spcPct val="125000"/>
              </a:lnSpc>
            </a:pPr>
            <a:r>
              <a:rPr lang="zh-CN" altLang="en-US" sz="3000" b="1" dirty="0"/>
              <a:t>数字信号处理系统是利用通用或专用的计算机，以数值计算的方法对信号进行加工。</a:t>
            </a:r>
            <a:endParaRPr lang="zh-CN" altLang="en-US" sz="3000" dirty="0"/>
          </a:p>
        </p:txBody>
      </p:sp>
      <p:sp>
        <p:nvSpPr>
          <p:cNvPr id="4"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dirty="0">
                <a:solidFill>
                  <a:srgbClr val="993300"/>
                </a:solidFill>
                <a:ea typeface="楷体_GB2312" pitchFamily="49" charset="-122"/>
              </a:rPr>
              <a:t>第</a:t>
            </a:r>
            <a:r>
              <a:rPr lang="en-US" altLang="zh-CN" sz="3200" b="1" dirty="0">
                <a:solidFill>
                  <a:srgbClr val="993300"/>
                </a:solidFill>
                <a:ea typeface="楷体_GB2312" pitchFamily="49" charset="-122"/>
              </a:rPr>
              <a:t>6</a:t>
            </a:r>
            <a:r>
              <a:rPr lang="zh-CN" altLang="en-US" sz="3200" b="1" dirty="0">
                <a:solidFill>
                  <a:srgbClr val="993300"/>
                </a:solidFill>
                <a:ea typeface="楷体_GB2312" pitchFamily="49" charset="-122"/>
              </a:rPr>
              <a:t>章 数字信号处理系统的实现</a:t>
            </a:r>
            <a:endParaRPr lang="zh-CN" altLang="en-US" sz="3200" b="1" i="0" dirty="0">
              <a:solidFill>
                <a:srgbClr val="993300"/>
              </a:solidFill>
              <a:ea typeface="楷体_GB2312" pitchFamily="49" charset="-122"/>
            </a:endParaRPr>
          </a:p>
        </p:txBody>
      </p:sp>
      <p:graphicFrame>
        <p:nvGraphicFramePr>
          <p:cNvPr id="5" name="Object 2"/>
          <p:cNvGraphicFramePr>
            <a:graphicFrameLocks noChangeAspect="1"/>
          </p:cNvGraphicFramePr>
          <p:nvPr>
            <p:extLst>
              <p:ext uri="{D42A27DB-BD31-4B8C-83A1-F6EECF244321}">
                <p14:modId xmlns:p14="http://schemas.microsoft.com/office/powerpoint/2010/main" val="2867041657"/>
              </p:ext>
            </p:extLst>
          </p:nvPr>
        </p:nvGraphicFramePr>
        <p:xfrm>
          <a:off x="2555776" y="2724845"/>
          <a:ext cx="4965700" cy="992187"/>
        </p:xfrm>
        <a:graphic>
          <a:graphicData uri="http://schemas.openxmlformats.org/presentationml/2006/ole">
            <mc:AlternateContent xmlns:mc="http://schemas.openxmlformats.org/markup-compatibility/2006">
              <mc:Choice xmlns:v="urn:schemas-microsoft-com:vml" Requires="v">
                <p:oleObj name="Equation" r:id="rId2" imgW="2158920" imgH="431640" progId="Equation.DSMT4">
                  <p:embed/>
                </p:oleObj>
              </mc:Choice>
              <mc:Fallback>
                <p:oleObj name="Equation" r:id="rId2" imgW="2158920" imgH="431640" progId="Equation.DSMT4">
                  <p:embed/>
                  <p:pic>
                    <p:nvPicPr>
                      <p:cNvPr id="7170" name="Object 2"/>
                      <p:cNvPicPr>
                        <a:picLocks noChangeAspect="1" noChangeArrowheads="1"/>
                      </p:cNvPicPr>
                      <p:nvPr/>
                    </p:nvPicPr>
                    <p:blipFill>
                      <a:blip r:embed="rId3"/>
                      <a:srcRect/>
                      <a:stretch>
                        <a:fillRect/>
                      </a:stretch>
                    </p:blipFill>
                    <p:spPr bwMode="auto">
                      <a:xfrm>
                        <a:off x="2555776" y="2724845"/>
                        <a:ext cx="496570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4001405839"/>
              </p:ext>
            </p:extLst>
          </p:nvPr>
        </p:nvGraphicFramePr>
        <p:xfrm>
          <a:off x="2555776" y="3638332"/>
          <a:ext cx="2803525" cy="1955800"/>
        </p:xfrm>
        <a:graphic>
          <a:graphicData uri="http://schemas.openxmlformats.org/presentationml/2006/ole">
            <mc:AlternateContent xmlns:mc="http://schemas.openxmlformats.org/markup-compatibility/2006">
              <mc:Choice xmlns:v="urn:schemas-microsoft-com:vml" Requires="v">
                <p:oleObj name="Equation" r:id="rId4" imgW="1218671" imgH="850531" progId="Equation.DSMT4">
                  <p:embed/>
                </p:oleObj>
              </mc:Choice>
              <mc:Fallback>
                <p:oleObj name="Equation" r:id="rId4" imgW="1218671" imgH="850531" progId="Equation.DSMT4">
                  <p:embed/>
                  <p:pic>
                    <p:nvPicPr>
                      <p:cNvPr id="717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776" y="3638332"/>
                        <a:ext cx="2803525" cy="195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Content Placeholder 2"/>
          <p:cNvSpPr>
            <a:spLocks noGrp="1"/>
          </p:cNvSpPr>
          <p:nvPr>
            <p:ph sz="half" idx="1"/>
          </p:nvPr>
        </p:nvSpPr>
        <p:spPr>
          <a:xfrm>
            <a:off x="522774" y="2132856"/>
            <a:ext cx="2592288" cy="747012"/>
          </a:xfrm>
        </p:spPr>
        <p:txBody>
          <a:bodyPr/>
          <a:lstStyle/>
          <a:p>
            <a:pPr>
              <a:lnSpc>
                <a:spcPct val="125000"/>
              </a:lnSpc>
            </a:pPr>
            <a:r>
              <a:rPr lang="zh-CN" altLang="en-US" sz="3000" b="1" dirty="0"/>
              <a:t>数字滤波器</a:t>
            </a:r>
            <a:endParaRPr lang="zh-CN" altLang="en-US" sz="3000" dirty="0"/>
          </a:p>
        </p:txBody>
      </p:sp>
      <p:sp>
        <p:nvSpPr>
          <p:cNvPr id="8" name="矩形 7"/>
          <p:cNvSpPr/>
          <p:nvPr/>
        </p:nvSpPr>
        <p:spPr>
          <a:xfrm>
            <a:off x="755576" y="2986860"/>
            <a:ext cx="1620957" cy="523220"/>
          </a:xfrm>
          <a:prstGeom prst="rect">
            <a:avLst/>
          </a:prstGeom>
        </p:spPr>
        <p:txBody>
          <a:bodyPr wrap="none">
            <a:spAutoFit/>
          </a:bodyPr>
          <a:lstStyle/>
          <a:p>
            <a:r>
              <a:rPr lang="zh-CN" altLang="en-US" sz="2800" b="1" dirty="0"/>
              <a:t>差分方程</a:t>
            </a:r>
          </a:p>
        </p:txBody>
      </p:sp>
      <p:sp>
        <p:nvSpPr>
          <p:cNvPr id="9" name="矩形 8"/>
          <p:cNvSpPr/>
          <p:nvPr/>
        </p:nvSpPr>
        <p:spPr>
          <a:xfrm>
            <a:off x="790803" y="4354622"/>
            <a:ext cx="1620957" cy="523220"/>
          </a:xfrm>
          <a:prstGeom prst="rect">
            <a:avLst/>
          </a:prstGeom>
        </p:spPr>
        <p:txBody>
          <a:bodyPr wrap="none">
            <a:spAutoFit/>
          </a:bodyPr>
          <a:lstStyle/>
          <a:p>
            <a:r>
              <a:rPr lang="zh-CN" altLang="en-US" sz="2800" b="1" dirty="0"/>
              <a:t>系统函数</a:t>
            </a:r>
          </a:p>
        </p:txBody>
      </p:sp>
      <p:sp>
        <p:nvSpPr>
          <p:cNvPr id="10" name="Content Placeholder 2"/>
          <p:cNvSpPr>
            <a:spLocks noGrp="1"/>
          </p:cNvSpPr>
          <p:nvPr>
            <p:ph sz="half" idx="1"/>
          </p:nvPr>
        </p:nvSpPr>
        <p:spPr>
          <a:xfrm>
            <a:off x="557932" y="5661248"/>
            <a:ext cx="8190531" cy="1196752"/>
          </a:xfrm>
        </p:spPr>
        <p:txBody>
          <a:bodyPr/>
          <a:lstStyle/>
          <a:p>
            <a:pPr>
              <a:lnSpc>
                <a:spcPct val="125000"/>
              </a:lnSpc>
            </a:pPr>
            <a:r>
              <a:rPr lang="zh-CN" altLang="en-US" sz="2800" b="1" dirty="0"/>
              <a:t>采用软件或硬件来实现</a:t>
            </a:r>
            <a:r>
              <a:rPr lang="en-US" altLang="zh-CN" sz="2800" b="1" dirty="0">
                <a:solidFill>
                  <a:srgbClr val="000000"/>
                </a:solidFill>
                <a:latin typeface="Times New Roman" panose="02020603050405020304" pitchFamily="18" charset="0"/>
              </a:rPr>
              <a:t>(6.1)</a:t>
            </a:r>
            <a:r>
              <a:rPr lang="zh-CN" altLang="en-US" sz="2800" b="1" dirty="0">
                <a:solidFill>
                  <a:srgbClr val="000000"/>
                </a:solidFill>
                <a:latin typeface="Times New Roman" panose="02020603050405020304" pitchFamily="18" charset="0"/>
                <a:cs typeface="Times New Roman" panose="02020603050405020304" pitchFamily="18" charset="0"/>
              </a:rPr>
              <a:t>式或</a:t>
            </a:r>
            <a:r>
              <a:rPr lang="en-US" altLang="zh-CN" sz="2800" b="1" dirty="0">
                <a:solidFill>
                  <a:srgbClr val="000000"/>
                </a:solidFill>
                <a:latin typeface="Times New Roman" panose="02020603050405020304" pitchFamily="18" charset="0"/>
              </a:rPr>
              <a:t>(6.2)</a:t>
            </a:r>
            <a:r>
              <a:rPr lang="zh-CN" altLang="en-US" sz="2800" b="1" dirty="0">
                <a:solidFill>
                  <a:srgbClr val="000000"/>
                </a:solidFill>
                <a:latin typeface="Times New Roman" panose="02020603050405020304" pitchFamily="18" charset="0"/>
                <a:cs typeface="Times New Roman" panose="02020603050405020304" pitchFamily="18" charset="0"/>
              </a:rPr>
              <a:t>式</a:t>
            </a:r>
            <a:r>
              <a:rPr lang="zh-CN" altLang="en-US" sz="2800" b="1" dirty="0"/>
              <a:t>所表征的数学过程。</a:t>
            </a:r>
          </a:p>
        </p:txBody>
      </p:sp>
      <p:sp>
        <p:nvSpPr>
          <p:cNvPr id="12" name="文本框 2"/>
          <p:cNvSpPr txBox="1">
            <a:spLocks noChangeArrowheads="1"/>
          </p:cNvSpPr>
          <p:nvPr/>
        </p:nvSpPr>
        <p:spPr bwMode="auto">
          <a:xfrm>
            <a:off x="8047101" y="2939067"/>
            <a:ext cx="774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zh-CN" sz="2400" b="1" dirty="0">
                <a:solidFill>
                  <a:srgbClr val="000000"/>
                </a:solidFill>
                <a:latin typeface="Times New Roman" panose="02020603050405020304" pitchFamily="18" charset="0"/>
              </a:rPr>
              <a:t>(6.1)</a:t>
            </a:r>
            <a:endParaRPr lang="zh-CN" altLang="en-US" sz="2400" b="1" dirty="0">
              <a:solidFill>
                <a:srgbClr val="000000"/>
              </a:solidFill>
              <a:latin typeface="Times New Roman" panose="02020603050405020304" pitchFamily="18" charset="0"/>
              <a:cs typeface="Times New Roman" panose="02020603050405020304" pitchFamily="18" charset="0"/>
            </a:endParaRPr>
          </a:p>
        </p:txBody>
      </p:sp>
      <p:sp>
        <p:nvSpPr>
          <p:cNvPr id="13" name="文本框 2"/>
          <p:cNvSpPr txBox="1">
            <a:spLocks noChangeArrowheads="1"/>
          </p:cNvSpPr>
          <p:nvPr/>
        </p:nvSpPr>
        <p:spPr bwMode="auto">
          <a:xfrm>
            <a:off x="8047101" y="4206943"/>
            <a:ext cx="774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zh-CN" sz="2400" b="1" dirty="0">
                <a:solidFill>
                  <a:srgbClr val="000000"/>
                </a:solidFill>
                <a:latin typeface="Times New Roman" panose="02020603050405020304" pitchFamily="18" charset="0"/>
              </a:rPr>
              <a:t>(6.2)</a:t>
            </a:r>
            <a:endParaRPr lang="zh-CN" altLang="en-US" sz="24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75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0">
                                            <p:txEl>
                                              <p:pRg st="0" end="0"/>
                                            </p:txEl>
                                          </p:spTgt>
                                        </p:tgtEl>
                                        <p:attrNameLst>
                                          <p:attrName>style.visibility</p:attrName>
                                        </p:attrNameLst>
                                      </p:cBhvr>
                                      <p:to>
                                        <p:strVal val="visible"/>
                                      </p:to>
                                    </p:set>
                                    <p:animEffect transition="in" filter="fade">
                                      <p:cBhvr>
                                        <p:cTn id="46" dur="1000"/>
                                        <p:tgtEl>
                                          <p:spTgt spid="10">
                                            <p:txEl>
                                              <p:pRg st="0" end="0"/>
                                            </p:txEl>
                                          </p:spTgt>
                                        </p:tgtEl>
                                      </p:cBhvr>
                                    </p:animEffect>
                                    <p:anim calcmode="lin" valueType="num">
                                      <p:cBhvr>
                                        <p:cTn id="47"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8"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P spid="9" grpId="0"/>
      <p:bldP spid="10" grpId="0" build="p"/>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27584" y="980728"/>
            <a:ext cx="8119530" cy="1651414"/>
          </a:xfrm>
          <a:prstGeom prst="rect">
            <a:avLst/>
          </a:prstGeom>
        </p:spPr>
        <p:txBody>
          <a:bodyPr wrap="none">
            <a:spAutoFit/>
          </a:bodyPr>
          <a:lstStyle/>
          <a:p>
            <a:pPr>
              <a:lnSpc>
                <a:spcPct val="125000"/>
              </a:lnSpc>
            </a:pPr>
            <a:r>
              <a:rPr kumimoji="1" lang="zh-CN" altLang="en-US" sz="2800" b="1" dirty="0">
                <a:solidFill>
                  <a:srgbClr val="000000"/>
                </a:solidFill>
                <a:latin typeface="Times New Roman" panose="02020603050405020304" pitchFamily="18" charset="0"/>
                <a:ea typeface="宋体"/>
              </a:rPr>
              <a:t>由于</a:t>
            </a:r>
            <a:r>
              <a:rPr kumimoji="1" lang="en-US" altLang="zh-CN" sz="2800" b="1" dirty="0">
                <a:solidFill>
                  <a:srgbClr val="000000"/>
                </a:solidFill>
                <a:latin typeface="Times New Roman" panose="02020603050405020304" pitchFamily="18" charset="0"/>
                <a:ea typeface="宋体"/>
              </a:rPr>
              <a:t>(6.1)</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式或</a:t>
            </a:r>
            <a:r>
              <a:rPr kumimoji="1" lang="en-US" altLang="zh-CN" sz="2800" b="1" dirty="0">
                <a:solidFill>
                  <a:srgbClr val="000000"/>
                </a:solidFill>
                <a:latin typeface="Times New Roman" panose="02020603050405020304" pitchFamily="18" charset="0"/>
                <a:ea typeface="宋体"/>
              </a:rPr>
              <a:t>(6.2)</a:t>
            </a: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式可以有各种不同的等效形式，</a:t>
            </a:r>
            <a:endParaRPr kumimoji="1" lang="en-US" altLang="zh-CN" sz="2800" b="1" dirty="0">
              <a:solidFill>
                <a:srgbClr val="000000"/>
              </a:solidFill>
              <a:latin typeface="Times New Roman" panose="02020603050405020304" pitchFamily="18" charset="0"/>
              <a:ea typeface="宋体"/>
              <a:cs typeface="Times New Roman" panose="02020603050405020304" pitchFamily="18" charset="0"/>
            </a:endParaRPr>
          </a:p>
          <a:p>
            <a:pPr>
              <a:lnSpc>
                <a:spcPct val="125000"/>
              </a:lnSpc>
            </a:pPr>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在实现过程中就表现出</a:t>
            </a:r>
            <a:r>
              <a:rPr kumimoji="1" lang="zh-CN" altLang="en-US" sz="2800" b="1" dirty="0">
                <a:solidFill>
                  <a:srgbClr val="FF0000"/>
                </a:solidFill>
                <a:latin typeface="宋体" panose="02010600030101010101" pitchFamily="2" charset="-122"/>
              </a:rPr>
              <a:t>不同的运算结构</a:t>
            </a:r>
            <a:r>
              <a:rPr kumimoji="1" lang="zh-CN" altLang="en-US" sz="2800" b="1" dirty="0">
                <a:solidFill>
                  <a:srgbClr val="000000"/>
                </a:solidFill>
                <a:latin typeface="宋体" panose="02010600030101010101" pitchFamily="2" charset="-122"/>
              </a:rPr>
              <a:t>，结构不同</a:t>
            </a:r>
            <a:endParaRPr kumimoji="1" lang="en-US" altLang="zh-CN" sz="2800" b="1" dirty="0">
              <a:solidFill>
                <a:srgbClr val="000000"/>
              </a:solidFill>
              <a:latin typeface="宋体" panose="02010600030101010101" pitchFamily="2" charset="-122"/>
            </a:endParaRPr>
          </a:p>
          <a:p>
            <a:pPr>
              <a:lnSpc>
                <a:spcPct val="125000"/>
              </a:lnSpc>
            </a:pPr>
            <a:r>
              <a:rPr kumimoji="1" lang="zh-CN" altLang="en-US" sz="2800" b="1" dirty="0">
                <a:solidFill>
                  <a:srgbClr val="000000"/>
                </a:solidFill>
                <a:latin typeface="宋体" panose="02010600030101010101" pitchFamily="2" charset="-122"/>
              </a:rPr>
              <a:t>不仅会影响到总的计算量，还会影响到计算精度。</a:t>
            </a:r>
            <a:endParaRPr lang="zh-CN" altLang="en-US" dirty="0"/>
          </a:p>
        </p:txBody>
      </p:sp>
      <p:sp>
        <p:nvSpPr>
          <p:cNvPr id="10" name="Rectangle 2"/>
          <p:cNvSpPr>
            <a:spLocks noChangeArrowheads="1"/>
          </p:cNvSpPr>
          <p:nvPr/>
        </p:nvSpPr>
        <p:spPr bwMode="auto">
          <a:xfrm>
            <a:off x="827584" y="4509120"/>
            <a:ext cx="6501847" cy="1653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25000"/>
              </a:lnSpc>
              <a:spcBef>
                <a:spcPts val="0"/>
              </a:spcBef>
              <a:buNone/>
            </a:pPr>
            <a:r>
              <a:rPr lang="zh-CN" altLang="en-US" sz="2800" dirty="0">
                <a:latin typeface="+mj-lt"/>
                <a:ea typeface="宋体" panose="02010600030101010101" pitchFamily="2" charset="-122"/>
              </a:rPr>
              <a:t>① </a:t>
            </a:r>
            <a:r>
              <a:rPr lang="en-US" altLang="zh-CN" sz="2800" dirty="0">
                <a:latin typeface="+mj-lt"/>
                <a:ea typeface="宋体" panose="02010600030101010101" pitchFamily="2" charset="-122"/>
              </a:rPr>
              <a:t>A/D</a:t>
            </a:r>
            <a:r>
              <a:rPr lang="zh-CN" altLang="en-US" sz="2800" dirty="0">
                <a:latin typeface="+mj-lt"/>
                <a:ea typeface="宋体" panose="02010600030101010101" pitchFamily="2" charset="-122"/>
              </a:rPr>
              <a:t>转换的量化效应；</a:t>
            </a:r>
          </a:p>
          <a:p>
            <a:pPr>
              <a:lnSpc>
                <a:spcPct val="125000"/>
              </a:lnSpc>
              <a:spcBef>
                <a:spcPts val="0"/>
              </a:spcBef>
              <a:buNone/>
            </a:pPr>
            <a:r>
              <a:rPr lang="zh-CN" altLang="en-US" sz="2800" dirty="0">
                <a:latin typeface="+mj-lt"/>
                <a:ea typeface="宋体" panose="02010600030101010101" pitchFamily="2" charset="-122"/>
              </a:rPr>
              <a:t>② 系数的量化效应；</a:t>
            </a:r>
          </a:p>
          <a:p>
            <a:pPr>
              <a:lnSpc>
                <a:spcPct val="125000"/>
              </a:lnSpc>
              <a:spcBef>
                <a:spcPts val="0"/>
              </a:spcBef>
              <a:buNone/>
            </a:pPr>
            <a:r>
              <a:rPr lang="zh-CN" altLang="en-US" sz="2800" dirty="0">
                <a:latin typeface="+mj-lt"/>
                <a:ea typeface="宋体" panose="02010600030101010101" pitchFamily="2" charset="-122"/>
              </a:rPr>
              <a:t>③ 数字运算过程中的有限字长效应。</a:t>
            </a:r>
          </a:p>
        </p:txBody>
      </p:sp>
      <p:sp>
        <p:nvSpPr>
          <p:cNvPr id="12" name="矩形 11"/>
          <p:cNvSpPr/>
          <p:nvPr/>
        </p:nvSpPr>
        <p:spPr>
          <a:xfrm>
            <a:off x="827584" y="2965140"/>
            <a:ext cx="8064896" cy="1651414"/>
          </a:xfrm>
          <a:prstGeom prst="rect">
            <a:avLst/>
          </a:prstGeom>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2800" b="1" i="0" u="none" strike="noStrike" kern="0" cap="none" spc="0" normalizeH="0" baseline="0" noProof="0" dirty="0">
                <a:ln>
                  <a:noFill/>
                </a:ln>
                <a:effectLst/>
                <a:uLnTx/>
                <a:uFillTx/>
                <a:latin typeface="Times New Roman" panose="02020603050405020304" pitchFamily="18" charset="0"/>
              </a:rPr>
              <a:t>有限字长的二进制数表示，是有限精度的。在</a:t>
            </a:r>
            <a:r>
              <a:rPr lang="zh-CN" altLang="en-US" sz="2800" b="1" kern="0" dirty="0">
                <a:latin typeface="Times New Roman" panose="02020603050405020304" pitchFamily="18" charset="0"/>
              </a:rPr>
              <a:t>实现数字信号处理系统时，共有三种因量化而引起</a:t>
            </a:r>
            <a:r>
              <a:rPr kumimoji="0" lang="zh-CN" altLang="en-US" sz="2800" b="1" i="0" u="none" strike="noStrike" kern="0" cap="none" spc="0" normalizeH="0" baseline="0" noProof="0" dirty="0">
                <a:ln>
                  <a:noFill/>
                </a:ln>
                <a:effectLst/>
                <a:uLnTx/>
                <a:uFillTx/>
                <a:latin typeface="Times New Roman" panose="02020603050405020304" pitchFamily="18" charset="0"/>
              </a:rPr>
              <a:t>误差的因素：</a:t>
            </a:r>
            <a:endParaRPr kumimoji="0" lang="zh-CN" altLang="en-US" sz="2800" b="0" i="0" u="none" strike="noStrike" kern="0" cap="none" spc="0" normalizeH="0" baseline="0" noProof="0" dirty="0">
              <a:ln>
                <a:noFill/>
              </a:ln>
              <a:effectLst/>
              <a:uLnTx/>
              <a:uFillTx/>
            </a:endParaRPr>
          </a:p>
        </p:txBody>
      </p:sp>
      <p:sp>
        <p:nvSpPr>
          <p:cNvPr id="6"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dirty="0">
                <a:solidFill>
                  <a:srgbClr val="993300"/>
                </a:solidFill>
                <a:ea typeface="楷体_GB2312" pitchFamily="49" charset="-122"/>
              </a:rPr>
              <a:t>第</a:t>
            </a:r>
            <a:r>
              <a:rPr lang="en-US" altLang="zh-CN" sz="3200" b="1" dirty="0">
                <a:solidFill>
                  <a:srgbClr val="993300"/>
                </a:solidFill>
                <a:ea typeface="楷体_GB2312" pitchFamily="49" charset="-122"/>
              </a:rPr>
              <a:t>6</a:t>
            </a:r>
            <a:r>
              <a:rPr lang="zh-CN" altLang="en-US" sz="3200" b="1" dirty="0">
                <a:solidFill>
                  <a:srgbClr val="993300"/>
                </a:solidFill>
                <a:ea typeface="楷体_GB2312" pitchFamily="49" charset="-122"/>
              </a:rPr>
              <a:t>章 数字信号处理系统的实现</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628664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fade">
                                      <p:cBhvr>
                                        <p:cTn id="18" dur="1000"/>
                                        <p:tgtEl>
                                          <p:spTgt spid="10">
                                            <p:txEl>
                                              <p:pRg st="0" end="0"/>
                                            </p:txEl>
                                          </p:spTgt>
                                        </p:tgtEl>
                                      </p:cBhvr>
                                    </p:animEffect>
                                    <p:anim calcmode="lin" valueType="num">
                                      <p:cBhvr>
                                        <p:cTn id="1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animEffect transition="in" filter="fade">
                                      <p:cBhvr>
                                        <p:cTn id="25" dur="1000"/>
                                        <p:tgtEl>
                                          <p:spTgt spid="10">
                                            <p:txEl>
                                              <p:pRg st="1" end="1"/>
                                            </p:txEl>
                                          </p:spTgt>
                                        </p:tgtEl>
                                      </p:cBhvr>
                                    </p:animEffect>
                                    <p:anim calcmode="lin" valueType="num">
                                      <p:cBhvr>
                                        <p:cTn id="2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0">
                                            <p:txEl>
                                              <p:pRg st="2" end="2"/>
                                            </p:txEl>
                                          </p:spTgt>
                                        </p:tgtEl>
                                        <p:attrNameLst>
                                          <p:attrName>style.visibility</p:attrName>
                                        </p:attrNameLst>
                                      </p:cBhvr>
                                      <p:to>
                                        <p:strVal val="visible"/>
                                      </p:to>
                                    </p:set>
                                    <p:animEffect transition="in" filter="fade">
                                      <p:cBhvr>
                                        <p:cTn id="32" dur="1000"/>
                                        <p:tgtEl>
                                          <p:spTgt spid="10">
                                            <p:txEl>
                                              <p:pRg st="2" end="2"/>
                                            </p:txEl>
                                          </p:spTgt>
                                        </p:tgtEl>
                                      </p:cBhvr>
                                    </p:animEffect>
                                    <p:anim calcmode="lin" valueType="num">
                                      <p:cBhvr>
                                        <p:cTn id="3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 </a:t>
            </a:r>
            <a:r>
              <a:rPr lang="zh-CN" altLang="en-US" sz="3200" b="1" dirty="0">
                <a:solidFill>
                  <a:srgbClr val="993300"/>
                </a:solidFill>
                <a:ea typeface="楷体_GB2312" pitchFamily="49" charset="-122"/>
              </a:rPr>
              <a:t>数字滤波器的结构 </a:t>
            </a:r>
            <a:endParaRPr lang="zh-CN" altLang="en-US" sz="3200" b="1" i="0" dirty="0">
              <a:solidFill>
                <a:srgbClr val="993300"/>
              </a:solidFill>
              <a:ea typeface="楷体_GB2312" pitchFamily="49" charset="-122"/>
            </a:endParaRPr>
          </a:p>
        </p:txBody>
      </p:sp>
      <p:sp>
        <p:nvSpPr>
          <p:cNvPr id="3" name="矩形 2"/>
          <p:cNvSpPr/>
          <p:nvPr/>
        </p:nvSpPr>
        <p:spPr>
          <a:xfrm>
            <a:off x="971600" y="980728"/>
            <a:ext cx="4572000" cy="523220"/>
          </a:xfrm>
          <a:prstGeom prst="rect">
            <a:avLst/>
          </a:prstGeom>
        </p:spPr>
        <p:txBody>
          <a:bodyPr>
            <a:spAutoFit/>
          </a:bodyPr>
          <a:lstStyle/>
          <a:p>
            <a:pPr lvl="0" algn="just" eaLnBrk="1" hangingPunct="1">
              <a:defRPr/>
            </a:pPr>
            <a:r>
              <a:rPr kumimoji="1" lang="en-US" altLang="zh-CN" sz="2800" b="1" dirty="0">
                <a:latin typeface="+mj-lt"/>
              </a:rPr>
              <a:t>6.1.1 </a:t>
            </a:r>
            <a:r>
              <a:rPr kumimoji="1" lang="zh-CN" altLang="en-US" sz="2800" b="1" dirty="0">
                <a:latin typeface="+mj-lt"/>
              </a:rPr>
              <a:t>数字网络的信号流图</a:t>
            </a:r>
          </a:p>
        </p:txBody>
      </p:sp>
      <p:sp>
        <p:nvSpPr>
          <p:cNvPr id="5" name="矩形 4"/>
          <p:cNvSpPr/>
          <p:nvPr/>
        </p:nvSpPr>
        <p:spPr>
          <a:xfrm>
            <a:off x="963202" y="1544412"/>
            <a:ext cx="5955476" cy="1169551"/>
          </a:xfrm>
          <a:prstGeom prst="rect">
            <a:avLst/>
          </a:prstGeom>
        </p:spPr>
        <p:txBody>
          <a:bodyPr wrap="none">
            <a:spAutoFit/>
          </a:bodyPr>
          <a:lstStyle/>
          <a:p>
            <a:pPr>
              <a:lnSpc>
                <a:spcPct val="125000"/>
              </a:lnSpc>
            </a:pPr>
            <a:r>
              <a:rPr lang="zh-CN" altLang="en-US" sz="2800" b="1" dirty="0"/>
              <a:t>数字滤波器实现时的基本运算单元：</a:t>
            </a:r>
            <a:endParaRPr lang="en-US" altLang="zh-CN" sz="2800" b="1" dirty="0"/>
          </a:p>
          <a:p>
            <a:pPr>
              <a:lnSpc>
                <a:spcPct val="125000"/>
              </a:lnSpc>
            </a:pPr>
            <a:r>
              <a:rPr lang="zh-CN" altLang="en-US" sz="2800" b="1" dirty="0"/>
              <a:t>加法器、乘法器和延迟器</a:t>
            </a:r>
          </a:p>
        </p:txBody>
      </p:sp>
      <p:pic>
        <p:nvPicPr>
          <p:cNvPr id="6" name="Picture 6"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2996952"/>
            <a:ext cx="8108916" cy="3123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4208129" y="6165304"/>
            <a:ext cx="1083951" cy="523220"/>
          </a:xfrm>
          <a:prstGeom prst="rect">
            <a:avLst/>
          </a:prstGeom>
        </p:spPr>
        <p:txBody>
          <a:bodyPr wrap="none">
            <a:spAutoFit/>
          </a:bodyPr>
          <a:lstStyle/>
          <a:p>
            <a:r>
              <a:rPr kumimoji="1" lang="zh-CN" altLang="en-US" sz="2800" b="1" dirty="0">
                <a:solidFill>
                  <a:srgbClr val="000000"/>
                </a:solidFill>
                <a:latin typeface="Times New Roman"/>
                <a:cs typeface="+mj-cs"/>
              </a:rPr>
              <a:t>图</a:t>
            </a:r>
            <a:r>
              <a:rPr kumimoji="1" lang="en-US" altLang="zh-CN" sz="2800" b="1" dirty="0">
                <a:solidFill>
                  <a:srgbClr val="000000"/>
                </a:solidFill>
                <a:latin typeface="Times New Roman"/>
                <a:cs typeface="+mj-cs"/>
              </a:rPr>
              <a:t>6.2 </a:t>
            </a:r>
            <a:endParaRPr lang="zh-CN" altLang="en-US" dirty="0"/>
          </a:p>
        </p:txBody>
      </p:sp>
    </p:spTree>
    <p:extLst>
      <p:ext uri="{BB962C8B-B14F-4D97-AF65-F5344CB8AC3E}">
        <p14:creationId xmlns:p14="http://schemas.microsoft.com/office/powerpoint/2010/main" val="517318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6.1.1 </a:t>
            </a:r>
            <a:r>
              <a:rPr lang="zh-CN" altLang="en-US" sz="3200" b="1" dirty="0">
                <a:solidFill>
                  <a:srgbClr val="993300"/>
                </a:solidFill>
                <a:ea typeface="楷体_GB2312" pitchFamily="49" charset="-122"/>
              </a:rPr>
              <a:t>数字网络的信号流图</a:t>
            </a:r>
          </a:p>
        </p:txBody>
      </p:sp>
      <p:sp>
        <p:nvSpPr>
          <p:cNvPr id="3" name="Text Box 3"/>
          <p:cNvSpPr txBox="1">
            <a:spLocks noChangeArrowheads="1"/>
          </p:cNvSpPr>
          <p:nvPr/>
        </p:nvSpPr>
        <p:spPr bwMode="auto">
          <a:xfrm>
            <a:off x="0" y="947653"/>
            <a:ext cx="3816424"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kumimoji="0" lang="zh-CN" altLang="en-US" sz="2800" dirty="0">
                <a:latin typeface="宋体" panose="02010600030101010101" pitchFamily="2" charset="-122"/>
                <a:ea typeface="宋体" panose="02010600030101010101" pitchFamily="2" charset="-122"/>
              </a:rPr>
              <a:t>以一阶数字滤波器为例</a:t>
            </a:r>
          </a:p>
        </p:txBody>
      </p:sp>
      <p:graphicFrame>
        <p:nvGraphicFramePr>
          <p:cNvPr id="5" name="Object 4"/>
          <p:cNvGraphicFramePr>
            <a:graphicFrameLocks noChangeAspect="1"/>
          </p:cNvGraphicFramePr>
          <p:nvPr>
            <p:extLst>
              <p:ext uri="{D42A27DB-BD31-4B8C-83A1-F6EECF244321}">
                <p14:modId xmlns:p14="http://schemas.microsoft.com/office/powerpoint/2010/main" val="1629050316"/>
              </p:ext>
            </p:extLst>
          </p:nvPr>
        </p:nvGraphicFramePr>
        <p:xfrm>
          <a:off x="3707904" y="981014"/>
          <a:ext cx="5252544" cy="502920"/>
        </p:xfrm>
        <a:graphic>
          <a:graphicData uri="http://schemas.openxmlformats.org/presentationml/2006/ole">
            <mc:AlternateContent xmlns:mc="http://schemas.openxmlformats.org/markup-compatibility/2006">
              <mc:Choice xmlns:v="urn:schemas-microsoft-com:vml" Requires="v">
                <p:oleObj name="Equation" r:id="rId2" imgW="2387520" imgH="228600" progId="Equation.DSMT4">
                  <p:embed/>
                </p:oleObj>
              </mc:Choice>
              <mc:Fallback>
                <p:oleObj name="Equation" r:id="rId2" imgW="2387520" imgH="228600" progId="Equation.DSMT4">
                  <p:embed/>
                  <p:pic>
                    <p:nvPicPr>
                      <p:cNvPr id="19459" name="Object 4"/>
                      <p:cNvPicPr>
                        <a:picLocks noChangeAspect="1" noChangeArrowheads="1"/>
                      </p:cNvPicPr>
                      <p:nvPr/>
                    </p:nvPicPr>
                    <p:blipFill>
                      <a:blip r:embed="rId3"/>
                      <a:srcRect/>
                      <a:stretch>
                        <a:fillRect/>
                      </a:stretch>
                    </p:blipFill>
                    <p:spPr bwMode="auto">
                      <a:xfrm>
                        <a:off x="3707904" y="981014"/>
                        <a:ext cx="5252544"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 name="Picture 6" descr="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2364" y="1556792"/>
            <a:ext cx="6186689" cy="1871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5"/>
          <a:stretch>
            <a:fillRect/>
          </a:stretch>
        </p:blipFill>
        <p:spPr>
          <a:xfrm>
            <a:off x="1043608" y="4311927"/>
            <a:ext cx="6858000" cy="1997393"/>
          </a:xfrm>
          <a:prstGeom prst="rect">
            <a:avLst/>
          </a:prstGeom>
        </p:spPr>
      </p:pic>
      <p:sp>
        <p:nvSpPr>
          <p:cNvPr id="9" name="矩形 8"/>
          <p:cNvSpPr/>
          <p:nvPr/>
        </p:nvSpPr>
        <p:spPr>
          <a:xfrm>
            <a:off x="7092280" y="2905353"/>
            <a:ext cx="1266693" cy="523220"/>
          </a:xfrm>
          <a:prstGeom prst="rect">
            <a:avLst/>
          </a:prstGeom>
        </p:spPr>
        <p:txBody>
          <a:bodyPr wrap="none">
            <a:spAutoFit/>
          </a:bodyPr>
          <a:lstStyle/>
          <a:p>
            <a:r>
              <a:rPr lang="zh-CN" altLang="en-US" sz="2800" b="1" dirty="0">
                <a:solidFill>
                  <a:prstClr val="black"/>
                </a:solidFill>
                <a:latin typeface="宋体" panose="02010600030101010101" pitchFamily="2" charset="-122"/>
              </a:rPr>
              <a:t>方框图</a:t>
            </a:r>
            <a:endParaRPr lang="zh-CN" altLang="en-US" sz="2800" dirty="0">
              <a:solidFill>
                <a:prstClr val="black"/>
              </a:solidFill>
              <a:latin typeface="宋体" panose="02010600030101010101" pitchFamily="2" charset="-122"/>
            </a:endParaRPr>
          </a:p>
        </p:txBody>
      </p:sp>
      <p:sp>
        <p:nvSpPr>
          <p:cNvPr id="10" name="矩形 9"/>
          <p:cNvSpPr/>
          <p:nvPr/>
        </p:nvSpPr>
        <p:spPr>
          <a:xfrm>
            <a:off x="7092280" y="5949280"/>
            <a:ext cx="1627369" cy="523220"/>
          </a:xfrm>
          <a:prstGeom prst="rect">
            <a:avLst/>
          </a:prstGeom>
        </p:spPr>
        <p:txBody>
          <a:bodyPr wrap="none">
            <a:spAutoFit/>
          </a:bodyPr>
          <a:lstStyle/>
          <a:p>
            <a:r>
              <a:rPr lang="zh-CN" altLang="en-US" sz="2800" b="1" dirty="0">
                <a:solidFill>
                  <a:prstClr val="black"/>
                </a:solidFill>
                <a:latin typeface="宋体" panose="02010600030101010101" pitchFamily="2" charset="-122"/>
              </a:rPr>
              <a:t>信号流图</a:t>
            </a:r>
            <a:endParaRPr lang="zh-CN" altLang="en-US" sz="2800" dirty="0">
              <a:latin typeface="宋体" panose="02010600030101010101" pitchFamily="2" charset="-122"/>
            </a:endParaRPr>
          </a:p>
        </p:txBody>
      </p:sp>
      <p:sp>
        <p:nvSpPr>
          <p:cNvPr id="12" name="矩形 11"/>
          <p:cNvSpPr/>
          <p:nvPr/>
        </p:nvSpPr>
        <p:spPr>
          <a:xfrm>
            <a:off x="827584" y="3769876"/>
            <a:ext cx="7531389" cy="52322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black"/>
                </a:solidFill>
                <a:effectLst/>
                <a:uLnTx/>
                <a:uFillTx/>
                <a:latin typeface="宋体" panose="02010600030101010101" pitchFamily="2" charset="-122"/>
              </a:rPr>
              <a:t>简便</a:t>
            </a:r>
            <a:r>
              <a:rPr lang="zh-CN" altLang="en-US" sz="2800" b="1" kern="0" dirty="0">
                <a:solidFill>
                  <a:prstClr val="black"/>
                </a:solidFill>
                <a:latin typeface="宋体" panose="02010600030101010101" pitchFamily="2" charset="-122"/>
              </a:rPr>
              <a:t>起见，运算结构常用</a:t>
            </a:r>
            <a:r>
              <a:rPr kumimoji="0" lang="zh-CN" altLang="en-US" sz="2800" b="1" i="0" u="none" strike="noStrike" kern="0" cap="none" spc="0" normalizeH="0" baseline="0" noProof="0" dirty="0">
                <a:ln>
                  <a:noFill/>
                </a:ln>
                <a:solidFill>
                  <a:prstClr val="black"/>
                </a:solidFill>
                <a:effectLst/>
                <a:uLnTx/>
                <a:uFillTx/>
                <a:latin typeface="宋体" panose="02010600030101010101" pitchFamily="2" charset="-122"/>
              </a:rPr>
              <a:t>信号流图来表示。</a:t>
            </a:r>
            <a:endParaRPr kumimoji="0" lang="zh-CN" altLang="en-US" sz="1800" b="0" i="0" u="none" strike="noStrike" kern="0" cap="none" spc="0" normalizeH="0" baseline="0" noProof="0" dirty="0">
              <a:ln>
                <a:noFill/>
              </a:ln>
              <a:solidFill>
                <a:sysClr val="windowText" lastClr="000000"/>
              </a:solidFill>
              <a:effectLst/>
              <a:uLnTx/>
              <a:uFillTx/>
              <a:latin typeface="宋体" panose="02010600030101010101" pitchFamily="2" charset="-122"/>
            </a:endParaRPr>
          </a:p>
        </p:txBody>
      </p:sp>
      <p:sp>
        <p:nvSpPr>
          <p:cNvPr id="13" name="矩形 12"/>
          <p:cNvSpPr/>
          <p:nvPr/>
        </p:nvSpPr>
        <p:spPr>
          <a:xfrm>
            <a:off x="3825058" y="6309320"/>
            <a:ext cx="1083951" cy="523220"/>
          </a:xfrm>
          <a:prstGeom prst="rect">
            <a:avLst/>
          </a:prstGeom>
        </p:spPr>
        <p:txBody>
          <a:bodyPr wrap="none">
            <a:spAutoFit/>
          </a:bodyPr>
          <a:lstStyle/>
          <a:p>
            <a:r>
              <a:rPr kumimoji="1" lang="zh-CN" altLang="en-US" sz="2800" b="1" dirty="0">
                <a:solidFill>
                  <a:srgbClr val="000000"/>
                </a:solidFill>
                <a:latin typeface="Times New Roman"/>
                <a:cs typeface="+mj-cs"/>
              </a:rPr>
              <a:t>图</a:t>
            </a:r>
            <a:r>
              <a:rPr kumimoji="1" lang="en-US" altLang="zh-CN" sz="2800" b="1" dirty="0">
                <a:solidFill>
                  <a:srgbClr val="000000"/>
                </a:solidFill>
                <a:latin typeface="Times New Roman"/>
                <a:cs typeface="+mj-cs"/>
              </a:rPr>
              <a:t>6.3 </a:t>
            </a:r>
            <a:endParaRPr lang="zh-CN" altLang="en-US" dirty="0"/>
          </a:p>
        </p:txBody>
      </p:sp>
    </p:spTree>
    <p:extLst>
      <p:ext uri="{BB962C8B-B14F-4D97-AF65-F5344CB8AC3E}">
        <p14:creationId xmlns:p14="http://schemas.microsoft.com/office/powerpoint/2010/main" val="180070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p:nvPr/>
        </p:nvSpPr>
        <p:spPr>
          <a:xfrm>
            <a:off x="395536" y="1407446"/>
            <a:ext cx="7993062" cy="54314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algn="just" eaLnBrk="1" hangingPunct="1">
              <a:lnSpc>
                <a:spcPct val="110000"/>
              </a:lnSpc>
              <a:spcBef>
                <a:spcPct val="0"/>
              </a:spcBef>
              <a:spcAft>
                <a:spcPct val="20000"/>
              </a:spcAft>
              <a:buNone/>
            </a:pPr>
            <a:r>
              <a:rPr lang="zh-CN" altLang="en-US" sz="2800" dirty="0">
                <a:solidFill>
                  <a:schemeClr val="tx2"/>
                </a:solidFill>
              </a:rPr>
              <a:t>信号流图：</a:t>
            </a:r>
            <a:endParaRPr lang="en-US" altLang="zh-CN" sz="2800" dirty="0">
              <a:solidFill>
                <a:schemeClr val="tx2"/>
              </a:solidFill>
            </a:endParaRPr>
          </a:p>
          <a:p>
            <a:pPr marL="0" lvl="0" indent="0" algn="just" eaLnBrk="1" hangingPunct="1">
              <a:lnSpc>
                <a:spcPct val="110000"/>
              </a:lnSpc>
              <a:spcBef>
                <a:spcPct val="0"/>
              </a:spcBef>
              <a:spcAft>
                <a:spcPct val="20000"/>
              </a:spcAft>
              <a:buNone/>
            </a:pPr>
            <a:r>
              <a:rPr lang="en-US" altLang="zh-CN" sz="2800" dirty="0">
                <a:solidFill>
                  <a:schemeClr val="tx2"/>
                </a:solidFill>
              </a:rPr>
              <a:t>    </a:t>
            </a:r>
            <a:r>
              <a:rPr lang="zh-CN" altLang="en-US" sz="2800" dirty="0">
                <a:solidFill>
                  <a:schemeClr val="tx2"/>
                </a:solidFill>
              </a:rPr>
              <a:t>由许多节点和各节点间的定向支路连成的网络。</a:t>
            </a:r>
            <a:endParaRPr lang="en-US" altLang="zh-CN" sz="2800" dirty="0">
              <a:solidFill>
                <a:schemeClr val="tx2"/>
              </a:solidFill>
            </a:endParaRPr>
          </a:p>
          <a:p>
            <a:pPr marL="0" lvl="0" indent="0" algn="just" eaLnBrk="1" hangingPunct="1">
              <a:lnSpc>
                <a:spcPct val="110000"/>
              </a:lnSpc>
              <a:spcBef>
                <a:spcPct val="0"/>
              </a:spcBef>
              <a:spcAft>
                <a:spcPct val="20000"/>
              </a:spcAft>
              <a:buNone/>
            </a:pPr>
            <a:r>
              <a:rPr lang="zh-CN" altLang="en-US" sz="2800" dirty="0">
                <a:solidFill>
                  <a:schemeClr val="tx2"/>
                </a:solidFill>
              </a:rPr>
              <a:t>通路</a:t>
            </a:r>
          </a:p>
          <a:p>
            <a:pPr marL="457200" lvl="1" indent="0" algn="just" eaLnBrk="1" hangingPunct="1">
              <a:lnSpc>
                <a:spcPct val="110000"/>
              </a:lnSpc>
              <a:spcBef>
                <a:spcPct val="0"/>
              </a:spcBef>
              <a:spcAft>
                <a:spcPct val="20000"/>
              </a:spcAft>
              <a:buNone/>
            </a:pPr>
            <a:r>
              <a:rPr lang="zh-CN" altLang="en-US" sz="2800" dirty="0"/>
              <a:t>是指从源点到阱点之间沿着箭头方向的连续的一串支路，</a:t>
            </a:r>
            <a:r>
              <a:rPr lang="zh-CN" altLang="en-US" sz="2800" dirty="0">
                <a:solidFill>
                  <a:srgbClr val="0000CC"/>
                </a:solidFill>
              </a:rPr>
              <a:t>通路增益</a:t>
            </a:r>
            <a:r>
              <a:rPr lang="zh-CN" altLang="en-US" sz="2800" dirty="0"/>
              <a:t>是该通路上各支路增益的乘积。</a:t>
            </a:r>
          </a:p>
          <a:p>
            <a:pPr marL="0" lvl="0" indent="0" algn="just" eaLnBrk="1" hangingPunct="1">
              <a:lnSpc>
                <a:spcPct val="110000"/>
              </a:lnSpc>
              <a:spcBef>
                <a:spcPct val="50000"/>
              </a:spcBef>
              <a:spcAft>
                <a:spcPct val="20000"/>
              </a:spcAft>
              <a:buNone/>
            </a:pPr>
            <a:r>
              <a:rPr lang="zh-CN" altLang="en-US" sz="2800" dirty="0">
                <a:solidFill>
                  <a:schemeClr val="tx2"/>
                </a:solidFill>
              </a:rPr>
              <a:t>回路</a:t>
            </a:r>
          </a:p>
          <a:p>
            <a:pPr marL="457200" lvl="1" indent="0" algn="just" eaLnBrk="1" hangingPunct="1">
              <a:lnSpc>
                <a:spcPct val="110000"/>
              </a:lnSpc>
              <a:spcBef>
                <a:spcPct val="0"/>
              </a:spcBef>
              <a:spcAft>
                <a:spcPct val="20000"/>
              </a:spcAft>
              <a:buNone/>
            </a:pPr>
            <a:r>
              <a:rPr lang="zh-CN" altLang="en-US" sz="2800" dirty="0"/>
              <a:t>是指从一个节点出发沿着支路箭头方向到达同一个节点的</a:t>
            </a:r>
            <a:r>
              <a:rPr lang="zh-CN" altLang="en-US" sz="2800" dirty="0">
                <a:solidFill>
                  <a:srgbClr val="0000CC"/>
                </a:solidFill>
              </a:rPr>
              <a:t>闭合</a:t>
            </a:r>
            <a:r>
              <a:rPr lang="zh-CN" altLang="en-US" sz="2800" dirty="0"/>
              <a:t>通路，它是系统中的反馈回路。</a:t>
            </a:r>
            <a:r>
              <a:rPr lang="zh-CN" altLang="en-US" sz="2800" dirty="0">
                <a:solidFill>
                  <a:srgbClr val="0000CC"/>
                </a:solidFill>
              </a:rPr>
              <a:t>回路增益</a:t>
            </a:r>
            <a:r>
              <a:rPr lang="zh-CN" altLang="en-US" sz="2800" dirty="0"/>
              <a:t>是该回路上所有支路增益的乘积。</a:t>
            </a:r>
          </a:p>
        </p:txBody>
      </p:sp>
      <p:pic>
        <p:nvPicPr>
          <p:cNvPr id="2" name="图片 1">
            <a:extLst>
              <a:ext uri="{FF2B5EF4-FFF2-40B4-BE49-F238E27FC236}">
                <a16:creationId xmlns:a16="http://schemas.microsoft.com/office/drawing/2014/main" id="{147E74D0-63F5-8C34-186C-DFBA2838C116}"/>
              </a:ext>
            </a:extLst>
          </p:cNvPr>
          <p:cNvPicPr>
            <a:picLocks noChangeAspect="1"/>
          </p:cNvPicPr>
          <p:nvPr/>
        </p:nvPicPr>
        <p:blipFill>
          <a:blip r:embed="rId2"/>
          <a:stretch>
            <a:fillRect/>
          </a:stretch>
        </p:blipFill>
        <p:spPr>
          <a:xfrm>
            <a:off x="2267744" y="24138"/>
            <a:ext cx="5839683" cy="17008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683568" y="908720"/>
            <a:ext cx="813690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76225" eaLnBrk="0" hangingPunct="0">
              <a:tabLst>
                <a:tab pos="44450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4445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4445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44450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44450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44450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44450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44450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444500" algn="l"/>
              </a:tabLst>
              <a:defRPr kumimoji="1" sz="2400">
                <a:solidFill>
                  <a:schemeClr val="tx1"/>
                </a:solidFill>
                <a:latin typeface="Times New Roman" panose="02020603050405020304" pitchFamily="18" charset="0"/>
                <a:ea typeface="宋体" panose="02010600030101010101" pitchFamily="2" charset="-122"/>
              </a:defRPr>
            </a:lvl9pPr>
          </a:lstStyle>
          <a:p>
            <a:pPr indent="0" algn="just" eaLnBrk="1" hangingPunct="1">
              <a:lnSpc>
                <a:spcPct val="125000"/>
              </a:lnSpc>
              <a:spcAft>
                <a:spcPts val="0"/>
              </a:spcAft>
            </a:pPr>
            <a:r>
              <a:rPr lang="zh-CN" altLang="en-US" sz="2800" b="1" dirty="0">
                <a:solidFill>
                  <a:srgbClr val="000000"/>
                </a:solidFill>
                <a:latin typeface="宋体" panose="02010600030101010101" pitchFamily="2" charset="-122"/>
              </a:rPr>
              <a:t>信号流图的</a:t>
            </a:r>
            <a:r>
              <a:rPr lang="zh-CN" altLang="en-US" sz="2800" b="1" dirty="0">
                <a:solidFill>
                  <a:srgbClr val="C00000"/>
                </a:solidFill>
                <a:latin typeface="宋体" panose="02010600030101010101" pitchFamily="2" charset="-122"/>
              </a:rPr>
              <a:t>转置定理</a:t>
            </a:r>
            <a:r>
              <a:rPr lang="zh-CN" altLang="en-US" sz="2800" b="1" dirty="0">
                <a:solidFill>
                  <a:srgbClr val="000000"/>
                </a:solidFill>
                <a:latin typeface="宋体" panose="02010600030101010101" pitchFamily="2" charset="-122"/>
              </a:rPr>
              <a:t>：</a:t>
            </a:r>
          </a:p>
          <a:p>
            <a:pPr indent="0" algn="just">
              <a:lnSpc>
                <a:spcPct val="125000"/>
              </a:lnSpc>
              <a:spcAft>
                <a:spcPts val="0"/>
              </a:spcAft>
            </a:pPr>
            <a:r>
              <a:rPr lang="zh-CN" altLang="en-US" sz="2800" b="1" dirty="0">
                <a:solidFill>
                  <a:srgbClr val="000000"/>
                </a:solidFill>
                <a:latin typeface="宋体" panose="02010600030101010101" pitchFamily="2" charset="-122"/>
              </a:rPr>
              <a:t>对于单个输入、单个输出的系统，通过反转网络中的全部支路的方向，并且将其输入和输出互换，得出的流图具有与原始流图相同的系统函数。</a:t>
            </a:r>
            <a:endParaRPr lang="zh-CN" altLang="en-US" sz="2800" dirty="0">
              <a:solidFill>
                <a:srgbClr val="000000"/>
              </a:solidFill>
              <a:latin typeface="宋体" panose="02010600030101010101" pitchFamily="2" charset="-122"/>
            </a:endParaRPr>
          </a:p>
        </p:txBody>
      </p:sp>
      <p:pic>
        <p:nvPicPr>
          <p:cNvPr id="5" name="Picture 14" descr="fig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22586"/>
          <a:stretch>
            <a:fillRect/>
          </a:stretch>
        </p:blipFill>
        <p:spPr>
          <a:xfrm>
            <a:off x="323528" y="3356992"/>
            <a:ext cx="8355330" cy="2220953"/>
          </a:xfrm>
          <a:noFill/>
        </p:spPr>
      </p:pic>
      <p:sp>
        <p:nvSpPr>
          <p:cNvPr id="6" name="矩形 5"/>
          <p:cNvSpPr/>
          <p:nvPr/>
        </p:nvSpPr>
        <p:spPr>
          <a:xfrm>
            <a:off x="1835696" y="5714092"/>
            <a:ext cx="6264696" cy="523220"/>
          </a:xfrm>
          <a:prstGeom prst="rect">
            <a:avLst/>
          </a:prstGeom>
        </p:spPr>
        <p:txBody>
          <a:bodyPr wrap="square">
            <a:spAutoFit/>
          </a:bodyPr>
          <a:lstStyle/>
          <a:p>
            <a:r>
              <a:rPr kumimoji="1" lang="zh-CN" altLang="en-US" sz="2800" b="1" dirty="0">
                <a:solidFill>
                  <a:srgbClr val="000000"/>
                </a:solidFill>
                <a:latin typeface="Times New Roman"/>
                <a:cs typeface="+mj-cs"/>
              </a:rPr>
              <a:t>图</a:t>
            </a:r>
            <a:r>
              <a:rPr kumimoji="1" lang="en-US" altLang="zh-CN" sz="2800" b="1" dirty="0">
                <a:solidFill>
                  <a:srgbClr val="000000"/>
                </a:solidFill>
                <a:latin typeface="Times New Roman"/>
                <a:cs typeface="+mj-cs"/>
              </a:rPr>
              <a:t>6.4  </a:t>
            </a:r>
            <a:r>
              <a:rPr kumimoji="1" lang="zh-CN" altLang="en-US" sz="2800" b="1" dirty="0">
                <a:solidFill>
                  <a:srgbClr val="000000"/>
                </a:solidFill>
                <a:latin typeface="Times New Roman"/>
              </a:rPr>
              <a:t>图</a:t>
            </a:r>
            <a:r>
              <a:rPr kumimoji="1" lang="en-US" altLang="zh-CN" sz="2800" b="1" dirty="0">
                <a:solidFill>
                  <a:srgbClr val="000000"/>
                </a:solidFill>
                <a:latin typeface="Times New Roman"/>
              </a:rPr>
              <a:t>6.3</a:t>
            </a:r>
            <a:r>
              <a:rPr kumimoji="1" lang="zh-CN" altLang="en-US" sz="2800" b="1" dirty="0">
                <a:solidFill>
                  <a:srgbClr val="000000"/>
                </a:solidFill>
                <a:latin typeface="Times New Roman"/>
              </a:rPr>
              <a:t>所示信号流图的转置形式</a:t>
            </a:r>
            <a:r>
              <a:rPr kumimoji="1" lang="en-US" altLang="zh-CN" sz="2800" b="1" dirty="0">
                <a:solidFill>
                  <a:srgbClr val="000000"/>
                </a:solidFill>
                <a:latin typeface="Times New Roman"/>
              </a:rPr>
              <a:t>  </a:t>
            </a:r>
            <a:endParaRPr lang="zh-CN" altLang="en-US" sz="2800" dirty="0"/>
          </a:p>
        </p:txBody>
      </p:sp>
      <p:sp>
        <p:nvSpPr>
          <p:cNvPr id="8"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6.1.1 </a:t>
            </a:r>
            <a:r>
              <a:rPr lang="zh-CN" altLang="en-US" sz="3200" b="1" dirty="0">
                <a:solidFill>
                  <a:srgbClr val="993300"/>
                </a:solidFill>
                <a:ea typeface="楷体_GB2312" pitchFamily="49" charset="-122"/>
              </a:rPr>
              <a:t>数字网络的信号流图</a:t>
            </a:r>
          </a:p>
        </p:txBody>
      </p:sp>
    </p:spTree>
    <p:extLst>
      <p:ext uri="{BB962C8B-B14F-4D97-AF65-F5344CB8AC3E}">
        <p14:creationId xmlns:p14="http://schemas.microsoft.com/office/powerpoint/2010/main" val="1794258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755650" y="188913"/>
            <a:ext cx="7772400" cy="719137"/>
          </a:xfrm>
          <a:ln/>
        </p:spPr>
        <p:txBody>
          <a:bodyPr vert="horz" wrap="square" lIns="91440" tIns="45720" rIns="91440" bIns="45720" anchor="b" anchorCtr="0"/>
          <a:lstStyle/>
          <a:p>
            <a:pPr eaLnBrk="1" hangingPunct="1"/>
            <a:r>
              <a:rPr lang="zh-CN" altLang="en-US" sz="3600" dirty="0"/>
              <a:t>信号流图转置的作用</a:t>
            </a:r>
          </a:p>
        </p:txBody>
      </p:sp>
      <p:sp>
        <p:nvSpPr>
          <p:cNvPr id="24579" name="Rectangle 3"/>
          <p:cNvSpPr/>
          <p:nvPr/>
        </p:nvSpPr>
        <p:spPr>
          <a:xfrm>
            <a:off x="323850" y="1681163"/>
            <a:ext cx="8229600" cy="19224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a:lnSpc>
                <a:spcPct val="115000"/>
              </a:lnSpc>
              <a:spcBef>
                <a:spcPct val="0"/>
              </a:spcBef>
              <a:spcAft>
                <a:spcPct val="40000"/>
              </a:spcAft>
              <a:buNone/>
            </a:pPr>
            <a:r>
              <a:rPr lang="en-US" altLang="zh-CN" sz="2800" dirty="0"/>
              <a:t>    ①</a:t>
            </a:r>
            <a:r>
              <a:rPr lang="zh-CN" altLang="en-US" sz="2800" dirty="0"/>
              <a:t>转变运算结构；</a:t>
            </a:r>
            <a:endParaRPr lang="en-US" altLang="zh-CN" sz="2800" dirty="0"/>
          </a:p>
          <a:p>
            <a:pPr marL="0" lvl="0" indent="0">
              <a:lnSpc>
                <a:spcPct val="115000"/>
              </a:lnSpc>
              <a:spcBef>
                <a:spcPct val="0"/>
              </a:spcBef>
              <a:spcAft>
                <a:spcPct val="40000"/>
              </a:spcAft>
              <a:buNone/>
            </a:pPr>
            <a:endParaRPr lang="zh-CN" altLang="en-US" sz="2800" dirty="0"/>
          </a:p>
          <a:p>
            <a:pPr marL="0" lvl="0" indent="0">
              <a:lnSpc>
                <a:spcPct val="115000"/>
              </a:lnSpc>
              <a:spcBef>
                <a:spcPct val="0"/>
              </a:spcBef>
              <a:spcAft>
                <a:spcPct val="40000"/>
              </a:spcAft>
              <a:buNone/>
            </a:pPr>
            <a:r>
              <a:rPr lang="zh-CN" altLang="en-US" sz="2800" dirty="0"/>
              <a:t>    ②验证计算流图的系统函数的正确与否。</a:t>
            </a:r>
            <a:endParaRPr lang="en-US" altLang="zh-C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p:cNvSpPr>
            <a:spLocks noGrp="1"/>
          </p:cNvSpPr>
          <p:nvPr>
            <p:ph idx="1"/>
          </p:nvPr>
        </p:nvSpPr>
        <p:spPr>
          <a:xfrm>
            <a:off x="539552" y="1124744"/>
            <a:ext cx="7772400" cy="4114800"/>
          </a:xfrm>
          <a:ln/>
        </p:spPr>
        <p:txBody>
          <a:bodyPr vert="horz" wrap="square" lIns="91440" tIns="45720" rIns="91440" bIns="45720" anchor="t" anchorCtr="0"/>
          <a:lstStyle/>
          <a:p>
            <a:pPr marL="0" indent="0">
              <a:lnSpc>
                <a:spcPct val="115000"/>
              </a:lnSpc>
              <a:spcAft>
                <a:spcPct val="40000"/>
              </a:spcAft>
              <a:buNone/>
            </a:pPr>
            <a:r>
              <a:rPr lang="en-US" altLang="zh-CN" dirty="0">
                <a:latin typeface="Times New Roman" panose="02020603050405020304" pitchFamily="18" charset="0"/>
                <a:cs typeface="Times New Roman" panose="02020603050405020304" pitchFamily="18" charset="0"/>
              </a:rPr>
              <a:t>       </a:t>
            </a:r>
            <a:r>
              <a:rPr lang="zh-CN" altLang="en-US" b="1" dirty="0">
                <a:solidFill>
                  <a:srgbClr val="0000CC"/>
                </a:solidFill>
                <a:latin typeface="Times New Roman" panose="02020603050405020304" pitchFamily="18" charset="0"/>
                <a:cs typeface="Times New Roman" panose="02020603050405020304" pitchFamily="18" charset="0"/>
              </a:rPr>
              <a:t>运算结构</a:t>
            </a:r>
            <a:r>
              <a:rPr lang="zh-CN" altLang="en-US" b="1" dirty="0">
                <a:latin typeface="Times New Roman" panose="02020603050405020304" pitchFamily="18" charset="0"/>
                <a:cs typeface="Times New Roman" panose="02020603050405020304" pitchFamily="18" charset="0"/>
              </a:rPr>
              <a:t>对滤波器的实现很重要，尤其对于一些定点运算的处理机，结构的不同将会影响系统的</a:t>
            </a:r>
            <a:r>
              <a:rPr lang="zh-CN" altLang="en-US" b="1" dirty="0">
                <a:solidFill>
                  <a:srgbClr val="0000CC"/>
                </a:solidFill>
                <a:latin typeface="Times New Roman" panose="02020603050405020304" pitchFamily="18" charset="0"/>
                <a:cs typeface="Times New Roman" panose="02020603050405020304" pitchFamily="18" charset="0"/>
              </a:rPr>
              <a:t>精度</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00CC"/>
                </a:solidFill>
                <a:latin typeface="Times New Roman" panose="02020603050405020304" pitchFamily="18" charset="0"/>
                <a:cs typeface="Times New Roman" panose="02020603050405020304" pitchFamily="18" charset="0"/>
              </a:rPr>
              <a:t>误差</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00CC"/>
                </a:solidFill>
                <a:latin typeface="Times New Roman" panose="02020603050405020304" pitchFamily="18" charset="0"/>
                <a:cs typeface="Times New Roman" panose="02020603050405020304" pitchFamily="18" charset="0"/>
              </a:rPr>
              <a:t>稳定性</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00CC"/>
                </a:solidFill>
                <a:latin typeface="Times New Roman" panose="02020603050405020304" pitchFamily="18" charset="0"/>
                <a:cs typeface="Times New Roman" panose="02020603050405020304" pitchFamily="18" charset="0"/>
              </a:rPr>
              <a:t>经济性</a:t>
            </a:r>
            <a:r>
              <a:rPr lang="zh-CN" altLang="en-US" b="1" dirty="0">
                <a:latin typeface="Times New Roman" panose="02020603050405020304" pitchFamily="18" charset="0"/>
                <a:cs typeface="Times New Roman" panose="02020603050405020304" pitchFamily="18" charset="0"/>
              </a:rPr>
              <a:t>以及</a:t>
            </a:r>
            <a:r>
              <a:rPr lang="zh-CN" altLang="en-US" b="1" dirty="0">
                <a:solidFill>
                  <a:srgbClr val="0000CC"/>
                </a:solidFill>
                <a:latin typeface="Times New Roman" panose="02020603050405020304" pitchFamily="18" charset="0"/>
                <a:cs typeface="Times New Roman" panose="02020603050405020304" pitchFamily="18" charset="0"/>
              </a:rPr>
              <a:t>运算速度</a:t>
            </a:r>
            <a:r>
              <a:rPr lang="zh-CN" altLang="en-US" b="1" dirty="0">
                <a:latin typeface="Times New Roman" panose="02020603050405020304" pitchFamily="18" charset="0"/>
                <a:cs typeface="Times New Roman" panose="02020603050405020304" pitchFamily="18" charset="0"/>
              </a:rPr>
              <a:t>等许多重要的性能。</a:t>
            </a:r>
          </a:p>
          <a:p>
            <a:pPr marL="0" indent="0">
              <a:lnSpc>
                <a:spcPct val="115000"/>
              </a:lnSpc>
              <a:buNone/>
            </a:pPr>
            <a:r>
              <a:rPr lang="zh-CN" altLang="en-US" b="1" dirty="0">
                <a:latin typeface="Times New Roman" panose="02020603050405020304" pitchFamily="18" charset="0"/>
                <a:cs typeface="Times New Roman" panose="02020603050405020304" pitchFamily="18" charset="0"/>
              </a:rPr>
              <a:t>       对于无限长单位冲激响应（</a:t>
            </a:r>
            <a:r>
              <a:rPr lang="en-US" altLang="zh-CN" b="1" dirty="0">
                <a:latin typeface="Times New Roman" panose="02020603050405020304" pitchFamily="18" charset="0"/>
                <a:cs typeface="Times New Roman" panose="02020603050405020304" pitchFamily="18" charset="0"/>
              </a:rPr>
              <a:t>IIR</a:t>
            </a:r>
            <a:r>
              <a:rPr lang="zh-CN" altLang="en-US" b="1" dirty="0">
                <a:latin typeface="Times New Roman" panose="02020603050405020304" pitchFamily="18" charset="0"/>
                <a:cs typeface="Times New Roman" panose="02020603050405020304" pitchFamily="18" charset="0"/>
              </a:rPr>
              <a:t>）数字滤波器与</a:t>
            </a:r>
            <a:r>
              <a:rPr lang="en-US" altLang="zh-CN" b="1" dirty="0">
                <a:latin typeface="Times New Roman" panose="02020603050405020304" pitchFamily="18" charset="0"/>
                <a:cs typeface="Times New Roman" panose="02020603050405020304" pitchFamily="18" charset="0"/>
              </a:rPr>
              <a:t>FIR</a:t>
            </a:r>
            <a:r>
              <a:rPr lang="zh-CN" altLang="en-US" b="1" dirty="0">
                <a:latin typeface="Times New Roman" panose="02020603050405020304" pitchFamily="18" charset="0"/>
                <a:cs typeface="Times New Roman" panose="02020603050405020304" pitchFamily="18" charset="0"/>
              </a:rPr>
              <a:t>数字滤波器，它们在结构上各有自己不同的特点</a:t>
            </a:r>
            <a:endParaRPr lang="zh-CN" altLang="en-US" b="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609600" y="0"/>
            <a:ext cx="7772400" cy="76200"/>
          </a:xfrm>
          <a:ln/>
        </p:spPr>
        <p:txBody>
          <a:bodyPr vert="horz" wrap="square" lIns="91440" tIns="45720" rIns="91440" bIns="45720" anchor="b" anchorCtr="0"/>
          <a:lstStyle/>
          <a:p>
            <a:pPr eaLnBrk="1" hangingPunct="1"/>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ea typeface="Times New Roman" panose="02020603050405020304" pitchFamily="18" charset="0"/>
            </a:endParaRPr>
          </a:p>
        </p:txBody>
      </p:sp>
      <p:graphicFrame>
        <p:nvGraphicFramePr>
          <p:cNvPr id="25603" name="Object 3"/>
          <p:cNvGraphicFramePr>
            <a:graphicFrameLocks noChangeAspect="1"/>
          </p:cNvGraphicFramePr>
          <p:nvPr/>
        </p:nvGraphicFramePr>
        <p:xfrm>
          <a:off x="2133600" y="5373688"/>
          <a:ext cx="5235575" cy="1125537"/>
        </p:xfrm>
        <a:graphic>
          <a:graphicData uri="http://schemas.openxmlformats.org/presentationml/2006/ole">
            <mc:AlternateContent xmlns:mc="http://schemas.openxmlformats.org/markup-compatibility/2006">
              <mc:Choice xmlns:v="urn:schemas-microsoft-com:vml" Requires="v">
                <p:oleObj r:id="rId2" imgW="2006600" imgH="431800" progId="Equation.DSMT4">
                  <p:embed/>
                </p:oleObj>
              </mc:Choice>
              <mc:Fallback>
                <p:oleObj r:id="rId2" imgW="2006600" imgH="431800" progId="Equation.DSMT4">
                  <p:embed/>
                  <p:pic>
                    <p:nvPicPr>
                      <p:cNvPr id="25603" name="Object 3"/>
                      <p:cNvPicPr/>
                      <p:nvPr/>
                    </p:nvPicPr>
                    <p:blipFill>
                      <a:blip r:embed="rId3"/>
                      <a:stretch>
                        <a:fillRect/>
                      </a:stretch>
                    </p:blipFill>
                    <p:spPr>
                      <a:xfrm>
                        <a:off x="2133600" y="5373688"/>
                        <a:ext cx="5235575" cy="1125537"/>
                      </a:xfrm>
                      <a:prstGeom prst="rect">
                        <a:avLst/>
                      </a:prstGeom>
                      <a:noFill/>
                      <a:ln w="38100">
                        <a:noFill/>
                        <a:miter/>
                      </a:ln>
                    </p:spPr>
                  </p:pic>
                </p:oleObj>
              </mc:Fallback>
            </mc:AlternateContent>
          </a:graphicData>
        </a:graphic>
      </p:graphicFrame>
      <p:sp>
        <p:nvSpPr>
          <p:cNvPr id="25604" name="Text Box 4"/>
          <p:cNvSpPr txBox="1"/>
          <p:nvPr/>
        </p:nvSpPr>
        <p:spPr>
          <a:xfrm>
            <a:off x="468313" y="1412875"/>
            <a:ext cx="8135937" cy="4013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lnSpc>
                <a:spcPct val="115000"/>
              </a:lnSpc>
              <a:spcBef>
                <a:spcPct val="0"/>
              </a:spcBef>
              <a:spcAft>
                <a:spcPct val="30000"/>
              </a:spcAft>
              <a:buNone/>
            </a:pPr>
            <a:r>
              <a:rPr lang="en-US" altLang="zh-CN" sz="2800" dirty="0">
                <a:latin typeface="Times New Roman" panose="02020603050405020304" pitchFamily="18" charset="0"/>
                <a:cs typeface="Times New Roman" panose="02020603050405020304" pitchFamily="18" charset="0"/>
              </a:rPr>
              <a:t>IIR</a:t>
            </a:r>
            <a:r>
              <a:rPr lang="zh-CN" altLang="en-US" sz="2800" dirty="0">
                <a:latin typeface="Times New Roman" panose="02020603050405020304" pitchFamily="18" charset="0"/>
                <a:cs typeface="Times New Roman" panose="02020603050405020304" pitchFamily="18" charset="0"/>
              </a:rPr>
              <a:t>数字滤波器的结构特点：</a:t>
            </a:r>
            <a:endParaRPr lang="en-US" altLang="zh-CN" sz="2800" dirty="0">
              <a:latin typeface="Times New Roman" panose="02020603050405020304" pitchFamily="18" charset="0"/>
              <a:cs typeface="Times New Roman" panose="02020603050405020304" pitchFamily="18" charset="0"/>
            </a:endParaRPr>
          </a:p>
          <a:p>
            <a:pPr marL="0" lvl="0" indent="0" eaLnBrk="1" hangingPunct="1">
              <a:lnSpc>
                <a:spcPct val="115000"/>
              </a:lnSpc>
              <a:spcBef>
                <a:spcPct val="0"/>
              </a:spcBef>
              <a:spcAft>
                <a:spcPct val="30000"/>
              </a:spcAft>
              <a:buNone/>
            </a:pP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有反馈环路，</a:t>
            </a:r>
            <a:r>
              <a:rPr lang="zh-CN" altLang="en-US" sz="2800" dirty="0">
                <a:solidFill>
                  <a:schemeClr val="tx2"/>
                </a:solidFill>
                <a:latin typeface="Times New Roman" panose="02020603050405020304" pitchFamily="18" charset="0"/>
                <a:cs typeface="Times New Roman" panose="02020603050405020304" pitchFamily="18" charset="0"/>
              </a:rPr>
              <a:t>递归型</a:t>
            </a:r>
            <a:r>
              <a:rPr lang="zh-CN" altLang="en-US" sz="2800" dirty="0">
                <a:latin typeface="Times New Roman" panose="02020603050405020304" pitchFamily="18" charset="0"/>
                <a:cs typeface="Times New Roman" panose="02020603050405020304" pitchFamily="18" charset="0"/>
              </a:rPr>
              <a:t>结构</a:t>
            </a:r>
          </a:p>
          <a:p>
            <a:pPr marL="0" lvl="0" indent="0" eaLnBrk="1" hangingPunct="1">
              <a:lnSpc>
                <a:spcPct val="115000"/>
              </a:lnSpc>
              <a:spcAft>
                <a:spcPct val="30000"/>
              </a:spcAft>
              <a:buNone/>
            </a:pPr>
            <a:r>
              <a:rPr lang="zh-CN" altLang="en-US" sz="2800" dirty="0">
                <a:latin typeface="Times New Roman" panose="02020603050405020304" pitchFamily="18" charset="0"/>
                <a:cs typeface="Times New Roman" panose="02020603050405020304" pitchFamily="18" charset="0"/>
              </a:rPr>
              <a:t>  同一系统函数，有各种不同的结构形式。其主要结构有：</a:t>
            </a:r>
            <a:r>
              <a:rPr lang="zh-CN" altLang="en-US" sz="2800" dirty="0">
                <a:solidFill>
                  <a:srgbClr val="0000CC"/>
                </a:solidFill>
                <a:latin typeface="Times New Roman" panose="02020603050405020304" pitchFamily="18" charset="0"/>
                <a:cs typeface="Times New Roman" panose="02020603050405020304" pitchFamily="18" charset="0"/>
              </a:rPr>
              <a:t>直接型（</a:t>
            </a:r>
            <a:r>
              <a:rPr lang="en-US" altLang="zh-CN" sz="2800" dirty="0">
                <a:solidFill>
                  <a:srgbClr val="0000CC"/>
                </a:solidFill>
                <a:latin typeface="Times New Roman" panose="02020603050405020304" pitchFamily="18" charset="0"/>
                <a:cs typeface="Times New Roman" panose="02020603050405020304" pitchFamily="18" charset="0"/>
              </a:rPr>
              <a:t>I</a:t>
            </a:r>
            <a:r>
              <a:rPr lang="zh-CN" altLang="en-US" sz="2800" dirty="0">
                <a:solidFill>
                  <a:srgbClr val="0000CC"/>
                </a:solidFill>
                <a:latin typeface="Times New Roman" panose="02020603050405020304" pitchFamily="18" charset="0"/>
                <a:cs typeface="Times New Roman" panose="02020603050405020304" pitchFamily="18" charset="0"/>
              </a:rPr>
              <a:t>型、</a:t>
            </a:r>
            <a:r>
              <a:rPr lang="en-US" altLang="zh-CN" sz="2800" dirty="0">
                <a:solidFill>
                  <a:srgbClr val="0000CC"/>
                </a:solidFill>
                <a:latin typeface="Times New Roman" panose="02020603050405020304" pitchFamily="18" charset="0"/>
                <a:cs typeface="Times New Roman" panose="02020603050405020304" pitchFamily="18" charset="0"/>
              </a:rPr>
              <a:t>II</a:t>
            </a:r>
            <a:r>
              <a:rPr lang="zh-CN" altLang="en-US" sz="2800" dirty="0">
                <a:solidFill>
                  <a:srgbClr val="0000CC"/>
                </a:solidFill>
                <a:latin typeface="Times New Roman" panose="02020603050405020304" pitchFamily="18" charset="0"/>
                <a:cs typeface="Times New Roman" panose="02020603050405020304" pitchFamily="18" charset="0"/>
              </a:rPr>
              <a:t>型）、级联型、并联型</a:t>
            </a:r>
          </a:p>
          <a:p>
            <a:pPr marL="0" lvl="0" indent="0" eaLnBrk="1" hangingPunct="1">
              <a:lnSpc>
                <a:spcPct val="115000"/>
              </a:lnSpc>
              <a:spcBef>
                <a:spcPct val="30000"/>
              </a:spcBef>
              <a:spcAft>
                <a:spcPct val="30000"/>
              </a:spcAft>
              <a:buNone/>
            </a:pPr>
            <a:r>
              <a:rPr lang="zh-CN" altLang="en-US" dirty="0">
                <a:solidFill>
                  <a:schemeClr val="tx2"/>
                </a:solidFill>
                <a:latin typeface="Times New Roman" panose="02020603050405020304" pitchFamily="18" charset="0"/>
                <a:ea typeface="宋体" panose="02010600030101010101" pitchFamily="2" charset="-122"/>
              </a:rPr>
              <a:t>（</a:t>
            </a:r>
            <a:r>
              <a:rPr lang="en-US" altLang="zh-CN" dirty="0">
                <a:solidFill>
                  <a:schemeClr val="tx2"/>
                </a:solidFill>
                <a:latin typeface="Times New Roman" panose="02020603050405020304" pitchFamily="18" charset="0"/>
                <a:ea typeface="宋体" panose="02010600030101010101" pitchFamily="2" charset="-122"/>
              </a:rPr>
              <a:t>1</a:t>
            </a:r>
            <a:r>
              <a:rPr lang="zh-CN" altLang="en-US" dirty="0">
                <a:solidFill>
                  <a:schemeClr val="tx2"/>
                </a:solidFill>
                <a:latin typeface="Times New Roman" panose="02020603050405020304" pitchFamily="18" charset="0"/>
                <a:ea typeface="宋体" panose="02010600030101010101" pitchFamily="2" charset="-122"/>
              </a:rPr>
              <a:t>）直接</a:t>
            </a:r>
            <a:r>
              <a:rPr lang="en-US" altLang="zh-CN" dirty="0">
                <a:solidFill>
                  <a:schemeClr val="tx2"/>
                </a:solidFill>
                <a:latin typeface="Times New Roman" panose="02020603050405020304" pitchFamily="18" charset="0"/>
                <a:ea typeface="宋体" panose="02010600030101010101" pitchFamily="2" charset="-122"/>
              </a:rPr>
              <a:t>I</a:t>
            </a:r>
            <a:r>
              <a:rPr lang="zh-CN" altLang="en-US" dirty="0">
                <a:solidFill>
                  <a:schemeClr val="tx2"/>
                </a:solidFill>
                <a:latin typeface="Times New Roman" panose="02020603050405020304" pitchFamily="18" charset="0"/>
                <a:ea typeface="宋体" panose="02010600030101010101" pitchFamily="2" charset="-122"/>
              </a:rPr>
              <a:t>型</a:t>
            </a:r>
          </a:p>
          <a:p>
            <a:pPr marL="0" lvl="0" indent="0" eaLnBrk="1" hangingPunct="1">
              <a:lnSpc>
                <a:spcPct val="115000"/>
              </a:lnSpc>
              <a:spcBef>
                <a:spcPct val="0"/>
              </a:spcBef>
              <a:spcAft>
                <a:spcPct val="30000"/>
              </a:spcAft>
              <a:buNone/>
            </a:pPr>
            <a:r>
              <a:rPr lang="zh-CN" altLang="en-US"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cs typeface="Times New Roman" panose="02020603050405020304" pitchFamily="18" charset="0"/>
              </a:rPr>
              <a:t>直接由 </a:t>
            </a:r>
            <a:r>
              <a:rPr lang="en-US" altLang="zh-CN" sz="2800" dirty="0">
                <a:latin typeface="Times New Roman" panose="02020603050405020304" pitchFamily="18" charset="0"/>
                <a:cs typeface="Times New Roman" panose="02020603050405020304" pitchFamily="18" charset="0"/>
              </a:rPr>
              <a:t>IIR DF </a:t>
            </a:r>
            <a:r>
              <a:rPr lang="zh-CN" altLang="en-US" sz="2800" dirty="0">
                <a:latin typeface="Times New Roman" panose="02020603050405020304" pitchFamily="18" charset="0"/>
                <a:cs typeface="Times New Roman" panose="02020603050405020304" pitchFamily="18" charset="0"/>
              </a:rPr>
              <a:t>的差分方程所得的网络结构</a:t>
            </a:r>
            <a:endParaRPr lang="zh-CN" altLang="en-US" sz="2800" dirty="0">
              <a:latin typeface="Times New Roman" panose="02020603050405020304" pitchFamily="18" charset="0"/>
              <a:ea typeface="Times New Roman" panose="02020603050405020304" pitchFamily="18" charset="0"/>
            </a:endParaRPr>
          </a:p>
        </p:txBody>
      </p:sp>
      <p:sp>
        <p:nvSpPr>
          <p:cNvPr id="26629" name="Rectangle 5"/>
          <p:cNvSpPr/>
          <p:nvPr/>
        </p:nvSpPr>
        <p:spPr>
          <a:xfrm>
            <a:off x="250825" y="260350"/>
            <a:ext cx="8686800" cy="936625"/>
          </a:xfrm>
          <a:prstGeom prst="rect">
            <a:avLst/>
          </a:prstGeom>
          <a:noFill/>
          <a:ln w="9525">
            <a:noFill/>
          </a:ln>
        </p:spPr>
        <p:txBody>
          <a:bodyPr anchor="ctr" anchorCtr="1"/>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algn="ctr" eaLnBrk="1" hangingPunct="1">
              <a:spcBef>
                <a:spcPct val="0"/>
              </a:spcBef>
              <a:buNone/>
            </a:pPr>
            <a:r>
              <a:rPr lang="en-US" altLang="zh-CN" sz="4000" dirty="0">
                <a:solidFill>
                  <a:srgbClr val="3333CC"/>
                </a:solidFill>
                <a:latin typeface="Times New Roman" panose="02020603050405020304" pitchFamily="18" charset="0"/>
                <a:cs typeface="Times New Roman" panose="02020603050405020304" pitchFamily="18" charset="0"/>
              </a:rPr>
              <a:t>6.1.2  IIR</a:t>
            </a:r>
            <a:r>
              <a:rPr lang="zh-CN" altLang="en-US" sz="4000" dirty="0">
                <a:solidFill>
                  <a:srgbClr val="3333CC"/>
                </a:solidFill>
                <a:latin typeface="Times New Roman" panose="02020603050405020304" pitchFamily="18" charset="0"/>
                <a:cs typeface="Times New Roman" panose="02020603050405020304" pitchFamily="18" charset="0"/>
              </a:rPr>
              <a:t>数字滤波器的结构</a:t>
            </a:r>
            <a:endParaRPr lang="zh-CN" altLang="en-US" sz="4000" dirty="0">
              <a:solidFill>
                <a:srgbClr val="3333CC"/>
              </a:solidFill>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
        <p:nvSpPr>
          <p:cNvPr id="5" name="内容占位符 1"/>
          <p:cNvSpPr>
            <a:spLocks noGrp="1"/>
          </p:cNvSpPr>
          <p:nvPr>
            <p:ph idx="1"/>
          </p:nvPr>
        </p:nvSpPr>
        <p:spPr>
          <a:xfrm>
            <a:off x="971600" y="836712"/>
            <a:ext cx="7920880" cy="2376264"/>
          </a:xfrm>
        </p:spPr>
        <p:txBody>
          <a:bodyPr>
            <a:normAutofit/>
          </a:bodyPr>
          <a:lstStyle/>
          <a:p>
            <a:pPr marL="0" indent="0">
              <a:lnSpc>
                <a:spcPct val="125000"/>
              </a:lnSpc>
              <a:spcBef>
                <a:spcPts val="0"/>
              </a:spcBef>
              <a:spcAft>
                <a:spcPts val="0"/>
              </a:spcAft>
              <a:buNone/>
            </a:pPr>
            <a:r>
              <a:rPr lang="en-US" altLang="zh-CN" sz="2800" b="1" dirty="0">
                <a:latin typeface="+mj-lt"/>
                <a:ea typeface="宋体" panose="02010600030101010101" pitchFamily="2" charset="-122"/>
                <a:cs typeface="Times New Roman" panose="02020603050405020304" pitchFamily="18" charset="0"/>
              </a:rPr>
              <a:t>IIR</a:t>
            </a:r>
            <a:r>
              <a:rPr lang="zh-CN" altLang="en-US" sz="2800" b="1" dirty="0">
                <a:latin typeface="+mj-lt"/>
                <a:ea typeface="宋体" panose="02010600030101010101" pitchFamily="2" charset="-122"/>
                <a:cs typeface="Times New Roman" panose="02020603050405020304" pitchFamily="18" charset="0"/>
              </a:rPr>
              <a:t>数字滤波器的结构特点：</a:t>
            </a:r>
            <a:endParaRPr lang="en-US" altLang="zh-CN" sz="2800" b="1" dirty="0">
              <a:latin typeface="+mj-lt"/>
              <a:ea typeface="宋体" panose="02010600030101010101" pitchFamily="2" charset="-122"/>
              <a:cs typeface="Times New Roman" panose="02020603050405020304" pitchFamily="18" charset="0"/>
            </a:endParaRPr>
          </a:p>
          <a:p>
            <a:pPr marL="0" indent="0">
              <a:lnSpc>
                <a:spcPct val="125000"/>
              </a:lnSpc>
              <a:spcBef>
                <a:spcPts val="0"/>
              </a:spcBef>
              <a:spcAft>
                <a:spcPts val="0"/>
              </a:spcAft>
              <a:buNone/>
            </a:pPr>
            <a:r>
              <a:rPr lang="zh-CN" altLang="en-US" sz="2800" b="1" dirty="0">
                <a:latin typeface="+mj-lt"/>
                <a:ea typeface="宋体" panose="02010600030101010101" pitchFamily="2" charset="-122"/>
                <a:cs typeface="Times New Roman" panose="02020603050405020304" pitchFamily="18" charset="0"/>
              </a:rPr>
              <a:t>有反馈环路，</a:t>
            </a:r>
            <a:r>
              <a:rPr lang="zh-CN" altLang="en-US" sz="2800" b="1" dirty="0">
                <a:solidFill>
                  <a:srgbClr val="C00000"/>
                </a:solidFill>
                <a:latin typeface="+mj-lt"/>
                <a:ea typeface="宋体" panose="02010600030101010101" pitchFamily="2" charset="-122"/>
                <a:cs typeface="Times New Roman" panose="02020603050405020304" pitchFamily="18" charset="0"/>
              </a:rPr>
              <a:t>递归型</a:t>
            </a:r>
            <a:r>
              <a:rPr lang="zh-CN" altLang="en-US" sz="2800" b="1" dirty="0">
                <a:latin typeface="+mj-lt"/>
                <a:ea typeface="宋体" panose="02010600030101010101" pitchFamily="2" charset="-122"/>
                <a:cs typeface="Times New Roman" panose="02020603050405020304" pitchFamily="18" charset="0"/>
              </a:rPr>
              <a:t>结构</a:t>
            </a:r>
          </a:p>
          <a:p>
            <a:pPr marL="0" indent="0">
              <a:lnSpc>
                <a:spcPct val="125000"/>
              </a:lnSpc>
              <a:spcBef>
                <a:spcPts val="0"/>
              </a:spcBef>
              <a:spcAft>
                <a:spcPts val="0"/>
              </a:spcAft>
              <a:buNone/>
            </a:pPr>
            <a:r>
              <a:rPr lang="zh-CN" altLang="en-US" sz="2800" b="1" dirty="0">
                <a:latin typeface="+mj-lt"/>
                <a:ea typeface="宋体" panose="02010600030101010101" pitchFamily="2" charset="-122"/>
                <a:cs typeface="Times New Roman" panose="02020603050405020304" pitchFamily="18" charset="0"/>
              </a:rPr>
              <a:t>其主要结构有：</a:t>
            </a:r>
            <a:endParaRPr lang="en-US" altLang="zh-CN" sz="2800" b="1" dirty="0">
              <a:latin typeface="+mj-lt"/>
              <a:ea typeface="宋体" panose="02010600030101010101" pitchFamily="2" charset="-122"/>
              <a:cs typeface="Times New Roman" panose="02020603050405020304" pitchFamily="18" charset="0"/>
            </a:endParaRPr>
          </a:p>
          <a:p>
            <a:pPr marL="0" indent="0">
              <a:lnSpc>
                <a:spcPct val="125000"/>
              </a:lnSpc>
              <a:spcBef>
                <a:spcPts val="0"/>
              </a:spcBef>
              <a:spcAft>
                <a:spcPts val="0"/>
              </a:spcAft>
              <a:buNone/>
            </a:pPr>
            <a:r>
              <a:rPr lang="zh-CN" altLang="en-US" sz="2800" b="1" dirty="0">
                <a:solidFill>
                  <a:srgbClr val="FF0000"/>
                </a:solidFill>
                <a:latin typeface="+mj-lt"/>
                <a:ea typeface="宋体" panose="02010600030101010101" pitchFamily="2" charset="-122"/>
                <a:cs typeface="Times New Roman" panose="02020603050405020304" pitchFamily="18" charset="0"/>
              </a:rPr>
              <a:t>直接型（</a:t>
            </a:r>
            <a:r>
              <a:rPr lang="en-US" altLang="zh-CN" sz="2800" b="1" dirty="0">
                <a:solidFill>
                  <a:srgbClr val="FF0000"/>
                </a:solidFill>
                <a:latin typeface="+mj-lt"/>
                <a:ea typeface="宋体" panose="02010600030101010101" pitchFamily="2" charset="-122"/>
                <a:cs typeface="Times New Roman" panose="02020603050405020304" pitchFamily="18" charset="0"/>
              </a:rPr>
              <a:t>I</a:t>
            </a:r>
            <a:r>
              <a:rPr lang="zh-CN" altLang="en-US" sz="2800" b="1" dirty="0">
                <a:solidFill>
                  <a:srgbClr val="FF0000"/>
                </a:solidFill>
                <a:latin typeface="+mj-lt"/>
                <a:ea typeface="宋体" panose="02010600030101010101" pitchFamily="2" charset="-122"/>
                <a:cs typeface="Times New Roman" panose="02020603050405020304" pitchFamily="18" charset="0"/>
              </a:rPr>
              <a:t>型、</a:t>
            </a:r>
            <a:r>
              <a:rPr lang="en-US" altLang="zh-CN" sz="2800" b="1" dirty="0">
                <a:solidFill>
                  <a:srgbClr val="FF0000"/>
                </a:solidFill>
                <a:latin typeface="+mj-lt"/>
                <a:ea typeface="宋体" panose="02010600030101010101" pitchFamily="2" charset="-122"/>
                <a:cs typeface="Times New Roman" panose="02020603050405020304" pitchFamily="18" charset="0"/>
              </a:rPr>
              <a:t>II</a:t>
            </a:r>
            <a:r>
              <a:rPr lang="zh-CN" altLang="en-US" sz="2800" b="1" dirty="0">
                <a:solidFill>
                  <a:srgbClr val="FF0000"/>
                </a:solidFill>
                <a:latin typeface="+mj-lt"/>
                <a:ea typeface="宋体" panose="02010600030101010101" pitchFamily="2" charset="-122"/>
                <a:cs typeface="Times New Roman" panose="02020603050405020304" pitchFamily="18" charset="0"/>
              </a:rPr>
              <a:t>型）、级联型、</a:t>
            </a:r>
            <a:r>
              <a:rPr lang="en-US" altLang="zh-CN" sz="2800" b="1" dirty="0">
                <a:solidFill>
                  <a:srgbClr val="FF0000"/>
                </a:solidFill>
                <a:latin typeface="+mj-lt"/>
                <a:ea typeface="宋体" panose="02010600030101010101" pitchFamily="2" charset="-122"/>
                <a:cs typeface="Times New Roman" panose="02020603050405020304" pitchFamily="18" charset="0"/>
              </a:rPr>
              <a:t>  </a:t>
            </a:r>
            <a:r>
              <a:rPr lang="zh-CN" altLang="en-US" sz="2800" b="1" dirty="0">
                <a:solidFill>
                  <a:srgbClr val="FF0000"/>
                </a:solidFill>
                <a:latin typeface="+mj-lt"/>
                <a:ea typeface="宋体" panose="02010600030101010101" pitchFamily="2" charset="-122"/>
                <a:cs typeface="Times New Roman" panose="02020603050405020304" pitchFamily="18" charset="0"/>
              </a:rPr>
              <a:t>并联型</a:t>
            </a:r>
            <a:endParaRPr lang="zh-CN" altLang="en-US" sz="2800" b="1" dirty="0">
              <a:solidFill>
                <a:srgbClr val="FF0000"/>
              </a:solidFill>
              <a:latin typeface="+mj-lt"/>
              <a:ea typeface="宋体" panose="02010600030101010101" pitchFamily="2" charset="-122"/>
            </a:endParaRPr>
          </a:p>
        </p:txBody>
      </p:sp>
      <p:sp>
        <p:nvSpPr>
          <p:cNvPr id="6" name="矩形 5"/>
          <p:cNvSpPr/>
          <p:nvPr/>
        </p:nvSpPr>
        <p:spPr>
          <a:xfrm>
            <a:off x="827584" y="3212976"/>
            <a:ext cx="2278536" cy="575992"/>
          </a:xfrm>
          <a:prstGeom prst="rect">
            <a:avLst/>
          </a:prstGeom>
        </p:spPr>
        <p:txBody>
          <a:bodyPr wrap="square">
            <a:spAutoFit/>
          </a:bodyPr>
          <a:lstStyle/>
          <a:p>
            <a:pPr marL="171450" lvl="0" indent="-171450" defTabSz="685800" eaLnBrk="1" fontAlgn="auto" hangingPunct="1">
              <a:lnSpc>
                <a:spcPct val="115000"/>
              </a:lnSpc>
              <a:spcBef>
                <a:spcPct val="30000"/>
              </a:spcBef>
              <a:spcAft>
                <a:spcPct val="30000"/>
              </a:spcAft>
            </a:pPr>
            <a:r>
              <a:rPr lang="en-US" altLang="zh-CN" sz="3000" b="1" dirty="0">
                <a:solidFill>
                  <a:srgbClr val="FF0000"/>
                </a:solidFill>
                <a:latin typeface="+mj-lt"/>
                <a:cs typeface="Times New Roman" panose="02020603050405020304" pitchFamily="18" charset="0"/>
              </a:rPr>
              <a:t>(1)</a:t>
            </a:r>
            <a:r>
              <a:rPr lang="zh-CN" altLang="en-US" sz="3000" b="1" dirty="0">
                <a:solidFill>
                  <a:srgbClr val="FF0000"/>
                </a:solidFill>
                <a:latin typeface="+mj-lt"/>
                <a:cs typeface="Times New Roman" panose="02020603050405020304" pitchFamily="18" charset="0"/>
              </a:rPr>
              <a:t>直接型</a:t>
            </a:r>
          </a:p>
        </p:txBody>
      </p:sp>
      <p:graphicFrame>
        <p:nvGraphicFramePr>
          <p:cNvPr id="7" name="Object 8"/>
          <p:cNvGraphicFramePr>
            <a:graphicFrameLocks noChangeAspect="1"/>
          </p:cNvGraphicFramePr>
          <p:nvPr>
            <p:extLst>
              <p:ext uri="{D42A27DB-BD31-4B8C-83A1-F6EECF244321}">
                <p14:modId xmlns:p14="http://schemas.microsoft.com/office/powerpoint/2010/main" val="271519640"/>
              </p:ext>
            </p:extLst>
          </p:nvPr>
        </p:nvGraphicFramePr>
        <p:xfrm>
          <a:off x="3094872" y="3508620"/>
          <a:ext cx="2559816" cy="1759968"/>
        </p:xfrm>
        <a:graphic>
          <a:graphicData uri="http://schemas.openxmlformats.org/presentationml/2006/ole">
            <mc:AlternateContent xmlns:mc="http://schemas.openxmlformats.org/markup-compatibility/2006">
              <mc:Choice xmlns:v="urn:schemas-microsoft-com:vml" Requires="v">
                <p:oleObj name="Equation" r:id="rId2" imgW="1218960" imgH="838080" progId="Equation.DSMT4">
                  <p:embed/>
                </p:oleObj>
              </mc:Choice>
              <mc:Fallback>
                <p:oleObj name="Equation" r:id="rId2" imgW="1218960" imgH="838080" progId="Equation.DSMT4">
                  <p:embed/>
                  <p:pic>
                    <p:nvPicPr>
                      <p:cNvPr id="27656" name="Object 8"/>
                      <p:cNvPicPr>
                        <a:picLocks noChangeAspect="1" noChangeArrowheads="1"/>
                      </p:cNvPicPr>
                      <p:nvPr/>
                    </p:nvPicPr>
                    <p:blipFill>
                      <a:blip r:embed="rId3"/>
                      <a:srcRect/>
                      <a:stretch>
                        <a:fillRect/>
                      </a:stretch>
                    </p:blipFill>
                    <p:spPr bwMode="auto">
                      <a:xfrm>
                        <a:off x="3094872" y="3508620"/>
                        <a:ext cx="2559816" cy="1759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2"/>
          <p:cNvGraphicFramePr>
            <a:graphicFrameLocks noChangeAspect="1"/>
          </p:cNvGraphicFramePr>
          <p:nvPr>
            <p:extLst>
              <p:ext uri="{D42A27DB-BD31-4B8C-83A1-F6EECF244321}">
                <p14:modId xmlns:p14="http://schemas.microsoft.com/office/powerpoint/2010/main" val="1896774995"/>
              </p:ext>
            </p:extLst>
          </p:nvPr>
        </p:nvGraphicFramePr>
        <p:xfrm>
          <a:off x="2143038" y="5501958"/>
          <a:ext cx="4749624" cy="949608"/>
        </p:xfrm>
        <a:graphic>
          <a:graphicData uri="http://schemas.openxmlformats.org/presentationml/2006/ole">
            <mc:AlternateContent xmlns:mc="http://schemas.openxmlformats.org/markup-compatibility/2006">
              <mc:Choice xmlns:v="urn:schemas-microsoft-com:vml" Requires="v">
                <p:oleObj name="Equation" r:id="rId4" imgW="2158920" imgH="431640" progId="Equation.DSMT4">
                  <p:embed/>
                </p:oleObj>
              </mc:Choice>
              <mc:Fallback>
                <p:oleObj name="Equation" r:id="rId4" imgW="2158920" imgH="431640" progId="Equation.DSMT4">
                  <p:embed/>
                  <p:pic>
                    <p:nvPicPr>
                      <p:cNvPr id="5" name="Object 2"/>
                      <p:cNvPicPr>
                        <a:picLocks noChangeAspect="1" noChangeArrowheads="1"/>
                      </p:cNvPicPr>
                      <p:nvPr/>
                    </p:nvPicPr>
                    <p:blipFill>
                      <a:blip r:embed="rId5"/>
                      <a:srcRect/>
                      <a:stretch>
                        <a:fillRect/>
                      </a:stretch>
                    </p:blipFill>
                    <p:spPr bwMode="auto">
                      <a:xfrm>
                        <a:off x="2143038" y="5501958"/>
                        <a:ext cx="4749624"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8"/>
          <p:cNvSpPr/>
          <p:nvPr/>
        </p:nvSpPr>
        <p:spPr>
          <a:xfrm>
            <a:off x="467544" y="4116244"/>
            <a:ext cx="2425664" cy="523220"/>
          </a:xfrm>
          <a:prstGeom prst="rect">
            <a:avLst/>
          </a:prstGeom>
        </p:spPr>
        <p:txBody>
          <a:bodyPr wrap="none">
            <a:spAutoFit/>
          </a:bodyPr>
          <a:lstStyle/>
          <a:p>
            <a:r>
              <a:rPr kumimoji="1" lang="en-US" altLang="zh-CN" sz="2800" b="1" i="1" dirty="0">
                <a:solidFill>
                  <a:srgbClr val="000000"/>
                </a:solidFill>
                <a:latin typeface="Times New Roman"/>
                <a:cs typeface="Times New Roman" panose="02020603050405020304" pitchFamily="18" charset="0"/>
              </a:rPr>
              <a:t>N</a:t>
            </a:r>
            <a:r>
              <a:rPr kumimoji="1" lang="zh-CN" altLang="en-US" sz="2800" b="1" dirty="0">
                <a:solidFill>
                  <a:srgbClr val="000000"/>
                </a:solidFill>
                <a:latin typeface="Times New Roman"/>
                <a:cs typeface="Times New Roman" panose="02020603050405020304" pitchFamily="18" charset="0"/>
              </a:rPr>
              <a:t>阶</a:t>
            </a:r>
            <a:r>
              <a:rPr kumimoji="1" lang="en-US" altLang="zh-CN" sz="2800" b="1" dirty="0">
                <a:solidFill>
                  <a:srgbClr val="000000"/>
                </a:solidFill>
                <a:latin typeface="Times New Roman"/>
                <a:cs typeface="Times New Roman" panose="02020603050405020304" pitchFamily="18" charset="0"/>
              </a:rPr>
              <a:t>IIR</a:t>
            </a:r>
            <a:r>
              <a:rPr kumimoji="1" lang="zh-CN" altLang="en-US" sz="2800" b="1" dirty="0">
                <a:solidFill>
                  <a:srgbClr val="000000"/>
                </a:solidFill>
                <a:latin typeface="Times New Roman"/>
                <a:cs typeface="Times New Roman" panose="02020603050405020304" pitchFamily="18" charset="0"/>
              </a:rPr>
              <a:t>滤波器</a:t>
            </a:r>
            <a:endParaRPr lang="zh-CN" altLang="en-US" dirty="0"/>
          </a:p>
        </p:txBody>
      </p:sp>
      <p:sp>
        <p:nvSpPr>
          <p:cNvPr id="10" name="Rectangle 12"/>
          <p:cNvSpPr/>
          <p:nvPr/>
        </p:nvSpPr>
        <p:spPr>
          <a:xfrm>
            <a:off x="5884108" y="4077072"/>
            <a:ext cx="3248005"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mj-lt"/>
                <a:ea typeface="宋体"/>
              </a:rPr>
              <a:t>至少有一个    不为</a:t>
            </a:r>
            <a:r>
              <a:rPr kumimoji="0" lang="en-US" altLang="zh-CN" sz="2800" b="1" i="0" u="none" strike="noStrike" kern="0" cap="none" spc="0" normalizeH="0" baseline="0" noProof="0" dirty="0">
                <a:ln>
                  <a:noFill/>
                </a:ln>
                <a:solidFill>
                  <a:srgbClr val="000000"/>
                </a:solidFill>
                <a:effectLst/>
                <a:uLnTx/>
                <a:uFillTx/>
                <a:latin typeface="+mj-lt"/>
                <a:ea typeface="宋体"/>
              </a:rPr>
              <a:t>0</a:t>
            </a:r>
            <a:endParaRPr kumimoji="0" lang="zh-CN" altLang="en-US" sz="1800" b="0" i="0" u="none" strike="noStrike" kern="0" cap="none" spc="0" normalizeH="0" baseline="0" noProof="0" dirty="0">
              <a:ln>
                <a:noFill/>
              </a:ln>
              <a:solidFill>
                <a:sysClr val="windowText" lastClr="000000"/>
              </a:solidFill>
              <a:effectLst/>
              <a:uLnTx/>
              <a:uFillTx/>
              <a:latin typeface="+mj-lt"/>
            </a:endParaRPr>
          </a:p>
        </p:txBody>
      </p:sp>
      <p:graphicFrame>
        <p:nvGraphicFramePr>
          <p:cNvPr id="11" name="Object 10"/>
          <p:cNvGraphicFramePr>
            <a:graphicFrameLocks noGrp="1" noChangeAspect="1"/>
          </p:cNvGraphicFramePr>
          <p:nvPr>
            <p:extLst>
              <p:ext uri="{D42A27DB-BD31-4B8C-83A1-F6EECF244321}">
                <p14:modId xmlns:p14="http://schemas.microsoft.com/office/powerpoint/2010/main" val="1678574611"/>
              </p:ext>
            </p:extLst>
          </p:nvPr>
        </p:nvGraphicFramePr>
        <p:xfrm>
          <a:off x="7788895" y="4077072"/>
          <a:ext cx="334962" cy="503238"/>
        </p:xfrm>
        <a:graphic>
          <a:graphicData uri="http://schemas.openxmlformats.org/presentationml/2006/ole">
            <mc:AlternateContent xmlns:mc="http://schemas.openxmlformats.org/markup-compatibility/2006">
              <mc:Choice xmlns:v="urn:schemas-microsoft-com:vml" Requires="v">
                <p:oleObj name="Equation" r:id="rId6" imgW="152280" imgH="228600" progId="Equation.DSMT4">
                  <p:embed/>
                </p:oleObj>
              </mc:Choice>
              <mc:Fallback>
                <p:oleObj name="Equation" r:id="rId6" imgW="152280" imgH="228600" progId="Equation.DSMT4">
                  <p:embed/>
                  <p:pic>
                    <p:nvPicPr>
                      <p:cNvPr id="12" name="Object 10"/>
                      <p:cNvPicPr>
                        <a:picLocks noGrp="1" noChangeAspect="1" noChangeArrowheads="1"/>
                      </p:cNvPicPr>
                      <p:nvPr/>
                    </p:nvPicPr>
                    <p:blipFill>
                      <a:blip r:embed="rId7"/>
                      <a:srcRect/>
                      <a:stretch>
                        <a:fillRect/>
                      </a:stretch>
                    </p:blipFill>
                    <p:spPr bwMode="auto">
                      <a:xfrm>
                        <a:off x="7788895" y="4077072"/>
                        <a:ext cx="334962"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矩形 2"/>
          <p:cNvSpPr/>
          <p:nvPr/>
        </p:nvSpPr>
        <p:spPr>
          <a:xfrm>
            <a:off x="5910883" y="4614227"/>
            <a:ext cx="3341637" cy="830997"/>
          </a:xfrm>
          <a:prstGeom prst="rect">
            <a:avLst/>
          </a:prstGeom>
        </p:spPr>
        <p:txBody>
          <a:bodyPr wrap="square">
            <a:spAutoFit/>
          </a:bodyPr>
          <a:lstStyle/>
          <a:p>
            <a:r>
              <a:rPr lang="zh-CN" altLang="en-US" sz="2400" b="1" kern="0" dirty="0">
                <a:solidFill>
                  <a:srgbClr val="000000"/>
                </a:solidFill>
                <a:latin typeface="Times New Roman"/>
                <a:ea typeface="宋体"/>
              </a:rPr>
              <a:t>假定分子、分母多项式有相同的阶数</a:t>
            </a:r>
            <a:endParaRPr lang="zh-CN" altLang="en-US" sz="1600" dirty="0"/>
          </a:p>
        </p:txBody>
      </p:sp>
    </p:spTree>
    <p:extLst>
      <p:ext uri="{BB962C8B-B14F-4D97-AF65-F5344CB8AC3E}">
        <p14:creationId xmlns:p14="http://schemas.microsoft.com/office/powerpoint/2010/main" val="19933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2"/>
          <p:cNvGraphicFramePr>
            <a:graphicFrameLocks noChangeAspect="1"/>
          </p:cNvGraphicFramePr>
          <p:nvPr>
            <p:extLst>
              <p:ext uri="{D42A27DB-BD31-4B8C-83A1-F6EECF244321}">
                <p14:modId xmlns:p14="http://schemas.microsoft.com/office/powerpoint/2010/main" val="1034229318"/>
              </p:ext>
            </p:extLst>
          </p:nvPr>
        </p:nvGraphicFramePr>
        <p:xfrm>
          <a:off x="3707904" y="1483803"/>
          <a:ext cx="2011680" cy="502920"/>
        </p:xfrm>
        <a:graphic>
          <a:graphicData uri="http://schemas.openxmlformats.org/presentationml/2006/ole">
            <mc:AlternateContent xmlns:mc="http://schemas.openxmlformats.org/markup-compatibility/2006">
              <mc:Choice xmlns:v="urn:schemas-microsoft-com:vml" Requires="v">
                <p:oleObj name="Equation" r:id="rId2" imgW="914400" imgH="228600" progId="Equation.DSMT4">
                  <p:embed/>
                </p:oleObj>
              </mc:Choice>
              <mc:Fallback>
                <p:oleObj name="Equation" r:id="rId2" imgW="914400" imgH="228600" progId="Equation.DSMT4">
                  <p:embed/>
                  <p:pic>
                    <p:nvPicPr>
                      <p:cNvPr id="26626" name="Object 2"/>
                      <p:cNvPicPr>
                        <a:picLocks noChangeAspect="1" noChangeArrowheads="1"/>
                      </p:cNvPicPr>
                      <p:nvPr/>
                    </p:nvPicPr>
                    <p:blipFill>
                      <a:blip r:embed="rId3"/>
                      <a:srcRect/>
                      <a:stretch>
                        <a:fillRect/>
                      </a:stretch>
                    </p:blipFill>
                    <p:spPr bwMode="auto">
                      <a:xfrm>
                        <a:off x="3707904" y="1483803"/>
                        <a:ext cx="201168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3"/>
          <p:cNvGraphicFramePr>
            <a:graphicFrameLocks noChangeAspect="1"/>
          </p:cNvGraphicFramePr>
          <p:nvPr>
            <p:extLst>
              <p:ext uri="{D42A27DB-BD31-4B8C-83A1-F6EECF244321}">
                <p14:modId xmlns:p14="http://schemas.microsoft.com/office/powerpoint/2010/main" val="3003309960"/>
              </p:ext>
            </p:extLst>
          </p:nvPr>
        </p:nvGraphicFramePr>
        <p:xfrm>
          <a:off x="725791" y="2664625"/>
          <a:ext cx="3406775" cy="947737"/>
        </p:xfrm>
        <a:graphic>
          <a:graphicData uri="http://schemas.openxmlformats.org/presentationml/2006/ole">
            <mc:AlternateContent xmlns:mc="http://schemas.openxmlformats.org/markup-compatibility/2006">
              <mc:Choice xmlns:v="urn:schemas-microsoft-com:vml" Requires="v">
                <p:oleObj name="Equation" r:id="rId4" imgW="1549080" imgH="431640" progId="Equation.DSMT4">
                  <p:embed/>
                </p:oleObj>
              </mc:Choice>
              <mc:Fallback>
                <p:oleObj name="Equation" r:id="rId4" imgW="1549080" imgH="431640" progId="Equation.DSMT4">
                  <p:embed/>
                  <p:pic>
                    <p:nvPicPr>
                      <p:cNvPr id="26627" name="Object 3"/>
                      <p:cNvPicPr>
                        <a:picLocks noChangeAspect="1" noChangeArrowheads="1"/>
                      </p:cNvPicPr>
                      <p:nvPr/>
                    </p:nvPicPr>
                    <p:blipFill>
                      <a:blip r:embed="rId5"/>
                      <a:srcRect/>
                      <a:stretch>
                        <a:fillRect/>
                      </a:stretch>
                    </p:blipFill>
                    <p:spPr bwMode="auto">
                      <a:xfrm>
                        <a:off x="725791" y="2664625"/>
                        <a:ext cx="3406775" cy="94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4"/>
          <p:cNvGraphicFramePr>
            <a:graphicFrameLocks noChangeAspect="1"/>
          </p:cNvGraphicFramePr>
          <p:nvPr>
            <p:extLst>
              <p:ext uri="{D42A27DB-BD31-4B8C-83A1-F6EECF244321}">
                <p14:modId xmlns:p14="http://schemas.microsoft.com/office/powerpoint/2010/main" val="2609856974"/>
              </p:ext>
            </p:extLst>
          </p:nvPr>
        </p:nvGraphicFramePr>
        <p:xfrm>
          <a:off x="4746321" y="2689011"/>
          <a:ext cx="3913188" cy="1368425"/>
        </p:xfrm>
        <a:graphic>
          <a:graphicData uri="http://schemas.openxmlformats.org/presentationml/2006/ole">
            <mc:AlternateContent xmlns:mc="http://schemas.openxmlformats.org/markup-compatibility/2006">
              <mc:Choice xmlns:v="urn:schemas-microsoft-com:vml" Requires="v">
                <p:oleObj name="Equation" r:id="rId6" imgW="1777680" imgH="622080" progId="Equation.DSMT4">
                  <p:embed/>
                </p:oleObj>
              </mc:Choice>
              <mc:Fallback>
                <p:oleObj name="Equation" r:id="rId6" imgW="1777680" imgH="622080" progId="Equation.DSMT4">
                  <p:embed/>
                  <p:pic>
                    <p:nvPicPr>
                      <p:cNvPr id="26628" name="Object 4"/>
                      <p:cNvPicPr>
                        <a:picLocks noChangeAspect="1" noChangeArrowheads="1"/>
                      </p:cNvPicPr>
                      <p:nvPr/>
                    </p:nvPicPr>
                    <p:blipFill>
                      <a:blip r:embed="rId7"/>
                      <a:srcRect/>
                      <a:stretch>
                        <a:fillRect/>
                      </a:stretch>
                    </p:blipFill>
                    <p:spPr bwMode="auto">
                      <a:xfrm>
                        <a:off x="4746321" y="2689011"/>
                        <a:ext cx="3913188"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5"/>
          <p:cNvGraphicFramePr>
            <a:graphicFrameLocks noChangeAspect="1"/>
          </p:cNvGraphicFramePr>
          <p:nvPr>
            <p:extLst>
              <p:ext uri="{D42A27DB-BD31-4B8C-83A1-F6EECF244321}">
                <p14:modId xmlns:p14="http://schemas.microsoft.com/office/powerpoint/2010/main" val="90294890"/>
              </p:ext>
            </p:extLst>
          </p:nvPr>
        </p:nvGraphicFramePr>
        <p:xfrm>
          <a:off x="725791" y="4057436"/>
          <a:ext cx="2819400" cy="949325"/>
        </p:xfrm>
        <a:graphic>
          <a:graphicData uri="http://schemas.openxmlformats.org/presentationml/2006/ole">
            <mc:AlternateContent xmlns:mc="http://schemas.openxmlformats.org/markup-compatibility/2006">
              <mc:Choice xmlns:v="urn:schemas-microsoft-com:vml" Requires="v">
                <p:oleObj name="Equation" r:id="rId8" imgW="1282680" imgH="431640" progId="Equation.DSMT4">
                  <p:embed/>
                </p:oleObj>
              </mc:Choice>
              <mc:Fallback>
                <p:oleObj name="Equation" r:id="rId8" imgW="1282680" imgH="431640" progId="Equation.DSMT4">
                  <p:embed/>
                  <p:pic>
                    <p:nvPicPr>
                      <p:cNvPr id="26629" name="Object 5"/>
                      <p:cNvPicPr>
                        <a:picLocks noChangeAspect="1" noChangeArrowheads="1"/>
                      </p:cNvPicPr>
                      <p:nvPr/>
                    </p:nvPicPr>
                    <p:blipFill>
                      <a:blip r:embed="rId9"/>
                      <a:srcRect/>
                      <a:stretch>
                        <a:fillRect/>
                      </a:stretch>
                    </p:blipFill>
                    <p:spPr bwMode="auto">
                      <a:xfrm>
                        <a:off x="725791" y="4057436"/>
                        <a:ext cx="2819400"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6"/>
          <p:cNvGraphicFramePr>
            <a:graphicFrameLocks noChangeAspect="1"/>
          </p:cNvGraphicFramePr>
          <p:nvPr>
            <p:extLst>
              <p:ext uri="{D42A27DB-BD31-4B8C-83A1-F6EECF244321}">
                <p14:modId xmlns:p14="http://schemas.microsoft.com/office/powerpoint/2010/main" val="3056278868"/>
              </p:ext>
            </p:extLst>
          </p:nvPr>
        </p:nvGraphicFramePr>
        <p:xfrm>
          <a:off x="4746321" y="4057436"/>
          <a:ext cx="3744912" cy="949325"/>
        </p:xfrm>
        <a:graphic>
          <a:graphicData uri="http://schemas.openxmlformats.org/presentationml/2006/ole">
            <mc:AlternateContent xmlns:mc="http://schemas.openxmlformats.org/markup-compatibility/2006">
              <mc:Choice xmlns:v="urn:schemas-microsoft-com:vml" Requires="v">
                <p:oleObj name="Equation" r:id="rId10" imgW="1701720" imgH="431640" progId="Equation.DSMT4">
                  <p:embed/>
                </p:oleObj>
              </mc:Choice>
              <mc:Fallback>
                <p:oleObj name="Equation" r:id="rId10" imgW="1701720" imgH="431640" progId="Equation.DSMT4">
                  <p:embed/>
                  <p:pic>
                    <p:nvPicPr>
                      <p:cNvPr id="26630" name="Object 6"/>
                      <p:cNvPicPr>
                        <a:picLocks noChangeAspect="1" noChangeArrowheads="1"/>
                      </p:cNvPicPr>
                      <p:nvPr/>
                    </p:nvPicPr>
                    <p:blipFill>
                      <a:blip r:embed="rId11"/>
                      <a:srcRect/>
                      <a:stretch>
                        <a:fillRect/>
                      </a:stretch>
                    </p:blipFill>
                    <p:spPr bwMode="auto">
                      <a:xfrm>
                        <a:off x="4746321" y="4057436"/>
                        <a:ext cx="3744912"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8"/>
          <p:cNvGraphicFramePr>
            <a:graphicFrameLocks noChangeAspect="1"/>
          </p:cNvGraphicFramePr>
          <p:nvPr>
            <p:extLst>
              <p:ext uri="{D42A27DB-BD31-4B8C-83A1-F6EECF244321}">
                <p14:modId xmlns:p14="http://schemas.microsoft.com/office/powerpoint/2010/main" val="1674346856"/>
              </p:ext>
            </p:extLst>
          </p:nvPr>
        </p:nvGraphicFramePr>
        <p:xfrm>
          <a:off x="928688" y="813375"/>
          <a:ext cx="2681712" cy="1843776"/>
        </p:xfrm>
        <a:graphic>
          <a:graphicData uri="http://schemas.openxmlformats.org/presentationml/2006/ole">
            <mc:AlternateContent xmlns:mc="http://schemas.openxmlformats.org/markup-compatibility/2006">
              <mc:Choice xmlns:v="urn:schemas-microsoft-com:vml" Requires="v">
                <p:oleObj name="Equation" r:id="rId12" imgW="1218960" imgH="838080" progId="Equation.DSMT4">
                  <p:embed/>
                </p:oleObj>
              </mc:Choice>
              <mc:Fallback>
                <p:oleObj name="Equation" r:id="rId12" imgW="1218960" imgH="838080" progId="Equation.DSMT4">
                  <p:embed/>
                  <p:pic>
                    <p:nvPicPr>
                      <p:cNvPr id="27656" name="Object 8"/>
                      <p:cNvPicPr>
                        <a:picLocks noChangeAspect="1" noChangeArrowheads="1"/>
                      </p:cNvPicPr>
                      <p:nvPr/>
                    </p:nvPicPr>
                    <p:blipFill>
                      <a:blip r:embed="rId13"/>
                      <a:srcRect/>
                      <a:stretch>
                        <a:fillRect/>
                      </a:stretch>
                    </p:blipFill>
                    <p:spPr bwMode="auto">
                      <a:xfrm>
                        <a:off x="928688" y="813375"/>
                        <a:ext cx="2681712" cy="1843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内容占位符 2"/>
          <p:cNvSpPr txBox="1">
            <a:spLocks/>
          </p:cNvSpPr>
          <p:nvPr/>
        </p:nvSpPr>
        <p:spPr>
          <a:xfrm>
            <a:off x="581012" y="5157192"/>
            <a:ext cx="8311468" cy="1192255"/>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2800" b="1" kern="1200">
                <a:solidFill>
                  <a:schemeClr val="tx1"/>
                </a:solidFill>
                <a:latin typeface="黑体" panose="02010609060101010101" pitchFamily="49" charset="-122"/>
                <a:ea typeface="黑体" panose="02010609060101010101" pitchFamily="49"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2400" b="1" kern="1200">
                <a:solidFill>
                  <a:schemeClr val="tx1"/>
                </a:solidFill>
                <a:latin typeface="黑体" panose="02010609060101010101" pitchFamily="49" charset="-122"/>
                <a:ea typeface="黑体" panose="02010609060101010101" pitchFamily="49"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2000" b="1" kern="1200">
                <a:solidFill>
                  <a:schemeClr val="tx1"/>
                </a:solidFill>
                <a:latin typeface="黑体" panose="02010609060101010101" pitchFamily="49" charset="-122"/>
                <a:ea typeface="黑体" panose="02010609060101010101" pitchFamily="49"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25000"/>
              </a:lnSpc>
              <a:spcBef>
                <a:spcPts val="0"/>
              </a:spcBef>
              <a:spcAft>
                <a:spcPts val="0"/>
              </a:spcAft>
              <a:buFont typeface="Arial" panose="020B0604020202020204" pitchFamily="34" charset="0"/>
              <a:buNone/>
            </a:pPr>
            <a:r>
              <a:rPr lang="zh-CN" altLang="en-US" sz="2800" dirty="0">
                <a:latin typeface="+mj-lt"/>
                <a:ea typeface="宋体" panose="02010600030101010101" pitchFamily="2" charset="-122"/>
                <a:cs typeface="Times New Roman" panose="02020603050405020304" pitchFamily="18" charset="0"/>
              </a:rPr>
              <a:t>可以看到</a:t>
            </a:r>
            <a:r>
              <a:rPr lang="en-US" altLang="zh-CN" sz="2800" i="1" dirty="0">
                <a:solidFill>
                  <a:srgbClr val="0000CC"/>
                </a:solidFill>
                <a:latin typeface="+mj-lt"/>
                <a:ea typeface="宋体" panose="02010600030101010101" pitchFamily="2" charset="-122"/>
                <a:cs typeface="Times New Roman" panose="02020603050405020304" pitchFamily="18" charset="0"/>
              </a:rPr>
              <a:t>H</a:t>
            </a:r>
            <a:r>
              <a:rPr lang="en-US" altLang="zh-CN" sz="2800" baseline="-25000" dirty="0">
                <a:solidFill>
                  <a:srgbClr val="0000CC"/>
                </a:solidFill>
                <a:latin typeface="+mj-lt"/>
                <a:ea typeface="宋体" panose="02010600030101010101" pitchFamily="2" charset="-122"/>
                <a:cs typeface="Times New Roman" panose="02020603050405020304" pitchFamily="18" charset="0"/>
              </a:rPr>
              <a:t>1</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en-US" altLang="zh-CN" sz="2800" i="1" dirty="0">
                <a:solidFill>
                  <a:srgbClr val="0000CC"/>
                </a:solidFill>
                <a:latin typeface="+mj-lt"/>
                <a:ea typeface="宋体" panose="02010600030101010101" pitchFamily="2" charset="-122"/>
                <a:cs typeface="Times New Roman" panose="02020603050405020304" pitchFamily="18" charset="0"/>
              </a:rPr>
              <a:t>z</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zh-CN" altLang="en-US" sz="2800" dirty="0">
                <a:latin typeface="+mj-lt"/>
                <a:ea typeface="宋体" panose="02010600030101010101" pitchFamily="2" charset="-122"/>
                <a:cs typeface="Times New Roman" panose="02020603050405020304" pitchFamily="18" charset="0"/>
              </a:rPr>
              <a:t>实现了系统的零点，</a:t>
            </a:r>
            <a:r>
              <a:rPr lang="en-US" altLang="zh-CN" sz="2800" i="1" dirty="0">
                <a:solidFill>
                  <a:srgbClr val="0000CC"/>
                </a:solidFill>
                <a:latin typeface="+mj-lt"/>
                <a:ea typeface="宋体" panose="02010600030101010101" pitchFamily="2" charset="-122"/>
                <a:cs typeface="Times New Roman" panose="02020603050405020304" pitchFamily="18" charset="0"/>
              </a:rPr>
              <a:t>H</a:t>
            </a:r>
            <a:r>
              <a:rPr lang="en-US" altLang="zh-CN" sz="2800" baseline="-25000" dirty="0">
                <a:solidFill>
                  <a:srgbClr val="0000CC"/>
                </a:solidFill>
                <a:latin typeface="+mj-lt"/>
                <a:ea typeface="宋体" panose="02010600030101010101" pitchFamily="2" charset="-122"/>
                <a:cs typeface="Times New Roman" panose="02020603050405020304" pitchFamily="18" charset="0"/>
              </a:rPr>
              <a:t>2</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en-US" altLang="zh-CN" sz="2800" i="1" dirty="0">
                <a:solidFill>
                  <a:srgbClr val="0000CC"/>
                </a:solidFill>
                <a:latin typeface="+mj-lt"/>
                <a:ea typeface="宋体" panose="02010600030101010101" pitchFamily="2" charset="-122"/>
                <a:cs typeface="Times New Roman" panose="02020603050405020304" pitchFamily="18" charset="0"/>
              </a:rPr>
              <a:t>z</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zh-CN" altLang="en-US" sz="2800" dirty="0">
                <a:latin typeface="+mj-lt"/>
                <a:ea typeface="宋体" panose="02010600030101010101" pitchFamily="2" charset="-122"/>
                <a:cs typeface="Times New Roman" panose="02020603050405020304" pitchFamily="18" charset="0"/>
              </a:rPr>
              <a:t>实现了系统的极点。</a:t>
            </a:r>
            <a:r>
              <a:rPr lang="en-US" altLang="zh-CN" sz="2800" i="1" dirty="0">
                <a:solidFill>
                  <a:srgbClr val="0000CC"/>
                </a:solidFill>
                <a:latin typeface="+mj-lt"/>
                <a:ea typeface="宋体" panose="02010600030101010101" pitchFamily="2" charset="-122"/>
                <a:cs typeface="Times New Roman" panose="02020603050405020304" pitchFamily="18" charset="0"/>
              </a:rPr>
              <a:t>H</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en-US" altLang="zh-CN" sz="2800" i="1" dirty="0">
                <a:solidFill>
                  <a:srgbClr val="0000CC"/>
                </a:solidFill>
                <a:latin typeface="+mj-lt"/>
                <a:ea typeface="宋体" panose="02010600030101010101" pitchFamily="2" charset="-122"/>
                <a:cs typeface="Times New Roman" panose="02020603050405020304" pitchFamily="18" charset="0"/>
              </a:rPr>
              <a:t>z</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zh-CN" altLang="en-US" sz="2800" dirty="0">
                <a:latin typeface="+mj-lt"/>
                <a:ea typeface="宋体" panose="02010600030101010101" pitchFamily="2" charset="-122"/>
                <a:cs typeface="Times New Roman" panose="02020603050405020304" pitchFamily="18" charset="0"/>
              </a:rPr>
              <a:t>由这两部分级联构成 </a:t>
            </a:r>
          </a:p>
        </p:txBody>
      </p:sp>
      <p:sp>
        <p:nvSpPr>
          <p:cNvPr id="10"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3134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075"/>
          <p:cNvSpPr>
            <a:spLocks noChangeArrowheads="1"/>
          </p:cNvSpPr>
          <p:nvPr/>
        </p:nvSpPr>
        <p:spPr bwMode="auto">
          <a:xfrm>
            <a:off x="2843808" y="5093739"/>
            <a:ext cx="311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000000"/>
                </a:solidFill>
                <a:latin typeface="+mj-lt"/>
                <a:cs typeface="Times New Roman" panose="02020603050405020304" pitchFamily="18" charset="0"/>
              </a:rPr>
              <a:t>图</a:t>
            </a:r>
            <a:r>
              <a:rPr lang="en-US" altLang="zh-CN" sz="2800" b="1" dirty="0">
                <a:solidFill>
                  <a:srgbClr val="000000"/>
                </a:solidFill>
                <a:latin typeface="+mj-lt"/>
                <a:cs typeface="Times New Roman" panose="02020603050405020304" pitchFamily="18" charset="0"/>
              </a:rPr>
              <a:t>6.5</a:t>
            </a:r>
            <a:r>
              <a:rPr lang="zh-CN" altLang="en-US" sz="2800" b="1" dirty="0">
                <a:solidFill>
                  <a:srgbClr val="000000"/>
                </a:solidFill>
                <a:latin typeface="+mj-lt"/>
                <a:cs typeface="Times New Roman" panose="02020603050405020304" pitchFamily="18" charset="0"/>
              </a:rPr>
              <a:t>  直接</a:t>
            </a:r>
            <a:r>
              <a:rPr lang="en-US" altLang="zh-CN" sz="2800" b="1" dirty="0">
                <a:solidFill>
                  <a:srgbClr val="000000"/>
                </a:solidFill>
                <a:latin typeface="+mj-lt"/>
                <a:cs typeface="Times New Roman" panose="02020603050405020304" pitchFamily="18" charset="0"/>
              </a:rPr>
              <a:t>I</a:t>
            </a:r>
            <a:r>
              <a:rPr lang="zh-CN" altLang="en-US" sz="2800" b="1" dirty="0">
                <a:solidFill>
                  <a:srgbClr val="000000"/>
                </a:solidFill>
                <a:latin typeface="+mj-lt"/>
                <a:cs typeface="Times New Roman" panose="02020603050405020304" pitchFamily="18" charset="0"/>
              </a:rPr>
              <a:t>型结构</a:t>
            </a:r>
            <a:endParaRPr lang="zh-CN" altLang="en-US" sz="2800" b="1" dirty="0">
              <a:latin typeface="+mj-lt"/>
              <a:cs typeface="Times New Roman" panose="02020603050405020304" pitchFamily="18" charset="0"/>
            </a:endParaRPr>
          </a:p>
        </p:txBody>
      </p:sp>
      <p:pic>
        <p:nvPicPr>
          <p:cNvPr id="8"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46690" y="1124744"/>
            <a:ext cx="4910794" cy="3719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2051720" y="5866930"/>
            <a:ext cx="514435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rPr>
              <a:t>需</a:t>
            </a:r>
            <a:r>
              <a:rPr kumimoji="1" lang="en-US" altLang="zh-CN" sz="2800" b="1" kern="0" dirty="0">
                <a:solidFill>
                  <a:srgbClr val="000000"/>
                </a:solidFill>
                <a:latin typeface="Times New Roman" panose="02020603050405020304" pitchFamily="18" charset="0"/>
              </a:rPr>
              <a:t>2</a:t>
            </a:r>
            <a:r>
              <a:rPr kumimoji="1" lang="en-US" altLang="zh-CN" sz="2800" b="1" i="1" kern="0" dirty="0">
                <a:solidFill>
                  <a:srgbClr val="000000"/>
                </a:solidFill>
                <a:latin typeface="Times New Roman" panose="02020603050405020304" pitchFamily="18" charset="0"/>
              </a:rPr>
              <a:t>N +1</a:t>
            </a:r>
            <a:r>
              <a:rPr kumimoji="1" lang="zh-CN" altLang="en-US" sz="2800" b="1" i="1" kern="0" dirty="0">
                <a:solidFill>
                  <a:srgbClr val="000000"/>
                </a:solidFill>
                <a:latin typeface="Times New Roman" panose="02020603050405020304" pitchFamily="18" charset="0"/>
              </a:rPr>
              <a:t>个乘法器，</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rPr>
              <a:t>2</a:t>
            </a: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rPr>
              <a:t>N</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rPr>
              <a:t>个延迟器</a:t>
            </a:r>
            <a:endParaRPr kumimoji="0" lang="zh-CN" altLang="en-US" sz="1800" b="1" i="0" u="none" strike="noStrike" kern="0" cap="none" spc="0" normalizeH="0" baseline="0" noProof="0" dirty="0">
              <a:ln>
                <a:noFill/>
              </a:ln>
              <a:solidFill>
                <a:sysClr val="windowText" lastClr="000000"/>
              </a:solidFill>
              <a:effectLst/>
              <a:uLnTx/>
              <a:uFillTx/>
            </a:endParaRPr>
          </a:p>
        </p:txBody>
      </p:sp>
      <p:sp>
        <p:nvSpPr>
          <p:cNvPr id="13" name="矩形 12"/>
          <p:cNvSpPr/>
          <p:nvPr/>
        </p:nvSpPr>
        <p:spPr>
          <a:xfrm>
            <a:off x="6084168" y="5093739"/>
            <a:ext cx="494046" cy="461665"/>
          </a:xfrm>
          <a:prstGeom prst="rect">
            <a:avLst/>
          </a:prstGeom>
        </p:spPr>
        <p:txBody>
          <a:bodyPr wrap="none">
            <a:spAutoFit/>
          </a:bodyPr>
          <a:lstStyle/>
          <a:p>
            <a:r>
              <a:rPr kumimoji="1" lang="en-US" altLang="zh-CN" sz="2400" b="1" dirty="0">
                <a:solidFill>
                  <a:srgbClr val="FF0066"/>
                </a:solidFill>
                <a:latin typeface="Times New Roman" panose="02020603050405020304" pitchFamily="18" charset="0"/>
                <a:cs typeface="Times New Roman" panose="02020603050405020304" pitchFamily="18" charset="0"/>
              </a:rPr>
              <a:t>★</a:t>
            </a:r>
            <a:endParaRPr lang="zh-CN" altLang="en-US" dirty="0"/>
          </a:p>
        </p:txBody>
      </p:sp>
      <p:sp>
        <p:nvSpPr>
          <p:cNvPr id="9"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451660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2"/>
          <p:cNvGraphicFramePr>
            <a:graphicFrameLocks noChangeAspect="1"/>
          </p:cNvGraphicFramePr>
          <p:nvPr/>
        </p:nvGraphicFramePr>
        <p:xfrm>
          <a:off x="4784725" y="2551113"/>
          <a:ext cx="3824288" cy="1149350"/>
        </p:xfrm>
        <a:graphic>
          <a:graphicData uri="http://schemas.openxmlformats.org/presentationml/2006/ole">
            <mc:AlternateContent xmlns:mc="http://schemas.openxmlformats.org/markup-compatibility/2006">
              <mc:Choice xmlns:v="urn:schemas-microsoft-com:vml" Requires="v">
                <p:oleObj r:id="rId2" imgW="1612900" imgH="482600" progId="Equation.DSMT4">
                  <p:embed/>
                </p:oleObj>
              </mc:Choice>
              <mc:Fallback>
                <p:oleObj r:id="rId2" imgW="1612900" imgH="482600" progId="Equation.DSMT4">
                  <p:embed/>
                  <p:pic>
                    <p:nvPicPr>
                      <p:cNvPr id="30722" name="Object 2"/>
                      <p:cNvPicPr/>
                      <p:nvPr/>
                    </p:nvPicPr>
                    <p:blipFill>
                      <a:blip r:embed="rId3"/>
                      <a:stretch>
                        <a:fillRect/>
                      </a:stretch>
                    </p:blipFill>
                    <p:spPr>
                      <a:xfrm>
                        <a:off x="4784725" y="2551113"/>
                        <a:ext cx="3824288" cy="1149350"/>
                      </a:xfrm>
                      <a:prstGeom prst="rect">
                        <a:avLst/>
                      </a:prstGeom>
                      <a:noFill/>
                      <a:ln w="38100">
                        <a:noFill/>
                        <a:miter/>
                      </a:ln>
                    </p:spPr>
                  </p:pic>
                </p:oleObj>
              </mc:Fallback>
            </mc:AlternateContent>
          </a:graphicData>
        </a:graphic>
      </p:graphicFrame>
      <p:graphicFrame>
        <p:nvGraphicFramePr>
          <p:cNvPr id="30723" name="Object 3"/>
          <p:cNvGraphicFramePr>
            <a:graphicFrameLocks noChangeAspect="1"/>
          </p:cNvGraphicFramePr>
          <p:nvPr/>
        </p:nvGraphicFramePr>
        <p:xfrm>
          <a:off x="1044575" y="2624138"/>
          <a:ext cx="3454400" cy="1408112"/>
        </p:xfrm>
        <a:graphic>
          <a:graphicData uri="http://schemas.openxmlformats.org/presentationml/2006/ole">
            <mc:AlternateContent xmlns:mc="http://schemas.openxmlformats.org/markup-compatibility/2006">
              <mc:Choice xmlns:v="urn:schemas-microsoft-com:vml" Requires="v">
                <p:oleObj r:id="rId4" imgW="1841500" imgH="660400" progId="Equation.DSMT4">
                  <p:embed/>
                </p:oleObj>
              </mc:Choice>
              <mc:Fallback>
                <p:oleObj r:id="rId4" imgW="1841500" imgH="660400" progId="Equation.DSMT4">
                  <p:embed/>
                  <p:pic>
                    <p:nvPicPr>
                      <p:cNvPr id="30723" name="Object 3"/>
                      <p:cNvPicPr/>
                      <p:nvPr/>
                    </p:nvPicPr>
                    <p:blipFill>
                      <a:blip r:embed="rId5"/>
                      <a:stretch>
                        <a:fillRect/>
                      </a:stretch>
                    </p:blipFill>
                    <p:spPr>
                      <a:xfrm>
                        <a:off x="1044575" y="2624138"/>
                        <a:ext cx="3454400" cy="1408112"/>
                      </a:xfrm>
                      <a:prstGeom prst="rect">
                        <a:avLst/>
                      </a:prstGeom>
                      <a:noFill/>
                      <a:ln w="38100">
                        <a:noFill/>
                        <a:miter/>
                      </a:ln>
                    </p:spPr>
                  </p:pic>
                </p:oleObj>
              </mc:Fallback>
            </mc:AlternateContent>
          </a:graphicData>
        </a:graphic>
      </p:graphicFrame>
      <p:graphicFrame>
        <p:nvGraphicFramePr>
          <p:cNvPr id="30724" name="Object 4"/>
          <p:cNvGraphicFramePr>
            <a:graphicFrameLocks noChangeAspect="1"/>
          </p:cNvGraphicFramePr>
          <p:nvPr/>
        </p:nvGraphicFramePr>
        <p:xfrm>
          <a:off x="5056188" y="4437063"/>
          <a:ext cx="3232150" cy="1044575"/>
        </p:xfrm>
        <a:graphic>
          <a:graphicData uri="http://schemas.openxmlformats.org/presentationml/2006/ole">
            <mc:AlternateContent xmlns:mc="http://schemas.openxmlformats.org/markup-compatibility/2006">
              <mc:Choice xmlns:v="urn:schemas-microsoft-com:vml" Requires="v">
                <p:oleObj r:id="rId6" imgW="1333500" imgH="431800" progId="Equation.DSMT4">
                  <p:embed/>
                </p:oleObj>
              </mc:Choice>
              <mc:Fallback>
                <p:oleObj r:id="rId6" imgW="1333500" imgH="431800" progId="Equation.DSMT4">
                  <p:embed/>
                  <p:pic>
                    <p:nvPicPr>
                      <p:cNvPr id="30724" name="Object 4"/>
                      <p:cNvPicPr/>
                      <p:nvPr/>
                    </p:nvPicPr>
                    <p:blipFill>
                      <a:blip r:embed="rId7"/>
                      <a:stretch>
                        <a:fillRect/>
                      </a:stretch>
                    </p:blipFill>
                    <p:spPr>
                      <a:xfrm>
                        <a:off x="5056188" y="4437063"/>
                        <a:ext cx="3232150" cy="1044575"/>
                      </a:xfrm>
                      <a:prstGeom prst="rect">
                        <a:avLst/>
                      </a:prstGeom>
                      <a:noFill/>
                      <a:ln w="38100">
                        <a:noFill/>
                        <a:miter/>
                      </a:ln>
                    </p:spPr>
                  </p:pic>
                </p:oleObj>
              </mc:Fallback>
            </mc:AlternateContent>
          </a:graphicData>
        </a:graphic>
      </p:graphicFrame>
      <p:graphicFrame>
        <p:nvGraphicFramePr>
          <p:cNvPr id="30725" name="Object 5"/>
          <p:cNvGraphicFramePr>
            <a:graphicFrameLocks noChangeAspect="1"/>
          </p:cNvGraphicFramePr>
          <p:nvPr/>
        </p:nvGraphicFramePr>
        <p:xfrm>
          <a:off x="846138" y="4508500"/>
          <a:ext cx="3927475" cy="949325"/>
        </p:xfrm>
        <a:graphic>
          <a:graphicData uri="http://schemas.openxmlformats.org/presentationml/2006/ole">
            <mc:AlternateContent xmlns:mc="http://schemas.openxmlformats.org/markup-compatibility/2006">
              <mc:Choice xmlns:v="urn:schemas-microsoft-com:vml" Requires="v">
                <p:oleObj r:id="rId8" imgW="1777365" imgH="431800" progId="Equation.DSMT4">
                  <p:embed/>
                </p:oleObj>
              </mc:Choice>
              <mc:Fallback>
                <p:oleObj r:id="rId8" imgW="1777365" imgH="431800" progId="Equation.DSMT4">
                  <p:embed/>
                  <p:pic>
                    <p:nvPicPr>
                      <p:cNvPr id="30725" name="Object 5"/>
                      <p:cNvPicPr/>
                      <p:nvPr/>
                    </p:nvPicPr>
                    <p:blipFill>
                      <a:blip r:embed="rId9"/>
                      <a:stretch>
                        <a:fillRect/>
                      </a:stretch>
                    </p:blipFill>
                    <p:spPr>
                      <a:xfrm>
                        <a:off x="846138" y="4508500"/>
                        <a:ext cx="3927475" cy="949325"/>
                      </a:xfrm>
                      <a:prstGeom prst="rect">
                        <a:avLst/>
                      </a:prstGeom>
                      <a:noFill/>
                      <a:ln w="38100">
                        <a:noFill/>
                        <a:miter/>
                      </a:ln>
                    </p:spPr>
                  </p:pic>
                </p:oleObj>
              </mc:Fallback>
            </mc:AlternateContent>
          </a:graphicData>
        </a:graphic>
      </p:graphicFrame>
      <p:graphicFrame>
        <p:nvGraphicFramePr>
          <p:cNvPr id="33798" name="Object 6"/>
          <p:cNvGraphicFramePr>
            <a:graphicFrameLocks noChangeAspect="1"/>
          </p:cNvGraphicFramePr>
          <p:nvPr/>
        </p:nvGraphicFramePr>
        <p:xfrm>
          <a:off x="1416050" y="174625"/>
          <a:ext cx="6308725" cy="2047875"/>
        </p:xfrm>
        <a:graphic>
          <a:graphicData uri="http://schemas.openxmlformats.org/presentationml/2006/ole">
            <mc:AlternateContent xmlns:mc="http://schemas.openxmlformats.org/markup-compatibility/2006">
              <mc:Choice xmlns:v="urn:schemas-microsoft-com:vml" Requires="v">
                <p:oleObj r:id="rId10" imgW="2133600" imgH="850900" progId="Equation.DSMT4">
                  <p:embed/>
                </p:oleObj>
              </mc:Choice>
              <mc:Fallback>
                <p:oleObj r:id="rId10" imgW="2133600" imgH="850900" progId="Equation.DSMT4">
                  <p:embed/>
                  <p:pic>
                    <p:nvPicPr>
                      <p:cNvPr id="33798" name="Object 6"/>
                      <p:cNvPicPr/>
                      <p:nvPr/>
                    </p:nvPicPr>
                    <p:blipFill>
                      <a:blip r:embed="rId11"/>
                      <a:stretch>
                        <a:fillRect/>
                      </a:stretch>
                    </p:blipFill>
                    <p:spPr>
                      <a:xfrm>
                        <a:off x="1416050" y="174625"/>
                        <a:ext cx="6308725" cy="20478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1728035" y="6237312"/>
            <a:ext cx="3672408"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mj-lt"/>
                <a:cs typeface="Times New Roman" panose="02020603050405020304" pitchFamily="18" charset="0"/>
              </a:rPr>
              <a:t>图</a:t>
            </a:r>
            <a:r>
              <a:rPr lang="en-US" altLang="zh-CN" sz="2800" b="1" dirty="0">
                <a:latin typeface="+mj-lt"/>
                <a:cs typeface="Times New Roman" panose="02020603050405020304" pitchFamily="18" charset="0"/>
              </a:rPr>
              <a:t>6.7</a:t>
            </a:r>
            <a:r>
              <a:rPr lang="zh-CN" altLang="en-US" sz="2800" b="1" dirty="0">
                <a:latin typeface="+mj-lt"/>
                <a:cs typeface="Times New Roman" panose="02020603050405020304" pitchFamily="18" charset="0"/>
              </a:rPr>
              <a:t>  直接</a:t>
            </a:r>
            <a:r>
              <a:rPr lang="en-US" altLang="zh-CN" sz="2800" b="1" dirty="0">
                <a:latin typeface="+mj-lt"/>
                <a:cs typeface="Times New Roman" panose="02020603050405020304" pitchFamily="18" charset="0"/>
              </a:rPr>
              <a:t>I</a:t>
            </a:r>
            <a:r>
              <a:rPr lang="zh-CN" altLang="en-US" sz="2800" b="1" dirty="0">
                <a:latin typeface="+mj-lt"/>
                <a:cs typeface="Times New Roman" panose="02020603050405020304" pitchFamily="18" charset="0"/>
              </a:rPr>
              <a:t>型的变型</a:t>
            </a:r>
          </a:p>
        </p:txBody>
      </p:sp>
      <p:graphicFrame>
        <p:nvGraphicFramePr>
          <p:cNvPr id="5" name="Object 2"/>
          <p:cNvGraphicFramePr>
            <a:graphicFrameLocks noChangeAspect="1"/>
          </p:cNvGraphicFramePr>
          <p:nvPr>
            <p:extLst>
              <p:ext uri="{D42A27DB-BD31-4B8C-83A1-F6EECF244321}">
                <p14:modId xmlns:p14="http://schemas.microsoft.com/office/powerpoint/2010/main" val="2553165053"/>
              </p:ext>
            </p:extLst>
          </p:nvPr>
        </p:nvGraphicFramePr>
        <p:xfrm>
          <a:off x="683568" y="1131676"/>
          <a:ext cx="2820988" cy="503238"/>
        </p:xfrm>
        <a:graphic>
          <a:graphicData uri="http://schemas.openxmlformats.org/presentationml/2006/ole">
            <mc:AlternateContent xmlns:mc="http://schemas.openxmlformats.org/markup-compatibility/2006">
              <mc:Choice xmlns:v="urn:schemas-microsoft-com:vml" Requires="v">
                <p:oleObj name="Equation" r:id="rId2" imgW="1282680" imgH="228600" progId="Equation.DSMT4">
                  <p:embed/>
                </p:oleObj>
              </mc:Choice>
              <mc:Fallback>
                <p:oleObj name="Equation" r:id="rId2" imgW="1282680" imgH="228600" progId="Equation.DSMT4">
                  <p:embed/>
                  <p:pic>
                    <p:nvPicPr>
                      <p:cNvPr id="13" name="Object 2"/>
                      <p:cNvPicPr>
                        <a:picLocks noChangeAspect="1" noChangeArrowheads="1"/>
                      </p:cNvPicPr>
                      <p:nvPr/>
                    </p:nvPicPr>
                    <p:blipFill>
                      <a:blip r:embed="rId3"/>
                      <a:srcRect/>
                      <a:stretch>
                        <a:fillRect/>
                      </a:stretch>
                    </p:blipFill>
                    <p:spPr bwMode="auto">
                      <a:xfrm>
                        <a:off x="683568" y="1131676"/>
                        <a:ext cx="2820988"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组合 6">
            <a:extLst>
              <a:ext uri="{FF2B5EF4-FFF2-40B4-BE49-F238E27FC236}">
                <a16:creationId xmlns:a16="http://schemas.microsoft.com/office/drawing/2014/main" id="{E2F20531-DA04-384F-CE3A-66B7A6342BB1}"/>
              </a:ext>
            </a:extLst>
          </p:cNvPr>
          <p:cNvGrpSpPr/>
          <p:nvPr/>
        </p:nvGrpSpPr>
        <p:grpSpPr>
          <a:xfrm>
            <a:off x="230212" y="2575330"/>
            <a:ext cx="5761343" cy="3504579"/>
            <a:chOff x="683568" y="1756762"/>
            <a:chExt cx="5761343" cy="3504579"/>
          </a:xfrm>
        </p:grpSpPr>
        <p:pic>
          <p:nvPicPr>
            <p:cNvPr id="3" name="Picture 4" descr="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568" y="1756762"/>
              <a:ext cx="5761343" cy="328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圆角矩形 12"/>
            <p:cNvSpPr/>
            <p:nvPr/>
          </p:nvSpPr>
          <p:spPr>
            <a:xfrm>
              <a:off x="2699792" y="2013213"/>
              <a:ext cx="804764" cy="3248128"/>
            </a:xfrm>
            <a:prstGeom prst="roundRect">
              <a:avLst/>
            </a:prstGeom>
            <a:solidFill>
              <a:srgbClr val="FF0000">
                <a:alpha val="0"/>
              </a:srgbClr>
            </a:solid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3851920" y="1985627"/>
              <a:ext cx="720080" cy="3248128"/>
            </a:xfrm>
            <a:prstGeom prst="roundRect">
              <a:avLst/>
            </a:prstGeom>
            <a:solidFill>
              <a:srgbClr val="FF0000">
                <a:alpha val="0"/>
              </a:srgbClr>
            </a:solid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Rectangle 5"/>
          <p:cNvSpPr>
            <a:spLocks noChangeArrowheads="1"/>
          </p:cNvSpPr>
          <p:nvPr/>
        </p:nvSpPr>
        <p:spPr bwMode="auto">
          <a:xfrm>
            <a:off x="6018330" y="3833140"/>
            <a:ext cx="301199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6512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indent="0" algn="just">
              <a:lnSpc>
                <a:spcPct val="125000"/>
              </a:lnSpc>
            </a:pPr>
            <a:r>
              <a:rPr lang="zh-CN" altLang="en-US" sz="2800" b="1" dirty="0">
                <a:solidFill>
                  <a:srgbClr val="000000"/>
                </a:solidFill>
                <a:latin typeface="+mj-lt"/>
              </a:rPr>
              <a:t>两条延时链中对应的延时单元内容完全相同</a:t>
            </a:r>
            <a:r>
              <a:rPr lang="en-US" altLang="zh-CN" sz="2800" b="1" dirty="0">
                <a:solidFill>
                  <a:srgbClr val="000000"/>
                </a:solidFill>
                <a:latin typeface="+mj-lt"/>
              </a:rPr>
              <a:t>,</a:t>
            </a:r>
            <a:r>
              <a:rPr lang="zh-CN" altLang="en-US" sz="2800" b="1" dirty="0">
                <a:solidFill>
                  <a:srgbClr val="000000"/>
                </a:solidFill>
                <a:latin typeface="+mj-lt"/>
              </a:rPr>
              <a:t>可合并，得图</a:t>
            </a:r>
            <a:r>
              <a:rPr lang="en-US" altLang="zh-CN" sz="2800" b="1" dirty="0">
                <a:solidFill>
                  <a:srgbClr val="000000"/>
                </a:solidFill>
                <a:latin typeface="+mj-lt"/>
              </a:rPr>
              <a:t>6.8</a:t>
            </a:r>
            <a:endParaRPr lang="zh-CN" altLang="en-US" sz="2800" b="1" dirty="0">
              <a:latin typeface="+mj-lt"/>
            </a:endParaRPr>
          </a:p>
        </p:txBody>
      </p:sp>
      <p:sp>
        <p:nvSpPr>
          <p:cNvPr id="9"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graphicFrame>
        <p:nvGraphicFramePr>
          <p:cNvPr id="8" name="Object 5">
            <a:extLst>
              <a:ext uri="{FF2B5EF4-FFF2-40B4-BE49-F238E27FC236}">
                <a16:creationId xmlns:a16="http://schemas.microsoft.com/office/drawing/2014/main" id="{5582FAF5-2BB3-02DA-FE22-CBE0FC4A5FD5}"/>
              </a:ext>
            </a:extLst>
          </p:cNvPr>
          <p:cNvGraphicFramePr>
            <a:graphicFrameLocks noChangeAspect="1"/>
          </p:cNvGraphicFramePr>
          <p:nvPr>
            <p:extLst>
              <p:ext uri="{D42A27DB-BD31-4B8C-83A1-F6EECF244321}">
                <p14:modId xmlns:p14="http://schemas.microsoft.com/office/powerpoint/2010/main" val="508720943"/>
              </p:ext>
            </p:extLst>
          </p:nvPr>
        </p:nvGraphicFramePr>
        <p:xfrm>
          <a:off x="4283968" y="698281"/>
          <a:ext cx="3927475" cy="949325"/>
        </p:xfrm>
        <a:graphic>
          <a:graphicData uri="http://schemas.openxmlformats.org/presentationml/2006/ole">
            <mc:AlternateContent xmlns:mc="http://schemas.openxmlformats.org/markup-compatibility/2006">
              <mc:Choice xmlns:v="urn:schemas-microsoft-com:vml" Requires="v">
                <p:oleObj r:id="rId5" imgW="1777365" imgH="431800" progId="Equation.DSMT4">
                  <p:embed/>
                </p:oleObj>
              </mc:Choice>
              <mc:Fallback>
                <p:oleObj r:id="rId5" imgW="1777365" imgH="431800" progId="Equation.DSMT4">
                  <p:embed/>
                  <p:pic>
                    <p:nvPicPr>
                      <p:cNvPr id="30725" name="Object 5"/>
                      <p:cNvPicPr/>
                      <p:nvPr/>
                    </p:nvPicPr>
                    <p:blipFill>
                      <a:blip r:embed="rId6"/>
                      <a:stretch>
                        <a:fillRect/>
                      </a:stretch>
                    </p:blipFill>
                    <p:spPr>
                      <a:xfrm>
                        <a:off x="4283968" y="698281"/>
                        <a:ext cx="3927475" cy="949325"/>
                      </a:xfrm>
                      <a:prstGeom prst="rect">
                        <a:avLst/>
                      </a:prstGeom>
                      <a:noFill/>
                      <a:ln w="38100">
                        <a:noFill/>
                        <a:miter/>
                      </a:ln>
                    </p:spPr>
                  </p:pic>
                </p:oleObj>
              </mc:Fallback>
            </mc:AlternateContent>
          </a:graphicData>
        </a:graphic>
      </p:graphicFrame>
      <p:graphicFrame>
        <p:nvGraphicFramePr>
          <p:cNvPr id="10" name="Object 4">
            <a:extLst>
              <a:ext uri="{FF2B5EF4-FFF2-40B4-BE49-F238E27FC236}">
                <a16:creationId xmlns:a16="http://schemas.microsoft.com/office/drawing/2014/main" id="{C978EFC4-6A7F-B59D-A8A1-871956DE4E53}"/>
              </a:ext>
            </a:extLst>
          </p:cNvPr>
          <p:cNvGraphicFramePr>
            <a:graphicFrameLocks noChangeAspect="1"/>
          </p:cNvGraphicFramePr>
          <p:nvPr>
            <p:extLst>
              <p:ext uri="{D42A27DB-BD31-4B8C-83A1-F6EECF244321}">
                <p14:modId xmlns:p14="http://schemas.microsoft.com/office/powerpoint/2010/main" val="834108228"/>
              </p:ext>
            </p:extLst>
          </p:nvPr>
        </p:nvGraphicFramePr>
        <p:xfrm>
          <a:off x="4275449" y="1498500"/>
          <a:ext cx="3232150" cy="1044575"/>
        </p:xfrm>
        <a:graphic>
          <a:graphicData uri="http://schemas.openxmlformats.org/presentationml/2006/ole">
            <mc:AlternateContent xmlns:mc="http://schemas.openxmlformats.org/markup-compatibility/2006">
              <mc:Choice xmlns:v="urn:schemas-microsoft-com:vml" Requires="v">
                <p:oleObj r:id="rId7" imgW="1333500" imgH="431800" progId="Equation.DSMT4">
                  <p:embed/>
                </p:oleObj>
              </mc:Choice>
              <mc:Fallback>
                <p:oleObj r:id="rId7" imgW="1333500" imgH="431800" progId="Equation.DSMT4">
                  <p:embed/>
                  <p:pic>
                    <p:nvPicPr>
                      <p:cNvPr id="30724" name="Object 4"/>
                      <p:cNvPicPr/>
                      <p:nvPr/>
                    </p:nvPicPr>
                    <p:blipFill>
                      <a:blip r:embed="rId8"/>
                      <a:stretch>
                        <a:fillRect/>
                      </a:stretch>
                    </p:blipFill>
                    <p:spPr>
                      <a:xfrm>
                        <a:off x="4275449" y="1498500"/>
                        <a:ext cx="3232150" cy="104457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846696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1155941"/>
            <a:ext cx="4892508" cy="3415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p:cNvSpPr txBox="1">
            <a:spLocks noChangeArrowheads="1"/>
          </p:cNvSpPr>
          <p:nvPr/>
        </p:nvSpPr>
        <p:spPr bwMode="auto">
          <a:xfrm>
            <a:off x="2257797" y="5015770"/>
            <a:ext cx="3770464"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mj-lt"/>
                <a:cs typeface="Times New Roman" panose="02020603050405020304" pitchFamily="18" charset="0"/>
              </a:rPr>
              <a:t>图</a:t>
            </a:r>
            <a:r>
              <a:rPr lang="en-US" altLang="zh-CN" sz="2800" b="1" dirty="0">
                <a:latin typeface="+mj-lt"/>
                <a:cs typeface="Times New Roman" panose="02020603050405020304" pitchFamily="18" charset="0"/>
              </a:rPr>
              <a:t>6.8</a:t>
            </a:r>
            <a:r>
              <a:rPr lang="zh-CN" altLang="en-US" sz="2800" b="1" dirty="0">
                <a:latin typeface="+mj-lt"/>
                <a:cs typeface="Times New Roman" panose="02020603050405020304" pitchFamily="18" charset="0"/>
              </a:rPr>
              <a:t>  直接</a:t>
            </a:r>
            <a:r>
              <a:rPr lang="en-US" altLang="zh-CN" sz="2800" b="1" dirty="0">
                <a:latin typeface="+mj-lt"/>
                <a:cs typeface="Times New Roman" panose="02020603050405020304" pitchFamily="18" charset="0"/>
              </a:rPr>
              <a:t>II</a:t>
            </a:r>
            <a:r>
              <a:rPr lang="zh-CN" altLang="en-US" sz="2800" b="1" dirty="0">
                <a:latin typeface="+mj-lt"/>
                <a:cs typeface="Times New Roman" panose="02020603050405020304" pitchFamily="18" charset="0"/>
              </a:rPr>
              <a:t>型结构</a:t>
            </a:r>
          </a:p>
        </p:txBody>
      </p:sp>
      <p:sp>
        <p:nvSpPr>
          <p:cNvPr id="9" name="矩形 8"/>
          <p:cNvSpPr/>
          <p:nvPr/>
        </p:nvSpPr>
        <p:spPr>
          <a:xfrm>
            <a:off x="5534215" y="5015770"/>
            <a:ext cx="494046" cy="461665"/>
          </a:xfrm>
          <a:prstGeom prst="rect">
            <a:avLst/>
          </a:prstGeom>
        </p:spPr>
        <p:txBody>
          <a:bodyPr wrap="none">
            <a:spAutoFit/>
          </a:bodyPr>
          <a:lstStyle/>
          <a:p>
            <a:r>
              <a:rPr kumimoji="1" lang="en-US" altLang="zh-CN" sz="2400" b="1" dirty="0">
                <a:solidFill>
                  <a:srgbClr val="FF0066"/>
                </a:solidFill>
                <a:latin typeface="Times New Roman" panose="02020603050405020304" pitchFamily="18" charset="0"/>
                <a:cs typeface="Times New Roman" panose="02020603050405020304" pitchFamily="18" charset="0"/>
              </a:rPr>
              <a:t>★</a:t>
            </a:r>
            <a:endParaRPr lang="zh-CN" altLang="en-US" dirty="0"/>
          </a:p>
        </p:txBody>
      </p:sp>
      <p:sp>
        <p:nvSpPr>
          <p:cNvPr id="10" name="矩形 9"/>
          <p:cNvSpPr/>
          <p:nvPr/>
        </p:nvSpPr>
        <p:spPr>
          <a:xfrm>
            <a:off x="3275856" y="5498068"/>
            <a:ext cx="1507144"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rPr>
              <a:t>正准型</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rPr>
              <a:t>)</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11" name="矩形 10"/>
          <p:cNvSpPr/>
          <p:nvPr/>
        </p:nvSpPr>
        <p:spPr>
          <a:xfrm>
            <a:off x="6516216" y="4954215"/>
            <a:ext cx="2247731"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rPr>
              <a:t>需</a:t>
            </a: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rPr>
              <a:t>N</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rPr>
              <a:t>个延迟器</a:t>
            </a:r>
            <a:endParaRPr kumimoji="0" lang="zh-CN" altLang="en-US" sz="1800" b="1" i="0" u="none" strike="noStrike" kern="0" cap="none" spc="0" normalizeH="0" baseline="0" noProof="0" dirty="0">
              <a:ln>
                <a:noFill/>
              </a:ln>
              <a:solidFill>
                <a:sysClr val="windowText" lastClr="000000"/>
              </a:solidFill>
              <a:effectLst/>
              <a:uLnTx/>
              <a:uFillTx/>
            </a:endParaRPr>
          </a:p>
        </p:txBody>
      </p:sp>
      <p:sp>
        <p:nvSpPr>
          <p:cNvPr id="12"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001364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600" y="1124744"/>
            <a:ext cx="3709670" cy="523220"/>
          </a:xfrm>
          <a:prstGeom prst="rect">
            <a:avLst/>
          </a:prstGeom>
        </p:spPr>
        <p:txBody>
          <a:bodyPr wrap="none">
            <a:spAutoFit/>
          </a:bodyPr>
          <a:lstStyle/>
          <a:p>
            <a:r>
              <a:rPr lang="zh-CN" altLang="en-US" sz="2800" b="1" dirty="0">
                <a:solidFill>
                  <a:srgbClr val="000000"/>
                </a:solidFill>
                <a:latin typeface="Times New Roman"/>
                <a:cs typeface="Times New Roman" panose="02020603050405020304" pitchFamily="18" charset="0"/>
              </a:rPr>
              <a:t>直接</a:t>
            </a:r>
            <a:r>
              <a:rPr lang="en-US" altLang="zh-CN" sz="2800" b="1" dirty="0">
                <a:solidFill>
                  <a:srgbClr val="000000"/>
                </a:solidFill>
                <a:latin typeface="Times New Roman"/>
                <a:cs typeface="Times New Roman" panose="02020603050405020304" pitchFamily="18" charset="0"/>
              </a:rPr>
              <a:t>II</a:t>
            </a:r>
            <a:r>
              <a:rPr lang="zh-CN" altLang="en-US" sz="2800" b="1" dirty="0">
                <a:solidFill>
                  <a:srgbClr val="000000"/>
                </a:solidFill>
                <a:latin typeface="Times New Roman"/>
                <a:cs typeface="Times New Roman" panose="02020603050405020304" pitchFamily="18" charset="0"/>
              </a:rPr>
              <a:t>型的转置型结构</a:t>
            </a:r>
            <a:endParaRPr lang="zh-CN" altLang="en-US" dirty="0"/>
          </a:p>
        </p:txBody>
      </p:sp>
      <p:pic>
        <p:nvPicPr>
          <p:cNvPr id="9" name="图片 8"/>
          <p:cNvPicPr>
            <a:picLocks noChangeAspect="1"/>
          </p:cNvPicPr>
          <p:nvPr/>
        </p:nvPicPr>
        <p:blipFill>
          <a:blip r:embed="rId2"/>
          <a:stretch>
            <a:fillRect/>
          </a:stretch>
        </p:blipFill>
        <p:spPr>
          <a:xfrm>
            <a:off x="2051720" y="1991179"/>
            <a:ext cx="4673600" cy="3022600"/>
          </a:xfrm>
          <a:prstGeom prst="rect">
            <a:avLst/>
          </a:prstGeom>
        </p:spPr>
      </p:pic>
      <p:sp>
        <p:nvSpPr>
          <p:cNvPr id="10" name="Text Box 6"/>
          <p:cNvSpPr txBox="1">
            <a:spLocks noChangeArrowheads="1"/>
          </p:cNvSpPr>
          <p:nvPr/>
        </p:nvSpPr>
        <p:spPr bwMode="auto">
          <a:xfrm>
            <a:off x="2070482" y="5356994"/>
            <a:ext cx="5597861"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latin typeface="+mj-lt"/>
                <a:cs typeface="Times New Roman" panose="02020603050405020304" pitchFamily="18" charset="0"/>
              </a:rPr>
              <a:t>图</a:t>
            </a:r>
            <a:r>
              <a:rPr lang="en-US" altLang="zh-CN" sz="2800" b="1" dirty="0">
                <a:latin typeface="+mj-lt"/>
                <a:cs typeface="Times New Roman" panose="02020603050405020304" pitchFamily="18" charset="0"/>
              </a:rPr>
              <a:t>6.9</a:t>
            </a:r>
            <a:r>
              <a:rPr lang="zh-CN" altLang="en-US" sz="2800" b="1" dirty="0">
                <a:latin typeface="+mj-lt"/>
                <a:cs typeface="Times New Roman" panose="02020603050405020304" pitchFamily="18" charset="0"/>
              </a:rPr>
              <a:t>  直接</a:t>
            </a:r>
            <a:r>
              <a:rPr lang="en-US" altLang="zh-CN" sz="2800" b="1" dirty="0">
                <a:latin typeface="+mj-lt"/>
                <a:cs typeface="Times New Roman" panose="02020603050405020304" pitchFamily="18" charset="0"/>
              </a:rPr>
              <a:t>II</a:t>
            </a:r>
            <a:r>
              <a:rPr lang="zh-CN" altLang="en-US" sz="2800" b="1" dirty="0">
                <a:latin typeface="+mj-lt"/>
                <a:cs typeface="Times New Roman" panose="02020603050405020304" pitchFamily="18" charset="0"/>
              </a:rPr>
              <a:t>型</a:t>
            </a:r>
            <a:r>
              <a:rPr lang="zh-CN" altLang="en-US" sz="2800" b="1" dirty="0">
                <a:solidFill>
                  <a:srgbClr val="000000"/>
                </a:solidFill>
                <a:latin typeface="Times New Roman"/>
                <a:cs typeface="Times New Roman" panose="02020603050405020304" pitchFamily="18" charset="0"/>
              </a:rPr>
              <a:t>的转置型结构</a:t>
            </a:r>
            <a:endParaRPr lang="zh-CN" altLang="en-US" sz="2800" dirty="0"/>
          </a:p>
        </p:txBody>
      </p:sp>
      <p:sp>
        <p:nvSpPr>
          <p:cNvPr id="7"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477434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3052479893"/>
              </p:ext>
            </p:extLst>
          </p:nvPr>
        </p:nvGraphicFramePr>
        <p:xfrm>
          <a:off x="1857287" y="1916832"/>
          <a:ext cx="5425056" cy="1066176"/>
        </p:xfrm>
        <a:graphic>
          <a:graphicData uri="http://schemas.openxmlformats.org/presentationml/2006/ole">
            <mc:AlternateContent xmlns:mc="http://schemas.openxmlformats.org/markup-compatibility/2006">
              <mc:Choice xmlns:v="urn:schemas-microsoft-com:vml" Requires="v">
                <p:oleObj name="Equation" r:id="rId2" imgW="2260440" imgH="444240" progId="Equation.DSMT4">
                  <p:embed/>
                </p:oleObj>
              </mc:Choice>
              <mc:Fallback>
                <p:oleObj name="Equation" r:id="rId2" imgW="2260440" imgH="444240" progId="Equation.DSMT4">
                  <p:embed/>
                  <p:pic>
                    <p:nvPicPr>
                      <p:cNvPr id="15362" name="Object 3"/>
                      <p:cNvPicPr>
                        <a:picLocks noChangeAspect="1" noChangeArrowheads="1"/>
                      </p:cNvPicPr>
                      <p:nvPr/>
                    </p:nvPicPr>
                    <p:blipFill>
                      <a:blip r:embed="rId3"/>
                      <a:srcRect/>
                      <a:stretch>
                        <a:fillRect/>
                      </a:stretch>
                    </p:blipFill>
                    <p:spPr bwMode="auto">
                      <a:xfrm>
                        <a:off x="1857287" y="1916832"/>
                        <a:ext cx="5425056" cy="1066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4"/>
          <p:cNvSpPr txBox="1">
            <a:spLocks noChangeArrowheads="1"/>
          </p:cNvSpPr>
          <p:nvPr/>
        </p:nvSpPr>
        <p:spPr bwMode="auto">
          <a:xfrm>
            <a:off x="1691680" y="3501008"/>
            <a:ext cx="65574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000000"/>
                </a:solidFill>
              </a:rPr>
              <a:t>试画出其</a:t>
            </a:r>
            <a:r>
              <a:rPr lang="zh-CN" altLang="en-US" sz="2800" b="1" dirty="0">
                <a:solidFill>
                  <a:srgbClr val="FF0000"/>
                </a:solidFill>
              </a:rPr>
              <a:t>直接</a:t>
            </a:r>
            <a:r>
              <a:rPr lang="en-US" altLang="zh-CN" sz="2800" b="1" dirty="0">
                <a:solidFill>
                  <a:srgbClr val="FF0000"/>
                </a:solidFill>
              </a:rPr>
              <a:t>II</a:t>
            </a:r>
            <a:r>
              <a:rPr lang="zh-CN" altLang="en-US" sz="2800" b="1" dirty="0">
                <a:solidFill>
                  <a:srgbClr val="FF0000"/>
                </a:solidFill>
              </a:rPr>
              <a:t>型</a:t>
            </a:r>
            <a:r>
              <a:rPr lang="zh-CN" altLang="en-US" sz="2800" b="1" dirty="0">
                <a:solidFill>
                  <a:srgbClr val="000000"/>
                </a:solidFill>
              </a:rPr>
              <a:t>、级联型和并联型结构。</a:t>
            </a:r>
          </a:p>
        </p:txBody>
      </p:sp>
      <p:sp>
        <p:nvSpPr>
          <p:cNvPr id="7" name="矩形 6"/>
          <p:cNvSpPr/>
          <p:nvPr/>
        </p:nvSpPr>
        <p:spPr>
          <a:xfrm>
            <a:off x="683568" y="1176427"/>
            <a:ext cx="1173719" cy="523220"/>
          </a:xfrm>
          <a:prstGeom prst="rect">
            <a:avLst/>
          </a:prstGeom>
        </p:spPr>
        <p:txBody>
          <a:bodyPr wrap="none">
            <a:spAutoFit/>
          </a:bodyPr>
          <a:lstStyle/>
          <a:p>
            <a:r>
              <a:rPr kumimoji="1" lang="en-US" altLang="zh-CN" sz="2800" i="1" dirty="0">
                <a:solidFill>
                  <a:srgbClr val="000000"/>
                </a:solidFill>
                <a:latin typeface="+mj-lt"/>
                <a:cs typeface="+mj-cs"/>
              </a:rPr>
              <a:t> </a:t>
            </a:r>
            <a:r>
              <a:rPr kumimoji="1" lang="zh-CN" altLang="en-US" sz="2800" b="1" dirty="0">
                <a:solidFill>
                  <a:srgbClr val="000000"/>
                </a:solidFill>
                <a:latin typeface="+mj-lt"/>
                <a:cs typeface="+mj-cs"/>
              </a:rPr>
              <a:t>例</a:t>
            </a:r>
            <a:r>
              <a:rPr kumimoji="1" lang="en-US" altLang="zh-CN" sz="2800" b="1" dirty="0">
                <a:solidFill>
                  <a:srgbClr val="000000"/>
                </a:solidFill>
                <a:latin typeface="+mj-lt"/>
                <a:cs typeface="+mj-cs"/>
              </a:rPr>
              <a:t>6.2 </a:t>
            </a:r>
            <a:endParaRPr lang="zh-CN" altLang="en-US" dirty="0">
              <a:latin typeface="+mj-lt"/>
            </a:endParaRPr>
          </a:p>
        </p:txBody>
      </p:sp>
      <p:sp>
        <p:nvSpPr>
          <p:cNvPr id="9" name="矩形 8"/>
          <p:cNvSpPr/>
          <p:nvPr/>
        </p:nvSpPr>
        <p:spPr>
          <a:xfrm>
            <a:off x="1830440" y="1177588"/>
            <a:ext cx="7134047" cy="523220"/>
          </a:xfrm>
          <a:prstGeom prst="rect">
            <a:avLst/>
          </a:prstGeom>
        </p:spPr>
        <p:txBody>
          <a:bodyPr wrap="square">
            <a:spAutoFit/>
          </a:bodyPr>
          <a:lstStyle/>
          <a:p>
            <a:r>
              <a:rPr kumimoji="1" lang="zh-CN" altLang="en-US" sz="2800" b="1" dirty="0">
                <a:solidFill>
                  <a:srgbClr val="000000"/>
                </a:solidFill>
                <a:latin typeface="Times New Roman"/>
                <a:ea typeface="宋体"/>
                <a:cs typeface="+mj-cs"/>
              </a:rPr>
              <a:t>已知某三阶数字滤波器的系统函数为</a:t>
            </a:r>
            <a:endParaRPr lang="zh-CN" altLang="en-US" dirty="0"/>
          </a:p>
        </p:txBody>
      </p:sp>
      <p:sp>
        <p:nvSpPr>
          <p:cNvPr id="8"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738169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19069" y="1033572"/>
            <a:ext cx="902811" cy="523220"/>
          </a:xfrm>
          <a:prstGeom prst="rect">
            <a:avLst/>
          </a:prstGeom>
        </p:spPr>
        <p:txBody>
          <a:bodyPr wrap="none">
            <a:spAutoFit/>
          </a:bodyPr>
          <a:lstStyle/>
          <a:p>
            <a:r>
              <a:rPr kumimoji="1" lang="zh-CN" altLang="en-US" sz="2800" b="1" dirty="0">
                <a:solidFill>
                  <a:srgbClr val="000000"/>
                </a:solidFill>
                <a:latin typeface="+mj-lt"/>
                <a:cs typeface="+mj-cs"/>
              </a:rPr>
              <a:t>解：</a:t>
            </a:r>
            <a:endParaRPr lang="zh-CN" altLang="en-US" b="1" dirty="0">
              <a:latin typeface="+mj-lt"/>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1016094321"/>
              </p:ext>
            </p:extLst>
          </p:nvPr>
        </p:nvGraphicFramePr>
        <p:xfrm>
          <a:off x="1979711" y="836711"/>
          <a:ext cx="5120064" cy="1035936"/>
        </p:xfrm>
        <a:graphic>
          <a:graphicData uri="http://schemas.openxmlformats.org/presentationml/2006/ole">
            <mc:AlternateContent xmlns:mc="http://schemas.openxmlformats.org/markup-compatibility/2006">
              <mc:Choice xmlns:v="urn:schemas-microsoft-com:vml" Requires="v">
                <p:oleObj name="Equation" r:id="rId2" imgW="2133360" imgH="431640" progId="Equation.DSMT4">
                  <p:embed/>
                </p:oleObj>
              </mc:Choice>
              <mc:Fallback>
                <p:oleObj name="Equation" r:id="rId2" imgW="2133360" imgH="431640" progId="Equation.DSMT4">
                  <p:embed/>
                  <p:pic>
                    <p:nvPicPr>
                      <p:cNvPr id="11" name="Object 3"/>
                      <p:cNvPicPr>
                        <a:picLocks noChangeAspect="1" noChangeArrowheads="1"/>
                      </p:cNvPicPr>
                      <p:nvPr/>
                    </p:nvPicPr>
                    <p:blipFill>
                      <a:blip r:embed="rId3"/>
                      <a:srcRect/>
                      <a:stretch>
                        <a:fillRect/>
                      </a:stretch>
                    </p:blipFill>
                    <p:spPr bwMode="auto">
                      <a:xfrm>
                        <a:off x="1979711" y="836711"/>
                        <a:ext cx="5120064" cy="103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矩形 3"/>
          <p:cNvSpPr>
            <a:spLocks noChangeArrowheads="1"/>
          </p:cNvSpPr>
          <p:nvPr/>
        </p:nvSpPr>
        <p:spPr bwMode="auto">
          <a:xfrm>
            <a:off x="3909226" y="6146140"/>
            <a:ext cx="15456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FontTx/>
              <a:buNone/>
            </a:pPr>
            <a:r>
              <a:rPr lang="zh-CN" altLang="zh-CN" sz="2800" dirty="0">
                <a:latin typeface="Times New Roman" panose="02020603050405020304" pitchFamily="18" charset="0"/>
                <a:ea typeface="宋体" panose="02010600030101010101" pitchFamily="2" charset="-122"/>
              </a:rPr>
              <a:t>直接II型</a:t>
            </a:r>
            <a:endParaRPr lang="zh-CN" altLang="en-US" sz="2800" b="0" dirty="0">
              <a:solidFill>
                <a:srgbClr val="FFFF00"/>
              </a:solidFill>
            </a:endParaRPr>
          </a:p>
        </p:txBody>
      </p:sp>
      <p:grpSp>
        <p:nvGrpSpPr>
          <p:cNvPr id="8" name="组合 7"/>
          <p:cNvGrpSpPr>
            <a:grpSpLocks/>
          </p:cNvGrpSpPr>
          <p:nvPr/>
        </p:nvGrpSpPr>
        <p:grpSpPr bwMode="auto">
          <a:xfrm>
            <a:off x="1764308" y="1881348"/>
            <a:ext cx="5688012" cy="3959225"/>
            <a:chOff x="1331640" y="1772816"/>
            <a:chExt cx="5688632" cy="3960440"/>
          </a:xfrm>
        </p:grpSpPr>
        <p:sp>
          <p:nvSpPr>
            <p:cNvPr id="9" name="Text Box 98"/>
            <p:cNvSpPr txBox="1">
              <a:spLocks noChangeArrowheads="1"/>
            </p:cNvSpPr>
            <p:nvPr/>
          </p:nvSpPr>
          <p:spPr bwMode="auto">
            <a:xfrm>
              <a:off x="6105872" y="1844824"/>
              <a:ext cx="914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i="1">
                  <a:latin typeface="Times New Roman" panose="02020603050405020304" pitchFamily="18" charset="0"/>
                  <a:ea typeface="宋体" panose="02010600030101010101" pitchFamily="2" charset="-122"/>
                </a:rPr>
                <a:t>y</a:t>
              </a:r>
              <a:r>
                <a:rPr lang="en-US" altLang="zh-CN" sz="3200">
                  <a:latin typeface="Times New Roman" panose="02020603050405020304" pitchFamily="18" charset="0"/>
                  <a:ea typeface="宋体" panose="02010600030101010101" pitchFamily="2" charset="-122"/>
                </a:rPr>
                <a:t>(</a:t>
              </a:r>
              <a:r>
                <a:rPr lang="en-US" altLang="zh-CN" sz="3200" i="1">
                  <a:latin typeface="Times New Roman" panose="02020603050405020304" pitchFamily="18" charset="0"/>
                  <a:ea typeface="宋体" panose="02010600030101010101" pitchFamily="2" charset="-122"/>
                </a:rPr>
                <a:t>n</a:t>
              </a:r>
              <a:r>
                <a:rPr lang="en-US" altLang="zh-CN" sz="3200">
                  <a:latin typeface="Times New Roman" panose="02020603050405020304" pitchFamily="18" charset="0"/>
                  <a:ea typeface="宋体" panose="02010600030101010101" pitchFamily="2" charset="-122"/>
                </a:rPr>
                <a:t>)</a:t>
              </a:r>
            </a:p>
          </p:txBody>
        </p:sp>
        <p:sp>
          <p:nvSpPr>
            <p:cNvPr id="10" name="Text Box 99"/>
            <p:cNvSpPr txBox="1">
              <a:spLocks noChangeArrowheads="1"/>
            </p:cNvSpPr>
            <p:nvPr/>
          </p:nvSpPr>
          <p:spPr bwMode="auto">
            <a:xfrm>
              <a:off x="1331640" y="1772816"/>
              <a:ext cx="838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i="1">
                  <a:latin typeface="Times New Roman" panose="02020603050405020304" pitchFamily="18" charset="0"/>
                  <a:ea typeface="宋体" panose="02010600030101010101" pitchFamily="2" charset="-122"/>
                </a:rPr>
                <a:t>x</a:t>
              </a:r>
              <a:r>
                <a:rPr lang="en-US" altLang="zh-CN" sz="3200">
                  <a:latin typeface="Times New Roman" panose="02020603050405020304" pitchFamily="18" charset="0"/>
                  <a:ea typeface="宋体" panose="02010600030101010101" pitchFamily="2" charset="-122"/>
                </a:rPr>
                <a:t>(</a:t>
              </a:r>
              <a:r>
                <a:rPr lang="en-US" altLang="zh-CN" sz="3200" i="1">
                  <a:latin typeface="Times New Roman" panose="02020603050405020304" pitchFamily="18" charset="0"/>
                  <a:ea typeface="宋体" panose="02010600030101010101" pitchFamily="2" charset="-122"/>
                </a:rPr>
                <a:t>n</a:t>
              </a:r>
              <a:r>
                <a:rPr lang="en-US" altLang="zh-CN" sz="3200">
                  <a:latin typeface="Times New Roman" panose="02020603050405020304" pitchFamily="18" charset="0"/>
                  <a:ea typeface="宋体" panose="02010600030101010101" pitchFamily="2" charset="-122"/>
                </a:rPr>
                <a:t>)</a:t>
              </a:r>
            </a:p>
          </p:txBody>
        </p:sp>
        <p:sp>
          <p:nvSpPr>
            <p:cNvPr id="11" name="Line 57"/>
            <p:cNvSpPr>
              <a:spLocks noChangeShapeType="1"/>
            </p:cNvSpPr>
            <p:nvPr/>
          </p:nvSpPr>
          <p:spPr bwMode="auto">
            <a:xfrm>
              <a:off x="1331640" y="2492896"/>
              <a:ext cx="1137950" cy="0"/>
            </a:xfrm>
            <a:prstGeom prst="line">
              <a:avLst/>
            </a:prstGeom>
            <a:noFill/>
            <a:ln w="38100">
              <a:solidFill>
                <a:schemeClr val="tx1"/>
              </a:solidFill>
              <a:round/>
              <a:headEnd type="oval"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58"/>
            <p:cNvSpPr>
              <a:spLocks noChangeShapeType="1"/>
            </p:cNvSpPr>
            <p:nvPr/>
          </p:nvSpPr>
          <p:spPr bwMode="auto">
            <a:xfrm>
              <a:off x="2988021" y="2492896"/>
              <a:ext cx="907255"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59"/>
            <p:cNvSpPr>
              <a:spLocks noChangeShapeType="1"/>
            </p:cNvSpPr>
            <p:nvPr/>
          </p:nvSpPr>
          <p:spPr bwMode="auto">
            <a:xfrm>
              <a:off x="3895276" y="2492896"/>
              <a:ext cx="1166471"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60"/>
            <p:cNvSpPr>
              <a:spLocks noChangeShapeType="1"/>
            </p:cNvSpPr>
            <p:nvPr/>
          </p:nvSpPr>
          <p:spPr bwMode="auto">
            <a:xfrm>
              <a:off x="2339982" y="2492896"/>
              <a:ext cx="7776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61"/>
            <p:cNvSpPr>
              <a:spLocks noChangeShapeType="1"/>
            </p:cNvSpPr>
            <p:nvPr/>
          </p:nvSpPr>
          <p:spPr bwMode="auto">
            <a:xfrm>
              <a:off x="2728806" y="4091779"/>
              <a:ext cx="1" cy="1641477"/>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62"/>
            <p:cNvSpPr>
              <a:spLocks noChangeShapeType="1"/>
            </p:cNvSpPr>
            <p:nvPr/>
          </p:nvSpPr>
          <p:spPr bwMode="auto">
            <a:xfrm>
              <a:off x="4284099" y="2492896"/>
              <a:ext cx="0" cy="840093"/>
            </a:xfrm>
            <a:prstGeom prst="line">
              <a:avLst/>
            </a:prstGeom>
            <a:noFill/>
            <a:ln w="38100">
              <a:solidFill>
                <a:schemeClr val="tx1"/>
              </a:solidFill>
              <a:round/>
              <a:headEnd type="oval"/>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63"/>
            <p:cNvSpPr>
              <a:spLocks noChangeShapeType="1"/>
            </p:cNvSpPr>
            <p:nvPr/>
          </p:nvSpPr>
          <p:spPr bwMode="auto">
            <a:xfrm>
              <a:off x="3376845" y="3573016"/>
              <a:ext cx="907255" cy="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64"/>
            <p:cNvSpPr>
              <a:spLocks noChangeShapeType="1"/>
            </p:cNvSpPr>
            <p:nvPr/>
          </p:nvSpPr>
          <p:spPr bwMode="auto">
            <a:xfrm>
              <a:off x="4284098" y="3212977"/>
              <a:ext cx="1" cy="108012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65"/>
            <p:cNvSpPr>
              <a:spLocks noChangeShapeType="1"/>
            </p:cNvSpPr>
            <p:nvPr/>
          </p:nvSpPr>
          <p:spPr bwMode="auto">
            <a:xfrm flipV="1">
              <a:off x="3419872" y="4771531"/>
              <a:ext cx="864226" cy="1617"/>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66"/>
            <p:cNvSpPr>
              <a:spLocks noChangeShapeType="1"/>
            </p:cNvSpPr>
            <p:nvPr/>
          </p:nvSpPr>
          <p:spPr bwMode="auto">
            <a:xfrm>
              <a:off x="4284099" y="4293096"/>
              <a:ext cx="0" cy="48005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67"/>
            <p:cNvSpPr>
              <a:spLocks noChangeShapeType="1"/>
            </p:cNvSpPr>
            <p:nvPr/>
          </p:nvSpPr>
          <p:spPr bwMode="auto">
            <a:xfrm>
              <a:off x="4802531" y="2492896"/>
              <a:ext cx="2073725" cy="0"/>
            </a:xfrm>
            <a:prstGeom prst="line">
              <a:avLst/>
            </a:prstGeom>
            <a:noFill/>
            <a:ln w="381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68"/>
            <p:cNvSpPr>
              <a:spLocks noChangeShapeType="1"/>
            </p:cNvSpPr>
            <p:nvPr/>
          </p:nvSpPr>
          <p:spPr bwMode="auto">
            <a:xfrm flipH="1">
              <a:off x="2728806" y="3573016"/>
              <a:ext cx="777647" cy="0"/>
            </a:xfrm>
            <a:prstGeom prst="line">
              <a:avLst/>
            </a:prstGeom>
            <a:noFill/>
            <a:ln w="38100">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69"/>
            <p:cNvSpPr>
              <a:spLocks noChangeShapeType="1"/>
            </p:cNvSpPr>
            <p:nvPr/>
          </p:nvSpPr>
          <p:spPr bwMode="auto">
            <a:xfrm flipH="1">
              <a:off x="2728806" y="4773149"/>
              <a:ext cx="907255" cy="0"/>
            </a:xfrm>
            <a:prstGeom prst="line">
              <a:avLst/>
            </a:prstGeom>
            <a:noFill/>
            <a:ln w="38100">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70"/>
            <p:cNvSpPr>
              <a:spLocks noChangeShapeType="1"/>
            </p:cNvSpPr>
            <p:nvPr/>
          </p:nvSpPr>
          <p:spPr bwMode="auto">
            <a:xfrm>
              <a:off x="4802531" y="2492896"/>
              <a:ext cx="7776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74"/>
            <p:cNvSpPr>
              <a:spLocks noChangeShapeType="1"/>
            </p:cNvSpPr>
            <p:nvPr/>
          </p:nvSpPr>
          <p:spPr bwMode="auto">
            <a:xfrm>
              <a:off x="2728806" y="5073182"/>
              <a:ext cx="0" cy="660074"/>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75"/>
            <p:cNvSpPr>
              <a:spLocks noChangeShapeType="1"/>
            </p:cNvSpPr>
            <p:nvPr/>
          </p:nvSpPr>
          <p:spPr bwMode="auto">
            <a:xfrm>
              <a:off x="4284099" y="4653136"/>
              <a:ext cx="0" cy="840093"/>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76"/>
            <p:cNvSpPr>
              <a:spLocks noChangeShapeType="1"/>
            </p:cNvSpPr>
            <p:nvPr/>
          </p:nvSpPr>
          <p:spPr bwMode="auto">
            <a:xfrm>
              <a:off x="3376845" y="5733256"/>
              <a:ext cx="907255" cy="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77"/>
            <p:cNvSpPr>
              <a:spLocks noChangeShapeType="1"/>
            </p:cNvSpPr>
            <p:nvPr/>
          </p:nvSpPr>
          <p:spPr bwMode="auto">
            <a:xfrm flipH="1">
              <a:off x="2728806" y="5733256"/>
              <a:ext cx="7776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79"/>
            <p:cNvSpPr>
              <a:spLocks noChangeShapeType="1"/>
            </p:cNvSpPr>
            <p:nvPr/>
          </p:nvSpPr>
          <p:spPr bwMode="auto">
            <a:xfrm>
              <a:off x="4284099" y="5493229"/>
              <a:ext cx="0" cy="24002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80"/>
            <p:cNvSpPr>
              <a:spLocks noChangeShapeType="1"/>
            </p:cNvSpPr>
            <p:nvPr/>
          </p:nvSpPr>
          <p:spPr bwMode="auto">
            <a:xfrm flipV="1">
              <a:off x="5709786" y="2972949"/>
              <a:ext cx="0" cy="480053"/>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81"/>
            <p:cNvSpPr>
              <a:spLocks noChangeShapeType="1"/>
            </p:cNvSpPr>
            <p:nvPr/>
          </p:nvSpPr>
          <p:spPr bwMode="auto">
            <a:xfrm flipH="1">
              <a:off x="4154492" y="3573016"/>
              <a:ext cx="907255" cy="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82"/>
            <p:cNvSpPr>
              <a:spLocks noChangeShapeType="1"/>
            </p:cNvSpPr>
            <p:nvPr/>
          </p:nvSpPr>
          <p:spPr bwMode="auto">
            <a:xfrm flipH="1" flipV="1">
              <a:off x="5709786" y="3933056"/>
              <a:ext cx="0" cy="840093"/>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83"/>
            <p:cNvSpPr>
              <a:spLocks noChangeShapeType="1"/>
            </p:cNvSpPr>
            <p:nvPr/>
          </p:nvSpPr>
          <p:spPr bwMode="auto">
            <a:xfrm flipH="1" flipV="1">
              <a:off x="4269798" y="4771531"/>
              <a:ext cx="820555" cy="1618"/>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84"/>
            <p:cNvSpPr>
              <a:spLocks noChangeShapeType="1"/>
            </p:cNvSpPr>
            <p:nvPr/>
          </p:nvSpPr>
          <p:spPr bwMode="auto">
            <a:xfrm flipV="1">
              <a:off x="5709786" y="3092963"/>
              <a:ext cx="0" cy="10801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85"/>
            <p:cNvSpPr>
              <a:spLocks noChangeShapeType="1"/>
            </p:cNvSpPr>
            <p:nvPr/>
          </p:nvSpPr>
          <p:spPr bwMode="auto">
            <a:xfrm flipH="1">
              <a:off x="4932139" y="3573016"/>
              <a:ext cx="777647" cy="0"/>
            </a:xfrm>
            <a:prstGeom prst="line">
              <a:avLst/>
            </a:prstGeom>
            <a:noFill/>
            <a:ln w="38100">
              <a:solidFill>
                <a:schemeClr val="tx1"/>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86"/>
            <p:cNvSpPr>
              <a:spLocks noChangeShapeType="1"/>
            </p:cNvSpPr>
            <p:nvPr/>
          </p:nvSpPr>
          <p:spPr bwMode="auto">
            <a:xfrm flipH="1">
              <a:off x="4802531" y="4773149"/>
              <a:ext cx="90725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87"/>
            <p:cNvSpPr>
              <a:spLocks noChangeShapeType="1"/>
            </p:cNvSpPr>
            <p:nvPr/>
          </p:nvSpPr>
          <p:spPr bwMode="auto">
            <a:xfrm>
              <a:off x="5191354" y="2492896"/>
              <a:ext cx="7776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88"/>
            <p:cNvSpPr>
              <a:spLocks noChangeShapeType="1"/>
            </p:cNvSpPr>
            <p:nvPr/>
          </p:nvSpPr>
          <p:spPr bwMode="auto">
            <a:xfrm flipV="1">
              <a:off x="5709786" y="2492896"/>
              <a:ext cx="0" cy="600067"/>
            </a:xfrm>
            <a:prstGeom prst="line">
              <a:avLst/>
            </a:prstGeom>
            <a:noFill/>
            <a:ln w="38100">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59"/>
            <p:cNvSpPr>
              <a:spLocks noChangeShapeType="1"/>
            </p:cNvSpPr>
            <p:nvPr/>
          </p:nvSpPr>
          <p:spPr bwMode="auto">
            <a:xfrm>
              <a:off x="5364088" y="2492896"/>
              <a:ext cx="1036863"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18"/>
            <p:cNvSpPr txBox="1">
              <a:spLocks noChangeArrowheads="1"/>
            </p:cNvSpPr>
            <p:nvPr/>
          </p:nvSpPr>
          <p:spPr bwMode="auto">
            <a:xfrm>
              <a:off x="4706544" y="1888957"/>
              <a:ext cx="72955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3</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Text Box 20"/>
            <p:cNvSpPr txBox="1">
              <a:spLocks noChangeArrowheads="1"/>
            </p:cNvSpPr>
            <p:nvPr/>
          </p:nvSpPr>
          <p:spPr bwMode="auto">
            <a:xfrm>
              <a:off x="4634536" y="2988241"/>
              <a:ext cx="729552" cy="584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2.</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42" name="Text Box 21"/>
            <p:cNvSpPr txBox="1">
              <a:spLocks noChangeArrowheads="1"/>
            </p:cNvSpPr>
            <p:nvPr/>
          </p:nvSpPr>
          <p:spPr bwMode="auto">
            <a:xfrm>
              <a:off x="4634536" y="4212377"/>
              <a:ext cx="72955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0.4</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Text Box 36"/>
            <p:cNvSpPr txBox="1">
              <a:spLocks noChangeArrowheads="1"/>
            </p:cNvSpPr>
            <p:nvPr/>
          </p:nvSpPr>
          <p:spPr bwMode="auto">
            <a:xfrm>
              <a:off x="3149496" y="2944992"/>
              <a:ext cx="11203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-0.4</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Text Box 37"/>
            <p:cNvSpPr txBox="1">
              <a:spLocks noChangeArrowheads="1"/>
            </p:cNvSpPr>
            <p:nvPr/>
          </p:nvSpPr>
          <p:spPr bwMode="auto">
            <a:xfrm>
              <a:off x="3063319" y="4140369"/>
              <a:ext cx="9684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0.1</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Text Box 50"/>
            <p:cNvSpPr txBox="1">
              <a:spLocks noChangeArrowheads="1"/>
            </p:cNvSpPr>
            <p:nvPr/>
          </p:nvSpPr>
          <p:spPr bwMode="auto">
            <a:xfrm rot="10800000" flipV="1">
              <a:off x="3153353" y="5148480"/>
              <a:ext cx="12026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0.3</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Rectangle 23"/>
            <p:cNvSpPr>
              <a:spLocks noChangeArrowheads="1"/>
            </p:cNvSpPr>
            <p:nvPr/>
          </p:nvSpPr>
          <p:spPr bwMode="auto">
            <a:xfrm>
              <a:off x="4359447" y="2753628"/>
              <a:ext cx="5725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0"/>
                </a:spcBef>
                <a:buFontTx/>
                <a:buNone/>
              </a:pPr>
              <a:r>
                <a:rPr lang="en-US" altLang="zh-CN" sz="3200" i="1">
                  <a:latin typeface="Times New Roman" panose="02020603050405020304" pitchFamily="18" charset="0"/>
                  <a:ea typeface="宋体" panose="02010600030101010101" pitchFamily="2" charset="-122"/>
                  <a:cs typeface="Times New Roman" panose="02020603050405020304" pitchFamily="18" charset="0"/>
                </a:rPr>
                <a:t>z</a:t>
              </a:r>
              <a:r>
                <a:rPr lang="en-US" altLang="zh-CN" sz="3200" baseline="3000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47" name="Rectangle 23"/>
            <p:cNvSpPr>
              <a:spLocks noChangeArrowheads="1"/>
            </p:cNvSpPr>
            <p:nvPr/>
          </p:nvSpPr>
          <p:spPr bwMode="auto">
            <a:xfrm>
              <a:off x="4359447" y="3780329"/>
              <a:ext cx="5725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0"/>
                </a:spcBef>
                <a:buFontTx/>
                <a:buNone/>
              </a:pPr>
              <a:r>
                <a:rPr lang="en-US" altLang="zh-CN" sz="3200" i="1">
                  <a:latin typeface="Times New Roman" panose="02020603050405020304" pitchFamily="18" charset="0"/>
                  <a:ea typeface="宋体" panose="02010600030101010101" pitchFamily="2" charset="-122"/>
                  <a:cs typeface="Times New Roman" panose="02020603050405020304" pitchFamily="18" charset="0"/>
                </a:rPr>
                <a:t>z</a:t>
              </a:r>
              <a:r>
                <a:rPr lang="en-US" altLang="zh-CN" sz="3200" baseline="3000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48" name="Rectangle 23"/>
            <p:cNvSpPr>
              <a:spLocks noChangeArrowheads="1"/>
            </p:cNvSpPr>
            <p:nvPr/>
          </p:nvSpPr>
          <p:spPr bwMode="auto">
            <a:xfrm>
              <a:off x="4359447" y="4932457"/>
              <a:ext cx="5725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0"/>
                </a:spcBef>
                <a:buFontTx/>
                <a:buNone/>
              </a:pPr>
              <a:r>
                <a:rPr lang="en-US" altLang="zh-CN" sz="3200" i="1">
                  <a:latin typeface="Times New Roman" panose="02020603050405020304" pitchFamily="18" charset="0"/>
                  <a:ea typeface="宋体" panose="02010600030101010101" pitchFamily="2" charset="-122"/>
                  <a:cs typeface="Times New Roman" panose="02020603050405020304" pitchFamily="18" charset="0"/>
                </a:rPr>
                <a:t>z</a:t>
              </a:r>
              <a:r>
                <a:rPr lang="en-US" altLang="zh-CN" sz="3200" baseline="3000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49" name="Line 61"/>
            <p:cNvSpPr>
              <a:spLocks noChangeShapeType="1"/>
            </p:cNvSpPr>
            <p:nvPr/>
          </p:nvSpPr>
          <p:spPr bwMode="auto">
            <a:xfrm>
              <a:off x="2728805" y="2996952"/>
              <a:ext cx="1" cy="1094827"/>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8"/>
            <p:cNvSpPr>
              <a:spLocks noChangeShapeType="1"/>
            </p:cNvSpPr>
            <p:nvPr/>
          </p:nvSpPr>
          <p:spPr bwMode="auto">
            <a:xfrm flipH="1" flipV="1">
              <a:off x="2728804" y="2492896"/>
              <a:ext cx="0" cy="553118"/>
            </a:xfrm>
            <a:prstGeom prst="line">
              <a:avLst/>
            </a:prstGeom>
            <a:noFill/>
            <a:ln w="38100" cap="rnd">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 name="矩形 50"/>
          <p:cNvSpPr/>
          <p:nvPr/>
        </p:nvSpPr>
        <p:spPr>
          <a:xfrm>
            <a:off x="305915" y="3345462"/>
            <a:ext cx="2401829" cy="2092881"/>
          </a:xfrm>
          <a:prstGeom prst="rect">
            <a:avLst/>
          </a:prstGeom>
        </p:spPr>
        <p:txBody>
          <a:bodyPr wrap="square">
            <a:spAutoFit/>
          </a:bodyPr>
          <a:lstStyle/>
          <a:p>
            <a:r>
              <a:rPr lang="zh-CN" altLang="en-US" sz="2600" b="1" dirty="0"/>
              <a:t>分子分母系数</a:t>
            </a:r>
            <a:endParaRPr lang="en-US" altLang="zh-CN" sz="2600" b="1" dirty="0"/>
          </a:p>
          <a:p>
            <a:r>
              <a:rPr lang="zh-CN" altLang="en-US" sz="2600" b="1" dirty="0"/>
              <a:t>和前馈、反馈的对应；</a:t>
            </a:r>
            <a:r>
              <a:rPr lang="zh-CN" altLang="en-US" sz="2600" b="1" dirty="0">
                <a:solidFill>
                  <a:srgbClr val="0000CC"/>
                </a:solidFill>
                <a:latin typeface="Times New Roman" panose="02020603050405020304" pitchFamily="18" charset="0"/>
              </a:rPr>
              <a:t>注意反馈部分系数符号</a:t>
            </a:r>
          </a:p>
        </p:txBody>
      </p:sp>
      <p:sp>
        <p:nvSpPr>
          <p:cNvPr id="52"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9296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861764" y="928752"/>
            <a:ext cx="7886700" cy="365237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2800" b="1" kern="1200">
                <a:solidFill>
                  <a:schemeClr val="tx1"/>
                </a:solidFill>
                <a:latin typeface="黑体" panose="02010609060101010101" pitchFamily="49" charset="-122"/>
                <a:ea typeface="黑体" panose="02010609060101010101" pitchFamily="49"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2400" b="1" kern="1200">
                <a:solidFill>
                  <a:schemeClr val="tx1"/>
                </a:solidFill>
                <a:latin typeface="黑体" panose="02010609060101010101" pitchFamily="49" charset="-122"/>
                <a:ea typeface="黑体" panose="02010609060101010101" pitchFamily="49"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2000" b="1" kern="1200">
                <a:solidFill>
                  <a:schemeClr val="tx1"/>
                </a:solidFill>
                <a:latin typeface="黑体" panose="02010609060101010101" pitchFamily="49" charset="-122"/>
                <a:ea typeface="黑体" panose="02010609060101010101" pitchFamily="49"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lnSpc>
                <a:spcPct val="130000"/>
              </a:lnSpc>
              <a:spcBef>
                <a:spcPct val="0"/>
              </a:spcBef>
              <a:spcAft>
                <a:spcPct val="50000"/>
              </a:spcAft>
              <a:buFontTx/>
              <a:buNone/>
            </a:pPr>
            <a:r>
              <a:rPr lang="zh-CN" altLang="en-US" sz="2800" dirty="0">
                <a:solidFill>
                  <a:srgbClr val="0000CC"/>
                </a:solidFill>
                <a:latin typeface="+mj-lt"/>
                <a:ea typeface="宋体" panose="02010600030101010101" pitchFamily="2" charset="-122"/>
                <a:cs typeface="Times New Roman" panose="02020603050405020304" pitchFamily="18" charset="0"/>
              </a:rPr>
              <a:t>直接型结构的缺点：</a:t>
            </a:r>
          </a:p>
          <a:p>
            <a:pPr fontAlgn="auto">
              <a:lnSpc>
                <a:spcPct val="115000"/>
              </a:lnSpc>
              <a:spcBef>
                <a:spcPct val="0"/>
              </a:spcBef>
              <a:spcAft>
                <a:spcPct val="25000"/>
              </a:spcAft>
              <a:buFontTx/>
              <a:buNone/>
            </a:pPr>
            <a:r>
              <a:rPr lang="zh-CN" altLang="en-US" sz="2800" dirty="0">
                <a:latin typeface="+mj-lt"/>
                <a:ea typeface="宋体" panose="02010600030101010101" pitchFamily="2" charset="-122"/>
                <a:cs typeface="Times New Roman" panose="02020603050405020304" pitchFamily="18" charset="0"/>
              </a:rPr>
              <a:t>①对零极点的控制难，一个系数</a:t>
            </a:r>
            <a:r>
              <a:rPr lang="en-US" altLang="zh-CN" sz="2800" i="1" dirty="0" err="1">
                <a:solidFill>
                  <a:srgbClr val="0000CC"/>
                </a:solidFill>
                <a:latin typeface="+mj-lt"/>
                <a:ea typeface="宋体" panose="02010600030101010101" pitchFamily="2" charset="-122"/>
                <a:cs typeface="Times New Roman" panose="02020603050405020304" pitchFamily="18" charset="0"/>
              </a:rPr>
              <a:t>a</a:t>
            </a:r>
            <a:r>
              <a:rPr lang="en-US" altLang="zh-CN" sz="2800" i="1" baseline="-30000" dirty="0" err="1">
                <a:solidFill>
                  <a:srgbClr val="0000CC"/>
                </a:solidFill>
                <a:latin typeface="+mj-lt"/>
                <a:ea typeface="宋体" panose="02010600030101010101" pitchFamily="2" charset="-122"/>
                <a:cs typeface="Times New Roman" panose="02020603050405020304" pitchFamily="18" charset="0"/>
              </a:rPr>
              <a:t>i</a:t>
            </a:r>
            <a:r>
              <a:rPr lang="en-US" altLang="zh-CN" sz="2800" dirty="0">
                <a:solidFill>
                  <a:srgbClr val="0000CC"/>
                </a:solidFill>
                <a:latin typeface="+mj-lt"/>
                <a:ea typeface="宋体" panose="02010600030101010101" pitchFamily="2" charset="-122"/>
                <a:cs typeface="Times New Roman" panose="02020603050405020304" pitchFamily="18" charset="0"/>
              </a:rPr>
              <a:t> </a:t>
            </a:r>
            <a:r>
              <a:rPr lang="zh-CN" altLang="en-US" sz="2800" dirty="0">
                <a:solidFill>
                  <a:srgbClr val="0000CC"/>
                </a:solidFill>
                <a:latin typeface="+mj-lt"/>
                <a:ea typeface="宋体" panose="02010600030101010101" pitchFamily="2" charset="-122"/>
                <a:cs typeface="Times New Roman" panose="02020603050405020304" pitchFamily="18" charset="0"/>
              </a:rPr>
              <a:t>或 </a:t>
            </a:r>
            <a:r>
              <a:rPr lang="en-US" altLang="zh-CN" sz="2800" i="1" dirty="0">
                <a:solidFill>
                  <a:srgbClr val="0000CC"/>
                </a:solidFill>
                <a:latin typeface="+mj-lt"/>
                <a:ea typeface="宋体" panose="02010600030101010101" pitchFamily="2" charset="-122"/>
                <a:cs typeface="Times New Roman" panose="02020603050405020304" pitchFamily="18" charset="0"/>
              </a:rPr>
              <a:t>b</a:t>
            </a:r>
            <a:r>
              <a:rPr lang="en-US" altLang="zh-CN" sz="2800" i="1" baseline="-30000" dirty="0">
                <a:solidFill>
                  <a:srgbClr val="0000CC"/>
                </a:solidFill>
                <a:latin typeface="+mj-lt"/>
                <a:ea typeface="宋体" panose="02010600030101010101" pitchFamily="2" charset="-122"/>
                <a:cs typeface="Times New Roman" panose="02020603050405020304" pitchFamily="18" charset="0"/>
              </a:rPr>
              <a:t>i</a:t>
            </a:r>
            <a:r>
              <a:rPr lang="zh-CN" altLang="en-US" sz="2800" dirty="0">
                <a:latin typeface="+mj-lt"/>
                <a:ea typeface="宋体" panose="02010600030101010101" pitchFamily="2" charset="-122"/>
                <a:cs typeface="Times New Roman" panose="02020603050405020304" pitchFamily="18" charset="0"/>
              </a:rPr>
              <a:t>的改变会影响系统的零点或极点分布</a:t>
            </a:r>
          </a:p>
          <a:p>
            <a:pPr fontAlgn="auto">
              <a:lnSpc>
                <a:spcPct val="115000"/>
              </a:lnSpc>
              <a:spcBef>
                <a:spcPct val="0"/>
              </a:spcBef>
              <a:spcAft>
                <a:spcPct val="25000"/>
              </a:spcAft>
              <a:buFontTx/>
              <a:buNone/>
            </a:pPr>
            <a:r>
              <a:rPr lang="zh-CN" altLang="en-US" sz="2800" dirty="0">
                <a:latin typeface="+mj-lt"/>
                <a:ea typeface="宋体" panose="02010600030101010101" pitchFamily="2" charset="-122"/>
                <a:cs typeface="Times New Roman" panose="02020603050405020304" pitchFamily="18" charset="0"/>
              </a:rPr>
              <a:t>②对</a:t>
            </a:r>
            <a:r>
              <a:rPr lang="zh-CN" altLang="en-US" sz="2800" dirty="0">
                <a:solidFill>
                  <a:srgbClr val="0000CC"/>
                </a:solidFill>
                <a:latin typeface="+mj-lt"/>
                <a:ea typeface="宋体" panose="02010600030101010101" pitchFamily="2" charset="-122"/>
                <a:cs typeface="Times New Roman" panose="02020603050405020304" pitchFamily="18" charset="0"/>
              </a:rPr>
              <a:t>字长变化敏感 </a:t>
            </a:r>
            <a:r>
              <a:rPr lang="en-US" altLang="zh-CN" sz="2800" dirty="0">
                <a:latin typeface="+mj-lt"/>
                <a:ea typeface="宋体" panose="02010600030101010101" pitchFamily="2" charset="-122"/>
                <a:cs typeface="Times New Roman" panose="02020603050405020304" pitchFamily="18" charset="0"/>
              </a:rPr>
              <a:t>(</a:t>
            </a:r>
            <a:r>
              <a:rPr lang="zh-CN" altLang="en-US" sz="2800" dirty="0">
                <a:latin typeface="+mj-lt"/>
                <a:ea typeface="宋体" panose="02010600030101010101" pitchFamily="2" charset="-122"/>
                <a:cs typeface="Times New Roman" panose="02020603050405020304" pitchFamily="18" charset="0"/>
              </a:rPr>
              <a:t>对</a:t>
            </a:r>
            <a:r>
              <a:rPr lang="en-US" altLang="zh-CN" sz="2800" i="1" dirty="0" err="1">
                <a:solidFill>
                  <a:srgbClr val="0000CC"/>
                </a:solidFill>
                <a:latin typeface="+mj-lt"/>
                <a:ea typeface="宋体" panose="02010600030101010101" pitchFamily="2" charset="-122"/>
                <a:cs typeface="Times New Roman" panose="02020603050405020304" pitchFamily="18" charset="0"/>
              </a:rPr>
              <a:t>a</a:t>
            </a:r>
            <a:r>
              <a:rPr lang="en-US" altLang="zh-CN" sz="2800" i="1" baseline="-30000" dirty="0" err="1">
                <a:solidFill>
                  <a:srgbClr val="0000CC"/>
                </a:solidFill>
                <a:latin typeface="+mj-lt"/>
                <a:ea typeface="宋体" panose="02010600030101010101" pitchFamily="2" charset="-122"/>
                <a:cs typeface="Times New Roman" panose="02020603050405020304" pitchFamily="18" charset="0"/>
              </a:rPr>
              <a:t>i</a:t>
            </a:r>
            <a:r>
              <a:rPr lang="zh-CN" altLang="en-US" sz="2800" dirty="0">
                <a:solidFill>
                  <a:srgbClr val="0000CC"/>
                </a:solidFill>
                <a:latin typeface="+mj-lt"/>
                <a:ea typeface="宋体" panose="02010600030101010101" pitchFamily="2" charset="-122"/>
                <a:cs typeface="Times New Roman" panose="02020603050405020304" pitchFamily="18" charset="0"/>
              </a:rPr>
              <a:t>、</a:t>
            </a:r>
            <a:r>
              <a:rPr lang="en-US" altLang="zh-CN" sz="2800" i="1" dirty="0">
                <a:solidFill>
                  <a:srgbClr val="0000CC"/>
                </a:solidFill>
                <a:latin typeface="+mj-lt"/>
                <a:ea typeface="宋体" panose="02010600030101010101" pitchFamily="2" charset="-122"/>
                <a:cs typeface="Times New Roman" panose="02020603050405020304" pitchFamily="18" charset="0"/>
              </a:rPr>
              <a:t>b</a:t>
            </a:r>
            <a:r>
              <a:rPr lang="en-US" altLang="zh-CN" sz="2800" i="1" baseline="-30000" dirty="0">
                <a:solidFill>
                  <a:srgbClr val="0000CC"/>
                </a:solidFill>
                <a:latin typeface="+mj-lt"/>
                <a:ea typeface="宋体" panose="02010600030101010101" pitchFamily="2" charset="-122"/>
                <a:cs typeface="Times New Roman" panose="02020603050405020304" pitchFamily="18" charset="0"/>
              </a:rPr>
              <a:t>i</a:t>
            </a:r>
            <a:r>
              <a:rPr lang="zh-CN" altLang="en-US" sz="2800" dirty="0">
                <a:latin typeface="+mj-lt"/>
                <a:ea typeface="宋体" panose="02010600030101010101" pitchFamily="2" charset="-122"/>
                <a:cs typeface="Times New Roman" panose="02020603050405020304" pitchFamily="18" charset="0"/>
              </a:rPr>
              <a:t>的精度度要求严格</a:t>
            </a:r>
            <a:r>
              <a:rPr lang="en-US" altLang="zh-CN" sz="2800" dirty="0">
                <a:latin typeface="+mj-lt"/>
                <a:ea typeface="宋体" panose="02010600030101010101" pitchFamily="2" charset="-122"/>
                <a:cs typeface="Times New Roman" panose="02020603050405020304" pitchFamily="18" charset="0"/>
              </a:rPr>
              <a:t>)</a:t>
            </a:r>
          </a:p>
          <a:p>
            <a:pPr fontAlgn="auto">
              <a:lnSpc>
                <a:spcPct val="115000"/>
              </a:lnSpc>
              <a:spcBef>
                <a:spcPct val="0"/>
              </a:spcBef>
              <a:spcAft>
                <a:spcPct val="25000"/>
              </a:spcAft>
              <a:buFontTx/>
              <a:buNone/>
            </a:pPr>
            <a:r>
              <a:rPr lang="zh-CN" altLang="en-US" sz="2800" dirty="0">
                <a:latin typeface="+mj-lt"/>
                <a:ea typeface="宋体" panose="02010600030101010101" pitchFamily="2" charset="-122"/>
                <a:cs typeface="Times New Roman" panose="02020603050405020304" pitchFamily="18" charset="0"/>
              </a:rPr>
              <a:t>③易不稳定，阶数高时，上述影响更大</a:t>
            </a:r>
          </a:p>
        </p:txBody>
      </p:sp>
      <p:sp>
        <p:nvSpPr>
          <p:cNvPr id="2" name="矩形 1"/>
          <p:cNvSpPr/>
          <p:nvPr/>
        </p:nvSpPr>
        <p:spPr>
          <a:xfrm>
            <a:off x="695030" y="4581128"/>
            <a:ext cx="8053434" cy="1708160"/>
          </a:xfrm>
          <a:prstGeom prst="rect">
            <a:avLst/>
          </a:prstGeom>
        </p:spPr>
        <p:txBody>
          <a:bodyPr wrap="square">
            <a:spAutoFit/>
          </a:bodyPr>
          <a:lstStyle/>
          <a:p>
            <a:pPr>
              <a:lnSpc>
                <a:spcPct val="125000"/>
              </a:lnSpc>
            </a:pPr>
            <a:r>
              <a:rPr lang="zh-CN" altLang="en-US" sz="2800" b="1" dirty="0">
                <a:latin typeface="Times New Roman" panose="02020603050405020304" pitchFamily="18" charset="0"/>
                <a:cs typeface="Times New Roman" panose="02020603050405020304" pitchFamily="18" charset="0"/>
              </a:rPr>
              <a:t>通常在实际中很少采用直接形式来实现高阶系统，而是把高阶系统变成一系列不同组合的低阶系统（一阶或二阶）来实现。</a:t>
            </a:r>
          </a:p>
        </p:txBody>
      </p:sp>
      <p:sp>
        <p:nvSpPr>
          <p:cNvPr id="5"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19660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animEffect transition="in" filter="fade">
                                      <p:cBhvr>
                                        <p:cTn id="14" dur="1000"/>
                                        <p:tgtEl>
                                          <p:spTgt spid="4">
                                            <p:txEl>
                                              <p:pRg st="3" end="3"/>
                                            </p:txEl>
                                          </p:spTgt>
                                        </p:tgtEl>
                                      </p:cBhvr>
                                    </p:animEffect>
                                    <p:anim calcmode="lin" valueType="num">
                                      <p:cBhvr>
                                        <p:cTn id="1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3"/>
          <p:cNvGraphicFramePr>
            <a:graphicFrameLocks noChangeAspect="1"/>
          </p:cNvGraphicFramePr>
          <p:nvPr>
            <p:extLst>
              <p:ext uri="{D42A27DB-BD31-4B8C-83A1-F6EECF244321}">
                <p14:modId xmlns:p14="http://schemas.microsoft.com/office/powerpoint/2010/main" val="1905228461"/>
              </p:ext>
            </p:extLst>
          </p:nvPr>
        </p:nvGraphicFramePr>
        <p:xfrm>
          <a:off x="1475656" y="2736863"/>
          <a:ext cx="5579110" cy="1957070"/>
        </p:xfrm>
        <a:graphic>
          <a:graphicData uri="http://schemas.openxmlformats.org/presentationml/2006/ole">
            <mc:AlternateContent xmlns:mc="http://schemas.openxmlformats.org/markup-compatibility/2006">
              <mc:Choice xmlns:v="urn:schemas-microsoft-com:vml" Requires="v">
                <p:oleObj name="Equation" r:id="rId2" imgW="2425700" imgH="850900" progId="Equation.DSMT4">
                  <p:embed/>
                </p:oleObj>
              </mc:Choice>
              <mc:Fallback>
                <p:oleObj name="Equation" r:id="rId2" imgW="2425700" imgH="850900" progId="Equation.DSMT4">
                  <p:embed/>
                  <p:pic>
                    <p:nvPicPr>
                      <p:cNvPr id="3481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736863"/>
                        <a:ext cx="5579110" cy="195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内容占位符 2"/>
          <p:cNvSpPr txBox="1">
            <a:spLocks/>
          </p:cNvSpPr>
          <p:nvPr/>
        </p:nvSpPr>
        <p:spPr>
          <a:xfrm>
            <a:off x="570648" y="980728"/>
            <a:ext cx="8105808" cy="197427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2800" b="1" kern="1200">
                <a:solidFill>
                  <a:schemeClr val="tx1"/>
                </a:solidFill>
                <a:latin typeface="黑体" panose="02010609060101010101" pitchFamily="49" charset="-122"/>
                <a:ea typeface="黑体" panose="02010609060101010101" pitchFamily="49"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2400" b="1" kern="1200">
                <a:solidFill>
                  <a:schemeClr val="tx1"/>
                </a:solidFill>
                <a:latin typeface="黑体" panose="02010609060101010101" pitchFamily="49" charset="-122"/>
                <a:ea typeface="黑体" panose="02010609060101010101" pitchFamily="49"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2000" b="1" kern="1200">
                <a:solidFill>
                  <a:schemeClr val="tx1"/>
                </a:solidFill>
                <a:latin typeface="黑体" panose="02010609060101010101" pitchFamily="49" charset="-122"/>
                <a:ea typeface="黑体" panose="02010609060101010101" pitchFamily="49"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fontAlgn="auto">
              <a:lnSpc>
                <a:spcPct val="110000"/>
              </a:lnSpc>
              <a:spcBef>
                <a:spcPct val="0"/>
              </a:spcBef>
              <a:spcAft>
                <a:spcPct val="50000"/>
              </a:spcAft>
              <a:buFont typeface="Arial" panose="020B0604020202020204" pitchFamily="34" charset="0"/>
              <a:buNone/>
            </a:pPr>
            <a:r>
              <a:rPr lang="en-US" altLang="zh-CN" sz="3000" dirty="0">
                <a:solidFill>
                  <a:srgbClr val="FF0000"/>
                </a:solidFill>
                <a:latin typeface="+mj-lt"/>
                <a:ea typeface="宋体" panose="02010600030101010101" pitchFamily="2" charset="-122"/>
                <a:cs typeface="Times New Roman" panose="02020603050405020304" pitchFamily="18" charset="0"/>
              </a:rPr>
              <a:t>  (2)</a:t>
            </a:r>
            <a:r>
              <a:rPr lang="zh-CN" altLang="en-US" sz="3000" dirty="0">
                <a:solidFill>
                  <a:srgbClr val="FF0000"/>
                </a:solidFill>
                <a:latin typeface="+mj-lt"/>
                <a:ea typeface="宋体" panose="02010600030101010101" pitchFamily="2" charset="-122"/>
                <a:cs typeface="Times New Roman" panose="02020603050405020304" pitchFamily="18" charset="0"/>
              </a:rPr>
              <a:t>级联型（串联）</a:t>
            </a:r>
          </a:p>
          <a:p>
            <a:pPr algn="just" fontAlgn="auto">
              <a:lnSpc>
                <a:spcPct val="110000"/>
              </a:lnSpc>
              <a:spcBef>
                <a:spcPct val="0"/>
              </a:spcBef>
              <a:spcAft>
                <a:spcPts val="0"/>
              </a:spcAft>
              <a:buFontTx/>
              <a:buNone/>
            </a:pPr>
            <a:r>
              <a:rPr lang="zh-CN" altLang="en-US" sz="2800" dirty="0">
                <a:latin typeface="+mj-lt"/>
                <a:ea typeface="宋体" panose="02010600030101010101" pitchFamily="2" charset="-122"/>
                <a:cs typeface="Times New Roman" panose="02020603050405020304" pitchFamily="18" charset="0"/>
              </a:rPr>
              <a:t>   一个</a:t>
            </a:r>
            <a:r>
              <a:rPr lang="en-US" altLang="zh-CN" sz="2800" i="1" dirty="0">
                <a:solidFill>
                  <a:srgbClr val="0000CC"/>
                </a:solidFill>
                <a:latin typeface="+mj-lt"/>
                <a:ea typeface="宋体" panose="02010600030101010101" pitchFamily="2" charset="-122"/>
                <a:cs typeface="Times New Roman" panose="02020603050405020304" pitchFamily="18" charset="0"/>
              </a:rPr>
              <a:t>N</a:t>
            </a:r>
            <a:r>
              <a:rPr lang="zh-CN" altLang="en-US" sz="2800" dirty="0">
                <a:latin typeface="+mj-lt"/>
                <a:ea typeface="宋体" panose="02010600030101010101" pitchFamily="2" charset="-122"/>
                <a:cs typeface="Times New Roman" panose="02020603050405020304" pitchFamily="18" charset="0"/>
              </a:rPr>
              <a:t>阶系统函数可用它的零、极点表示，即把它的分子、分母都表达为</a:t>
            </a:r>
            <a:r>
              <a:rPr lang="zh-CN" altLang="en-US" sz="2800" dirty="0">
                <a:solidFill>
                  <a:srgbClr val="0000CC"/>
                </a:solidFill>
                <a:latin typeface="+mj-lt"/>
                <a:ea typeface="宋体" panose="02010600030101010101" pitchFamily="2" charset="-122"/>
                <a:cs typeface="Times New Roman" panose="02020603050405020304" pitchFamily="18" charset="0"/>
              </a:rPr>
              <a:t>因子形式</a:t>
            </a:r>
            <a:endParaRPr lang="zh-CN" altLang="en-US" sz="2800" dirty="0">
              <a:latin typeface="+mj-lt"/>
              <a:ea typeface="宋体" panose="02010600030101010101" pitchFamily="2" charset="-122"/>
              <a:cs typeface="Times New Roman" panose="02020603050405020304" pitchFamily="18" charset="0"/>
            </a:endParaRPr>
          </a:p>
          <a:p>
            <a:pPr algn="just" fontAlgn="auto">
              <a:lnSpc>
                <a:spcPct val="110000"/>
              </a:lnSpc>
              <a:spcBef>
                <a:spcPct val="0"/>
              </a:spcBef>
              <a:spcAft>
                <a:spcPts val="0"/>
              </a:spcAft>
              <a:buFontTx/>
              <a:buNone/>
            </a:pPr>
            <a:endParaRPr lang="zh-CN" altLang="en-US" sz="2800" dirty="0">
              <a:latin typeface="+mj-lt"/>
              <a:ea typeface="宋体" panose="02010600030101010101" pitchFamily="2" charset="-122"/>
              <a:cs typeface="Times New Roman" panose="02020603050405020304" pitchFamily="18" charset="0"/>
            </a:endParaRPr>
          </a:p>
        </p:txBody>
      </p:sp>
      <p:sp>
        <p:nvSpPr>
          <p:cNvPr id="9" name="矩形 8"/>
          <p:cNvSpPr/>
          <p:nvPr/>
        </p:nvSpPr>
        <p:spPr>
          <a:xfrm>
            <a:off x="899592" y="4475796"/>
            <a:ext cx="7992888" cy="1514261"/>
          </a:xfrm>
          <a:prstGeom prst="rect">
            <a:avLst/>
          </a:prstGeom>
        </p:spPr>
        <p:txBody>
          <a:bodyPr wrap="square">
            <a:spAutoFit/>
          </a:bodyPr>
          <a:lstStyle/>
          <a:p>
            <a:pPr marL="171450" indent="-171450" algn="just" defTabSz="685800" eaLnBrk="1" fontAlgn="auto" hangingPunct="1">
              <a:lnSpc>
                <a:spcPct val="110000"/>
              </a:lnSpc>
              <a:spcAft>
                <a:spcPts val="0"/>
              </a:spcAft>
            </a:pPr>
            <a:r>
              <a:rPr lang="zh-CN" altLang="en-US" sz="2800" b="1" dirty="0">
                <a:solidFill>
                  <a:prstClr val="black"/>
                </a:solidFill>
                <a:latin typeface="+mj-lt"/>
                <a:cs typeface="Times New Roman" panose="02020603050405020304" pitchFamily="18" charset="0"/>
              </a:rPr>
              <a:t> </a:t>
            </a:r>
          </a:p>
          <a:p>
            <a:pPr marL="171450" indent="-171450" algn="just" defTabSz="685800" eaLnBrk="1" fontAlgn="auto" hangingPunct="1">
              <a:lnSpc>
                <a:spcPct val="110000"/>
              </a:lnSpc>
              <a:spcAft>
                <a:spcPts val="0"/>
              </a:spcAft>
            </a:pPr>
            <a:r>
              <a:rPr lang="zh-CN" altLang="en-US" sz="2800" b="1" dirty="0">
                <a:solidFill>
                  <a:prstClr val="black"/>
                </a:solidFill>
                <a:latin typeface="+mj-lt"/>
                <a:cs typeface="Times New Roman" panose="02020603050405020304" pitchFamily="18" charset="0"/>
              </a:rPr>
              <a:t>由于系数</a:t>
            </a:r>
            <a:r>
              <a:rPr lang="en-US" altLang="zh-CN" sz="2800" b="1" i="1" dirty="0" err="1">
                <a:solidFill>
                  <a:prstClr val="black"/>
                </a:solidFill>
                <a:latin typeface="+mj-lt"/>
                <a:cs typeface="Times New Roman" panose="02020603050405020304" pitchFamily="18" charset="0"/>
              </a:rPr>
              <a:t>a</a:t>
            </a:r>
            <a:r>
              <a:rPr lang="en-US" altLang="zh-CN" sz="2800" b="1" baseline="-25000" dirty="0" err="1">
                <a:solidFill>
                  <a:prstClr val="black"/>
                </a:solidFill>
                <a:latin typeface="+mj-lt"/>
                <a:cs typeface="Times New Roman" panose="02020603050405020304" pitchFamily="18" charset="0"/>
              </a:rPr>
              <a:t>i</a:t>
            </a:r>
            <a:r>
              <a:rPr lang="zh-CN" altLang="en-US" sz="2800" b="1" dirty="0">
                <a:solidFill>
                  <a:prstClr val="black"/>
                </a:solidFill>
                <a:latin typeface="+mj-lt"/>
                <a:cs typeface="Times New Roman" panose="02020603050405020304" pitchFamily="18" charset="0"/>
              </a:rPr>
              <a:t>、</a:t>
            </a:r>
            <a:r>
              <a:rPr lang="en-US" altLang="zh-CN" sz="2800" b="1" i="1" dirty="0">
                <a:solidFill>
                  <a:prstClr val="black"/>
                </a:solidFill>
                <a:latin typeface="+mj-lt"/>
                <a:cs typeface="Times New Roman" panose="02020603050405020304" pitchFamily="18" charset="0"/>
              </a:rPr>
              <a:t>b</a:t>
            </a:r>
            <a:r>
              <a:rPr lang="en-US" altLang="zh-CN" sz="2800" b="1" baseline="-25000" dirty="0">
                <a:solidFill>
                  <a:prstClr val="black"/>
                </a:solidFill>
                <a:latin typeface="+mj-lt"/>
                <a:cs typeface="Times New Roman" panose="02020603050405020304" pitchFamily="18" charset="0"/>
              </a:rPr>
              <a:t>i </a:t>
            </a:r>
            <a:r>
              <a:rPr lang="zh-CN" altLang="en-US" sz="2800" b="1" dirty="0">
                <a:solidFill>
                  <a:prstClr val="black"/>
                </a:solidFill>
                <a:latin typeface="+mj-lt"/>
                <a:cs typeface="Times New Roman" panose="02020603050405020304" pitchFamily="18" charset="0"/>
              </a:rPr>
              <a:t>都是实数，零、极点为实根或共轭</a:t>
            </a:r>
            <a:endParaRPr lang="en-US" altLang="zh-CN" sz="2800" b="1" dirty="0">
              <a:solidFill>
                <a:prstClr val="black"/>
              </a:solidFill>
              <a:latin typeface="+mj-lt"/>
              <a:cs typeface="Times New Roman" panose="02020603050405020304" pitchFamily="18" charset="0"/>
            </a:endParaRPr>
          </a:p>
          <a:p>
            <a:pPr marL="171450" indent="-171450" algn="just" defTabSz="685800" eaLnBrk="1" fontAlgn="auto" hangingPunct="1">
              <a:lnSpc>
                <a:spcPct val="110000"/>
              </a:lnSpc>
              <a:spcAft>
                <a:spcPts val="0"/>
              </a:spcAft>
            </a:pPr>
            <a:r>
              <a:rPr lang="zh-CN" altLang="en-US" sz="2800" b="1" dirty="0">
                <a:solidFill>
                  <a:prstClr val="black"/>
                </a:solidFill>
                <a:latin typeface="+mj-lt"/>
                <a:cs typeface="Times New Roman" panose="02020603050405020304" pitchFamily="18" charset="0"/>
              </a:rPr>
              <a:t>复根。</a:t>
            </a:r>
            <a:endParaRPr lang="zh-CN" altLang="en-US" sz="2400" dirty="0">
              <a:solidFill>
                <a:prstClr val="black"/>
              </a:solidFill>
              <a:latin typeface="+mj-lt"/>
            </a:endParaRPr>
          </a:p>
        </p:txBody>
      </p:sp>
      <p:sp>
        <p:nvSpPr>
          <p:cNvPr id="10"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2325691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612651" y="908720"/>
            <a:ext cx="8351837"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marL="342900" indent="-342900">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lnSpc>
                <a:spcPct val="110000"/>
              </a:lnSpc>
              <a:spcBef>
                <a:spcPct val="0"/>
              </a:spcBef>
              <a:buClr>
                <a:schemeClr val="tx1"/>
              </a:buClr>
              <a:buSzPct val="80000"/>
              <a:buFont typeface="Wingdings" panose="05000000000000000000" pitchFamily="2" charset="2"/>
              <a:buNone/>
            </a:pPr>
            <a:r>
              <a:rPr lang="en-US" altLang="zh-CN" sz="2800" dirty="0">
                <a:latin typeface="+mj-lt"/>
                <a:ea typeface="宋体" panose="02010600030101010101" pitchFamily="2" charset="-122"/>
                <a:cs typeface="Times New Roman" panose="02020603050405020304" pitchFamily="18" charset="0"/>
              </a:rPr>
              <a:t>    </a:t>
            </a:r>
            <a:r>
              <a:rPr lang="zh-CN" altLang="en-US" sz="2800" dirty="0">
                <a:latin typeface="+mj-lt"/>
                <a:ea typeface="宋体" panose="02010600030101010101" pitchFamily="2" charset="-122"/>
                <a:cs typeface="Times New Roman" panose="02020603050405020304" pitchFamily="18" charset="0"/>
              </a:rPr>
              <a:t>将共轭因子合并为实系数二阶因子，单实根因子看作二阶因子的一个特例，则</a:t>
            </a:r>
          </a:p>
        </p:txBody>
      </p:sp>
      <p:graphicFrame>
        <p:nvGraphicFramePr>
          <p:cNvPr id="4" name="Object 4"/>
          <p:cNvGraphicFramePr>
            <a:graphicFrameLocks noGrp="1" noChangeAspect="1"/>
          </p:cNvGraphicFramePr>
          <p:nvPr>
            <p:ph idx="1"/>
            <p:extLst>
              <p:ext uri="{D42A27DB-BD31-4B8C-83A1-F6EECF244321}">
                <p14:modId xmlns:p14="http://schemas.microsoft.com/office/powerpoint/2010/main" val="879304832"/>
              </p:ext>
            </p:extLst>
          </p:nvPr>
        </p:nvGraphicFramePr>
        <p:xfrm>
          <a:off x="971600" y="2060848"/>
          <a:ext cx="4572000" cy="1097280"/>
        </p:xfrm>
        <a:graphic>
          <a:graphicData uri="http://schemas.openxmlformats.org/presentationml/2006/ole">
            <mc:AlternateContent xmlns:mc="http://schemas.openxmlformats.org/markup-compatibility/2006">
              <mc:Choice xmlns:v="urn:schemas-microsoft-com:vml" Requires="v">
                <p:oleObj name="Equation" r:id="rId2" imgW="1905000" imgH="457200" progId="Equation.DSMT4">
                  <p:embed/>
                </p:oleObj>
              </mc:Choice>
              <mc:Fallback>
                <p:oleObj name="Equation" r:id="rId2" imgW="1905000" imgH="457200" progId="Equation.DSMT4">
                  <p:embed/>
                  <p:pic>
                    <p:nvPicPr>
                      <p:cNvPr id="358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060848"/>
                        <a:ext cx="4572000" cy="1097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5"/>
          <p:cNvGraphicFramePr>
            <a:graphicFrameLocks noGrp="1" noChangeAspect="1"/>
          </p:cNvGraphicFramePr>
          <p:nvPr>
            <p:ph sz="half" idx="4294967295"/>
            <p:extLst>
              <p:ext uri="{D42A27DB-BD31-4B8C-83A1-F6EECF244321}">
                <p14:modId xmlns:p14="http://schemas.microsoft.com/office/powerpoint/2010/main" val="4200059977"/>
              </p:ext>
            </p:extLst>
          </p:nvPr>
        </p:nvGraphicFramePr>
        <p:xfrm>
          <a:off x="5652120" y="2060848"/>
          <a:ext cx="2071740" cy="1035871"/>
        </p:xfrm>
        <a:graphic>
          <a:graphicData uri="http://schemas.openxmlformats.org/presentationml/2006/ole">
            <mc:AlternateContent xmlns:mc="http://schemas.openxmlformats.org/markup-compatibility/2006">
              <mc:Choice xmlns:v="urn:schemas-microsoft-com:vml" Requires="v">
                <p:oleObj name="Equation" r:id="rId4" imgW="863225" imgH="431613" progId="Equation.DSMT4">
                  <p:embed/>
                </p:oleObj>
              </mc:Choice>
              <mc:Fallback>
                <p:oleObj name="Equation" r:id="rId4" imgW="863225" imgH="431613" progId="Equation.DSMT4">
                  <p:embed/>
                  <p:pic>
                    <p:nvPicPr>
                      <p:cNvPr id="3584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2120" y="2060848"/>
                        <a:ext cx="2071740" cy="10358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p:cNvSpPr txBox="1">
            <a:spLocks noChangeArrowheads="1"/>
          </p:cNvSpPr>
          <p:nvPr/>
        </p:nvSpPr>
        <p:spPr bwMode="auto">
          <a:xfrm>
            <a:off x="907579" y="3556859"/>
            <a:ext cx="7704138" cy="1171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marL="342900" indent="-342900">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lnSpc>
                <a:spcPct val="125000"/>
              </a:lnSpc>
              <a:spcBef>
                <a:spcPct val="0"/>
              </a:spcBef>
              <a:buClr>
                <a:schemeClr val="tx1"/>
              </a:buClr>
              <a:buSzPct val="80000"/>
              <a:buFont typeface="Wingdings" panose="05000000000000000000" pitchFamily="2" charset="2"/>
              <a:buNone/>
            </a:pPr>
            <a:r>
              <a:rPr lang="zh-CN" altLang="en-US" sz="2800" dirty="0">
                <a:latin typeface="+mj-lt"/>
                <a:ea typeface="宋体" panose="02010600030101010101" pitchFamily="2" charset="-122"/>
                <a:cs typeface="Times New Roman" panose="02020603050405020304" pitchFamily="18" charset="0"/>
              </a:rPr>
              <a:t>用若干二阶子网络</a:t>
            </a:r>
            <a:r>
              <a:rPr lang="zh-CN" altLang="en-US" sz="2800" dirty="0">
                <a:solidFill>
                  <a:srgbClr val="FF0000"/>
                </a:solidFill>
                <a:latin typeface="+mj-lt"/>
                <a:ea typeface="宋体" panose="02010600030101010101" pitchFamily="2" charset="-122"/>
                <a:cs typeface="Times New Roman" panose="02020603050405020304" pitchFamily="18" charset="0"/>
              </a:rPr>
              <a:t>级联</a:t>
            </a:r>
            <a:r>
              <a:rPr lang="zh-CN" altLang="en-US" sz="2800" dirty="0">
                <a:latin typeface="+mj-lt"/>
                <a:ea typeface="宋体" panose="02010600030101010101" pitchFamily="2" charset="-122"/>
                <a:cs typeface="Times New Roman" panose="02020603050405020304" pitchFamily="18" charset="0"/>
              </a:rPr>
              <a:t>构成滤波器，二阶子网络</a:t>
            </a:r>
            <a:endParaRPr lang="en-US" altLang="zh-CN" sz="2800" dirty="0">
              <a:latin typeface="+mj-lt"/>
              <a:ea typeface="宋体" panose="02010600030101010101" pitchFamily="2" charset="-122"/>
              <a:cs typeface="Times New Roman" panose="02020603050405020304" pitchFamily="18" charset="0"/>
            </a:endParaRPr>
          </a:p>
          <a:p>
            <a:pPr eaLnBrk="1" hangingPunct="1">
              <a:lnSpc>
                <a:spcPct val="125000"/>
              </a:lnSpc>
              <a:spcBef>
                <a:spcPct val="0"/>
              </a:spcBef>
              <a:buClr>
                <a:schemeClr val="tx1"/>
              </a:buClr>
              <a:buSzPct val="80000"/>
              <a:buFont typeface="Wingdings" panose="05000000000000000000" pitchFamily="2" charset="2"/>
              <a:buNone/>
            </a:pPr>
            <a:r>
              <a:rPr lang="zh-CN" altLang="en-US" sz="2800" dirty="0">
                <a:latin typeface="+mj-lt"/>
                <a:ea typeface="宋体" panose="02010600030101010101" pitchFamily="2" charset="-122"/>
                <a:cs typeface="Times New Roman" panose="02020603050405020304" pitchFamily="18" charset="0"/>
              </a:rPr>
              <a:t>称为</a:t>
            </a:r>
            <a:r>
              <a:rPr lang="zh-CN" altLang="en-US" sz="2800" dirty="0">
                <a:solidFill>
                  <a:srgbClr val="FF0000"/>
                </a:solidFill>
                <a:latin typeface="+mj-lt"/>
                <a:ea typeface="宋体" panose="02010600030101010101" pitchFamily="2" charset="-122"/>
                <a:cs typeface="Times New Roman" panose="02020603050405020304" pitchFamily="18" charset="0"/>
              </a:rPr>
              <a:t>二阶节</a:t>
            </a:r>
            <a:r>
              <a:rPr lang="zh-CN" altLang="en-US" sz="2800" dirty="0">
                <a:latin typeface="+mj-lt"/>
                <a:ea typeface="宋体" panose="02010600030101010101" pitchFamily="2" charset="-122"/>
                <a:cs typeface="Times New Roman" panose="02020603050405020304" pitchFamily="18" charset="0"/>
              </a:rPr>
              <a:t>，可用</a:t>
            </a:r>
            <a:r>
              <a:rPr lang="zh-CN" altLang="en-US" sz="2800" dirty="0">
                <a:solidFill>
                  <a:schemeClr val="tx2">
                    <a:lumMod val="60000"/>
                    <a:lumOff val="40000"/>
                  </a:schemeClr>
                </a:solidFill>
                <a:latin typeface="+mj-lt"/>
                <a:ea typeface="宋体" panose="02010600030101010101" pitchFamily="2" charset="-122"/>
                <a:cs typeface="Times New Roman" panose="02020603050405020304" pitchFamily="18" charset="0"/>
              </a:rPr>
              <a:t>直接</a:t>
            </a:r>
            <a:r>
              <a:rPr lang="en-US" altLang="zh-CN" sz="2800" dirty="0">
                <a:solidFill>
                  <a:schemeClr val="tx2">
                    <a:lumMod val="60000"/>
                    <a:lumOff val="40000"/>
                  </a:schemeClr>
                </a:solidFill>
                <a:latin typeface="+mj-lt"/>
                <a:ea typeface="宋体" panose="02010600030101010101" pitchFamily="2" charset="-122"/>
                <a:cs typeface="Times New Roman" panose="02020603050405020304" pitchFamily="18" charset="0"/>
              </a:rPr>
              <a:t>II</a:t>
            </a:r>
            <a:r>
              <a:rPr lang="zh-CN" altLang="en-US" sz="2800" dirty="0">
                <a:solidFill>
                  <a:schemeClr val="tx2">
                    <a:lumMod val="60000"/>
                    <a:lumOff val="40000"/>
                  </a:schemeClr>
                </a:solidFill>
                <a:latin typeface="+mj-lt"/>
                <a:ea typeface="宋体" panose="02010600030101010101" pitchFamily="2" charset="-122"/>
                <a:cs typeface="Times New Roman" panose="02020603050405020304" pitchFamily="18" charset="0"/>
              </a:rPr>
              <a:t>型</a:t>
            </a:r>
            <a:r>
              <a:rPr lang="en-US" altLang="zh-CN" sz="2800" dirty="0">
                <a:latin typeface="+mj-lt"/>
                <a:ea typeface="宋体" panose="02010600030101010101" pitchFamily="2" charset="-122"/>
                <a:cs typeface="Times New Roman" panose="02020603050405020304" pitchFamily="18" charset="0"/>
              </a:rPr>
              <a:t>(</a:t>
            </a:r>
            <a:r>
              <a:rPr lang="zh-CN" altLang="en-US" sz="2800" dirty="0">
                <a:latin typeface="+mj-lt"/>
                <a:ea typeface="宋体" panose="02010600030101010101" pitchFamily="2" charset="-122"/>
                <a:cs typeface="Times New Roman" panose="02020603050405020304" pitchFamily="18" charset="0"/>
              </a:rPr>
              <a:t>正准型</a:t>
            </a:r>
            <a:r>
              <a:rPr lang="en-US" altLang="zh-CN" sz="2800" dirty="0">
                <a:latin typeface="+mj-lt"/>
                <a:ea typeface="宋体" panose="02010600030101010101" pitchFamily="2" charset="-122"/>
                <a:cs typeface="Times New Roman" panose="02020603050405020304" pitchFamily="18" charset="0"/>
              </a:rPr>
              <a:t>)</a:t>
            </a:r>
            <a:r>
              <a:rPr lang="zh-CN" altLang="en-US" sz="2800" dirty="0">
                <a:latin typeface="+mj-lt"/>
                <a:ea typeface="宋体" panose="02010600030101010101" pitchFamily="2" charset="-122"/>
                <a:cs typeface="Times New Roman" panose="02020603050405020304" pitchFamily="18" charset="0"/>
              </a:rPr>
              <a:t>结构实现</a:t>
            </a:r>
          </a:p>
        </p:txBody>
      </p:sp>
      <p:graphicFrame>
        <p:nvGraphicFramePr>
          <p:cNvPr id="9" name="Object 4"/>
          <p:cNvGraphicFramePr>
            <a:graphicFrameLocks noGrp="1" noChangeAspect="1"/>
          </p:cNvGraphicFramePr>
          <p:nvPr>
            <p:ph idx="1"/>
            <p:extLst>
              <p:ext uri="{D42A27DB-BD31-4B8C-83A1-F6EECF244321}">
                <p14:modId xmlns:p14="http://schemas.microsoft.com/office/powerpoint/2010/main" val="3648695513"/>
              </p:ext>
            </p:extLst>
          </p:nvPr>
        </p:nvGraphicFramePr>
        <p:xfrm>
          <a:off x="2920405" y="4828079"/>
          <a:ext cx="4364037" cy="1098550"/>
        </p:xfrm>
        <a:graphic>
          <a:graphicData uri="http://schemas.openxmlformats.org/presentationml/2006/ole">
            <mc:AlternateContent xmlns:mc="http://schemas.openxmlformats.org/markup-compatibility/2006">
              <mc:Choice xmlns:v="urn:schemas-microsoft-com:vml" Requires="v">
                <p:oleObj name="Equation" r:id="rId6" imgW="1815840" imgH="457200" progId="Equation.DSMT4">
                  <p:embed/>
                </p:oleObj>
              </mc:Choice>
              <mc:Fallback>
                <p:oleObj name="Equation" r:id="rId6" imgW="1815840" imgH="457200" progId="Equation.DSMT4">
                  <p:embed/>
                  <p:pic>
                    <p:nvPicPr>
                      <p:cNvPr id="4" name="Object 4"/>
                      <p:cNvPicPr>
                        <a:picLocks noChangeAspect="1" noChangeArrowheads="1"/>
                      </p:cNvPicPr>
                      <p:nvPr/>
                    </p:nvPicPr>
                    <p:blipFill>
                      <a:blip r:embed="rId7"/>
                      <a:srcRect/>
                      <a:stretch>
                        <a:fillRect/>
                      </a:stretch>
                    </p:blipFill>
                    <p:spPr bwMode="auto">
                      <a:xfrm>
                        <a:off x="2920405" y="4828079"/>
                        <a:ext cx="4364037"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矩形 9"/>
          <p:cNvSpPr/>
          <p:nvPr/>
        </p:nvSpPr>
        <p:spPr>
          <a:xfrm>
            <a:off x="948368" y="5033736"/>
            <a:ext cx="1988045" cy="576055"/>
          </a:xfrm>
          <a:prstGeom prst="rect">
            <a:avLst/>
          </a:prstGeom>
        </p:spPr>
        <p:txBody>
          <a:bodyPr wrap="none">
            <a:spAutoFit/>
          </a:bodyPr>
          <a:lstStyle/>
          <a:p>
            <a:pPr lvl="0" eaLnBrk="1" hangingPunct="1">
              <a:lnSpc>
                <a:spcPct val="125000"/>
              </a:lnSpc>
              <a:buClr>
                <a:srgbClr val="000000"/>
              </a:buClr>
              <a:buSzPct val="80000"/>
            </a:pPr>
            <a:r>
              <a:rPr lang="zh-CN" altLang="en-US" sz="2800" b="1" dirty="0">
                <a:solidFill>
                  <a:srgbClr val="000000"/>
                </a:solidFill>
                <a:latin typeface="Times New Roman"/>
                <a:cs typeface="Times New Roman" panose="02020603050405020304" pitchFamily="18" charset="0"/>
              </a:rPr>
              <a:t>二阶子网络</a:t>
            </a:r>
            <a:endParaRPr lang="en-US" altLang="zh-CN" sz="2800" b="1" dirty="0">
              <a:solidFill>
                <a:srgbClr val="000000"/>
              </a:solidFill>
              <a:latin typeface="Times New Roman"/>
              <a:cs typeface="Times New Roman" panose="02020603050405020304" pitchFamily="18" charset="0"/>
            </a:endParaRPr>
          </a:p>
        </p:txBody>
      </p:sp>
      <p:sp>
        <p:nvSpPr>
          <p:cNvPr id="11"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95933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507" y="2930846"/>
            <a:ext cx="8640762"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7"/>
          <p:cNvSpPr txBox="1">
            <a:spLocks noChangeArrowheads="1"/>
          </p:cNvSpPr>
          <p:nvPr/>
        </p:nvSpPr>
        <p:spPr bwMode="auto">
          <a:xfrm>
            <a:off x="3059832" y="4919823"/>
            <a:ext cx="4392612"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mj-lt"/>
                <a:cs typeface="Times New Roman" panose="02020603050405020304" pitchFamily="18" charset="0"/>
              </a:rPr>
              <a:t>图</a:t>
            </a:r>
            <a:r>
              <a:rPr lang="en-US" altLang="zh-CN" sz="2800" b="1" dirty="0">
                <a:latin typeface="+mj-lt"/>
                <a:cs typeface="Times New Roman" panose="02020603050405020304" pitchFamily="18" charset="0"/>
              </a:rPr>
              <a:t>6.10  </a:t>
            </a:r>
            <a:r>
              <a:rPr lang="zh-CN" altLang="en-US" sz="2800" b="1" dirty="0">
                <a:latin typeface="+mj-lt"/>
                <a:cs typeface="Times New Roman" panose="02020603050405020304" pitchFamily="18" charset="0"/>
              </a:rPr>
              <a:t>级联型结构</a:t>
            </a:r>
          </a:p>
        </p:txBody>
      </p:sp>
      <p:graphicFrame>
        <p:nvGraphicFramePr>
          <p:cNvPr id="5" name="Object 4"/>
          <p:cNvGraphicFramePr>
            <a:graphicFrameLocks noGrp="1" noChangeAspect="1"/>
          </p:cNvGraphicFramePr>
          <p:nvPr>
            <p:ph idx="1"/>
            <p:extLst>
              <p:ext uri="{D42A27DB-BD31-4B8C-83A1-F6EECF244321}">
                <p14:modId xmlns:p14="http://schemas.microsoft.com/office/powerpoint/2010/main" val="42011321"/>
              </p:ext>
            </p:extLst>
          </p:nvPr>
        </p:nvGraphicFramePr>
        <p:xfrm>
          <a:off x="1763688" y="1276196"/>
          <a:ext cx="4381500" cy="1051560"/>
        </p:xfrm>
        <a:graphic>
          <a:graphicData uri="http://schemas.openxmlformats.org/presentationml/2006/ole">
            <mc:AlternateContent xmlns:mc="http://schemas.openxmlformats.org/markup-compatibility/2006">
              <mc:Choice xmlns:v="urn:schemas-microsoft-com:vml" Requires="v">
                <p:oleObj name="Equation" r:id="rId3" imgW="1905000" imgH="457200" progId="Equation.DSMT4">
                  <p:embed/>
                </p:oleObj>
              </mc:Choice>
              <mc:Fallback>
                <p:oleObj name="Equation" r:id="rId3" imgW="1905000" imgH="457200" progId="Equation.DSMT4">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1276196"/>
                        <a:ext cx="4381500" cy="1051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矩形 6"/>
          <p:cNvSpPr/>
          <p:nvPr/>
        </p:nvSpPr>
        <p:spPr>
          <a:xfrm>
            <a:off x="6166186" y="4911551"/>
            <a:ext cx="494046" cy="461665"/>
          </a:xfrm>
          <a:prstGeom prst="rect">
            <a:avLst/>
          </a:prstGeom>
        </p:spPr>
        <p:txBody>
          <a:bodyPr wrap="none">
            <a:spAutoFit/>
          </a:bodyPr>
          <a:lstStyle/>
          <a:p>
            <a:r>
              <a:rPr kumimoji="1" lang="en-US" altLang="zh-CN" sz="2400" b="1" dirty="0">
                <a:solidFill>
                  <a:srgbClr val="FF0066"/>
                </a:solidFill>
                <a:latin typeface="Times New Roman" panose="02020603050405020304" pitchFamily="18" charset="0"/>
                <a:cs typeface="Times New Roman" panose="02020603050405020304" pitchFamily="18" charset="0"/>
              </a:rPr>
              <a:t>★</a:t>
            </a:r>
            <a:endParaRPr lang="zh-CN" altLang="en-US" dirty="0"/>
          </a:p>
        </p:txBody>
      </p:sp>
      <p:sp>
        <p:nvSpPr>
          <p:cNvPr id="8"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99347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txBox="1">
            <a:spLocks/>
          </p:cNvSpPr>
          <p:nvPr/>
        </p:nvSpPr>
        <p:spPr>
          <a:xfrm>
            <a:off x="628650" y="1104900"/>
            <a:ext cx="7886700" cy="523655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2800" b="1" kern="1200">
                <a:solidFill>
                  <a:schemeClr val="tx1"/>
                </a:solidFill>
                <a:latin typeface="黑体" panose="02010609060101010101" pitchFamily="49" charset="-122"/>
                <a:ea typeface="黑体" panose="02010609060101010101" pitchFamily="49"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2400" b="1" kern="1200">
                <a:solidFill>
                  <a:schemeClr val="tx1"/>
                </a:solidFill>
                <a:latin typeface="黑体" panose="02010609060101010101" pitchFamily="49" charset="-122"/>
                <a:ea typeface="黑体" panose="02010609060101010101" pitchFamily="49"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2000" b="1" kern="1200">
                <a:solidFill>
                  <a:schemeClr val="tx1"/>
                </a:solidFill>
                <a:latin typeface="黑体" panose="02010609060101010101" pitchFamily="49" charset="-122"/>
                <a:ea typeface="黑体" panose="02010609060101010101" pitchFamily="49"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zh-CN" altLang="en-US" sz="2800" dirty="0">
                <a:latin typeface="+mj-lt"/>
                <a:ea typeface="宋体" panose="02010600030101010101" pitchFamily="2" charset="-122"/>
                <a:cs typeface="Times New Roman" panose="02020603050405020304" pitchFamily="18" charset="0"/>
              </a:rPr>
              <a:t>级联型结构的优点：</a:t>
            </a:r>
            <a:endParaRPr lang="en-US" altLang="zh-CN" sz="2800" dirty="0">
              <a:latin typeface="+mj-lt"/>
              <a:ea typeface="宋体" panose="02010600030101010101" pitchFamily="2" charset="-122"/>
              <a:cs typeface="Times New Roman" panose="02020603050405020304" pitchFamily="18" charset="0"/>
            </a:endParaRPr>
          </a:p>
          <a:p>
            <a:pPr marL="0" lvl="1" indent="0" fontAlgn="auto">
              <a:lnSpc>
                <a:spcPct val="125000"/>
              </a:lnSpc>
              <a:spcBef>
                <a:spcPts val="1200"/>
              </a:spcBef>
              <a:spcAft>
                <a:spcPts val="0"/>
              </a:spcAft>
              <a:buFont typeface="Arial" panose="020B0604020202020204" pitchFamily="34" charset="0"/>
              <a:buNone/>
            </a:pPr>
            <a:r>
              <a:rPr lang="zh-CN" altLang="en-US" dirty="0">
                <a:latin typeface="+mj-lt"/>
                <a:ea typeface="宋体" panose="02010600030101010101" pitchFamily="2" charset="-122"/>
                <a:cs typeface="Times New Roman" panose="02020603050405020304" pitchFamily="18" charset="0"/>
              </a:rPr>
              <a:t>① 调整</a:t>
            </a:r>
            <a:r>
              <a:rPr lang="en-US" altLang="zh-CN" i="1" dirty="0">
                <a:solidFill>
                  <a:srgbClr val="0000CC"/>
                </a:solidFill>
                <a:latin typeface="+mj-lt"/>
                <a:ea typeface="宋体" panose="02010600030101010101" pitchFamily="2" charset="-122"/>
                <a:cs typeface="Times New Roman" panose="02020603050405020304" pitchFamily="18" charset="0"/>
              </a:rPr>
              <a:t>a</a:t>
            </a:r>
            <a:r>
              <a:rPr lang="en-US" altLang="zh-CN" baseline="-25000" dirty="0">
                <a:solidFill>
                  <a:srgbClr val="0000CC"/>
                </a:solidFill>
                <a:latin typeface="+mj-lt"/>
                <a:ea typeface="宋体" panose="02010600030101010101" pitchFamily="2" charset="-122"/>
                <a:cs typeface="Times New Roman" panose="02020603050405020304" pitchFamily="18" charset="0"/>
              </a:rPr>
              <a:t>1</a:t>
            </a:r>
            <a:r>
              <a:rPr lang="en-US" altLang="zh-CN" i="1" baseline="-25000" dirty="0">
                <a:solidFill>
                  <a:srgbClr val="0000CC"/>
                </a:solidFill>
                <a:latin typeface="+mj-lt"/>
                <a:ea typeface="宋体" panose="02010600030101010101" pitchFamily="2" charset="-122"/>
                <a:cs typeface="Times New Roman" panose="02020603050405020304" pitchFamily="18" charset="0"/>
              </a:rPr>
              <a:t>i</a:t>
            </a:r>
            <a:r>
              <a:rPr lang="zh-CN" altLang="en-US" dirty="0">
                <a:solidFill>
                  <a:srgbClr val="0000CC"/>
                </a:solidFill>
                <a:latin typeface="+mj-lt"/>
                <a:ea typeface="宋体" panose="02010600030101010101" pitchFamily="2" charset="-122"/>
                <a:cs typeface="Times New Roman" panose="02020603050405020304" pitchFamily="18" charset="0"/>
              </a:rPr>
              <a:t>、</a:t>
            </a:r>
            <a:r>
              <a:rPr lang="en-US" altLang="zh-CN" i="1" dirty="0">
                <a:solidFill>
                  <a:srgbClr val="0000CC"/>
                </a:solidFill>
                <a:latin typeface="+mj-lt"/>
                <a:ea typeface="宋体" panose="02010600030101010101" pitchFamily="2" charset="-122"/>
                <a:cs typeface="Times New Roman" panose="02020603050405020304" pitchFamily="18" charset="0"/>
              </a:rPr>
              <a:t>a</a:t>
            </a:r>
            <a:r>
              <a:rPr lang="en-US" altLang="zh-CN" baseline="-25000" dirty="0">
                <a:solidFill>
                  <a:srgbClr val="0000CC"/>
                </a:solidFill>
                <a:latin typeface="+mj-lt"/>
                <a:ea typeface="宋体" panose="02010600030101010101" pitchFamily="2" charset="-122"/>
                <a:cs typeface="Times New Roman" panose="02020603050405020304" pitchFamily="18" charset="0"/>
              </a:rPr>
              <a:t>2</a:t>
            </a:r>
            <a:r>
              <a:rPr lang="en-US" altLang="zh-CN" i="1" baseline="-25000" dirty="0">
                <a:solidFill>
                  <a:srgbClr val="0000CC"/>
                </a:solidFill>
                <a:latin typeface="+mj-lt"/>
                <a:ea typeface="宋体" panose="02010600030101010101" pitchFamily="2" charset="-122"/>
                <a:cs typeface="Times New Roman" panose="02020603050405020304" pitchFamily="18" charset="0"/>
              </a:rPr>
              <a:t>i</a:t>
            </a:r>
            <a:r>
              <a:rPr lang="en-US" altLang="zh-CN" dirty="0">
                <a:latin typeface="+mj-lt"/>
                <a:ea typeface="宋体" panose="02010600030101010101" pitchFamily="2" charset="-122"/>
                <a:cs typeface="Times New Roman" panose="02020603050405020304" pitchFamily="18" charset="0"/>
              </a:rPr>
              <a:t>  </a:t>
            </a:r>
            <a:r>
              <a:rPr lang="zh-CN" altLang="en-US" dirty="0">
                <a:latin typeface="+mj-lt"/>
                <a:ea typeface="宋体" panose="02010600030101010101" pitchFamily="2" charset="-122"/>
                <a:cs typeface="Times New Roman" panose="02020603050405020304" pitchFamily="18" charset="0"/>
              </a:rPr>
              <a:t>可单独调整第 </a:t>
            </a:r>
            <a:r>
              <a:rPr lang="en-US" altLang="zh-CN" i="1" dirty="0" err="1">
                <a:latin typeface="+mj-lt"/>
                <a:ea typeface="宋体" panose="02010600030101010101" pitchFamily="2" charset="-122"/>
                <a:cs typeface="Times New Roman" panose="02020603050405020304" pitchFamily="18" charset="0"/>
              </a:rPr>
              <a:t>i</a:t>
            </a:r>
            <a:r>
              <a:rPr lang="en-US" altLang="zh-CN" dirty="0">
                <a:latin typeface="+mj-lt"/>
                <a:ea typeface="宋体" panose="02010600030101010101" pitchFamily="2" charset="-122"/>
                <a:cs typeface="Times New Roman" panose="02020603050405020304" pitchFamily="18" charset="0"/>
              </a:rPr>
              <a:t> </a:t>
            </a:r>
            <a:r>
              <a:rPr lang="zh-CN" altLang="en-US" dirty="0">
                <a:latin typeface="+mj-lt"/>
                <a:ea typeface="宋体" panose="02010600030101010101" pitchFamily="2" charset="-122"/>
                <a:cs typeface="Times New Roman" panose="02020603050405020304" pitchFamily="18" charset="0"/>
              </a:rPr>
              <a:t>对零点，调整</a:t>
            </a:r>
            <a:r>
              <a:rPr lang="en-US" altLang="zh-CN" i="1" dirty="0">
                <a:solidFill>
                  <a:srgbClr val="0000CC"/>
                </a:solidFill>
                <a:latin typeface="+mj-lt"/>
                <a:ea typeface="宋体" panose="02010600030101010101" pitchFamily="2" charset="-122"/>
                <a:cs typeface="Times New Roman" panose="02020603050405020304" pitchFamily="18" charset="0"/>
              </a:rPr>
              <a:t>b</a:t>
            </a:r>
            <a:r>
              <a:rPr lang="en-US" altLang="zh-CN" baseline="-25000" dirty="0">
                <a:solidFill>
                  <a:srgbClr val="0000CC"/>
                </a:solidFill>
                <a:latin typeface="+mj-lt"/>
                <a:ea typeface="宋体" panose="02010600030101010101" pitchFamily="2" charset="-122"/>
                <a:cs typeface="Times New Roman" panose="02020603050405020304" pitchFamily="18" charset="0"/>
              </a:rPr>
              <a:t>1</a:t>
            </a:r>
            <a:r>
              <a:rPr lang="en-US" altLang="zh-CN" i="1" baseline="-25000" dirty="0">
                <a:solidFill>
                  <a:srgbClr val="0000CC"/>
                </a:solidFill>
                <a:latin typeface="+mj-lt"/>
                <a:ea typeface="宋体" panose="02010600030101010101" pitchFamily="2" charset="-122"/>
                <a:cs typeface="Times New Roman" panose="02020603050405020304" pitchFamily="18" charset="0"/>
              </a:rPr>
              <a:t>i</a:t>
            </a:r>
            <a:r>
              <a:rPr lang="en-US" altLang="zh-CN" dirty="0">
                <a:solidFill>
                  <a:srgbClr val="0000CC"/>
                </a:solidFill>
                <a:latin typeface="+mj-lt"/>
                <a:ea typeface="宋体" panose="02010600030101010101" pitchFamily="2" charset="-122"/>
                <a:cs typeface="Times New Roman" panose="02020603050405020304" pitchFamily="18" charset="0"/>
              </a:rPr>
              <a:t> </a:t>
            </a:r>
            <a:r>
              <a:rPr lang="zh-CN" altLang="en-US" dirty="0">
                <a:solidFill>
                  <a:srgbClr val="0000CC"/>
                </a:solidFill>
                <a:latin typeface="+mj-lt"/>
                <a:ea typeface="宋体" panose="02010600030101010101" pitchFamily="2" charset="-122"/>
                <a:cs typeface="Times New Roman" panose="02020603050405020304" pitchFamily="18" charset="0"/>
              </a:rPr>
              <a:t>、</a:t>
            </a:r>
            <a:r>
              <a:rPr lang="en-US" altLang="zh-CN" i="1" dirty="0">
                <a:solidFill>
                  <a:srgbClr val="0000CC"/>
                </a:solidFill>
                <a:latin typeface="+mj-lt"/>
                <a:ea typeface="宋体" panose="02010600030101010101" pitchFamily="2" charset="-122"/>
                <a:cs typeface="Times New Roman" panose="02020603050405020304" pitchFamily="18" charset="0"/>
              </a:rPr>
              <a:t>b</a:t>
            </a:r>
            <a:r>
              <a:rPr lang="en-US" altLang="zh-CN" baseline="-25000" dirty="0">
                <a:solidFill>
                  <a:srgbClr val="0000CC"/>
                </a:solidFill>
                <a:latin typeface="+mj-lt"/>
                <a:ea typeface="宋体" panose="02010600030101010101" pitchFamily="2" charset="-122"/>
                <a:cs typeface="Times New Roman" panose="02020603050405020304" pitchFamily="18" charset="0"/>
              </a:rPr>
              <a:t>2</a:t>
            </a:r>
            <a:r>
              <a:rPr lang="en-US" altLang="zh-CN" i="1" baseline="-25000" dirty="0">
                <a:solidFill>
                  <a:srgbClr val="0000CC"/>
                </a:solidFill>
                <a:latin typeface="+mj-lt"/>
                <a:ea typeface="宋体" panose="02010600030101010101" pitchFamily="2" charset="-122"/>
                <a:cs typeface="Times New Roman" panose="02020603050405020304" pitchFamily="18" charset="0"/>
              </a:rPr>
              <a:t>i</a:t>
            </a:r>
            <a:r>
              <a:rPr lang="en-US" altLang="zh-CN" dirty="0">
                <a:latin typeface="+mj-lt"/>
                <a:ea typeface="宋体" panose="02010600030101010101" pitchFamily="2" charset="-122"/>
                <a:cs typeface="Times New Roman" panose="02020603050405020304" pitchFamily="18" charset="0"/>
              </a:rPr>
              <a:t> </a:t>
            </a:r>
            <a:r>
              <a:rPr lang="zh-CN" altLang="en-US" dirty="0">
                <a:latin typeface="+mj-lt"/>
                <a:ea typeface="宋体" panose="02010600030101010101" pitchFamily="2" charset="-122"/>
                <a:cs typeface="Times New Roman" panose="02020603050405020304" pitchFamily="18" charset="0"/>
              </a:rPr>
              <a:t>可单独调整第 </a:t>
            </a:r>
            <a:r>
              <a:rPr lang="en-US" altLang="zh-CN" i="1" dirty="0" err="1">
                <a:latin typeface="+mj-lt"/>
                <a:ea typeface="宋体" panose="02010600030101010101" pitchFamily="2" charset="-122"/>
                <a:cs typeface="Times New Roman" panose="02020603050405020304" pitchFamily="18" charset="0"/>
              </a:rPr>
              <a:t>i</a:t>
            </a:r>
            <a:r>
              <a:rPr lang="en-US" altLang="zh-CN" i="1" dirty="0">
                <a:latin typeface="+mj-lt"/>
                <a:ea typeface="宋体" panose="02010600030101010101" pitchFamily="2" charset="-122"/>
                <a:cs typeface="Times New Roman" panose="02020603050405020304" pitchFamily="18" charset="0"/>
              </a:rPr>
              <a:t> </a:t>
            </a:r>
            <a:r>
              <a:rPr lang="zh-CN" altLang="en-US" dirty="0">
                <a:latin typeface="+mj-lt"/>
                <a:ea typeface="宋体" panose="02010600030101010101" pitchFamily="2" charset="-122"/>
                <a:cs typeface="Times New Roman" panose="02020603050405020304" pitchFamily="18" charset="0"/>
              </a:rPr>
              <a:t>对极点，零、极点可单独控制、调整；</a:t>
            </a:r>
          </a:p>
          <a:p>
            <a:pPr marL="0" lvl="1" indent="0" fontAlgn="auto">
              <a:lnSpc>
                <a:spcPct val="125000"/>
              </a:lnSpc>
              <a:spcBef>
                <a:spcPct val="0"/>
              </a:spcBef>
              <a:spcAft>
                <a:spcPts val="0"/>
              </a:spcAft>
              <a:buNone/>
            </a:pPr>
            <a:r>
              <a:rPr lang="zh-CN" altLang="en-US" dirty="0">
                <a:ea typeface="宋体" panose="02010600030101010101" pitchFamily="2" charset="-122"/>
                <a:cs typeface="Times New Roman" panose="02020603050405020304" pitchFamily="18" charset="0"/>
              </a:rPr>
              <a:t>②</a:t>
            </a:r>
            <a:r>
              <a:rPr lang="zh-CN" altLang="en-US" dirty="0">
                <a:latin typeface="+mj-lt"/>
                <a:ea typeface="宋体" panose="02010600030101010101" pitchFamily="2" charset="-122"/>
                <a:cs typeface="Times New Roman" panose="02020603050405020304" pitchFamily="18" charset="0"/>
              </a:rPr>
              <a:t> 各二阶节零、极点的搭配可互换位置，</a:t>
            </a:r>
            <a:r>
              <a:rPr lang="zh-CN" altLang="en-US" dirty="0">
                <a:solidFill>
                  <a:srgbClr val="0000CC"/>
                </a:solidFill>
                <a:latin typeface="+mj-lt"/>
                <a:ea typeface="宋体" panose="02010600030101010101" pitchFamily="2" charset="-122"/>
                <a:cs typeface="Times New Roman" panose="02020603050405020304" pitchFamily="18" charset="0"/>
              </a:rPr>
              <a:t>一个</a:t>
            </a:r>
            <a:r>
              <a:rPr lang="en-US" altLang="zh-CN" i="1" dirty="0">
                <a:solidFill>
                  <a:srgbClr val="0000CC"/>
                </a:solidFill>
                <a:latin typeface="+mj-lt"/>
                <a:ea typeface="宋体" panose="02010600030101010101" pitchFamily="2" charset="-122"/>
                <a:cs typeface="Times New Roman" panose="02020603050405020304" pitchFamily="18" charset="0"/>
              </a:rPr>
              <a:t>H</a:t>
            </a:r>
            <a:r>
              <a:rPr lang="en-US" altLang="zh-CN" dirty="0">
                <a:solidFill>
                  <a:srgbClr val="0000CC"/>
                </a:solidFill>
                <a:latin typeface="+mj-lt"/>
                <a:ea typeface="宋体" panose="02010600030101010101" pitchFamily="2" charset="-122"/>
                <a:cs typeface="Times New Roman" panose="02020603050405020304" pitchFamily="18" charset="0"/>
              </a:rPr>
              <a:t>(</a:t>
            </a:r>
            <a:r>
              <a:rPr lang="en-US" altLang="zh-CN" i="1" dirty="0">
                <a:solidFill>
                  <a:srgbClr val="0000CC"/>
                </a:solidFill>
                <a:latin typeface="+mj-lt"/>
                <a:ea typeface="宋体" panose="02010600030101010101" pitchFamily="2" charset="-122"/>
                <a:cs typeface="Times New Roman" panose="02020603050405020304" pitchFamily="18" charset="0"/>
              </a:rPr>
              <a:t>z</a:t>
            </a:r>
            <a:r>
              <a:rPr lang="en-US" altLang="zh-CN" dirty="0">
                <a:solidFill>
                  <a:srgbClr val="0000CC"/>
                </a:solidFill>
                <a:latin typeface="+mj-lt"/>
                <a:ea typeface="宋体" panose="02010600030101010101" pitchFamily="2" charset="-122"/>
                <a:cs typeface="Times New Roman" panose="02020603050405020304" pitchFamily="18" charset="0"/>
              </a:rPr>
              <a:t>)</a:t>
            </a:r>
            <a:r>
              <a:rPr lang="zh-CN" altLang="en-US" dirty="0">
                <a:solidFill>
                  <a:srgbClr val="0000CC"/>
                </a:solidFill>
                <a:latin typeface="+mj-lt"/>
                <a:ea typeface="宋体" panose="02010600030101010101" pitchFamily="2" charset="-122"/>
                <a:cs typeface="Times New Roman" panose="02020603050405020304" pitchFamily="18" charset="0"/>
              </a:rPr>
              <a:t>的级联结构不是唯一的</a:t>
            </a:r>
            <a:r>
              <a:rPr lang="zh-CN" altLang="en-US" dirty="0">
                <a:latin typeface="+mj-lt"/>
                <a:ea typeface="宋体" panose="02010600030101010101" pitchFamily="2" charset="-122"/>
                <a:cs typeface="Times New Roman" panose="02020603050405020304" pitchFamily="18" charset="0"/>
              </a:rPr>
              <a:t>，优化组合可以减小运算误差。</a:t>
            </a:r>
          </a:p>
        </p:txBody>
      </p:sp>
      <p:sp>
        <p:nvSpPr>
          <p:cNvPr id="5"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70199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extLst>
              <p:ext uri="{D42A27DB-BD31-4B8C-83A1-F6EECF244321}">
                <p14:modId xmlns:p14="http://schemas.microsoft.com/office/powerpoint/2010/main" val="88695288"/>
              </p:ext>
            </p:extLst>
          </p:nvPr>
        </p:nvGraphicFramePr>
        <p:xfrm>
          <a:off x="1862543" y="1268760"/>
          <a:ext cx="5425056" cy="1066176"/>
        </p:xfrm>
        <a:graphic>
          <a:graphicData uri="http://schemas.openxmlformats.org/presentationml/2006/ole">
            <mc:AlternateContent xmlns:mc="http://schemas.openxmlformats.org/markup-compatibility/2006">
              <mc:Choice xmlns:v="urn:schemas-microsoft-com:vml" Requires="v">
                <p:oleObj name="Equation" r:id="rId2" imgW="2260440" imgH="444240" progId="Equation.DSMT4">
                  <p:embed/>
                </p:oleObj>
              </mc:Choice>
              <mc:Fallback>
                <p:oleObj name="Equation" r:id="rId2" imgW="2260440" imgH="444240" progId="Equation.DSMT4">
                  <p:embed/>
                  <p:pic>
                    <p:nvPicPr>
                      <p:cNvPr id="4" name="Object 3"/>
                      <p:cNvPicPr>
                        <a:picLocks noChangeAspect="1" noChangeArrowheads="1"/>
                      </p:cNvPicPr>
                      <p:nvPr/>
                    </p:nvPicPr>
                    <p:blipFill>
                      <a:blip r:embed="rId3"/>
                      <a:srcRect/>
                      <a:stretch>
                        <a:fillRect/>
                      </a:stretch>
                    </p:blipFill>
                    <p:spPr bwMode="auto">
                      <a:xfrm>
                        <a:off x="1862543" y="1268760"/>
                        <a:ext cx="5425056" cy="1066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4"/>
          <p:cNvSpPr txBox="1">
            <a:spLocks noChangeArrowheads="1"/>
          </p:cNvSpPr>
          <p:nvPr/>
        </p:nvSpPr>
        <p:spPr bwMode="auto">
          <a:xfrm>
            <a:off x="1691680" y="2420888"/>
            <a:ext cx="65574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000000"/>
                </a:solidFill>
              </a:rPr>
              <a:t>试画出其</a:t>
            </a:r>
            <a:r>
              <a:rPr lang="zh-CN" altLang="en-US" sz="2800" b="1" dirty="0"/>
              <a:t>直接</a:t>
            </a:r>
            <a:r>
              <a:rPr lang="en-US" altLang="zh-CN" sz="2800" b="1" dirty="0"/>
              <a:t>II</a:t>
            </a:r>
            <a:r>
              <a:rPr lang="zh-CN" altLang="en-US" sz="2800" b="1" dirty="0"/>
              <a:t>型</a:t>
            </a:r>
            <a:r>
              <a:rPr lang="zh-CN" altLang="en-US" sz="2800" b="1" dirty="0">
                <a:solidFill>
                  <a:srgbClr val="000000"/>
                </a:solidFill>
              </a:rPr>
              <a:t>、</a:t>
            </a:r>
            <a:r>
              <a:rPr lang="zh-CN" altLang="en-US" sz="2800" b="1" dirty="0">
                <a:solidFill>
                  <a:srgbClr val="FF0000"/>
                </a:solidFill>
              </a:rPr>
              <a:t>级联型</a:t>
            </a:r>
            <a:r>
              <a:rPr lang="zh-CN" altLang="en-US" sz="2800" b="1" dirty="0">
                <a:solidFill>
                  <a:srgbClr val="000000"/>
                </a:solidFill>
              </a:rPr>
              <a:t>和并联型结构。</a:t>
            </a:r>
          </a:p>
        </p:txBody>
      </p:sp>
      <p:sp>
        <p:nvSpPr>
          <p:cNvPr id="5" name="矩形 4"/>
          <p:cNvSpPr/>
          <p:nvPr/>
        </p:nvSpPr>
        <p:spPr>
          <a:xfrm>
            <a:off x="688824" y="836712"/>
            <a:ext cx="1173719" cy="523220"/>
          </a:xfrm>
          <a:prstGeom prst="rect">
            <a:avLst/>
          </a:prstGeom>
        </p:spPr>
        <p:txBody>
          <a:bodyPr wrap="none">
            <a:spAutoFit/>
          </a:bodyPr>
          <a:lstStyle/>
          <a:p>
            <a:r>
              <a:rPr kumimoji="1" lang="en-US" altLang="zh-CN" sz="2800" i="1" dirty="0">
                <a:solidFill>
                  <a:srgbClr val="000000"/>
                </a:solidFill>
                <a:latin typeface="+mj-lt"/>
                <a:cs typeface="+mj-cs"/>
              </a:rPr>
              <a:t> </a:t>
            </a:r>
            <a:r>
              <a:rPr kumimoji="1" lang="zh-CN" altLang="en-US" sz="2800" b="1" dirty="0">
                <a:solidFill>
                  <a:srgbClr val="000000"/>
                </a:solidFill>
                <a:latin typeface="+mj-lt"/>
                <a:cs typeface="+mj-cs"/>
              </a:rPr>
              <a:t>例</a:t>
            </a:r>
            <a:r>
              <a:rPr kumimoji="1" lang="en-US" altLang="zh-CN" sz="2800" b="1" dirty="0">
                <a:solidFill>
                  <a:srgbClr val="000000"/>
                </a:solidFill>
                <a:latin typeface="+mj-lt"/>
                <a:cs typeface="+mj-cs"/>
              </a:rPr>
              <a:t>6.2 </a:t>
            </a:r>
            <a:endParaRPr lang="zh-CN" altLang="en-US" dirty="0">
              <a:latin typeface="+mj-lt"/>
            </a:endParaRPr>
          </a:p>
        </p:txBody>
      </p:sp>
      <p:sp>
        <p:nvSpPr>
          <p:cNvPr id="7" name="矩形 6"/>
          <p:cNvSpPr/>
          <p:nvPr/>
        </p:nvSpPr>
        <p:spPr>
          <a:xfrm>
            <a:off x="1835696" y="837873"/>
            <a:ext cx="7134047" cy="523220"/>
          </a:xfrm>
          <a:prstGeom prst="rect">
            <a:avLst/>
          </a:prstGeom>
        </p:spPr>
        <p:txBody>
          <a:bodyPr wrap="square">
            <a:spAutoFit/>
          </a:bodyPr>
          <a:lstStyle/>
          <a:p>
            <a:r>
              <a:rPr kumimoji="1" lang="zh-CN" altLang="en-US" sz="2800" b="1" dirty="0">
                <a:solidFill>
                  <a:srgbClr val="000000"/>
                </a:solidFill>
                <a:latin typeface="Times New Roman"/>
                <a:ea typeface="宋体"/>
                <a:cs typeface="+mj-cs"/>
              </a:rPr>
              <a:t>已知某三阶数字滤波器的系统函数为</a:t>
            </a:r>
            <a:endParaRPr lang="zh-CN" altLang="en-US" dirty="0"/>
          </a:p>
        </p:txBody>
      </p:sp>
      <p:sp>
        <p:nvSpPr>
          <p:cNvPr id="8" name="矩形 7"/>
          <p:cNvSpPr/>
          <p:nvPr/>
        </p:nvSpPr>
        <p:spPr>
          <a:xfrm>
            <a:off x="688824" y="3193812"/>
            <a:ext cx="902811" cy="523220"/>
          </a:xfrm>
          <a:prstGeom prst="rect">
            <a:avLst/>
          </a:prstGeom>
        </p:spPr>
        <p:txBody>
          <a:bodyPr wrap="none">
            <a:spAutoFit/>
          </a:bodyPr>
          <a:lstStyle/>
          <a:p>
            <a:r>
              <a:rPr kumimoji="1" lang="zh-CN" altLang="en-US" sz="2800" b="1" dirty="0">
                <a:solidFill>
                  <a:srgbClr val="000000"/>
                </a:solidFill>
                <a:latin typeface="+mj-lt"/>
                <a:cs typeface="+mj-cs"/>
              </a:rPr>
              <a:t>解：</a:t>
            </a:r>
            <a:endParaRPr lang="zh-CN" altLang="en-US" b="1" dirty="0">
              <a:latin typeface="+mj-lt"/>
            </a:endParaRPr>
          </a:p>
        </p:txBody>
      </p:sp>
      <p:graphicFrame>
        <p:nvGraphicFramePr>
          <p:cNvPr id="9" name="Object 3"/>
          <p:cNvGraphicFramePr>
            <a:graphicFrameLocks noChangeAspect="1"/>
          </p:cNvGraphicFramePr>
          <p:nvPr>
            <p:extLst>
              <p:ext uri="{D42A27DB-BD31-4B8C-83A1-F6EECF244321}">
                <p14:modId xmlns:p14="http://schemas.microsoft.com/office/powerpoint/2010/main" val="3897191266"/>
              </p:ext>
            </p:extLst>
          </p:nvPr>
        </p:nvGraphicFramePr>
        <p:xfrm>
          <a:off x="1819275" y="2924944"/>
          <a:ext cx="5457825" cy="1036638"/>
        </p:xfrm>
        <a:graphic>
          <a:graphicData uri="http://schemas.openxmlformats.org/presentationml/2006/ole">
            <mc:AlternateContent xmlns:mc="http://schemas.openxmlformats.org/markup-compatibility/2006">
              <mc:Choice xmlns:v="urn:schemas-microsoft-com:vml" Requires="v">
                <p:oleObj name="Equation" r:id="rId4" imgW="2273040" imgH="431640" progId="Equation.DSMT4">
                  <p:embed/>
                </p:oleObj>
              </mc:Choice>
              <mc:Fallback>
                <p:oleObj name="Equation" r:id="rId4" imgW="2273040" imgH="431640" progId="Equation.DSMT4">
                  <p:embed/>
                  <p:pic>
                    <p:nvPicPr>
                      <p:cNvPr id="3" name="Object 3"/>
                      <p:cNvPicPr>
                        <a:picLocks noChangeAspect="1" noChangeArrowheads="1"/>
                      </p:cNvPicPr>
                      <p:nvPr/>
                    </p:nvPicPr>
                    <p:blipFill>
                      <a:blip r:embed="rId5"/>
                      <a:srcRect/>
                      <a:stretch>
                        <a:fillRect/>
                      </a:stretch>
                    </p:blipFill>
                    <p:spPr bwMode="auto">
                      <a:xfrm>
                        <a:off x="1819275" y="2924944"/>
                        <a:ext cx="5457825" cy="103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组合 9"/>
          <p:cNvGrpSpPr>
            <a:grpSpLocks/>
          </p:cNvGrpSpPr>
          <p:nvPr/>
        </p:nvGrpSpPr>
        <p:grpSpPr bwMode="auto">
          <a:xfrm>
            <a:off x="611560" y="3861048"/>
            <a:ext cx="8448080" cy="2637719"/>
            <a:chOff x="107504" y="3521448"/>
            <a:chExt cx="8783960" cy="3026873"/>
          </a:xfrm>
        </p:grpSpPr>
        <p:sp>
          <p:nvSpPr>
            <p:cNvPr id="11" name="Text Box 49"/>
            <p:cNvSpPr txBox="1">
              <a:spLocks noChangeArrowheads="1"/>
            </p:cNvSpPr>
            <p:nvPr/>
          </p:nvSpPr>
          <p:spPr bwMode="auto">
            <a:xfrm>
              <a:off x="1565176" y="4644425"/>
              <a:ext cx="990600" cy="671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cs typeface="Times New Roman" panose="02020603050405020304" pitchFamily="18" charset="0"/>
                </a:rPr>
                <a:t>0.6</a:t>
              </a:r>
              <a:endParaRPr lang="zh-CN" altLang="zh-CN" sz="3200" dirty="0">
                <a:latin typeface="+mj-lt"/>
                <a:cs typeface="Times New Roman" panose="02020603050405020304" pitchFamily="18" charset="0"/>
              </a:endParaRPr>
            </a:p>
          </p:txBody>
        </p:sp>
        <p:sp>
          <p:nvSpPr>
            <p:cNvPr id="12" name="Line 5"/>
            <p:cNvSpPr>
              <a:spLocks noChangeShapeType="1"/>
            </p:cNvSpPr>
            <p:nvPr/>
          </p:nvSpPr>
          <p:spPr bwMode="auto">
            <a:xfrm>
              <a:off x="628586" y="4186314"/>
              <a:ext cx="505870" cy="0"/>
            </a:xfrm>
            <a:prstGeom prst="line">
              <a:avLst/>
            </a:prstGeom>
            <a:noFill/>
            <a:ln w="38100">
              <a:solidFill>
                <a:schemeClr val="tx1"/>
              </a:solidFill>
              <a:round/>
              <a:headEnd type="oval"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3" name="Line 6"/>
            <p:cNvSpPr>
              <a:spLocks noChangeShapeType="1"/>
            </p:cNvSpPr>
            <p:nvPr/>
          </p:nvSpPr>
          <p:spPr bwMode="auto">
            <a:xfrm>
              <a:off x="1539153" y="4186314"/>
              <a:ext cx="708218"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4" name="Line 7"/>
            <p:cNvSpPr>
              <a:spLocks noChangeShapeType="1"/>
            </p:cNvSpPr>
            <p:nvPr/>
          </p:nvSpPr>
          <p:spPr bwMode="auto">
            <a:xfrm>
              <a:off x="2247371" y="4186314"/>
              <a:ext cx="809392"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5" name="Line 8"/>
            <p:cNvSpPr>
              <a:spLocks noChangeShapeType="1"/>
            </p:cNvSpPr>
            <p:nvPr/>
          </p:nvSpPr>
          <p:spPr bwMode="auto">
            <a:xfrm>
              <a:off x="1033283" y="4186314"/>
              <a:ext cx="6070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6" name="Line 9"/>
            <p:cNvSpPr>
              <a:spLocks noChangeShapeType="1"/>
            </p:cNvSpPr>
            <p:nvPr/>
          </p:nvSpPr>
          <p:spPr bwMode="auto">
            <a:xfrm>
              <a:off x="1336805" y="4186314"/>
              <a:ext cx="0" cy="1073853"/>
            </a:xfrm>
            <a:prstGeom prst="line">
              <a:avLst/>
            </a:prstGeom>
            <a:noFill/>
            <a:ln w="38100">
              <a:solidFill>
                <a:schemeClr val="tx1"/>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7" name="Line 10"/>
            <p:cNvSpPr>
              <a:spLocks noChangeShapeType="1"/>
            </p:cNvSpPr>
            <p:nvPr/>
          </p:nvSpPr>
          <p:spPr bwMode="auto">
            <a:xfrm>
              <a:off x="2550894" y="4186314"/>
              <a:ext cx="0" cy="715902"/>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8" name="Line 11"/>
            <p:cNvSpPr>
              <a:spLocks noChangeShapeType="1"/>
            </p:cNvSpPr>
            <p:nvPr/>
          </p:nvSpPr>
          <p:spPr bwMode="auto">
            <a:xfrm>
              <a:off x="1842675" y="5260166"/>
              <a:ext cx="708218" cy="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9" name="Line 12"/>
            <p:cNvSpPr>
              <a:spLocks noChangeShapeType="1"/>
            </p:cNvSpPr>
            <p:nvPr/>
          </p:nvSpPr>
          <p:spPr bwMode="auto">
            <a:xfrm>
              <a:off x="2955590" y="4186314"/>
              <a:ext cx="192230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0" name="Line 13"/>
            <p:cNvSpPr>
              <a:spLocks noChangeShapeType="1"/>
            </p:cNvSpPr>
            <p:nvPr/>
          </p:nvSpPr>
          <p:spPr bwMode="auto">
            <a:xfrm flipH="1">
              <a:off x="1336805" y="5260166"/>
              <a:ext cx="6070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1" name="Line 14"/>
            <p:cNvSpPr>
              <a:spLocks noChangeShapeType="1"/>
            </p:cNvSpPr>
            <p:nvPr/>
          </p:nvSpPr>
          <p:spPr bwMode="auto">
            <a:xfrm>
              <a:off x="2955590" y="4186314"/>
              <a:ext cx="6070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5" name="Line 20"/>
            <p:cNvSpPr>
              <a:spLocks noChangeShapeType="1"/>
            </p:cNvSpPr>
            <p:nvPr/>
          </p:nvSpPr>
          <p:spPr bwMode="auto">
            <a:xfrm>
              <a:off x="3259112" y="4186314"/>
              <a:ext cx="6070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7" name="Line 23"/>
            <p:cNvSpPr>
              <a:spLocks noChangeShapeType="1"/>
            </p:cNvSpPr>
            <p:nvPr/>
          </p:nvSpPr>
          <p:spPr bwMode="auto">
            <a:xfrm>
              <a:off x="4776723" y="4186314"/>
              <a:ext cx="708218"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8" name="Line 24"/>
            <p:cNvSpPr>
              <a:spLocks noChangeShapeType="1"/>
            </p:cNvSpPr>
            <p:nvPr/>
          </p:nvSpPr>
          <p:spPr bwMode="auto">
            <a:xfrm>
              <a:off x="5484941" y="4186314"/>
              <a:ext cx="809392"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9" name="Line 25"/>
            <p:cNvSpPr>
              <a:spLocks noChangeShapeType="1"/>
            </p:cNvSpPr>
            <p:nvPr/>
          </p:nvSpPr>
          <p:spPr bwMode="auto">
            <a:xfrm>
              <a:off x="4270853" y="4186314"/>
              <a:ext cx="6070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0" name="Line 26"/>
            <p:cNvSpPr>
              <a:spLocks noChangeShapeType="1"/>
            </p:cNvSpPr>
            <p:nvPr/>
          </p:nvSpPr>
          <p:spPr bwMode="auto">
            <a:xfrm>
              <a:off x="4574375" y="4186314"/>
              <a:ext cx="0" cy="2267022"/>
            </a:xfrm>
            <a:prstGeom prst="line">
              <a:avLst/>
            </a:prstGeom>
            <a:noFill/>
            <a:ln w="38100">
              <a:solidFill>
                <a:schemeClr val="tx1"/>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1" name="Line 27"/>
            <p:cNvSpPr>
              <a:spLocks noChangeShapeType="1"/>
            </p:cNvSpPr>
            <p:nvPr/>
          </p:nvSpPr>
          <p:spPr bwMode="auto">
            <a:xfrm>
              <a:off x="5788464" y="4186314"/>
              <a:ext cx="0" cy="835219"/>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2" name="Line 28"/>
            <p:cNvSpPr>
              <a:spLocks noChangeShapeType="1"/>
            </p:cNvSpPr>
            <p:nvPr/>
          </p:nvSpPr>
          <p:spPr bwMode="auto">
            <a:xfrm>
              <a:off x="5080245" y="5260166"/>
              <a:ext cx="708218" cy="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3" name="Line 29"/>
            <p:cNvSpPr>
              <a:spLocks noChangeShapeType="1"/>
            </p:cNvSpPr>
            <p:nvPr/>
          </p:nvSpPr>
          <p:spPr bwMode="auto">
            <a:xfrm>
              <a:off x="5788464" y="4902215"/>
              <a:ext cx="0" cy="1312487"/>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4" name="Line 30"/>
            <p:cNvSpPr>
              <a:spLocks noChangeShapeType="1"/>
            </p:cNvSpPr>
            <p:nvPr/>
          </p:nvSpPr>
          <p:spPr bwMode="auto">
            <a:xfrm flipV="1">
              <a:off x="5130832" y="6453335"/>
              <a:ext cx="657631" cy="8711"/>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5" name="Line 31"/>
            <p:cNvSpPr>
              <a:spLocks noChangeShapeType="1"/>
            </p:cNvSpPr>
            <p:nvPr/>
          </p:nvSpPr>
          <p:spPr bwMode="auto">
            <a:xfrm>
              <a:off x="5788464" y="5976068"/>
              <a:ext cx="0" cy="47726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6" name="Line 32"/>
            <p:cNvSpPr>
              <a:spLocks noChangeShapeType="1"/>
            </p:cNvSpPr>
            <p:nvPr/>
          </p:nvSpPr>
          <p:spPr bwMode="auto">
            <a:xfrm>
              <a:off x="6193160" y="4186314"/>
              <a:ext cx="1922307" cy="0"/>
            </a:xfrm>
            <a:prstGeom prst="line">
              <a:avLst/>
            </a:prstGeom>
            <a:noFill/>
            <a:ln w="381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7" name="Line 33"/>
            <p:cNvSpPr>
              <a:spLocks noChangeShapeType="1"/>
            </p:cNvSpPr>
            <p:nvPr/>
          </p:nvSpPr>
          <p:spPr bwMode="auto">
            <a:xfrm flipH="1">
              <a:off x="4574375" y="5260166"/>
              <a:ext cx="607044" cy="0"/>
            </a:xfrm>
            <a:prstGeom prst="line">
              <a:avLst/>
            </a:prstGeom>
            <a:noFill/>
            <a:ln w="38100">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8" name="Line 34"/>
            <p:cNvSpPr>
              <a:spLocks noChangeShapeType="1"/>
            </p:cNvSpPr>
            <p:nvPr/>
          </p:nvSpPr>
          <p:spPr bwMode="auto">
            <a:xfrm flipH="1">
              <a:off x="4574375" y="6453336"/>
              <a:ext cx="7082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9" name="Line 35"/>
            <p:cNvSpPr>
              <a:spLocks noChangeShapeType="1"/>
            </p:cNvSpPr>
            <p:nvPr/>
          </p:nvSpPr>
          <p:spPr bwMode="auto">
            <a:xfrm>
              <a:off x="6193160" y="4186314"/>
              <a:ext cx="6070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0" name="Line 40"/>
            <p:cNvSpPr>
              <a:spLocks noChangeShapeType="1"/>
            </p:cNvSpPr>
            <p:nvPr/>
          </p:nvSpPr>
          <p:spPr bwMode="auto">
            <a:xfrm flipV="1">
              <a:off x="6901378" y="4663582"/>
              <a:ext cx="0" cy="477268"/>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1" name="Line 41"/>
            <p:cNvSpPr>
              <a:spLocks noChangeShapeType="1"/>
            </p:cNvSpPr>
            <p:nvPr/>
          </p:nvSpPr>
          <p:spPr bwMode="auto">
            <a:xfrm flipH="1">
              <a:off x="5687289" y="5260166"/>
              <a:ext cx="708218" cy="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2" name="Line 42"/>
            <p:cNvSpPr>
              <a:spLocks noChangeShapeType="1"/>
            </p:cNvSpPr>
            <p:nvPr/>
          </p:nvSpPr>
          <p:spPr bwMode="auto">
            <a:xfrm flipH="1" flipV="1">
              <a:off x="6901378" y="5618117"/>
              <a:ext cx="0" cy="835219"/>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3" name="Line 43"/>
            <p:cNvSpPr>
              <a:spLocks noChangeShapeType="1"/>
            </p:cNvSpPr>
            <p:nvPr/>
          </p:nvSpPr>
          <p:spPr bwMode="auto">
            <a:xfrm flipH="1">
              <a:off x="5687289" y="6453335"/>
              <a:ext cx="708218" cy="1"/>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4" name="Line 44"/>
            <p:cNvSpPr>
              <a:spLocks noChangeShapeType="1"/>
            </p:cNvSpPr>
            <p:nvPr/>
          </p:nvSpPr>
          <p:spPr bwMode="auto">
            <a:xfrm flipV="1">
              <a:off x="6901378" y="4782899"/>
              <a:ext cx="0" cy="107385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5" name="Line 45"/>
            <p:cNvSpPr>
              <a:spLocks noChangeShapeType="1"/>
            </p:cNvSpPr>
            <p:nvPr/>
          </p:nvSpPr>
          <p:spPr bwMode="auto">
            <a:xfrm flipH="1">
              <a:off x="6294334" y="5260166"/>
              <a:ext cx="607044" cy="0"/>
            </a:xfrm>
            <a:prstGeom prst="line">
              <a:avLst/>
            </a:prstGeom>
            <a:noFill/>
            <a:ln w="38100">
              <a:solidFill>
                <a:schemeClr val="tx1"/>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6" name="Line 46"/>
            <p:cNvSpPr>
              <a:spLocks noChangeShapeType="1"/>
            </p:cNvSpPr>
            <p:nvPr/>
          </p:nvSpPr>
          <p:spPr bwMode="auto">
            <a:xfrm flipH="1">
              <a:off x="6193160" y="6453336"/>
              <a:ext cx="7082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7" name="Line 47"/>
            <p:cNvSpPr>
              <a:spLocks noChangeShapeType="1"/>
            </p:cNvSpPr>
            <p:nvPr/>
          </p:nvSpPr>
          <p:spPr bwMode="auto">
            <a:xfrm>
              <a:off x="6496682" y="4186314"/>
              <a:ext cx="6070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8" name="Line 50"/>
            <p:cNvSpPr>
              <a:spLocks noChangeShapeType="1"/>
            </p:cNvSpPr>
            <p:nvPr/>
          </p:nvSpPr>
          <p:spPr bwMode="auto">
            <a:xfrm flipV="1">
              <a:off x="6901378" y="4186314"/>
              <a:ext cx="0" cy="596585"/>
            </a:xfrm>
            <a:prstGeom prst="line">
              <a:avLst/>
            </a:prstGeom>
            <a:noFill/>
            <a:ln w="38100">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9" name="Line 51"/>
            <p:cNvSpPr>
              <a:spLocks noChangeShapeType="1"/>
            </p:cNvSpPr>
            <p:nvPr/>
          </p:nvSpPr>
          <p:spPr bwMode="auto">
            <a:xfrm>
              <a:off x="6901378" y="6214702"/>
              <a:ext cx="0" cy="23863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50" name="Text Box 52"/>
            <p:cNvSpPr txBox="1">
              <a:spLocks noChangeArrowheads="1"/>
            </p:cNvSpPr>
            <p:nvPr/>
          </p:nvSpPr>
          <p:spPr bwMode="auto">
            <a:xfrm>
              <a:off x="7677375" y="3521448"/>
              <a:ext cx="1214089" cy="671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i="1">
                  <a:latin typeface="+mj-lt"/>
                  <a:ea typeface="宋体" panose="02010600030101010101" pitchFamily="2" charset="-122"/>
                </a:rPr>
                <a:t>y</a:t>
              </a:r>
              <a:r>
                <a:rPr lang="en-US" altLang="zh-CN" sz="3200">
                  <a:latin typeface="+mj-lt"/>
                  <a:ea typeface="宋体" panose="02010600030101010101" pitchFamily="2" charset="-122"/>
                </a:rPr>
                <a:t>(</a:t>
              </a:r>
              <a:r>
                <a:rPr lang="en-US" altLang="zh-CN" sz="3200" i="1">
                  <a:latin typeface="+mj-lt"/>
                  <a:ea typeface="宋体" panose="02010600030101010101" pitchFamily="2" charset="-122"/>
                </a:rPr>
                <a:t>n</a:t>
              </a:r>
              <a:r>
                <a:rPr lang="en-US" altLang="zh-CN" sz="3200">
                  <a:latin typeface="+mj-lt"/>
                  <a:ea typeface="宋体" panose="02010600030101010101" pitchFamily="2" charset="-122"/>
                </a:rPr>
                <a:t>)</a:t>
              </a:r>
            </a:p>
          </p:txBody>
        </p:sp>
        <p:sp>
          <p:nvSpPr>
            <p:cNvPr id="51" name="Text Box 53"/>
            <p:cNvSpPr txBox="1">
              <a:spLocks noChangeArrowheads="1"/>
            </p:cNvSpPr>
            <p:nvPr/>
          </p:nvSpPr>
          <p:spPr bwMode="auto">
            <a:xfrm>
              <a:off x="107504" y="3521448"/>
              <a:ext cx="1112914" cy="671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i="1">
                  <a:latin typeface="+mj-lt"/>
                  <a:ea typeface="宋体" panose="02010600030101010101" pitchFamily="2" charset="-122"/>
                </a:rPr>
                <a:t>x</a:t>
              </a:r>
              <a:r>
                <a:rPr lang="en-US" altLang="zh-CN" sz="3200">
                  <a:latin typeface="+mj-lt"/>
                  <a:ea typeface="宋体" panose="02010600030101010101" pitchFamily="2" charset="-122"/>
                </a:rPr>
                <a:t>(</a:t>
              </a:r>
              <a:r>
                <a:rPr lang="en-US" altLang="zh-CN" sz="3200" i="1">
                  <a:latin typeface="+mj-lt"/>
                  <a:ea typeface="宋体" panose="02010600030101010101" pitchFamily="2" charset="-122"/>
                </a:rPr>
                <a:t>n</a:t>
              </a:r>
              <a:r>
                <a:rPr lang="en-US" altLang="zh-CN" sz="3200">
                  <a:latin typeface="+mj-lt"/>
                  <a:ea typeface="宋体" panose="02010600030101010101" pitchFamily="2" charset="-122"/>
                </a:rPr>
                <a:t>)</a:t>
              </a:r>
            </a:p>
          </p:txBody>
        </p:sp>
        <p:sp>
          <p:nvSpPr>
            <p:cNvPr id="52" name="Line 54"/>
            <p:cNvSpPr>
              <a:spLocks noChangeShapeType="1"/>
            </p:cNvSpPr>
            <p:nvPr/>
          </p:nvSpPr>
          <p:spPr bwMode="auto">
            <a:xfrm>
              <a:off x="2550894" y="4782899"/>
              <a:ext cx="0" cy="47726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graphicFrame>
          <p:nvGraphicFramePr>
            <p:cNvPr id="53" name="对象 2"/>
            <p:cNvGraphicFramePr>
              <a:graphicFrameLocks noChangeAspect="1"/>
            </p:cNvGraphicFramePr>
            <p:nvPr/>
          </p:nvGraphicFramePr>
          <p:xfrm>
            <a:off x="2627784" y="4409262"/>
            <a:ext cx="565150" cy="531906"/>
          </p:xfrm>
          <a:graphic>
            <a:graphicData uri="http://schemas.openxmlformats.org/presentationml/2006/ole">
              <mc:AlternateContent xmlns:mc="http://schemas.openxmlformats.org/markup-compatibility/2006">
                <mc:Choice xmlns:v="urn:schemas-microsoft-com:vml" Requires="v">
                  <p:oleObj name="Equation" r:id="rId6" imgW="215713" imgH="203024" progId="Equation.DSMT4">
                    <p:embed/>
                  </p:oleObj>
                </mc:Choice>
                <mc:Fallback>
                  <p:oleObj name="Equation" r:id="rId6" imgW="215713" imgH="203024" progId="Equation.DSMT4">
                    <p:embed/>
                    <p:pic>
                      <p:nvPicPr>
                        <p:cNvPr id="43058" name="对象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784" y="4409262"/>
                          <a:ext cx="565150" cy="531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 name="对象 4"/>
            <p:cNvGraphicFramePr>
              <a:graphicFrameLocks noChangeAspect="1"/>
            </p:cNvGraphicFramePr>
            <p:nvPr/>
          </p:nvGraphicFramePr>
          <p:xfrm>
            <a:off x="5796136" y="4409356"/>
            <a:ext cx="565150" cy="531812"/>
          </p:xfrm>
          <a:graphic>
            <a:graphicData uri="http://schemas.openxmlformats.org/presentationml/2006/ole">
              <mc:AlternateContent xmlns:mc="http://schemas.openxmlformats.org/markup-compatibility/2006">
                <mc:Choice xmlns:v="urn:schemas-microsoft-com:vml" Requires="v">
                  <p:oleObj name="Equation" r:id="rId8" imgW="215713" imgH="203024" progId="Equation.DSMT4">
                    <p:embed/>
                  </p:oleObj>
                </mc:Choice>
                <mc:Fallback>
                  <p:oleObj name="Equation" r:id="rId8" imgW="215713" imgH="203024" progId="Equation.DSMT4">
                    <p:embed/>
                    <p:pic>
                      <p:nvPicPr>
                        <p:cNvPr id="43059"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6136" y="4409356"/>
                          <a:ext cx="56515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对象 5"/>
            <p:cNvGraphicFramePr>
              <a:graphicFrameLocks noChangeAspect="1"/>
            </p:cNvGraphicFramePr>
            <p:nvPr/>
          </p:nvGraphicFramePr>
          <p:xfrm>
            <a:off x="5879058" y="5561484"/>
            <a:ext cx="565150" cy="531812"/>
          </p:xfrm>
          <a:graphic>
            <a:graphicData uri="http://schemas.openxmlformats.org/presentationml/2006/ole">
              <mc:AlternateContent xmlns:mc="http://schemas.openxmlformats.org/markup-compatibility/2006">
                <mc:Choice xmlns:v="urn:schemas-microsoft-com:vml" Requires="v">
                  <p:oleObj name="Equation" r:id="rId8" imgW="215713" imgH="203024" progId="Equation.DSMT4">
                    <p:embed/>
                  </p:oleObj>
                </mc:Choice>
                <mc:Fallback>
                  <p:oleObj name="Equation" r:id="rId8" imgW="215713" imgH="203024" progId="Equation.DSMT4">
                    <p:embed/>
                    <p:pic>
                      <p:nvPicPr>
                        <p:cNvPr id="4306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79058" y="5561484"/>
                          <a:ext cx="56515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 name="Text Box 49"/>
            <p:cNvSpPr txBox="1">
              <a:spLocks noChangeArrowheads="1"/>
            </p:cNvSpPr>
            <p:nvPr/>
          </p:nvSpPr>
          <p:spPr bwMode="auto">
            <a:xfrm>
              <a:off x="6029672" y="3531623"/>
              <a:ext cx="990600" cy="671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cs typeface="Times New Roman" panose="02020603050405020304" pitchFamily="18" charset="0"/>
                </a:rPr>
                <a:t>3</a:t>
              </a:r>
              <a:endParaRPr lang="zh-CN" altLang="zh-CN" sz="3200" dirty="0">
                <a:latin typeface="+mj-lt"/>
                <a:cs typeface="Times New Roman" panose="02020603050405020304" pitchFamily="18" charset="0"/>
              </a:endParaRPr>
            </a:p>
          </p:txBody>
        </p:sp>
        <p:sp>
          <p:nvSpPr>
            <p:cNvPr id="58" name="Text Box 49"/>
            <p:cNvSpPr txBox="1">
              <a:spLocks noChangeArrowheads="1"/>
            </p:cNvSpPr>
            <p:nvPr/>
          </p:nvSpPr>
          <p:spPr bwMode="auto">
            <a:xfrm>
              <a:off x="6013988" y="4609639"/>
              <a:ext cx="990600" cy="671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cs typeface="Times New Roman" panose="02020603050405020304" pitchFamily="18" charset="0"/>
                </a:rPr>
                <a:t>2.4</a:t>
              </a:r>
              <a:endParaRPr lang="zh-CN" altLang="zh-CN" sz="3200" dirty="0">
                <a:latin typeface="+mj-lt"/>
                <a:cs typeface="Times New Roman" panose="02020603050405020304" pitchFamily="18" charset="0"/>
              </a:endParaRPr>
            </a:p>
          </p:txBody>
        </p:sp>
        <p:sp>
          <p:nvSpPr>
            <p:cNvPr id="59" name="Text Box 49"/>
            <p:cNvSpPr txBox="1">
              <a:spLocks noChangeArrowheads="1"/>
            </p:cNvSpPr>
            <p:nvPr/>
          </p:nvSpPr>
          <p:spPr bwMode="auto">
            <a:xfrm>
              <a:off x="6029672" y="5877272"/>
              <a:ext cx="990600" cy="671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cs typeface="Times New Roman" panose="02020603050405020304" pitchFamily="18" charset="0"/>
                </a:rPr>
                <a:t>0.4</a:t>
              </a:r>
              <a:endParaRPr lang="zh-CN" altLang="zh-CN" sz="3200" dirty="0">
                <a:latin typeface="+mj-lt"/>
                <a:cs typeface="Times New Roman" panose="02020603050405020304" pitchFamily="18" charset="0"/>
              </a:endParaRPr>
            </a:p>
          </p:txBody>
        </p:sp>
        <p:sp>
          <p:nvSpPr>
            <p:cNvPr id="60" name="Text Box 49"/>
            <p:cNvSpPr txBox="1">
              <a:spLocks noChangeArrowheads="1"/>
            </p:cNvSpPr>
            <p:nvPr/>
          </p:nvSpPr>
          <p:spPr bwMode="auto">
            <a:xfrm>
              <a:off x="4860032" y="4653136"/>
              <a:ext cx="990600" cy="671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cs typeface="Times New Roman" panose="02020603050405020304" pitchFamily="18" charset="0"/>
                </a:rPr>
                <a:t>-1</a:t>
              </a:r>
              <a:endParaRPr lang="zh-CN" altLang="zh-CN" sz="3200" dirty="0">
                <a:latin typeface="+mj-lt"/>
                <a:cs typeface="Times New Roman" panose="02020603050405020304" pitchFamily="18" charset="0"/>
              </a:endParaRPr>
            </a:p>
          </p:txBody>
        </p:sp>
        <p:sp>
          <p:nvSpPr>
            <p:cNvPr id="61" name="Text Box 49"/>
            <p:cNvSpPr txBox="1">
              <a:spLocks noChangeArrowheads="1"/>
            </p:cNvSpPr>
            <p:nvPr/>
          </p:nvSpPr>
          <p:spPr bwMode="auto">
            <a:xfrm>
              <a:off x="4779786" y="5800994"/>
              <a:ext cx="1261120" cy="671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cs typeface="Times New Roman" panose="02020603050405020304" pitchFamily="18" charset="0"/>
                </a:rPr>
                <a:t>-0.5</a:t>
              </a:r>
              <a:endParaRPr lang="zh-CN" altLang="zh-CN" sz="3200" dirty="0">
                <a:latin typeface="+mj-lt"/>
                <a:cs typeface="Times New Roman" panose="02020603050405020304" pitchFamily="18" charset="0"/>
              </a:endParaRPr>
            </a:p>
          </p:txBody>
        </p:sp>
      </p:grpSp>
      <p:sp>
        <p:nvSpPr>
          <p:cNvPr id="62" name="矩形 61"/>
          <p:cNvSpPr/>
          <p:nvPr/>
        </p:nvSpPr>
        <p:spPr>
          <a:xfrm>
            <a:off x="2888902" y="6206379"/>
            <a:ext cx="1266693" cy="523220"/>
          </a:xfrm>
          <a:prstGeom prst="rect">
            <a:avLst/>
          </a:prstGeom>
        </p:spPr>
        <p:txBody>
          <a:bodyPr wrap="none">
            <a:spAutoFit/>
          </a:bodyPr>
          <a:lstStyle/>
          <a:p>
            <a:r>
              <a:rPr lang="zh-CN" altLang="en-US" sz="2800" b="1" dirty="0">
                <a:solidFill>
                  <a:srgbClr val="FF0000"/>
                </a:solidFill>
                <a:latin typeface="+mj-lt"/>
              </a:rPr>
              <a:t>级联型</a:t>
            </a:r>
            <a:endParaRPr lang="zh-CN" altLang="en-US" dirty="0">
              <a:latin typeface="+mj-lt"/>
            </a:endParaRPr>
          </a:p>
        </p:txBody>
      </p:sp>
      <p:sp>
        <p:nvSpPr>
          <p:cNvPr id="63" name="Line 44"/>
          <p:cNvSpPr>
            <a:spLocks noChangeShapeType="1"/>
          </p:cNvSpPr>
          <p:nvPr/>
        </p:nvSpPr>
        <p:spPr bwMode="auto">
          <a:xfrm flipH="1" flipV="1">
            <a:off x="4905717" y="4911729"/>
            <a:ext cx="1907" cy="482380"/>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64" name="Line 44"/>
          <p:cNvSpPr>
            <a:spLocks noChangeShapeType="1"/>
          </p:cNvSpPr>
          <p:nvPr/>
        </p:nvSpPr>
        <p:spPr bwMode="auto">
          <a:xfrm flipH="1" flipV="1">
            <a:off x="4905717" y="5768206"/>
            <a:ext cx="1907" cy="482380"/>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65" name="Line 44"/>
          <p:cNvSpPr>
            <a:spLocks noChangeShapeType="1"/>
          </p:cNvSpPr>
          <p:nvPr/>
        </p:nvSpPr>
        <p:spPr bwMode="auto">
          <a:xfrm flipH="1" flipV="1">
            <a:off x="1789130" y="4838857"/>
            <a:ext cx="1907" cy="482380"/>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66"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057192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ChangeArrowheads="1"/>
          </p:cNvSpPr>
          <p:nvPr/>
        </p:nvSpPr>
        <p:spPr bwMode="auto">
          <a:xfrm>
            <a:off x="395536" y="1465620"/>
            <a:ext cx="74596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93688">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a:spcBef>
                <a:spcPct val="0"/>
              </a:spcBef>
              <a:buFontTx/>
              <a:buNone/>
            </a:pPr>
            <a:r>
              <a:rPr lang="en-US" altLang="zh-CN" sz="2800" dirty="0">
                <a:solidFill>
                  <a:prstClr val="black"/>
                </a:solidFill>
                <a:latin typeface="+mj-lt"/>
                <a:ea typeface="宋体" panose="02010600030101010101" pitchFamily="2" charset="-122"/>
                <a:cs typeface="Times New Roman" panose="02020603050405020304" pitchFamily="18" charset="0"/>
              </a:rPr>
              <a:t>  </a:t>
            </a:r>
            <a:r>
              <a:rPr lang="zh-CN" altLang="en-US" sz="2800" dirty="0">
                <a:solidFill>
                  <a:prstClr val="black"/>
                </a:solidFill>
                <a:latin typeface="+mj-lt"/>
                <a:ea typeface="宋体" panose="02010600030101010101" pitchFamily="2" charset="-122"/>
                <a:cs typeface="Times New Roman" panose="02020603050405020304" pitchFamily="18" charset="0"/>
              </a:rPr>
              <a:t>将系统函数展开成</a:t>
            </a:r>
            <a:r>
              <a:rPr lang="zh-CN" altLang="en-US" sz="2800" dirty="0">
                <a:solidFill>
                  <a:srgbClr val="FF0000"/>
                </a:solidFill>
                <a:latin typeface="+mj-lt"/>
                <a:ea typeface="宋体" panose="02010600030101010101" pitchFamily="2" charset="-122"/>
                <a:cs typeface="Times New Roman" panose="02020603050405020304" pitchFamily="18" charset="0"/>
              </a:rPr>
              <a:t>部分分式之和</a:t>
            </a:r>
            <a:r>
              <a:rPr lang="zh-CN" altLang="en-US" sz="2800" dirty="0">
                <a:solidFill>
                  <a:prstClr val="black"/>
                </a:solidFill>
                <a:latin typeface="+mj-lt"/>
                <a:ea typeface="宋体" panose="02010600030101010101" pitchFamily="2" charset="-122"/>
                <a:cs typeface="Times New Roman" panose="02020603050405020304" pitchFamily="18" charset="0"/>
              </a:rPr>
              <a:t>  </a:t>
            </a:r>
          </a:p>
        </p:txBody>
      </p:sp>
      <p:graphicFrame>
        <p:nvGraphicFramePr>
          <p:cNvPr id="13" name="Object 3"/>
          <p:cNvGraphicFramePr>
            <a:graphicFrameLocks noChangeAspect="1"/>
          </p:cNvGraphicFramePr>
          <p:nvPr>
            <p:extLst>
              <p:ext uri="{D42A27DB-BD31-4B8C-83A1-F6EECF244321}">
                <p14:modId xmlns:p14="http://schemas.microsoft.com/office/powerpoint/2010/main" val="3318761220"/>
              </p:ext>
            </p:extLst>
          </p:nvPr>
        </p:nvGraphicFramePr>
        <p:xfrm>
          <a:off x="1121886" y="1844824"/>
          <a:ext cx="5754370" cy="1957070"/>
        </p:xfrm>
        <a:graphic>
          <a:graphicData uri="http://schemas.openxmlformats.org/presentationml/2006/ole">
            <mc:AlternateContent xmlns:mc="http://schemas.openxmlformats.org/markup-compatibility/2006">
              <mc:Choice xmlns:v="urn:schemas-microsoft-com:vml" Requires="v">
                <p:oleObj name="Equation" r:id="rId2" imgW="2501900" imgH="850900" progId="Equation.DSMT4">
                  <p:embed/>
                </p:oleObj>
              </mc:Choice>
              <mc:Fallback>
                <p:oleObj name="Equation" r:id="rId2" imgW="2501900" imgH="850900" progId="Equation.DSMT4">
                  <p:embed/>
                  <p:pic>
                    <p:nvPicPr>
                      <p:cNvPr id="3891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886" y="1844824"/>
                        <a:ext cx="5754370" cy="195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4"/>
          <p:cNvGraphicFramePr>
            <a:graphicFrameLocks noChangeAspect="1"/>
          </p:cNvGraphicFramePr>
          <p:nvPr>
            <p:extLst>
              <p:ext uri="{D42A27DB-BD31-4B8C-83A1-F6EECF244321}">
                <p14:modId xmlns:p14="http://schemas.microsoft.com/office/powerpoint/2010/main" val="13122441"/>
              </p:ext>
            </p:extLst>
          </p:nvPr>
        </p:nvGraphicFramePr>
        <p:xfrm>
          <a:off x="1063625" y="4941888"/>
          <a:ext cx="6689725" cy="1050925"/>
        </p:xfrm>
        <a:graphic>
          <a:graphicData uri="http://schemas.openxmlformats.org/presentationml/2006/ole">
            <mc:AlternateContent xmlns:mc="http://schemas.openxmlformats.org/markup-compatibility/2006">
              <mc:Choice xmlns:v="urn:schemas-microsoft-com:vml" Requires="v">
                <p:oleObj name="Equation" r:id="rId4" imgW="2908080" imgH="457200" progId="Equation.DSMT4">
                  <p:embed/>
                </p:oleObj>
              </mc:Choice>
              <mc:Fallback>
                <p:oleObj name="Equation" r:id="rId4" imgW="2908080" imgH="457200" progId="Equation.DSMT4">
                  <p:embed/>
                  <p:pic>
                    <p:nvPicPr>
                      <p:cNvPr id="38916" name="Object 4"/>
                      <p:cNvPicPr>
                        <a:picLocks noChangeAspect="1" noChangeArrowheads="1"/>
                      </p:cNvPicPr>
                      <p:nvPr/>
                    </p:nvPicPr>
                    <p:blipFill>
                      <a:blip r:embed="rId5"/>
                      <a:srcRect/>
                      <a:stretch>
                        <a:fillRect/>
                      </a:stretch>
                    </p:blipFill>
                    <p:spPr bwMode="auto">
                      <a:xfrm>
                        <a:off x="1063625" y="4941888"/>
                        <a:ext cx="668972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5"/>
          <p:cNvSpPr>
            <a:spLocks noChangeArrowheads="1"/>
          </p:cNvSpPr>
          <p:nvPr/>
        </p:nvSpPr>
        <p:spPr bwMode="auto">
          <a:xfrm>
            <a:off x="323528" y="764704"/>
            <a:ext cx="2951162"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FontTx/>
              <a:buNone/>
            </a:pPr>
            <a:r>
              <a:rPr lang="en-US" altLang="zh-CN" sz="3000" dirty="0">
                <a:solidFill>
                  <a:srgbClr val="FF0000"/>
                </a:solidFill>
                <a:latin typeface="+mj-lt"/>
                <a:ea typeface="宋体" panose="02010600030101010101" pitchFamily="2" charset="-122"/>
                <a:cs typeface="Times New Roman" panose="02020603050405020304" pitchFamily="18" charset="0"/>
              </a:rPr>
              <a:t>(3)</a:t>
            </a:r>
            <a:r>
              <a:rPr lang="zh-CN" altLang="en-US" sz="3000" dirty="0">
                <a:solidFill>
                  <a:srgbClr val="FF0000"/>
                </a:solidFill>
                <a:latin typeface="+mj-lt"/>
                <a:ea typeface="宋体" panose="02010600030101010101" pitchFamily="2" charset="-122"/>
                <a:cs typeface="Times New Roman" panose="02020603050405020304" pitchFamily="18" charset="0"/>
              </a:rPr>
              <a:t>并联型</a:t>
            </a:r>
          </a:p>
        </p:txBody>
      </p:sp>
      <p:sp>
        <p:nvSpPr>
          <p:cNvPr id="16" name="Rectangle 7"/>
          <p:cNvSpPr>
            <a:spLocks noChangeArrowheads="1"/>
          </p:cNvSpPr>
          <p:nvPr/>
        </p:nvSpPr>
        <p:spPr bwMode="auto">
          <a:xfrm>
            <a:off x="818500" y="3837711"/>
            <a:ext cx="7848600" cy="1031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14000"/>
              </a:lnSpc>
              <a:spcBef>
                <a:spcPct val="0"/>
              </a:spcBef>
              <a:buFontTx/>
              <a:buNone/>
            </a:pPr>
            <a:r>
              <a:rPr lang="zh-CN" altLang="en-US" sz="2800" dirty="0">
                <a:solidFill>
                  <a:prstClr val="black"/>
                </a:solidFill>
                <a:latin typeface="+mj-lt"/>
                <a:ea typeface="宋体" panose="02010600030101010101" pitchFamily="2" charset="-122"/>
                <a:cs typeface="Times New Roman" panose="02020603050405020304" pitchFamily="18" charset="0"/>
              </a:rPr>
              <a:t>将上式中的共轭复根成对地合并为二阶实系数的部分分式</a:t>
            </a:r>
          </a:p>
        </p:txBody>
      </p:sp>
      <p:sp>
        <p:nvSpPr>
          <p:cNvPr id="8"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538397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4528" y="994866"/>
            <a:ext cx="5910997" cy="4885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3"/>
          <p:cNvSpPr txBox="1">
            <a:spLocks noChangeArrowheads="1"/>
          </p:cNvSpPr>
          <p:nvPr/>
        </p:nvSpPr>
        <p:spPr bwMode="auto">
          <a:xfrm>
            <a:off x="6886464" y="3994304"/>
            <a:ext cx="2139824" cy="1867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marL="342900" indent="-342900">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lnSpc>
                <a:spcPct val="120000"/>
              </a:lnSpc>
              <a:spcBef>
                <a:spcPct val="0"/>
              </a:spcBef>
              <a:buClr>
                <a:prstClr val="black"/>
              </a:buClr>
              <a:buSzPct val="80000"/>
              <a:buFont typeface="Wingdings" panose="05000000000000000000" pitchFamily="2" charset="2"/>
              <a:buNone/>
            </a:pPr>
            <a:r>
              <a:rPr lang="en-US" altLang="zh-CN" sz="2400" dirty="0">
                <a:solidFill>
                  <a:prstClr val="black"/>
                </a:solidFill>
                <a:latin typeface="+mj-lt"/>
                <a:ea typeface="+mn-ea"/>
                <a:cs typeface="Times New Roman" panose="02020603050405020304" pitchFamily="18" charset="0"/>
              </a:rPr>
              <a:t>L</a:t>
            </a:r>
            <a:r>
              <a:rPr lang="zh-CN" altLang="en-US" sz="2400" dirty="0">
                <a:solidFill>
                  <a:prstClr val="black"/>
                </a:solidFill>
                <a:latin typeface="+mj-lt"/>
                <a:ea typeface="+mn-ea"/>
                <a:cs typeface="Times New Roman" panose="02020603050405020304" pitchFamily="18" charset="0"/>
              </a:rPr>
              <a:t>个一阶网络</a:t>
            </a:r>
          </a:p>
          <a:p>
            <a:pPr algn="ctr" eaLnBrk="1" hangingPunct="1">
              <a:lnSpc>
                <a:spcPct val="120000"/>
              </a:lnSpc>
              <a:spcBef>
                <a:spcPct val="0"/>
              </a:spcBef>
              <a:buClr>
                <a:prstClr val="black"/>
              </a:buClr>
              <a:buSzPct val="80000"/>
              <a:buFont typeface="Wingdings" panose="05000000000000000000" pitchFamily="2" charset="2"/>
              <a:buNone/>
            </a:pPr>
            <a:r>
              <a:rPr lang="zh-CN" altLang="en-US" sz="2400" dirty="0">
                <a:solidFill>
                  <a:prstClr val="black"/>
                </a:solidFill>
                <a:latin typeface="+mj-lt"/>
                <a:ea typeface="+mn-ea"/>
                <a:cs typeface="Times New Roman" panose="02020603050405020304" pitchFamily="18" charset="0"/>
              </a:rPr>
              <a:t> </a:t>
            </a:r>
            <a:r>
              <a:rPr lang="en-US" altLang="zh-CN" sz="2400" dirty="0">
                <a:solidFill>
                  <a:prstClr val="black"/>
                </a:solidFill>
                <a:latin typeface="+mj-lt"/>
                <a:ea typeface="+mn-ea"/>
                <a:cs typeface="Times New Roman" panose="02020603050405020304" pitchFamily="18" charset="0"/>
              </a:rPr>
              <a:t>M</a:t>
            </a:r>
            <a:r>
              <a:rPr lang="zh-CN" altLang="en-US" sz="2400" dirty="0">
                <a:solidFill>
                  <a:prstClr val="black"/>
                </a:solidFill>
                <a:latin typeface="+mj-lt"/>
                <a:ea typeface="+mn-ea"/>
                <a:cs typeface="Times New Roman" panose="02020603050405020304" pitchFamily="18" charset="0"/>
              </a:rPr>
              <a:t>个二阶网络</a:t>
            </a:r>
          </a:p>
          <a:p>
            <a:pPr algn="ctr" eaLnBrk="1" hangingPunct="1">
              <a:lnSpc>
                <a:spcPct val="120000"/>
              </a:lnSpc>
              <a:spcBef>
                <a:spcPct val="0"/>
              </a:spcBef>
              <a:buClr>
                <a:prstClr val="black"/>
              </a:buClr>
              <a:buSzPct val="80000"/>
              <a:buFont typeface="Wingdings" panose="05000000000000000000" pitchFamily="2" charset="2"/>
              <a:buNone/>
            </a:pPr>
            <a:r>
              <a:rPr lang="zh-CN" altLang="en-US" sz="2400" dirty="0">
                <a:solidFill>
                  <a:prstClr val="black"/>
                </a:solidFill>
                <a:latin typeface="+mj-lt"/>
                <a:ea typeface="+mn-ea"/>
                <a:cs typeface="Times New Roman" panose="02020603050405020304" pitchFamily="18" charset="0"/>
              </a:rPr>
              <a:t>一个常数</a:t>
            </a:r>
          </a:p>
          <a:p>
            <a:pPr algn="ctr" eaLnBrk="1" hangingPunct="1">
              <a:lnSpc>
                <a:spcPct val="120000"/>
              </a:lnSpc>
              <a:spcBef>
                <a:spcPct val="0"/>
              </a:spcBef>
              <a:buClr>
                <a:prstClr val="black"/>
              </a:buClr>
              <a:buSzPct val="80000"/>
              <a:buFont typeface="Wingdings" panose="05000000000000000000" pitchFamily="2" charset="2"/>
              <a:buNone/>
            </a:pPr>
            <a:r>
              <a:rPr lang="zh-CN" altLang="en-US" sz="2400" dirty="0">
                <a:solidFill>
                  <a:srgbClr val="FF0000"/>
                </a:solidFill>
                <a:latin typeface="+mj-lt"/>
                <a:ea typeface="+mn-ea"/>
                <a:cs typeface="Times New Roman" panose="02020603050405020304" pitchFamily="18" charset="0"/>
              </a:rPr>
              <a:t>并联</a:t>
            </a:r>
            <a:r>
              <a:rPr lang="zh-CN" altLang="en-US" sz="2400" dirty="0">
                <a:solidFill>
                  <a:prstClr val="black"/>
                </a:solidFill>
                <a:latin typeface="+mj-lt"/>
                <a:ea typeface="+mn-ea"/>
                <a:cs typeface="Times New Roman" panose="02020603050405020304" pitchFamily="18" charset="0"/>
              </a:rPr>
              <a:t>组成</a:t>
            </a:r>
          </a:p>
        </p:txBody>
      </p:sp>
      <p:sp>
        <p:nvSpPr>
          <p:cNvPr id="9" name="TextBox 1"/>
          <p:cNvSpPr txBox="1">
            <a:spLocks noChangeArrowheads="1"/>
          </p:cNvSpPr>
          <p:nvPr/>
        </p:nvSpPr>
        <p:spPr bwMode="auto">
          <a:xfrm>
            <a:off x="1094884" y="6061398"/>
            <a:ext cx="6092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FontTx/>
              <a:buNone/>
            </a:pPr>
            <a:r>
              <a:rPr lang="zh-CN" altLang="en-US"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图</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6.11  </a:t>
            </a:r>
            <a:r>
              <a:rPr lang="zh-CN" altLang="en-US"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并联型结构</a:t>
            </a:r>
          </a:p>
        </p:txBody>
      </p:sp>
      <p:sp>
        <p:nvSpPr>
          <p:cNvPr id="10" name="矩形 9"/>
          <p:cNvSpPr/>
          <p:nvPr/>
        </p:nvSpPr>
        <p:spPr>
          <a:xfrm>
            <a:off x="5508104" y="6061398"/>
            <a:ext cx="494046" cy="461665"/>
          </a:xfrm>
          <a:prstGeom prst="rect">
            <a:avLst/>
          </a:prstGeom>
        </p:spPr>
        <p:txBody>
          <a:bodyPr wrap="none">
            <a:spAutoFit/>
          </a:bodyPr>
          <a:lstStyle/>
          <a:p>
            <a:r>
              <a:rPr kumimoji="1" lang="en-US" altLang="zh-CN" sz="2400" b="1" dirty="0">
                <a:solidFill>
                  <a:srgbClr val="FF0066"/>
                </a:solidFill>
                <a:latin typeface="Times New Roman" panose="02020603050405020304" pitchFamily="18" charset="0"/>
                <a:cs typeface="Times New Roman" panose="02020603050405020304" pitchFamily="18" charset="0"/>
              </a:rPr>
              <a:t>★</a:t>
            </a:r>
            <a:endParaRPr lang="zh-CN" altLang="en-US" dirty="0"/>
          </a:p>
        </p:txBody>
      </p:sp>
      <p:sp>
        <p:nvSpPr>
          <p:cNvPr id="11"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381491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txBox="1">
            <a:spLocks noChangeArrowheads="1"/>
          </p:cNvSpPr>
          <p:nvPr/>
        </p:nvSpPr>
        <p:spPr>
          <a:xfrm>
            <a:off x="1115616" y="836712"/>
            <a:ext cx="5521349" cy="605202"/>
          </a:xfrm>
          <a:prstGeom prst="rect">
            <a:avLst/>
          </a:prstGeom>
          <a:noFill/>
        </p:spPr>
        <p:txBody>
          <a:bodyPr vert="horz" lIns="91440" tIns="45720" rIns="91440" bIns="45720" rtlCol="0" anchor="ctr" anchorCtr="1">
            <a:noAutofit/>
          </a:bodyPr>
          <a:lstStyle>
            <a:lvl1pPr algn="l" defTabSz="685800" rtl="0" eaLnBrk="1" latinLnBrk="0" hangingPunct="1">
              <a:lnSpc>
                <a:spcPct val="90000"/>
              </a:lnSpc>
              <a:spcBef>
                <a:spcPct val="0"/>
              </a:spcBef>
              <a:buNone/>
              <a:defRPr sz="3200" b="1" kern="1200">
                <a:solidFill>
                  <a:schemeClr val="tx1"/>
                </a:solidFill>
                <a:latin typeface="黑体" panose="02010609060101010101" pitchFamily="49" charset="-122"/>
                <a:ea typeface="黑体" panose="02010609060101010101" pitchFamily="49" charset="-122"/>
                <a:cs typeface="+mj-cs"/>
              </a:defRPr>
            </a:lvl1pPr>
          </a:lstStyle>
          <a:p>
            <a:pPr fontAlgn="auto">
              <a:lnSpc>
                <a:spcPct val="100000"/>
              </a:lnSpc>
              <a:spcAft>
                <a:spcPts val="0"/>
              </a:spcAft>
            </a:pPr>
            <a:endParaRPr lang="zh-CN" altLang="en-US" sz="2800" dirty="0">
              <a:latin typeface="+mj-lt"/>
              <a:ea typeface="宋体" panose="02010600030101010101" pitchFamily="2" charset="-122"/>
              <a:cs typeface="Times New Roman" panose="02020603050405020304" pitchFamily="18" charset="0"/>
            </a:endParaRPr>
          </a:p>
        </p:txBody>
      </p:sp>
      <p:sp>
        <p:nvSpPr>
          <p:cNvPr id="9" name="内容占位符 1"/>
          <p:cNvSpPr txBox="1">
            <a:spLocks/>
          </p:cNvSpPr>
          <p:nvPr/>
        </p:nvSpPr>
        <p:spPr>
          <a:xfrm>
            <a:off x="971600" y="1484784"/>
            <a:ext cx="7886700" cy="523655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2800" b="1" kern="1200">
                <a:solidFill>
                  <a:schemeClr val="tx1"/>
                </a:solidFill>
                <a:latin typeface="黑体" panose="02010609060101010101" pitchFamily="49" charset="-122"/>
                <a:ea typeface="黑体" panose="02010609060101010101" pitchFamily="49"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2400" b="1" kern="1200">
                <a:solidFill>
                  <a:schemeClr val="tx1"/>
                </a:solidFill>
                <a:latin typeface="黑体" panose="02010609060101010101" pitchFamily="49" charset="-122"/>
                <a:ea typeface="黑体" panose="02010609060101010101" pitchFamily="49"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2000" b="1" kern="1200">
                <a:solidFill>
                  <a:schemeClr val="tx1"/>
                </a:solidFill>
                <a:latin typeface="黑体" panose="02010609060101010101" pitchFamily="49" charset="-122"/>
                <a:ea typeface="黑体" panose="02010609060101010101" pitchFamily="49"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rgbClr val="0000CC"/>
                </a:solidFill>
                <a:effectLst/>
                <a:uLnTx/>
                <a:uFillTx/>
                <a:latin typeface="+mj-lt"/>
                <a:ea typeface="宋体" panose="02010600030101010101" pitchFamily="2" charset="-122"/>
                <a:cs typeface="Times New Roman" panose="02020603050405020304" pitchFamily="18" charset="0"/>
              </a:rPr>
              <a:t>优点：</a:t>
            </a:r>
          </a:p>
          <a:p>
            <a:pPr marL="0" marR="0" lvl="1" indent="0" algn="l" defTabSz="685800"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dirty="0">
                <a:ln>
                  <a:noFill/>
                </a:ln>
                <a:solidFill>
                  <a:sysClr val="windowText" lastClr="000000"/>
                </a:solidFill>
                <a:effectLst/>
                <a:uLnTx/>
                <a:uFillTx/>
                <a:latin typeface="+mj-lt"/>
                <a:ea typeface="宋体" panose="02010600030101010101" pitchFamily="2" charset="-122"/>
                <a:cs typeface="Times New Roman" panose="02020603050405020304" pitchFamily="18" charset="0"/>
              </a:rPr>
              <a:t>① 调整二阶节的系数即可单独控制、调整极点；</a:t>
            </a:r>
          </a:p>
          <a:p>
            <a:pPr marL="0" lvl="1" indent="0" algn="just" fontAlgn="auto">
              <a:lnSpc>
                <a:spcPct val="105000"/>
              </a:lnSpc>
              <a:spcBef>
                <a:spcPts val="0"/>
              </a:spcBef>
              <a:spcAft>
                <a:spcPts val="0"/>
              </a:spcAft>
              <a:buClr>
                <a:sysClr val="windowText" lastClr="000000"/>
              </a:buClr>
              <a:buSzPct val="80000"/>
              <a:buNone/>
            </a:pPr>
            <a:r>
              <a:rPr lang="zh-CN" altLang="en-US" dirty="0">
                <a:solidFill>
                  <a:sysClr val="windowText" lastClr="000000"/>
                </a:solidFill>
                <a:ea typeface="宋体" panose="02010600030101010101" pitchFamily="2" charset="-122"/>
                <a:cs typeface="Times New Roman" panose="02020603050405020304" pitchFamily="18" charset="0"/>
              </a:rPr>
              <a:t>②</a:t>
            </a:r>
            <a:r>
              <a:rPr kumimoji="0" lang="zh-CN" altLang="en-US" b="1" i="0" u="none" strike="noStrike" kern="1200" cap="none" spc="0" normalizeH="0" baseline="0" noProof="0" dirty="0">
                <a:ln>
                  <a:noFill/>
                </a:ln>
                <a:solidFill>
                  <a:sysClr val="windowText" lastClr="000000"/>
                </a:solidFill>
                <a:effectLst/>
                <a:uLnTx/>
                <a:uFillTx/>
                <a:latin typeface="+mj-lt"/>
                <a:ea typeface="宋体" panose="02010600030101010101" pitchFamily="2" charset="-122"/>
                <a:cs typeface="Times New Roman" panose="02020603050405020304" pitchFamily="18" charset="0"/>
              </a:rPr>
              <a:t> 运算速度快（可并行进行）；</a:t>
            </a:r>
          </a:p>
          <a:p>
            <a:pPr marL="0" lvl="1" indent="0" fontAlgn="auto">
              <a:lnSpc>
                <a:spcPct val="105000"/>
              </a:lnSpc>
              <a:spcBef>
                <a:spcPts val="0"/>
              </a:spcBef>
              <a:spcAft>
                <a:spcPts val="0"/>
              </a:spcAft>
              <a:buClr>
                <a:sysClr val="windowText" lastClr="000000"/>
              </a:buClr>
              <a:buSzPct val="80000"/>
              <a:buNone/>
            </a:pPr>
            <a:r>
              <a:rPr lang="zh-CN" altLang="en-US" dirty="0">
                <a:solidFill>
                  <a:sysClr val="windowText" lastClr="000000"/>
                </a:solidFill>
                <a:ea typeface="宋体" panose="02010600030101010101" pitchFamily="2" charset="-122"/>
                <a:cs typeface="Times New Roman" panose="02020603050405020304" pitchFamily="18" charset="0"/>
              </a:rPr>
              <a:t>③</a:t>
            </a:r>
            <a:r>
              <a:rPr kumimoji="0" lang="zh-CN" altLang="en-US" b="1" i="0" u="none" strike="noStrike" kern="1200" cap="none" spc="0" normalizeH="0" baseline="0" noProof="0" dirty="0">
                <a:ln>
                  <a:noFill/>
                </a:ln>
                <a:solidFill>
                  <a:sysClr val="windowText" lastClr="000000"/>
                </a:solidFill>
                <a:effectLst/>
                <a:uLnTx/>
                <a:uFillTx/>
                <a:latin typeface="+mj-lt"/>
                <a:ea typeface="宋体" panose="02010600030101010101" pitchFamily="2" charset="-122"/>
                <a:cs typeface="Times New Roman" panose="02020603050405020304" pitchFamily="18" charset="0"/>
              </a:rPr>
              <a:t> 各二阶网络的误差互不影响，比级联型运算误差小，</a:t>
            </a:r>
            <a:r>
              <a:rPr kumimoji="0" lang="zh-CN" altLang="en-US" b="1" i="0" u="none" strike="noStrike" kern="1200" cap="none" spc="0" normalizeH="0" baseline="0" noProof="0" dirty="0">
                <a:ln>
                  <a:noFill/>
                </a:ln>
                <a:effectLst/>
                <a:uLnTx/>
                <a:uFillTx/>
                <a:latin typeface="+mj-lt"/>
                <a:ea typeface="宋体" panose="02010600030101010101" pitchFamily="2" charset="-122"/>
                <a:cs typeface="Times New Roman" panose="02020603050405020304" pitchFamily="18" charset="0"/>
              </a:rPr>
              <a:t>对字长要求低。</a:t>
            </a:r>
          </a:p>
          <a:p>
            <a:pPr marL="0" marR="0" lvl="0" indent="0" algn="l" defTabSz="685800"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rgbClr val="0000CC"/>
                </a:solidFill>
                <a:effectLst/>
                <a:uLnTx/>
                <a:uFillTx/>
                <a:latin typeface="+mj-lt"/>
                <a:ea typeface="宋体" panose="02010600030101010101" pitchFamily="2" charset="-122"/>
                <a:cs typeface="Times New Roman" panose="02020603050405020304" pitchFamily="18" charset="0"/>
              </a:rPr>
              <a:t>缺点：</a:t>
            </a:r>
          </a:p>
          <a:p>
            <a:pPr marL="0" marR="0" lvl="1" indent="0" algn="l" defTabSz="685800"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dirty="0">
                <a:ln>
                  <a:noFill/>
                </a:ln>
                <a:effectLst/>
                <a:uLnTx/>
                <a:uFillTx/>
                <a:latin typeface="+mj-lt"/>
                <a:ea typeface="宋体" panose="02010600030101010101" pitchFamily="2" charset="-122"/>
                <a:cs typeface="Times New Roman" panose="02020603050405020304" pitchFamily="18" charset="0"/>
              </a:rPr>
              <a:t>不能控制零点。</a:t>
            </a:r>
          </a:p>
        </p:txBody>
      </p:sp>
      <p:sp>
        <p:nvSpPr>
          <p:cNvPr id="10" name="矩形 9"/>
          <p:cNvSpPr/>
          <p:nvPr/>
        </p:nvSpPr>
        <p:spPr>
          <a:xfrm>
            <a:off x="910640" y="889556"/>
            <a:ext cx="4047903" cy="553998"/>
          </a:xfrm>
          <a:prstGeom prst="rect">
            <a:avLst/>
          </a:prstGeom>
        </p:spPr>
        <p:txBody>
          <a:bodyPr wrap="none">
            <a:spAutoFit/>
          </a:bodyPr>
          <a:lstStyle/>
          <a:p>
            <a:pPr lvl="0" fontAlgn="auto">
              <a:spcAft>
                <a:spcPts val="0"/>
              </a:spcAft>
            </a:pPr>
            <a:r>
              <a:rPr lang="zh-CN" altLang="en-US" sz="3000" b="1" dirty="0">
                <a:solidFill>
                  <a:srgbClr val="000000"/>
                </a:solidFill>
                <a:latin typeface="Times New Roman"/>
                <a:cs typeface="Times New Roman" panose="02020603050405020304" pitchFamily="18" charset="0"/>
              </a:rPr>
              <a:t>并联型结构的优缺点：</a:t>
            </a:r>
          </a:p>
        </p:txBody>
      </p:sp>
      <p:sp>
        <p:nvSpPr>
          <p:cNvPr id="11"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262537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3" end="3"/>
                                            </p:txEl>
                                          </p:spTgt>
                                        </p:tgtEl>
                                        <p:attrNameLst>
                                          <p:attrName>style.visibility</p:attrName>
                                        </p:attrNameLst>
                                      </p:cBhvr>
                                      <p:to>
                                        <p:strVal val="visible"/>
                                      </p:to>
                                    </p:set>
                                    <p:animEffect transition="in" filter="fade">
                                      <p:cBhvr>
                                        <p:cTn id="14" dur="1000"/>
                                        <p:tgtEl>
                                          <p:spTgt spid="9">
                                            <p:txEl>
                                              <p:pRg st="3" end="3"/>
                                            </p:txEl>
                                          </p:spTgt>
                                        </p:tgtEl>
                                      </p:cBhvr>
                                    </p:animEffect>
                                    <p:anim calcmode="lin" valueType="num">
                                      <p:cBhvr>
                                        <p:cTn id="1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1000"/>
                                        <p:tgtEl>
                                          <p:spTgt spid="9">
                                            <p:txEl>
                                              <p:pRg st="4" end="4"/>
                                            </p:txEl>
                                          </p:spTgt>
                                        </p:tgtEl>
                                      </p:cBhvr>
                                    </p:animEffect>
                                    <p:anim calcmode="lin" valueType="num">
                                      <p:cBhvr>
                                        <p:cTn id="22"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fade">
                                      <p:cBhvr>
                                        <p:cTn id="26" dur="1000"/>
                                        <p:tgtEl>
                                          <p:spTgt spid="9">
                                            <p:txEl>
                                              <p:pRg st="5" end="5"/>
                                            </p:txEl>
                                          </p:spTgt>
                                        </p:tgtEl>
                                      </p:cBhvr>
                                    </p:animEffect>
                                    <p:anim calcmode="lin" valueType="num">
                                      <p:cBhvr>
                                        <p:cTn id="27"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extLst>
              <p:ext uri="{D42A27DB-BD31-4B8C-83A1-F6EECF244321}">
                <p14:modId xmlns:p14="http://schemas.microsoft.com/office/powerpoint/2010/main" val="493985637"/>
              </p:ext>
            </p:extLst>
          </p:nvPr>
        </p:nvGraphicFramePr>
        <p:xfrm>
          <a:off x="1713271" y="1930776"/>
          <a:ext cx="5425056" cy="1066176"/>
        </p:xfrm>
        <a:graphic>
          <a:graphicData uri="http://schemas.openxmlformats.org/presentationml/2006/ole">
            <mc:AlternateContent xmlns:mc="http://schemas.openxmlformats.org/markup-compatibility/2006">
              <mc:Choice xmlns:v="urn:schemas-microsoft-com:vml" Requires="v">
                <p:oleObj name="Equation" r:id="rId2" imgW="2260440" imgH="444240" progId="Equation.DSMT4">
                  <p:embed/>
                </p:oleObj>
              </mc:Choice>
              <mc:Fallback>
                <p:oleObj name="Equation" r:id="rId2" imgW="2260440" imgH="444240" progId="Equation.DSMT4">
                  <p:embed/>
                  <p:pic>
                    <p:nvPicPr>
                      <p:cNvPr id="3" name="Object 3"/>
                      <p:cNvPicPr>
                        <a:picLocks noChangeAspect="1" noChangeArrowheads="1"/>
                      </p:cNvPicPr>
                      <p:nvPr/>
                    </p:nvPicPr>
                    <p:blipFill>
                      <a:blip r:embed="rId3"/>
                      <a:srcRect/>
                      <a:stretch>
                        <a:fillRect/>
                      </a:stretch>
                    </p:blipFill>
                    <p:spPr bwMode="auto">
                      <a:xfrm>
                        <a:off x="1713271" y="1930776"/>
                        <a:ext cx="5425056" cy="1066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4"/>
          <p:cNvSpPr txBox="1">
            <a:spLocks noChangeArrowheads="1"/>
          </p:cNvSpPr>
          <p:nvPr/>
        </p:nvSpPr>
        <p:spPr bwMode="auto">
          <a:xfrm>
            <a:off x="1542408" y="3481844"/>
            <a:ext cx="65574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000000"/>
                </a:solidFill>
              </a:rPr>
              <a:t>试画出其</a:t>
            </a:r>
            <a:r>
              <a:rPr lang="zh-CN" altLang="en-US" sz="2800" b="1" dirty="0"/>
              <a:t>直接</a:t>
            </a:r>
            <a:r>
              <a:rPr lang="en-US" altLang="zh-CN" sz="2800" b="1" dirty="0"/>
              <a:t>II</a:t>
            </a:r>
            <a:r>
              <a:rPr lang="zh-CN" altLang="en-US" sz="2800" b="1" dirty="0"/>
              <a:t>型</a:t>
            </a:r>
            <a:r>
              <a:rPr lang="zh-CN" altLang="en-US" sz="2800" b="1" dirty="0">
                <a:solidFill>
                  <a:srgbClr val="000000"/>
                </a:solidFill>
              </a:rPr>
              <a:t>、</a:t>
            </a:r>
            <a:r>
              <a:rPr lang="zh-CN" altLang="en-US" sz="2800" b="1" dirty="0"/>
              <a:t>级联型</a:t>
            </a:r>
            <a:r>
              <a:rPr lang="zh-CN" altLang="en-US" sz="2800" b="1" dirty="0">
                <a:solidFill>
                  <a:srgbClr val="000000"/>
                </a:solidFill>
              </a:rPr>
              <a:t>和</a:t>
            </a:r>
            <a:r>
              <a:rPr lang="zh-CN" altLang="en-US" sz="2800" b="1" dirty="0">
                <a:solidFill>
                  <a:srgbClr val="FF0000"/>
                </a:solidFill>
              </a:rPr>
              <a:t>并联型</a:t>
            </a:r>
            <a:r>
              <a:rPr lang="zh-CN" altLang="en-US" sz="2800" b="1" dirty="0">
                <a:solidFill>
                  <a:srgbClr val="000000"/>
                </a:solidFill>
              </a:rPr>
              <a:t>结构。</a:t>
            </a:r>
          </a:p>
        </p:txBody>
      </p:sp>
      <p:sp>
        <p:nvSpPr>
          <p:cNvPr id="5" name="矩形 4"/>
          <p:cNvSpPr/>
          <p:nvPr/>
        </p:nvSpPr>
        <p:spPr>
          <a:xfrm>
            <a:off x="539552" y="1124744"/>
            <a:ext cx="1173719" cy="523220"/>
          </a:xfrm>
          <a:prstGeom prst="rect">
            <a:avLst/>
          </a:prstGeom>
        </p:spPr>
        <p:txBody>
          <a:bodyPr wrap="none">
            <a:spAutoFit/>
          </a:bodyPr>
          <a:lstStyle/>
          <a:p>
            <a:r>
              <a:rPr kumimoji="1" lang="en-US" altLang="zh-CN" sz="2800" i="1" dirty="0">
                <a:solidFill>
                  <a:srgbClr val="000000"/>
                </a:solidFill>
                <a:latin typeface="+mj-lt"/>
                <a:cs typeface="+mj-cs"/>
              </a:rPr>
              <a:t> </a:t>
            </a:r>
            <a:r>
              <a:rPr kumimoji="1" lang="zh-CN" altLang="en-US" sz="2800" b="1" dirty="0">
                <a:solidFill>
                  <a:srgbClr val="000000"/>
                </a:solidFill>
                <a:latin typeface="+mj-lt"/>
                <a:cs typeface="+mj-cs"/>
              </a:rPr>
              <a:t>例</a:t>
            </a:r>
            <a:r>
              <a:rPr kumimoji="1" lang="en-US" altLang="zh-CN" sz="2800" b="1" dirty="0">
                <a:solidFill>
                  <a:srgbClr val="000000"/>
                </a:solidFill>
                <a:latin typeface="+mj-lt"/>
                <a:cs typeface="+mj-cs"/>
              </a:rPr>
              <a:t>6.2 </a:t>
            </a:r>
            <a:endParaRPr lang="zh-CN" altLang="en-US" dirty="0">
              <a:latin typeface="+mj-lt"/>
            </a:endParaRPr>
          </a:p>
        </p:txBody>
      </p:sp>
      <p:sp>
        <p:nvSpPr>
          <p:cNvPr id="7" name="矩形 6"/>
          <p:cNvSpPr/>
          <p:nvPr/>
        </p:nvSpPr>
        <p:spPr>
          <a:xfrm>
            <a:off x="1686424" y="1125905"/>
            <a:ext cx="7134047" cy="523220"/>
          </a:xfrm>
          <a:prstGeom prst="rect">
            <a:avLst/>
          </a:prstGeom>
        </p:spPr>
        <p:txBody>
          <a:bodyPr wrap="square">
            <a:spAutoFit/>
          </a:bodyPr>
          <a:lstStyle/>
          <a:p>
            <a:r>
              <a:rPr kumimoji="1" lang="zh-CN" altLang="en-US" sz="2800" b="1" dirty="0">
                <a:solidFill>
                  <a:srgbClr val="000000"/>
                </a:solidFill>
                <a:latin typeface="Times New Roman"/>
                <a:ea typeface="宋体"/>
                <a:cs typeface="+mj-cs"/>
              </a:rPr>
              <a:t>已知某三阶数字滤波器的系统函数为</a:t>
            </a:r>
            <a:endParaRPr lang="zh-CN" altLang="en-US" dirty="0"/>
          </a:p>
        </p:txBody>
      </p:sp>
      <p:sp>
        <p:nvSpPr>
          <p:cNvPr id="8"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779867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Object 4"/>
          <p:cNvGraphicFramePr>
            <a:graphicFrameLocks noChangeAspect="1"/>
          </p:cNvGraphicFramePr>
          <p:nvPr>
            <p:extLst>
              <p:ext uri="{D42A27DB-BD31-4B8C-83A1-F6EECF244321}">
                <p14:modId xmlns:p14="http://schemas.microsoft.com/office/powerpoint/2010/main" val="1929243075"/>
              </p:ext>
            </p:extLst>
          </p:nvPr>
        </p:nvGraphicFramePr>
        <p:xfrm>
          <a:off x="1643424" y="852052"/>
          <a:ext cx="5023476" cy="992772"/>
        </p:xfrm>
        <a:graphic>
          <a:graphicData uri="http://schemas.openxmlformats.org/presentationml/2006/ole">
            <mc:AlternateContent xmlns:mc="http://schemas.openxmlformats.org/markup-compatibility/2006">
              <mc:Choice xmlns:v="urn:schemas-microsoft-com:vml" Requires="v">
                <p:oleObj name="Equation" r:id="rId2" imgW="2184120" imgH="431640" progId="Equation.DSMT4">
                  <p:embed/>
                </p:oleObj>
              </mc:Choice>
              <mc:Fallback>
                <p:oleObj name="Equation" r:id="rId2" imgW="2184120" imgH="431640" progId="Equation.DSMT4">
                  <p:embed/>
                  <p:pic>
                    <p:nvPicPr>
                      <p:cNvPr id="63" name="Object 4"/>
                      <p:cNvPicPr>
                        <a:picLocks noChangeAspect="1" noChangeArrowheads="1"/>
                      </p:cNvPicPr>
                      <p:nvPr/>
                    </p:nvPicPr>
                    <p:blipFill>
                      <a:blip r:embed="rId3"/>
                      <a:srcRect/>
                      <a:stretch>
                        <a:fillRect/>
                      </a:stretch>
                    </p:blipFill>
                    <p:spPr bwMode="auto">
                      <a:xfrm>
                        <a:off x="1643424" y="852052"/>
                        <a:ext cx="5023476" cy="992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 name="矩形 53"/>
          <p:cNvSpPr/>
          <p:nvPr/>
        </p:nvSpPr>
        <p:spPr>
          <a:xfrm>
            <a:off x="3521815" y="6105357"/>
            <a:ext cx="1266693" cy="523220"/>
          </a:xfrm>
          <a:prstGeom prst="rect">
            <a:avLst/>
          </a:prstGeom>
        </p:spPr>
        <p:txBody>
          <a:bodyPr wrap="none">
            <a:spAutoFit/>
          </a:bodyPr>
          <a:lstStyle/>
          <a:p>
            <a:r>
              <a:rPr lang="zh-CN" altLang="en-US" sz="2800" b="1" dirty="0">
                <a:solidFill>
                  <a:srgbClr val="FF0000"/>
                </a:solidFill>
              </a:rPr>
              <a:t>并联型</a:t>
            </a:r>
            <a:endParaRPr lang="zh-CN" altLang="en-US" dirty="0"/>
          </a:p>
        </p:txBody>
      </p:sp>
      <p:sp>
        <p:nvSpPr>
          <p:cNvPr id="55" name="矩形 54"/>
          <p:cNvSpPr/>
          <p:nvPr/>
        </p:nvSpPr>
        <p:spPr>
          <a:xfrm>
            <a:off x="653317" y="1046875"/>
            <a:ext cx="902811" cy="523220"/>
          </a:xfrm>
          <a:prstGeom prst="rect">
            <a:avLst/>
          </a:prstGeom>
        </p:spPr>
        <p:txBody>
          <a:bodyPr wrap="none">
            <a:spAutoFit/>
          </a:bodyPr>
          <a:lstStyle/>
          <a:p>
            <a:r>
              <a:rPr kumimoji="1" lang="zh-CN" altLang="en-US" sz="2800" b="1" dirty="0">
                <a:solidFill>
                  <a:srgbClr val="000000"/>
                </a:solidFill>
                <a:latin typeface="+mj-lt"/>
                <a:cs typeface="+mj-cs"/>
              </a:rPr>
              <a:t>解：</a:t>
            </a:r>
            <a:endParaRPr lang="zh-CN" altLang="en-US" b="1" dirty="0">
              <a:latin typeface="+mj-lt"/>
            </a:endParaRPr>
          </a:p>
        </p:txBody>
      </p:sp>
      <p:grpSp>
        <p:nvGrpSpPr>
          <p:cNvPr id="2" name="组合 1">
            <a:extLst>
              <a:ext uri="{FF2B5EF4-FFF2-40B4-BE49-F238E27FC236}">
                <a16:creationId xmlns:a16="http://schemas.microsoft.com/office/drawing/2014/main" id="{067ED4B4-49E2-4FD7-EF05-1E715DE61957}"/>
              </a:ext>
            </a:extLst>
          </p:cNvPr>
          <p:cNvGrpSpPr/>
          <p:nvPr/>
        </p:nvGrpSpPr>
        <p:grpSpPr>
          <a:xfrm>
            <a:off x="467543" y="1973641"/>
            <a:ext cx="8658388" cy="3759615"/>
            <a:chOff x="467543" y="1973641"/>
            <a:chExt cx="8658388" cy="3759615"/>
          </a:xfrm>
        </p:grpSpPr>
        <p:sp>
          <p:nvSpPr>
            <p:cNvPr id="7" name="Text Box 6"/>
            <p:cNvSpPr txBox="1">
              <a:spLocks noChangeArrowheads="1"/>
            </p:cNvSpPr>
            <p:nvPr/>
          </p:nvSpPr>
          <p:spPr bwMode="auto">
            <a:xfrm>
              <a:off x="467543" y="2787215"/>
              <a:ext cx="1174991" cy="584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i="1" dirty="0">
                  <a:latin typeface="+mj-lt"/>
                </a:rPr>
                <a:t>x</a:t>
              </a:r>
              <a:r>
                <a:rPr lang="en-US" altLang="zh-CN" sz="3200" dirty="0">
                  <a:latin typeface="+mj-lt"/>
                </a:rPr>
                <a:t>(</a:t>
              </a:r>
              <a:r>
                <a:rPr lang="en-US" altLang="zh-CN" sz="3200" i="1" dirty="0">
                  <a:latin typeface="+mj-lt"/>
                </a:rPr>
                <a:t>n</a:t>
              </a:r>
              <a:r>
                <a:rPr lang="en-US" altLang="zh-CN" sz="3200" dirty="0">
                  <a:latin typeface="+mj-lt"/>
                </a:rPr>
                <a:t>)</a:t>
              </a:r>
            </a:p>
          </p:txBody>
        </p:sp>
        <p:sp>
          <p:nvSpPr>
            <p:cNvPr id="8" name="Text Box 30"/>
            <p:cNvSpPr txBox="1">
              <a:spLocks noChangeArrowheads="1"/>
            </p:cNvSpPr>
            <p:nvPr/>
          </p:nvSpPr>
          <p:spPr bwMode="auto">
            <a:xfrm>
              <a:off x="7523671" y="2820154"/>
              <a:ext cx="1602260" cy="584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i="1" dirty="0">
                  <a:latin typeface="+mj-lt"/>
                </a:rPr>
                <a:t>y</a:t>
              </a:r>
              <a:r>
                <a:rPr lang="en-US" altLang="zh-CN" sz="3200" dirty="0">
                  <a:latin typeface="+mj-lt"/>
                </a:rPr>
                <a:t>(</a:t>
              </a:r>
              <a:r>
                <a:rPr lang="en-US" altLang="zh-CN" sz="3200" i="1" dirty="0">
                  <a:latin typeface="+mj-lt"/>
                </a:rPr>
                <a:t>n</a:t>
              </a:r>
              <a:r>
                <a:rPr lang="en-US" altLang="zh-CN" sz="3200" dirty="0">
                  <a:latin typeface="+mj-lt"/>
                </a:rPr>
                <a:t>)</a:t>
              </a:r>
            </a:p>
          </p:txBody>
        </p:sp>
        <p:sp>
          <p:nvSpPr>
            <p:cNvPr id="10" name="Text Box 43"/>
            <p:cNvSpPr txBox="1">
              <a:spLocks noChangeArrowheads="1"/>
            </p:cNvSpPr>
            <p:nvPr/>
          </p:nvSpPr>
          <p:spPr bwMode="auto">
            <a:xfrm>
              <a:off x="5418505" y="1973641"/>
              <a:ext cx="427270" cy="58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rPr>
                <a:t>2</a:t>
              </a:r>
            </a:p>
          </p:txBody>
        </p:sp>
        <p:sp>
          <p:nvSpPr>
            <p:cNvPr id="11" name="Line 7"/>
            <p:cNvSpPr>
              <a:spLocks noChangeShapeType="1"/>
            </p:cNvSpPr>
            <p:nvPr/>
          </p:nvSpPr>
          <p:spPr bwMode="auto">
            <a:xfrm flipV="1">
              <a:off x="559763" y="3627303"/>
              <a:ext cx="762877" cy="1"/>
            </a:xfrm>
            <a:prstGeom prst="line">
              <a:avLst/>
            </a:prstGeom>
            <a:noFill/>
            <a:ln w="38100">
              <a:solidFill>
                <a:schemeClr val="tx1"/>
              </a:solidFill>
              <a:round/>
              <a:headEnd type="oval"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2" name="Line 8"/>
            <p:cNvSpPr>
              <a:spLocks noChangeShapeType="1"/>
            </p:cNvSpPr>
            <p:nvPr/>
          </p:nvSpPr>
          <p:spPr bwMode="auto">
            <a:xfrm>
              <a:off x="2483767" y="3623234"/>
              <a:ext cx="1070726"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3" name="Line 9"/>
            <p:cNvSpPr>
              <a:spLocks noChangeShapeType="1"/>
            </p:cNvSpPr>
            <p:nvPr/>
          </p:nvSpPr>
          <p:spPr bwMode="auto">
            <a:xfrm>
              <a:off x="3421402" y="3620953"/>
              <a:ext cx="1798220" cy="2281"/>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4" name="Line 10"/>
            <p:cNvSpPr>
              <a:spLocks noChangeShapeType="1"/>
            </p:cNvSpPr>
            <p:nvPr/>
          </p:nvSpPr>
          <p:spPr bwMode="auto">
            <a:xfrm flipV="1">
              <a:off x="1115616" y="3623232"/>
              <a:ext cx="1792730" cy="43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5" name="Line 11"/>
            <p:cNvSpPr>
              <a:spLocks noChangeShapeType="1"/>
            </p:cNvSpPr>
            <p:nvPr/>
          </p:nvSpPr>
          <p:spPr bwMode="auto">
            <a:xfrm>
              <a:off x="2449463" y="3623234"/>
              <a:ext cx="0" cy="2110022"/>
            </a:xfrm>
            <a:prstGeom prst="line">
              <a:avLst/>
            </a:prstGeom>
            <a:noFill/>
            <a:ln w="38100">
              <a:solidFill>
                <a:schemeClr val="tx1"/>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6" name="Line 12"/>
            <p:cNvSpPr>
              <a:spLocks noChangeShapeType="1"/>
            </p:cNvSpPr>
            <p:nvPr/>
          </p:nvSpPr>
          <p:spPr bwMode="auto">
            <a:xfrm>
              <a:off x="4284992" y="3623234"/>
              <a:ext cx="0" cy="777377"/>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7" name="Line 13"/>
            <p:cNvSpPr>
              <a:spLocks noChangeShapeType="1"/>
            </p:cNvSpPr>
            <p:nvPr/>
          </p:nvSpPr>
          <p:spPr bwMode="auto">
            <a:xfrm>
              <a:off x="3214266" y="4622718"/>
              <a:ext cx="1070726" cy="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8" name="Line 14"/>
            <p:cNvSpPr>
              <a:spLocks noChangeShapeType="1"/>
            </p:cNvSpPr>
            <p:nvPr/>
          </p:nvSpPr>
          <p:spPr bwMode="auto">
            <a:xfrm>
              <a:off x="4284992" y="4289557"/>
              <a:ext cx="0" cy="1221592"/>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19" name="Line 15"/>
            <p:cNvSpPr>
              <a:spLocks noChangeShapeType="1"/>
            </p:cNvSpPr>
            <p:nvPr/>
          </p:nvSpPr>
          <p:spPr bwMode="auto">
            <a:xfrm flipV="1">
              <a:off x="3275854" y="5724416"/>
              <a:ext cx="1009137" cy="884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0" name="Line 16"/>
            <p:cNvSpPr>
              <a:spLocks noChangeShapeType="1"/>
            </p:cNvSpPr>
            <p:nvPr/>
          </p:nvSpPr>
          <p:spPr bwMode="auto">
            <a:xfrm>
              <a:off x="4284992" y="5289041"/>
              <a:ext cx="0" cy="44421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1" name="Line 17"/>
            <p:cNvSpPr>
              <a:spLocks noChangeShapeType="1"/>
            </p:cNvSpPr>
            <p:nvPr/>
          </p:nvSpPr>
          <p:spPr bwMode="auto">
            <a:xfrm flipH="1">
              <a:off x="2449463" y="4622718"/>
              <a:ext cx="917764" cy="0"/>
            </a:xfrm>
            <a:prstGeom prst="line">
              <a:avLst/>
            </a:prstGeom>
            <a:noFill/>
            <a:ln w="38100">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2" name="Line 18"/>
            <p:cNvSpPr>
              <a:spLocks noChangeShapeType="1"/>
            </p:cNvSpPr>
            <p:nvPr/>
          </p:nvSpPr>
          <p:spPr bwMode="auto">
            <a:xfrm flipH="1">
              <a:off x="2449463" y="5733256"/>
              <a:ext cx="107072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3" name="Line 19"/>
            <p:cNvSpPr>
              <a:spLocks noChangeShapeType="1"/>
            </p:cNvSpPr>
            <p:nvPr/>
          </p:nvSpPr>
          <p:spPr bwMode="auto">
            <a:xfrm>
              <a:off x="4896835" y="3623234"/>
              <a:ext cx="9177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4" name="Line 22"/>
            <p:cNvSpPr>
              <a:spLocks noChangeShapeType="1"/>
            </p:cNvSpPr>
            <p:nvPr/>
          </p:nvSpPr>
          <p:spPr bwMode="auto">
            <a:xfrm flipV="1">
              <a:off x="5967560" y="4067449"/>
              <a:ext cx="0" cy="444215"/>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5" name="Line 23"/>
            <p:cNvSpPr>
              <a:spLocks noChangeShapeType="1"/>
            </p:cNvSpPr>
            <p:nvPr/>
          </p:nvSpPr>
          <p:spPr bwMode="auto">
            <a:xfrm flipH="1">
              <a:off x="4132032" y="4622718"/>
              <a:ext cx="1070726" cy="0"/>
            </a:xfrm>
            <a:prstGeom prst="line">
              <a:avLst/>
            </a:prstGeom>
            <a:noFill/>
            <a:ln w="38100">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6" name="Line 24"/>
            <p:cNvSpPr>
              <a:spLocks noChangeShapeType="1"/>
            </p:cNvSpPr>
            <p:nvPr/>
          </p:nvSpPr>
          <p:spPr bwMode="auto">
            <a:xfrm flipV="1">
              <a:off x="5967560" y="4178502"/>
              <a:ext cx="0" cy="44421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7" name="Line 25"/>
            <p:cNvSpPr>
              <a:spLocks noChangeShapeType="1"/>
            </p:cNvSpPr>
            <p:nvPr/>
          </p:nvSpPr>
          <p:spPr bwMode="auto">
            <a:xfrm flipH="1">
              <a:off x="5049796" y="4622718"/>
              <a:ext cx="9177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8" name="Line 26"/>
            <p:cNvSpPr>
              <a:spLocks noChangeShapeType="1"/>
            </p:cNvSpPr>
            <p:nvPr/>
          </p:nvSpPr>
          <p:spPr bwMode="auto">
            <a:xfrm flipV="1">
              <a:off x="5355719" y="3612295"/>
              <a:ext cx="2393216" cy="10939"/>
            </a:xfrm>
            <a:prstGeom prst="line">
              <a:avLst/>
            </a:prstGeom>
            <a:noFill/>
            <a:ln w="381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29" name="Line 29"/>
            <p:cNvSpPr>
              <a:spLocks noChangeShapeType="1"/>
            </p:cNvSpPr>
            <p:nvPr/>
          </p:nvSpPr>
          <p:spPr bwMode="auto">
            <a:xfrm flipV="1">
              <a:off x="5967560" y="3623234"/>
              <a:ext cx="0" cy="55526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0" name="Line 31"/>
            <p:cNvSpPr>
              <a:spLocks noChangeShapeType="1"/>
            </p:cNvSpPr>
            <p:nvPr/>
          </p:nvSpPr>
          <p:spPr bwMode="auto">
            <a:xfrm flipV="1">
              <a:off x="1763688" y="2636912"/>
              <a:ext cx="0" cy="99948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3" name="Line 34"/>
            <p:cNvSpPr>
              <a:spLocks noChangeShapeType="1"/>
            </p:cNvSpPr>
            <p:nvPr/>
          </p:nvSpPr>
          <p:spPr bwMode="auto">
            <a:xfrm flipH="1">
              <a:off x="6622395" y="2612809"/>
              <a:ext cx="12050" cy="999486"/>
            </a:xfrm>
            <a:prstGeom prst="line">
              <a:avLst/>
            </a:prstGeom>
            <a:noFill/>
            <a:ln w="38100">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4" name="Line 35"/>
            <p:cNvSpPr>
              <a:spLocks noChangeShapeType="1"/>
            </p:cNvSpPr>
            <p:nvPr/>
          </p:nvSpPr>
          <p:spPr bwMode="auto">
            <a:xfrm>
              <a:off x="5265244" y="2628404"/>
              <a:ext cx="458883"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5" name="Line 36"/>
            <p:cNvSpPr>
              <a:spLocks noChangeShapeType="1"/>
            </p:cNvSpPr>
            <p:nvPr/>
          </p:nvSpPr>
          <p:spPr bwMode="auto">
            <a:xfrm flipV="1">
              <a:off x="4284991" y="2626245"/>
              <a:ext cx="2337403" cy="446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6" name="Line 37"/>
            <p:cNvSpPr>
              <a:spLocks noChangeShapeType="1"/>
            </p:cNvSpPr>
            <p:nvPr/>
          </p:nvSpPr>
          <p:spPr bwMode="auto">
            <a:xfrm>
              <a:off x="1746309" y="2625807"/>
              <a:ext cx="2598089" cy="6768"/>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7" name="Line 38"/>
            <p:cNvSpPr>
              <a:spLocks noChangeShapeType="1"/>
            </p:cNvSpPr>
            <p:nvPr/>
          </p:nvSpPr>
          <p:spPr bwMode="auto">
            <a:xfrm>
              <a:off x="4896835" y="2623750"/>
              <a:ext cx="0" cy="333161"/>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8" name="Line 39"/>
            <p:cNvSpPr>
              <a:spLocks noChangeShapeType="1"/>
            </p:cNvSpPr>
            <p:nvPr/>
          </p:nvSpPr>
          <p:spPr bwMode="auto">
            <a:xfrm flipH="1">
              <a:off x="4132032" y="3179018"/>
              <a:ext cx="764804"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39" name="Line 40"/>
            <p:cNvSpPr>
              <a:spLocks noChangeShapeType="1"/>
            </p:cNvSpPr>
            <p:nvPr/>
          </p:nvSpPr>
          <p:spPr bwMode="auto">
            <a:xfrm>
              <a:off x="3367228" y="2623750"/>
              <a:ext cx="0" cy="555269"/>
            </a:xfrm>
            <a:prstGeom prst="line">
              <a:avLst/>
            </a:prstGeom>
            <a:noFill/>
            <a:ln w="38100">
              <a:solidFill>
                <a:schemeClr val="tx1"/>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0" name="Line 41"/>
            <p:cNvSpPr>
              <a:spLocks noChangeShapeType="1"/>
            </p:cNvSpPr>
            <p:nvPr/>
          </p:nvSpPr>
          <p:spPr bwMode="auto">
            <a:xfrm>
              <a:off x="3367228" y="3179018"/>
              <a:ext cx="9177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1" name="Line 45"/>
            <p:cNvSpPr>
              <a:spLocks noChangeShapeType="1"/>
            </p:cNvSpPr>
            <p:nvPr/>
          </p:nvSpPr>
          <p:spPr bwMode="auto">
            <a:xfrm>
              <a:off x="4896835" y="2956911"/>
              <a:ext cx="0" cy="2221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42" name="Text Box 46"/>
            <p:cNvSpPr txBox="1">
              <a:spLocks noChangeArrowheads="1"/>
            </p:cNvSpPr>
            <p:nvPr/>
          </p:nvSpPr>
          <p:spPr bwMode="auto">
            <a:xfrm>
              <a:off x="5004048" y="3068960"/>
              <a:ext cx="747722" cy="584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rPr>
                <a:t>1</a:t>
              </a:r>
            </a:p>
          </p:txBody>
        </p:sp>
        <p:sp>
          <p:nvSpPr>
            <p:cNvPr id="43" name="Text Box 42"/>
            <p:cNvSpPr txBox="1">
              <a:spLocks noChangeArrowheads="1"/>
            </p:cNvSpPr>
            <p:nvPr/>
          </p:nvSpPr>
          <p:spPr bwMode="auto">
            <a:xfrm>
              <a:off x="3939934" y="2628092"/>
              <a:ext cx="99210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rPr>
                <a:t>0.6</a:t>
              </a:r>
            </a:p>
          </p:txBody>
        </p:sp>
        <p:graphicFrame>
          <p:nvGraphicFramePr>
            <p:cNvPr id="44" name="对象 3"/>
            <p:cNvGraphicFramePr>
              <a:graphicFrameLocks noChangeAspect="1"/>
            </p:cNvGraphicFramePr>
            <p:nvPr>
              <p:extLst>
                <p:ext uri="{D42A27DB-BD31-4B8C-83A1-F6EECF244321}">
                  <p14:modId xmlns:p14="http://schemas.microsoft.com/office/powerpoint/2010/main" val="2839879939"/>
                </p:ext>
              </p:extLst>
            </p:nvPr>
          </p:nvGraphicFramePr>
          <p:xfrm>
            <a:off x="4950229" y="2623750"/>
            <a:ext cx="568329" cy="534861"/>
          </p:xfrm>
          <a:graphic>
            <a:graphicData uri="http://schemas.openxmlformats.org/presentationml/2006/ole">
              <mc:AlternateContent xmlns:mc="http://schemas.openxmlformats.org/markup-compatibility/2006">
                <mc:Choice xmlns:v="urn:schemas-microsoft-com:vml" Requires="v">
                  <p:oleObj name="Equation" r:id="rId4" imgW="215713" imgH="203024" progId="Equation.DSMT4">
                    <p:embed/>
                  </p:oleObj>
                </mc:Choice>
                <mc:Fallback>
                  <p:oleObj name="Equation" r:id="rId4" imgW="215713" imgH="203024" progId="Equation.DSMT4">
                    <p:embed/>
                    <p:pic>
                      <p:nvPicPr>
                        <p:cNvPr id="47147"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0229" y="2623750"/>
                          <a:ext cx="568329" cy="534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 name="对象 4"/>
            <p:cNvGraphicFramePr>
              <a:graphicFrameLocks noChangeAspect="1"/>
            </p:cNvGraphicFramePr>
            <p:nvPr>
              <p:extLst>
                <p:ext uri="{D42A27DB-BD31-4B8C-83A1-F6EECF244321}">
                  <p14:modId xmlns:p14="http://schemas.microsoft.com/office/powerpoint/2010/main" val="736473410"/>
                </p:ext>
              </p:extLst>
            </p:nvPr>
          </p:nvGraphicFramePr>
          <p:xfrm>
            <a:off x="4450003" y="3865605"/>
            <a:ext cx="568384" cy="535006"/>
          </p:xfrm>
          <a:graphic>
            <a:graphicData uri="http://schemas.openxmlformats.org/presentationml/2006/ole">
              <mc:AlternateContent xmlns:mc="http://schemas.openxmlformats.org/markup-compatibility/2006">
                <mc:Choice xmlns:v="urn:schemas-microsoft-com:vml" Requires="v">
                  <p:oleObj name="Equation" r:id="rId6" imgW="215713" imgH="203024" progId="Equation.DSMT4">
                    <p:embed/>
                  </p:oleObj>
                </mc:Choice>
                <mc:Fallback>
                  <p:oleObj name="Equation" r:id="rId6" imgW="215713" imgH="203024" progId="Equation.DSMT4">
                    <p:embed/>
                    <p:pic>
                      <p:nvPicPr>
                        <p:cNvPr id="47148"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0003" y="3865605"/>
                          <a:ext cx="568384" cy="535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 name="对象 5"/>
            <p:cNvGraphicFramePr>
              <a:graphicFrameLocks noChangeAspect="1"/>
            </p:cNvGraphicFramePr>
            <p:nvPr>
              <p:extLst>
                <p:ext uri="{D42A27DB-BD31-4B8C-83A1-F6EECF244321}">
                  <p14:modId xmlns:p14="http://schemas.microsoft.com/office/powerpoint/2010/main" val="2252253948"/>
                </p:ext>
              </p:extLst>
            </p:nvPr>
          </p:nvGraphicFramePr>
          <p:xfrm>
            <a:off x="4476461" y="4934929"/>
            <a:ext cx="568384" cy="535006"/>
          </p:xfrm>
          <a:graphic>
            <a:graphicData uri="http://schemas.openxmlformats.org/presentationml/2006/ole">
              <mc:AlternateContent xmlns:mc="http://schemas.openxmlformats.org/markup-compatibility/2006">
                <mc:Choice xmlns:v="urn:schemas-microsoft-com:vml" Requires="v">
                  <p:oleObj name="Equation" r:id="rId6" imgW="215713" imgH="203024" progId="Equation.DSMT4">
                    <p:embed/>
                  </p:oleObj>
                </mc:Choice>
                <mc:Fallback>
                  <p:oleObj name="Equation" r:id="rId6" imgW="215713" imgH="203024" progId="Equation.DSMT4">
                    <p:embed/>
                    <p:pic>
                      <p:nvPicPr>
                        <p:cNvPr id="47149"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6461" y="4934929"/>
                          <a:ext cx="568384" cy="535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 name="Text Box 42"/>
            <p:cNvSpPr txBox="1">
              <a:spLocks noChangeArrowheads="1"/>
            </p:cNvSpPr>
            <p:nvPr/>
          </p:nvSpPr>
          <p:spPr bwMode="auto">
            <a:xfrm>
              <a:off x="3117786" y="3997157"/>
              <a:ext cx="7083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rPr>
                <a:t>-1</a:t>
              </a:r>
            </a:p>
          </p:txBody>
        </p:sp>
        <p:sp>
          <p:nvSpPr>
            <p:cNvPr id="48" name="Text Box 42"/>
            <p:cNvSpPr txBox="1">
              <a:spLocks noChangeArrowheads="1"/>
            </p:cNvSpPr>
            <p:nvPr/>
          </p:nvSpPr>
          <p:spPr bwMode="auto">
            <a:xfrm>
              <a:off x="3059831" y="5139641"/>
              <a:ext cx="10421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rPr>
                <a:t>-0.5</a:t>
              </a:r>
            </a:p>
          </p:txBody>
        </p:sp>
        <p:sp>
          <p:nvSpPr>
            <p:cNvPr id="49" name="Text Box 43"/>
            <p:cNvSpPr txBox="1">
              <a:spLocks noChangeArrowheads="1"/>
            </p:cNvSpPr>
            <p:nvPr/>
          </p:nvSpPr>
          <p:spPr bwMode="auto">
            <a:xfrm>
              <a:off x="4932040" y="4068340"/>
              <a:ext cx="427270" cy="584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en-US" altLang="zh-CN" sz="3200" dirty="0">
                  <a:latin typeface="+mj-lt"/>
                </a:rPr>
                <a:t>1</a:t>
              </a:r>
            </a:p>
          </p:txBody>
        </p:sp>
        <p:sp>
          <p:nvSpPr>
            <p:cNvPr id="50" name="Line 7"/>
            <p:cNvSpPr>
              <a:spLocks noChangeShapeType="1"/>
            </p:cNvSpPr>
            <p:nvPr/>
          </p:nvSpPr>
          <p:spPr bwMode="auto">
            <a:xfrm>
              <a:off x="5979609" y="3620953"/>
              <a:ext cx="1223686" cy="0"/>
            </a:xfrm>
            <a:prstGeom prst="line">
              <a:avLst/>
            </a:prstGeom>
            <a:noFill/>
            <a:ln w="38100">
              <a:solidFill>
                <a:schemeClr val="tx1"/>
              </a:solidFill>
              <a:round/>
              <a:headEnd type="oval"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56" name="Line 44"/>
            <p:cNvSpPr>
              <a:spLocks noChangeShapeType="1"/>
            </p:cNvSpPr>
            <p:nvPr/>
          </p:nvSpPr>
          <p:spPr bwMode="auto">
            <a:xfrm flipH="1" flipV="1">
              <a:off x="2449831" y="3900868"/>
              <a:ext cx="1907" cy="482380"/>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57" name="Line 44"/>
            <p:cNvSpPr>
              <a:spLocks noChangeShapeType="1"/>
            </p:cNvSpPr>
            <p:nvPr/>
          </p:nvSpPr>
          <p:spPr bwMode="auto">
            <a:xfrm flipH="1" flipV="1">
              <a:off x="2449831" y="4989510"/>
              <a:ext cx="1907" cy="482380"/>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58" name="Line 44"/>
            <p:cNvSpPr>
              <a:spLocks noChangeShapeType="1"/>
            </p:cNvSpPr>
            <p:nvPr/>
          </p:nvSpPr>
          <p:spPr bwMode="auto">
            <a:xfrm>
              <a:off x="1841393" y="2627818"/>
              <a:ext cx="329217" cy="9093"/>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59" name="Line 44"/>
            <p:cNvSpPr>
              <a:spLocks noChangeShapeType="1"/>
            </p:cNvSpPr>
            <p:nvPr/>
          </p:nvSpPr>
          <p:spPr bwMode="auto">
            <a:xfrm flipV="1">
              <a:off x="1835697" y="3626716"/>
              <a:ext cx="351776" cy="587"/>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60" name="Line 44"/>
            <p:cNvSpPr>
              <a:spLocks noChangeShapeType="1"/>
            </p:cNvSpPr>
            <p:nvPr/>
          </p:nvSpPr>
          <p:spPr bwMode="auto">
            <a:xfrm>
              <a:off x="6121400" y="3619500"/>
              <a:ext cx="326974" cy="866"/>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sp>
          <p:nvSpPr>
            <p:cNvPr id="61" name="Line 44"/>
            <p:cNvSpPr>
              <a:spLocks noChangeShapeType="1"/>
            </p:cNvSpPr>
            <p:nvPr/>
          </p:nvSpPr>
          <p:spPr bwMode="auto">
            <a:xfrm flipH="1" flipV="1">
              <a:off x="3371531" y="2802602"/>
              <a:ext cx="140" cy="376415"/>
            </a:xfrm>
            <a:prstGeom prst="line">
              <a:avLst/>
            </a:prstGeom>
            <a:noFill/>
            <a:ln w="38100">
              <a:solidFill>
                <a:schemeClr val="tx1"/>
              </a:solidFill>
              <a:round/>
              <a:headEnd type="none"/>
              <a:tailEnd type="arrow"/>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j-lt"/>
              </a:endParaRPr>
            </a:p>
          </p:txBody>
        </p:sp>
      </p:grpSp>
      <p:sp>
        <p:nvSpPr>
          <p:cNvPr id="62"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6.1.2 IIR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4048654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graphicFrame>
        <p:nvGraphicFramePr>
          <p:cNvPr id="7" name="Object 3"/>
          <p:cNvGraphicFramePr>
            <a:graphicFrameLocks noChangeAspect="1"/>
          </p:cNvGraphicFramePr>
          <p:nvPr>
            <p:extLst>
              <p:ext uri="{D42A27DB-BD31-4B8C-83A1-F6EECF244321}">
                <p14:modId xmlns:p14="http://schemas.microsoft.com/office/powerpoint/2010/main" val="1934344573"/>
              </p:ext>
            </p:extLst>
          </p:nvPr>
        </p:nvGraphicFramePr>
        <p:xfrm>
          <a:off x="2267744" y="3366740"/>
          <a:ext cx="3417570" cy="2044700"/>
        </p:xfrm>
        <a:graphic>
          <a:graphicData uri="http://schemas.openxmlformats.org/presentationml/2006/ole">
            <mc:AlternateContent xmlns:mc="http://schemas.openxmlformats.org/markup-compatibility/2006">
              <mc:Choice xmlns:v="urn:schemas-microsoft-com:vml" Requires="v">
                <p:oleObj name="Equation" r:id="rId2" imgW="1485900" imgH="889000" progId="Equation.DSMT4">
                  <p:embed/>
                </p:oleObj>
              </mc:Choice>
              <mc:Fallback>
                <p:oleObj name="Equation" r:id="rId2" imgW="1485900" imgH="889000" progId="Equation.DSMT4">
                  <p:embed/>
                  <p:pic>
                    <p:nvPicPr>
                      <p:cNvPr id="4915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3366740"/>
                        <a:ext cx="341757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内容占位符 2"/>
          <p:cNvSpPr>
            <a:spLocks noGrp="1"/>
          </p:cNvSpPr>
          <p:nvPr>
            <p:ph idx="1"/>
          </p:nvPr>
        </p:nvSpPr>
        <p:spPr>
          <a:xfrm>
            <a:off x="628649" y="942446"/>
            <a:ext cx="8354245" cy="2595694"/>
          </a:xfrm>
        </p:spPr>
        <p:txBody>
          <a:bodyPr/>
          <a:lstStyle/>
          <a:p>
            <a:pPr algn="just">
              <a:lnSpc>
                <a:spcPct val="120000"/>
              </a:lnSpc>
              <a:spcBef>
                <a:spcPct val="0"/>
              </a:spcBef>
              <a:buNone/>
            </a:pPr>
            <a:r>
              <a:rPr lang="en-US" altLang="zh-CN" b="1" dirty="0">
                <a:solidFill>
                  <a:srgbClr val="C00000"/>
                </a:solidFill>
                <a:latin typeface="+mj-lt"/>
                <a:ea typeface="宋体" panose="02010600030101010101" pitchFamily="2" charset="-122"/>
                <a:cs typeface="Times New Roman" panose="02020603050405020304" pitchFamily="18" charset="0"/>
              </a:rPr>
              <a:t>FIR</a:t>
            </a:r>
            <a:r>
              <a:rPr lang="zh-CN" altLang="en-US" b="1" dirty="0">
                <a:solidFill>
                  <a:srgbClr val="C00000"/>
                </a:solidFill>
                <a:latin typeface="+mj-lt"/>
                <a:ea typeface="宋体" panose="02010600030101010101" pitchFamily="2" charset="-122"/>
                <a:cs typeface="Times New Roman" panose="02020603050405020304" pitchFamily="18" charset="0"/>
              </a:rPr>
              <a:t>数字滤波器的结构特点：</a:t>
            </a:r>
          </a:p>
          <a:p>
            <a:pPr algn="just">
              <a:lnSpc>
                <a:spcPct val="120000"/>
              </a:lnSpc>
              <a:spcBef>
                <a:spcPct val="0"/>
              </a:spcBef>
              <a:spcAft>
                <a:spcPct val="30000"/>
              </a:spcAft>
              <a:buFontTx/>
              <a:buNone/>
            </a:pPr>
            <a:r>
              <a:rPr lang="zh-CN" altLang="en-US" sz="2800" b="1" dirty="0">
                <a:latin typeface="+mj-lt"/>
                <a:ea typeface="宋体" panose="02010600030101010101" pitchFamily="2" charset="-122"/>
                <a:cs typeface="Times New Roman" panose="02020603050405020304" pitchFamily="18" charset="0"/>
              </a:rPr>
              <a:t>  主要</a:t>
            </a:r>
            <a:r>
              <a:rPr lang="zh-CN" altLang="en-US" sz="2800" b="1" dirty="0">
                <a:solidFill>
                  <a:srgbClr val="0000CC"/>
                </a:solidFill>
                <a:latin typeface="+mj-lt"/>
                <a:ea typeface="宋体" panose="02010600030101010101" pitchFamily="2" charset="-122"/>
                <a:cs typeface="Times New Roman" panose="02020603050405020304" pitchFamily="18" charset="0"/>
              </a:rPr>
              <a:t>是非递归结构，无反馈</a:t>
            </a:r>
            <a:r>
              <a:rPr lang="zh-CN" altLang="en-US" sz="2800" b="1" dirty="0">
                <a:latin typeface="+mj-lt"/>
                <a:ea typeface="宋体" panose="02010600030101010101" pitchFamily="2" charset="-122"/>
                <a:cs typeface="Times New Roman" panose="02020603050405020304" pitchFamily="18" charset="0"/>
              </a:rPr>
              <a:t>，但在频率采样结构等</a:t>
            </a:r>
            <a:endParaRPr lang="en-US" altLang="zh-CN" sz="2800" b="1" dirty="0">
              <a:latin typeface="+mj-lt"/>
              <a:ea typeface="宋体" panose="02010600030101010101" pitchFamily="2" charset="-122"/>
              <a:cs typeface="Times New Roman" panose="02020603050405020304" pitchFamily="18" charset="0"/>
            </a:endParaRPr>
          </a:p>
          <a:p>
            <a:pPr algn="just">
              <a:lnSpc>
                <a:spcPct val="120000"/>
              </a:lnSpc>
              <a:spcBef>
                <a:spcPct val="0"/>
              </a:spcBef>
              <a:spcAft>
                <a:spcPct val="30000"/>
              </a:spcAft>
              <a:buFontTx/>
              <a:buNone/>
            </a:pPr>
            <a:r>
              <a:rPr lang="en-US" altLang="zh-CN" sz="2800" b="1" dirty="0">
                <a:latin typeface="+mj-lt"/>
                <a:ea typeface="宋体" panose="02010600030101010101" pitchFamily="2" charset="-122"/>
                <a:cs typeface="Times New Roman" panose="02020603050405020304" pitchFamily="18" charset="0"/>
              </a:rPr>
              <a:t>  </a:t>
            </a:r>
            <a:r>
              <a:rPr lang="zh-CN" altLang="en-US" sz="2800" b="1" dirty="0">
                <a:latin typeface="+mj-lt"/>
                <a:ea typeface="宋体" panose="02010600030101010101" pitchFamily="2" charset="-122"/>
                <a:cs typeface="Times New Roman" panose="02020603050405020304" pitchFamily="18" charset="0"/>
              </a:rPr>
              <a:t>某些结构中也包含有反馈的递归部分。</a:t>
            </a:r>
          </a:p>
          <a:p>
            <a:pPr algn="just">
              <a:lnSpc>
                <a:spcPct val="120000"/>
              </a:lnSpc>
              <a:spcBef>
                <a:spcPct val="0"/>
              </a:spcBef>
              <a:buFontTx/>
              <a:buNone/>
            </a:pPr>
            <a:r>
              <a:rPr lang="zh-CN" altLang="en-US" sz="2800" b="1" dirty="0">
                <a:latin typeface="+mj-lt"/>
                <a:ea typeface="宋体" panose="02010600030101010101" pitchFamily="2" charset="-122"/>
                <a:cs typeface="Times New Roman" panose="02020603050405020304" pitchFamily="18" charset="0"/>
              </a:rPr>
              <a:t>  它的系统函数和差分方程一般有如下形式：</a:t>
            </a:r>
          </a:p>
        </p:txBody>
      </p:sp>
      <p:sp>
        <p:nvSpPr>
          <p:cNvPr id="9" name="内容占位符 3"/>
          <p:cNvSpPr>
            <a:spLocks noGrp="1"/>
          </p:cNvSpPr>
          <p:nvPr>
            <p:ph idx="1"/>
          </p:nvPr>
        </p:nvSpPr>
        <p:spPr>
          <a:xfrm>
            <a:off x="827584" y="5517232"/>
            <a:ext cx="8064896" cy="1340768"/>
          </a:xfrm>
        </p:spPr>
        <p:txBody>
          <a:bodyPr>
            <a:normAutofit/>
          </a:bodyPr>
          <a:lstStyle/>
          <a:p>
            <a:pPr>
              <a:lnSpc>
                <a:spcPct val="114000"/>
              </a:lnSpc>
              <a:spcBef>
                <a:spcPts val="0"/>
              </a:spcBef>
              <a:spcAft>
                <a:spcPts val="0"/>
              </a:spcAft>
              <a:buFontTx/>
              <a:buNone/>
            </a:pPr>
            <a:r>
              <a:rPr lang="en-US" altLang="zh-CN" sz="2800" b="1" dirty="0">
                <a:latin typeface="+mj-lt"/>
                <a:cs typeface="Times New Roman" panose="02020603050405020304" pitchFamily="18" charset="0"/>
              </a:rPr>
              <a:t>FIR</a:t>
            </a:r>
            <a:r>
              <a:rPr lang="zh-CN" altLang="en-US" sz="2800" b="1" dirty="0">
                <a:latin typeface="+mj-lt"/>
                <a:cs typeface="Times New Roman" panose="02020603050405020304" pitchFamily="18" charset="0"/>
              </a:rPr>
              <a:t>滤波器基本的结构形式有：</a:t>
            </a:r>
          </a:p>
          <a:p>
            <a:pPr>
              <a:lnSpc>
                <a:spcPct val="114000"/>
              </a:lnSpc>
              <a:spcBef>
                <a:spcPts val="0"/>
              </a:spcBef>
              <a:spcAft>
                <a:spcPts val="0"/>
              </a:spcAft>
              <a:buNone/>
            </a:pPr>
            <a:r>
              <a:rPr lang="zh-CN" altLang="en-US" sz="2800" b="1" dirty="0">
                <a:solidFill>
                  <a:srgbClr val="0000CC"/>
                </a:solidFill>
                <a:latin typeface="+mj-lt"/>
                <a:cs typeface="Times New Roman" panose="02020603050405020304" pitchFamily="18" charset="0"/>
              </a:rPr>
              <a:t>横截型、级联型、线性相位型、频率采样型</a:t>
            </a:r>
          </a:p>
        </p:txBody>
      </p:sp>
    </p:spTree>
    <p:extLst>
      <p:ext uri="{BB962C8B-B14F-4D97-AF65-F5344CB8AC3E}">
        <p14:creationId xmlns:p14="http://schemas.microsoft.com/office/powerpoint/2010/main" val="299319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fade">
                                      <p:cBhvr>
                                        <p:cTn id="21" dur="1000"/>
                                        <p:tgtEl>
                                          <p:spTgt spid="9">
                                            <p:txEl>
                                              <p:pRg st="1" end="1"/>
                                            </p:txEl>
                                          </p:spTgt>
                                        </p:tgtEl>
                                      </p:cBhvr>
                                    </p:animEffect>
                                    <p:anim calcmode="lin" valueType="num">
                                      <p:cBhvr>
                                        <p:cTn id="22"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rrowheads="1"/>
          </p:cNvSpPr>
          <p:nvPr/>
        </p:nvSpPr>
        <p:spPr bwMode="auto">
          <a:xfrm>
            <a:off x="683568" y="1052736"/>
            <a:ext cx="7921625" cy="593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20000"/>
              </a:lnSpc>
              <a:spcBef>
                <a:spcPct val="50000"/>
              </a:spcBef>
              <a:buFontTx/>
              <a:buNone/>
            </a:pPr>
            <a:r>
              <a:rPr lang="en-US" altLang="zh-CN" sz="3000" dirty="0">
                <a:solidFill>
                  <a:srgbClr val="FF0000"/>
                </a:solidFill>
                <a:latin typeface="+mj-lt"/>
                <a:ea typeface="宋体" panose="02010600030101010101" pitchFamily="2" charset="-122"/>
                <a:cs typeface="Times New Roman" panose="02020603050405020304" pitchFamily="18" charset="0"/>
              </a:rPr>
              <a:t>(1)</a:t>
            </a:r>
            <a:r>
              <a:rPr lang="zh-CN" altLang="en-US" sz="3000" dirty="0">
                <a:solidFill>
                  <a:srgbClr val="FF0000"/>
                </a:solidFill>
                <a:latin typeface="+mj-lt"/>
                <a:ea typeface="宋体" panose="02010600030101010101" pitchFamily="2" charset="-122"/>
                <a:cs typeface="Times New Roman" panose="02020603050405020304" pitchFamily="18" charset="0"/>
              </a:rPr>
              <a:t>横截型</a:t>
            </a:r>
            <a:r>
              <a:rPr lang="en-US" altLang="zh-CN" sz="3000" dirty="0">
                <a:solidFill>
                  <a:srgbClr val="FF0000"/>
                </a:solidFill>
                <a:latin typeface="+mj-lt"/>
                <a:ea typeface="宋体" panose="02010600030101010101" pitchFamily="2" charset="-122"/>
                <a:cs typeface="Times New Roman" panose="02020603050405020304" pitchFamily="18" charset="0"/>
              </a:rPr>
              <a:t>(</a:t>
            </a:r>
            <a:r>
              <a:rPr lang="zh-CN" altLang="en-US" sz="3000" dirty="0">
                <a:solidFill>
                  <a:srgbClr val="FF0000"/>
                </a:solidFill>
                <a:ea typeface="宋体" panose="02010600030101010101" pitchFamily="2" charset="-122"/>
                <a:cs typeface="Times New Roman" panose="02020603050405020304" pitchFamily="18" charset="0"/>
              </a:rPr>
              <a:t>卷积型，直接型</a:t>
            </a:r>
            <a:r>
              <a:rPr lang="en-US" altLang="zh-CN" sz="3000" dirty="0">
                <a:solidFill>
                  <a:srgbClr val="FF0000"/>
                </a:solidFill>
                <a:latin typeface="+mj-lt"/>
                <a:ea typeface="宋体" panose="02010600030101010101" pitchFamily="2" charset="-122"/>
                <a:cs typeface="Times New Roman" panose="02020603050405020304" pitchFamily="18" charset="0"/>
              </a:rPr>
              <a:t>)</a:t>
            </a:r>
          </a:p>
        </p:txBody>
      </p:sp>
      <p:graphicFrame>
        <p:nvGraphicFramePr>
          <p:cNvPr id="5" name="Object 3"/>
          <p:cNvGraphicFramePr>
            <a:graphicFrameLocks noChangeAspect="1"/>
          </p:cNvGraphicFramePr>
          <p:nvPr>
            <p:extLst>
              <p:ext uri="{D42A27DB-BD31-4B8C-83A1-F6EECF244321}">
                <p14:modId xmlns:p14="http://schemas.microsoft.com/office/powerpoint/2010/main" val="2089591457"/>
              </p:ext>
            </p:extLst>
          </p:nvPr>
        </p:nvGraphicFramePr>
        <p:xfrm>
          <a:off x="1475656" y="1859161"/>
          <a:ext cx="3416300" cy="993775"/>
        </p:xfrm>
        <a:graphic>
          <a:graphicData uri="http://schemas.openxmlformats.org/presentationml/2006/ole">
            <mc:AlternateContent xmlns:mc="http://schemas.openxmlformats.org/markup-compatibility/2006">
              <mc:Choice xmlns:v="urn:schemas-microsoft-com:vml" Requires="v">
                <p:oleObj name="Equation" r:id="rId2" imgW="1485720" imgH="431640" progId="Equation.DSMT4">
                  <p:embed/>
                </p:oleObj>
              </mc:Choice>
              <mc:Fallback>
                <p:oleObj name="Equation" r:id="rId2" imgW="1485720" imgH="431640" progId="Equation.DSMT4">
                  <p:embed/>
                  <p:pic>
                    <p:nvPicPr>
                      <p:cNvPr id="7" name="Object 3"/>
                      <p:cNvPicPr>
                        <a:picLocks noChangeAspect="1" noChangeArrowheads="1"/>
                      </p:cNvPicPr>
                      <p:nvPr/>
                    </p:nvPicPr>
                    <p:blipFill>
                      <a:blip r:embed="rId3"/>
                      <a:srcRect/>
                      <a:stretch>
                        <a:fillRect/>
                      </a:stretch>
                    </p:blipFill>
                    <p:spPr bwMode="auto">
                      <a:xfrm>
                        <a:off x="1475656" y="1859161"/>
                        <a:ext cx="34163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 name="Picture 3" descr="FIR横截型"/>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069" y="3074067"/>
            <a:ext cx="8193367" cy="2515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2051720" y="5121618"/>
            <a:ext cx="1107996"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cs typeface="Times New Roman" panose="02020603050405020304" pitchFamily="18" charset="0"/>
              </a:rPr>
              <a:t>图</a:t>
            </a:r>
            <a:r>
              <a:rPr lang="en-US" altLang="zh-CN" sz="2400" b="1" dirty="0">
                <a:solidFill>
                  <a:prstClr val="black"/>
                </a:solidFill>
                <a:latin typeface="Times New Roman" panose="02020603050405020304" pitchFamily="18" charset="0"/>
                <a:cs typeface="Times New Roman" panose="02020603050405020304" pitchFamily="18" charset="0"/>
              </a:rPr>
              <a:t>6.13 </a:t>
            </a:r>
            <a:endParaRPr lang="zh-CN" altLang="en-US" b="1" dirty="0"/>
          </a:p>
        </p:txBody>
      </p:sp>
      <p:sp>
        <p:nvSpPr>
          <p:cNvPr id="10" name="矩形 9"/>
          <p:cNvSpPr/>
          <p:nvPr/>
        </p:nvSpPr>
        <p:spPr>
          <a:xfrm>
            <a:off x="5830243" y="5121618"/>
            <a:ext cx="494046" cy="461665"/>
          </a:xfrm>
          <a:prstGeom prst="rect">
            <a:avLst/>
          </a:prstGeom>
        </p:spPr>
        <p:txBody>
          <a:bodyPr wrap="none">
            <a:spAutoFit/>
          </a:bodyPr>
          <a:lstStyle/>
          <a:p>
            <a:r>
              <a:rPr kumimoji="1" lang="en-US" altLang="zh-CN" sz="2400" b="1" dirty="0">
                <a:solidFill>
                  <a:srgbClr val="FF0066"/>
                </a:solidFill>
                <a:latin typeface="Times New Roman" panose="02020603050405020304" pitchFamily="18" charset="0"/>
                <a:cs typeface="Times New Roman" panose="02020603050405020304" pitchFamily="18" charset="0"/>
              </a:rPr>
              <a:t>★</a:t>
            </a:r>
            <a:endParaRPr lang="zh-CN" altLang="en-US" dirty="0"/>
          </a:p>
        </p:txBody>
      </p:sp>
      <p:graphicFrame>
        <p:nvGraphicFramePr>
          <p:cNvPr id="11" name="Object 3"/>
          <p:cNvGraphicFramePr>
            <a:graphicFrameLocks noChangeAspect="1"/>
          </p:cNvGraphicFramePr>
          <p:nvPr>
            <p:extLst>
              <p:ext uri="{D42A27DB-BD31-4B8C-83A1-F6EECF244321}">
                <p14:modId xmlns:p14="http://schemas.microsoft.com/office/powerpoint/2010/main" val="871611746"/>
              </p:ext>
            </p:extLst>
          </p:nvPr>
        </p:nvGraphicFramePr>
        <p:xfrm>
          <a:off x="5686227" y="1848737"/>
          <a:ext cx="2774950" cy="992188"/>
        </p:xfrm>
        <a:graphic>
          <a:graphicData uri="http://schemas.openxmlformats.org/presentationml/2006/ole">
            <mc:AlternateContent xmlns:mc="http://schemas.openxmlformats.org/markup-compatibility/2006">
              <mc:Choice xmlns:v="urn:schemas-microsoft-com:vml" Requires="v">
                <p:oleObj name="Equation" r:id="rId5" imgW="1206360" imgH="431640" progId="Equation.DSMT4">
                  <p:embed/>
                </p:oleObj>
              </mc:Choice>
              <mc:Fallback>
                <p:oleObj name="Equation" r:id="rId5" imgW="1206360" imgH="431640" progId="Equation.DSMT4">
                  <p:embed/>
                  <p:pic>
                    <p:nvPicPr>
                      <p:cNvPr id="7" name="Object 3"/>
                      <p:cNvPicPr>
                        <a:picLocks noChangeAspect="1" noChangeArrowheads="1"/>
                      </p:cNvPicPr>
                      <p:nvPr/>
                    </p:nvPicPr>
                    <p:blipFill>
                      <a:blip r:embed="rId6"/>
                      <a:srcRect/>
                      <a:stretch>
                        <a:fillRect/>
                      </a:stretch>
                    </p:blipFill>
                    <p:spPr bwMode="auto">
                      <a:xfrm>
                        <a:off x="5686227" y="1848737"/>
                        <a:ext cx="277495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80473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a:spLocks noChangeArrowheads="1"/>
          </p:cNvSpPr>
          <p:nvPr/>
        </p:nvSpPr>
        <p:spPr bwMode="auto">
          <a:xfrm>
            <a:off x="1624013" y="4868863"/>
            <a:ext cx="6091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FontTx/>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6.14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横截型的转置结构</a:t>
            </a:r>
          </a:p>
        </p:txBody>
      </p:sp>
      <p:pic>
        <p:nvPicPr>
          <p:cNvPr id="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916832"/>
            <a:ext cx="8704898" cy="2181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4002636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p:nvPr/>
        </p:nvSpPr>
        <p:spPr>
          <a:xfrm>
            <a:off x="4038600" y="4191000"/>
            <a:ext cx="184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endParaRPr lang="zh-CN" altLang="en-US" sz="2400" dirty="0"/>
          </a:p>
        </p:txBody>
      </p:sp>
      <p:sp>
        <p:nvSpPr>
          <p:cNvPr id="53251" name="Text Box 3"/>
          <p:cNvSpPr txBox="1"/>
          <p:nvPr/>
        </p:nvSpPr>
        <p:spPr>
          <a:xfrm>
            <a:off x="323850" y="476250"/>
            <a:ext cx="8496300" cy="955675"/>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r>
              <a:rPr lang="zh-CN" altLang="en-US" sz="3200" dirty="0"/>
              <a:t>例：用横截型结构实现传递函数</a:t>
            </a:r>
          </a:p>
          <a:p>
            <a:pPr marL="0" lvl="0" indent="0" eaLnBrk="1" hangingPunct="1">
              <a:spcBef>
                <a:spcPct val="0"/>
              </a:spcBef>
              <a:buNone/>
            </a:pPr>
            <a:endParaRPr lang="zh-CN" altLang="en-US" sz="2400" dirty="0"/>
          </a:p>
        </p:txBody>
      </p:sp>
      <p:graphicFrame>
        <p:nvGraphicFramePr>
          <p:cNvPr id="53252" name="Object 5"/>
          <p:cNvGraphicFramePr>
            <a:graphicFrameLocks noGrp="1" noChangeAspect="1"/>
          </p:cNvGraphicFramePr>
          <p:nvPr>
            <p:ph sz="half" idx="2"/>
          </p:nvPr>
        </p:nvGraphicFramePr>
        <p:xfrm>
          <a:off x="887413" y="1409700"/>
          <a:ext cx="6115050" cy="723900"/>
        </p:xfrm>
        <a:graphic>
          <a:graphicData uri="http://schemas.openxmlformats.org/presentationml/2006/ole">
            <mc:AlternateContent xmlns:mc="http://schemas.openxmlformats.org/markup-compatibility/2006">
              <mc:Choice xmlns:v="urn:schemas-microsoft-com:vml" Requires="v">
                <p:oleObj r:id="rId2" imgW="1930400" imgH="228600" progId="Equation.DSMT4">
                  <p:embed/>
                </p:oleObj>
              </mc:Choice>
              <mc:Fallback>
                <p:oleObj r:id="rId2" imgW="1930400" imgH="228600" progId="Equation.DSMT4">
                  <p:embed/>
                  <p:pic>
                    <p:nvPicPr>
                      <p:cNvPr id="53252" name="Object 5"/>
                      <p:cNvPicPr/>
                      <p:nvPr/>
                    </p:nvPicPr>
                    <p:blipFill>
                      <a:blip r:embed="rId3"/>
                      <a:srcRect/>
                      <a:stretch>
                        <a:fillRect/>
                      </a:stretch>
                    </p:blipFill>
                    <p:spPr>
                      <a:xfrm>
                        <a:off x="887413" y="1409700"/>
                        <a:ext cx="6115050" cy="723900"/>
                      </a:xfrm>
                      <a:prstGeom prst="rect">
                        <a:avLst/>
                      </a:prstGeom>
                      <a:noFill/>
                      <a:ln w="38100">
                        <a:miter/>
                      </a:ln>
                    </p:spPr>
                  </p:pic>
                </p:oleObj>
              </mc:Fallback>
            </mc:AlternateContent>
          </a:graphicData>
        </a:graphic>
      </p:graphicFrame>
      <p:sp>
        <p:nvSpPr>
          <p:cNvPr id="187398" name="Text Box 6"/>
          <p:cNvSpPr txBox="1"/>
          <p:nvPr/>
        </p:nvSpPr>
        <p:spPr>
          <a:xfrm>
            <a:off x="1114425" y="2759075"/>
            <a:ext cx="6842125" cy="525463"/>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r>
              <a:rPr lang="en-US" altLang="zh-CN" sz="2800" dirty="0">
                <a:latin typeface="Times New Roman" panose="02020603050405020304" pitchFamily="18" charset="0"/>
                <a:cs typeface="Times New Roman" panose="02020603050405020304" pitchFamily="18" charset="0"/>
              </a:rPr>
              <a:t>h(0)=4   h(1)=10  h(2)=10  h(3)=4</a:t>
            </a:r>
            <a:endParaRPr lang="en-US" altLang="zh-CN" sz="2800"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833761" y="908720"/>
            <a:ext cx="7537573" cy="605202"/>
          </a:xfrm>
        </p:spPr>
        <p:txBody>
          <a:bodyPr/>
          <a:lstStyle/>
          <a:p>
            <a:pPr algn="l" eaLnBrk="1" hangingPunct="1"/>
            <a:r>
              <a:rPr lang="en-US" altLang="zh-CN" sz="3000" b="1" i="0" dirty="0">
                <a:solidFill>
                  <a:srgbClr val="FF0000"/>
                </a:solidFill>
                <a:ea typeface="+mn-ea"/>
              </a:rPr>
              <a:t>(2)</a:t>
            </a:r>
            <a:r>
              <a:rPr lang="zh-CN" altLang="en-US" sz="3000" b="1" i="0" dirty="0">
                <a:solidFill>
                  <a:srgbClr val="FF0000"/>
                </a:solidFill>
                <a:ea typeface="+mn-ea"/>
              </a:rPr>
              <a:t>级联型</a:t>
            </a:r>
          </a:p>
        </p:txBody>
      </p:sp>
      <p:sp>
        <p:nvSpPr>
          <p:cNvPr id="4" name="内容占位符 1"/>
          <p:cNvSpPr>
            <a:spLocks noGrp="1"/>
          </p:cNvSpPr>
          <p:nvPr>
            <p:ph idx="1"/>
          </p:nvPr>
        </p:nvSpPr>
        <p:spPr>
          <a:xfrm>
            <a:off x="265000" y="1484784"/>
            <a:ext cx="8721776" cy="1089757"/>
          </a:xfrm>
        </p:spPr>
        <p:txBody>
          <a:bodyPr>
            <a:normAutofit/>
          </a:bodyPr>
          <a:lstStyle/>
          <a:p>
            <a:pPr algn="just">
              <a:lnSpc>
                <a:spcPct val="110000"/>
              </a:lnSpc>
              <a:spcBef>
                <a:spcPct val="0"/>
              </a:spcBef>
              <a:buNone/>
            </a:pPr>
            <a:r>
              <a:rPr lang="zh-CN" altLang="en-US" sz="2800" b="1" dirty="0">
                <a:latin typeface="+mj-lt"/>
              </a:rPr>
              <a:t>当需要控制滤波器的</a:t>
            </a:r>
            <a:r>
              <a:rPr lang="zh-CN" altLang="en-US" sz="2800" b="1" dirty="0">
                <a:solidFill>
                  <a:srgbClr val="0000CC"/>
                </a:solidFill>
                <a:latin typeface="+mj-lt"/>
              </a:rPr>
              <a:t>传输零点</a:t>
            </a:r>
            <a:r>
              <a:rPr lang="zh-CN" altLang="en-US" sz="2800" b="1" dirty="0">
                <a:latin typeface="+mj-lt"/>
              </a:rPr>
              <a:t>时，可将系统函数分解</a:t>
            </a:r>
            <a:endParaRPr lang="en-US" altLang="zh-CN" sz="2800" b="1" dirty="0">
              <a:latin typeface="+mj-lt"/>
            </a:endParaRPr>
          </a:p>
          <a:p>
            <a:pPr algn="just">
              <a:lnSpc>
                <a:spcPct val="110000"/>
              </a:lnSpc>
              <a:spcBef>
                <a:spcPct val="0"/>
              </a:spcBef>
              <a:buNone/>
            </a:pPr>
            <a:r>
              <a:rPr lang="zh-CN" altLang="en-US" sz="2800" b="1" dirty="0">
                <a:latin typeface="+mj-lt"/>
              </a:rPr>
              <a:t>为二阶实系数因子的形式：</a:t>
            </a:r>
          </a:p>
        </p:txBody>
      </p:sp>
      <p:graphicFrame>
        <p:nvGraphicFramePr>
          <p:cNvPr id="5" name="Object 4"/>
          <p:cNvGraphicFramePr>
            <a:graphicFrameLocks noChangeAspect="1"/>
          </p:cNvGraphicFramePr>
          <p:nvPr>
            <p:extLst>
              <p:ext uri="{D42A27DB-BD31-4B8C-83A1-F6EECF244321}">
                <p14:modId xmlns:p14="http://schemas.microsoft.com/office/powerpoint/2010/main" val="2725012848"/>
              </p:ext>
            </p:extLst>
          </p:nvPr>
        </p:nvGraphicFramePr>
        <p:xfrm>
          <a:off x="1325927" y="2492896"/>
          <a:ext cx="6674400" cy="1035936"/>
        </p:xfrm>
        <a:graphic>
          <a:graphicData uri="http://schemas.openxmlformats.org/presentationml/2006/ole">
            <mc:AlternateContent xmlns:mc="http://schemas.openxmlformats.org/markup-compatibility/2006">
              <mc:Choice xmlns:v="urn:schemas-microsoft-com:vml" Requires="v">
                <p:oleObj name="Equation" r:id="rId2" imgW="2781000" imgH="431640" progId="Equation.DSMT4">
                  <p:embed/>
                </p:oleObj>
              </mc:Choice>
              <mc:Fallback>
                <p:oleObj name="Equation" r:id="rId2" imgW="2781000" imgH="431640" progId="Equation.DSMT4">
                  <p:embed/>
                  <p:pic>
                    <p:nvPicPr>
                      <p:cNvPr id="46084" name="Object 4"/>
                      <p:cNvPicPr>
                        <a:picLocks noChangeAspect="1" noChangeArrowheads="1"/>
                      </p:cNvPicPr>
                      <p:nvPr/>
                    </p:nvPicPr>
                    <p:blipFill>
                      <a:blip r:embed="rId3"/>
                      <a:srcRect/>
                      <a:stretch>
                        <a:fillRect/>
                      </a:stretch>
                    </p:blipFill>
                    <p:spPr bwMode="auto">
                      <a:xfrm>
                        <a:off x="1325927" y="2492896"/>
                        <a:ext cx="6674400" cy="103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161106" y="3645024"/>
            <a:ext cx="88828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spcBef>
                <a:spcPct val="0"/>
              </a:spcBef>
              <a:buFontTx/>
              <a:buNone/>
            </a:pPr>
            <a:r>
              <a:rPr lang="zh-CN" altLang="en-US" sz="2800" dirty="0">
                <a:latin typeface="+mj-lt"/>
                <a:ea typeface="+mn-ea"/>
              </a:rPr>
              <a:t>于是可用二阶节</a:t>
            </a:r>
            <a:r>
              <a:rPr lang="zh-CN" altLang="en-US" sz="2800" dirty="0">
                <a:solidFill>
                  <a:srgbClr val="C00000"/>
                </a:solidFill>
                <a:latin typeface="+mj-lt"/>
                <a:ea typeface="+mn-ea"/>
              </a:rPr>
              <a:t>级联</a:t>
            </a:r>
            <a:r>
              <a:rPr lang="zh-CN" altLang="en-US" sz="2800" dirty="0">
                <a:latin typeface="+mj-lt"/>
                <a:ea typeface="+mn-ea"/>
              </a:rPr>
              <a:t>构成，每一个二阶节控制一对零点。</a:t>
            </a:r>
          </a:p>
        </p:txBody>
      </p:sp>
      <p:sp>
        <p:nvSpPr>
          <p:cNvPr id="8" name="Rectangle 4"/>
          <p:cNvSpPr>
            <a:spLocks noChangeArrowheads="1"/>
          </p:cNvSpPr>
          <p:nvPr/>
        </p:nvSpPr>
        <p:spPr bwMode="auto">
          <a:xfrm>
            <a:off x="2699792" y="6207695"/>
            <a:ext cx="3659188" cy="461665"/>
          </a:xfrm>
          <a:prstGeom prst="rect">
            <a:avLst/>
          </a:prstGeom>
          <a:noFill/>
          <a:ln w="9525">
            <a:noFill/>
            <a:miter lim="800000"/>
            <a:headEnd/>
            <a:tailEnd/>
          </a:ln>
        </p:spPr>
        <p:txBody>
          <a:bodyPr>
            <a:spAutoFit/>
          </a:bodyPr>
          <a:lstStyle/>
          <a:p>
            <a:pPr algn="l">
              <a:defRPr/>
            </a:pPr>
            <a:r>
              <a:rPr lang="zh-CN" altLang="en-US" sz="2400" b="1" dirty="0">
                <a:solidFill>
                  <a:schemeClr val="tx1">
                    <a:lumMod val="50000"/>
                  </a:schemeClr>
                </a:solidFill>
                <a:latin typeface="+mj-lt"/>
                <a:ea typeface="+mn-ea"/>
              </a:rPr>
              <a:t>图</a:t>
            </a:r>
            <a:r>
              <a:rPr lang="en-US" altLang="zh-CN" sz="2400" b="1" dirty="0">
                <a:solidFill>
                  <a:schemeClr val="tx1">
                    <a:lumMod val="50000"/>
                  </a:schemeClr>
                </a:solidFill>
                <a:latin typeface="+mj-lt"/>
                <a:ea typeface="+mn-ea"/>
              </a:rPr>
              <a:t>6.15   </a:t>
            </a:r>
            <a:r>
              <a:rPr lang="zh-CN" altLang="en-US" sz="2400" b="1" dirty="0">
                <a:solidFill>
                  <a:schemeClr val="tx1">
                    <a:lumMod val="50000"/>
                  </a:schemeClr>
                </a:solidFill>
                <a:latin typeface="+mj-lt"/>
                <a:ea typeface="+mn-ea"/>
              </a:rPr>
              <a:t>级联型结构</a:t>
            </a:r>
          </a:p>
        </p:txBody>
      </p:sp>
      <p:pic>
        <p:nvPicPr>
          <p:cNvPr id="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544" y="4365104"/>
            <a:ext cx="8415338" cy="149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17237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p:nvPr/>
        </p:nvSpPr>
        <p:spPr>
          <a:xfrm>
            <a:off x="4038600" y="4191000"/>
            <a:ext cx="184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endParaRPr lang="zh-CN" altLang="en-US" sz="2400" dirty="0"/>
          </a:p>
        </p:txBody>
      </p:sp>
      <p:sp>
        <p:nvSpPr>
          <p:cNvPr id="56323" name="Text Box 3"/>
          <p:cNvSpPr txBox="1"/>
          <p:nvPr/>
        </p:nvSpPr>
        <p:spPr>
          <a:xfrm>
            <a:off x="323850" y="476250"/>
            <a:ext cx="8496300" cy="955675"/>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r>
              <a:rPr lang="zh-CN" altLang="en-US" sz="3200" dirty="0"/>
              <a:t>例：用级联型结构实现传递函数</a:t>
            </a:r>
          </a:p>
          <a:p>
            <a:pPr marL="0" lvl="0" indent="0" eaLnBrk="1" hangingPunct="1">
              <a:spcBef>
                <a:spcPct val="0"/>
              </a:spcBef>
              <a:buNone/>
            </a:pPr>
            <a:endParaRPr lang="zh-CN" altLang="en-US" sz="2400" dirty="0"/>
          </a:p>
        </p:txBody>
      </p:sp>
      <p:graphicFrame>
        <p:nvGraphicFramePr>
          <p:cNvPr id="187396" name="Object 4"/>
          <p:cNvGraphicFramePr>
            <a:graphicFrameLocks noGrp="1" noChangeAspect="1"/>
          </p:cNvGraphicFramePr>
          <p:nvPr>
            <p:ph sz="half" idx="1"/>
          </p:nvPr>
        </p:nvGraphicFramePr>
        <p:xfrm>
          <a:off x="941388" y="2997200"/>
          <a:ext cx="6561137" cy="711200"/>
        </p:xfrm>
        <a:graphic>
          <a:graphicData uri="http://schemas.openxmlformats.org/presentationml/2006/ole">
            <mc:AlternateContent xmlns:mc="http://schemas.openxmlformats.org/markup-compatibility/2006">
              <mc:Choice xmlns:v="urn:schemas-microsoft-com:vml" Requires="v">
                <p:oleObj r:id="rId2" imgW="2108200" imgH="228600" progId="Equation.DSMT4">
                  <p:embed/>
                </p:oleObj>
              </mc:Choice>
              <mc:Fallback>
                <p:oleObj r:id="rId2" imgW="2108200" imgH="228600" progId="Equation.DSMT4">
                  <p:embed/>
                  <p:pic>
                    <p:nvPicPr>
                      <p:cNvPr id="187396" name="Object 4"/>
                      <p:cNvPicPr/>
                      <p:nvPr/>
                    </p:nvPicPr>
                    <p:blipFill>
                      <a:blip r:embed="rId3"/>
                      <a:srcRect/>
                      <a:stretch>
                        <a:fillRect/>
                      </a:stretch>
                    </p:blipFill>
                    <p:spPr>
                      <a:xfrm>
                        <a:off x="941388" y="2997200"/>
                        <a:ext cx="6561137" cy="711200"/>
                      </a:xfrm>
                      <a:prstGeom prst="rect">
                        <a:avLst/>
                      </a:prstGeom>
                      <a:noFill/>
                      <a:ln w="38100">
                        <a:miter/>
                      </a:ln>
                    </p:spPr>
                  </p:pic>
                </p:oleObj>
              </mc:Fallback>
            </mc:AlternateContent>
          </a:graphicData>
        </a:graphic>
      </p:graphicFrame>
      <p:graphicFrame>
        <p:nvGraphicFramePr>
          <p:cNvPr id="56325" name="Object 5"/>
          <p:cNvGraphicFramePr>
            <a:graphicFrameLocks noGrp="1" noChangeAspect="1"/>
          </p:cNvGraphicFramePr>
          <p:nvPr>
            <p:ph sz="half" idx="2"/>
          </p:nvPr>
        </p:nvGraphicFramePr>
        <p:xfrm>
          <a:off x="887413" y="1409700"/>
          <a:ext cx="6115050" cy="723900"/>
        </p:xfrm>
        <a:graphic>
          <a:graphicData uri="http://schemas.openxmlformats.org/presentationml/2006/ole">
            <mc:AlternateContent xmlns:mc="http://schemas.openxmlformats.org/markup-compatibility/2006">
              <mc:Choice xmlns:v="urn:schemas-microsoft-com:vml" Requires="v">
                <p:oleObj r:id="rId4" imgW="1930400" imgH="228600" progId="Equation.DSMT4">
                  <p:embed/>
                </p:oleObj>
              </mc:Choice>
              <mc:Fallback>
                <p:oleObj r:id="rId4" imgW="1930400" imgH="228600" progId="Equation.DSMT4">
                  <p:embed/>
                  <p:pic>
                    <p:nvPicPr>
                      <p:cNvPr id="56325" name="Object 5"/>
                      <p:cNvPicPr/>
                      <p:nvPr/>
                    </p:nvPicPr>
                    <p:blipFill>
                      <a:blip r:embed="rId5"/>
                      <a:srcRect/>
                      <a:stretch>
                        <a:fillRect/>
                      </a:stretch>
                    </p:blipFill>
                    <p:spPr>
                      <a:xfrm>
                        <a:off x="887413" y="1409700"/>
                        <a:ext cx="6115050" cy="72390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7396"/>
                                        </p:tgtEl>
                                        <p:attrNameLst>
                                          <p:attrName>style.visibility</p:attrName>
                                        </p:attrNameLst>
                                      </p:cBhvr>
                                      <p:to>
                                        <p:strVal val="visible"/>
                                      </p:to>
                                    </p:set>
                                    <p:animEffect transition="in" filter="blinds(horizontal)">
                                      <p:cBhvr>
                                        <p:cTn id="7" dur="500"/>
                                        <p:tgtEl>
                                          <p:spTgt spid="187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p:nvPr/>
        </p:nvSpPr>
        <p:spPr>
          <a:xfrm>
            <a:off x="4038600" y="4191000"/>
            <a:ext cx="184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endParaRPr lang="zh-CN" altLang="en-US" sz="2400" b="0" dirty="0">
              <a:latin typeface="Times New Roman" panose="02020603050405020304" pitchFamily="18" charset="0"/>
              <a:ea typeface="宋体" panose="02010600030101010101" pitchFamily="2" charset="-122"/>
            </a:endParaRPr>
          </a:p>
        </p:txBody>
      </p:sp>
      <p:sp>
        <p:nvSpPr>
          <p:cNvPr id="57347" name="Text Box 3"/>
          <p:cNvSpPr txBox="1"/>
          <p:nvPr/>
        </p:nvSpPr>
        <p:spPr>
          <a:xfrm>
            <a:off x="304800" y="765175"/>
            <a:ext cx="182563" cy="463550"/>
          </a:xfrm>
          <a:prstGeom prst="rect">
            <a:avLst/>
          </a:prstGeom>
          <a:noFill/>
          <a:ln w="9525">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endParaRPr lang="zh-CN" altLang="en-US" sz="2400" dirty="0">
              <a:latin typeface="Times New Roman" panose="02020603050405020304" pitchFamily="18" charset="0"/>
              <a:ea typeface="宋体" panose="02010600030101010101" pitchFamily="2" charset="-122"/>
            </a:endParaRPr>
          </a:p>
        </p:txBody>
      </p:sp>
      <p:graphicFrame>
        <p:nvGraphicFramePr>
          <p:cNvPr id="57348" name="Object 4"/>
          <p:cNvGraphicFramePr>
            <a:graphicFrameLocks noGrp="1" noChangeAspect="1"/>
          </p:cNvGraphicFramePr>
          <p:nvPr>
            <p:ph sz="half" idx="2"/>
          </p:nvPr>
        </p:nvGraphicFramePr>
        <p:xfrm>
          <a:off x="1042988" y="434975"/>
          <a:ext cx="5616575" cy="665163"/>
        </p:xfrm>
        <a:graphic>
          <a:graphicData uri="http://schemas.openxmlformats.org/presentationml/2006/ole">
            <mc:AlternateContent xmlns:mc="http://schemas.openxmlformats.org/markup-compatibility/2006">
              <mc:Choice xmlns:v="urn:schemas-microsoft-com:vml" Requires="v">
                <p:oleObj r:id="rId2" imgW="1930400" imgH="228600" progId="Equation.DSMT4">
                  <p:embed/>
                </p:oleObj>
              </mc:Choice>
              <mc:Fallback>
                <p:oleObj r:id="rId2" imgW="1930400" imgH="228600" progId="Equation.DSMT4">
                  <p:embed/>
                  <p:pic>
                    <p:nvPicPr>
                      <p:cNvPr id="57348" name="Object 4"/>
                      <p:cNvPicPr/>
                      <p:nvPr/>
                    </p:nvPicPr>
                    <p:blipFill>
                      <a:blip r:embed="rId3"/>
                      <a:srcRect/>
                      <a:stretch>
                        <a:fillRect/>
                      </a:stretch>
                    </p:blipFill>
                    <p:spPr>
                      <a:xfrm>
                        <a:off x="1042988" y="434975"/>
                        <a:ext cx="5616575" cy="665163"/>
                      </a:xfrm>
                      <a:prstGeom prst="rect">
                        <a:avLst/>
                      </a:prstGeom>
                      <a:noFill/>
                      <a:ln w="38100">
                        <a:miter/>
                      </a:ln>
                    </p:spPr>
                  </p:pic>
                </p:oleObj>
              </mc:Fallback>
            </mc:AlternateContent>
          </a:graphicData>
        </a:graphic>
      </p:graphicFrame>
      <p:sp>
        <p:nvSpPr>
          <p:cNvPr id="57349" name="Text Box 5"/>
          <p:cNvSpPr txBox="1"/>
          <p:nvPr/>
        </p:nvSpPr>
        <p:spPr>
          <a:xfrm>
            <a:off x="1547813" y="1196975"/>
            <a:ext cx="6192837" cy="525463"/>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r>
              <a:rPr lang="en-US" altLang="zh-CN" sz="2800" dirty="0">
                <a:latin typeface="Times New Roman" panose="02020603050405020304" pitchFamily="18" charset="0"/>
                <a:ea typeface="宋体" panose="02010600030101010101" pitchFamily="2" charset="-122"/>
              </a:rPr>
              <a:t>h(0)=4   h(1)=10  h(2)=10  h(3)=4</a:t>
            </a:r>
          </a:p>
        </p:txBody>
      </p:sp>
      <p:sp>
        <p:nvSpPr>
          <p:cNvPr id="57350" name="Text Box 6"/>
          <p:cNvSpPr txBox="1"/>
          <p:nvPr/>
        </p:nvSpPr>
        <p:spPr>
          <a:xfrm>
            <a:off x="539750" y="2133600"/>
            <a:ext cx="7485063" cy="525463"/>
          </a:xfrm>
          <a:prstGeom prst="rect">
            <a:avLst/>
          </a:prstGeom>
          <a:noFill/>
          <a:ln w="9525">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r>
              <a:rPr lang="en-US" altLang="zh-CN" sz="2800" dirty="0">
                <a:latin typeface="Times New Roman" panose="02020603050405020304" pitchFamily="18" charset="0"/>
                <a:ea typeface="宋体" panose="02010600030101010101" pitchFamily="2" charset="-122"/>
              </a:rPr>
              <a:t>y(n)=h(0)x(n)+h(1)x(n-1)+h(2)x(n-2)+h(3)x(n-3</a:t>
            </a:r>
            <a:r>
              <a:rPr lang="en-US" altLang="zh-CN" sz="2800" b="0" dirty="0">
                <a:latin typeface="Times New Roman" panose="02020603050405020304" pitchFamily="18" charset="0"/>
                <a:ea typeface="宋体" panose="02010600030101010101" pitchFamily="2" charset="-122"/>
              </a:rPr>
              <a:t>)</a:t>
            </a:r>
          </a:p>
        </p:txBody>
      </p:sp>
      <p:sp>
        <p:nvSpPr>
          <p:cNvPr id="57351" name="Text Box 7"/>
          <p:cNvSpPr txBox="1"/>
          <p:nvPr/>
        </p:nvSpPr>
        <p:spPr>
          <a:xfrm>
            <a:off x="1619250" y="2852738"/>
            <a:ext cx="4967288" cy="519112"/>
          </a:xfrm>
          <a:prstGeom prst="rect">
            <a:avLst/>
          </a:prstGeom>
          <a:noFill/>
          <a:ln w="9525">
            <a:noFill/>
          </a:ln>
        </p:spPr>
        <p:txBody>
          <a:bodyPr wrap="none" lIns="90000" tIns="46800" rIns="90000" bIns="46800"/>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r>
              <a:rPr lang="zh-CN" altLang="en-US" sz="2800" dirty="0">
                <a:solidFill>
                  <a:schemeClr val="tx2"/>
                </a:solidFill>
                <a:latin typeface="Times New Roman" panose="02020603050405020304" pitchFamily="18" charset="0"/>
                <a:ea typeface="宋体" panose="02010600030101010101" pitchFamily="2" charset="-122"/>
              </a:rPr>
              <a:t>思考：如何减少乘法次数？</a:t>
            </a:r>
          </a:p>
        </p:txBody>
      </p:sp>
      <p:sp>
        <p:nvSpPr>
          <p:cNvPr id="188424" name="Text Box 8"/>
          <p:cNvSpPr txBox="1"/>
          <p:nvPr/>
        </p:nvSpPr>
        <p:spPr>
          <a:xfrm>
            <a:off x="827088" y="3789363"/>
            <a:ext cx="6724650" cy="955675"/>
          </a:xfrm>
          <a:prstGeom prst="rect">
            <a:avLst/>
          </a:prstGeom>
          <a:noFill/>
          <a:ln w="9525">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3200" b="1">
                <a:solidFill>
                  <a:schemeClr val="tx1"/>
                </a:solidFill>
                <a:latin typeface="+mn-lt"/>
                <a:ea typeface="+mn-ea"/>
              </a:defRPr>
            </a:lvl2pPr>
            <a:lvl3pPr marL="1143000" indent="-228600" algn="l" rtl="0" eaLnBrk="0" fontAlgn="base" hangingPunct="0">
              <a:spcBef>
                <a:spcPct val="20000"/>
              </a:spcBef>
              <a:spcAft>
                <a:spcPct val="0"/>
              </a:spcAft>
              <a:buChar char="•"/>
              <a:defRPr kumimoji="1" sz="2800" b="1">
                <a:solidFill>
                  <a:schemeClr val="tx1"/>
                </a:solidFill>
                <a:latin typeface="+mn-lt"/>
                <a:ea typeface="+mn-ea"/>
              </a:defRPr>
            </a:lvl3pPr>
            <a:lvl4pPr marL="1600200" indent="-228600" algn="l" rtl="0" eaLnBrk="0" fontAlgn="base" hangingPunct="0">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stStyle>
          <a:p>
            <a:pPr marL="0" lvl="0" indent="0" eaLnBrk="1" hangingPunct="1">
              <a:spcBef>
                <a:spcPct val="0"/>
              </a:spcBef>
              <a:buNone/>
            </a:pPr>
            <a:r>
              <a:rPr lang="en-US" altLang="zh-CN" sz="2800" dirty="0">
                <a:latin typeface="Times New Roman" panose="02020603050405020304" pitchFamily="18" charset="0"/>
                <a:ea typeface="宋体" panose="02010600030101010101" pitchFamily="2" charset="-122"/>
              </a:rPr>
              <a:t>y(n)=h(0)[x(n)+x(n-3)]+h(1)[x(n-1)+x(n-2)]</a:t>
            </a:r>
          </a:p>
          <a:p>
            <a:pPr marL="0" lvl="0" indent="0" eaLnBrk="1" hangingPunct="1">
              <a:spcBef>
                <a:spcPct val="0"/>
              </a:spcBef>
              <a:buNone/>
            </a:pP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8424"/>
                                        </p:tgtEl>
                                        <p:attrNameLst>
                                          <p:attrName>style.visibility</p:attrName>
                                        </p:attrNameLst>
                                      </p:cBhvr>
                                      <p:to>
                                        <p:strVal val="visible"/>
                                      </p:to>
                                    </p:set>
                                    <p:animEffect transition="in" filter="fade">
                                      <p:cBhvr>
                                        <p:cTn id="7" dur="1000"/>
                                        <p:tgtEl>
                                          <p:spTgt spid="188424"/>
                                        </p:tgtEl>
                                      </p:cBhvr>
                                    </p:animEffect>
                                    <p:anim calcmode="lin" valueType="num">
                                      <p:cBhvr>
                                        <p:cTn id="8" dur="1000" fill="hold"/>
                                        <p:tgtEl>
                                          <p:spTgt spid="188424"/>
                                        </p:tgtEl>
                                        <p:attrNameLst>
                                          <p:attrName>ppt_x</p:attrName>
                                        </p:attrNameLst>
                                      </p:cBhvr>
                                      <p:tavLst>
                                        <p:tav tm="0">
                                          <p:val>
                                            <p:strVal val="#ppt_x"/>
                                          </p:val>
                                        </p:tav>
                                        <p:tav tm="100000">
                                          <p:val>
                                            <p:strVal val="#ppt_x"/>
                                          </p:val>
                                        </p:tav>
                                      </p:tavLst>
                                    </p:anim>
                                    <p:anim calcmode="lin" valueType="num">
                                      <p:cBhvr>
                                        <p:cTn id="9" dur="1000" fill="hold"/>
                                        <p:tgtEl>
                                          <p:spTgt spid="1884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idx="4294967295"/>
          </p:nvPr>
        </p:nvSpPr>
        <p:spPr>
          <a:xfrm>
            <a:off x="611560" y="895018"/>
            <a:ext cx="7537450" cy="604837"/>
          </a:xfrm>
        </p:spPr>
        <p:txBody>
          <a:bodyPr>
            <a:normAutofit/>
          </a:bodyPr>
          <a:lstStyle/>
          <a:p>
            <a:pPr eaLnBrk="1" hangingPunct="1"/>
            <a:r>
              <a:rPr lang="en-US" altLang="zh-CN" sz="3000" b="1" i="0" dirty="0">
                <a:solidFill>
                  <a:srgbClr val="FF0000"/>
                </a:solidFill>
                <a:ea typeface="+mn-ea"/>
                <a:cs typeface="Times New Roman" panose="02020603050405020304" pitchFamily="18" charset="0"/>
              </a:rPr>
              <a:t>(3)</a:t>
            </a:r>
            <a:r>
              <a:rPr lang="zh-CN" altLang="en-US" sz="3000" b="1" i="0" dirty="0">
                <a:solidFill>
                  <a:srgbClr val="FF0000"/>
                </a:solidFill>
                <a:ea typeface="+mn-ea"/>
                <a:cs typeface="Times New Roman" panose="02020603050405020304" pitchFamily="18" charset="0"/>
              </a:rPr>
              <a:t>线性相位型</a:t>
            </a:r>
          </a:p>
        </p:txBody>
      </p:sp>
      <p:sp>
        <p:nvSpPr>
          <p:cNvPr id="4" name="Rectangle 3"/>
          <p:cNvSpPr>
            <a:spLocks noChangeArrowheads="1"/>
          </p:cNvSpPr>
          <p:nvPr/>
        </p:nvSpPr>
        <p:spPr bwMode="auto">
          <a:xfrm>
            <a:off x="251520" y="1594581"/>
            <a:ext cx="8686800" cy="281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38138">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lnSpc>
                <a:spcPct val="120000"/>
              </a:lnSpc>
              <a:spcBef>
                <a:spcPct val="0"/>
              </a:spcBef>
              <a:spcAft>
                <a:spcPts val="0"/>
              </a:spcAft>
              <a:buFontTx/>
              <a:buNone/>
            </a:pPr>
            <a:r>
              <a:rPr lang="en-US" altLang="zh-CN" sz="3000" dirty="0">
                <a:latin typeface="+mj-lt"/>
                <a:ea typeface="+mn-ea"/>
                <a:cs typeface="Times New Roman" panose="02020603050405020304" pitchFamily="18" charset="0"/>
              </a:rPr>
              <a:t>FIR</a:t>
            </a:r>
            <a:r>
              <a:rPr lang="zh-CN" altLang="en-US" sz="3000" dirty="0">
                <a:latin typeface="+mj-lt"/>
                <a:ea typeface="+mn-ea"/>
                <a:cs typeface="Times New Roman" panose="02020603050405020304" pitchFamily="18" charset="0"/>
              </a:rPr>
              <a:t>的重要特点是可设计成具有</a:t>
            </a:r>
            <a:r>
              <a:rPr lang="zh-CN" altLang="en-US" sz="3000" dirty="0">
                <a:solidFill>
                  <a:srgbClr val="C00000"/>
                </a:solidFill>
                <a:latin typeface="+mj-lt"/>
                <a:ea typeface="+mn-ea"/>
                <a:cs typeface="Times New Roman" panose="02020603050405020304" pitchFamily="18" charset="0"/>
              </a:rPr>
              <a:t>严格线性相位</a:t>
            </a:r>
            <a:r>
              <a:rPr lang="zh-CN" altLang="en-US" sz="3000" dirty="0">
                <a:latin typeface="+mj-lt"/>
                <a:ea typeface="+mn-ea"/>
                <a:cs typeface="Times New Roman" panose="02020603050405020304" pitchFamily="18" charset="0"/>
              </a:rPr>
              <a:t>的</a:t>
            </a:r>
            <a:endParaRPr lang="en-US" altLang="zh-CN" sz="3000" dirty="0">
              <a:latin typeface="+mj-lt"/>
              <a:ea typeface="+mn-ea"/>
              <a:cs typeface="Times New Roman" panose="02020603050405020304" pitchFamily="18" charset="0"/>
            </a:endParaRPr>
          </a:p>
          <a:p>
            <a:pPr algn="just" eaLnBrk="1" hangingPunct="1">
              <a:lnSpc>
                <a:spcPct val="110000"/>
              </a:lnSpc>
              <a:spcBef>
                <a:spcPct val="0"/>
              </a:spcBef>
              <a:spcAft>
                <a:spcPts val="0"/>
              </a:spcAft>
              <a:buFontTx/>
              <a:buNone/>
            </a:pPr>
            <a:r>
              <a:rPr lang="zh-CN" altLang="en-US" sz="3000" dirty="0">
                <a:latin typeface="+mj-lt"/>
                <a:ea typeface="+mn-ea"/>
                <a:cs typeface="Times New Roman" panose="02020603050405020304" pitchFamily="18" charset="0"/>
              </a:rPr>
              <a:t>滤波器，此时 </a:t>
            </a:r>
            <a:r>
              <a:rPr lang="en-US" altLang="zh-CN" sz="3000" i="1" dirty="0">
                <a:latin typeface="+mj-lt"/>
                <a:ea typeface="+mn-ea"/>
                <a:cs typeface="Times New Roman" panose="02020603050405020304" pitchFamily="18" charset="0"/>
              </a:rPr>
              <a:t>h</a:t>
            </a:r>
            <a:r>
              <a:rPr lang="en-US" altLang="zh-CN" sz="3000" dirty="0">
                <a:latin typeface="+mj-lt"/>
                <a:ea typeface="+mn-ea"/>
                <a:cs typeface="Times New Roman" panose="02020603050405020304" pitchFamily="18" charset="0"/>
              </a:rPr>
              <a:t>(</a:t>
            </a:r>
            <a:r>
              <a:rPr lang="en-US" altLang="zh-CN" sz="3000" i="1" dirty="0">
                <a:latin typeface="+mj-lt"/>
                <a:ea typeface="+mn-ea"/>
                <a:cs typeface="Times New Roman" panose="02020603050405020304" pitchFamily="18" charset="0"/>
              </a:rPr>
              <a:t>n</a:t>
            </a:r>
            <a:r>
              <a:rPr lang="en-US" altLang="zh-CN" sz="3000" dirty="0">
                <a:latin typeface="+mj-lt"/>
                <a:ea typeface="+mn-ea"/>
                <a:cs typeface="Times New Roman" panose="02020603050405020304" pitchFamily="18" charset="0"/>
              </a:rPr>
              <a:t>) </a:t>
            </a:r>
            <a:r>
              <a:rPr lang="zh-CN" altLang="en-US" sz="3000" dirty="0">
                <a:latin typeface="+mj-lt"/>
                <a:ea typeface="+mn-ea"/>
                <a:cs typeface="Times New Roman" panose="02020603050405020304" pitchFamily="18" charset="0"/>
              </a:rPr>
              <a:t>满足偶对称或奇对称条件。</a:t>
            </a:r>
          </a:p>
          <a:p>
            <a:pPr algn="just">
              <a:lnSpc>
                <a:spcPct val="120000"/>
              </a:lnSpc>
              <a:spcBef>
                <a:spcPct val="0"/>
              </a:spcBef>
              <a:buFontTx/>
              <a:buNone/>
            </a:pPr>
            <a:r>
              <a:rPr lang="zh-CN" altLang="en-US" sz="3000" dirty="0">
                <a:solidFill>
                  <a:srgbClr val="0000CC"/>
                </a:solidFill>
                <a:latin typeface="+mj-lt"/>
                <a:ea typeface="+mn-ea"/>
                <a:cs typeface="Times New Roman" panose="02020603050405020304" pitchFamily="18" charset="0"/>
              </a:rPr>
              <a:t>以</a:t>
            </a:r>
            <a:r>
              <a:rPr lang="en-US" altLang="zh-CN" sz="3000" i="1" dirty="0">
                <a:solidFill>
                  <a:srgbClr val="0000CC"/>
                </a:solidFill>
                <a:latin typeface="+mj-lt"/>
                <a:ea typeface="+mn-ea"/>
                <a:cs typeface="Times New Roman" panose="02020603050405020304" pitchFamily="18" charset="0"/>
              </a:rPr>
              <a:t>h</a:t>
            </a:r>
            <a:r>
              <a:rPr lang="en-US" altLang="zh-CN" sz="3000" dirty="0">
                <a:solidFill>
                  <a:srgbClr val="0000CC"/>
                </a:solidFill>
                <a:latin typeface="+mj-lt"/>
                <a:ea typeface="+mn-ea"/>
                <a:cs typeface="Times New Roman" panose="02020603050405020304" pitchFamily="18" charset="0"/>
              </a:rPr>
              <a:t>(</a:t>
            </a:r>
            <a:r>
              <a:rPr lang="en-US" altLang="zh-CN" sz="3000" i="1" dirty="0">
                <a:solidFill>
                  <a:srgbClr val="0000CC"/>
                </a:solidFill>
                <a:latin typeface="+mj-lt"/>
                <a:ea typeface="+mn-ea"/>
                <a:cs typeface="Times New Roman" panose="02020603050405020304" pitchFamily="18" charset="0"/>
              </a:rPr>
              <a:t>n</a:t>
            </a:r>
            <a:r>
              <a:rPr lang="en-US" altLang="zh-CN" sz="3000" dirty="0">
                <a:solidFill>
                  <a:srgbClr val="0000CC"/>
                </a:solidFill>
                <a:latin typeface="+mj-lt"/>
                <a:ea typeface="+mn-ea"/>
                <a:cs typeface="Times New Roman" panose="02020603050405020304" pitchFamily="18" charset="0"/>
              </a:rPr>
              <a:t>)</a:t>
            </a:r>
            <a:r>
              <a:rPr lang="zh-CN" altLang="en-US" sz="3000" dirty="0">
                <a:solidFill>
                  <a:srgbClr val="0000CC"/>
                </a:solidFill>
                <a:latin typeface="+mj-lt"/>
                <a:ea typeface="+mn-ea"/>
                <a:cs typeface="Times New Roman" panose="02020603050405020304" pitchFamily="18" charset="0"/>
              </a:rPr>
              <a:t>偶对称为例</a:t>
            </a:r>
          </a:p>
          <a:p>
            <a:pPr algn="ctr">
              <a:lnSpc>
                <a:spcPct val="120000"/>
              </a:lnSpc>
              <a:spcBef>
                <a:spcPct val="0"/>
              </a:spcBef>
              <a:buFontTx/>
              <a:buNone/>
            </a:pPr>
            <a:r>
              <a:rPr lang="en-US" altLang="zh-CN" sz="3000" i="1" dirty="0">
                <a:solidFill>
                  <a:srgbClr val="0000CC"/>
                </a:solidFill>
                <a:latin typeface="+mj-lt"/>
                <a:ea typeface="+mn-ea"/>
                <a:cs typeface="Times New Roman" panose="02020603050405020304" pitchFamily="18" charset="0"/>
              </a:rPr>
              <a:t>h</a:t>
            </a:r>
            <a:r>
              <a:rPr lang="en-US" altLang="zh-CN" sz="3000" dirty="0">
                <a:solidFill>
                  <a:srgbClr val="0000CC"/>
                </a:solidFill>
                <a:latin typeface="+mj-lt"/>
                <a:ea typeface="+mn-ea"/>
                <a:cs typeface="Times New Roman" panose="02020603050405020304" pitchFamily="18" charset="0"/>
              </a:rPr>
              <a:t>(</a:t>
            </a:r>
            <a:r>
              <a:rPr lang="en-US" altLang="zh-CN" sz="3000" i="1" dirty="0">
                <a:solidFill>
                  <a:srgbClr val="0000CC"/>
                </a:solidFill>
                <a:latin typeface="+mj-lt"/>
                <a:ea typeface="+mn-ea"/>
                <a:cs typeface="Times New Roman" panose="02020603050405020304" pitchFamily="18" charset="0"/>
              </a:rPr>
              <a:t>n</a:t>
            </a:r>
            <a:r>
              <a:rPr lang="en-US" altLang="zh-CN" sz="3000" dirty="0">
                <a:solidFill>
                  <a:srgbClr val="0000CC"/>
                </a:solidFill>
                <a:latin typeface="+mj-lt"/>
                <a:ea typeface="+mn-ea"/>
                <a:cs typeface="Times New Roman" panose="02020603050405020304" pitchFamily="18" charset="0"/>
              </a:rPr>
              <a:t>)=</a:t>
            </a:r>
            <a:r>
              <a:rPr lang="en-US" altLang="zh-CN" sz="3000" i="1" dirty="0">
                <a:solidFill>
                  <a:srgbClr val="0000CC"/>
                </a:solidFill>
                <a:latin typeface="+mj-lt"/>
                <a:ea typeface="+mn-ea"/>
                <a:cs typeface="Times New Roman" panose="02020603050405020304" pitchFamily="18" charset="0"/>
              </a:rPr>
              <a:t>h</a:t>
            </a:r>
            <a:r>
              <a:rPr lang="en-US" altLang="zh-CN" sz="3000" dirty="0">
                <a:solidFill>
                  <a:srgbClr val="0000CC"/>
                </a:solidFill>
                <a:latin typeface="+mj-lt"/>
                <a:ea typeface="+mn-ea"/>
                <a:cs typeface="Times New Roman" panose="02020603050405020304" pitchFamily="18" charset="0"/>
              </a:rPr>
              <a:t>(</a:t>
            </a:r>
            <a:r>
              <a:rPr lang="en-US" altLang="zh-CN" sz="3000" i="1" dirty="0">
                <a:solidFill>
                  <a:srgbClr val="0000CC"/>
                </a:solidFill>
                <a:latin typeface="+mj-lt"/>
                <a:ea typeface="+mn-ea"/>
                <a:cs typeface="Times New Roman" panose="02020603050405020304" pitchFamily="18" charset="0"/>
              </a:rPr>
              <a:t>N</a:t>
            </a:r>
            <a:r>
              <a:rPr lang="en-US" altLang="zh-CN" sz="3000" dirty="0">
                <a:solidFill>
                  <a:srgbClr val="0000CC"/>
                </a:solidFill>
                <a:latin typeface="+mj-lt"/>
                <a:ea typeface="+mn-ea"/>
                <a:cs typeface="Times New Roman" panose="02020603050405020304" pitchFamily="18" charset="0"/>
              </a:rPr>
              <a:t>-1-</a:t>
            </a:r>
            <a:r>
              <a:rPr lang="en-US" altLang="zh-CN" sz="3000" i="1" dirty="0">
                <a:solidFill>
                  <a:srgbClr val="0000CC"/>
                </a:solidFill>
                <a:latin typeface="+mj-lt"/>
                <a:ea typeface="+mn-ea"/>
                <a:cs typeface="Times New Roman" panose="02020603050405020304" pitchFamily="18" charset="0"/>
              </a:rPr>
              <a:t>n</a:t>
            </a:r>
            <a:r>
              <a:rPr lang="en-US" altLang="zh-CN" sz="3000" dirty="0">
                <a:solidFill>
                  <a:srgbClr val="0000CC"/>
                </a:solidFill>
                <a:latin typeface="+mj-lt"/>
                <a:ea typeface="+mn-ea"/>
                <a:cs typeface="Times New Roman" panose="02020603050405020304" pitchFamily="18" charset="0"/>
              </a:rPr>
              <a:t>)</a:t>
            </a:r>
          </a:p>
          <a:p>
            <a:pPr algn="just">
              <a:lnSpc>
                <a:spcPct val="120000"/>
              </a:lnSpc>
              <a:spcBef>
                <a:spcPct val="0"/>
              </a:spcBef>
              <a:buFontTx/>
              <a:buNone/>
            </a:pPr>
            <a:r>
              <a:rPr lang="zh-CN" altLang="en-US" sz="3000" dirty="0">
                <a:latin typeface="+mj-lt"/>
                <a:ea typeface="+mn-ea"/>
                <a:cs typeface="Times New Roman" panose="02020603050405020304" pitchFamily="18" charset="0"/>
              </a:rPr>
              <a:t>长度</a:t>
            </a:r>
            <a:r>
              <a:rPr lang="en-US" altLang="zh-CN" sz="3000" i="1" dirty="0">
                <a:latin typeface="+mj-lt"/>
                <a:ea typeface="+mn-ea"/>
                <a:cs typeface="Times New Roman" panose="02020603050405020304" pitchFamily="18" charset="0"/>
              </a:rPr>
              <a:t>N</a:t>
            </a:r>
            <a:r>
              <a:rPr lang="zh-CN" altLang="en-US" sz="3000" dirty="0">
                <a:latin typeface="+mj-lt"/>
                <a:ea typeface="+mn-ea"/>
                <a:cs typeface="Times New Roman" panose="02020603050405020304" pitchFamily="18" charset="0"/>
              </a:rPr>
              <a:t>为偶数</a:t>
            </a:r>
          </a:p>
        </p:txBody>
      </p:sp>
      <p:graphicFrame>
        <p:nvGraphicFramePr>
          <p:cNvPr id="5" name="Object 4"/>
          <p:cNvGraphicFramePr>
            <a:graphicFrameLocks noChangeAspect="1"/>
          </p:cNvGraphicFramePr>
          <p:nvPr>
            <p:extLst>
              <p:ext uri="{D42A27DB-BD31-4B8C-83A1-F6EECF244321}">
                <p14:modId xmlns:p14="http://schemas.microsoft.com/office/powerpoint/2010/main" val="1847765444"/>
              </p:ext>
            </p:extLst>
          </p:nvPr>
        </p:nvGraphicFramePr>
        <p:xfrm>
          <a:off x="2195736" y="4293096"/>
          <a:ext cx="4691882" cy="1310071"/>
        </p:xfrm>
        <a:graphic>
          <a:graphicData uri="http://schemas.openxmlformats.org/presentationml/2006/ole">
            <mc:AlternateContent xmlns:mc="http://schemas.openxmlformats.org/markup-compatibility/2006">
              <mc:Choice xmlns:v="urn:schemas-microsoft-com:vml" Requires="v">
                <p:oleObj name="Equation" r:id="rId2" imgW="1954951" imgH="545863" progId="Equation.DSMT4">
                  <p:embed/>
                </p:oleObj>
              </mc:Choice>
              <mc:Fallback>
                <p:oleObj name="Equation" r:id="rId2" imgW="1954951" imgH="545863" progId="Equation.DSMT4">
                  <p:embed/>
                  <p:pic>
                    <p:nvPicPr>
                      <p:cNvPr id="5837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4293096"/>
                        <a:ext cx="4691882" cy="1310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821088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468313" y="5157788"/>
            <a:ext cx="8458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dirty="0">
                <a:latin typeface="+mj-lt"/>
                <a:ea typeface="+mj-ea"/>
                <a:cs typeface="Times New Roman" panose="02020603050405020304" pitchFamily="18" charset="0"/>
              </a:rPr>
              <a:t>        </a:t>
            </a:r>
            <a:r>
              <a:rPr lang="zh-CN" altLang="en-US" sz="2800" b="1" dirty="0">
                <a:solidFill>
                  <a:srgbClr val="000000"/>
                </a:solidFill>
                <a:latin typeface="+mj-lt"/>
                <a:ea typeface="+mj-ea"/>
                <a:cs typeface="Times New Roman" panose="02020603050405020304" pitchFamily="18" charset="0"/>
              </a:rPr>
              <a:t>图 </a:t>
            </a:r>
            <a:r>
              <a:rPr lang="en-US" altLang="zh-CN" sz="2800" b="1" dirty="0">
                <a:solidFill>
                  <a:srgbClr val="000000"/>
                </a:solidFill>
                <a:latin typeface="+mj-lt"/>
                <a:ea typeface="+mj-ea"/>
                <a:cs typeface="Times New Roman" panose="02020603050405020304" pitchFamily="18" charset="0"/>
              </a:rPr>
              <a:t>6.16    </a:t>
            </a:r>
            <a:r>
              <a:rPr lang="en-US" altLang="zh-CN" sz="2800" b="1" i="1" dirty="0">
                <a:solidFill>
                  <a:srgbClr val="000000"/>
                </a:solidFill>
                <a:latin typeface="+mj-lt"/>
                <a:ea typeface="+mj-ea"/>
                <a:cs typeface="Times New Roman" panose="02020603050405020304" pitchFamily="18" charset="0"/>
              </a:rPr>
              <a:t>N</a:t>
            </a:r>
            <a:r>
              <a:rPr lang="zh-CN" altLang="en-US" sz="2800" b="1" dirty="0">
                <a:solidFill>
                  <a:srgbClr val="000000"/>
                </a:solidFill>
                <a:latin typeface="+mj-lt"/>
                <a:ea typeface="+mj-ea"/>
                <a:cs typeface="Times New Roman" panose="02020603050405020304" pitchFamily="18" charset="0"/>
              </a:rPr>
              <a:t>为偶数的线性相位</a:t>
            </a:r>
            <a:r>
              <a:rPr lang="en-US" altLang="zh-CN" sz="2800" b="1" dirty="0">
                <a:solidFill>
                  <a:srgbClr val="000000"/>
                </a:solidFill>
                <a:latin typeface="+mj-lt"/>
                <a:ea typeface="+mj-ea"/>
                <a:cs typeface="Times New Roman" panose="02020603050405020304" pitchFamily="18" charset="0"/>
              </a:rPr>
              <a:t>FIR</a:t>
            </a:r>
            <a:r>
              <a:rPr lang="zh-CN" altLang="en-US" sz="2800" b="1" dirty="0">
                <a:solidFill>
                  <a:srgbClr val="000000"/>
                </a:solidFill>
                <a:latin typeface="+mj-lt"/>
                <a:ea typeface="+mj-ea"/>
                <a:cs typeface="Times New Roman" panose="02020603050405020304" pitchFamily="18" charset="0"/>
              </a:rPr>
              <a:t>滤波器结构</a:t>
            </a:r>
            <a:r>
              <a:rPr lang="zh-CN" altLang="en-US" sz="2800" b="1" dirty="0">
                <a:latin typeface="+mj-lt"/>
                <a:ea typeface="+mj-ea"/>
                <a:cs typeface="Times New Roman" panose="02020603050405020304" pitchFamily="18" charset="0"/>
              </a:rPr>
              <a:t> </a:t>
            </a:r>
          </a:p>
        </p:txBody>
      </p:sp>
      <p:pic>
        <p:nvPicPr>
          <p:cNvPr id="4"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1341438"/>
            <a:ext cx="8137525"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1662789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50808" y="836712"/>
            <a:ext cx="8686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38138">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a:lnSpc>
                <a:spcPct val="120000"/>
              </a:lnSpc>
              <a:spcBef>
                <a:spcPct val="0"/>
              </a:spcBef>
              <a:buFontTx/>
              <a:buNone/>
            </a:pPr>
            <a:r>
              <a:rPr lang="zh-CN" altLang="en-US" sz="3000" i="1" dirty="0">
                <a:latin typeface="+mj-lt"/>
                <a:ea typeface="+mn-ea"/>
                <a:cs typeface="Times New Roman" panose="02020603050405020304" pitchFamily="18" charset="0"/>
              </a:rPr>
              <a:t>      </a:t>
            </a:r>
            <a:r>
              <a:rPr lang="en-US" altLang="zh-CN" sz="3000" i="1" dirty="0">
                <a:latin typeface="+mj-lt"/>
                <a:ea typeface="+mn-ea"/>
                <a:cs typeface="Times New Roman" panose="02020603050405020304" pitchFamily="18" charset="0"/>
              </a:rPr>
              <a:t>h</a:t>
            </a:r>
            <a:r>
              <a:rPr lang="en-US" altLang="zh-CN" sz="3000" dirty="0">
                <a:latin typeface="+mj-lt"/>
                <a:ea typeface="+mn-ea"/>
                <a:cs typeface="Times New Roman" panose="02020603050405020304" pitchFamily="18" charset="0"/>
              </a:rPr>
              <a:t>(</a:t>
            </a:r>
            <a:r>
              <a:rPr lang="en-US" altLang="zh-CN" sz="3000" i="1" dirty="0">
                <a:latin typeface="+mj-lt"/>
                <a:ea typeface="+mn-ea"/>
                <a:cs typeface="Times New Roman" panose="02020603050405020304" pitchFamily="18" charset="0"/>
              </a:rPr>
              <a:t>n</a:t>
            </a:r>
            <a:r>
              <a:rPr lang="en-US" altLang="zh-CN" sz="3000" dirty="0">
                <a:latin typeface="+mj-lt"/>
                <a:ea typeface="+mn-ea"/>
                <a:cs typeface="Times New Roman" panose="02020603050405020304" pitchFamily="18" charset="0"/>
              </a:rPr>
              <a:t>)</a:t>
            </a:r>
            <a:r>
              <a:rPr lang="zh-CN" altLang="en-US" sz="3000" dirty="0">
                <a:latin typeface="+mj-lt"/>
                <a:ea typeface="+mn-ea"/>
                <a:cs typeface="Times New Roman" panose="02020603050405020304" pitchFamily="18" charset="0"/>
              </a:rPr>
              <a:t>偶对称</a:t>
            </a:r>
            <a:r>
              <a:rPr lang="zh-CN" altLang="en-US" sz="3000" dirty="0">
                <a:solidFill>
                  <a:schemeClr val="tx2"/>
                </a:solidFill>
                <a:latin typeface="+mj-lt"/>
                <a:ea typeface="+mn-ea"/>
                <a:cs typeface="Times New Roman" panose="02020603050405020304" pitchFamily="18" charset="0"/>
              </a:rPr>
              <a:t>  </a:t>
            </a:r>
            <a:r>
              <a:rPr lang="en-US" altLang="zh-CN" sz="3000" i="1" dirty="0">
                <a:solidFill>
                  <a:srgbClr val="0000CC"/>
                </a:solidFill>
                <a:latin typeface="+mj-lt"/>
                <a:ea typeface="+mn-ea"/>
                <a:cs typeface="Times New Roman" panose="02020603050405020304" pitchFamily="18" charset="0"/>
              </a:rPr>
              <a:t>h</a:t>
            </a:r>
            <a:r>
              <a:rPr lang="en-US" altLang="zh-CN" sz="3000" dirty="0">
                <a:solidFill>
                  <a:srgbClr val="0000CC"/>
                </a:solidFill>
                <a:latin typeface="+mj-lt"/>
                <a:ea typeface="+mn-ea"/>
                <a:cs typeface="Times New Roman" panose="02020603050405020304" pitchFamily="18" charset="0"/>
              </a:rPr>
              <a:t>(</a:t>
            </a:r>
            <a:r>
              <a:rPr lang="en-US" altLang="zh-CN" sz="3000" i="1" dirty="0">
                <a:solidFill>
                  <a:srgbClr val="0000CC"/>
                </a:solidFill>
                <a:latin typeface="+mj-lt"/>
                <a:ea typeface="+mn-ea"/>
                <a:cs typeface="Times New Roman" panose="02020603050405020304" pitchFamily="18" charset="0"/>
              </a:rPr>
              <a:t>n</a:t>
            </a:r>
            <a:r>
              <a:rPr lang="en-US" altLang="zh-CN" sz="3000" dirty="0">
                <a:solidFill>
                  <a:srgbClr val="0000CC"/>
                </a:solidFill>
                <a:latin typeface="+mj-lt"/>
                <a:ea typeface="+mn-ea"/>
                <a:cs typeface="Times New Roman" panose="02020603050405020304" pitchFamily="18" charset="0"/>
              </a:rPr>
              <a:t>)=</a:t>
            </a:r>
            <a:r>
              <a:rPr lang="en-US" altLang="zh-CN" sz="3000" i="1" dirty="0">
                <a:solidFill>
                  <a:srgbClr val="0000CC"/>
                </a:solidFill>
                <a:latin typeface="+mj-lt"/>
                <a:ea typeface="+mn-ea"/>
                <a:cs typeface="Times New Roman" panose="02020603050405020304" pitchFamily="18" charset="0"/>
              </a:rPr>
              <a:t>h</a:t>
            </a:r>
            <a:r>
              <a:rPr lang="en-US" altLang="zh-CN" sz="3000" dirty="0">
                <a:solidFill>
                  <a:srgbClr val="0000CC"/>
                </a:solidFill>
                <a:latin typeface="+mj-lt"/>
                <a:ea typeface="+mn-ea"/>
                <a:cs typeface="Times New Roman" panose="02020603050405020304" pitchFamily="18" charset="0"/>
              </a:rPr>
              <a:t>(</a:t>
            </a:r>
            <a:r>
              <a:rPr lang="en-US" altLang="zh-CN" sz="3000" i="1" dirty="0">
                <a:solidFill>
                  <a:srgbClr val="0000CC"/>
                </a:solidFill>
                <a:latin typeface="+mj-lt"/>
                <a:ea typeface="+mn-ea"/>
                <a:cs typeface="Times New Roman" panose="02020603050405020304" pitchFamily="18" charset="0"/>
              </a:rPr>
              <a:t>N</a:t>
            </a:r>
            <a:r>
              <a:rPr lang="en-US" altLang="zh-CN" sz="3000" dirty="0">
                <a:solidFill>
                  <a:srgbClr val="0000CC"/>
                </a:solidFill>
                <a:latin typeface="+mj-lt"/>
                <a:ea typeface="+mn-ea"/>
                <a:cs typeface="Times New Roman" panose="02020603050405020304" pitchFamily="18" charset="0"/>
              </a:rPr>
              <a:t>-1-</a:t>
            </a:r>
            <a:r>
              <a:rPr lang="en-US" altLang="zh-CN" sz="3000" i="1" dirty="0">
                <a:solidFill>
                  <a:srgbClr val="0000CC"/>
                </a:solidFill>
                <a:latin typeface="+mj-lt"/>
                <a:ea typeface="+mn-ea"/>
                <a:cs typeface="Times New Roman" panose="02020603050405020304" pitchFamily="18" charset="0"/>
              </a:rPr>
              <a:t>n</a:t>
            </a:r>
            <a:r>
              <a:rPr lang="en-US" altLang="zh-CN" sz="3000" dirty="0">
                <a:solidFill>
                  <a:srgbClr val="0000CC"/>
                </a:solidFill>
                <a:latin typeface="+mj-lt"/>
                <a:ea typeface="+mn-ea"/>
                <a:cs typeface="Times New Roman" panose="02020603050405020304" pitchFamily="18" charset="0"/>
              </a:rPr>
              <a:t>)</a:t>
            </a:r>
            <a:r>
              <a:rPr lang="zh-CN" altLang="en-US" sz="3000" dirty="0">
                <a:solidFill>
                  <a:srgbClr val="0000CC"/>
                </a:solidFill>
                <a:latin typeface="+mj-lt"/>
                <a:ea typeface="+mn-ea"/>
                <a:cs typeface="Times New Roman" panose="02020603050405020304" pitchFamily="18" charset="0"/>
              </a:rPr>
              <a:t>，</a:t>
            </a:r>
            <a:endParaRPr lang="en-US" altLang="zh-CN" sz="3000" dirty="0">
              <a:solidFill>
                <a:srgbClr val="0000CC"/>
              </a:solidFill>
              <a:latin typeface="+mj-lt"/>
              <a:ea typeface="+mn-ea"/>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614896623"/>
              </p:ext>
            </p:extLst>
          </p:nvPr>
        </p:nvGraphicFramePr>
        <p:xfrm>
          <a:off x="996950" y="1470025"/>
          <a:ext cx="7559675" cy="1311275"/>
        </p:xfrm>
        <a:graphic>
          <a:graphicData uri="http://schemas.openxmlformats.org/presentationml/2006/ole">
            <mc:AlternateContent xmlns:mc="http://schemas.openxmlformats.org/markup-compatibility/2006">
              <mc:Choice xmlns:v="urn:schemas-microsoft-com:vml" Requires="v">
                <p:oleObj name="Equation" r:id="rId2" imgW="3149280" imgH="545760" progId="Equation.DSMT4">
                  <p:embed/>
                </p:oleObj>
              </mc:Choice>
              <mc:Fallback>
                <p:oleObj name="Equation" r:id="rId2" imgW="3149280" imgH="545760" progId="Equation.DSMT4">
                  <p:embed/>
                  <p:pic>
                    <p:nvPicPr>
                      <p:cNvPr id="60419" name="Object 3"/>
                      <p:cNvPicPr>
                        <a:picLocks noChangeAspect="1" noChangeArrowheads="1"/>
                      </p:cNvPicPr>
                      <p:nvPr/>
                    </p:nvPicPr>
                    <p:blipFill>
                      <a:blip r:embed="rId3"/>
                      <a:srcRect/>
                      <a:stretch>
                        <a:fillRect/>
                      </a:stretch>
                    </p:blipFill>
                    <p:spPr bwMode="auto">
                      <a:xfrm>
                        <a:off x="996950" y="1470025"/>
                        <a:ext cx="75596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5868144" y="817903"/>
            <a:ext cx="2393604" cy="646331"/>
          </a:xfrm>
          <a:prstGeom prst="rect">
            <a:avLst/>
          </a:prstGeom>
        </p:spPr>
        <p:txBody>
          <a:bodyPr wrap="none">
            <a:spAutoFit/>
          </a:bodyPr>
          <a:lstStyle/>
          <a:p>
            <a:pPr lvl="0" algn="just">
              <a:lnSpc>
                <a:spcPct val="120000"/>
              </a:lnSpc>
            </a:pPr>
            <a:r>
              <a:rPr lang="zh-CN" altLang="en-US" sz="3000" b="1" dirty="0">
                <a:solidFill>
                  <a:srgbClr val="000000"/>
                </a:solidFill>
                <a:latin typeface="Times New Roman" panose="02020603050405020304" pitchFamily="18" charset="0"/>
                <a:cs typeface="Times New Roman" panose="02020603050405020304" pitchFamily="18" charset="0"/>
              </a:rPr>
              <a:t>长度</a:t>
            </a:r>
            <a:r>
              <a:rPr lang="en-US" altLang="zh-CN" sz="3000" b="1" i="1" dirty="0">
                <a:solidFill>
                  <a:srgbClr val="000000"/>
                </a:solidFill>
                <a:latin typeface="Times New Roman" panose="02020603050405020304" pitchFamily="18" charset="0"/>
                <a:cs typeface="Times New Roman" panose="02020603050405020304" pitchFamily="18" charset="0"/>
              </a:rPr>
              <a:t>N</a:t>
            </a:r>
            <a:r>
              <a:rPr lang="zh-CN" altLang="en-US" sz="3000" b="1" dirty="0">
                <a:solidFill>
                  <a:srgbClr val="000000"/>
                </a:solidFill>
                <a:latin typeface="Times New Roman" panose="02020603050405020304" pitchFamily="18" charset="0"/>
                <a:cs typeface="Times New Roman" panose="02020603050405020304" pitchFamily="18" charset="0"/>
              </a:rPr>
              <a:t>为奇数</a:t>
            </a:r>
          </a:p>
        </p:txBody>
      </p:sp>
      <p:sp>
        <p:nvSpPr>
          <p:cNvPr id="7" name="Rectangle 4"/>
          <p:cNvSpPr>
            <a:spLocks noChangeArrowheads="1"/>
          </p:cNvSpPr>
          <p:nvPr/>
        </p:nvSpPr>
        <p:spPr bwMode="auto">
          <a:xfrm>
            <a:off x="467544" y="6093296"/>
            <a:ext cx="8610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dirty="0">
                <a:latin typeface="+mj-lt"/>
                <a:ea typeface="+mn-ea"/>
                <a:cs typeface="Times New Roman" panose="02020603050405020304" pitchFamily="18" charset="0"/>
              </a:rPr>
              <a:t>        </a:t>
            </a:r>
            <a:r>
              <a:rPr lang="zh-CN" altLang="en-US" sz="2800" b="1" dirty="0">
                <a:solidFill>
                  <a:srgbClr val="000000"/>
                </a:solidFill>
                <a:latin typeface="+mj-lt"/>
                <a:ea typeface="+mn-ea"/>
                <a:cs typeface="Times New Roman" panose="02020603050405020304" pitchFamily="18" charset="0"/>
              </a:rPr>
              <a:t>图</a:t>
            </a:r>
            <a:r>
              <a:rPr lang="en-US" altLang="zh-CN" sz="2800" b="1" dirty="0">
                <a:solidFill>
                  <a:srgbClr val="000000"/>
                </a:solidFill>
                <a:latin typeface="+mj-lt"/>
                <a:ea typeface="+mn-ea"/>
                <a:cs typeface="Times New Roman" panose="02020603050405020304" pitchFamily="18" charset="0"/>
              </a:rPr>
              <a:t>6.17    </a:t>
            </a:r>
            <a:r>
              <a:rPr lang="en-US" altLang="zh-CN" sz="2800" b="1" i="1" dirty="0">
                <a:solidFill>
                  <a:srgbClr val="000000"/>
                </a:solidFill>
                <a:latin typeface="+mj-lt"/>
                <a:ea typeface="+mn-ea"/>
                <a:cs typeface="Times New Roman" panose="02020603050405020304" pitchFamily="18" charset="0"/>
              </a:rPr>
              <a:t>N</a:t>
            </a:r>
            <a:r>
              <a:rPr lang="zh-CN" altLang="en-US" sz="2800" b="1" dirty="0">
                <a:solidFill>
                  <a:srgbClr val="000000"/>
                </a:solidFill>
                <a:latin typeface="+mj-lt"/>
                <a:ea typeface="+mn-ea"/>
                <a:cs typeface="Times New Roman" panose="02020603050405020304" pitchFamily="18" charset="0"/>
              </a:rPr>
              <a:t>为奇数的线性相位</a:t>
            </a:r>
            <a:r>
              <a:rPr lang="en-US" altLang="zh-CN" sz="2800" b="1" dirty="0">
                <a:solidFill>
                  <a:srgbClr val="000000"/>
                </a:solidFill>
                <a:latin typeface="+mj-lt"/>
                <a:ea typeface="+mn-ea"/>
                <a:cs typeface="Times New Roman" panose="02020603050405020304" pitchFamily="18" charset="0"/>
              </a:rPr>
              <a:t>FIR</a:t>
            </a:r>
            <a:r>
              <a:rPr lang="zh-CN" altLang="en-US" sz="2800" b="1" dirty="0">
                <a:solidFill>
                  <a:srgbClr val="000000"/>
                </a:solidFill>
                <a:latin typeface="+mj-lt"/>
                <a:ea typeface="+mn-ea"/>
                <a:cs typeface="Times New Roman" panose="02020603050405020304" pitchFamily="18" charset="0"/>
              </a:rPr>
              <a:t>滤波器结构</a:t>
            </a:r>
            <a:r>
              <a:rPr lang="zh-CN" altLang="en-US" sz="2800" b="1" dirty="0">
                <a:latin typeface="+mj-lt"/>
                <a:ea typeface="+mn-ea"/>
                <a:cs typeface="Times New Roman" panose="02020603050405020304" pitchFamily="18" charset="0"/>
              </a:rPr>
              <a:t> </a:t>
            </a:r>
          </a:p>
        </p:txBody>
      </p:sp>
      <p:pic>
        <p:nvPicPr>
          <p:cNvPr id="8" name="Picture 5" descr="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0530" y="2812196"/>
            <a:ext cx="7527355" cy="306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2888368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extLst>
              <p:ext uri="{D42A27DB-BD31-4B8C-83A1-F6EECF244321}">
                <p14:modId xmlns:p14="http://schemas.microsoft.com/office/powerpoint/2010/main" val="2378816565"/>
              </p:ext>
            </p:extLst>
          </p:nvPr>
        </p:nvGraphicFramePr>
        <p:xfrm>
          <a:off x="5999187" y="1886216"/>
          <a:ext cx="1431925" cy="1928812"/>
        </p:xfrm>
        <a:graphic>
          <a:graphicData uri="http://schemas.openxmlformats.org/presentationml/2006/ole">
            <mc:AlternateContent xmlns:mc="http://schemas.openxmlformats.org/markup-compatibility/2006">
              <mc:Choice xmlns:v="urn:schemas-microsoft-com:vml" Requires="v">
                <p:oleObj name="Equation" r:id="rId2" imgW="622080" imgH="838080" progId="Equation.DSMT4">
                  <p:embed/>
                </p:oleObj>
              </mc:Choice>
              <mc:Fallback>
                <p:oleObj name="Equation" r:id="rId2" imgW="622080" imgH="838080" progId="Equation.DSMT4">
                  <p:embed/>
                  <p:pic>
                    <p:nvPicPr>
                      <p:cNvPr id="62467" name="Object 3"/>
                      <p:cNvPicPr>
                        <a:picLocks noChangeAspect="1" noChangeArrowheads="1"/>
                      </p:cNvPicPr>
                      <p:nvPr/>
                    </p:nvPicPr>
                    <p:blipFill>
                      <a:blip r:embed="rId3"/>
                      <a:srcRect/>
                      <a:stretch>
                        <a:fillRect/>
                      </a:stretch>
                    </p:blipFill>
                    <p:spPr bwMode="auto">
                      <a:xfrm>
                        <a:off x="5999187" y="1886216"/>
                        <a:ext cx="1431925"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内容占位符 2"/>
          <p:cNvSpPr>
            <a:spLocks noGrp="1"/>
          </p:cNvSpPr>
          <p:nvPr>
            <p:ph idx="1"/>
          </p:nvPr>
        </p:nvSpPr>
        <p:spPr>
          <a:xfrm>
            <a:off x="467544" y="1196752"/>
            <a:ext cx="6247606" cy="5236552"/>
          </a:xfrm>
        </p:spPr>
        <p:txBody>
          <a:bodyPr/>
          <a:lstStyle/>
          <a:p>
            <a:pPr>
              <a:lnSpc>
                <a:spcPct val="110000"/>
              </a:lnSpc>
              <a:spcBef>
                <a:spcPct val="0"/>
              </a:spcBef>
              <a:spcAft>
                <a:spcPct val="50000"/>
              </a:spcAft>
              <a:buFontTx/>
              <a:buNone/>
            </a:pPr>
            <a:r>
              <a:rPr lang="zh-CN" altLang="en-US" b="1" dirty="0">
                <a:solidFill>
                  <a:srgbClr val="FF0000"/>
                </a:solidFill>
                <a:latin typeface="+mj-lt"/>
                <a:cs typeface="Times New Roman" panose="02020603050405020304" pitchFamily="18" charset="0"/>
              </a:rPr>
              <a:t>优点：</a:t>
            </a:r>
          </a:p>
          <a:p>
            <a:pPr>
              <a:lnSpc>
                <a:spcPct val="110000"/>
              </a:lnSpc>
              <a:spcBef>
                <a:spcPct val="0"/>
              </a:spcBef>
              <a:buFontTx/>
              <a:buNone/>
            </a:pPr>
            <a:endParaRPr lang="zh-CN" altLang="en-US" b="1" dirty="0">
              <a:latin typeface="+mj-lt"/>
              <a:cs typeface="Times New Roman" panose="02020603050405020304" pitchFamily="18" charset="0"/>
            </a:endParaRPr>
          </a:p>
          <a:p>
            <a:pPr>
              <a:lnSpc>
                <a:spcPct val="110000"/>
              </a:lnSpc>
              <a:spcBef>
                <a:spcPct val="0"/>
              </a:spcBef>
              <a:buFontTx/>
              <a:buNone/>
            </a:pPr>
            <a:r>
              <a:rPr lang="zh-CN" altLang="en-US" sz="3000" b="1" dirty="0">
                <a:latin typeface="+mj-lt"/>
                <a:cs typeface="Times New Roman" panose="02020603050405020304" pitchFamily="18" charset="0"/>
              </a:rPr>
              <a:t>线相相位型结构的乘法次数减为 </a:t>
            </a:r>
          </a:p>
          <a:p>
            <a:pPr>
              <a:lnSpc>
                <a:spcPct val="110000"/>
              </a:lnSpc>
              <a:spcBef>
                <a:spcPct val="0"/>
              </a:spcBef>
              <a:buFontTx/>
              <a:buNone/>
            </a:pPr>
            <a:endParaRPr lang="zh-CN" altLang="en-US" b="1" dirty="0">
              <a:latin typeface="+mj-lt"/>
              <a:cs typeface="Times New Roman" panose="02020603050405020304" pitchFamily="18" charset="0"/>
            </a:endParaRPr>
          </a:p>
          <a:p>
            <a:pPr>
              <a:lnSpc>
                <a:spcPct val="110000"/>
              </a:lnSpc>
              <a:spcBef>
                <a:spcPct val="0"/>
              </a:spcBef>
              <a:buFontTx/>
              <a:buNone/>
            </a:pPr>
            <a:endParaRPr lang="zh-CN" altLang="en-US" b="1" dirty="0">
              <a:latin typeface="+mj-lt"/>
              <a:cs typeface="Times New Roman" panose="02020603050405020304" pitchFamily="18" charset="0"/>
            </a:endParaRPr>
          </a:p>
          <a:p>
            <a:pPr>
              <a:lnSpc>
                <a:spcPct val="110000"/>
              </a:lnSpc>
              <a:spcBef>
                <a:spcPct val="0"/>
              </a:spcBef>
              <a:buFontTx/>
              <a:buNone/>
            </a:pPr>
            <a:endParaRPr lang="zh-CN" altLang="en-US" b="1" dirty="0">
              <a:latin typeface="+mj-lt"/>
              <a:cs typeface="Times New Roman" panose="02020603050405020304" pitchFamily="18" charset="0"/>
            </a:endParaRPr>
          </a:p>
          <a:p>
            <a:pPr>
              <a:lnSpc>
                <a:spcPct val="110000"/>
              </a:lnSpc>
              <a:spcBef>
                <a:spcPct val="0"/>
              </a:spcBef>
              <a:buFontTx/>
              <a:buNone/>
            </a:pPr>
            <a:r>
              <a:rPr lang="en-US" altLang="zh-CN" b="1" dirty="0">
                <a:latin typeface="+mj-lt"/>
                <a:cs typeface="Times New Roman" panose="02020603050405020304" pitchFamily="18" charset="0"/>
              </a:rPr>
              <a:t>(</a:t>
            </a:r>
            <a:r>
              <a:rPr lang="zh-CN" altLang="en-US" b="1" dirty="0">
                <a:latin typeface="+mj-lt"/>
                <a:cs typeface="Times New Roman" panose="02020603050405020304" pitchFamily="18" charset="0"/>
              </a:rPr>
              <a:t>横截型结构乘法次数：</a:t>
            </a:r>
            <a:r>
              <a:rPr lang="en-US" altLang="zh-CN" b="1" i="1" dirty="0">
                <a:solidFill>
                  <a:srgbClr val="0000CC"/>
                </a:solidFill>
                <a:latin typeface="+mj-lt"/>
                <a:cs typeface="Times New Roman" panose="02020603050405020304" pitchFamily="18" charset="0"/>
              </a:rPr>
              <a:t>N</a:t>
            </a:r>
            <a:r>
              <a:rPr lang="zh-CN" altLang="en-US" b="1" dirty="0">
                <a:latin typeface="+mj-lt"/>
                <a:cs typeface="Times New Roman" panose="02020603050405020304" pitchFamily="18" charset="0"/>
              </a:rPr>
              <a:t>次</a:t>
            </a:r>
            <a:r>
              <a:rPr lang="en-US" altLang="zh-CN" b="1" dirty="0">
                <a:latin typeface="+mj-lt"/>
                <a:cs typeface="Times New Roman" panose="02020603050405020304" pitchFamily="18" charset="0"/>
              </a:rPr>
              <a:t>)</a:t>
            </a:r>
          </a:p>
          <a:p>
            <a:endParaRPr lang="zh-CN" altLang="en-US" b="1" dirty="0">
              <a:latin typeface="+mj-lt"/>
            </a:endParaRPr>
          </a:p>
        </p:txBody>
      </p:sp>
      <p:sp>
        <p:nvSpPr>
          <p:cNvPr id="5" name="矩形 4"/>
          <p:cNvSpPr/>
          <p:nvPr/>
        </p:nvSpPr>
        <p:spPr>
          <a:xfrm>
            <a:off x="7454946" y="2996952"/>
            <a:ext cx="1620957" cy="646331"/>
          </a:xfrm>
          <a:prstGeom prst="rect">
            <a:avLst/>
          </a:prstGeom>
        </p:spPr>
        <p:txBody>
          <a:bodyPr wrap="none">
            <a:spAutoFit/>
          </a:bodyPr>
          <a:lstStyle/>
          <a:p>
            <a:pPr lvl="0" algn="just">
              <a:lnSpc>
                <a:spcPct val="120000"/>
              </a:lnSpc>
            </a:pPr>
            <a:r>
              <a:rPr lang="en-US" altLang="zh-CN" sz="3000" b="1" i="1" dirty="0">
                <a:solidFill>
                  <a:srgbClr val="000000"/>
                </a:solidFill>
                <a:latin typeface="Times New Roman" panose="02020603050405020304" pitchFamily="18" charset="0"/>
                <a:cs typeface="Times New Roman" panose="02020603050405020304" pitchFamily="18" charset="0"/>
              </a:rPr>
              <a:t>N</a:t>
            </a:r>
            <a:r>
              <a:rPr lang="zh-CN" altLang="en-US" sz="3000" b="1" dirty="0">
                <a:solidFill>
                  <a:srgbClr val="000000"/>
                </a:solidFill>
                <a:latin typeface="Times New Roman" panose="02020603050405020304" pitchFamily="18" charset="0"/>
                <a:cs typeface="Times New Roman" panose="02020603050405020304" pitchFamily="18" charset="0"/>
              </a:rPr>
              <a:t>为奇数</a:t>
            </a:r>
          </a:p>
        </p:txBody>
      </p:sp>
      <p:sp>
        <p:nvSpPr>
          <p:cNvPr id="7" name="矩形 6"/>
          <p:cNvSpPr/>
          <p:nvPr/>
        </p:nvSpPr>
        <p:spPr>
          <a:xfrm>
            <a:off x="7415539" y="2098814"/>
            <a:ext cx="1620957" cy="593304"/>
          </a:xfrm>
          <a:prstGeom prst="rect">
            <a:avLst/>
          </a:prstGeom>
        </p:spPr>
        <p:txBody>
          <a:bodyPr wrap="none">
            <a:spAutoFit/>
          </a:bodyPr>
          <a:lstStyle/>
          <a:p>
            <a:pPr lvl="0" algn="just">
              <a:lnSpc>
                <a:spcPct val="120000"/>
              </a:lnSpc>
            </a:pPr>
            <a:r>
              <a:rPr lang="en-US" altLang="zh-CN" sz="3000" b="1" i="1" dirty="0">
                <a:solidFill>
                  <a:srgbClr val="000000"/>
                </a:solidFill>
                <a:latin typeface="Times New Roman" panose="02020603050405020304" pitchFamily="18" charset="0"/>
                <a:cs typeface="Times New Roman" panose="02020603050405020304" pitchFamily="18" charset="0"/>
              </a:rPr>
              <a:t>N</a:t>
            </a:r>
            <a:r>
              <a:rPr lang="zh-CN" altLang="en-US" sz="3000" b="1" dirty="0">
                <a:solidFill>
                  <a:srgbClr val="000000"/>
                </a:solidFill>
                <a:latin typeface="Times New Roman" panose="02020603050405020304" pitchFamily="18" charset="0"/>
                <a:cs typeface="Times New Roman" panose="02020603050405020304" pitchFamily="18" charset="0"/>
              </a:rPr>
              <a:t>为偶数</a:t>
            </a:r>
          </a:p>
        </p:txBody>
      </p:sp>
      <p:sp>
        <p:nvSpPr>
          <p:cNvPr id="8"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2902000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250808" y="980728"/>
            <a:ext cx="30970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38138">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a:lnSpc>
                <a:spcPct val="120000"/>
              </a:lnSpc>
              <a:spcBef>
                <a:spcPct val="0"/>
              </a:spcBef>
              <a:buFontTx/>
              <a:buNone/>
            </a:pPr>
            <a:r>
              <a:rPr lang="zh-CN" altLang="en-US" sz="3000" i="1" dirty="0">
                <a:latin typeface="+mj-lt"/>
                <a:ea typeface="+mn-ea"/>
                <a:cs typeface="Times New Roman" panose="02020603050405020304" pitchFamily="18" charset="0"/>
              </a:rPr>
              <a:t>      </a:t>
            </a:r>
            <a:r>
              <a:rPr lang="en-US" altLang="zh-CN" sz="3000" i="1" dirty="0">
                <a:latin typeface="+mj-lt"/>
                <a:ea typeface="+mn-ea"/>
                <a:cs typeface="Times New Roman" panose="02020603050405020304" pitchFamily="18" charset="0"/>
              </a:rPr>
              <a:t>h</a:t>
            </a:r>
            <a:r>
              <a:rPr lang="en-US" altLang="zh-CN" sz="3000" dirty="0">
                <a:latin typeface="+mj-lt"/>
                <a:ea typeface="+mn-ea"/>
                <a:cs typeface="Times New Roman" panose="02020603050405020304" pitchFamily="18" charset="0"/>
              </a:rPr>
              <a:t>(</a:t>
            </a:r>
            <a:r>
              <a:rPr lang="en-US" altLang="zh-CN" sz="3000" i="1" dirty="0">
                <a:latin typeface="+mj-lt"/>
                <a:ea typeface="+mn-ea"/>
                <a:cs typeface="Times New Roman" panose="02020603050405020304" pitchFamily="18" charset="0"/>
              </a:rPr>
              <a:t>n</a:t>
            </a:r>
            <a:r>
              <a:rPr lang="en-US" altLang="zh-CN" sz="3000" dirty="0">
                <a:latin typeface="+mj-lt"/>
                <a:ea typeface="+mn-ea"/>
                <a:cs typeface="Times New Roman" panose="02020603050405020304" pitchFamily="18" charset="0"/>
              </a:rPr>
              <a:t>)</a:t>
            </a:r>
            <a:r>
              <a:rPr lang="zh-CN" altLang="en-US" sz="3000" dirty="0">
                <a:latin typeface="+mj-lt"/>
                <a:ea typeface="+mn-ea"/>
                <a:cs typeface="Times New Roman" panose="02020603050405020304" pitchFamily="18" charset="0"/>
              </a:rPr>
              <a:t>奇对称</a:t>
            </a:r>
            <a:endParaRPr lang="en-US" altLang="zh-CN" sz="3000" dirty="0">
              <a:solidFill>
                <a:srgbClr val="0000CC"/>
              </a:solidFill>
              <a:latin typeface="+mj-lt"/>
              <a:ea typeface="+mn-ea"/>
              <a:cs typeface="Times New Roman" panose="02020603050405020304" pitchFamily="18" charset="0"/>
            </a:endParaRPr>
          </a:p>
        </p:txBody>
      </p:sp>
      <p:graphicFrame>
        <p:nvGraphicFramePr>
          <p:cNvPr id="7" name="Object 7"/>
          <p:cNvGraphicFramePr>
            <a:graphicFrameLocks noChangeAspect="1"/>
          </p:cNvGraphicFramePr>
          <p:nvPr>
            <p:extLst>
              <p:ext uri="{D42A27DB-BD31-4B8C-83A1-F6EECF244321}">
                <p14:modId xmlns:p14="http://schemas.microsoft.com/office/powerpoint/2010/main" val="3465484478"/>
              </p:ext>
            </p:extLst>
          </p:nvPr>
        </p:nvGraphicFramePr>
        <p:xfrm>
          <a:off x="3162300" y="1124744"/>
          <a:ext cx="3016250" cy="447675"/>
        </p:xfrm>
        <a:graphic>
          <a:graphicData uri="http://schemas.openxmlformats.org/presentationml/2006/ole">
            <mc:AlternateContent xmlns:mc="http://schemas.openxmlformats.org/markup-compatibility/2006">
              <mc:Choice xmlns:v="urn:schemas-microsoft-com:vml" Requires="v">
                <p:oleObj name="Equation" r:id="rId2" imgW="1371600" imgH="203040" progId="Equation.DSMT4">
                  <p:embed/>
                </p:oleObj>
              </mc:Choice>
              <mc:Fallback>
                <p:oleObj name="Equation" r:id="rId2" imgW="1371600" imgH="203040" progId="Equation.DSMT4">
                  <p:embed/>
                  <p:pic>
                    <p:nvPicPr>
                      <p:cNvPr id="25" name="Object 7"/>
                      <p:cNvPicPr>
                        <a:picLocks noChangeAspect="1" noChangeArrowheads="1"/>
                      </p:cNvPicPr>
                      <p:nvPr/>
                    </p:nvPicPr>
                    <p:blipFill>
                      <a:blip r:embed="rId3"/>
                      <a:srcRect/>
                      <a:stretch>
                        <a:fillRect/>
                      </a:stretch>
                    </p:blipFill>
                    <p:spPr bwMode="auto">
                      <a:xfrm>
                        <a:off x="3162300" y="1124744"/>
                        <a:ext cx="30162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6479435" y="980728"/>
            <a:ext cx="1620957" cy="593304"/>
          </a:xfrm>
          <a:prstGeom prst="rect">
            <a:avLst/>
          </a:prstGeom>
        </p:spPr>
        <p:txBody>
          <a:bodyPr wrap="none">
            <a:spAutoFit/>
          </a:bodyPr>
          <a:lstStyle/>
          <a:p>
            <a:pPr lvl="0" algn="just">
              <a:lnSpc>
                <a:spcPct val="120000"/>
              </a:lnSpc>
            </a:pPr>
            <a:r>
              <a:rPr lang="en-US" altLang="zh-CN" sz="3000" b="1" i="1" dirty="0">
                <a:solidFill>
                  <a:srgbClr val="000000"/>
                </a:solidFill>
                <a:latin typeface="Times New Roman" panose="02020603050405020304" pitchFamily="18" charset="0"/>
                <a:cs typeface="Times New Roman" panose="02020603050405020304" pitchFamily="18" charset="0"/>
              </a:rPr>
              <a:t>N</a:t>
            </a:r>
            <a:r>
              <a:rPr lang="zh-CN" altLang="en-US" sz="3000" b="1" dirty="0">
                <a:solidFill>
                  <a:srgbClr val="000000"/>
                </a:solidFill>
                <a:latin typeface="Times New Roman" panose="02020603050405020304" pitchFamily="18" charset="0"/>
                <a:cs typeface="Times New Roman" panose="02020603050405020304" pitchFamily="18" charset="0"/>
              </a:rPr>
              <a:t>为偶数</a:t>
            </a:r>
          </a:p>
        </p:txBody>
      </p:sp>
      <p:pic>
        <p:nvPicPr>
          <p:cNvPr id="13" name="Picture 5" descr="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6677" y="2060848"/>
            <a:ext cx="7213715" cy="293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Object 7"/>
          <p:cNvGraphicFramePr>
            <a:graphicFrameLocks noChangeAspect="1"/>
          </p:cNvGraphicFramePr>
          <p:nvPr>
            <p:extLst>
              <p:ext uri="{D42A27DB-BD31-4B8C-83A1-F6EECF244321}">
                <p14:modId xmlns:p14="http://schemas.microsoft.com/office/powerpoint/2010/main" val="2066091576"/>
              </p:ext>
            </p:extLst>
          </p:nvPr>
        </p:nvGraphicFramePr>
        <p:xfrm>
          <a:off x="2339752" y="3302293"/>
          <a:ext cx="385776" cy="313272"/>
        </p:xfrm>
        <a:graphic>
          <a:graphicData uri="http://schemas.openxmlformats.org/presentationml/2006/ole">
            <mc:AlternateContent xmlns:mc="http://schemas.openxmlformats.org/markup-compatibility/2006">
              <mc:Choice xmlns:v="urn:schemas-microsoft-com:vml" Requires="v">
                <p:oleObj name="Equation" r:id="rId5" imgW="203040" imgH="164880" progId="Equation.DSMT4">
                  <p:embed/>
                </p:oleObj>
              </mc:Choice>
              <mc:Fallback>
                <p:oleObj name="Equation" r:id="rId5" imgW="203040" imgH="164880" progId="Equation.DSMT4">
                  <p:embed/>
                  <p:pic>
                    <p:nvPicPr>
                      <p:cNvPr id="7" name="Object 7"/>
                      <p:cNvPicPr>
                        <a:picLocks noChangeAspect="1" noChangeArrowheads="1"/>
                      </p:cNvPicPr>
                      <p:nvPr/>
                    </p:nvPicPr>
                    <p:blipFill>
                      <a:blip r:embed="rId6"/>
                      <a:srcRect/>
                      <a:stretch>
                        <a:fillRect/>
                      </a:stretch>
                    </p:blipFill>
                    <p:spPr bwMode="auto">
                      <a:xfrm>
                        <a:off x="2339752" y="3302293"/>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7"/>
          <p:cNvGraphicFramePr>
            <a:graphicFrameLocks noChangeAspect="1"/>
          </p:cNvGraphicFramePr>
          <p:nvPr>
            <p:extLst>
              <p:ext uri="{D42A27DB-BD31-4B8C-83A1-F6EECF244321}">
                <p14:modId xmlns:p14="http://schemas.microsoft.com/office/powerpoint/2010/main" val="1410058625"/>
              </p:ext>
            </p:extLst>
          </p:nvPr>
        </p:nvGraphicFramePr>
        <p:xfrm>
          <a:off x="3013792" y="3302293"/>
          <a:ext cx="385776" cy="313272"/>
        </p:xfrm>
        <a:graphic>
          <a:graphicData uri="http://schemas.openxmlformats.org/presentationml/2006/ole">
            <mc:AlternateContent xmlns:mc="http://schemas.openxmlformats.org/markup-compatibility/2006">
              <mc:Choice xmlns:v="urn:schemas-microsoft-com:vml" Requires="v">
                <p:oleObj name="Equation" r:id="rId5" imgW="203040" imgH="164880" progId="Equation.DSMT4">
                  <p:embed/>
                </p:oleObj>
              </mc:Choice>
              <mc:Fallback>
                <p:oleObj name="Equation" r:id="rId5" imgW="203040" imgH="164880" progId="Equation.DSMT4">
                  <p:embed/>
                  <p:pic>
                    <p:nvPicPr>
                      <p:cNvPr id="14" name="Object 7"/>
                      <p:cNvPicPr>
                        <a:picLocks noChangeAspect="1" noChangeArrowheads="1"/>
                      </p:cNvPicPr>
                      <p:nvPr/>
                    </p:nvPicPr>
                    <p:blipFill>
                      <a:blip r:embed="rId6"/>
                      <a:srcRect/>
                      <a:stretch>
                        <a:fillRect/>
                      </a:stretch>
                    </p:blipFill>
                    <p:spPr bwMode="auto">
                      <a:xfrm>
                        <a:off x="3013792" y="3302293"/>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7"/>
          <p:cNvGraphicFramePr>
            <a:graphicFrameLocks noChangeAspect="1"/>
          </p:cNvGraphicFramePr>
          <p:nvPr>
            <p:extLst>
              <p:ext uri="{D42A27DB-BD31-4B8C-83A1-F6EECF244321}">
                <p14:modId xmlns:p14="http://schemas.microsoft.com/office/powerpoint/2010/main" val="1853273790"/>
              </p:ext>
            </p:extLst>
          </p:nvPr>
        </p:nvGraphicFramePr>
        <p:xfrm>
          <a:off x="3661864" y="3307226"/>
          <a:ext cx="385776" cy="313272"/>
        </p:xfrm>
        <a:graphic>
          <a:graphicData uri="http://schemas.openxmlformats.org/presentationml/2006/ole">
            <mc:AlternateContent xmlns:mc="http://schemas.openxmlformats.org/markup-compatibility/2006">
              <mc:Choice xmlns:v="urn:schemas-microsoft-com:vml" Requires="v">
                <p:oleObj name="Equation" r:id="rId5" imgW="203040" imgH="164880" progId="Equation.DSMT4">
                  <p:embed/>
                </p:oleObj>
              </mc:Choice>
              <mc:Fallback>
                <p:oleObj name="Equation" r:id="rId5" imgW="203040" imgH="164880" progId="Equation.DSMT4">
                  <p:embed/>
                  <p:pic>
                    <p:nvPicPr>
                      <p:cNvPr id="14" name="Object 7"/>
                      <p:cNvPicPr>
                        <a:picLocks noChangeAspect="1" noChangeArrowheads="1"/>
                      </p:cNvPicPr>
                      <p:nvPr/>
                    </p:nvPicPr>
                    <p:blipFill>
                      <a:blip r:embed="rId6"/>
                      <a:srcRect/>
                      <a:stretch>
                        <a:fillRect/>
                      </a:stretch>
                    </p:blipFill>
                    <p:spPr bwMode="auto">
                      <a:xfrm>
                        <a:off x="3661864" y="3307226"/>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7"/>
          <p:cNvGraphicFramePr>
            <a:graphicFrameLocks noChangeAspect="1"/>
          </p:cNvGraphicFramePr>
          <p:nvPr>
            <p:extLst>
              <p:ext uri="{D42A27DB-BD31-4B8C-83A1-F6EECF244321}">
                <p14:modId xmlns:p14="http://schemas.microsoft.com/office/powerpoint/2010/main" val="2204072320"/>
              </p:ext>
            </p:extLst>
          </p:nvPr>
        </p:nvGraphicFramePr>
        <p:xfrm>
          <a:off x="6174755" y="3372894"/>
          <a:ext cx="385776" cy="313272"/>
        </p:xfrm>
        <a:graphic>
          <a:graphicData uri="http://schemas.openxmlformats.org/presentationml/2006/ole">
            <mc:AlternateContent xmlns:mc="http://schemas.openxmlformats.org/markup-compatibility/2006">
              <mc:Choice xmlns:v="urn:schemas-microsoft-com:vml" Requires="v">
                <p:oleObj name="Equation" r:id="rId5" imgW="203040" imgH="164880" progId="Equation.DSMT4">
                  <p:embed/>
                </p:oleObj>
              </mc:Choice>
              <mc:Fallback>
                <p:oleObj name="Equation" r:id="rId5" imgW="203040" imgH="164880" progId="Equation.DSMT4">
                  <p:embed/>
                  <p:pic>
                    <p:nvPicPr>
                      <p:cNvPr id="16" name="Object 7"/>
                      <p:cNvPicPr>
                        <a:picLocks noChangeAspect="1" noChangeArrowheads="1"/>
                      </p:cNvPicPr>
                      <p:nvPr/>
                    </p:nvPicPr>
                    <p:blipFill>
                      <a:blip r:embed="rId6"/>
                      <a:srcRect/>
                      <a:stretch>
                        <a:fillRect/>
                      </a:stretch>
                    </p:blipFill>
                    <p:spPr bwMode="auto">
                      <a:xfrm>
                        <a:off x="6174755" y="3372894"/>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7"/>
          <p:cNvGraphicFramePr>
            <a:graphicFrameLocks noChangeAspect="1"/>
          </p:cNvGraphicFramePr>
          <p:nvPr>
            <p:extLst>
              <p:ext uri="{D42A27DB-BD31-4B8C-83A1-F6EECF244321}">
                <p14:modId xmlns:p14="http://schemas.microsoft.com/office/powerpoint/2010/main" val="188195625"/>
              </p:ext>
            </p:extLst>
          </p:nvPr>
        </p:nvGraphicFramePr>
        <p:xfrm>
          <a:off x="7426584" y="3302293"/>
          <a:ext cx="385776" cy="313272"/>
        </p:xfrm>
        <a:graphic>
          <a:graphicData uri="http://schemas.openxmlformats.org/presentationml/2006/ole">
            <mc:AlternateContent xmlns:mc="http://schemas.openxmlformats.org/markup-compatibility/2006">
              <mc:Choice xmlns:v="urn:schemas-microsoft-com:vml" Requires="v">
                <p:oleObj name="Equation" r:id="rId5" imgW="203040" imgH="164880" progId="Equation.DSMT4">
                  <p:embed/>
                </p:oleObj>
              </mc:Choice>
              <mc:Fallback>
                <p:oleObj name="Equation" r:id="rId5" imgW="203040" imgH="164880" progId="Equation.DSMT4">
                  <p:embed/>
                  <p:pic>
                    <p:nvPicPr>
                      <p:cNvPr id="16" name="Object 7"/>
                      <p:cNvPicPr>
                        <a:picLocks noChangeAspect="1" noChangeArrowheads="1"/>
                      </p:cNvPicPr>
                      <p:nvPr/>
                    </p:nvPicPr>
                    <p:blipFill>
                      <a:blip r:embed="rId6"/>
                      <a:srcRect/>
                      <a:stretch>
                        <a:fillRect/>
                      </a:stretch>
                    </p:blipFill>
                    <p:spPr bwMode="auto">
                      <a:xfrm>
                        <a:off x="7426584" y="3302293"/>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116665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2210" y="2204864"/>
            <a:ext cx="7527355" cy="306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ChangeArrowheads="1"/>
          </p:cNvSpPr>
          <p:nvPr/>
        </p:nvSpPr>
        <p:spPr bwMode="auto">
          <a:xfrm>
            <a:off x="250808" y="1124904"/>
            <a:ext cx="30970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38138">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a:lnSpc>
                <a:spcPct val="120000"/>
              </a:lnSpc>
              <a:spcBef>
                <a:spcPct val="0"/>
              </a:spcBef>
              <a:buFontTx/>
              <a:buNone/>
            </a:pPr>
            <a:r>
              <a:rPr lang="zh-CN" altLang="en-US" sz="3000" i="1" dirty="0">
                <a:latin typeface="+mj-lt"/>
                <a:ea typeface="+mn-ea"/>
                <a:cs typeface="Times New Roman" panose="02020603050405020304" pitchFamily="18" charset="0"/>
              </a:rPr>
              <a:t>      </a:t>
            </a:r>
            <a:r>
              <a:rPr lang="en-US" altLang="zh-CN" sz="3000" i="1" dirty="0">
                <a:latin typeface="+mj-lt"/>
                <a:ea typeface="+mn-ea"/>
                <a:cs typeface="Times New Roman" panose="02020603050405020304" pitchFamily="18" charset="0"/>
              </a:rPr>
              <a:t>h</a:t>
            </a:r>
            <a:r>
              <a:rPr lang="en-US" altLang="zh-CN" sz="3000" dirty="0">
                <a:latin typeface="+mj-lt"/>
                <a:ea typeface="+mn-ea"/>
                <a:cs typeface="Times New Roman" panose="02020603050405020304" pitchFamily="18" charset="0"/>
              </a:rPr>
              <a:t>(</a:t>
            </a:r>
            <a:r>
              <a:rPr lang="en-US" altLang="zh-CN" sz="3000" i="1" dirty="0">
                <a:latin typeface="+mj-lt"/>
                <a:ea typeface="+mn-ea"/>
                <a:cs typeface="Times New Roman" panose="02020603050405020304" pitchFamily="18" charset="0"/>
              </a:rPr>
              <a:t>n</a:t>
            </a:r>
            <a:r>
              <a:rPr lang="en-US" altLang="zh-CN" sz="3000" dirty="0">
                <a:latin typeface="+mj-lt"/>
                <a:ea typeface="+mn-ea"/>
                <a:cs typeface="Times New Roman" panose="02020603050405020304" pitchFamily="18" charset="0"/>
              </a:rPr>
              <a:t>)</a:t>
            </a:r>
            <a:r>
              <a:rPr lang="zh-CN" altLang="en-US" sz="3000" dirty="0">
                <a:latin typeface="+mj-lt"/>
                <a:ea typeface="+mn-ea"/>
                <a:cs typeface="Times New Roman" panose="02020603050405020304" pitchFamily="18" charset="0"/>
              </a:rPr>
              <a:t>奇对称</a:t>
            </a:r>
            <a:endParaRPr lang="en-US" altLang="zh-CN" sz="3000" dirty="0">
              <a:solidFill>
                <a:srgbClr val="0000CC"/>
              </a:solidFill>
              <a:latin typeface="+mj-lt"/>
              <a:ea typeface="+mn-ea"/>
              <a:cs typeface="Times New Roman" panose="02020603050405020304" pitchFamily="18" charset="0"/>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575725731"/>
              </p:ext>
            </p:extLst>
          </p:nvPr>
        </p:nvGraphicFramePr>
        <p:xfrm>
          <a:off x="3162300" y="1254980"/>
          <a:ext cx="3016250" cy="447675"/>
        </p:xfrm>
        <a:graphic>
          <a:graphicData uri="http://schemas.openxmlformats.org/presentationml/2006/ole">
            <mc:AlternateContent xmlns:mc="http://schemas.openxmlformats.org/markup-compatibility/2006">
              <mc:Choice xmlns:v="urn:schemas-microsoft-com:vml" Requires="v">
                <p:oleObj name="Equation" r:id="rId3" imgW="1371600" imgH="203040" progId="Equation.DSMT4">
                  <p:embed/>
                </p:oleObj>
              </mc:Choice>
              <mc:Fallback>
                <p:oleObj name="Equation" r:id="rId3" imgW="1371600" imgH="203040" progId="Equation.DSMT4">
                  <p:embed/>
                  <p:pic>
                    <p:nvPicPr>
                      <p:cNvPr id="7" name="Object 7"/>
                      <p:cNvPicPr>
                        <a:picLocks noChangeAspect="1" noChangeArrowheads="1"/>
                      </p:cNvPicPr>
                      <p:nvPr/>
                    </p:nvPicPr>
                    <p:blipFill>
                      <a:blip r:embed="rId4"/>
                      <a:srcRect/>
                      <a:stretch>
                        <a:fillRect/>
                      </a:stretch>
                    </p:blipFill>
                    <p:spPr bwMode="auto">
                      <a:xfrm>
                        <a:off x="3162300" y="1254980"/>
                        <a:ext cx="30162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471394704"/>
              </p:ext>
            </p:extLst>
          </p:nvPr>
        </p:nvGraphicFramePr>
        <p:xfrm>
          <a:off x="8402365" y="4571762"/>
          <a:ext cx="457200" cy="338138"/>
        </p:xfrm>
        <a:graphic>
          <a:graphicData uri="http://schemas.openxmlformats.org/presentationml/2006/ole">
            <mc:AlternateContent xmlns:mc="http://schemas.openxmlformats.org/markup-compatibility/2006">
              <mc:Choice xmlns:v="urn:schemas-microsoft-com:vml" Requires="v">
                <p:oleObj name="Equation" r:id="rId5" imgW="241200" imgH="177480" progId="Equation.DSMT4">
                  <p:embed/>
                </p:oleObj>
              </mc:Choice>
              <mc:Fallback>
                <p:oleObj name="Equation" r:id="rId5" imgW="241200" imgH="177480" progId="Equation.DSMT4">
                  <p:embed/>
                  <p:pic>
                    <p:nvPicPr>
                      <p:cNvPr id="8" name="Object 7"/>
                      <p:cNvPicPr>
                        <a:picLocks noChangeAspect="1" noChangeArrowheads="1"/>
                      </p:cNvPicPr>
                      <p:nvPr/>
                    </p:nvPicPr>
                    <p:blipFill>
                      <a:blip r:embed="rId6"/>
                      <a:srcRect/>
                      <a:stretch>
                        <a:fillRect/>
                      </a:stretch>
                    </p:blipFill>
                    <p:spPr bwMode="auto">
                      <a:xfrm>
                        <a:off x="8402365" y="4571762"/>
                        <a:ext cx="457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6588224" y="1126485"/>
            <a:ext cx="1620957" cy="646331"/>
          </a:xfrm>
          <a:prstGeom prst="rect">
            <a:avLst/>
          </a:prstGeom>
        </p:spPr>
        <p:txBody>
          <a:bodyPr wrap="none">
            <a:spAutoFit/>
          </a:bodyPr>
          <a:lstStyle/>
          <a:p>
            <a:pPr lvl="0" algn="just">
              <a:lnSpc>
                <a:spcPct val="120000"/>
              </a:lnSpc>
            </a:pPr>
            <a:r>
              <a:rPr lang="en-US" altLang="zh-CN" sz="3000" b="1" i="1" dirty="0">
                <a:solidFill>
                  <a:srgbClr val="000000"/>
                </a:solidFill>
                <a:latin typeface="Times New Roman" panose="02020603050405020304" pitchFamily="18" charset="0"/>
                <a:cs typeface="Times New Roman" panose="02020603050405020304" pitchFamily="18" charset="0"/>
              </a:rPr>
              <a:t>N</a:t>
            </a:r>
            <a:r>
              <a:rPr lang="zh-CN" altLang="en-US" sz="3000" b="1" dirty="0">
                <a:solidFill>
                  <a:srgbClr val="000000"/>
                </a:solidFill>
                <a:latin typeface="Times New Roman" panose="02020603050405020304" pitchFamily="18" charset="0"/>
                <a:cs typeface="Times New Roman" panose="02020603050405020304" pitchFamily="18" charset="0"/>
              </a:rPr>
              <a:t>为奇数</a:t>
            </a:r>
          </a:p>
        </p:txBody>
      </p:sp>
      <p:graphicFrame>
        <p:nvGraphicFramePr>
          <p:cNvPr id="9" name="Object 7"/>
          <p:cNvGraphicFramePr>
            <a:graphicFrameLocks noChangeAspect="1"/>
          </p:cNvGraphicFramePr>
          <p:nvPr>
            <p:extLst>
              <p:ext uri="{D42A27DB-BD31-4B8C-83A1-F6EECF244321}">
                <p14:modId xmlns:p14="http://schemas.microsoft.com/office/powerpoint/2010/main" val="3042485246"/>
              </p:ext>
            </p:extLst>
          </p:nvPr>
        </p:nvGraphicFramePr>
        <p:xfrm>
          <a:off x="2411760" y="3541748"/>
          <a:ext cx="385776" cy="313272"/>
        </p:xfrm>
        <a:graphic>
          <a:graphicData uri="http://schemas.openxmlformats.org/presentationml/2006/ole">
            <mc:AlternateContent xmlns:mc="http://schemas.openxmlformats.org/markup-compatibility/2006">
              <mc:Choice xmlns:v="urn:schemas-microsoft-com:vml" Requires="v">
                <p:oleObj name="Equation" r:id="rId7" imgW="203040" imgH="164880" progId="Equation.DSMT4">
                  <p:embed/>
                </p:oleObj>
              </mc:Choice>
              <mc:Fallback>
                <p:oleObj name="Equation" r:id="rId7" imgW="203040" imgH="164880" progId="Equation.DSMT4">
                  <p:embed/>
                  <p:pic>
                    <p:nvPicPr>
                      <p:cNvPr id="14" name="Object 7"/>
                      <p:cNvPicPr>
                        <a:picLocks noChangeAspect="1" noChangeArrowheads="1"/>
                      </p:cNvPicPr>
                      <p:nvPr/>
                    </p:nvPicPr>
                    <p:blipFill>
                      <a:blip r:embed="rId8"/>
                      <a:srcRect/>
                      <a:stretch>
                        <a:fillRect/>
                      </a:stretch>
                    </p:blipFill>
                    <p:spPr bwMode="auto">
                      <a:xfrm>
                        <a:off x="2411760" y="3541748"/>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2690891255"/>
              </p:ext>
            </p:extLst>
          </p:nvPr>
        </p:nvGraphicFramePr>
        <p:xfrm>
          <a:off x="3085800" y="3541748"/>
          <a:ext cx="385776" cy="313272"/>
        </p:xfrm>
        <a:graphic>
          <a:graphicData uri="http://schemas.openxmlformats.org/presentationml/2006/ole">
            <mc:AlternateContent xmlns:mc="http://schemas.openxmlformats.org/markup-compatibility/2006">
              <mc:Choice xmlns:v="urn:schemas-microsoft-com:vml" Requires="v">
                <p:oleObj name="Equation" r:id="rId7" imgW="203040" imgH="164880" progId="Equation.DSMT4">
                  <p:embed/>
                </p:oleObj>
              </mc:Choice>
              <mc:Fallback>
                <p:oleObj name="Equation" r:id="rId7" imgW="203040" imgH="164880" progId="Equation.DSMT4">
                  <p:embed/>
                  <p:pic>
                    <p:nvPicPr>
                      <p:cNvPr id="15" name="Object 7"/>
                      <p:cNvPicPr>
                        <a:picLocks noChangeAspect="1" noChangeArrowheads="1"/>
                      </p:cNvPicPr>
                      <p:nvPr/>
                    </p:nvPicPr>
                    <p:blipFill>
                      <a:blip r:embed="rId8"/>
                      <a:srcRect/>
                      <a:stretch>
                        <a:fillRect/>
                      </a:stretch>
                    </p:blipFill>
                    <p:spPr bwMode="auto">
                      <a:xfrm>
                        <a:off x="3085800" y="3541748"/>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7"/>
          <p:cNvGraphicFramePr>
            <a:graphicFrameLocks noChangeAspect="1"/>
          </p:cNvGraphicFramePr>
          <p:nvPr>
            <p:extLst>
              <p:ext uri="{D42A27DB-BD31-4B8C-83A1-F6EECF244321}">
                <p14:modId xmlns:p14="http://schemas.microsoft.com/office/powerpoint/2010/main" val="3787530398"/>
              </p:ext>
            </p:extLst>
          </p:nvPr>
        </p:nvGraphicFramePr>
        <p:xfrm>
          <a:off x="3733872" y="3546681"/>
          <a:ext cx="385776" cy="313272"/>
        </p:xfrm>
        <a:graphic>
          <a:graphicData uri="http://schemas.openxmlformats.org/presentationml/2006/ole">
            <mc:AlternateContent xmlns:mc="http://schemas.openxmlformats.org/markup-compatibility/2006">
              <mc:Choice xmlns:v="urn:schemas-microsoft-com:vml" Requires="v">
                <p:oleObj name="Equation" r:id="rId7" imgW="203040" imgH="164880" progId="Equation.DSMT4">
                  <p:embed/>
                </p:oleObj>
              </mc:Choice>
              <mc:Fallback>
                <p:oleObj name="Equation" r:id="rId7" imgW="203040" imgH="164880" progId="Equation.DSMT4">
                  <p:embed/>
                  <p:pic>
                    <p:nvPicPr>
                      <p:cNvPr id="16" name="Object 7"/>
                      <p:cNvPicPr>
                        <a:picLocks noChangeAspect="1" noChangeArrowheads="1"/>
                      </p:cNvPicPr>
                      <p:nvPr/>
                    </p:nvPicPr>
                    <p:blipFill>
                      <a:blip r:embed="rId8"/>
                      <a:srcRect/>
                      <a:stretch>
                        <a:fillRect/>
                      </a:stretch>
                    </p:blipFill>
                    <p:spPr bwMode="auto">
                      <a:xfrm>
                        <a:off x="3733872" y="3546681"/>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7"/>
          <p:cNvGraphicFramePr>
            <a:graphicFrameLocks noChangeAspect="1"/>
          </p:cNvGraphicFramePr>
          <p:nvPr>
            <p:extLst>
              <p:ext uri="{D42A27DB-BD31-4B8C-83A1-F6EECF244321}">
                <p14:modId xmlns:p14="http://schemas.microsoft.com/office/powerpoint/2010/main" val="369088309"/>
              </p:ext>
            </p:extLst>
          </p:nvPr>
        </p:nvGraphicFramePr>
        <p:xfrm>
          <a:off x="6346464" y="3612349"/>
          <a:ext cx="385776" cy="313272"/>
        </p:xfrm>
        <a:graphic>
          <a:graphicData uri="http://schemas.openxmlformats.org/presentationml/2006/ole">
            <mc:AlternateContent xmlns:mc="http://schemas.openxmlformats.org/markup-compatibility/2006">
              <mc:Choice xmlns:v="urn:schemas-microsoft-com:vml" Requires="v">
                <p:oleObj name="Equation" r:id="rId7" imgW="203040" imgH="164880" progId="Equation.DSMT4">
                  <p:embed/>
                </p:oleObj>
              </mc:Choice>
              <mc:Fallback>
                <p:oleObj name="Equation" r:id="rId7" imgW="203040" imgH="164880" progId="Equation.DSMT4">
                  <p:embed/>
                  <p:pic>
                    <p:nvPicPr>
                      <p:cNvPr id="17" name="Object 7"/>
                      <p:cNvPicPr>
                        <a:picLocks noChangeAspect="1" noChangeArrowheads="1"/>
                      </p:cNvPicPr>
                      <p:nvPr/>
                    </p:nvPicPr>
                    <p:blipFill>
                      <a:blip r:embed="rId8"/>
                      <a:srcRect/>
                      <a:stretch>
                        <a:fillRect/>
                      </a:stretch>
                    </p:blipFill>
                    <p:spPr bwMode="auto">
                      <a:xfrm>
                        <a:off x="6346464" y="3612349"/>
                        <a:ext cx="385776" cy="3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2495677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552" y="2576049"/>
            <a:ext cx="6343403" cy="527580"/>
          </a:xfrm>
          <a:prstGeom prst="rect">
            <a:avLst/>
          </a:prstGeom>
        </p:spPr>
        <p:txBody>
          <a:bodyPr wrap="none">
            <a:spAutoFit/>
          </a:bodyPr>
          <a:lstStyle/>
          <a:p>
            <a:pPr algn="just">
              <a:lnSpc>
                <a:spcPct val="110000"/>
              </a:lnSpc>
            </a:pPr>
            <a:r>
              <a:rPr lang="zh-CN" altLang="en-US" sz="2800" b="1" dirty="0">
                <a:latin typeface="+mj-lt"/>
                <a:ea typeface="+mn-ea"/>
                <a:cs typeface="Times New Roman" panose="02020603050405020304" pitchFamily="18" charset="0"/>
              </a:rPr>
              <a:t>用频率采样值表达</a:t>
            </a:r>
            <a:r>
              <a:rPr lang="en-US" altLang="zh-CN" sz="2800" b="1" i="1" dirty="0">
                <a:solidFill>
                  <a:srgbClr val="0000CC"/>
                </a:solidFill>
                <a:latin typeface="+mj-lt"/>
                <a:ea typeface="+mn-ea"/>
                <a:cs typeface="Times New Roman" panose="02020603050405020304" pitchFamily="18" charset="0"/>
              </a:rPr>
              <a:t>H</a:t>
            </a:r>
            <a:r>
              <a:rPr lang="en-US" altLang="zh-CN" sz="2800" b="1" dirty="0">
                <a:solidFill>
                  <a:srgbClr val="0000CC"/>
                </a:solidFill>
                <a:latin typeface="+mj-lt"/>
                <a:ea typeface="+mn-ea"/>
                <a:cs typeface="Times New Roman" panose="02020603050405020304" pitchFamily="18" charset="0"/>
              </a:rPr>
              <a:t>(</a:t>
            </a:r>
            <a:r>
              <a:rPr lang="en-US" altLang="zh-CN" sz="2800" b="1" i="1" dirty="0">
                <a:solidFill>
                  <a:srgbClr val="0000CC"/>
                </a:solidFill>
                <a:latin typeface="+mj-lt"/>
                <a:ea typeface="+mn-ea"/>
                <a:cs typeface="Times New Roman" panose="02020603050405020304" pitchFamily="18" charset="0"/>
              </a:rPr>
              <a:t>z</a:t>
            </a:r>
            <a:r>
              <a:rPr lang="en-US" altLang="zh-CN" sz="2800" b="1" dirty="0">
                <a:solidFill>
                  <a:srgbClr val="0000CC"/>
                </a:solidFill>
                <a:latin typeface="+mj-lt"/>
                <a:ea typeface="+mn-ea"/>
                <a:cs typeface="Times New Roman" panose="02020603050405020304" pitchFamily="18" charset="0"/>
              </a:rPr>
              <a:t>)</a:t>
            </a:r>
            <a:r>
              <a:rPr lang="en-US" altLang="zh-CN" sz="2800" b="1" dirty="0">
                <a:solidFill>
                  <a:srgbClr val="000000"/>
                </a:solidFill>
                <a:latin typeface="+mj-lt"/>
                <a:ea typeface="+mn-ea"/>
                <a:cs typeface="Times New Roman" panose="02020603050405020304" pitchFamily="18" charset="0"/>
              </a:rPr>
              <a:t> </a:t>
            </a:r>
            <a:r>
              <a:rPr lang="zh-CN" altLang="en-US" sz="2800" b="1" dirty="0">
                <a:latin typeface="+mj-lt"/>
                <a:ea typeface="+mn-ea"/>
                <a:cs typeface="Times New Roman" panose="02020603050405020304" pitchFamily="18" charset="0"/>
              </a:rPr>
              <a:t>的内插公式为：</a:t>
            </a:r>
          </a:p>
        </p:txBody>
      </p:sp>
      <p:sp>
        <p:nvSpPr>
          <p:cNvPr id="4" name="矩形 3"/>
          <p:cNvSpPr/>
          <p:nvPr/>
        </p:nvSpPr>
        <p:spPr>
          <a:xfrm>
            <a:off x="539552" y="1378232"/>
            <a:ext cx="8496944" cy="1114664"/>
          </a:xfrm>
          <a:prstGeom prst="rect">
            <a:avLst/>
          </a:prstGeom>
        </p:spPr>
        <p:txBody>
          <a:bodyPr wrap="square">
            <a:spAutoFit/>
          </a:bodyPr>
          <a:lstStyle/>
          <a:p>
            <a:pPr eaLnBrk="1" fontAlgn="auto" hangingPunct="1">
              <a:lnSpc>
                <a:spcPct val="125000"/>
              </a:lnSpc>
              <a:spcBef>
                <a:spcPts val="0"/>
              </a:spcBef>
              <a:spcAft>
                <a:spcPts val="0"/>
              </a:spcAft>
            </a:pPr>
            <a:r>
              <a:rPr kumimoji="1" lang="zh-CN" altLang="en-US" sz="2800" b="1" u="none" strike="noStrike" kern="0" cap="none" spc="0" normalizeH="0" baseline="0" noProof="0" dirty="0">
                <a:ln>
                  <a:noFill/>
                </a:ln>
                <a:effectLst/>
                <a:uLnTx/>
                <a:uFillTx/>
                <a:latin typeface="+mj-lt"/>
                <a:ea typeface="+mn-ea"/>
                <a:cs typeface="Times New Roman" panose="02020603050405020304" pitchFamily="18" charset="0"/>
              </a:rPr>
              <a:t>一个长度为 </a:t>
            </a:r>
            <a:r>
              <a:rPr kumimoji="1" lang="en-US" altLang="zh-CN" sz="2800" b="1" i="1" kern="0" dirty="0">
                <a:latin typeface="+mj-lt"/>
                <a:ea typeface="+mn-ea"/>
                <a:cs typeface="Times New Roman" panose="02020603050405020304" pitchFamily="18" charset="0"/>
              </a:rPr>
              <a:t>N</a:t>
            </a:r>
            <a:r>
              <a:rPr kumimoji="1" lang="zh-CN" altLang="en-US" sz="2800" b="1" kern="0" dirty="0">
                <a:latin typeface="+mj-lt"/>
                <a:ea typeface="+mn-ea"/>
                <a:cs typeface="Times New Roman" panose="02020603050405020304" pitchFamily="18" charset="0"/>
              </a:rPr>
              <a:t>的序列</a:t>
            </a:r>
            <a:r>
              <a:rPr kumimoji="1" lang="zh-CN" altLang="en-US" sz="2800" b="1" u="none" strike="noStrike" kern="0" cap="none" spc="0" normalizeH="0" baseline="0" noProof="0" dirty="0">
                <a:ln>
                  <a:noFill/>
                </a:ln>
                <a:effectLst/>
                <a:uLnTx/>
                <a:uFillTx/>
                <a:latin typeface="+mj-lt"/>
                <a:ea typeface="+mn-ea"/>
                <a:cs typeface="Times New Roman" panose="02020603050405020304" pitchFamily="18" charset="0"/>
              </a:rPr>
              <a:t> </a:t>
            </a:r>
            <a:r>
              <a:rPr kumimoji="1" lang="en-US" altLang="zh-CN" sz="2800" b="1" i="1" u="none" strike="noStrike" kern="0" cap="none" spc="0" normalizeH="0" baseline="0" noProof="0" dirty="0">
                <a:ln>
                  <a:noFill/>
                </a:ln>
                <a:effectLst/>
                <a:uLnTx/>
                <a:uFillTx/>
                <a:latin typeface="+mj-lt"/>
                <a:ea typeface="+mn-ea"/>
                <a:cs typeface="Times New Roman" panose="02020603050405020304" pitchFamily="18" charset="0"/>
              </a:rPr>
              <a:t>h</a:t>
            </a:r>
            <a:r>
              <a:rPr kumimoji="1" lang="en-US" altLang="zh-CN" sz="2800" b="1" i="0" u="none" strike="noStrike" kern="0" cap="none" spc="0" normalizeH="0" baseline="0" noProof="0" dirty="0">
                <a:ln>
                  <a:noFill/>
                </a:ln>
                <a:effectLst/>
                <a:uLnTx/>
                <a:uFillTx/>
                <a:latin typeface="+mj-lt"/>
                <a:ea typeface="+mn-ea"/>
                <a:cs typeface="Times New Roman" panose="02020603050405020304" pitchFamily="18" charset="0"/>
              </a:rPr>
              <a:t>(</a:t>
            </a:r>
            <a:r>
              <a:rPr kumimoji="1" lang="en-US" altLang="zh-CN" sz="2800" b="1" i="1" u="none" strike="noStrike" kern="0" cap="none" spc="0" normalizeH="0" baseline="0" noProof="0" dirty="0">
                <a:ln>
                  <a:noFill/>
                </a:ln>
                <a:effectLst/>
                <a:uLnTx/>
                <a:uFillTx/>
                <a:latin typeface="+mj-lt"/>
                <a:ea typeface="+mn-ea"/>
                <a:cs typeface="Times New Roman" panose="02020603050405020304" pitchFamily="18" charset="0"/>
              </a:rPr>
              <a:t>n</a:t>
            </a:r>
            <a:r>
              <a:rPr kumimoji="1" lang="en-US" altLang="zh-CN" sz="2800" b="1" i="0" u="none" strike="noStrike" kern="0" cap="none" spc="0" normalizeH="0" baseline="0" noProof="0" dirty="0">
                <a:ln>
                  <a:noFill/>
                </a:ln>
                <a:effectLst/>
                <a:uLnTx/>
                <a:uFillTx/>
                <a:latin typeface="+mj-lt"/>
                <a:ea typeface="+mn-ea"/>
                <a:cs typeface="Times New Roman" panose="02020603050405020304" pitchFamily="18" charset="0"/>
              </a:rPr>
              <a:t>)</a:t>
            </a:r>
            <a:r>
              <a:rPr kumimoji="1" lang="zh-CN" altLang="en-US" sz="2800" b="1" i="0" u="none" strike="noStrike" kern="0" cap="none" spc="0" normalizeH="0" baseline="0" noProof="0" dirty="0">
                <a:ln>
                  <a:noFill/>
                </a:ln>
                <a:effectLst/>
                <a:uLnTx/>
                <a:uFillTx/>
                <a:latin typeface="+mj-lt"/>
                <a:ea typeface="+mn-ea"/>
                <a:cs typeface="Times New Roman" panose="02020603050405020304" pitchFamily="18" charset="0"/>
              </a:rPr>
              <a:t>，</a:t>
            </a:r>
            <a:r>
              <a:rPr lang="zh-CN" altLang="en-US" sz="2800" b="1" dirty="0">
                <a:solidFill>
                  <a:prstClr val="black"/>
                </a:solidFill>
                <a:latin typeface="+mj-lt"/>
                <a:ea typeface="+mn-ea"/>
              </a:rPr>
              <a:t>可以用</a:t>
            </a:r>
            <a:r>
              <a:rPr lang="en-US" altLang="zh-CN" sz="2800" b="1" i="1" dirty="0">
                <a:solidFill>
                  <a:prstClr val="black"/>
                </a:solidFill>
                <a:latin typeface="+mj-lt"/>
                <a:ea typeface="+mn-ea"/>
              </a:rPr>
              <a:t>N</a:t>
            </a:r>
            <a:r>
              <a:rPr lang="zh-CN" altLang="en-US" sz="2800" b="1" dirty="0">
                <a:solidFill>
                  <a:prstClr val="black"/>
                </a:solidFill>
                <a:latin typeface="+mj-lt"/>
                <a:ea typeface="+mn-ea"/>
              </a:rPr>
              <a:t>个频域的采样值来</a:t>
            </a:r>
            <a:r>
              <a:rPr lang="zh-CN" altLang="en-US" sz="2800" b="1" kern="0" dirty="0">
                <a:solidFill>
                  <a:prstClr val="black"/>
                </a:solidFill>
                <a:latin typeface="+mj-lt"/>
                <a:ea typeface="+mn-ea"/>
              </a:rPr>
              <a:t>唯一地确定。</a:t>
            </a:r>
            <a:endParaRPr lang="zh-CN" altLang="en-US" sz="2800" b="1" kern="0" dirty="0">
              <a:latin typeface="+mj-lt"/>
              <a:ea typeface="+mn-ea"/>
            </a:endParaRPr>
          </a:p>
        </p:txBody>
      </p:sp>
      <p:graphicFrame>
        <p:nvGraphicFramePr>
          <p:cNvPr id="7" name="Object 4"/>
          <p:cNvGraphicFramePr>
            <a:graphicFrameLocks noChangeAspect="1"/>
          </p:cNvGraphicFramePr>
          <p:nvPr>
            <p:extLst>
              <p:ext uri="{D42A27DB-BD31-4B8C-83A1-F6EECF244321}">
                <p14:modId xmlns:p14="http://schemas.microsoft.com/office/powerpoint/2010/main" val="854800025"/>
              </p:ext>
            </p:extLst>
          </p:nvPr>
        </p:nvGraphicFramePr>
        <p:xfrm>
          <a:off x="1547664" y="3226759"/>
          <a:ext cx="5148886" cy="1066337"/>
        </p:xfrm>
        <a:graphic>
          <a:graphicData uri="http://schemas.openxmlformats.org/presentationml/2006/ole">
            <mc:AlternateContent xmlns:mc="http://schemas.openxmlformats.org/markup-compatibility/2006">
              <mc:Choice xmlns:v="urn:schemas-microsoft-com:vml" Requires="v">
                <p:oleObj name="Equation" r:id="rId2" imgW="2145369" imgH="444307" progId="Equation.DSMT4">
                  <p:embed/>
                </p:oleObj>
              </mc:Choice>
              <mc:Fallback>
                <p:oleObj name="Equation" r:id="rId2" imgW="2145369" imgH="444307" progId="Equation.DSMT4">
                  <p:embed/>
                  <p:pic>
                    <p:nvPicPr>
                      <p:cNvPr id="5325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3226759"/>
                        <a:ext cx="5148886" cy="106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3731577659"/>
              </p:ext>
            </p:extLst>
          </p:nvPr>
        </p:nvGraphicFramePr>
        <p:xfrm>
          <a:off x="1269487" y="5482260"/>
          <a:ext cx="4327776" cy="1035936"/>
        </p:xfrm>
        <a:graphic>
          <a:graphicData uri="http://schemas.openxmlformats.org/presentationml/2006/ole">
            <mc:AlternateContent xmlns:mc="http://schemas.openxmlformats.org/markup-compatibility/2006">
              <mc:Choice xmlns:v="urn:schemas-microsoft-com:vml" Requires="v">
                <p:oleObj name="Equation" r:id="rId4" imgW="1803240" imgH="431640" progId="Equation.DSMT4">
                  <p:embed/>
                </p:oleObj>
              </mc:Choice>
              <mc:Fallback>
                <p:oleObj name="Equation" r:id="rId4" imgW="1803240" imgH="431640" progId="Equation.DSMT4">
                  <p:embed/>
                  <p:pic>
                    <p:nvPicPr>
                      <p:cNvPr id="5" name="Object 3"/>
                      <p:cNvPicPr>
                        <a:picLocks noChangeAspect="1" noChangeArrowheads="1"/>
                      </p:cNvPicPr>
                      <p:nvPr/>
                    </p:nvPicPr>
                    <p:blipFill>
                      <a:blip r:embed="rId5"/>
                      <a:srcRect/>
                      <a:stretch>
                        <a:fillRect/>
                      </a:stretch>
                    </p:blipFill>
                    <p:spPr bwMode="auto">
                      <a:xfrm>
                        <a:off x="1269487" y="5482260"/>
                        <a:ext cx="4327776" cy="103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p:cNvGraphicFramePr>
            <a:graphicFrameLocks noGrp="1" noChangeAspect="1"/>
          </p:cNvGraphicFramePr>
          <p:nvPr>
            <p:ph sz="half" idx="1"/>
            <p:extLst>
              <p:ext uri="{D42A27DB-BD31-4B8C-83A1-F6EECF244321}">
                <p14:modId xmlns:p14="http://schemas.microsoft.com/office/powerpoint/2010/main" val="1967035778"/>
              </p:ext>
            </p:extLst>
          </p:nvPr>
        </p:nvGraphicFramePr>
        <p:xfrm>
          <a:off x="1295400" y="4394299"/>
          <a:ext cx="5975350" cy="1050925"/>
        </p:xfrm>
        <a:graphic>
          <a:graphicData uri="http://schemas.openxmlformats.org/presentationml/2006/ole">
            <mc:AlternateContent xmlns:mc="http://schemas.openxmlformats.org/markup-compatibility/2006">
              <mc:Choice xmlns:v="urn:schemas-microsoft-com:vml" Requires="v">
                <p:oleObj name="Equation" r:id="rId6" imgW="2527300" imgH="444500" progId="Equation.DSMT4">
                  <p:embed/>
                </p:oleObj>
              </mc:Choice>
              <mc:Fallback>
                <p:oleObj name="Equation" r:id="rId6" imgW="2527300" imgH="444500" progId="Equation.DSMT4">
                  <p:embed/>
                  <p:pic>
                    <p:nvPicPr>
                      <p:cNvPr id="6451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4394299"/>
                        <a:ext cx="5975350"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矩形 10"/>
          <p:cNvSpPr/>
          <p:nvPr/>
        </p:nvSpPr>
        <p:spPr>
          <a:xfrm>
            <a:off x="557733" y="4610164"/>
            <a:ext cx="545342"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设</a:t>
            </a:r>
            <a:endParaRPr lang="zh-CN" altLang="en-US" dirty="0"/>
          </a:p>
        </p:txBody>
      </p:sp>
      <p:sp>
        <p:nvSpPr>
          <p:cNvPr id="12" name="矩形 11"/>
          <p:cNvSpPr/>
          <p:nvPr/>
        </p:nvSpPr>
        <p:spPr>
          <a:xfrm>
            <a:off x="557733" y="5690538"/>
            <a:ext cx="545342"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ea typeface="宋体"/>
                <a:cs typeface="Times New Roman" panose="02020603050405020304" pitchFamily="18" charset="0"/>
              </a:rPr>
              <a:t>则</a:t>
            </a:r>
            <a:endParaRPr lang="zh-CN" altLang="en-US" dirty="0"/>
          </a:p>
        </p:txBody>
      </p:sp>
      <p:sp>
        <p:nvSpPr>
          <p:cNvPr id="14" name="矩形 13"/>
          <p:cNvSpPr/>
          <p:nvPr/>
        </p:nvSpPr>
        <p:spPr>
          <a:xfrm>
            <a:off x="5807755" y="5690538"/>
            <a:ext cx="305724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b="1" dirty="0">
                <a:latin typeface="+mj-lt"/>
                <a:ea typeface="+mn-ea"/>
                <a:cs typeface="Times New Roman" panose="02020603050405020304" pitchFamily="18" charset="0"/>
              </a:rPr>
              <a:t>由两部分级联而成</a:t>
            </a:r>
          </a:p>
        </p:txBody>
      </p:sp>
      <p:sp>
        <p:nvSpPr>
          <p:cNvPr id="15" name="矩形 14"/>
          <p:cNvSpPr/>
          <p:nvPr/>
        </p:nvSpPr>
        <p:spPr>
          <a:xfrm>
            <a:off x="932614" y="826127"/>
            <a:ext cx="3337773" cy="553998"/>
          </a:xfrm>
          <a:prstGeom prst="rect">
            <a:avLst/>
          </a:prstGeom>
        </p:spPr>
        <p:txBody>
          <a:bodyPr wrap="none">
            <a:spAutoFit/>
          </a:bodyPr>
          <a:lstStyle/>
          <a:p>
            <a:pPr lvl="0" eaLnBrk="1" hangingPunct="1"/>
            <a:r>
              <a:rPr lang="en-US" altLang="zh-CN" sz="3000" b="1" dirty="0">
                <a:solidFill>
                  <a:srgbClr val="000000"/>
                </a:solidFill>
                <a:latin typeface="Times New Roman"/>
              </a:rPr>
              <a:t>(4)</a:t>
            </a:r>
            <a:r>
              <a:rPr lang="zh-CN" altLang="en-US" sz="3000" b="1" dirty="0">
                <a:solidFill>
                  <a:srgbClr val="000000"/>
                </a:solidFill>
                <a:latin typeface="Times New Roman"/>
              </a:rPr>
              <a:t>频率采样型结构</a:t>
            </a:r>
          </a:p>
        </p:txBody>
      </p:sp>
      <p:sp>
        <p:nvSpPr>
          <p:cNvPr id="13"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23027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5"/>
          <p:cNvGraphicFramePr>
            <a:graphicFrameLocks noGrp="1" noChangeAspect="1"/>
          </p:cNvGraphicFramePr>
          <p:nvPr>
            <p:ph sz="half" idx="1"/>
            <p:extLst>
              <p:ext uri="{D42A27DB-BD31-4B8C-83A1-F6EECF244321}">
                <p14:modId xmlns:p14="http://schemas.microsoft.com/office/powerpoint/2010/main" val="1228577011"/>
              </p:ext>
            </p:extLst>
          </p:nvPr>
        </p:nvGraphicFramePr>
        <p:xfrm>
          <a:off x="2109084" y="981075"/>
          <a:ext cx="2376864" cy="578880"/>
        </p:xfrm>
        <a:graphic>
          <a:graphicData uri="http://schemas.openxmlformats.org/presentationml/2006/ole">
            <mc:AlternateContent xmlns:mc="http://schemas.openxmlformats.org/markup-compatibility/2006">
              <mc:Choice xmlns:v="urn:schemas-microsoft-com:vml" Requires="v">
                <p:oleObj name="Equation" r:id="rId2" imgW="990360" imgH="241200" progId="Equation.DSMT4">
                  <p:embed/>
                </p:oleObj>
              </mc:Choice>
              <mc:Fallback>
                <p:oleObj name="Equation" r:id="rId2" imgW="990360" imgH="241200" progId="Equation.DSMT4">
                  <p:embed/>
                  <p:pic>
                    <p:nvPicPr>
                      <p:cNvPr id="10" name="Object 5"/>
                      <p:cNvPicPr>
                        <a:picLocks noChangeAspect="1" noChangeArrowheads="1"/>
                      </p:cNvPicPr>
                      <p:nvPr/>
                    </p:nvPicPr>
                    <p:blipFill>
                      <a:blip r:embed="rId3"/>
                      <a:srcRect/>
                      <a:stretch>
                        <a:fillRect/>
                      </a:stretch>
                    </p:blipFill>
                    <p:spPr bwMode="auto">
                      <a:xfrm>
                        <a:off x="2109084" y="981075"/>
                        <a:ext cx="2376864" cy="5788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 name="Picture 5" descr="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79912" y="2516755"/>
            <a:ext cx="4262941" cy="3178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481715" y="981075"/>
            <a:ext cx="1627369"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cs typeface="Times New Roman" panose="02020603050405020304" pitchFamily="18" charset="0"/>
              </a:rPr>
              <a:t>第一部分</a:t>
            </a:r>
            <a:endParaRPr kumimoji="0" lang="zh-CN" altLang="en-US" sz="1800" b="0" i="0" u="none" strike="noStrike" kern="0" cap="none" spc="0" normalizeH="0" baseline="0" noProof="0" dirty="0">
              <a:ln>
                <a:noFill/>
              </a:ln>
              <a:solidFill>
                <a:sysClr val="windowText" lastClr="000000"/>
              </a:solidFill>
              <a:effectLst/>
              <a:uLnTx/>
              <a:uFillTx/>
              <a:latin typeface="宋体" panose="02010600030101010101" pitchFamily="2" charset="-122"/>
            </a:endParaRPr>
          </a:p>
        </p:txBody>
      </p:sp>
      <p:sp>
        <p:nvSpPr>
          <p:cNvPr id="8" name="矩形 7"/>
          <p:cNvSpPr/>
          <p:nvPr/>
        </p:nvSpPr>
        <p:spPr>
          <a:xfrm>
            <a:off x="4860032" y="1008905"/>
            <a:ext cx="1980029"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effectLst/>
                <a:uLnTx/>
                <a:uFillTx/>
                <a:latin typeface="宋体" panose="02010600030101010101" pitchFamily="2" charset="-122"/>
                <a:cs typeface="Times New Roman" panose="02020603050405020304" pitchFamily="18" charset="0"/>
              </a:rPr>
              <a:t>梳状滤波器</a:t>
            </a:r>
            <a:endParaRPr kumimoji="0" lang="zh-CN" altLang="en-US" sz="1800" b="1" i="0" u="none" strike="noStrike" kern="0" cap="none" spc="0" normalizeH="0" baseline="0" noProof="0" dirty="0">
              <a:ln>
                <a:noFill/>
              </a:ln>
              <a:effectLst/>
              <a:uLnTx/>
              <a:uFillTx/>
              <a:latin typeface="宋体" panose="02010600030101010101" pitchFamily="2" charset="-122"/>
            </a:endParaRPr>
          </a:p>
        </p:txBody>
      </p:sp>
      <p:sp>
        <p:nvSpPr>
          <p:cNvPr id="10" name="矩形 9"/>
          <p:cNvSpPr/>
          <p:nvPr/>
        </p:nvSpPr>
        <p:spPr>
          <a:xfrm>
            <a:off x="4616717" y="3506086"/>
            <a:ext cx="1422184" cy="46166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effectLst/>
                <a:uLnTx/>
                <a:uFillTx/>
                <a:latin typeface="宋体" panose="02010600030101010101" pitchFamily="2" charset="-122"/>
                <a:cs typeface="Times New Roman" panose="02020603050405020304" pitchFamily="18" charset="0"/>
              </a:rPr>
              <a:t>幅度响应</a:t>
            </a:r>
            <a:endParaRPr kumimoji="0" lang="zh-CN" altLang="en-US" sz="1600" b="1" i="0" u="none" strike="noStrike" kern="0" cap="none" spc="0" normalizeH="0" baseline="0" noProof="0" dirty="0">
              <a:ln>
                <a:noFill/>
              </a:ln>
              <a:effectLst/>
              <a:uLnTx/>
              <a:uFillTx/>
              <a:latin typeface="宋体" panose="02010600030101010101" pitchFamily="2" charset="-122"/>
            </a:endParaRPr>
          </a:p>
        </p:txBody>
      </p:sp>
      <p:sp>
        <p:nvSpPr>
          <p:cNvPr id="11" name="AutoShape 4"/>
          <p:cNvSpPr>
            <a:spLocks noChangeArrowheads="1"/>
          </p:cNvSpPr>
          <p:nvPr/>
        </p:nvSpPr>
        <p:spPr bwMode="auto">
          <a:xfrm>
            <a:off x="6522918" y="3254467"/>
            <a:ext cx="1800225" cy="503237"/>
          </a:xfrm>
          <a:prstGeom prst="wedgeRectCallout">
            <a:avLst>
              <a:gd name="adj1" fmla="val -49384"/>
              <a:gd name="adj2" fmla="val 136435"/>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marL="342900" indent="-342900">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buClr>
                <a:schemeClr val="tx1"/>
              </a:buClr>
              <a:buSzPct val="80000"/>
              <a:buFont typeface="Wingdings" panose="05000000000000000000" pitchFamily="2" charset="2"/>
              <a:buNone/>
            </a:pPr>
            <a:r>
              <a:rPr kumimoji="0" lang="zh-CN" altLang="en-US" sz="2400" dirty="0">
                <a:solidFill>
                  <a:srgbClr val="0000CC"/>
                </a:solidFill>
                <a:latin typeface="宋体" panose="02010600030101010101" pitchFamily="2" charset="-122"/>
                <a:ea typeface="宋体" panose="02010600030101010101" pitchFamily="2" charset="-122"/>
                <a:cs typeface="Times New Roman" panose="02020603050405020304" pitchFamily="18" charset="0"/>
              </a:rPr>
              <a:t>梳齿状</a:t>
            </a:r>
          </a:p>
        </p:txBody>
      </p:sp>
      <p:sp>
        <p:nvSpPr>
          <p:cNvPr id="12" name="Rectangle 4"/>
          <p:cNvSpPr>
            <a:spLocks noChangeArrowheads="1"/>
          </p:cNvSpPr>
          <p:nvPr/>
        </p:nvSpPr>
        <p:spPr bwMode="auto">
          <a:xfrm>
            <a:off x="3607127" y="5940472"/>
            <a:ext cx="46085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00"/>
                </a:solidFill>
                <a:latin typeface="+mj-lt"/>
                <a:ea typeface="+mn-ea"/>
                <a:cs typeface="Times New Roman" panose="02020603050405020304" pitchFamily="18" charset="0"/>
              </a:rPr>
              <a:t>图</a:t>
            </a:r>
            <a:r>
              <a:rPr lang="en-US" altLang="zh-CN" b="1" dirty="0">
                <a:solidFill>
                  <a:srgbClr val="000000"/>
                </a:solidFill>
                <a:latin typeface="+mj-lt"/>
                <a:ea typeface="+mn-ea"/>
                <a:cs typeface="Times New Roman" panose="02020603050405020304" pitchFamily="18" charset="0"/>
              </a:rPr>
              <a:t>6.18             </a:t>
            </a:r>
            <a:r>
              <a:rPr lang="zh-CN" altLang="en-US" b="1" dirty="0">
                <a:solidFill>
                  <a:srgbClr val="000000"/>
                </a:solidFill>
                <a:latin typeface="+mj-lt"/>
                <a:ea typeface="+mn-ea"/>
                <a:cs typeface="Times New Roman" panose="02020603050405020304" pitchFamily="18" charset="0"/>
              </a:rPr>
              <a:t>的信号流图和频响 </a:t>
            </a:r>
            <a:endParaRPr lang="zh-CN" altLang="en-US" b="1" dirty="0">
              <a:latin typeface="+mj-lt"/>
              <a:ea typeface="+mn-ea"/>
              <a:cs typeface="Times New Roman" panose="02020603050405020304" pitchFamily="18" charset="0"/>
            </a:endParaRPr>
          </a:p>
        </p:txBody>
      </p:sp>
      <p:graphicFrame>
        <p:nvGraphicFramePr>
          <p:cNvPr id="13" name="Object 5"/>
          <p:cNvGraphicFramePr>
            <a:graphicFrameLocks noGrp="1" noChangeAspect="1"/>
          </p:cNvGraphicFramePr>
          <p:nvPr>
            <p:ph sz="half" idx="1"/>
            <p:extLst>
              <p:ext uri="{D42A27DB-BD31-4B8C-83A1-F6EECF244321}">
                <p14:modId xmlns:p14="http://schemas.microsoft.com/office/powerpoint/2010/main" val="3435682322"/>
              </p:ext>
            </p:extLst>
          </p:nvPr>
        </p:nvGraphicFramePr>
        <p:xfrm>
          <a:off x="4692173" y="5987034"/>
          <a:ext cx="796176" cy="434340"/>
        </p:xfrm>
        <a:graphic>
          <a:graphicData uri="http://schemas.openxmlformats.org/presentationml/2006/ole">
            <mc:AlternateContent xmlns:mc="http://schemas.openxmlformats.org/markup-compatibility/2006">
              <mc:Choice xmlns:v="urn:schemas-microsoft-com:vml" Requires="v">
                <p:oleObj name="Equation" r:id="rId5" imgW="419040" imgH="228600" progId="Equation.DSMT4">
                  <p:embed/>
                </p:oleObj>
              </mc:Choice>
              <mc:Fallback>
                <p:oleObj name="Equation" r:id="rId5" imgW="419040" imgH="228600" progId="Equation.DSMT4">
                  <p:embed/>
                  <p:pic>
                    <p:nvPicPr>
                      <p:cNvPr id="3" name="Object 5"/>
                      <p:cNvPicPr>
                        <a:picLocks noChangeAspect="1" noChangeArrowheads="1"/>
                      </p:cNvPicPr>
                      <p:nvPr/>
                    </p:nvPicPr>
                    <p:blipFill>
                      <a:blip r:embed="rId6"/>
                      <a:srcRect/>
                      <a:stretch>
                        <a:fillRect/>
                      </a:stretch>
                    </p:blipFill>
                    <p:spPr bwMode="auto">
                      <a:xfrm>
                        <a:off x="4692173" y="5987034"/>
                        <a:ext cx="796176" cy="434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5"/>
          <p:cNvGraphicFramePr>
            <a:graphicFrameLocks noChangeAspect="1"/>
          </p:cNvGraphicFramePr>
          <p:nvPr>
            <p:extLst>
              <p:ext uri="{D42A27DB-BD31-4B8C-83A1-F6EECF244321}">
                <p14:modId xmlns:p14="http://schemas.microsoft.com/office/powerpoint/2010/main" val="2810481405"/>
              </p:ext>
            </p:extLst>
          </p:nvPr>
        </p:nvGraphicFramePr>
        <p:xfrm>
          <a:off x="887925" y="1753652"/>
          <a:ext cx="1982787" cy="447675"/>
        </p:xfrm>
        <a:graphic>
          <a:graphicData uri="http://schemas.openxmlformats.org/presentationml/2006/ole">
            <mc:AlternateContent xmlns:mc="http://schemas.openxmlformats.org/markup-compatibility/2006">
              <mc:Choice xmlns:v="urn:schemas-microsoft-com:vml" Requires="v">
                <p:oleObj name="Equation" r:id="rId7" imgW="901440" imgH="203040" progId="Equation.DSMT4">
                  <p:embed/>
                </p:oleObj>
              </mc:Choice>
              <mc:Fallback>
                <p:oleObj name="Equation" r:id="rId7" imgW="901440" imgH="203040" progId="Equation.DSMT4">
                  <p:embed/>
                  <p:pic>
                    <p:nvPicPr>
                      <p:cNvPr id="66565" name="Object 5"/>
                      <p:cNvPicPr>
                        <a:picLocks noChangeAspect="1" noChangeArrowheads="1"/>
                      </p:cNvPicPr>
                      <p:nvPr/>
                    </p:nvPicPr>
                    <p:blipFill>
                      <a:blip r:embed="rId8"/>
                      <a:srcRect/>
                      <a:stretch>
                        <a:fillRect/>
                      </a:stretch>
                    </p:blipFill>
                    <p:spPr bwMode="auto">
                      <a:xfrm>
                        <a:off x="887925" y="1753652"/>
                        <a:ext cx="198278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p:nvPr/>
        </p:nvSpPr>
        <p:spPr>
          <a:xfrm>
            <a:off x="2877101" y="1753652"/>
            <a:ext cx="902811" cy="523220"/>
          </a:xfrm>
          <a:prstGeom prst="rect">
            <a:avLst/>
          </a:prstGeom>
        </p:spPr>
        <p:txBody>
          <a:bodyPr wrap="none">
            <a:spAutoFit/>
          </a:bodyPr>
          <a:lstStyle/>
          <a:p>
            <a:r>
              <a:rPr lang="zh-CN" altLang="en-US" sz="2800" b="1" dirty="0">
                <a:latin typeface="Times New Roman" panose="02020603050405020304" pitchFamily="18" charset="0"/>
                <a:cs typeface="Times New Roman" panose="02020603050405020304" pitchFamily="18" charset="0"/>
              </a:rPr>
              <a:t>零点</a:t>
            </a:r>
            <a:endParaRPr lang="zh-CN" altLang="en-US" sz="2800" b="1" dirty="0"/>
          </a:p>
        </p:txBody>
      </p:sp>
      <p:graphicFrame>
        <p:nvGraphicFramePr>
          <p:cNvPr id="16" name="Object 5"/>
          <p:cNvGraphicFramePr>
            <a:graphicFrameLocks noChangeAspect="1"/>
          </p:cNvGraphicFramePr>
          <p:nvPr>
            <p:extLst>
              <p:ext uri="{D42A27DB-BD31-4B8C-83A1-F6EECF244321}">
                <p14:modId xmlns:p14="http://schemas.microsoft.com/office/powerpoint/2010/main" val="1491860171"/>
              </p:ext>
            </p:extLst>
          </p:nvPr>
        </p:nvGraphicFramePr>
        <p:xfrm>
          <a:off x="3779912" y="1744072"/>
          <a:ext cx="3911040" cy="532800"/>
        </p:xfrm>
        <a:graphic>
          <a:graphicData uri="http://schemas.openxmlformats.org/presentationml/2006/ole">
            <mc:AlternateContent xmlns:mc="http://schemas.openxmlformats.org/markup-compatibility/2006">
              <mc:Choice xmlns:v="urn:schemas-microsoft-com:vml" Requires="v">
                <p:oleObj name="Equation" r:id="rId9" imgW="1955520" imgH="266400" progId="Equation.DSMT4">
                  <p:embed/>
                </p:oleObj>
              </mc:Choice>
              <mc:Fallback>
                <p:oleObj name="Equation" r:id="rId9" imgW="1955520" imgH="266400" progId="Equation.DSMT4">
                  <p:embed/>
                  <p:pic>
                    <p:nvPicPr>
                      <p:cNvPr id="14" name="Object 5"/>
                      <p:cNvPicPr>
                        <a:picLocks noChangeAspect="1" noChangeArrowheads="1"/>
                      </p:cNvPicPr>
                      <p:nvPr/>
                    </p:nvPicPr>
                    <p:blipFill>
                      <a:blip r:embed="rId10"/>
                      <a:srcRect/>
                      <a:stretch>
                        <a:fillRect/>
                      </a:stretch>
                    </p:blipFill>
                    <p:spPr bwMode="auto">
                      <a:xfrm>
                        <a:off x="3779912" y="1744072"/>
                        <a:ext cx="3911040" cy="53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6"/>
          <p:cNvGraphicFramePr>
            <a:graphicFrameLocks noChangeAspect="1"/>
          </p:cNvGraphicFramePr>
          <p:nvPr>
            <p:extLst>
              <p:ext uri="{D42A27DB-BD31-4B8C-83A1-F6EECF244321}">
                <p14:modId xmlns:p14="http://schemas.microsoft.com/office/powerpoint/2010/main" val="1068044015"/>
              </p:ext>
            </p:extLst>
          </p:nvPr>
        </p:nvGraphicFramePr>
        <p:xfrm>
          <a:off x="359798" y="3686922"/>
          <a:ext cx="2681076" cy="530629"/>
        </p:xfrm>
        <a:graphic>
          <a:graphicData uri="http://schemas.openxmlformats.org/presentationml/2006/ole">
            <mc:AlternateContent xmlns:mc="http://schemas.openxmlformats.org/markup-compatibility/2006">
              <mc:Choice xmlns:v="urn:schemas-microsoft-com:vml" Requires="v">
                <p:oleObj name="Equation" r:id="rId11" imgW="1218671" imgH="241195" progId="Equation.DSMT4">
                  <p:embed/>
                </p:oleObj>
              </mc:Choice>
              <mc:Fallback>
                <p:oleObj name="Equation" r:id="rId11" imgW="1218671" imgH="241195" progId="Equation.DSMT4">
                  <p:embed/>
                  <p:pic>
                    <p:nvPicPr>
                      <p:cNvPr id="56326"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9798" y="3686922"/>
                        <a:ext cx="2681076" cy="530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7"/>
          <p:cNvGraphicFramePr>
            <a:graphicFrameLocks noChangeAspect="1"/>
          </p:cNvGraphicFramePr>
          <p:nvPr>
            <p:extLst>
              <p:ext uri="{D42A27DB-BD31-4B8C-83A1-F6EECF244321}">
                <p14:modId xmlns:p14="http://schemas.microsoft.com/office/powerpoint/2010/main" val="818895653"/>
              </p:ext>
            </p:extLst>
          </p:nvPr>
        </p:nvGraphicFramePr>
        <p:xfrm>
          <a:off x="380599" y="4293096"/>
          <a:ext cx="2970510" cy="888614"/>
        </p:xfrm>
        <a:graphic>
          <a:graphicData uri="http://schemas.openxmlformats.org/presentationml/2006/ole">
            <mc:AlternateContent xmlns:mc="http://schemas.openxmlformats.org/markup-compatibility/2006">
              <mc:Choice xmlns:v="urn:schemas-microsoft-com:vml" Requires="v">
                <p:oleObj name="Equation" r:id="rId13" imgW="1485255" imgH="444307" progId="Equation.DSMT4">
                  <p:embed/>
                </p:oleObj>
              </mc:Choice>
              <mc:Fallback>
                <p:oleObj name="Equation" r:id="rId13" imgW="1485255" imgH="444307" progId="Equation.DSMT4">
                  <p:embed/>
                  <p:pic>
                    <p:nvPicPr>
                      <p:cNvPr id="56327"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0599" y="4293096"/>
                        <a:ext cx="2970510" cy="888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261251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39552" y="1105580"/>
            <a:ext cx="1628972"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cs typeface="Times New Roman" panose="02020603050405020304" pitchFamily="18" charset="0"/>
              </a:rPr>
              <a:t>第二部分</a:t>
            </a:r>
            <a:endParaRPr kumimoji="0" lang="zh-CN" altLang="en-US" sz="1800" b="0" i="0" u="none" strike="noStrike" kern="0" cap="none" spc="0" normalizeH="0" baseline="0" noProof="0" dirty="0">
              <a:ln>
                <a:noFill/>
              </a:ln>
              <a:solidFill>
                <a:sysClr val="windowText" lastClr="000000"/>
              </a:solidFill>
              <a:effectLst/>
              <a:uLnTx/>
              <a:uFillTx/>
              <a:latin typeface="宋体" panose="02010600030101010101" pitchFamily="2" charset="-122"/>
            </a:endParaRPr>
          </a:p>
        </p:txBody>
      </p:sp>
      <p:sp>
        <p:nvSpPr>
          <p:cNvPr id="4" name="Rectangle 3"/>
          <p:cNvSpPr>
            <a:spLocks noChangeArrowheads="1"/>
          </p:cNvSpPr>
          <p:nvPr/>
        </p:nvSpPr>
        <p:spPr bwMode="auto">
          <a:xfrm>
            <a:off x="502096" y="4941168"/>
            <a:ext cx="8174360" cy="104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42900">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indent="0" algn="just">
              <a:lnSpc>
                <a:spcPct val="110000"/>
              </a:lnSpc>
              <a:spcBef>
                <a:spcPct val="0"/>
              </a:spcBef>
              <a:spcAft>
                <a:spcPct val="15000"/>
              </a:spcAft>
              <a:buFontTx/>
              <a:buNone/>
            </a:pPr>
            <a:r>
              <a:rPr lang="zh-CN" altLang="en-US" sz="2800" dirty="0">
                <a:latin typeface="+mj-lt"/>
                <a:ea typeface="宋体" panose="02010600030101010101" pitchFamily="2" charset="-122"/>
                <a:cs typeface="Times New Roman" panose="02020603050405020304" pitchFamily="18" charset="0"/>
              </a:rPr>
              <a:t>这些并联谐振器的极点正好各自抵消梳状滤波器的一个零点，从而使这个频率点的响应等于</a:t>
            </a:r>
            <a:r>
              <a:rPr lang="en-US" altLang="zh-CN" sz="2800" i="1" dirty="0">
                <a:solidFill>
                  <a:srgbClr val="0000CC"/>
                </a:solidFill>
                <a:latin typeface="+mj-lt"/>
                <a:ea typeface="宋体" panose="02010600030101010101" pitchFamily="2" charset="-122"/>
                <a:cs typeface="Times New Roman" panose="02020603050405020304" pitchFamily="18" charset="0"/>
              </a:rPr>
              <a:t>H</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en-US" altLang="zh-CN" sz="2800" i="1" dirty="0">
                <a:solidFill>
                  <a:srgbClr val="0000CC"/>
                </a:solidFill>
                <a:latin typeface="+mj-lt"/>
                <a:ea typeface="宋体" panose="02010600030101010101" pitchFamily="2" charset="-122"/>
                <a:cs typeface="Times New Roman" panose="02020603050405020304" pitchFamily="18" charset="0"/>
              </a:rPr>
              <a:t>k</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zh-CN" altLang="en-US" sz="2800" dirty="0">
                <a:latin typeface="+mj-lt"/>
                <a:ea typeface="宋体" panose="02010600030101010101" pitchFamily="2" charset="-122"/>
                <a:cs typeface="Times New Roman" panose="02020603050405020304" pitchFamily="18" charset="0"/>
              </a:rPr>
              <a:t>。</a:t>
            </a:r>
          </a:p>
        </p:txBody>
      </p:sp>
      <p:graphicFrame>
        <p:nvGraphicFramePr>
          <p:cNvPr id="5" name="Object 4"/>
          <p:cNvGraphicFramePr>
            <a:graphicFrameLocks noChangeAspect="1"/>
          </p:cNvGraphicFramePr>
          <p:nvPr>
            <p:extLst>
              <p:ext uri="{D42A27DB-BD31-4B8C-83A1-F6EECF244321}">
                <p14:modId xmlns:p14="http://schemas.microsoft.com/office/powerpoint/2010/main" val="3506537018"/>
              </p:ext>
            </p:extLst>
          </p:nvPr>
        </p:nvGraphicFramePr>
        <p:xfrm>
          <a:off x="5991052" y="836712"/>
          <a:ext cx="1524000" cy="1036638"/>
        </p:xfrm>
        <a:graphic>
          <a:graphicData uri="http://schemas.openxmlformats.org/presentationml/2006/ole">
            <mc:AlternateContent xmlns:mc="http://schemas.openxmlformats.org/markup-compatibility/2006">
              <mc:Choice xmlns:v="urn:schemas-microsoft-com:vml" Requires="v">
                <p:oleObj name="Equation" r:id="rId2" imgW="634680" imgH="431640" progId="Equation.DSMT4">
                  <p:embed/>
                </p:oleObj>
              </mc:Choice>
              <mc:Fallback>
                <p:oleObj name="Equation" r:id="rId2" imgW="634680" imgH="431640" progId="Equation.DSMT4">
                  <p:embed/>
                  <p:pic>
                    <p:nvPicPr>
                      <p:cNvPr id="68612" name="Object 4"/>
                      <p:cNvPicPr>
                        <a:picLocks noChangeAspect="1" noChangeArrowheads="1"/>
                      </p:cNvPicPr>
                      <p:nvPr/>
                    </p:nvPicPr>
                    <p:blipFill>
                      <a:blip r:embed="rId3"/>
                      <a:srcRect/>
                      <a:stretch>
                        <a:fillRect/>
                      </a:stretch>
                    </p:blipFill>
                    <p:spPr bwMode="auto">
                      <a:xfrm>
                        <a:off x="5991052" y="836712"/>
                        <a:ext cx="152400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48918394"/>
              </p:ext>
            </p:extLst>
          </p:nvPr>
        </p:nvGraphicFramePr>
        <p:xfrm>
          <a:off x="5292080" y="2763977"/>
          <a:ext cx="2528743" cy="639802"/>
        </p:xfrm>
        <a:graphic>
          <a:graphicData uri="http://schemas.openxmlformats.org/presentationml/2006/ole">
            <mc:AlternateContent xmlns:mc="http://schemas.openxmlformats.org/markup-compatibility/2006">
              <mc:Choice xmlns:v="urn:schemas-microsoft-com:vml" Requires="v">
                <p:oleObj name="Equation" r:id="rId4" imgW="1053643" imgH="266584" progId="Equation.DSMT4">
                  <p:embed/>
                </p:oleObj>
              </mc:Choice>
              <mc:Fallback>
                <p:oleObj name="Equation" r:id="rId4" imgW="1053643" imgH="266584" progId="Equation.DSMT4">
                  <p:embed/>
                  <p:pic>
                    <p:nvPicPr>
                      <p:cNvPr id="5837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080" y="2763977"/>
                        <a:ext cx="2528743" cy="639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2110687" y="1105580"/>
            <a:ext cx="3775393" cy="523220"/>
          </a:xfrm>
          <a:prstGeom prst="rect">
            <a:avLst/>
          </a:prstGeom>
        </p:spPr>
        <p:txBody>
          <a:bodyPr wrap="none">
            <a:spAutoFit/>
          </a:bodyPr>
          <a:lstStyle/>
          <a:p>
            <a:r>
              <a:rPr lang="zh-CN" altLang="en-US" sz="2800" b="1" dirty="0">
                <a:solidFill>
                  <a:srgbClr val="000000"/>
                </a:solidFill>
                <a:latin typeface="Times New Roman"/>
                <a:cs typeface="Times New Roman" panose="02020603050405020304" pitchFamily="18" charset="0"/>
              </a:rPr>
              <a:t>是一组</a:t>
            </a:r>
            <a:r>
              <a:rPr lang="zh-CN" altLang="en-US" sz="2800" b="1" dirty="0">
                <a:solidFill>
                  <a:srgbClr val="000066"/>
                </a:solidFill>
                <a:latin typeface="Times New Roman"/>
                <a:cs typeface="Times New Roman" panose="02020603050405020304" pitchFamily="18" charset="0"/>
              </a:rPr>
              <a:t>并联</a:t>
            </a:r>
            <a:r>
              <a:rPr lang="zh-CN" altLang="en-US" sz="2800" b="1" dirty="0">
                <a:solidFill>
                  <a:srgbClr val="000000"/>
                </a:solidFill>
                <a:latin typeface="Times New Roman"/>
                <a:cs typeface="Times New Roman" panose="02020603050405020304" pitchFamily="18" charset="0"/>
              </a:rPr>
              <a:t>的一阶网络</a:t>
            </a:r>
            <a:endParaRPr lang="zh-CN" altLang="en-US" b="1" dirty="0"/>
          </a:p>
        </p:txBody>
      </p:sp>
      <p:graphicFrame>
        <p:nvGraphicFramePr>
          <p:cNvPr id="9" name="Object 4"/>
          <p:cNvGraphicFramePr>
            <a:graphicFrameLocks noChangeAspect="1"/>
          </p:cNvGraphicFramePr>
          <p:nvPr>
            <p:extLst>
              <p:ext uri="{D42A27DB-BD31-4B8C-83A1-F6EECF244321}">
                <p14:modId xmlns:p14="http://schemas.microsoft.com/office/powerpoint/2010/main" val="3243610794"/>
              </p:ext>
            </p:extLst>
          </p:nvPr>
        </p:nvGraphicFramePr>
        <p:xfrm>
          <a:off x="2051720" y="1951717"/>
          <a:ext cx="3048000" cy="1066800"/>
        </p:xfrm>
        <a:graphic>
          <a:graphicData uri="http://schemas.openxmlformats.org/presentationml/2006/ole">
            <mc:AlternateContent xmlns:mc="http://schemas.openxmlformats.org/markup-compatibility/2006">
              <mc:Choice xmlns:v="urn:schemas-microsoft-com:vml" Requires="v">
                <p:oleObj name="Equation" r:id="rId6" imgW="1269720" imgH="444240" progId="Equation.DSMT4">
                  <p:embed/>
                </p:oleObj>
              </mc:Choice>
              <mc:Fallback>
                <p:oleObj name="Equation" r:id="rId6" imgW="1269720" imgH="444240" progId="Equation.DSMT4">
                  <p:embed/>
                  <p:pic>
                    <p:nvPicPr>
                      <p:cNvPr id="5" name="Object 4"/>
                      <p:cNvPicPr>
                        <a:picLocks noChangeAspect="1" noChangeArrowheads="1"/>
                      </p:cNvPicPr>
                      <p:nvPr/>
                    </p:nvPicPr>
                    <p:blipFill>
                      <a:blip r:embed="rId7"/>
                      <a:srcRect/>
                      <a:stretch>
                        <a:fillRect/>
                      </a:stretch>
                    </p:blipFill>
                    <p:spPr bwMode="auto">
                      <a:xfrm>
                        <a:off x="2051720" y="1951717"/>
                        <a:ext cx="3048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547567" y="2184163"/>
            <a:ext cx="1620957" cy="523220"/>
          </a:xfrm>
          <a:prstGeom prst="rect">
            <a:avLst/>
          </a:prstGeom>
        </p:spPr>
        <p:txBody>
          <a:bodyPr wrap="none">
            <a:spAutoFit/>
          </a:bodyPr>
          <a:lstStyle/>
          <a:p>
            <a:r>
              <a:rPr lang="zh-CN" altLang="en-US" sz="2800" b="1" dirty="0">
                <a:solidFill>
                  <a:srgbClr val="000000"/>
                </a:solidFill>
                <a:latin typeface="Times New Roman"/>
                <a:cs typeface="Times New Roman" panose="02020603050405020304" pitchFamily="18" charset="0"/>
              </a:rPr>
              <a:t>一阶网络</a:t>
            </a:r>
            <a:endParaRPr lang="zh-CN" altLang="en-US" b="1" dirty="0"/>
          </a:p>
        </p:txBody>
      </p:sp>
      <p:sp>
        <p:nvSpPr>
          <p:cNvPr id="13" name="矩形 12"/>
          <p:cNvSpPr/>
          <p:nvPr/>
        </p:nvSpPr>
        <p:spPr>
          <a:xfrm>
            <a:off x="5028413" y="2173605"/>
            <a:ext cx="4152099" cy="527580"/>
          </a:xfrm>
          <a:prstGeom prst="rect">
            <a:avLst/>
          </a:prstGeom>
        </p:spPr>
        <p:txBody>
          <a:bodyPr wrap="none">
            <a:spAutoFit/>
          </a:bodyPr>
          <a:lstStyle/>
          <a:p>
            <a:pPr lvl="0" algn="just" eaLnBrk="1" hangingPunct="1">
              <a:lnSpc>
                <a:spcPct val="110000"/>
              </a:lnSpc>
              <a:spcAft>
                <a:spcPct val="15000"/>
              </a:spcAft>
            </a:pPr>
            <a:r>
              <a:rPr lang="zh-CN" altLang="en-US" sz="2800" b="1" dirty="0">
                <a:solidFill>
                  <a:srgbClr val="000000"/>
                </a:solidFill>
                <a:latin typeface="Times New Roman"/>
                <a:cs typeface="Times New Roman" panose="02020603050405020304" pitchFamily="18" charset="0"/>
              </a:rPr>
              <a:t>在单位圆上有一个极点：</a:t>
            </a:r>
          </a:p>
        </p:txBody>
      </p:sp>
      <p:sp>
        <p:nvSpPr>
          <p:cNvPr id="15" name="矩形 14"/>
          <p:cNvSpPr/>
          <p:nvPr/>
        </p:nvSpPr>
        <p:spPr>
          <a:xfrm>
            <a:off x="547567" y="3612851"/>
            <a:ext cx="7840857" cy="1040285"/>
          </a:xfrm>
          <a:prstGeom prst="rect">
            <a:avLst/>
          </a:prstGeom>
        </p:spPr>
        <p:txBody>
          <a:bodyPr wrap="square">
            <a:spAutoFit/>
          </a:bodyPr>
          <a:lstStyle/>
          <a:p>
            <a:pPr lvl="0" algn="just">
              <a:lnSpc>
                <a:spcPct val="110000"/>
              </a:lnSpc>
              <a:spcAft>
                <a:spcPct val="15000"/>
              </a:spcAft>
            </a:pPr>
            <a:r>
              <a:rPr lang="zh-CN" altLang="en-US" sz="2800" b="1" dirty="0">
                <a:solidFill>
                  <a:srgbClr val="000000"/>
                </a:solidFill>
                <a:latin typeface="Times New Roman"/>
                <a:cs typeface="Times New Roman" panose="02020603050405020304" pitchFamily="18" charset="0"/>
              </a:rPr>
              <a:t>该网络在极点 </a:t>
            </a:r>
            <a:r>
              <a:rPr lang="el-GR" altLang="zh-CN" sz="2800" b="1" dirty="0">
                <a:solidFill>
                  <a:srgbClr val="0000CC"/>
                </a:solidFill>
                <a:latin typeface="Times New Roman"/>
                <a:cs typeface="Times New Roman" panose="02020603050405020304" pitchFamily="18" charset="0"/>
              </a:rPr>
              <a:t>ω</a:t>
            </a:r>
            <a:r>
              <a:rPr lang="en-US" altLang="zh-CN" sz="2800" b="1" dirty="0">
                <a:solidFill>
                  <a:srgbClr val="0000CC"/>
                </a:solidFill>
                <a:latin typeface="Times New Roman"/>
                <a:cs typeface="Times New Roman" panose="02020603050405020304" pitchFamily="18" charset="0"/>
              </a:rPr>
              <a:t>=(2</a:t>
            </a:r>
            <a:r>
              <a:rPr lang="el-GR" altLang="zh-CN" sz="2800" b="1" dirty="0">
                <a:solidFill>
                  <a:srgbClr val="0000CC"/>
                </a:solidFill>
                <a:latin typeface="Times New Roman"/>
                <a:cs typeface="Times New Roman" panose="02020603050405020304" pitchFamily="18" charset="0"/>
              </a:rPr>
              <a:t>π</a:t>
            </a:r>
            <a:r>
              <a:rPr lang="en-US" altLang="zh-CN" sz="2800" b="1" dirty="0">
                <a:solidFill>
                  <a:srgbClr val="0000CC"/>
                </a:solidFill>
                <a:latin typeface="Times New Roman"/>
                <a:cs typeface="Times New Roman" panose="02020603050405020304" pitchFamily="18" charset="0"/>
              </a:rPr>
              <a:t>/</a:t>
            </a:r>
            <a:r>
              <a:rPr lang="en-US" altLang="zh-CN" sz="2800" b="1" i="1" dirty="0">
                <a:solidFill>
                  <a:srgbClr val="0000CC"/>
                </a:solidFill>
                <a:latin typeface="Times New Roman"/>
                <a:cs typeface="Times New Roman" panose="02020603050405020304" pitchFamily="18" charset="0"/>
              </a:rPr>
              <a:t>N</a:t>
            </a:r>
            <a:r>
              <a:rPr lang="en-US" altLang="zh-CN" sz="2800" b="1" dirty="0">
                <a:solidFill>
                  <a:srgbClr val="0000CC"/>
                </a:solidFill>
                <a:latin typeface="Times New Roman"/>
                <a:cs typeface="Times New Roman" panose="02020603050405020304" pitchFamily="18" charset="0"/>
              </a:rPr>
              <a:t>)</a:t>
            </a:r>
            <a:r>
              <a:rPr lang="en-US" altLang="zh-CN" sz="2800" b="1" i="1" dirty="0">
                <a:solidFill>
                  <a:srgbClr val="0000CC"/>
                </a:solidFill>
                <a:latin typeface="Times New Roman"/>
                <a:cs typeface="Times New Roman" panose="02020603050405020304" pitchFamily="18" charset="0"/>
              </a:rPr>
              <a:t>k</a:t>
            </a:r>
            <a:r>
              <a:rPr lang="en-US" altLang="zh-CN" sz="2800" b="1" dirty="0">
                <a:solidFill>
                  <a:srgbClr val="000000"/>
                </a:solidFill>
                <a:latin typeface="Times New Roman"/>
                <a:cs typeface="Times New Roman" panose="02020603050405020304" pitchFamily="18" charset="0"/>
              </a:rPr>
              <a:t> </a:t>
            </a:r>
            <a:r>
              <a:rPr lang="zh-CN" altLang="en-US" sz="2800" b="1" dirty="0">
                <a:solidFill>
                  <a:srgbClr val="000000"/>
                </a:solidFill>
                <a:latin typeface="Times New Roman"/>
                <a:cs typeface="Times New Roman" panose="02020603050405020304" pitchFamily="18" charset="0"/>
              </a:rPr>
              <a:t>处的频响为</a:t>
            </a:r>
            <a:r>
              <a:rPr lang="zh-CN" altLang="en-US" sz="2800" b="1" dirty="0">
                <a:solidFill>
                  <a:srgbClr val="0000CC"/>
                </a:solidFill>
                <a:latin typeface="Times New Roman"/>
                <a:cs typeface="Times New Roman" panose="02020603050405020304" pitchFamily="18" charset="0"/>
              </a:rPr>
              <a:t>∞</a:t>
            </a:r>
            <a:r>
              <a:rPr lang="zh-CN" altLang="en-US" sz="2800" b="1" dirty="0">
                <a:solidFill>
                  <a:srgbClr val="000000"/>
                </a:solidFill>
                <a:latin typeface="Times New Roman"/>
                <a:cs typeface="Times New Roman" panose="02020603050405020304" pitchFamily="18" charset="0"/>
              </a:rPr>
              <a:t>，是一个谐振频率为 </a:t>
            </a:r>
            <a:r>
              <a:rPr lang="en-US" altLang="zh-CN" sz="2800" b="1" dirty="0">
                <a:solidFill>
                  <a:srgbClr val="0000CC"/>
                </a:solidFill>
                <a:latin typeface="Times New Roman"/>
                <a:cs typeface="Times New Roman" panose="02020603050405020304" pitchFamily="18" charset="0"/>
              </a:rPr>
              <a:t>(2</a:t>
            </a:r>
            <a:r>
              <a:rPr lang="el-GR" altLang="zh-CN" sz="2800" b="1" dirty="0">
                <a:solidFill>
                  <a:srgbClr val="0000CC"/>
                </a:solidFill>
                <a:latin typeface="Times New Roman"/>
                <a:cs typeface="Times New Roman" panose="02020603050405020304" pitchFamily="18" charset="0"/>
              </a:rPr>
              <a:t>π</a:t>
            </a:r>
            <a:r>
              <a:rPr lang="en-US" altLang="zh-CN" sz="2800" b="1" dirty="0">
                <a:solidFill>
                  <a:srgbClr val="0000CC"/>
                </a:solidFill>
                <a:latin typeface="Times New Roman"/>
                <a:cs typeface="Times New Roman" panose="02020603050405020304" pitchFamily="18" charset="0"/>
              </a:rPr>
              <a:t>/</a:t>
            </a:r>
            <a:r>
              <a:rPr lang="en-US" altLang="zh-CN" sz="2800" b="1" i="1" dirty="0">
                <a:solidFill>
                  <a:srgbClr val="0000CC"/>
                </a:solidFill>
                <a:latin typeface="Times New Roman"/>
                <a:cs typeface="Times New Roman" panose="02020603050405020304" pitchFamily="18" charset="0"/>
              </a:rPr>
              <a:t>N</a:t>
            </a:r>
            <a:r>
              <a:rPr lang="en-US" altLang="zh-CN" sz="2800" b="1" dirty="0">
                <a:solidFill>
                  <a:srgbClr val="0000CC"/>
                </a:solidFill>
                <a:latin typeface="Times New Roman"/>
                <a:cs typeface="Times New Roman" panose="02020603050405020304" pitchFamily="18" charset="0"/>
              </a:rPr>
              <a:t>)</a:t>
            </a:r>
            <a:r>
              <a:rPr lang="en-US" altLang="zh-CN" sz="2800" b="1" i="1" dirty="0">
                <a:solidFill>
                  <a:srgbClr val="0000CC"/>
                </a:solidFill>
                <a:latin typeface="Times New Roman"/>
                <a:cs typeface="Times New Roman" panose="02020603050405020304" pitchFamily="18" charset="0"/>
              </a:rPr>
              <a:t>k</a:t>
            </a:r>
            <a:r>
              <a:rPr lang="en-US" altLang="zh-CN" sz="2800" b="1" dirty="0">
                <a:solidFill>
                  <a:srgbClr val="000000"/>
                </a:solidFill>
                <a:latin typeface="Times New Roman"/>
                <a:cs typeface="Times New Roman" panose="02020603050405020304" pitchFamily="18" charset="0"/>
              </a:rPr>
              <a:t> </a:t>
            </a:r>
            <a:r>
              <a:rPr lang="zh-CN" altLang="en-US" sz="2800" b="1" dirty="0">
                <a:solidFill>
                  <a:srgbClr val="000000"/>
                </a:solidFill>
                <a:latin typeface="Times New Roman"/>
                <a:cs typeface="Times New Roman" panose="02020603050405020304" pitchFamily="18" charset="0"/>
              </a:rPr>
              <a:t>的谐振器。</a:t>
            </a:r>
          </a:p>
        </p:txBody>
      </p:sp>
      <p:sp>
        <p:nvSpPr>
          <p:cNvPr id="12"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27498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2605680" y="5636096"/>
            <a:ext cx="3887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00"/>
                </a:solidFill>
                <a:latin typeface="+mj-lt"/>
              </a:rPr>
              <a:t>图</a:t>
            </a:r>
            <a:r>
              <a:rPr lang="en-US" altLang="zh-CN" b="1" dirty="0">
                <a:solidFill>
                  <a:srgbClr val="000000"/>
                </a:solidFill>
                <a:latin typeface="+mj-lt"/>
              </a:rPr>
              <a:t>6.19  </a:t>
            </a:r>
            <a:r>
              <a:rPr lang="zh-CN" altLang="en-US" b="1" dirty="0">
                <a:solidFill>
                  <a:srgbClr val="000000"/>
                </a:solidFill>
                <a:latin typeface="+mj-lt"/>
              </a:rPr>
              <a:t>频率采样型结构</a:t>
            </a:r>
          </a:p>
        </p:txBody>
      </p:sp>
      <p:pic>
        <p:nvPicPr>
          <p:cNvPr id="4"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5333" y="1058382"/>
            <a:ext cx="5160883" cy="424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5967486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9592" y="2852936"/>
            <a:ext cx="7980260" cy="2965171"/>
          </a:xfrm>
          <a:prstGeom prst="rect">
            <a:avLst/>
          </a:prstGeom>
        </p:spPr>
        <p:txBody>
          <a:bodyPr wrap="square">
            <a:spAutoFit/>
          </a:bodyPr>
          <a:lstStyle/>
          <a:p>
            <a:pPr eaLnBrk="1" hangingPunct="1">
              <a:lnSpc>
                <a:spcPct val="110000"/>
              </a:lnSpc>
              <a:spcBef>
                <a:spcPts val="0"/>
              </a:spcBef>
              <a:spcAft>
                <a:spcPts val="0"/>
              </a:spcAft>
              <a:buFontTx/>
              <a:buNone/>
            </a:pPr>
            <a:r>
              <a:rPr lang="zh-CN" altLang="en-US" sz="2800" b="1" dirty="0">
                <a:solidFill>
                  <a:schemeClr val="tx2"/>
                </a:solidFill>
                <a:latin typeface="Times New Roman" panose="02020603050405020304" pitchFamily="18" charset="0"/>
                <a:cs typeface="Times New Roman" panose="02020603050405020304" pitchFamily="18" charset="0"/>
              </a:rPr>
              <a:t>两个缺点：</a:t>
            </a:r>
          </a:p>
          <a:p>
            <a:pPr marL="0" lvl="1">
              <a:lnSpc>
                <a:spcPct val="110000"/>
              </a:lnSpc>
              <a:spcBef>
                <a:spcPts val="0"/>
              </a:spcBef>
              <a:spcAft>
                <a:spcPts val="0"/>
              </a:spcAft>
            </a:pPr>
            <a:r>
              <a:rPr lang="zh-CN" altLang="en-US" sz="2800" b="1" dirty="0">
                <a:latin typeface="Times New Roman" panose="02020603050405020304" pitchFamily="18" charset="0"/>
                <a:cs typeface="Times New Roman" panose="02020603050405020304" pitchFamily="18" charset="0"/>
              </a:rPr>
              <a:t>  ① 所有的系数           和 </a:t>
            </a:r>
            <a:r>
              <a:rPr lang="en-US" altLang="zh-CN" sz="2800" b="1" i="1" dirty="0">
                <a:solidFill>
                  <a:srgbClr val="0000CC"/>
                </a:solidFill>
                <a:latin typeface="Times New Roman" panose="02020603050405020304" pitchFamily="18" charset="0"/>
                <a:cs typeface="Times New Roman" panose="02020603050405020304" pitchFamily="18" charset="0"/>
              </a:rPr>
              <a:t>H</a:t>
            </a:r>
            <a:r>
              <a:rPr lang="en-US" altLang="zh-CN" sz="2800" b="1" dirty="0">
                <a:solidFill>
                  <a:srgbClr val="0000CC"/>
                </a:solidFill>
                <a:latin typeface="Times New Roman" panose="02020603050405020304" pitchFamily="18" charset="0"/>
                <a:cs typeface="Times New Roman" panose="02020603050405020304" pitchFamily="18" charset="0"/>
              </a:rPr>
              <a:t>(</a:t>
            </a:r>
            <a:r>
              <a:rPr lang="en-US" altLang="zh-CN" sz="2800" b="1" i="1" dirty="0">
                <a:solidFill>
                  <a:srgbClr val="0000CC"/>
                </a:solidFill>
                <a:latin typeface="Times New Roman" panose="02020603050405020304" pitchFamily="18" charset="0"/>
                <a:cs typeface="Times New Roman" panose="02020603050405020304" pitchFamily="18" charset="0"/>
              </a:rPr>
              <a:t>k</a:t>
            </a:r>
            <a:r>
              <a:rPr lang="en-US" altLang="zh-CN" sz="2800" b="1" dirty="0">
                <a:solidFill>
                  <a:srgbClr val="0000CC"/>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 </a:t>
            </a:r>
            <a:r>
              <a:rPr lang="zh-CN" altLang="en-US" sz="2800" b="1" dirty="0">
                <a:latin typeface="Times New Roman" panose="02020603050405020304" pitchFamily="18" charset="0"/>
                <a:cs typeface="Times New Roman" panose="02020603050405020304" pitchFamily="18" charset="0"/>
              </a:rPr>
              <a:t>都是复数，</a:t>
            </a:r>
            <a:r>
              <a:rPr lang="zh-CN" altLang="en-US" sz="2800" b="1" dirty="0">
                <a:solidFill>
                  <a:schemeClr val="tx2"/>
                </a:solidFill>
                <a:latin typeface="Times New Roman" panose="02020603050405020304" pitchFamily="18" charset="0"/>
                <a:cs typeface="Times New Roman" panose="02020603050405020304" pitchFamily="18" charset="0"/>
              </a:rPr>
              <a:t>增加了计算复杂度</a:t>
            </a:r>
            <a:r>
              <a:rPr lang="zh-CN" altLang="en-US" sz="2800" b="1" dirty="0">
                <a:latin typeface="Times New Roman" panose="02020603050405020304" pitchFamily="18" charset="0"/>
                <a:cs typeface="Times New Roman" panose="02020603050405020304" pitchFamily="18" charset="0"/>
              </a:rPr>
              <a:t>。</a:t>
            </a:r>
          </a:p>
          <a:p>
            <a:pPr marL="0" lvl="1">
              <a:lnSpc>
                <a:spcPct val="110000"/>
              </a:lnSpc>
              <a:spcBef>
                <a:spcPts val="0"/>
              </a:spcBef>
              <a:spcAft>
                <a:spcPts val="0"/>
              </a:spcAft>
            </a:pPr>
            <a:r>
              <a:rPr lang="zh-CN" altLang="en-US" sz="2800" b="1" dirty="0">
                <a:latin typeface="Times New Roman" panose="02020603050405020304" pitchFamily="18" charset="0"/>
                <a:cs typeface="Times New Roman" panose="02020603050405020304" pitchFamily="18" charset="0"/>
              </a:rPr>
              <a:t>  ② 所有谐振器的极点都在单位圆上，考虑到系数量化的影响，有些极点实际上不能与梳状滤波器的零点相抵消，使</a:t>
            </a:r>
            <a:r>
              <a:rPr lang="zh-CN" altLang="en-US" sz="2800" b="1" dirty="0">
                <a:solidFill>
                  <a:schemeClr val="tx2"/>
                </a:solidFill>
                <a:latin typeface="Times New Roman" panose="02020603050405020304" pitchFamily="18" charset="0"/>
                <a:cs typeface="Times New Roman" panose="02020603050405020304" pitchFamily="18" charset="0"/>
              </a:rPr>
              <a:t>系统的稳定性变差</a:t>
            </a:r>
            <a:r>
              <a:rPr lang="zh-CN" altLang="en-US" sz="2800" b="1" dirty="0">
                <a:latin typeface="Times New Roman" panose="02020603050405020304" pitchFamily="18" charset="0"/>
                <a:cs typeface="Times New Roman" panose="02020603050405020304" pitchFamily="18" charset="0"/>
              </a:rPr>
              <a:t>。</a:t>
            </a:r>
          </a:p>
        </p:txBody>
      </p:sp>
      <p:graphicFrame>
        <p:nvGraphicFramePr>
          <p:cNvPr id="5" name="Object 3"/>
          <p:cNvGraphicFramePr>
            <a:graphicFrameLocks noChangeAspect="1"/>
          </p:cNvGraphicFramePr>
          <p:nvPr>
            <p:extLst>
              <p:ext uri="{D42A27DB-BD31-4B8C-83A1-F6EECF244321}">
                <p14:modId xmlns:p14="http://schemas.microsoft.com/office/powerpoint/2010/main" val="848078270"/>
              </p:ext>
            </p:extLst>
          </p:nvPr>
        </p:nvGraphicFramePr>
        <p:xfrm>
          <a:off x="3491880" y="3284984"/>
          <a:ext cx="873125" cy="655637"/>
        </p:xfrm>
        <a:graphic>
          <a:graphicData uri="http://schemas.openxmlformats.org/presentationml/2006/ole">
            <mc:AlternateContent xmlns:mc="http://schemas.openxmlformats.org/markup-compatibility/2006">
              <mc:Choice xmlns:v="urn:schemas-microsoft-com:vml" Requires="v">
                <p:oleObj name="Equation" r:id="rId2" imgW="317225" imgH="241091" progId="Equation.DSMT4">
                  <p:embed/>
                </p:oleObj>
              </mc:Choice>
              <mc:Fallback>
                <p:oleObj name="Equation" r:id="rId2" imgW="317225" imgH="241091" progId="Equation.DSMT4">
                  <p:embed/>
                  <p:pic>
                    <p:nvPicPr>
                      <p:cNvPr id="5939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1880" y="3284984"/>
                        <a:ext cx="87312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899592" y="1596627"/>
            <a:ext cx="7920880" cy="1040285"/>
          </a:xfrm>
          <a:prstGeom prst="rect">
            <a:avLst/>
          </a:prstGeom>
        </p:spPr>
        <p:txBody>
          <a:bodyPr wrap="square">
            <a:spAutoFit/>
          </a:bodyPr>
          <a:lstStyle/>
          <a:p>
            <a:pPr eaLnBrk="1" hangingPunct="1">
              <a:lnSpc>
                <a:spcPct val="110000"/>
              </a:lnSpc>
              <a:spcAft>
                <a:spcPct val="20000"/>
              </a:spcAft>
            </a:pPr>
            <a:r>
              <a:rPr lang="zh-CN" altLang="en-US" sz="2800" b="1" dirty="0">
                <a:latin typeface="+mj-lt"/>
                <a:cs typeface="Times New Roman" panose="02020603050405020304" pitchFamily="18" charset="0"/>
              </a:rPr>
              <a:t>系数</a:t>
            </a:r>
            <a:r>
              <a:rPr lang="en-US" altLang="zh-CN" sz="2800" b="1" i="1" dirty="0">
                <a:solidFill>
                  <a:srgbClr val="0000CC"/>
                </a:solidFill>
                <a:latin typeface="+mj-lt"/>
                <a:cs typeface="Times New Roman" panose="02020603050405020304" pitchFamily="18" charset="0"/>
              </a:rPr>
              <a:t>H</a:t>
            </a:r>
            <a:r>
              <a:rPr lang="en-US" altLang="zh-CN" sz="2800" b="1" dirty="0">
                <a:solidFill>
                  <a:srgbClr val="0000CC"/>
                </a:solidFill>
                <a:latin typeface="+mj-lt"/>
                <a:cs typeface="Times New Roman" panose="02020603050405020304" pitchFamily="18" charset="0"/>
              </a:rPr>
              <a:t>(</a:t>
            </a:r>
            <a:r>
              <a:rPr lang="en-US" altLang="zh-CN" sz="2800" b="1" i="1" dirty="0">
                <a:solidFill>
                  <a:srgbClr val="0000CC"/>
                </a:solidFill>
                <a:latin typeface="+mj-lt"/>
                <a:cs typeface="Times New Roman" panose="02020603050405020304" pitchFamily="18" charset="0"/>
              </a:rPr>
              <a:t>k</a:t>
            </a:r>
            <a:r>
              <a:rPr lang="en-US" altLang="zh-CN" sz="2800" b="1" dirty="0">
                <a:solidFill>
                  <a:srgbClr val="0000CC"/>
                </a:solidFill>
                <a:latin typeface="+mj-lt"/>
                <a:cs typeface="Times New Roman" panose="02020603050405020304" pitchFamily="18" charset="0"/>
              </a:rPr>
              <a:t>)</a:t>
            </a:r>
            <a:r>
              <a:rPr lang="zh-CN" altLang="en-US" sz="2800" b="1" dirty="0">
                <a:latin typeface="+mj-lt"/>
                <a:cs typeface="Times New Roman" panose="02020603050405020304" pitchFamily="18" charset="0"/>
              </a:rPr>
              <a:t>是滤波器在频率采样点 </a:t>
            </a:r>
            <a:r>
              <a:rPr lang="el-GR" altLang="zh-CN" sz="2800" b="1" dirty="0">
                <a:solidFill>
                  <a:srgbClr val="0000CC"/>
                </a:solidFill>
                <a:latin typeface="+mj-lt"/>
                <a:cs typeface="Times New Roman" panose="02020603050405020304" pitchFamily="18" charset="0"/>
              </a:rPr>
              <a:t>ω</a:t>
            </a:r>
            <a:r>
              <a:rPr lang="en-US" altLang="zh-CN" sz="2800" b="1" dirty="0">
                <a:solidFill>
                  <a:srgbClr val="0000CC"/>
                </a:solidFill>
                <a:latin typeface="+mj-lt"/>
                <a:cs typeface="Times New Roman" panose="02020603050405020304" pitchFamily="18" charset="0"/>
              </a:rPr>
              <a:t>=(2</a:t>
            </a:r>
            <a:r>
              <a:rPr lang="el-GR" altLang="zh-CN" sz="2800" b="1" dirty="0">
                <a:solidFill>
                  <a:srgbClr val="0000CC"/>
                </a:solidFill>
                <a:latin typeface="+mj-lt"/>
                <a:cs typeface="Times New Roman" panose="02020603050405020304" pitchFamily="18" charset="0"/>
              </a:rPr>
              <a:t>π</a:t>
            </a:r>
            <a:r>
              <a:rPr lang="en-US" altLang="zh-CN" sz="2800" b="1" dirty="0">
                <a:solidFill>
                  <a:srgbClr val="0000CC"/>
                </a:solidFill>
                <a:latin typeface="+mj-lt"/>
                <a:cs typeface="Times New Roman" panose="02020603050405020304" pitchFamily="18" charset="0"/>
              </a:rPr>
              <a:t>/</a:t>
            </a:r>
            <a:r>
              <a:rPr lang="en-US" altLang="zh-CN" sz="2800" b="1" i="1" dirty="0">
                <a:solidFill>
                  <a:srgbClr val="0000CC"/>
                </a:solidFill>
                <a:latin typeface="+mj-lt"/>
                <a:cs typeface="Times New Roman" panose="02020603050405020304" pitchFamily="18" charset="0"/>
              </a:rPr>
              <a:t>N</a:t>
            </a:r>
            <a:r>
              <a:rPr lang="en-US" altLang="zh-CN" sz="2800" b="1" dirty="0">
                <a:solidFill>
                  <a:srgbClr val="0000CC"/>
                </a:solidFill>
                <a:latin typeface="+mj-lt"/>
                <a:cs typeface="Times New Roman" panose="02020603050405020304" pitchFamily="18" charset="0"/>
              </a:rPr>
              <a:t>)</a:t>
            </a:r>
            <a:r>
              <a:rPr lang="en-US" altLang="zh-CN" sz="2800" b="1" i="1" dirty="0">
                <a:solidFill>
                  <a:srgbClr val="0000CC"/>
                </a:solidFill>
                <a:latin typeface="+mj-lt"/>
                <a:cs typeface="Times New Roman" panose="02020603050405020304" pitchFamily="18" charset="0"/>
              </a:rPr>
              <a:t>k</a:t>
            </a:r>
            <a:r>
              <a:rPr lang="en-US" altLang="zh-CN" sz="2800" b="1" dirty="0">
                <a:latin typeface="+mj-lt"/>
                <a:cs typeface="Times New Roman" panose="02020603050405020304" pitchFamily="18" charset="0"/>
              </a:rPr>
              <a:t> </a:t>
            </a:r>
            <a:r>
              <a:rPr lang="zh-CN" altLang="en-US" sz="2800" b="1" dirty="0">
                <a:latin typeface="+mj-lt"/>
                <a:cs typeface="Times New Roman" panose="02020603050405020304" pitchFamily="18" charset="0"/>
              </a:rPr>
              <a:t>处的响应，因而可以</a:t>
            </a:r>
            <a:r>
              <a:rPr lang="zh-CN" altLang="en-US" sz="2800" b="1" dirty="0">
                <a:cs typeface="Times New Roman" panose="02020603050405020304" pitchFamily="18" charset="0"/>
              </a:rPr>
              <a:t>直接地</a:t>
            </a:r>
            <a:r>
              <a:rPr lang="zh-CN" altLang="en-US" sz="2800" b="1" dirty="0">
                <a:latin typeface="+mj-lt"/>
                <a:cs typeface="Times New Roman" panose="02020603050405020304" pitchFamily="18" charset="0"/>
              </a:rPr>
              <a:t>控制滤波器的频率响应。</a:t>
            </a:r>
          </a:p>
        </p:txBody>
      </p:sp>
      <p:sp>
        <p:nvSpPr>
          <p:cNvPr id="8" name="矩形 7"/>
          <p:cNvSpPr/>
          <p:nvPr/>
        </p:nvSpPr>
        <p:spPr>
          <a:xfrm>
            <a:off x="929595" y="957722"/>
            <a:ext cx="2709396" cy="523220"/>
          </a:xfrm>
          <a:prstGeom prst="rect">
            <a:avLst/>
          </a:prstGeom>
        </p:spPr>
        <p:txBody>
          <a:bodyPr wrap="none">
            <a:spAutoFit/>
          </a:bodyPr>
          <a:lstStyle/>
          <a:p>
            <a:pPr lvl="0" eaLnBrk="1" hangingPunct="1"/>
            <a:r>
              <a:rPr lang="zh-CN" altLang="en-US" sz="2800" b="1" dirty="0">
                <a:solidFill>
                  <a:srgbClr val="000000"/>
                </a:solidFill>
                <a:latin typeface="Times New Roman"/>
              </a:rPr>
              <a:t>频率采样型结构</a:t>
            </a:r>
          </a:p>
        </p:txBody>
      </p:sp>
      <p:sp>
        <p:nvSpPr>
          <p:cNvPr id="9"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266411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337843" y="894482"/>
            <a:ext cx="9001000" cy="159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10000"/>
              </a:lnSpc>
              <a:spcBef>
                <a:spcPct val="0"/>
              </a:spcBef>
              <a:spcAft>
                <a:spcPts val="0"/>
              </a:spcAft>
              <a:buFontTx/>
              <a:buNone/>
            </a:pPr>
            <a:r>
              <a:rPr lang="zh-CN" altLang="en-US" sz="2800" dirty="0">
                <a:solidFill>
                  <a:schemeClr val="tx2"/>
                </a:solidFill>
                <a:latin typeface="+mj-lt"/>
                <a:ea typeface="宋体" panose="02010600030101010101" pitchFamily="2" charset="-122"/>
                <a:cs typeface="Times New Roman" panose="02020603050405020304" pitchFamily="18" charset="0"/>
              </a:rPr>
              <a:t>为了克服这两个缺点，作两点修正：</a:t>
            </a:r>
          </a:p>
          <a:p>
            <a:pPr>
              <a:lnSpc>
                <a:spcPct val="110000"/>
              </a:lnSpc>
              <a:spcBef>
                <a:spcPts val="600"/>
              </a:spcBef>
              <a:buFontTx/>
              <a:buNone/>
            </a:pPr>
            <a:r>
              <a:rPr lang="en-US" altLang="zh-CN" sz="2800" dirty="0">
                <a:latin typeface="+mj-lt"/>
                <a:ea typeface="宋体" panose="02010600030101010101" pitchFamily="2" charset="-122"/>
                <a:cs typeface="Times New Roman" panose="02020603050405020304" pitchFamily="18" charset="0"/>
              </a:rPr>
              <a:t>1)</a:t>
            </a:r>
            <a:r>
              <a:rPr lang="zh-CN" altLang="en-US" sz="2800" dirty="0">
                <a:latin typeface="+mj-lt"/>
                <a:ea typeface="宋体" panose="02010600030101010101" pitchFamily="2" charset="-122"/>
                <a:cs typeface="Times New Roman" panose="02020603050405020304" pitchFamily="18" charset="0"/>
              </a:rPr>
              <a:t>将所有零点和极点移到半径为 </a:t>
            </a:r>
            <a:r>
              <a:rPr lang="en-US" altLang="zh-CN" sz="2800" i="1" dirty="0">
                <a:latin typeface="+mj-lt"/>
                <a:ea typeface="宋体" panose="02010600030101010101" pitchFamily="2" charset="-122"/>
                <a:cs typeface="Times New Roman" panose="02020603050405020304" pitchFamily="18" charset="0"/>
              </a:rPr>
              <a:t>r</a:t>
            </a:r>
            <a:r>
              <a:rPr lang="en-US" altLang="zh-CN" sz="2800" dirty="0">
                <a:latin typeface="+mj-lt"/>
                <a:ea typeface="宋体" panose="02010600030101010101" pitchFamily="2" charset="-122"/>
                <a:cs typeface="Times New Roman" panose="02020603050405020304" pitchFamily="18" charset="0"/>
              </a:rPr>
              <a:t> </a:t>
            </a:r>
            <a:r>
              <a:rPr lang="zh-CN" altLang="en-US" sz="2800" dirty="0">
                <a:latin typeface="+mj-lt"/>
                <a:ea typeface="宋体" panose="02010600030101010101" pitchFamily="2" charset="-122"/>
                <a:cs typeface="Times New Roman" panose="02020603050405020304" pitchFamily="18" charset="0"/>
              </a:rPr>
              <a:t>的圆上，</a:t>
            </a:r>
            <a:r>
              <a:rPr lang="en-US" altLang="zh-CN" sz="2800" i="1" dirty="0">
                <a:latin typeface="+mj-lt"/>
                <a:ea typeface="宋体" panose="02010600030101010101" pitchFamily="2" charset="-122"/>
                <a:cs typeface="Times New Roman" panose="02020603050405020304" pitchFamily="18" charset="0"/>
              </a:rPr>
              <a:t>r</a:t>
            </a:r>
            <a:r>
              <a:rPr lang="en-US" altLang="zh-CN" sz="2800" dirty="0">
                <a:latin typeface="+mj-lt"/>
                <a:ea typeface="宋体" panose="02010600030101010101" pitchFamily="2" charset="-122"/>
                <a:cs typeface="Times New Roman" panose="02020603050405020304" pitchFamily="18" charset="0"/>
              </a:rPr>
              <a:t> </a:t>
            </a:r>
            <a:r>
              <a:rPr lang="zh-CN" altLang="en-US" sz="2800" dirty="0">
                <a:latin typeface="+mj-lt"/>
                <a:ea typeface="宋体" panose="02010600030101010101" pitchFamily="2" charset="-122"/>
                <a:cs typeface="Times New Roman" panose="02020603050405020304" pitchFamily="18" charset="0"/>
              </a:rPr>
              <a:t>略小于 </a:t>
            </a:r>
            <a:r>
              <a:rPr lang="en-US" altLang="zh-CN" sz="2800" dirty="0">
                <a:latin typeface="+mj-lt"/>
                <a:ea typeface="宋体" panose="02010600030101010101" pitchFamily="2" charset="-122"/>
                <a:cs typeface="Times New Roman" panose="02020603050405020304" pitchFamily="18" charset="0"/>
              </a:rPr>
              <a:t>1</a:t>
            </a:r>
            <a:r>
              <a:rPr lang="zh-CN" altLang="en-US" sz="2800" dirty="0">
                <a:latin typeface="+mj-lt"/>
                <a:ea typeface="宋体" panose="02010600030101010101" pitchFamily="2" charset="-122"/>
                <a:cs typeface="Times New Roman" panose="02020603050405020304" pitchFamily="18" charset="0"/>
              </a:rPr>
              <a:t>，并在该圆上对</a:t>
            </a:r>
            <a:r>
              <a:rPr lang="en-US" altLang="zh-CN" sz="2800" i="1" dirty="0">
                <a:solidFill>
                  <a:srgbClr val="0000CC"/>
                </a:solidFill>
                <a:latin typeface="+mj-lt"/>
                <a:ea typeface="宋体" panose="02010600030101010101" pitchFamily="2" charset="-122"/>
                <a:cs typeface="Times New Roman" panose="02020603050405020304" pitchFamily="18" charset="0"/>
              </a:rPr>
              <a:t>H</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en-US" altLang="zh-CN" sz="2800" i="1" dirty="0">
                <a:solidFill>
                  <a:srgbClr val="0000CC"/>
                </a:solidFill>
                <a:latin typeface="+mj-lt"/>
                <a:ea typeface="宋体" panose="02010600030101010101" pitchFamily="2" charset="-122"/>
                <a:cs typeface="Times New Roman" panose="02020603050405020304" pitchFamily="18" charset="0"/>
              </a:rPr>
              <a:t>z</a:t>
            </a:r>
            <a:r>
              <a:rPr lang="en-US" altLang="zh-CN" sz="2800" dirty="0">
                <a:solidFill>
                  <a:srgbClr val="0000CC"/>
                </a:solidFill>
                <a:latin typeface="+mj-lt"/>
                <a:ea typeface="宋体" panose="02010600030101010101" pitchFamily="2" charset="-122"/>
                <a:cs typeface="Times New Roman" panose="02020603050405020304" pitchFamily="18" charset="0"/>
              </a:rPr>
              <a:t>)</a:t>
            </a:r>
            <a:r>
              <a:rPr lang="en-US" altLang="zh-CN" sz="2800" dirty="0">
                <a:latin typeface="+mj-lt"/>
                <a:ea typeface="宋体" panose="02010600030101010101" pitchFamily="2" charset="-122"/>
                <a:cs typeface="Times New Roman" panose="02020603050405020304" pitchFamily="18" charset="0"/>
              </a:rPr>
              <a:t> </a:t>
            </a:r>
            <a:r>
              <a:rPr lang="zh-CN" altLang="en-US" sz="2800" dirty="0">
                <a:latin typeface="+mj-lt"/>
                <a:ea typeface="宋体" panose="02010600030101010101" pitchFamily="2" charset="-122"/>
                <a:cs typeface="Times New Roman" panose="02020603050405020304" pitchFamily="18" charset="0"/>
              </a:rPr>
              <a:t>采样，以解决系统的稳定性问题。</a:t>
            </a:r>
          </a:p>
        </p:txBody>
      </p:sp>
      <p:graphicFrame>
        <p:nvGraphicFramePr>
          <p:cNvPr id="4" name="Object 4"/>
          <p:cNvGraphicFramePr>
            <a:graphicFrameLocks noChangeAspect="1"/>
          </p:cNvGraphicFramePr>
          <p:nvPr>
            <p:extLst>
              <p:ext uri="{D42A27DB-BD31-4B8C-83A1-F6EECF244321}">
                <p14:modId xmlns:p14="http://schemas.microsoft.com/office/powerpoint/2010/main" val="525166713"/>
              </p:ext>
            </p:extLst>
          </p:nvPr>
        </p:nvGraphicFramePr>
        <p:xfrm>
          <a:off x="1816958" y="2564904"/>
          <a:ext cx="4987290" cy="933450"/>
        </p:xfrm>
        <a:graphic>
          <a:graphicData uri="http://schemas.openxmlformats.org/presentationml/2006/ole">
            <mc:AlternateContent xmlns:mc="http://schemas.openxmlformats.org/markup-compatibility/2006">
              <mc:Choice xmlns:v="urn:schemas-microsoft-com:vml" Requires="v">
                <p:oleObj name="Equation" r:id="rId2" imgW="2374900" imgH="444500" progId="Equation.DSMT4">
                  <p:embed/>
                </p:oleObj>
              </mc:Choice>
              <mc:Fallback>
                <p:oleObj name="Equation" r:id="rId2" imgW="2374900" imgH="444500" progId="Equation.DSMT4">
                  <p:embed/>
                  <p:pic>
                    <p:nvPicPr>
                      <p:cNvPr id="7066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958" y="2564904"/>
                        <a:ext cx="498729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179512" y="3684859"/>
            <a:ext cx="8964488" cy="1040285"/>
          </a:xfrm>
          <a:prstGeom prst="rect">
            <a:avLst/>
          </a:prstGeom>
        </p:spPr>
        <p:txBody>
          <a:bodyPr wrap="square">
            <a:spAutoFit/>
          </a:bodyPr>
          <a:lstStyle/>
          <a:p>
            <a:pPr eaLnBrk="1" hangingPunct="1">
              <a:lnSpc>
                <a:spcPct val="110000"/>
              </a:lnSpc>
              <a:spcAft>
                <a:spcPct val="50000"/>
              </a:spcAft>
            </a:pPr>
            <a:r>
              <a:rPr lang="zh-CN" altLang="en-US"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2)</a:t>
            </a:r>
            <a:r>
              <a:rPr lang="zh-CN" altLang="en-US" sz="2800" b="1" dirty="0">
                <a:latin typeface="Times New Roman" panose="02020603050405020304" pitchFamily="18" charset="0"/>
                <a:ea typeface="+mn-ea"/>
                <a:cs typeface="Times New Roman" panose="02020603050405020304" pitchFamily="18" charset="0"/>
              </a:rPr>
              <a:t>共轭极点合并，</a:t>
            </a:r>
            <a:r>
              <a:rPr lang="zh-CN" altLang="en-US" sz="2800" b="1" dirty="0">
                <a:latin typeface="Times New Roman" panose="02020603050405020304" pitchFamily="18" charset="0"/>
                <a:cs typeface="Times New Roman" panose="02020603050405020304" pitchFamily="18" charset="0"/>
              </a:rPr>
              <a:t>将第</a:t>
            </a:r>
            <a:r>
              <a:rPr lang="en-US" altLang="zh-CN" sz="2800" b="1" i="1" dirty="0">
                <a:latin typeface="Times New Roman" panose="02020603050405020304" pitchFamily="18" charset="0"/>
                <a:cs typeface="Times New Roman" panose="02020603050405020304" pitchFamily="18" charset="0"/>
              </a:rPr>
              <a:t>k</a:t>
            </a:r>
            <a:r>
              <a:rPr lang="zh-CN" altLang="en-US" sz="2800" b="1" dirty="0">
                <a:latin typeface="Times New Roman" panose="02020603050405020304" pitchFamily="18" charset="0"/>
                <a:cs typeface="Times New Roman" panose="02020603050405020304" pitchFamily="18" charset="0"/>
              </a:rPr>
              <a:t>个和第</a:t>
            </a:r>
            <a:r>
              <a:rPr lang="en-US" altLang="zh-CN" sz="2800" b="1" i="1" dirty="0">
                <a:latin typeface="Times New Roman" panose="02020603050405020304" pitchFamily="18" charset="0"/>
                <a:cs typeface="Times New Roman" panose="02020603050405020304" pitchFamily="18" charset="0"/>
              </a:rPr>
              <a:t>N</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k</a:t>
            </a:r>
            <a:r>
              <a:rPr lang="zh-CN" altLang="en-US" sz="2800" b="1" dirty="0">
                <a:latin typeface="Times New Roman" panose="02020603050405020304" pitchFamily="18" charset="0"/>
                <a:cs typeface="Times New Roman" panose="02020603050405020304" pitchFamily="18" charset="0"/>
              </a:rPr>
              <a:t>个谐振器</a:t>
            </a:r>
            <a:r>
              <a:rPr lang="zh-CN" altLang="en-US" sz="2800" b="1" dirty="0">
                <a:latin typeface="Times New Roman" panose="02020603050405020304" pitchFamily="18" charset="0"/>
                <a:ea typeface="+mn-ea"/>
                <a:cs typeface="Times New Roman" panose="02020603050405020304" pitchFamily="18" charset="0"/>
              </a:rPr>
              <a:t>合并成一个实系数的二阶子网络。</a:t>
            </a:r>
          </a:p>
        </p:txBody>
      </p:sp>
      <p:graphicFrame>
        <p:nvGraphicFramePr>
          <p:cNvPr id="12" name="对象 2"/>
          <p:cNvGraphicFramePr>
            <a:graphicFrameLocks noChangeAspect="1"/>
          </p:cNvGraphicFramePr>
          <p:nvPr>
            <p:extLst>
              <p:ext uri="{D42A27DB-BD31-4B8C-83A1-F6EECF244321}">
                <p14:modId xmlns:p14="http://schemas.microsoft.com/office/powerpoint/2010/main" val="3770558254"/>
              </p:ext>
            </p:extLst>
          </p:nvPr>
        </p:nvGraphicFramePr>
        <p:xfrm>
          <a:off x="323528" y="4987285"/>
          <a:ext cx="4907280" cy="933450"/>
        </p:xfrm>
        <a:graphic>
          <a:graphicData uri="http://schemas.openxmlformats.org/presentationml/2006/ole">
            <mc:AlternateContent xmlns:mc="http://schemas.openxmlformats.org/markup-compatibility/2006">
              <mc:Choice xmlns:v="urn:schemas-microsoft-com:vml" Requires="v">
                <p:oleObj name="Equation" r:id="rId4" imgW="2336800" imgH="444500" progId="Equation.DSMT4">
                  <p:embed/>
                </p:oleObj>
              </mc:Choice>
              <mc:Fallback>
                <p:oleObj name="Equation" r:id="rId4" imgW="2336800" imgH="444500" progId="Equation.DSMT4">
                  <p:embed/>
                  <p:pic>
                    <p:nvPicPr>
                      <p:cNvPr id="72706"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4987285"/>
                        <a:ext cx="4907280"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866520964"/>
              </p:ext>
            </p:extLst>
          </p:nvPr>
        </p:nvGraphicFramePr>
        <p:xfrm>
          <a:off x="5265707" y="4941912"/>
          <a:ext cx="3784600" cy="1295400"/>
        </p:xfrm>
        <a:graphic>
          <a:graphicData uri="http://schemas.openxmlformats.org/presentationml/2006/ole">
            <mc:AlternateContent xmlns:mc="http://schemas.openxmlformats.org/markup-compatibility/2006">
              <mc:Choice xmlns:v="urn:schemas-microsoft-com:vml" Requires="v">
                <p:oleObj name="Equation" r:id="rId6" imgW="1892300" imgH="647700" progId="Equation.DSMT4">
                  <p:embed/>
                </p:oleObj>
              </mc:Choice>
              <mc:Fallback>
                <p:oleObj name="Equation" r:id="rId6" imgW="1892300" imgH="647700" progId="Equation.DSMT4">
                  <p:embed/>
                  <p:pic>
                    <p:nvPicPr>
                      <p:cNvPr id="5"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65707" y="4941912"/>
                        <a:ext cx="3784600"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61467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25340" y="1876313"/>
            <a:ext cx="152638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1" u="none" strike="noStrike" kern="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N</a:t>
            </a: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为偶数</a:t>
            </a:r>
            <a:endParaRPr kumimoji="0" lang="zh-CN" altLang="en-US" sz="1800" b="1" i="0" u="none" strike="noStrike" kern="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9" name="Object 4"/>
          <p:cNvGraphicFramePr>
            <a:graphicFrameLocks noChangeAspect="1"/>
          </p:cNvGraphicFramePr>
          <p:nvPr>
            <p:extLst>
              <p:ext uri="{D42A27DB-BD31-4B8C-83A1-F6EECF244321}">
                <p14:modId xmlns:p14="http://schemas.microsoft.com/office/powerpoint/2010/main" val="2860288165"/>
              </p:ext>
            </p:extLst>
          </p:nvPr>
        </p:nvGraphicFramePr>
        <p:xfrm>
          <a:off x="2051720" y="1556792"/>
          <a:ext cx="6747510" cy="1120140"/>
        </p:xfrm>
        <a:graphic>
          <a:graphicData uri="http://schemas.openxmlformats.org/presentationml/2006/ole">
            <mc:AlternateContent xmlns:mc="http://schemas.openxmlformats.org/markup-compatibility/2006">
              <mc:Choice xmlns:v="urn:schemas-microsoft-com:vml" Requires="v">
                <p:oleObj name="Equation" r:id="rId2" imgW="3213100" imgH="533400" progId="Equation.DSMT4">
                  <p:embed/>
                </p:oleObj>
              </mc:Choice>
              <mc:Fallback>
                <p:oleObj name="Equation" r:id="rId2" imgW="3213100" imgH="533400" progId="Equation.DSMT4">
                  <p:embed/>
                  <p:pic>
                    <p:nvPicPr>
                      <p:cNvPr id="9"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1556792"/>
                        <a:ext cx="6747510" cy="1120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p:cNvSpPr/>
          <p:nvPr/>
        </p:nvSpPr>
        <p:spPr>
          <a:xfrm>
            <a:off x="513024" y="2873509"/>
            <a:ext cx="152638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1" u="none" strike="noStrike" kern="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N</a:t>
            </a: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为奇数</a:t>
            </a:r>
            <a:endParaRPr kumimoji="0" lang="zh-CN" altLang="en-US" sz="1800" b="1" i="0" u="none" strike="noStrike" kern="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1" name="Object 4"/>
          <p:cNvGraphicFramePr>
            <a:graphicFrameLocks noChangeAspect="1"/>
          </p:cNvGraphicFramePr>
          <p:nvPr>
            <p:extLst>
              <p:ext uri="{D42A27DB-BD31-4B8C-83A1-F6EECF244321}">
                <p14:modId xmlns:p14="http://schemas.microsoft.com/office/powerpoint/2010/main" val="774314718"/>
              </p:ext>
            </p:extLst>
          </p:nvPr>
        </p:nvGraphicFramePr>
        <p:xfrm>
          <a:off x="2039404" y="2636629"/>
          <a:ext cx="5574030" cy="1120140"/>
        </p:xfrm>
        <a:graphic>
          <a:graphicData uri="http://schemas.openxmlformats.org/presentationml/2006/ole">
            <mc:AlternateContent xmlns:mc="http://schemas.openxmlformats.org/markup-compatibility/2006">
              <mc:Choice xmlns:v="urn:schemas-microsoft-com:vml" Requires="v">
                <p:oleObj name="Equation" r:id="rId4" imgW="2654300" imgH="533400" progId="Equation.DSMT4">
                  <p:embed/>
                </p:oleObj>
              </mc:Choice>
              <mc:Fallback>
                <p:oleObj name="Equation" r:id="rId4" imgW="2654300" imgH="533400" progId="Equation.DSMT4">
                  <p:embed/>
                  <p:pic>
                    <p:nvPicPr>
                      <p:cNvPr id="1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9404" y="2636629"/>
                        <a:ext cx="5574030" cy="1120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827584" y="947372"/>
            <a:ext cx="4134465"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effectLst/>
                <a:uLnTx/>
                <a:uFillTx/>
                <a:latin typeface="Times New Roman" panose="02020603050405020304" pitchFamily="18" charset="0"/>
              </a:rPr>
              <a:t>改进后的</a:t>
            </a:r>
            <a:r>
              <a:rPr kumimoji="1" lang="zh-CN" altLang="en-US" sz="2800" b="1" i="0" u="none" strike="noStrike" kern="0" cap="none" spc="0" normalizeH="0" baseline="0" noProof="0" dirty="0">
                <a:ln>
                  <a:noFill/>
                </a:ln>
                <a:effectLst/>
                <a:uLnTx/>
                <a:uFillTx/>
                <a:latin typeface="宋体" panose="02010600030101010101" pitchFamily="2" charset="-122"/>
              </a:rPr>
              <a:t>频率采样型结构</a:t>
            </a:r>
            <a:endParaRPr kumimoji="0" lang="zh-CN" altLang="en-US" sz="2000" b="1" i="0" u="none" strike="noStrike" kern="0" cap="none" spc="0" normalizeH="0" baseline="0" noProof="0" dirty="0">
              <a:ln>
                <a:noFill/>
              </a:ln>
              <a:effectLst/>
              <a:uLnTx/>
              <a:uFillTx/>
            </a:endParaRPr>
          </a:p>
        </p:txBody>
      </p:sp>
      <p:pic>
        <p:nvPicPr>
          <p:cNvPr id="12" name="Picture 5" descr="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5616" y="4197683"/>
            <a:ext cx="713105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4"/>
          <p:cNvSpPr>
            <a:spLocks noChangeArrowheads="1"/>
          </p:cNvSpPr>
          <p:nvPr/>
        </p:nvSpPr>
        <p:spPr bwMode="auto">
          <a:xfrm>
            <a:off x="2627784" y="6165131"/>
            <a:ext cx="52216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00"/>
                </a:solidFill>
                <a:latin typeface="+mj-lt"/>
              </a:rPr>
              <a:t>图</a:t>
            </a:r>
            <a:r>
              <a:rPr lang="en-US" altLang="zh-CN" b="1" dirty="0">
                <a:solidFill>
                  <a:srgbClr val="000000"/>
                </a:solidFill>
                <a:latin typeface="+mj-lt"/>
              </a:rPr>
              <a:t>6.20  </a:t>
            </a:r>
            <a:r>
              <a:rPr lang="zh-CN" altLang="en-US" b="1" dirty="0">
                <a:solidFill>
                  <a:srgbClr val="000000"/>
                </a:solidFill>
                <a:latin typeface="+mj-lt"/>
              </a:rPr>
              <a:t>三种实系数子网络结构</a:t>
            </a:r>
          </a:p>
        </p:txBody>
      </p:sp>
      <p:graphicFrame>
        <p:nvGraphicFramePr>
          <p:cNvPr id="14" name="对象 2"/>
          <p:cNvGraphicFramePr>
            <a:graphicFrameLocks noChangeAspect="1"/>
          </p:cNvGraphicFramePr>
          <p:nvPr>
            <p:extLst>
              <p:ext uri="{D42A27DB-BD31-4B8C-83A1-F6EECF244321}">
                <p14:modId xmlns:p14="http://schemas.microsoft.com/office/powerpoint/2010/main" val="2920755452"/>
              </p:ext>
            </p:extLst>
          </p:nvPr>
        </p:nvGraphicFramePr>
        <p:xfrm>
          <a:off x="2555776" y="5559177"/>
          <a:ext cx="776952" cy="411480"/>
        </p:xfrm>
        <a:graphic>
          <a:graphicData uri="http://schemas.openxmlformats.org/presentationml/2006/ole">
            <mc:AlternateContent xmlns:mc="http://schemas.openxmlformats.org/markup-compatibility/2006">
              <mc:Choice xmlns:v="urn:schemas-microsoft-com:vml" Requires="v">
                <p:oleObj name="Equation" r:id="rId7" imgW="431640" imgH="228600" progId="Equation.DSMT4">
                  <p:embed/>
                </p:oleObj>
              </mc:Choice>
              <mc:Fallback>
                <p:oleObj name="Equation" r:id="rId7" imgW="431640" imgH="228600" progId="Equation.DSMT4">
                  <p:embed/>
                  <p:pic>
                    <p:nvPicPr>
                      <p:cNvPr id="12" name="对象 2"/>
                      <p:cNvPicPr>
                        <a:picLocks noChangeAspect="1" noChangeArrowheads="1"/>
                      </p:cNvPicPr>
                      <p:nvPr/>
                    </p:nvPicPr>
                    <p:blipFill>
                      <a:blip r:embed="rId8"/>
                      <a:srcRect/>
                      <a:stretch>
                        <a:fillRect/>
                      </a:stretch>
                    </p:blipFill>
                    <p:spPr bwMode="auto">
                      <a:xfrm>
                        <a:off x="2555776" y="5559177"/>
                        <a:ext cx="776952"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对象 2"/>
          <p:cNvGraphicFramePr>
            <a:graphicFrameLocks noChangeAspect="1"/>
          </p:cNvGraphicFramePr>
          <p:nvPr>
            <p:extLst>
              <p:ext uri="{D42A27DB-BD31-4B8C-83A1-F6EECF244321}">
                <p14:modId xmlns:p14="http://schemas.microsoft.com/office/powerpoint/2010/main" val="2129364674"/>
              </p:ext>
            </p:extLst>
          </p:nvPr>
        </p:nvGraphicFramePr>
        <p:xfrm>
          <a:off x="4897848" y="5559425"/>
          <a:ext cx="754272" cy="411480"/>
        </p:xfrm>
        <a:graphic>
          <a:graphicData uri="http://schemas.openxmlformats.org/presentationml/2006/ole">
            <mc:AlternateContent xmlns:mc="http://schemas.openxmlformats.org/markup-compatibility/2006">
              <mc:Choice xmlns:v="urn:schemas-microsoft-com:vml" Requires="v">
                <p:oleObj name="Equation" r:id="rId9" imgW="419040" imgH="228600" progId="Equation.DSMT4">
                  <p:embed/>
                </p:oleObj>
              </mc:Choice>
              <mc:Fallback>
                <p:oleObj name="Equation" r:id="rId9" imgW="419040" imgH="228600" progId="Equation.DSMT4">
                  <p:embed/>
                  <p:pic>
                    <p:nvPicPr>
                      <p:cNvPr id="14" name="对象 2"/>
                      <p:cNvPicPr>
                        <a:picLocks noChangeAspect="1" noChangeArrowheads="1"/>
                      </p:cNvPicPr>
                      <p:nvPr/>
                    </p:nvPicPr>
                    <p:blipFill>
                      <a:blip r:embed="rId10"/>
                      <a:srcRect/>
                      <a:stretch>
                        <a:fillRect/>
                      </a:stretch>
                    </p:blipFill>
                    <p:spPr bwMode="auto">
                      <a:xfrm>
                        <a:off x="4897848" y="5559425"/>
                        <a:ext cx="754272"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对象 2"/>
          <p:cNvGraphicFramePr>
            <a:graphicFrameLocks noChangeAspect="1"/>
          </p:cNvGraphicFramePr>
          <p:nvPr>
            <p:extLst>
              <p:ext uri="{D42A27DB-BD31-4B8C-83A1-F6EECF244321}">
                <p14:modId xmlns:p14="http://schemas.microsoft.com/office/powerpoint/2010/main" val="2177101051"/>
              </p:ext>
            </p:extLst>
          </p:nvPr>
        </p:nvGraphicFramePr>
        <p:xfrm>
          <a:off x="7346950" y="5540375"/>
          <a:ext cx="822325" cy="479425"/>
        </p:xfrm>
        <a:graphic>
          <a:graphicData uri="http://schemas.openxmlformats.org/presentationml/2006/ole">
            <mc:AlternateContent xmlns:mc="http://schemas.openxmlformats.org/markup-compatibility/2006">
              <mc:Choice xmlns:v="urn:schemas-microsoft-com:vml" Requires="v">
                <p:oleObj name="Equation" r:id="rId11" imgW="457200" imgH="266400" progId="Equation.DSMT4">
                  <p:embed/>
                </p:oleObj>
              </mc:Choice>
              <mc:Fallback>
                <p:oleObj name="Equation" r:id="rId11" imgW="457200" imgH="266400" progId="Equation.DSMT4">
                  <p:embed/>
                  <p:pic>
                    <p:nvPicPr>
                      <p:cNvPr id="15" name="对象 2"/>
                      <p:cNvPicPr>
                        <a:picLocks noChangeAspect="1" noChangeArrowheads="1"/>
                      </p:cNvPicPr>
                      <p:nvPr/>
                    </p:nvPicPr>
                    <p:blipFill>
                      <a:blip r:embed="rId12"/>
                      <a:srcRect/>
                      <a:stretch>
                        <a:fillRect/>
                      </a:stretch>
                    </p:blipFill>
                    <p:spPr bwMode="auto">
                      <a:xfrm>
                        <a:off x="7346950" y="5540375"/>
                        <a:ext cx="82232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171349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124744"/>
            <a:ext cx="6364236" cy="44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
          <p:cNvSpPr>
            <a:spLocks noChangeArrowheads="1"/>
          </p:cNvSpPr>
          <p:nvPr/>
        </p:nvSpPr>
        <p:spPr bwMode="auto">
          <a:xfrm>
            <a:off x="2555776" y="5733256"/>
            <a:ext cx="61206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00"/>
                </a:solidFill>
                <a:latin typeface="+mj-lt"/>
              </a:rPr>
              <a:t>图</a:t>
            </a:r>
            <a:r>
              <a:rPr lang="en-US" altLang="zh-CN" b="1" dirty="0">
                <a:solidFill>
                  <a:srgbClr val="000000"/>
                </a:solidFill>
                <a:latin typeface="+mj-lt"/>
              </a:rPr>
              <a:t>6.21  </a:t>
            </a:r>
            <a:r>
              <a:rPr lang="en-US" altLang="zh-CN" b="1" i="1" dirty="0">
                <a:solidFill>
                  <a:srgbClr val="000000"/>
                </a:solidFill>
                <a:latin typeface="+mj-lt"/>
              </a:rPr>
              <a:t>N</a:t>
            </a:r>
            <a:r>
              <a:rPr lang="zh-CN" altLang="en-US" b="1" dirty="0">
                <a:solidFill>
                  <a:srgbClr val="000000"/>
                </a:solidFill>
                <a:latin typeface="+mj-lt"/>
              </a:rPr>
              <a:t>为偶数时的频率采样型结构</a:t>
            </a:r>
          </a:p>
        </p:txBody>
      </p:sp>
      <p:sp>
        <p:nvSpPr>
          <p:cNvPr id="5"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20474917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755576" y="908720"/>
            <a:ext cx="34925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dirty="0">
                <a:solidFill>
                  <a:srgbClr val="000000"/>
                </a:solidFill>
              </a:rPr>
              <a:t>频率采样型结构特点：</a:t>
            </a:r>
            <a:endParaRPr lang="zh-CN" altLang="en-US" sz="2800" dirty="0"/>
          </a:p>
        </p:txBody>
      </p:sp>
      <p:sp>
        <p:nvSpPr>
          <p:cNvPr id="8" name="Text Box 7"/>
          <p:cNvSpPr txBox="1">
            <a:spLocks noChangeArrowheads="1"/>
          </p:cNvSpPr>
          <p:nvPr/>
        </p:nvSpPr>
        <p:spPr bwMode="auto">
          <a:xfrm>
            <a:off x="773745" y="1628800"/>
            <a:ext cx="7704285" cy="278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5000"/>
              </a:lnSpc>
            </a:pPr>
            <a:r>
              <a:rPr lang="en-US" altLang="zh-CN" sz="2800" b="1" dirty="0">
                <a:solidFill>
                  <a:srgbClr val="000000"/>
                </a:solidFill>
                <a:cs typeface="Times New Roman" panose="02020603050405020304" pitchFamily="18" charset="0"/>
              </a:rPr>
              <a:t>1. </a:t>
            </a:r>
            <a:r>
              <a:rPr lang="zh-CN" altLang="en-US" sz="2800" b="1" dirty="0">
                <a:solidFill>
                  <a:srgbClr val="000000"/>
                </a:solidFill>
                <a:cs typeface="Times New Roman" panose="02020603050405020304" pitchFamily="18" charset="0"/>
              </a:rPr>
              <a:t>选频性好，适于窄带滤波，大部分</a:t>
            </a:r>
            <a:r>
              <a:rPr lang="en-US" altLang="zh-CN" sz="2800" b="1" i="1" dirty="0">
                <a:solidFill>
                  <a:srgbClr val="000000"/>
                </a:solidFill>
                <a:cs typeface="Times New Roman" panose="02020603050405020304" pitchFamily="18" charset="0"/>
              </a:rPr>
              <a:t>H</a:t>
            </a:r>
            <a:r>
              <a:rPr lang="en-US" altLang="zh-CN" sz="2800" b="1" dirty="0">
                <a:solidFill>
                  <a:srgbClr val="000000"/>
                </a:solidFill>
                <a:cs typeface="Times New Roman" panose="02020603050405020304" pitchFamily="18" charset="0"/>
              </a:rPr>
              <a:t>(</a:t>
            </a:r>
            <a:r>
              <a:rPr lang="en-US" altLang="zh-CN" sz="2800" b="1" i="1" dirty="0">
                <a:solidFill>
                  <a:srgbClr val="000000"/>
                </a:solidFill>
                <a:cs typeface="Times New Roman" panose="02020603050405020304" pitchFamily="18" charset="0"/>
              </a:rPr>
              <a:t>k</a:t>
            </a:r>
            <a:r>
              <a:rPr lang="en-US" altLang="zh-CN" sz="2800" b="1" dirty="0">
                <a:solidFill>
                  <a:srgbClr val="000000"/>
                </a:solidFill>
                <a:cs typeface="Times New Roman" panose="02020603050405020304" pitchFamily="18" charset="0"/>
              </a:rPr>
              <a:t>)</a:t>
            </a:r>
            <a:r>
              <a:rPr lang="zh-CN" altLang="en-US" sz="2800" b="1" dirty="0">
                <a:solidFill>
                  <a:srgbClr val="000000"/>
                </a:solidFill>
                <a:cs typeface="Times New Roman" panose="02020603050405020304" pitchFamily="18" charset="0"/>
              </a:rPr>
              <a:t>为</a:t>
            </a:r>
            <a:r>
              <a:rPr lang="en-US" altLang="zh-CN" sz="2800" b="1" dirty="0">
                <a:solidFill>
                  <a:srgbClr val="000000"/>
                </a:solidFill>
                <a:cs typeface="Times New Roman" panose="02020603050405020304" pitchFamily="18" charset="0"/>
              </a:rPr>
              <a:t>0</a:t>
            </a:r>
            <a:r>
              <a:rPr lang="zh-CN" altLang="en-US" sz="2800" b="1" dirty="0">
                <a:solidFill>
                  <a:srgbClr val="000000"/>
                </a:solidFill>
                <a:cs typeface="Times New Roman" panose="02020603050405020304" pitchFamily="18" charset="0"/>
              </a:rPr>
              <a:t>，</a:t>
            </a:r>
            <a:endParaRPr lang="en-US" altLang="zh-CN" sz="2800" b="1" dirty="0">
              <a:solidFill>
                <a:srgbClr val="000000"/>
              </a:solidFill>
              <a:cs typeface="Times New Roman" panose="02020603050405020304" pitchFamily="18" charset="0"/>
            </a:endParaRPr>
          </a:p>
          <a:p>
            <a:pPr algn="just" eaLnBrk="1" hangingPunct="1">
              <a:lnSpc>
                <a:spcPct val="125000"/>
              </a:lnSpc>
            </a:pPr>
            <a:r>
              <a:rPr lang="en-US" altLang="zh-CN" sz="2800" b="1" dirty="0">
                <a:solidFill>
                  <a:srgbClr val="000000"/>
                </a:solidFill>
                <a:cs typeface="Times New Roman" panose="02020603050405020304" pitchFamily="18" charset="0"/>
              </a:rPr>
              <a:t>   </a:t>
            </a:r>
            <a:r>
              <a:rPr lang="zh-CN" altLang="en-US" sz="2800" b="1" dirty="0">
                <a:solidFill>
                  <a:srgbClr val="000000"/>
                </a:solidFill>
                <a:cs typeface="Times New Roman" panose="02020603050405020304" pitchFamily="18" charset="0"/>
              </a:rPr>
              <a:t>只有较少的二阶子网络；</a:t>
            </a:r>
          </a:p>
          <a:p>
            <a:pPr algn="just" eaLnBrk="1" hangingPunct="1">
              <a:lnSpc>
                <a:spcPct val="125000"/>
              </a:lnSpc>
            </a:pPr>
            <a:r>
              <a:rPr lang="en-US" altLang="zh-CN" sz="2800" b="1" dirty="0">
                <a:solidFill>
                  <a:srgbClr val="000000"/>
                </a:solidFill>
                <a:cs typeface="Times New Roman" panose="02020603050405020304" pitchFamily="18" charset="0"/>
              </a:rPr>
              <a:t>2. </a:t>
            </a:r>
            <a:r>
              <a:rPr lang="zh-CN" altLang="en-US" sz="2800" b="1" dirty="0">
                <a:solidFill>
                  <a:srgbClr val="000000"/>
                </a:solidFill>
                <a:cs typeface="Times New Roman" panose="02020603050405020304" pitchFamily="18" charset="0"/>
              </a:rPr>
              <a:t>不同的</a:t>
            </a:r>
            <a:r>
              <a:rPr lang="en-US" altLang="zh-CN" sz="2800" b="1" dirty="0">
                <a:solidFill>
                  <a:srgbClr val="000000"/>
                </a:solidFill>
                <a:cs typeface="Times New Roman" panose="02020603050405020304" pitchFamily="18" charset="0"/>
              </a:rPr>
              <a:t>FIR</a:t>
            </a:r>
            <a:r>
              <a:rPr lang="zh-CN" altLang="en-US" sz="2800" b="1" dirty="0">
                <a:solidFill>
                  <a:srgbClr val="000000"/>
                </a:solidFill>
                <a:cs typeface="Times New Roman" panose="02020603050405020304" pitchFamily="18" charset="0"/>
              </a:rPr>
              <a:t>滤波器，若长度相同，可通过改变</a:t>
            </a:r>
            <a:endParaRPr lang="en-US" altLang="zh-CN" sz="2800" b="1" dirty="0">
              <a:solidFill>
                <a:srgbClr val="000000"/>
              </a:solidFill>
              <a:cs typeface="Times New Roman" panose="02020603050405020304" pitchFamily="18" charset="0"/>
            </a:endParaRPr>
          </a:p>
          <a:p>
            <a:pPr algn="just" eaLnBrk="1" hangingPunct="1">
              <a:lnSpc>
                <a:spcPct val="125000"/>
              </a:lnSpc>
            </a:pPr>
            <a:r>
              <a:rPr lang="en-US" altLang="zh-CN" sz="2800" b="1" dirty="0">
                <a:solidFill>
                  <a:srgbClr val="000000"/>
                </a:solidFill>
                <a:cs typeface="Times New Roman" panose="02020603050405020304" pitchFamily="18" charset="0"/>
              </a:rPr>
              <a:t>    </a:t>
            </a:r>
            <a:r>
              <a:rPr lang="zh-CN" altLang="en-US" sz="2800" b="1" dirty="0">
                <a:solidFill>
                  <a:srgbClr val="000000"/>
                </a:solidFill>
                <a:cs typeface="Times New Roman" panose="02020603050405020304" pitchFamily="18" charset="0"/>
              </a:rPr>
              <a:t>系数用同一个网络实现；</a:t>
            </a:r>
          </a:p>
          <a:p>
            <a:pPr algn="l" eaLnBrk="1" hangingPunct="1">
              <a:lnSpc>
                <a:spcPct val="125000"/>
              </a:lnSpc>
            </a:pPr>
            <a:r>
              <a:rPr lang="en-US" altLang="zh-CN" sz="2800" b="1" dirty="0">
                <a:solidFill>
                  <a:srgbClr val="000000"/>
                </a:solidFill>
                <a:cs typeface="Times New Roman" panose="02020603050405020304" pitchFamily="18" charset="0"/>
              </a:rPr>
              <a:t>3. </a:t>
            </a:r>
            <a:r>
              <a:rPr lang="zh-CN" altLang="en-US" sz="2800" b="1" dirty="0">
                <a:solidFill>
                  <a:srgbClr val="000000"/>
                </a:solidFill>
                <a:cs typeface="Times New Roman" panose="02020603050405020304" pitchFamily="18" charset="0"/>
              </a:rPr>
              <a:t>复用性好。</a:t>
            </a:r>
            <a:endParaRPr lang="zh-CN" altLang="en-US" sz="2800" b="1" dirty="0">
              <a:cs typeface="Times New Roman" panose="02020603050405020304" pitchFamily="18" charset="0"/>
            </a:endParaRPr>
          </a:p>
        </p:txBody>
      </p:sp>
      <p:sp>
        <p:nvSpPr>
          <p:cNvPr id="9" name="Text Box 8"/>
          <p:cNvSpPr txBox="1">
            <a:spLocks noChangeArrowheads="1"/>
          </p:cNvSpPr>
          <p:nvPr/>
        </p:nvSpPr>
        <p:spPr bwMode="auto">
          <a:xfrm>
            <a:off x="755576" y="4797152"/>
            <a:ext cx="7667625"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dirty="0">
                <a:solidFill>
                  <a:srgbClr val="000000"/>
                </a:solidFill>
              </a:rPr>
              <a:t>缺点：结构复杂，采用的存储器多。</a:t>
            </a:r>
            <a:endParaRPr lang="en-US" altLang="zh-CN" sz="2800" dirty="0"/>
          </a:p>
        </p:txBody>
      </p:sp>
      <p:sp>
        <p:nvSpPr>
          <p:cNvPr id="10"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0698336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827584" y="1124744"/>
            <a:ext cx="8135938" cy="272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lnSpc>
                <a:spcPct val="115000"/>
              </a:lnSpc>
              <a:spcBef>
                <a:spcPct val="50000"/>
              </a:spcBef>
              <a:spcAft>
                <a:spcPct val="50000"/>
              </a:spcAft>
              <a:buFontTx/>
              <a:buNone/>
            </a:pPr>
            <a:r>
              <a:rPr lang="zh-CN" altLang="en-US" sz="2800" dirty="0">
                <a:solidFill>
                  <a:schemeClr val="tx2"/>
                </a:solidFill>
                <a:latin typeface="+mj-lt"/>
                <a:ea typeface="宋体" panose="02010600030101010101" pitchFamily="2" charset="-122"/>
                <a:cs typeface="Times New Roman" panose="02020603050405020304" pitchFamily="18" charset="0"/>
              </a:rPr>
              <a:t>说明：</a:t>
            </a:r>
          </a:p>
          <a:p>
            <a:pPr marL="457200" indent="-457200" eaLnBrk="1" hangingPunct="1">
              <a:lnSpc>
                <a:spcPct val="115000"/>
              </a:lnSpc>
              <a:spcBef>
                <a:spcPct val="50000"/>
              </a:spcBef>
              <a:buFont typeface="Arial" panose="020B0604020202020204" pitchFamily="34" charset="0"/>
              <a:buChar char="•"/>
            </a:pPr>
            <a:r>
              <a:rPr lang="zh-CN" altLang="en-US" sz="2800" dirty="0">
                <a:latin typeface="+mj-lt"/>
                <a:ea typeface="宋体" panose="02010600030101010101" pitchFamily="2" charset="-122"/>
                <a:cs typeface="Times New Roman" panose="02020603050405020304" pitchFamily="18" charset="0"/>
              </a:rPr>
              <a:t>频率采样型结构，适合于任何 </a:t>
            </a:r>
            <a:r>
              <a:rPr lang="en-US" altLang="zh-CN" sz="2800" dirty="0">
                <a:latin typeface="+mj-lt"/>
                <a:ea typeface="宋体" panose="02010600030101010101" pitchFamily="2" charset="-122"/>
                <a:cs typeface="Times New Roman" panose="02020603050405020304" pitchFamily="18" charset="0"/>
              </a:rPr>
              <a:t>FIR </a:t>
            </a:r>
            <a:r>
              <a:rPr lang="zh-CN" altLang="en-US" sz="2800" dirty="0">
                <a:latin typeface="+mj-lt"/>
                <a:ea typeface="宋体" panose="02010600030101010101" pitchFamily="2" charset="-122"/>
                <a:cs typeface="Times New Roman" panose="02020603050405020304" pitchFamily="18" charset="0"/>
              </a:rPr>
              <a:t>系统函数；</a:t>
            </a:r>
          </a:p>
          <a:p>
            <a:pPr marL="457200" indent="-457200" eaLnBrk="1" hangingPunct="1">
              <a:lnSpc>
                <a:spcPct val="115000"/>
              </a:lnSpc>
              <a:spcBef>
                <a:spcPct val="50000"/>
              </a:spcBef>
              <a:buFont typeface="Arial" panose="020B0604020202020204" pitchFamily="34" charset="0"/>
              <a:buChar char="•"/>
            </a:pPr>
            <a:r>
              <a:rPr lang="zh-CN" altLang="en-US" sz="2800" dirty="0">
                <a:latin typeface="+mj-lt"/>
                <a:ea typeface="宋体" panose="02010600030101010101" pitchFamily="2" charset="-122"/>
                <a:cs typeface="Times New Roman" panose="02020603050405020304" pitchFamily="18" charset="0"/>
              </a:rPr>
              <a:t>频率采样法设计得到的系统函数，可以用频率采样型结构实现，也可以用横截型、级联型。</a:t>
            </a:r>
          </a:p>
        </p:txBody>
      </p:sp>
      <p:sp>
        <p:nvSpPr>
          <p:cNvPr id="4"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6.1.3 FIR</a:t>
            </a:r>
            <a:r>
              <a:rPr lang="zh-CN" altLang="en-US" sz="3200" b="1" dirty="0">
                <a:solidFill>
                  <a:srgbClr val="993300"/>
                </a:solidFill>
                <a:ea typeface="楷体_GB2312" pitchFamily="49" charset="-122"/>
              </a:rPr>
              <a:t>滤波器的结构</a:t>
            </a:r>
            <a:endParaRPr lang="zh-CN" altLang="en-US" sz="3200" b="1" i="0" dirty="0">
              <a:solidFill>
                <a:srgbClr val="993300"/>
              </a:solidFill>
              <a:ea typeface="楷体_GB2312" pitchFamily="49" charset="-122"/>
            </a:endParaRPr>
          </a:p>
        </p:txBody>
      </p:sp>
    </p:spTree>
    <p:extLst>
      <p:ext uri="{BB962C8B-B14F-4D97-AF65-F5344CB8AC3E}">
        <p14:creationId xmlns:p14="http://schemas.microsoft.com/office/powerpoint/2010/main" val="37787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6.1 </a:t>
            </a:r>
            <a:r>
              <a:rPr lang="zh-CN" altLang="en-US" sz="3200" b="1" dirty="0">
                <a:solidFill>
                  <a:srgbClr val="993300"/>
                </a:solidFill>
                <a:ea typeface="楷体_GB2312" pitchFamily="49" charset="-122"/>
              </a:rPr>
              <a:t>数字滤波器的结构</a:t>
            </a:r>
            <a:endParaRPr lang="zh-CN" altLang="en-US" sz="3200" b="1" i="0" dirty="0">
              <a:solidFill>
                <a:srgbClr val="993300"/>
              </a:solidFill>
              <a:ea typeface="楷体_GB2312" pitchFamily="49" charset="-122"/>
            </a:endParaRPr>
          </a:p>
        </p:txBody>
      </p:sp>
      <p:sp>
        <p:nvSpPr>
          <p:cNvPr id="5" name="矩形 4"/>
          <p:cNvSpPr/>
          <p:nvPr/>
        </p:nvSpPr>
        <p:spPr>
          <a:xfrm>
            <a:off x="683568" y="908720"/>
            <a:ext cx="1518364"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rPr>
              <a:t>6.1</a:t>
            </a:r>
            <a:r>
              <a:rPr kumimoji="0" lang="zh-CN" altLang="en-US" sz="32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rPr>
              <a:t>要点</a:t>
            </a:r>
          </a:p>
        </p:txBody>
      </p:sp>
      <p:sp>
        <p:nvSpPr>
          <p:cNvPr id="7" name="Content Placeholder 2"/>
          <p:cNvSpPr>
            <a:spLocks noGrp="1"/>
          </p:cNvSpPr>
          <p:nvPr>
            <p:ph sz="half" idx="1"/>
          </p:nvPr>
        </p:nvSpPr>
        <p:spPr>
          <a:xfrm>
            <a:off x="215008" y="1619942"/>
            <a:ext cx="8928992" cy="3954991"/>
          </a:xfrm>
        </p:spPr>
        <p:txBody>
          <a:bodyPr/>
          <a:lstStyle/>
          <a:p>
            <a:pPr>
              <a:lnSpc>
                <a:spcPct val="125000"/>
              </a:lnSpc>
            </a:pPr>
            <a:r>
              <a:rPr lang="en-US" altLang="zh-CN" sz="3000" b="1" dirty="0">
                <a:latin typeface="Times New Roman" panose="02020603050405020304" pitchFamily="18" charset="0"/>
                <a:ea typeface="宋体" panose="02010600030101010101" pitchFamily="2" charset="-122"/>
                <a:cs typeface="Times New Roman" panose="02020603050405020304" pitchFamily="18" charset="0"/>
              </a:rPr>
              <a:t>IIR</a:t>
            </a:r>
            <a:r>
              <a:rPr lang="zh-CN" altLang="en-US" sz="3000" b="1" dirty="0">
                <a:latin typeface="Times New Roman" panose="02020603050405020304" pitchFamily="18" charset="0"/>
                <a:ea typeface="宋体" panose="02010600030101010101" pitchFamily="2" charset="-122"/>
                <a:cs typeface="Times New Roman" panose="02020603050405020304" pitchFamily="18" charset="0"/>
              </a:rPr>
              <a:t>滤波器的结构</a:t>
            </a:r>
            <a:r>
              <a:rPr lang="en-US" altLang="zh-CN" sz="3000" b="1" dirty="0">
                <a:latin typeface="Times New Roman" panose="02020603050405020304" pitchFamily="18" charset="0"/>
                <a:ea typeface="宋体" panose="02010600030101010101" pitchFamily="2" charset="-122"/>
                <a:cs typeface="Times New Roman" panose="02020603050405020304" pitchFamily="18" charset="0"/>
              </a:rPr>
              <a:t>:</a:t>
            </a:r>
          </a:p>
          <a:p>
            <a:pPr marL="0" indent="0">
              <a:lnSpc>
                <a:spcPct val="125000"/>
              </a:lnSpc>
              <a:buNone/>
            </a:pP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   直接</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型、直接</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II</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型、级联型、并联型</a:t>
            </a:r>
          </a:p>
          <a:p>
            <a:pPr>
              <a:lnSpc>
                <a:spcPct val="125000"/>
              </a:lnSpc>
              <a:spcBef>
                <a:spcPts val="1800"/>
              </a:spcBef>
            </a:pPr>
            <a:r>
              <a:rPr lang="en-US" altLang="zh-CN" sz="3000" b="1" dirty="0">
                <a:latin typeface="Times New Roman" panose="02020603050405020304" pitchFamily="18" charset="0"/>
                <a:ea typeface="宋体" panose="02010600030101010101" pitchFamily="2" charset="-122"/>
                <a:cs typeface="Times New Roman" panose="02020603050405020304" pitchFamily="18" charset="0"/>
              </a:rPr>
              <a:t>FIR</a:t>
            </a:r>
            <a:r>
              <a:rPr lang="zh-CN" altLang="en-US" sz="3000" b="1" dirty="0">
                <a:latin typeface="Times New Roman" panose="02020603050405020304" pitchFamily="18" charset="0"/>
                <a:ea typeface="宋体" panose="02010600030101010101" pitchFamily="2" charset="-122"/>
                <a:cs typeface="Times New Roman" panose="02020603050405020304" pitchFamily="18" charset="0"/>
              </a:rPr>
              <a:t>滤波器的结构</a:t>
            </a:r>
          </a:p>
          <a:p>
            <a:pPr marL="0" indent="0">
              <a:lnSpc>
                <a:spcPct val="125000"/>
              </a:lnSpc>
              <a:buNone/>
            </a:pP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   横截型、级联型、线性相位型</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线性相位</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滤波器</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p>
          <a:p>
            <a:pPr>
              <a:lnSpc>
                <a:spcPct val="125000"/>
              </a:lnSpc>
              <a:spcBef>
                <a:spcPts val="1800"/>
              </a:spcBef>
            </a:pPr>
            <a:r>
              <a:rPr lang="zh-CN" altLang="en-US" sz="3000" b="1" dirty="0">
                <a:latin typeface="Times New Roman" panose="02020603050405020304" pitchFamily="18" charset="0"/>
                <a:ea typeface="宋体" panose="02010600030101010101" pitchFamily="2" charset="-122"/>
                <a:cs typeface="Times New Roman" panose="02020603050405020304" pitchFamily="18" charset="0"/>
              </a:rPr>
              <a:t>差分方程或系统函数与系统结构之间的互相转换</a:t>
            </a:r>
          </a:p>
        </p:txBody>
      </p:sp>
    </p:spTree>
    <p:extLst>
      <p:ext uri="{BB962C8B-B14F-4D97-AF65-F5344CB8AC3E}">
        <p14:creationId xmlns:p14="http://schemas.microsoft.com/office/powerpoint/2010/main" val="667933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 </a:t>
            </a:r>
            <a:r>
              <a:rPr lang="zh-CN" altLang="en-US" sz="3200" b="1" dirty="0">
                <a:solidFill>
                  <a:srgbClr val="993300"/>
                </a:solidFill>
                <a:ea typeface="楷体_GB2312" pitchFamily="49" charset="-122"/>
              </a:rPr>
              <a:t>量化与量化误差</a:t>
            </a:r>
          </a:p>
        </p:txBody>
      </p:sp>
      <p:sp>
        <p:nvSpPr>
          <p:cNvPr id="3" name="Rectangle 2"/>
          <p:cNvSpPr>
            <a:spLocks noGrp="1" noChangeArrowheads="1"/>
          </p:cNvSpPr>
          <p:nvPr>
            <p:ph type="title"/>
          </p:nvPr>
        </p:nvSpPr>
        <p:spPr>
          <a:xfrm>
            <a:off x="683568" y="917172"/>
            <a:ext cx="4536504" cy="634649"/>
          </a:xfrm>
        </p:spPr>
        <p:txBody>
          <a:bodyPr/>
          <a:lstStyle/>
          <a:p>
            <a:pPr eaLnBrk="1" hangingPunct="1"/>
            <a:r>
              <a:rPr lang="en-US" altLang="zh-CN" sz="3200" b="1" i="0" dirty="0">
                <a:ea typeface="+mn-ea"/>
              </a:rPr>
              <a:t>6.2.1  </a:t>
            </a:r>
            <a:r>
              <a:rPr lang="zh-CN" altLang="en-US" sz="3200" b="1" i="0" dirty="0">
                <a:ea typeface="+mn-ea"/>
              </a:rPr>
              <a:t>二进制数的表示</a:t>
            </a:r>
            <a:endParaRPr lang="zh-CN" altLang="en-US" sz="3200" b="1" i="0" dirty="0">
              <a:solidFill>
                <a:schemeClr val="tx1"/>
              </a:solidFill>
              <a:ea typeface="+mn-ea"/>
            </a:endParaRPr>
          </a:p>
        </p:txBody>
      </p:sp>
      <p:sp>
        <p:nvSpPr>
          <p:cNvPr id="4" name="Rectangle 3"/>
          <p:cNvSpPr>
            <a:spLocks noChangeArrowheads="1"/>
          </p:cNvSpPr>
          <p:nvPr/>
        </p:nvSpPr>
        <p:spPr bwMode="auto">
          <a:xfrm>
            <a:off x="683568" y="1587564"/>
            <a:ext cx="8136904" cy="437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20000"/>
              </a:lnSpc>
              <a:spcBef>
                <a:spcPct val="50000"/>
              </a:spcBef>
              <a:buFontTx/>
              <a:buNone/>
            </a:pPr>
            <a:r>
              <a:rPr lang="en-US" altLang="zh-CN" sz="3200" dirty="0">
                <a:solidFill>
                  <a:schemeClr val="tx2"/>
                </a:solidFill>
                <a:latin typeface="+mj-lt"/>
                <a:ea typeface="+mn-ea"/>
              </a:rPr>
              <a:t>1. </a:t>
            </a:r>
            <a:r>
              <a:rPr lang="zh-CN" altLang="en-US" sz="3200" dirty="0">
                <a:solidFill>
                  <a:schemeClr val="tx2"/>
                </a:solidFill>
                <a:latin typeface="+mj-lt"/>
                <a:ea typeface="+mn-ea"/>
              </a:rPr>
              <a:t>定点表示</a:t>
            </a:r>
          </a:p>
          <a:p>
            <a:pPr>
              <a:lnSpc>
                <a:spcPct val="125000"/>
              </a:lnSpc>
              <a:spcBef>
                <a:spcPts val="600"/>
              </a:spcBef>
            </a:pPr>
            <a:r>
              <a:rPr lang="zh-CN" altLang="en-US" sz="2800" dirty="0">
                <a:latin typeface="+mj-lt"/>
                <a:ea typeface="+mn-ea"/>
              </a:rPr>
              <a:t> 整个运算中，小数点在数码中的位置固定不变，</a:t>
            </a:r>
            <a:endParaRPr lang="en-US" altLang="zh-CN" sz="2800" dirty="0">
              <a:latin typeface="+mj-lt"/>
              <a:ea typeface="+mn-ea"/>
            </a:endParaRPr>
          </a:p>
          <a:p>
            <a:pPr>
              <a:lnSpc>
                <a:spcPct val="125000"/>
              </a:lnSpc>
              <a:spcBef>
                <a:spcPts val="0"/>
              </a:spcBef>
              <a:buNone/>
            </a:pPr>
            <a:r>
              <a:rPr lang="zh-CN" altLang="en-US" sz="2800" dirty="0">
                <a:latin typeface="+mj-lt"/>
                <a:ea typeface="+mn-ea"/>
              </a:rPr>
              <a:t>  称为定点制；</a:t>
            </a:r>
            <a:endParaRPr lang="en-US" altLang="zh-CN" sz="2800" dirty="0">
              <a:latin typeface="+mj-lt"/>
              <a:ea typeface="+mn-ea"/>
            </a:endParaRPr>
          </a:p>
          <a:p>
            <a:pPr>
              <a:lnSpc>
                <a:spcPct val="125000"/>
              </a:lnSpc>
              <a:spcBef>
                <a:spcPts val="600"/>
              </a:spcBef>
            </a:pPr>
            <a:r>
              <a:rPr lang="zh-CN" altLang="en-US" sz="2800" dirty="0">
                <a:latin typeface="+mj-lt"/>
                <a:ea typeface="+mn-ea"/>
              </a:rPr>
              <a:t> 通常定点制把数限制在</a:t>
            </a:r>
            <a:r>
              <a:rPr lang="en-US" altLang="zh-CN" sz="2800" dirty="0">
                <a:latin typeface="+mj-lt"/>
                <a:ea typeface="+mn-ea"/>
              </a:rPr>
              <a:t>±1</a:t>
            </a:r>
            <a:r>
              <a:rPr lang="zh-CN" altLang="en-US" sz="2800" dirty="0">
                <a:latin typeface="+mj-lt"/>
                <a:ea typeface="+mn-ea"/>
              </a:rPr>
              <a:t>之间；</a:t>
            </a:r>
            <a:endParaRPr lang="en-US" altLang="zh-CN" sz="2800" dirty="0">
              <a:latin typeface="+mj-lt"/>
              <a:ea typeface="+mn-ea"/>
            </a:endParaRPr>
          </a:p>
          <a:p>
            <a:pPr>
              <a:lnSpc>
                <a:spcPct val="125000"/>
              </a:lnSpc>
              <a:spcBef>
                <a:spcPts val="600"/>
              </a:spcBef>
            </a:pPr>
            <a:r>
              <a:rPr lang="zh-CN" altLang="en-US" sz="2800" dirty="0">
                <a:latin typeface="+mj-lt"/>
                <a:ea typeface="+mn-ea"/>
              </a:rPr>
              <a:t> 最高位为符号位，</a:t>
            </a:r>
            <a:r>
              <a:rPr lang="en-US" altLang="zh-CN" sz="2800" dirty="0">
                <a:latin typeface="+mj-lt"/>
                <a:ea typeface="+mn-ea"/>
              </a:rPr>
              <a:t>0</a:t>
            </a:r>
            <a:r>
              <a:rPr lang="zh-CN" altLang="en-US" sz="2800" dirty="0">
                <a:latin typeface="+mj-lt"/>
                <a:ea typeface="+mn-ea"/>
              </a:rPr>
              <a:t>为正，</a:t>
            </a:r>
            <a:r>
              <a:rPr lang="en-US" altLang="zh-CN" sz="2800" dirty="0">
                <a:latin typeface="+mj-lt"/>
                <a:ea typeface="+mn-ea"/>
              </a:rPr>
              <a:t>1</a:t>
            </a:r>
            <a:r>
              <a:rPr lang="zh-CN" altLang="en-US" sz="2800" dirty="0">
                <a:latin typeface="+mj-lt"/>
                <a:ea typeface="+mn-ea"/>
              </a:rPr>
              <a:t>为负，小数点紧跟在 </a:t>
            </a:r>
            <a:endParaRPr lang="en-US" altLang="zh-CN" sz="2800" dirty="0">
              <a:latin typeface="+mj-lt"/>
              <a:ea typeface="+mn-ea"/>
            </a:endParaRPr>
          </a:p>
          <a:p>
            <a:pPr>
              <a:lnSpc>
                <a:spcPct val="125000"/>
              </a:lnSpc>
              <a:spcBef>
                <a:spcPts val="0"/>
              </a:spcBef>
              <a:buNone/>
            </a:pPr>
            <a:r>
              <a:rPr lang="zh-CN" altLang="en-US" sz="2800" dirty="0">
                <a:latin typeface="+mj-lt"/>
                <a:ea typeface="+mn-ea"/>
              </a:rPr>
              <a:t>   符号位后；</a:t>
            </a:r>
            <a:endParaRPr lang="en-US" altLang="zh-CN" sz="2800" dirty="0">
              <a:latin typeface="+mj-lt"/>
              <a:ea typeface="+mn-ea"/>
            </a:endParaRPr>
          </a:p>
          <a:p>
            <a:pPr>
              <a:lnSpc>
                <a:spcPct val="125000"/>
              </a:lnSpc>
              <a:spcBef>
                <a:spcPts val="600"/>
              </a:spcBef>
            </a:pPr>
            <a:r>
              <a:rPr lang="zh-CN" altLang="en-US" sz="2800" dirty="0">
                <a:latin typeface="+mj-lt"/>
                <a:ea typeface="+mn-ea"/>
              </a:rPr>
              <a:t> 数的本身只有小数部分，称为“尾数”；</a:t>
            </a:r>
          </a:p>
        </p:txBody>
      </p:sp>
      <p:graphicFrame>
        <p:nvGraphicFramePr>
          <p:cNvPr id="5" name="Object 4"/>
          <p:cNvGraphicFramePr>
            <a:graphicFrameLocks noChangeAspect="1"/>
          </p:cNvGraphicFramePr>
          <p:nvPr>
            <p:extLst>
              <p:ext uri="{D42A27DB-BD31-4B8C-83A1-F6EECF244321}">
                <p14:modId xmlns:p14="http://schemas.microsoft.com/office/powerpoint/2010/main" val="2088547155"/>
              </p:ext>
            </p:extLst>
          </p:nvPr>
        </p:nvGraphicFramePr>
        <p:xfrm>
          <a:off x="3951288" y="1661135"/>
          <a:ext cx="2124075" cy="588962"/>
        </p:xfrm>
        <a:graphic>
          <a:graphicData uri="http://schemas.openxmlformats.org/presentationml/2006/ole">
            <mc:AlternateContent xmlns:mc="http://schemas.openxmlformats.org/markup-compatibility/2006">
              <mc:Choice xmlns:v="urn:schemas-microsoft-com:vml" Requires="v">
                <p:oleObj name="Equation" r:id="rId2" imgW="825480" imgH="228600" progId="Equation.DSMT4">
                  <p:embed/>
                </p:oleObj>
              </mc:Choice>
              <mc:Fallback>
                <p:oleObj name="Equation" r:id="rId2" imgW="825480" imgH="228600" progId="Equation.DSMT4">
                  <p:embed/>
                  <p:pic>
                    <p:nvPicPr>
                      <p:cNvPr id="82948" name="Object 4"/>
                      <p:cNvPicPr>
                        <a:picLocks noChangeAspect="1" noChangeArrowheads="1"/>
                      </p:cNvPicPr>
                      <p:nvPr/>
                    </p:nvPicPr>
                    <p:blipFill>
                      <a:blip r:embed="rId3"/>
                      <a:srcRect/>
                      <a:stretch>
                        <a:fillRect/>
                      </a:stretch>
                    </p:blipFill>
                    <p:spPr bwMode="auto">
                      <a:xfrm>
                        <a:off x="3951288" y="1661135"/>
                        <a:ext cx="2124075"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3379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Effect transition="in" filter="fade">
                                      <p:cBhvr>
                                        <p:cTn id="14" dur="1000"/>
                                        <p:tgtEl>
                                          <p:spTgt spid="4">
                                            <p:txEl>
                                              <p:pRg st="4" end="4"/>
                                            </p:txEl>
                                          </p:spTgt>
                                        </p:tgtEl>
                                      </p:cBhvr>
                                    </p:animEffect>
                                    <p:anim calcmode="lin" valueType="num">
                                      <p:cBhvr>
                                        <p:cTn id="1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1000"/>
                                        <p:tgtEl>
                                          <p:spTgt spid="4">
                                            <p:txEl>
                                              <p:pRg st="5" end="5"/>
                                            </p:txEl>
                                          </p:spTgt>
                                        </p:tgtEl>
                                      </p:cBhvr>
                                    </p:animEffect>
                                    <p:anim calcmode="lin" valueType="num">
                                      <p:cBhvr>
                                        <p:cTn id="20"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fade">
                                      <p:cBhvr>
                                        <p:cTn id="26" dur="1000"/>
                                        <p:tgtEl>
                                          <p:spTgt spid="4">
                                            <p:txEl>
                                              <p:pRg st="6" end="6"/>
                                            </p:txEl>
                                          </p:spTgt>
                                        </p:tgtEl>
                                      </p:cBhvr>
                                    </p:animEffect>
                                    <p:anim calcmode="lin" valueType="num">
                                      <p:cBhvr>
                                        <p:cTn id="2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6.2.1  </a:t>
            </a:r>
            <a:r>
              <a:rPr lang="zh-CN" altLang="en-US" sz="3200" b="1" dirty="0">
                <a:solidFill>
                  <a:srgbClr val="993300"/>
                </a:solidFill>
                <a:ea typeface="楷体_GB2312" pitchFamily="49" charset="-122"/>
              </a:rPr>
              <a:t>二进制数的表示</a:t>
            </a:r>
          </a:p>
        </p:txBody>
      </p:sp>
      <p:sp>
        <p:nvSpPr>
          <p:cNvPr id="3" name="Rectangle 2"/>
          <p:cNvSpPr>
            <a:spLocks noChangeArrowheads="1"/>
          </p:cNvSpPr>
          <p:nvPr/>
        </p:nvSpPr>
        <p:spPr bwMode="auto">
          <a:xfrm>
            <a:off x="683568" y="980728"/>
            <a:ext cx="784887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25000"/>
              </a:lnSpc>
              <a:spcBef>
                <a:spcPts val="0"/>
              </a:spcBef>
            </a:pP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定点数作加减法时结果可能会超出</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，称为 </a:t>
            </a:r>
          </a:p>
          <a:p>
            <a:pPr>
              <a:lnSpc>
                <a:spcPct val="125000"/>
              </a:lnSpc>
              <a:spcBef>
                <a:spcPts val="0"/>
              </a:spcBef>
              <a:buFontTx/>
              <a:buNone/>
            </a:pPr>
            <a:r>
              <a:rPr lang="zh-CN" altLang="en-US" sz="2800" dirty="0">
                <a:latin typeface="宋体" panose="02010600030101010101" pitchFamily="2" charset="-122"/>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a:t>
            </a:r>
            <a:r>
              <a:rPr lang="zh-CN" altLang="en-US" sz="2800" dirty="0">
                <a:solidFill>
                  <a:srgbClr val="0000CC"/>
                </a:solidFill>
                <a:latin typeface="宋体" panose="02010600030101010101" pitchFamily="2" charset="-122"/>
                <a:ea typeface="宋体" panose="02010600030101010101" pitchFamily="2" charset="-122"/>
              </a:rPr>
              <a:t>溢出</a:t>
            </a:r>
            <a:r>
              <a:rPr lang="zh-CN" altLang="en-US" sz="2800" dirty="0">
                <a:latin typeface="Times New Roman" panose="02020603050405020304" pitchFamily="18" charset="0"/>
                <a:ea typeface="宋体" panose="02010600030101010101" pitchFamily="2" charset="-122"/>
              </a:rPr>
              <a:t>”</a:t>
            </a:r>
            <a:r>
              <a:rPr lang="zh-CN" altLang="en-US" sz="2800" dirty="0">
                <a:latin typeface="宋体" panose="02010600030101010101" pitchFamily="2" charset="-122"/>
                <a:ea typeface="宋体" panose="02010600030101010101" pitchFamily="2" charset="-122"/>
              </a:rPr>
              <a:t>；</a:t>
            </a:r>
          </a:p>
          <a:p>
            <a:pPr>
              <a:lnSpc>
                <a:spcPct val="125000"/>
              </a:lnSpc>
              <a:spcBef>
                <a:spcPts val="0"/>
              </a:spcBef>
            </a:pPr>
            <a:r>
              <a:rPr lang="zh-CN" altLang="en-US" sz="2800" dirty="0">
                <a:latin typeface="宋体" panose="02010600030101010101" pitchFamily="2" charset="-122"/>
                <a:ea typeface="宋体" panose="02010600030101010101" pitchFamily="2" charset="-122"/>
              </a:rPr>
              <a:t> 乘法运算不溢出，但字长要增加一倍，一般在</a:t>
            </a:r>
            <a:endParaRPr lang="en-US" altLang="zh-CN" sz="2800" dirty="0">
              <a:latin typeface="宋体" panose="02010600030101010101" pitchFamily="2" charset="-122"/>
              <a:ea typeface="宋体" panose="02010600030101010101" pitchFamily="2" charset="-122"/>
            </a:endParaRPr>
          </a:p>
          <a:p>
            <a:pPr>
              <a:lnSpc>
                <a:spcPct val="125000"/>
              </a:lnSpc>
              <a:spcBef>
                <a:spcPts val="0"/>
              </a:spcBef>
              <a:buNone/>
            </a:pPr>
            <a:r>
              <a:rPr lang="zh-CN" altLang="en-US" sz="2800" dirty="0">
                <a:solidFill>
                  <a:srgbClr val="FF0000"/>
                </a:solidFill>
                <a:latin typeface="宋体" panose="02010600030101010101" pitchFamily="2" charset="-122"/>
                <a:ea typeface="宋体" panose="02010600030101010101" pitchFamily="2" charset="-122"/>
              </a:rPr>
              <a:t>  定点乘法运算以后</a:t>
            </a:r>
            <a:r>
              <a:rPr lang="zh-CN" altLang="en-US" sz="2800" dirty="0">
                <a:latin typeface="宋体" panose="02010600030101010101" pitchFamily="2" charset="-122"/>
                <a:ea typeface="宋体" panose="02010600030101010101" pitchFamily="2" charset="-122"/>
              </a:rPr>
              <a:t>需要对尾数做</a:t>
            </a:r>
            <a:r>
              <a:rPr lang="zh-CN" altLang="en-US" sz="2800" dirty="0">
                <a:solidFill>
                  <a:srgbClr val="FF0000"/>
                </a:solidFill>
                <a:latin typeface="宋体" panose="02010600030101010101" pitchFamily="2" charset="-122"/>
                <a:ea typeface="宋体" panose="02010600030101010101" pitchFamily="2" charset="-122"/>
              </a:rPr>
              <a:t>截尾</a:t>
            </a:r>
            <a:r>
              <a:rPr lang="zh-CN" altLang="en-US" sz="2800" dirty="0">
                <a:latin typeface="宋体" panose="02010600030101010101" pitchFamily="2" charset="-122"/>
                <a:ea typeface="宋体" panose="02010600030101010101" pitchFamily="2" charset="-122"/>
              </a:rPr>
              <a:t>或</a:t>
            </a:r>
            <a:r>
              <a:rPr lang="zh-CN" altLang="en-US" sz="2800" dirty="0">
                <a:solidFill>
                  <a:srgbClr val="FF0000"/>
                </a:solidFill>
                <a:latin typeface="宋体" panose="02010600030101010101" pitchFamily="2" charset="-122"/>
                <a:ea typeface="宋体" panose="02010600030101010101" pitchFamily="2" charset="-122"/>
              </a:rPr>
              <a:t>舍入</a:t>
            </a:r>
            <a:r>
              <a:rPr lang="zh-CN" altLang="en-US" sz="2800" dirty="0">
                <a:latin typeface="宋体" panose="02010600030101010101" pitchFamily="2" charset="-122"/>
                <a:ea typeface="宋体" panose="02010600030101010101" pitchFamily="2" charset="-122"/>
              </a:rPr>
              <a:t>处</a:t>
            </a:r>
            <a:endParaRPr lang="en-US" altLang="zh-CN" sz="2800" dirty="0">
              <a:latin typeface="宋体" panose="02010600030101010101" pitchFamily="2" charset="-122"/>
              <a:ea typeface="宋体" panose="02010600030101010101" pitchFamily="2" charset="-122"/>
            </a:endParaRPr>
          </a:p>
          <a:p>
            <a:pPr>
              <a:lnSpc>
                <a:spcPct val="125000"/>
              </a:lnSpc>
              <a:spcBef>
                <a:spcPts val="0"/>
              </a:spcBef>
              <a:buNone/>
            </a:pPr>
            <a:r>
              <a:rPr lang="zh-CN" altLang="en-US" sz="2800" dirty="0">
                <a:latin typeface="宋体" panose="02010600030101010101" pitchFamily="2" charset="-122"/>
                <a:ea typeface="宋体" panose="02010600030101010101" pitchFamily="2" charset="-122"/>
              </a:rPr>
              <a:t>  理，以保证字长不变，会带来截尾误差或舍入</a:t>
            </a:r>
            <a:endParaRPr lang="en-US" altLang="zh-CN" sz="2800" dirty="0">
              <a:latin typeface="宋体" panose="02010600030101010101" pitchFamily="2" charset="-122"/>
              <a:ea typeface="宋体" panose="02010600030101010101" pitchFamily="2" charset="-122"/>
            </a:endParaRPr>
          </a:p>
          <a:p>
            <a:pPr>
              <a:lnSpc>
                <a:spcPct val="125000"/>
              </a:lnSpc>
              <a:spcBef>
                <a:spcPts val="0"/>
              </a:spcBef>
              <a:buNone/>
            </a:pPr>
            <a:r>
              <a:rPr lang="zh-CN" altLang="en-US" sz="2800" dirty="0">
                <a:solidFill>
                  <a:srgbClr val="FF0000"/>
                </a:solidFill>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误差。</a:t>
            </a:r>
          </a:p>
        </p:txBody>
      </p:sp>
      <p:sp>
        <p:nvSpPr>
          <p:cNvPr id="4" name="Rectangle 3"/>
          <p:cNvSpPr>
            <a:spLocks noChangeArrowheads="1"/>
          </p:cNvSpPr>
          <p:nvPr/>
        </p:nvSpPr>
        <p:spPr bwMode="auto">
          <a:xfrm>
            <a:off x="755576" y="4797152"/>
            <a:ext cx="7989888"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lnSpc>
                <a:spcPct val="110000"/>
              </a:lnSpc>
              <a:spcBef>
                <a:spcPct val="0"/>
              </a:spcBef>
              <a:spcAft>
                <a:spcPct val="50000"/>
              </a:spcAft>
              <a:buFontTx/>
              <a:buNone/>
            </a:pPr>
            <a:r>
              <a:rPr lang="zh-CN" altLang="en-US" sz="2800" dirty="0">
                <a:solidFill>
                  <a:schemeClr val="tx2"/>
                </a:solidFill>
                <a:latin typeface="Times New Roman" panose="02020603050405020304" pitchFamily="18" charset="0"/>
                <a:ea typeface="宋体" panose="02010600030101010101" pitchFamily="2" charset="-122"/>
              </a:rPr>
              <a:t>定点制缺点：</a:t>
            </a:r>
          </a:p>
          <a:p>
            <a:pPr eaLnBrk="1" hangingPunct="1">
              <a:lnSpc>
                <a:spcPct val="110000"/>
              </a:lnSpc>
              <a:spcBef>
                <a:spcPct val="0"/>
              </a:spcBef>
              <a:buFontTx/>
              <a:buNone/>
            </a:pPr>
            <a:r>
              <a:rPr lang="zh-CN" altLang="en-US" sz="2800" dirty="0">
                <a:latin typeface="Times New Roman" panose="02020603050405020304" pitchFamily="18" charset="0"/>
                <a:ea typeface="宋体" panose="02010600030101010101" pitchFamily="2" charset="-122"/>
              </a:rPr>
              <a:t>    动态范围小，有溢出</a:t>
            </a:r>
          </a:p>
        </p:txBody>
      </p:sp>
    </p:spTree>
    <p:extLst>
      <p:ext uri="{BB962C8B-B14F-4D97-AF65-F5344CB8AC3E}">
        <p14:creationId xmlns:p14="http://schemas.microsoft.com/office/powerpoint/2010/main" val="22147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1000"/>
                                        <p:tgtEl>
                                          <p:spTgt spid="4"/>
                                        </p:tgtEl>
                                      </p:cBhvr>
                                    </p:animEffect>
                                    <p:anim calcmode="lin" valueType="num">
                                      <p:cBhvr>
                                        <p:cTn id="30" dur="1000" fill="hold"/>
                                        <p:tgtEl>
                                          <p:spTgt spid="4"/>
                                        </p:tgtEl>
                                        <p:attrNameLst>
                                          <p:attrName>ppt_x</p:attrName>
                                        </p:attrNameLst>
                                      </p:cBhvr>
                                      <p:tavLst>
                                        <p:tav tm="0">
                                          <p:val>
                                            <p:strVal val="#ppt_x"/>
                                          </p:val>
                                        </p:tav>
                                        <p:tav tm="100000">
                                          <p:val>
                                            <p:strVal val="#ppt_x"/>
                                          </p:val>
                                        </p:tav>
                                      </p:tavLst>
                                    </p:anim>
                                    <p:anim calcmode="lin" valueType="num">
                                      <p:cBhvr>
                                        <p:cTn id="3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497904" y="1484784"/>
            <a:ext cx="8610600" cy="231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a:lnSpc>
                <a:spcPct val="130000"/>
              </a:lnSpc>
              <a:spcBef>
                <a:spcPct val="0"/>
              </a:spcBef>
              <a:spcAft>
                <a:spcPts val="0"/>
              </a:spcAft>
              <a:buFontTx/>
              <a:buNone/>
            </a:pPr>
            <a:r>
              <a:rPr lang="zh-CN" altLang="en-US" sz="2800" dirty="0">
                <a:latin typeface="+mj-lt"/>
                <a:ea typeface="+mn-ea"/>
              </a:rPr>
              <a:t>设有一个</a:t>
            </a:r>
            <a:r>
              <a:rPr lang="en-US" altLang="zh-CN" sz="2800" dirty="0">
                <a:latin typeface="+mj-lt"/>
                <a:ea typeface="+mn-ea"/>
              </a:rPr>
              <a:t>(</a:t>
            </a:r>
            <a:r>
              <a:rPr lang="en-US" altLang="zh-CN" sz="2800" i="1" dirty="0">
                <a:latin typeface="+mj-lt"/>
                <a:ea typeface="+mn-ea"/>
              </a:rPr>
              <a:t>b</a:t>
            </a:r>
            <a:r>
              <a:rPr lang="en-US" altLang="zh-CN" sz="2800" dirty="0">
                <a:latin typeface="+mj-lt"/>
                <a:ea typeface="+mn-ea"/>
              </a:rPr>
              <a:t>+1)</a:t>
            </a:r>
            <a:r>
              <a:rPr lang="zh-CN" altLang="en-US" sz="2800" dirty="0">
                <a:latin typeface="+mj-lt"/>
                <a:ea typeface="+mn-ea"/>
              </a:rPr>
              <a:t>位码定点数： </a:t>
            </a:r>
            <a:endParaRPr lang="en-US" altLang="zh-CN" sz="2800" dirty="0">
              <a:latin typeface="+mj-lt"/>
              <a:ea typeface="+mn-ea"/>
            </a:endParaRPr>
          </a:p>
          <a:p>
            <a:pPr algn="just">
              <a:lnSpc>
                <a:spcPct val="125000"/>
              </a:lnSpc>
              <a:spcBef>
                <a:spcPct val="0"/>
              </a:spcBef>
              <a:spcAft>
                <a:spcPts val="0"/>
              </a:spcAft>
              <a:buFontTx/>
              <a:buNone/>
            </a:pPr>
            <a:r>
              <a:rPr lang="en-US" altLang="zh-CN" sz="2800" dirty="0">
                <a:latin typeface="+mj-lt"/>
                <a:ea typeface="+mn-ea"/>
              </a:rPr>
              <a:t>(1)</a:t>
            </a:r>
            <a:r>
              <a:rPr lang="zh-CN" altLang="en-US" sz="2800" dirty="0">
                <a:latin typeface="+mj-lt"/>
                <a:ea typeface="+mn-ea"/>
              </a:rPr>
              <a:t>原码</a:t>
            </a:r>
          </a:p>
          <a:p>
            <a:pPr algn="just">
              <a:lnSpc>
                <a:spcPct val="130000"/>
              </a:lnSpc>
              <a:spcBef>
                <a:spcPct val="0"/>
              </a:spcBef>
              <a:buFontTx/>
              <a:buNone/>
            </a:pPr>
            <a:endParaRPr lang="zh-CN" altLang="en-US" sz="2800" dirty="0">
              <a:latin typeface="+mj-lt"/>
              <a:ea typeface="+mn-ea"/>
            </a:endParaRPr>
          </a:p>
          <a:p>
            <a:pPr algn="just">
              <a:lnSpc>
                <a:spcPct val="130000"/>
              </a:lnSpc>
              <a:spcBef>
                <a:spcPct val="0"/>
              </a:spcBef>
              <a:buFontTx/>
              <a:buNone/>
            </a:pPr>
            <a:r>
              <a:rPr lang="zh-CN" altLang="en-US" sz="2800" dirty="0">
                <a:latin typeface="+mj-lt"/>
                <a:ea typeface="+mn-ea"/>
              </a:rPr>
              <a:t>例：</a:t>
            </a:r>
            <a:r>
              <a:rPr lang="en-US" altLang="zh-CN" sz="2800" dirty="0">
                <a:latin typeface="+mj-lt"/>
                <a:ea typeface="+mn-ea"/>
              </a:rPr>
              <a:t> 0.101→0.625</a:t>
            </a:r>
            <a:r>
              <a:rPr lang="zh-CN" altLang="en-US" sz="2800" dirty="0">
                <a:latin typeface="+mj-lt"/>
                <a:ea typeface="+mn-ea"/>
              </a:rPr>
              <a:t>，</a:t>
            </a:r>
            <a:r>
              <a:rPr lang="en-US" altLang="zh-CN" sz="2800" dirty="0">
                <a:latin typeface="+mj-lt"/>
                <a:ea typeface="+mn-ea"/>
              </a:rPr>
              <a:t> 1.101→ -0.625     </a:t>
            </a:r>
          </a:p>
        </p:txBody>
      </p:sp>
      <p:graphicFrame>
        <p:nvGraphicFramePr>
          <p:cNvPr id="4" name="Object 3"/>
          <p:cNvGraphicFramePr>
            <a:graphicFrameLocks noChangeAspect="1"/>
          </p:cNvGraphicFramePr>
          <p:nvPr>
            <p:extLst>
              <p:ext uri="{D42A27DB-BD31-4B8C-83A1-F6EECF244321}">
                <p14:modId xmlns:p14="http://schemas.microsoft.com/office/powerpoint/2010/main" val="601254025"/>
              </p:ext>
            </p:extLst>
          </p:nvPr>
        </p:nvGraphicFramePr>
        <p:xfrm>
          <a:off x="2575386" y="2276872"/>
          <a:ext cx="2715840" cy="992772"/>
        </p:xfrm>
        <a:graphic>
          <a:graphicData uri="http://schemas.openxmlformats.org/presentationml/2006/ole">
            <mc:AlternateContent xmlns:mc="http://schemas.openxmlformats.org/markup-compatibility/2006">
              <mc:Choice xmlns:v="urn:schemas-microsoft-com:vml" Requires="v">
                <p:oleObj name="Equation" r:id="rId2" imgW="1180800" imgH="431640" progId="Equation.DSMT4">
                  <p:embed/>
                </p:oleObj>
              </mc:Choice>
              <mc:Fallback>
                <p:oleObj name="Equation" r:id="rId2" imgW="1180800" imgH="431640" progId="Equation.DSMT4">
                  <p:embed/>
                  <p:pic>
                    <p:nvPicPr>
                      <p:cNvPr id="84995" name="Object 3"/>
                      <p:cNvPicPr>
                        <a:picLocks noChangeAspect="1" noChangeArrowheads="1"/>
                      </p:cNvPicPr>
                      <p:nvPr/>
                    </p:nvPicPr>
                    <p:blipFill>
                      <a:blip r:embed="rId3"/>
                      <a:srcRect/>
                      <a:stretch>
                        <a:fillRect/>
                      </a:stretch>
                    </p:blipFill>
                    <p:spPr bwMode="auto">
                      <a:xfrm>
                        <a:off x="2575386" y="2276872"/>
                        <a:ext cx="2715840"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4"/>
          <p:cNvSpPr>
            <a:spLocks noGrp="1" noChangeArrowheads="1"/>
          </p:cNvSpPr>
          <p:nvPr>
            <p:ph type="title"/>
          </p:nvPr>
        </p:nvSpPr>
        <p:spPr>
          <a:xfrm>
            <a:off x="528715" y="908720"/>
            <a:ext cx="4752528" cy="647700"/>
          </a:xfrm>
        </p:spPr>
        <p:txBody>
          <a:bodyPr/>
          <a:lstStyle/>
          <a:p>
            <a:r>
              <a:rPr lang="zh-CN" altLang="en-US" sz="3000" b="1" i="0" dirty="0">
                <a:ea typeface="+mn-ea"/>
              </a:rPr>
              <a:t>定点数有三种</a:t>
            </a:r>
            <a:r>
              <a:rPr lang="zh-CN" altLang="en-US" sz="3000" b="1" i="0" dirty="0"/>
              <a:t>表示方法</a:t>
            </a:r>
            <a:endParaRPr lang="zh-CN" altLang="en-US" sz="3000" b="1" i="0" dirty="0">
              <a:ea typeface="+mn-ea"/>
            </a:endParaRPr>
          </a:p>
        </p:txBody>
      </p:sp>
      <p:sp>
        <p:nvSpPr>
          <p:cNvPr id="2" name="矩形 1"/>
          <p:cNvSpPr/>
          <p:nvPr/>
        </p:nvSpPr>
        <p:spPr>
          <a:xfrm>
            <a:off x="480009" y="3717032"/>
            <a:ext cx="8291758" cy="1191095"/>
          </a:xfrm>
          <a:prstGeom prst="rect">
            <a:avLst/>
          </a:prstGeom>
        </p:spPr>
        <p:txBody>
          <a:bodyPr wrap="square">
            <a:spAutoFit/>
          </a:bodyPr>
          <a:lstStyle/>
          <a:p>
            <a:pPr>
              <a:lnSpc>
                <a:spcPct val="130000"/>
              </a:lnSpc>
              <a:spcBef>
                <a:spcPct val="50000"/>
              </a:spcBef>
              <a:buFontTx/>
              <a:buNone/>
            </a:pPr>
            <a:r>
              <a:rPr lang="en-US" altLang="zh-CN" sz="2800" b="1" dirty="0">
                <a:latin typeface="Times New Roman" panose="02020603050405020304" pitchFamily="18" charset="0"/>
              </a:rPr>
              <a:t>(2)</a:t>
            </a:r>
            <a:r>
              <a:rPr lang="zh-CN" altLang="en-US" sz="2800" b="1" dirty="0">
                <a:latin typeface="Times New Roman" panose="02020603050405020304" pitchFamily="18" charset="0"/>
              </a:rPr>
              <a:t>反码</a:t>
            </a:r>
            <a:endParaRPr lang="en-US" altLang="zh-CN" sz="2800" b="1" dirty="0">
              <a:latin typeface="Times New Roman" panose="02020603050405020304" pitchFamily="18" charset="0"/>
            </a:endParaRPr>
          </a:p>
          <a:p>
            <a:pPr>
              <a:lnSpc>
                <a:spcPct val="125000"/>
              </a:lnSpc>
              <a:spcBef>
                <a:spcPts val="0"/>
              </a:spcBef>
              <a:buFontTx/>
              <a:buNone/>
            </a:pPr>
            <a:r>
              <a:rPr lang="zh-CN" altLang="en-US" sz="2800" b="1" dirty="0">
                <a:latin typeface="Times New Roman" panose="02020603050405020304" pitchFamily="18" charset="0"/>
              </a:rPr>
              <a:t>正数同原码，负数则将原码中的尾数按位求反</a:t>
            </a:r>
          </a:p>
        </p:txBody>
      </p:sp>
      <p:sp>
        <p:nvSpPr>
          <p:cNvPr id="7" name="矩形 6"/>
          <p:cNvSpPr/>
          <p:nvPr/>
        </p:nvSpPr>
        <p:spPr>
          <a:xfrm>
            <a:off x="483605" y="4797152"/>
            <a:ext cx="7472771" cy="1191095"/>
          </a:xfrm>
          <a:prstGeom prst="rect">
            <a:avLst/>
          </a:prstGeom>
        </p:spPr>
        <p:txBody>
          <a:bodyPr wrap="square">
            <a:spAutoFit/>
          </a:bodyPr>
          <a:lstStyle/>
          <a:p>
            <a:pPr>
              <a:lnSpc>
                <a:spcPct val="130000"/>
              </a:lnSpc>
              <a:spcBef>
                <a:spcPct val="50000"/>
              </a:spcBef>
              <a:buFontTx/>
              <a:buNone/>
            </a:pPr>
            <a:r>
              <a:rPr lang="en-US" altLang="zh-CN" sz="2800" b="1" dirty="0">
                <a:latin typeface="+mj-lt"/>
                <a:ea typeface="+mn-ea"/>
              </a:rPr>
              <a:t>(3)</a:t>
            </a:r>
            <a:r>
              <a:rPr lang="zh-CN" altLang="en-US" sz="2800" b="1" dirty="0">
                <a:latin typeface="+mj-lt"/>
                <a:ea typeface="+mn-ea"/>
              </a:rPr>
              <a:t>补码</a:t>
            </a:r>
            <a:endParaRPr lang="en-US" altLang="zh-CN" sz="2800" b="1" dirty="0">
              <a:latin typeface="+mj-lt"/>
              <a:ea typeface="+mn-ea"/>
            </a:endParaRPr>
          </a:p>
          <a:p>
            <a:pPr>
              <a:lnSpc>
                <a:spcPct val="125000"/>
              </a:lnSpc>
              <a:spcBef>
                <a:spcPts val="0"/>
              </a:spcBef>
              <a:buFontTx/>
              <a:buNone/>
            </a:pPr>
            <a:r>
              <a:rPr lang="zh-CN" altLang="en-US" sz="2800" b="1" dirty="0">
                <a:latin typeface="+mj-lt"/>
                <a:ea typeface="+mn-ea"/>
              </a:rPr>
              <a:t>正数同原码，负数则将原码中的尾数求反加</a:t>
            </a:r>
            <a:r>
              <a:rPr lang="en-US" altLang="zh-CN" sz="2800" b="1" dirty="0">
                <a:latin typeface="+mj-lt"/>
                <a:ea typeface="+mn-ea"/>
              </a:rPr>
              <a:t>1</a:t>
            </a:r>
            <a:endParaRPr lang="en-US" altLang="zh-CN" dirty="0">
              <a:latin typeface="Times New Roman" panose="02020603050405020304" pitchFamily="18" charset="0"/>
            </a:endParaRPr>
          </a:p>
        </p:txBody>
      </p:sp>
      <p:graphicFrame>
        <p:nvGraphicFramePr>
          <p:cNvPr id="10" name="Object 4"/>
          <p:cNvGraphicFramePr>
            <a:graphicFrameLocks noChangeAspect="1"/>
          </p:cNvGraphicFramePr>
          <p:nvPr>
            <p:extLst>
              <p:ext uri="{D42A27DB-BD31-4B8C-83A1-F6EECF244321}">
                <p14:modId xmlns:p14="http://schemas.microsoft.com/office/powerpoint/2010/main" val="2636588363"/>
              </p:ext>
            </p:extLst>
          </p:nvPr>
        </p:nvGraphicFramePr>
        <p:xfrm>
          <a:off x="5007383" y="1512208"/>
          <a:ext cx="1981152" cy="548640"/>
        </p:xfrm>
        <a:graphic>
          <a:graphicData uri="http://schemas.openxmlformats.org/presentationml/2006/ole">
            <mc:AlternateContent xmlns:mc="http://schemas.openxmlformats.org/markup-compatibility/2006">
              <mc:Choice xmlns:v="urn:schemas-microsoft-com:vml" Requires="v">
                <p:oleObj name="Equation" r:id="rId4" imgW="825480" imgH="228600" progId="Equation.DSMT4">
                  <p:embed/>
                </p:oleObj>
              </mc:Choice>
              <mc:Fallback>
                <p:oleObj name="Equation" r:id="rId4" imgW="825480" imgH="228600" progId="Equation.DSMT4">
                  <p:embed/>
                  <p:pic>
                    <p:nvPicPr>
                      <p:cNvPr id="5" name="Object 4"/>
                      <p:cNvPicPr>
                        <a:picLocks noChangeAspect="1" noChangeArrowheads="1"/>
                      </p:cNvPicPr>
                      <p:nvPr/>
                    </p:nvPicPr>
                    <p:blipFill>
                      <a:blip r:embed="rId5"/>
                      <a:srcRect/>
                      <a:stretch>
                        <a:fillRect/>
                      </a:stretch>
                    </p:blipFill>
                    <p:spPr bwMode="auto">
                      <a:xfrm>
                        <a:off x="5007383" y="1512208"/>
                        <a:ext cx="1981152"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521429" y="6021288"/>
            <a:ext cx="3358612" cy="527580"/>
          </a:xfrm>
          <a:prstGeom prst="rect">
            <a:avLst/>
          </a:prstGeom>
        </p:spPr>
        <p:txBody>
          <a:bodyPr wrap="none">
            <a:spAutoFit/>
          </a:bodyPr>
          <a:lstStyle/>
          <a:p>
            <a:pPr lvl="0" eaLnBrk="1" hangingPunct="1">
              <a:lnSpc>
                <a:spcPct val="110000"/>
              </a:lnSpc>
            </a:pPr>
            <a:r>
              <a:rPr kumimoji="1" lang="en-US" altLang="zh-CN" sz="2800" b="1" dirty="0">
                <a:latin typeface="Times New Roman" panose="02020603050405020304" pitchFamily="18" charset="0"/>
              </a:rPr>
              <a:t>DSP</a:t>
            </a:r>
            <a:r>
              <a:rPr kumimoji="1" lang="zh-CN" altLang="en-US" sz="2800" b="1" dirty="0">
                <a:latin typeface="Times New Roman" panose="02020603050405020304" pitchFamily="18" charset="0"/>
              </a:rPr>
              <a:t>普遍使用补码。</a:t>
            </a:r>
          </a:p>
        </p:txBody>
      </p:sp>
      <p:sp>
        <p:nvSpPr>
          <p:cNvPr id="12"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6.2.1  </a:t>
            </a:r>
            <a:r>
              <a:rPr lang="zh-CN" altLang="en-US" sz="3200" b="1" dirty="0">
                <a:solidFill>
                  <a:srgbClr val="993300"/>
                </a:solidFill>
                <a:ea typeface="楷体_GB2312" pitchFamily="49" charset="-122"/>
              </a:rPr>
              <a:t>二进制数的表示</a:t>
            </a:r>
          </a:p>
        </p:txBody>
      </p:sp>
    </p:spTree>
    <p:extLst>
      <p:ext uri="{BB962C8B-B14F-4D97-AF65-F5344CB8AC3E}">
        <p14:creationId xmlns:p14="http://schemas.microsoft.com/office/powerpoint/2010/main" val="126636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1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323528" y="836712"/>
            <a:ext cx="8534400" cy="185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lnSpc>
                <a:spcPct val="130000"/>
              </a:lnSpc>
              <a:spcBef>
                <a:spcPct val="0"/>
              </a:spcBef>
              <a:buFontTx/>
              <a:buNone/>
            </a:pPr>
            <a:r>
              <a:rPr lang="en-US" altLang="zh-CN" sz="3000" dirty="0">
                <a:solidFill>
                  <a:schemeClr val="tx2"/>
                </a:solidFill>
                <a:latin typeface="+mj-lt"/>
                <a:ea typeface="+mn-ea"/>
              </a:rPr>
              <a:t>2. </a:t>
            </a:r>
            <a:r>
              <a:rPr lang="zh-CN" altLang="en-US" sz="3000" dirty="0">
                <a:solidFill>
                  <a:schemeClr val="tx2"/>
                </a:solidFill>
                <a:latin typeface="+mj-lt"/>
                <a:ea typeface="+mn-ea"/>
              </a:rPr>
              <a:t>浮点表示</a:t>
            </a:r>
          </a:p>
          <a:p>
            <a:pPr algn="just">
              <a:lnSpc>
                <a:spcPct val="130000"/>
              </a:lnSpc>
              <a:spcBef>
                <a:spcPct val="0"/>
              </a:spcBef>
              <a:buFontTx/>
              <a:buNone/>
            </a:pPr>
            <a:r>
              <a:rPr lang="zh-CN" altLang="en-US" sz="2800" dirty="0">
                <a:latin typeface="+mj-lt"/>
                <a:ea typeface="+mn-ea"/>
              </a:rPr>
              <a:t>            </a:t>
            </a:r>
          </a:p>
          <a:p>
            <a:pPr algn="just">
              <a:lnSpc>
                <a:spcPct val="130000"/>
              </a:lnSpc>
              <a:spcBef>
                <a:spcPct val="0"/>
              </a:spcBef>
              <a:buFontTx/>
              <a:buNone/>
            </a:pPr>
            <a:endParaRPr lang="zh-CN" altLang="en-US" sz="2800" dirty="0">
              <a:latin typeface="+mj-lt"/>
              <a:ea typeface="+mn-ea"/>
            </a:endParaRPr>
          </a:p>
        </p:txBody>
      </p:sp>
      <p:graphicFrame>
        <p:nvGraphicFramePr>
          <p:cNvPr id="8" name="Object 3"/>
          <p:cNvGraphicFramePr>
            <a:graphicFrameLocks noChangeAspect="1"/>
          </p:cNvGraphicFramePr>
          <p:nvPr>
            <p:extLst>
              <p:ext uri="{D42A27DB-BD31-4B8C-83A1-F6EECF244321}">
                <p14:modId xmlns:p14="http://schemas.microsoft.com/office/powerpoint/2010/main" val="2339362932"/>
              </p:ext>
            </p:extLst>
          </p:nvPr>
        </p:nvGraphicFramePr>
        <p:xfrm>
          <a:off x="2445576" y="1268760"/>
          <a:ext cx="4144608" cy="944352"/>
        </p:xfrm>
        <a:graphic>
          <a:graphicData uri="http://schemas.openxmlformats.org/presentationml/2006/ole">
            <mc:AlternateContent xmlns:mc="http://schemas.openxmlformats.org/markup-compatibility/2006">
              <mc:Choice xmlns:v="urn:schemas-microsoft-com:vml" Requires="v">
                <p:oleObj name="Equation" r:id="rId2" imgW="1726920" imgH="393480" progId="Equation.DSMT4">
                  <p:embed/>
                </p:oleObj>
              </mc:Choice>
              <mc:Fallback>
                <p:oleObj name="Equation" r:id="rId2" imgW="1726920" imgH="393480" progId="Equation.DSMT4">
                  <p:embed/>
                  <p:pic>
                    <p:nvPicPr>
                      <p:cNvPr id="89091" name="Object 3"/>
                      <p:cNvPicPr>
                        <a:picLocks noChangeAspect="1" noChangeArrowheads="1"/>
                      </p:cNvPicPr>
                      <p:nvPr/>
                    </p:nvPicPr>
                    <p:blipFill>
                      <a:blip r:embed="rId3"/>
                      <a:srcRect/>
                      <a:stretch>
                        <a:fillRect/>
                      </a:stretch>
                    </p:blipFill>
                    <p:spPr bwMode="auto">
                      <a:xfrm>
                        <a:off x="2445576" y="1268760"/>
                        <a:ext cx="4144608" cy="944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Line 4"/>
          <p:cNvSpPr>
            <a:spLocks noChangeShapeType="1"/>
          </p:cNvSpPr>
          <p:nvPr/>
        </p:nvSpPr>
        <p:spPr bwMode="auto">
          <a:xfrm flipH="1">
            <a:off x="2926942" y="1973916"/>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j-lt"/>
              <a:ea typeface="+mn-ea"/>
            </a:endParaRPr>
          </a:p>
        </p:txBody>
      </p:sp>
      <p:sp>
        <p:nvSpPr>
          <p:cNvPr id="10" name="Line 5"/>
          <p:cNvSpPr>
            <a:spLocks noChangeShapeType="1"/>
          </p:cNvSpPr>
          <p:nvPr/>
        </p:nvSpPr>
        <p:spPr bwMode="auto">
          <a:xfrm flipH="1">
            <a:off x="3677151" y="1941032"/>
            <a:ext cx="2286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j-lt"/>
              <a:ea typeface="+mn-ea"/>
            </a:endParaRPr>
          </a:p>
        </p:txBody>
      </p:sp>
      <p:sp>
        <p:nvSpPr>
          <p:cNvPr id="11" name="Line 6"/>
          <p:cNvSpPr>
            <a:spLocks noChangeShapeType="1"/>
          </p:cNvSpPr>
          <p:nvPr/>
        </p:nvSpPr>
        <p:spPr bwMode="auto">
          <a:xfrm>
            <a:off x="4116758" y="1674333"/>
            <a:ext cx="457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j-lt"/>
              <a:ea typeface="+mn-ea"/>
            </a:endParaRPr>
          </a:p>
        </p:txBody>
      </p:sp>
      <p:sp>
        <p:nvSpPr>
          <p:cNvPr id="3" name="矩形 2"/>
          <p:cNvSpPr/>
          <p:nvPr/>
        </p:nvSpPr>
        <p:spPr>
          <a:xfrm>
            <a:off x="613520" y="2885384"/>
            <a:ext cx="8424936" cy="2332946"/>
          </a:xfrm>
          <a:prstGeom prst="rect">
            <a:avLst/>
          </a:prstGeom>
        </p:spPr>
        <p:txBody>
          <a:bodyPr wrap="square">
            <a:spAutoFit/>
          </a:bodyPr>
          <a:lstStyle/>
          <a:p>
            <a:pPr lvl="0" algn="just">
              <a:lnSpc>
                <a:spcPct val="130000"/>
              </a:lnSpc>
            </a:pPr>
            <a:r>
              <a:rPr lang="zh-CN" altLang="en-US" sz="2800" b="1" dirty="0">
                <a:solidFill>
                  <a:srgbClr val="000000"/>
                </a:solidFill>
                <a:latin typeface="Times New Roman"/>
                <a:ea typeface="宋体"/>
              </a:rPr>
              <a:t>浮点制运算</a:t>
            </a:r>
            <a:r>
              <a:rPr lang="en-US" altLang="zh-CN" sz="2800" b="1" dirty="0">
                <a:solidFill>
                  <a:srgbClr val="000000"/>
                </a:solidFill>
                <a:latin typeface="Times New Roman"/>
                <a:ea typeface="宋体"/>
              </a:rPr>
              <a:t>:</a:t>
            </a:r>
          </a:p>
          <a:p>
            <a:pPr lvl="0" algn="just">
              <a:lnSpc>
                <a:spcPct val="130000"/>
              </a:lnSpc>
            </a:pPr>
            <a:r>
              <a:rPr lang="en-US" altLang="zh-CN" sz="2800" b="1" dirty="0">
                <a:solidFill>
                  <a:srgbClr val="000000"/>
                </a:solidFill>
                <a:latin typeface="Times New Roman"/>
                <a:ea typeface="宋体"/>
              </a:rPr>
              <a:t> </a:t>
            </a:r>
            <a:r>
              <a:rPr lang="zh-CN" altLang="en-US" sz="2800" b="1" dirty="0">
                <a:solidFill>
                  <a:srgbClr val="0000CC"/>
                </a:solidFill>
                <a:latin typeface="Times New Roman"/>
                <a:ea typeface="宋体"/>
              </a:rPr>
              <a:t>相加</a:t>
            </a:r>
            <a:r>
              <a:rPr lang="zh-CN" altLang="en-US" sz="2800" b="1" dirty="0">
                <a:solidFill>
                  <a:srgbClr val="000000"/>
                </a:solidFill>
                <a:latin typeface="Times New Roman"/>
                <a:ea typeface="宋体"/>
              </a:rPr>
              <a:t>：对阶</a:t>
            </a:r>
            <a:r>
              <a:rPr lang="en-US" altLang="zh-CN" sz="2800" b="1" dirty="0">
                <a:solidFill>
                  <a:srgbClr val="000000"/>
                </a:solidFill>
                <a:latin typeface="Times New Roman"/>
                <a:ea typeface="宋体"/>
              </a:rPr>
              <a:t>--</a:t>
            </a:r>
            <a:r>
              <a:rPr lang="zh-CN" altLang="en-US" sz="2800" b="1" dirty="0">
                <a:solidFill>
                  <a:srgbClr val="000000"/>
                </a:solidFill>
                <a:latin typeface="Times New Roman"/>
                <a:ea typeface="宋体"/>
              </a:rPr>
              <a:t>使</a:t>
            </a:r>
            <a:r>
              <a:rPr lang="en-US" altLang="zh-CN" sz="2800" b="1" dirty="0">
                <a:solidFill>
                  <a:srgbClr val="000000"/>
                </a:solidFill>
                <a:latin typeface="Times New Roman"/>
                <a:ea typeface="宋体"/>
              </a:rPr>
              <a:t>2</a:t>
            </a:r>
            <a:r>
              <a:rPr lang="zh-CN" altLang="en-US" sz="2800" b="1" dirty="0">
                <a:solidFill>
                  <a:srgbClr val="000000"/>
                </a:solidFill>
                <a:latin typeface="Times New Roman"/>
                <a:ea typeface="宋体"/>
              </a:rPr>
              <a:t>个数阶码相等，再相加，</a:t>
            </a:r>
            <a:endParaRPr lang="en-US" altLang="zh-CN" sz="2800" b="1" dirty="0">
              <a:solidFill>
                <a:srgbClr val="000000"/>
              </a:solidFill>
              <a:latin typeface="Times New Roman"/>
              <a:ea typeface="宋体"/>
            </a:endParaRPr>
          </a:p>
          <a:p>
            <a:pPr lvl="0" algn="just">
              <a:lnSpc>
                <a:spcPct val="130000"/>
              </a:lnSpc>
            </a:pPr>
            <a:r>
              <a:rPr lang="zh-CN" altLang="en-US" sz="2800" b="1" dirty="0">
                <a:solidFill>
                  <a:srgbClr val="000000"/>
                </a:solidFill>
                <a:latin typeface="Times New Roman"/>
                <a:ea typeface="宋体"/>
              </a:rPr>
              <a:t>             其和数归一化，并作尾数处理</a:t>
            </a:r>
          </a:p>
          <a:p>
            <a:pPr lvl="0" algn="just">
              <a:lnSpc>
                <a:spcPct val="130000"/>
              </a:lnSpc>
            </a:pPr>
            <a:r>
              <a:rPr lang="zh-CN" altLang="en-US" sz="2800" b="1" dirty="0">
                <a:solidFill>
                  <a:srgbClr val="000000"/>
                </a:solidFill>
                <a:latin typeface="Times New Roman"/>
                <a:ea typeface="宋体"/>
              </a:rPr>
              <a:t> </a:t>
            </a:r>
            <a:r>
              <a:rPr lang="zh-CN" altLang="en-US" sz="2800" b="1" dirty="0">
                <a:solidFill>
                  <a:srgbClr val="0000CC"/>
                </a:solidFill>
                <a:latin typeface="Times New Roman"/>
                <a:ea typeface="宋体"/>
              </a:rPr>
              <a:t>相乘</a:t>
            </a:r>
            <a:r>
              <a:rPr lang="en-US" altLang="zh-CN" sz="2800" b="1" dirty="0">
                <a:solidFill>
                  <a:srgbClr val="000000"/>
                </a:solidFill>
                <a:latin typeface="Times New Roman"/>
                <a:ea typeface="宋体"/>
              </a:rPr>
              <a:t>: </a:t>
            </a:r>
            <a:r>
              <a:rPr lang="zh-CN" altLang="en-US" sz="2800" b="1" dirty="0">
                <a:solidFill>
                  <a:srgbClr val="000000"/>
                </a:solidFill>
                <a:latin typeface="Times New Roman"/>
                <a:ea typeface="宋体"/>
              </a:rPr>
              <a:t>尾数相乘</a:t>
            </a:r>
            <a:r>
              <a:rPr lang="en-US" altLang="zh-CN" sz="2800" b="1" dirty="0">
                <a:solidFill>
                  <a:srgbClr val="000000"/>
                </a:solidFill>
                <a:latin typeface="Times New Roman"/>
                <a:ea typeface="宋体"/>
              </a:rPr>
              <a:t>, </a:t>
            </a:r>
            <a:r>
              <a:rPr lang="zh-CN" altLang="en-US" sz="2800" b="1" dirty="0">
                <a:solidFill>
                  <a:srgbClr val="000000"/>
                </a:solidFill>
                <a:latin typeface="Times New Roman"/>
                <a:ea typeface="宋体"/>
              </a:rPr>
              <a:t>阶码相加</a:t>
            </a:r>
            <a:r>
              <a:rPr lang="en-US" altLang="zh-CN" sz="2800" b="1" dirty="0">
                <a:solidFill>
                  <a:srgbClr val="000000"/>
                </a:solidFill>
                <a:latin typeface="Times New Roman"/>
                <a:ea typeface="宋体"/>
              </a:rPr>
              <a:t>, </a:t>
            </a:r>
            <a:r>
              <a:rPr lang="zh-CN" altLang="en-US" sz="2800" b="1" dirty="0">
                <a:solidFill>
                  <a:srgbClr val="000000"/>
                </a:solidFill>
                <a:latin typeface="Times New Roman"/>
                <a:ea typeface="宋体"/>
              </a:rPr>
              <a:t>也要作截尾或舍入处理。</a:t>
            </a:r>
          </a:p>
        </p:txBody>
      </p:sp>
      <p:sp>
        <p:nvSpPr>
          <p:cNvPr id="5" name="矩形 4"/>
          <p:cNvSpPr/>
          <p:nvPr/>
        </p:nvSpPr>
        <p:spPr>
          <a:xfrm>
            <a:off x="2292974" y="2350724"/>
            <a:ext cx="902811" cy="523220"/>
          </a:xfrm>
          <a:prstGeom prst="rect">
            <a:avLst/>
          </a:prstGeom>
        </p:spPr>
        <p:txBody>
          <a:bodyPr wrap="none">
            <a:spAutoFit/>
          </a:bodyPr>
          <a:lstStyle/>
          <a:p>
            <a:r>
              <a:rPr lang="zh-CN" altLang="en-US" sz="2800" b="1" dirty="0">
                <a:solidFill>
                  <a:srgbClr val="000000"/>
                </a:solidFill>
                <a:latin typeface="Times New Roman"/>
                <a:ea typeface="宋体"/>
              </a:rPr>
              <a:t>尾数</a:t>
            </a:r>
            <a:endParaRPr lang="zh-CN" altLang="en-US" b="1" dirty="0"/>
          </a:p>
        </p:txBody>
      </p:sp>
      <p:sp>
        <p:nvSpPr>
          <p:cNvPr id="14" name="矩形 13"/>
          <p:cNvSpPr/>
          <p:nvPr/>
        </p:nvSpPr>
        <p:spPr>
          <a:xfrm>
            <a:off x="3295161" y="2345367"/>
            <a:ext cx="992579" cy="523220"/>
          </a:xfrm>
          <a:prstGeom prst="rect">
            <a:avLst/>
          </a:prstGeom>
        </p:spPr>
        <p:txBody>
          <a:bodyPr wrap="none">
            <a:spAutoFit/>
          </a:bodyPr>
          <a:lstStyle/>
          <a:p>
            <a:r>
              <a:rPr lang="zh-CN" altLang="en-US" sz="2800" b="1" dirty="0">
                <a:solidFill>
                  <a:srgbClr val="000000"/>
                </a:solidFill>
                <a:latin typeface="Times New Roman"/>
                <a:ea typeface="宋体"/>
              </a:rPr>
              <a:t>指数 </a:t>
            </a:r>
            <a:endParaRPr lang="zh-CN" altLang="en-US" b="1" dirty="0"/>
          </a:p>
        </p:txBody>
      </p:sp>
      <p:sp>
        <p:nvSpPr>
          <p:cNvPr id="15" name="矩形 14"/>
          <p:cNvSpPr/>
          <p:nvPr/>
        </p:nvSpPr>
        <p:spPr>
          <a:xfrm>
            <a:off x="4315701" y="2278716"/>
            <a:ext cx="902811" cy="590354"/>
          </a:xfrm>
          <a:prstGeom prst="rect">
            <a:avLst/>
          </a:prstGeom>
        </p:spPr>
        <p:txBody>
          <a:bodyPr wrap="none">
            <a:spAutoFit/>
          </a:bodyPr>
          <a:lstStyle/>
          <a:p>
            <a:pPr algn="just">
              <a:lnSpc>
                <a:spcPct val="130000"/>
              </a:lnSpc>
            </a:pPr>
            <a:r>
              <a:rPr lang="zh-CN" altLang="en-US" sz="2800" b="1" dirty="0"/>
              <a:t>阶数</a:t>
            </a:r>
          </a:p>
        </p:txBody>
      </p:sp>
      <p:sp>
        <p:nvSpPr>
          <p:cNvPr id="16" name="矩形 15"/>
          <p:cNvSpPr/>
          <p:nvPr/>
        </p:nvSpPr>
        <p:spPr>
          <a:xfrm>
            <a:off x="691510" y="5301208"/>
            <a:ext cx="8166418" cy="1212640"/>
          </a:xfrm>
          <a:prstGeom prst="rect">
            <a:avLst/>
          </a:prstGeom>
        </p:spPr>
        <p:txBody>
          <a:bodyPr wrap="square">
            <a:spAutoFit/>
          </a:bodyPr>
          <a:lstStyle/>
          <a:p>
            <a:pPr>
              <a:lnSpc>
                <a:spcPct val="130000"/>
              </a:lnSpc>
            </a:pPr>
            <a:r>
              <a:rPr lang="zh-CN" altLang="en-US" sz="2800" b="1" dirty="0">
                <a:latin typeface="Times New Roman" panose="02020603050405020304" pitchFamily="18" charset="0"/>
              </a:rPr>
              <a:t>一般，浮点制的运算精度比定点制要高得多，本章重点讨论定点制的量化误差。</a:t>
            </a:r>
          </a:p>
        </p:txBody>
      </p:sp>
      <p:sp>
        <p:nvSpPr>
          <p:cNvPr id="18" name="矩形 17"/>
          <p:cNvSpPr/>
          <p:nvPr/>
        </p:nvSpPr>
        <p:spPr>
          <a:xfrm>
            <a:off x="2753723" y="2951175"/>
            <a:ext cx="4134465"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动态范围大，一般不溢出</a:t>
            </a:r>
            <a:endParaRPr lang="zh-CN" altLang="en-US" b="1" dirty="0"/>
          </a:p>
        </p:txBody>
      </p:sp>
      <p:sp>
        <p:nvSpPr>
          <p:cNvPr id="17"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6.2.1  </a:t>
            </a:r>
            <a:r>
              <a:rPr lang="zh-CN" altLang="en-US" sz="3200" b="1" dirty="0">
                <a:solidFill>
                  <a:srgbClr val="993300"/>
                </a:solidFill>
                <a:ea typeface="楷体_GB2312" pitchFamily="49" charset="-122"/>
              </a:rPr>
              <a:t>二进制数的表示</a:t>
            </a:r>
          </a:p>
        </p:txBody>
      </p:sp>
    </p:spTree>
    <p:extLst>
      <p:ext uri="{BB962C8B-B14F-4D97-AF65-F5344CB8AC3E}">
        <p14:creationId xmlns:p14="http://schemas.microsoft.com/office/powerpoint/2010/main" val="73265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6.2.2  </a:t>
            </a:r>
            <a:r>
              <a:rPr lang="zh-CN" altLang="en-US" sz="3200" b="1" dirty="0">
                <a:solidFill>
                  <a:srgbClr val="993300"/>
                </a:solidFill>
                <a:ea typeface="楷体_GB2312" pitchFamily="49" charset="-122"/>
              </a:rPr>
              <a:t>定点制的量化误差</a:t>
            </a:r>
          </a:p>
        </p:txBody>
      </p:sp>
      <p:sp>
        <p:nvSpPr>
          <p:cNvPr id="4" name="Text Box 2"/>
          <p:cNvSpPr txBox="1">
            <a:spLocks noChangeArrowheads="1"/>
          </p:cNvSpPr>
          <p:nvPr/>
        </p:nvSpPr>
        <p:spPr bwMode="auto">
          <a:xfrm>
            <a:off x="790648" y="2492896"/>
            <a:ext cx="8208963" cy="1602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lnSpc>
                <a:spcPct val="110000"/>
              </a:lnSpc>
              <a:spcBef>
                <a:spcPts val="0"/>
              </a:spcBef>
              <a:spcAft>
                <a:spcPts val="0"/>
              </a:spcAft>
              <a:buFontTx/>
              <a:buNone/>
            </a:pPr>
            <a:r>
              <a:rPr lang="zh-CN" altLang="en-US" sz="2800" dirty="0">
                <a:solidFill>
                  <a:srgbClr val="000000"/>
                </a:solidFill>
                <a:latin typeface="Times New Roman" panose="02020603050405020304" pitchFamily="18" charset="0"/>
                <a:ea typeface="宋体" panose="02010600030101010101" pitchFamily="2" charset="-122"/>
              </a:rPr>
              <a:t>量化处理方式：</a:t>
            </a:r>
          </a:p>
          <a:p>
            <a:pPr eaLnBrk="1" hangingPunct="1">
              <a:lnSpc>
                <a:spcPct val="110000"/>
              </a:lnSpc>
              <a:spcBef>
                <a:spcPct val="0"/>
              </a:spcBef>
              <a:spcAft>
                <a:spcPct val="20000"/>
              </a:spcAft>
              <a:buFontTx/>
              <a:buNone/>
            </a:pPr>
            <a:r>
              <a:rPr lang="zh-CN" altLang="en-US" sz="280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0000CC"/>
                </a:solidFill>
                <a:latin typeface="Times New Roman" panose="02020603050405020304" pitchFamily="18" charset="0"/>
                <a:ea typeface="宋体" panose="02010600030101010101" pitchFamily="2" charset="-122"/>
              </a:rPr>
              <a:t>截尾</a:t>
            </a:r>
            <a:r>
              <a:rPr lang="zh-CN" altLang="en-US" sz="2800" dirty="0">
                <a:solidFill>
                  <a:srgbClr val="000000"/>
                </a:solidFill>
                <a:latin typeface="Times New Roman" panose="02020603050405020304" pitchFamily="18" charset="0"/>
                <a:ea typeface="宋体" panose="02010600030101010101" pitchFamily="2" charset="-122"/>
              </a:rPr>
              <a:t>：保留</a:t>
            </a:r>
            <a:r>
              <a:rPr lang="en-US" altLang="zh-CN" sz="2800" i="1" dirty="0">
                <a:latin typeface="Times New Roman" panose="02020603050405020304" pitchFamily="18" charset="0"/>
                <a:ea typeface="宋体" panose="02010600030101010101" pitchFamily="2" charset="-122"/>
              </a:rPr>
              <a:t>b</a:t>
            </a:r>
            <a:r>
              <a:rPr lang="zh-CN" altLang="en-US" sz="2800" dirty="0">
                <a:solidFill>
                  <a:srgbClr val="000000"/>
                </a:solidFill>
                <a:latin typeface="Times New Roman" panose="02020603050405020304" pitchFamily="18" charset="0"/>
                <a:ea typeface="宋体" panose="02010600030101010101" pitchFamily="2" charset="-122"/>
              </a:rPr>
              <a:t>位，抛弃余下的尾数</a:t>
            </a:r>
          </a:p>
          <a:p>
            <a:pPr lvl="1" eaLnBrk="1" hangingPunct="1">
              <a:lnSpc>
                <a:spcPct val="110000"/>
              </a:lnSpc>
              <a:spcBef>
                <a:spcPct val="0"/>
              </a:spcBef>
              <a:spcAft>
                <a:spcPct val="20000"/>
              </a:spcAft>
              <a:buFontTx/>
              <a:buNone/>
            </a:pPr>
            <a:r>
              <a:rPr lang="zh-CN" altLang="en-US" sz="280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FF0000"/>
                </a:solidFill>
                <a:latin typeface="Times New Roman" panose="02020603050405020304" pitchFamily="18" charset="0"/>
                <a:ea typeface="宋体" panose="02010600030101010101" pitchFamily="2" charset="-122"/>
              </a:rPr>
              <a:t>舍入</a:t>
            </a:r>
            <a:r>
              <a:rPr lang="zh-CN" altLang="en-US" sz="2800" dirty="0">
                <a:solidFill>
                  <a:srgbClr val="000000"/>
                </a:solidFill>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b</a:t>
            </a:r>
            <a:r>
              <a:rPr lang="en-US" altLang="zh-CN" sz="2800" dirty="0">
                <a:latin typeface="Times New Roman" panose="02020603050405020304" pitchFamily="18" charset="0"/>
                <a:ea typeface="宋体" panose="02010600030101010101" pitchFamily="2" charset="-122"/>
              </a:rPr>
              <a:t>+1)</a:t>
            </a:r>
            <a:r>
              <a:rPr lang="zh-CN" altLang="en-US" sz="2800" dirty="0">
                <a:solidFill>
                  <a:srgbClr val="000000"/>
                </a:solidFill>
                <a:latin typeface="Times New Roman" panose="02020603050405020304" pitchFamily="18" charset="0"/>
                <a:ea typeface="宋体" panose="02010600030101010101" pitchFamily="2" charset="-122"/>
              </a:rPr>
              <a:t>位上加</a:t>
            </a:r>
            <a:r>
              <a:rPr lang="en-US" altLang="zh-CN" sz="2800" dirty="0">
                <a:solidFill>
                  <a:srgbClr val="000000"/>
                </a:solidFill>
                <a:latin typeface="Times New Roman" panose="02020603050405020304" pitchFamily="18" charset="0"/>
                <a:ea typeface="宋体" panose="02010600030101010101" pitchFamily="2" charset="-122"/>
              </a:rPr>
              <a:t>1</a:t>
            </a:r>
            <a:r>
              <a:rPr lang="zh-CN" altLang="en-US" sz="2800" dirty="0">
                <a:solidFill>
                  <a:srgbClr val="000000"/>
                </a:solidFill>
                <a:latin typeface="Times New Roman" panose="02020603050405020304" pitchFamily="18" charset="0"/>
                <a:ea typeface="宋体" panose="02010600030101010101" pitchFamily="2" charset="-122"/>
              </a:rPr>
              <a:t>后，截取到</a:t>
            </a:r>
            <a:r>
              <a:rPr lang="en-US" altLang="zh-CN" sz="2800" i="1" dirty="0">
                <a:solidFill>
                  <a:srgbClr val="000000"/>
                </a:solidFill>
                <a:latin typeface="Times New Roman" panose="02020603050405020304" pitchFamily="18" charset="0"/>
                <a:ea typeface="宋体" panose="02010600030101010101" pitchFamily="2" charset="-122"/>
              </a:rPr>
              <a:t>b</a:t>
            </a:r>
            <a:r>
              <a:rPr lang="zh-CN" altLang="en-US" sz="2800" dirty="0">
                <a:solidFill>
                  <a:srgbClr val="000000"/>
                </a:solidFill>
                <a:latin typeface="Times New Roman" panose="02020603050405020304" pitchFamily="18" charset="0"/>
                <a:ea typeface="宋体" panose="02010600030101010101" pitchFamily="2" charset="-122"/>
              </a:rPr>
              <a:t>位</a:t>
            </a:r>
            <a:endParaRPr lang="en-US" altLang="zh-CN" sz="2800" dirty="0">
              <a:solidFill>
                <a:srgbClr val="000000"/>
              </a:solidFill>
              <a:latin typeface="Times New Roman" panose="02020603050405020304" pitchFamily="18" charset="0"/>
              <a:ea typeface="宋体" panose="02010600030101010101" pitchFamily="2" charset="-122"/>
            </a:endParaRPr>
          </a:p>
        </p:txBody>
      </p:sp>
      <p:sp>
        <p:nvSpPr>
          <p:cNvPr id="3" name="矩形 2"/>
          <p:cNvSpPr/>
          <p:nvPr/>
        </p:nvSpPr>
        <p:spPr>
          <a:xfrm>
            <a:off x="2114303" y="980728"/>
            <a:ext cx="4257897" cy="523220"/>
          </a:xfrm>
          <a:prstGeom prst="rect">
            <a:avLst/>
          </a:prstGeom>
        </p:spPr>
        <p:txBody>
          <a:bodyPr wrap="none">
            <a:spAutoFit/>
          </a:bodyPr>
          <a:lstStyle/>
          <a:p>
            <a:r>
              <a:rPr lang="zh-CN" altLang="en-US" sz="2800" b="1" dirty="0">
                <a:solidFill>
                  <a:srgbClr val="000000"/>
                </a:solidFill>
                <a:latin typeface="Times New Roman"/>
                <a:ea typeface="宋体"/>
              </a:rPr>
              <a:t>字长为</a:t>
            </a:r>
            <a:r>
              <a:rPr lang="en-US" altLang="zh-CN" sz="2800" b="1" dirty="0">
                <a:solidFill>
                  <a:srgbClr val="000000"/>
                </a:solidFill>
                <a:latin typeface="Times New Roman"/>
                <a:ea typeface="宋体"/>
              </a:rPr>
              <a:t>(</a:t>
            </a:r>
            <a:r>
              <a:rPr lang="en-US" altLang="zh-CN" sz="2800" b="1" i="1" dirty="0">
                <a:solidFill>
                  <a:srgbClr val="000000"/>
                </a:solidFill>
                <a:latin typeface="Times New Roman"/>
                <a:ea typeface="宋体"/>
              </a:rPr>
              <a:t>b</a:t>
            </a:r>
            <a:r>
              <a:rPr lang="en-US" altLang="zh-CN" sz="2800" b="1" dirty="0">
                <a:solidFill>
                  <a:srgbClr val="000000"/>
                </a:solidFill>
                <a:latin typeface="Times New Roman"/>
                <a:ea typeface="宋体"/>
              </a:rPr>
              <a:t>+1)</a:t>
            </a:r>
            <a:r>
              <a:rPr lang="zh-CN" altLang="en-US" sz="2800" b="1" dirty="0">
                <a:solidFill>
                  <a:srgbClr val="000000"/>
                </a:solidFill>
                <a:latin typeface="Times New Roman"/>
                <a:ea typeface="宋体"/>
              </a:rPr>
              <a:t>位</a:t>
            </a:r>
            <a:r>
              <a:rPr lang="en-US" altLang="zh-CN" sz="2800" b="1" dirty="0">
                <a:solidFill>
                  <a:srgbClr val="000000"/>
                </a:solidFill>
                <a:latin typeface="Times New Roman"/>
                <a:ea typeface="宋体"/>
              </a:rPr>
              <a:t>(</a:t>
            </a:r>
            <a:r>
              <a:rPr lang="zh-CN" altLang="en-US" sz="2800" b="1" dirty="0">
                <a:solidFill>
                  <a:srgbClr val="000000"/>
                </a:solidFill>
                <a:latin typeface="Times New Roman"/>
                <a:ea typeface="宋体"/>
              </a:rPr>
              <a:t>含符号位</a:t>
            </a:r>
            <a:r>
              <a:rPr lang="en-US" altLang="zh-CN" sz="2800" b="1" dirty="0">
                <a:solidFill>
                  <a:srgbClr val="000000"/>
                </a:solidFill>
                <a:latin typeface="Times New Roman"/>
                <a:ea typeface="宋体"/>
              </a:rPr>
              <a:t>)</a:t>
            </a:r>
            <a:endParaRPr lang="zh-CN" altLang="en-US" b="1" dirty="0"/>
          </a:p>
        </p:txBody>
      </p:sp>
      <p:graphicFrame>
        <p:nvGraphicFramePr>
          <p:cNvPr id="7" name="Object 4"/>
          <p:cNvGraphicFramePr>
            <a:graphicFrameLocks noChangeAspect="1"/>
          </p:cNvGraphicFramePr>
          <p:nvPr>
            <p:extLst>
              <p:ext uri="{D42A27DB-BD31-4B8C-83A1-F6EECF244321}">
                <p14:modId xmlns:p14="http://schemas.microsoft.com/office/powerpoint/2010/main" val="3479793342"/>
              </p:ext>
            </p:extLst>
          </p:nvPr>
        </p:nvGraphicFramePr>
        <p:xfrm>
          <a:off x="6407272" y="980728"/>
          <a:ext cx="1981152" cy="548640"/>
        </p:xfrm>
        <a:graphic>
          <a:graphicData uri="http://schemas.openxmlformats.org/presentationml/2006/ole">
            <mc:AlternateContent xmlns:mc="http://schemas.openxmlformats.org/markup-compatibility/2006">
              <mc:Choice xmlns:v="urn:schemas-microsoft-com:vml" Requires="v">
                <p:oleObj name="Equation" r:id="rId2" imgW="825480" imgH="228600" progId="Equation.DSMT4">
                  <p:embed/>
                </p:oleObj>
              </mc:Choice>
              <mc:Fallback>
                <p:oleObj name="Equation" r:id="rId2" imgW="825480" imgH="228600" progId="Equation.DSMT4">
                  <p:embed/>
                  <p:pic>
                    <p:nvPicPr>
                      <p:cNvPr id="10" name="Object 4"/>
                      <p:cNvPicPr>
                        <a:picLocks noChangeAspect="1" noChangeArrowheads="1"/>
                      </p:cNvPicPr>
                      <p:nvPr/>
                    </p:nvPicPr>
                    <p:blipFill>
                      <a:blip r:embed="rId3"/>
                      <a:srcRect/>
                      <a:stretch>
                        <a:fillRect/>
                      </a:stretch>
                    </p:blipFill>
                    <p:spPr bwMode="auto">
                      <a:xfrm>
                        <a:off x="6407272" y="980728"/>
                        <a:ext cx="1981152"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790648" y="980728"/>
            <a:ext cx="1627369"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定点制，</a:t>
            </a:r>
            <a:endParaRPr lang="zh-CN" altLang="en-US" b="1" dirty="0"/>
          </a:p>
        </p:txBody>
      </p:sp>
      <p:sp>
        <p:nvSpPr>
          <p:cNvPr id="9" name="矩形 8"/>
          <p:cNvSpPr/>
          <p:nvPr/>
        </p:nvSpPr>
        <p:spPr>
          <a:xfrm>
            <a:off x="611560" y="1677023"/>
            <a:ext cx="4493538" cy="527580"/>
          </a:xfrm>
          <a:prstGeom prst="rect">
            <a:avLst/>
          </a:prstGeom>
        </p:spPr>
        <p:txBody>
          <a:bodyPr wrap="none">
            <a:spAutoFit/>
          </a:bodyPr>
          <a:lstStyle/>
          <a:p>
            <a:pPr lvl="0" algn="just">
              <a:lnSpc>
                <a:spcPct val="110000"/>
              </a:lnSpc>
              <a:spcAft>
                <a:spcPct val="30000"/>
              </a:spcAft>
            </a:pPr>
            <a:r>
              <a:rPr kumimoji="1" lang="zh-CN" altLang="en-US" sz="2800" b="1" dirty="0">
                <a:latin typeface="Times New Roman" panose="02020603050405020304" pitchFamily="18" charset="0"/>
              </a:rPr>
              <a:t>“量化宽度”或“量化阶”</a:t>
            </a:r>
          </a:p>
        </p:txBody>
      </p:sp>
      <p:graphicFrame>
        <p:nvGraphicFramePr>
          <p:cNvPr id="11" name="Object 4"/>
          <p:cNvGraphicFramePr>
            <a:graphicFrameLocks noChangeAspect="1"/>
          </p:cNvGraphicFramePr>
          <p:nvPr>
            <p:extLst>
              <p:ext uri="{D42A27DB-BD31-4B8C-83A1-F6EECF244321}">
                <p14:modId xmlns:p14="http://schemas.microsoft.com/office/powerpoint/2010/main" val="2151587236"/>
              </p:ext>
            </p:extLst>
          </p:nvPr>
        </p:nvGraphicFramePr>
        <p:xfrm>
          <a:off x="5436096" y="1623110"/>
          <a:ext cx="1174500" cy="571500"/>
        </p:xfrm>
        <a:graphic>
          <a:graphicData uri="http://schemas.openxmlformats.org/presentationml/2006/ole">
            <mc:AlternateContent xmlns:mc="http://schemas.openxmlformats.org/markup-compatibility/2006">
              <mc:Choice xmlns:v="urn:schemas-microsoft-com:vml" Requires="v">
                <p:oleObj name="Equation" r:id="rId4" imgW="469800" imgH="228600" progId="Equation.DSMT4">
                  <p:embed/>
                </p:oleObj>
              </mc:Choice>
              <mc:Fallback>
                <p:oleObj name="Equation" r:id="rId4" imgW="469800" imgH="228600" progId="Equation.DSMT4">
                  <p:embed/>
                  <p:pic>
                    <p:nvPicPr>
                      <p:cNvPr id="8" name="Object 4"/>
                      <p:cNvPicPr>
                        <a:picLocks noChangeAspect="1" noChangeArrowheads="1"/>
                      </p:cNvPicPr>
                      <p:nvPr/>
                    </p:nvPicPr>
                    <p:blipFill>
                      <a:blip r:embed="rId5"/>
                      <a:srcRect/>
                      <a:stretch>
                        <a:fillRect/>
                      </a:stretch>
                    </p:blipFill>
                    <p:spPr bwMode="auto">
                      <a:xfrm>
                        <a:off x="5436096" y="1623110"/>
                        <a:ext cx="1174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851193" y="5272794"/>
            <a:ext cx="5234125"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rPr>
              <a:t>两种处理方式产生的误差不同。</a:t>
            </a:r>
            <a:endParaRPr lang="zh-CN" altLang="en-US" sz="2000" b="1" dirty="0"/>
          </a:p>
        </p:txBody>
      </p:sp>
      <p:graphicFrame>
        <p:nvGraphicFramePr>
          <p:cNvPr id="14" name="Object 15"/>
          <p:cNvGraphicFramePr>
            <a:graphicFrameLocks noChangeAspect="1"/>
          </p:cNvGraphicFramePr>
          <p:nvPr>
            <p:extLst>
              <p:ext uri="{D42A27DB-BD31-4B8C-83A1-F6EECF244321}">
                <p14:modId xmlns:p14="http://schemas.microsoft.com/office/powerpoint/2010/main" val="1875265549"/>
              </p:ext>
            </p:extLst>
          </p:nvPr>
        </p:nvGraphicFramePr>
        <p:xfrm>
          <a:off x="1754359" y="4502342"/>
          <a:ext cx="1841400" cy="476100"/>
        </p:xfrm>
        <a:graphic>
          <a:graphicData uri="http://schemas.openxmlformats.org/presentationml/2006/ole">
            <mc:AlternateContent xmlns:mc="http://schemas.openxmlformats.org/markup-compatibility/2006">
              <mc:Choice xmlns:v="urn:schemas-microsoft-com:vml" Requires="v">
                <p:oleObj name="Equation" r:id="rId6" imgW="736560" imgH="190440" progId="Equation.DSMT4">
                  <p:embed/>
                </p:oleObj>
              </mc:Choice>
              <mc:Fallback>
                <p:oleObj name="Equation" r:id="rId6" imgW="736560" imgH="190440" progId="Equation.DSMT4">
                  <p:embed/>
                  <p:pic>
                    <p:nvPicPr>
                      <p:cNvPr id="7170" name="Object 15"/>
                      <p:cNvPicPr>
                        <a:picLocks noChangeAspect="1" noChangeArrowheads="1"/>
                      </p:cNvPicPr>
                      <p:nvPr/>
                    </p:nvPicPr>
                    <p:blipFill>
                      <a:blip r:embed="rId7"/>
                      <a:srcRect/>
                      <a:stretch>
                        <a:fillRect/>
                      </a:stretch>
                    </p:blipFill>
                    <p:spPr bwMode="auto">
                      <a:xfrm>
                        <a:off x="1754359" y="4502342"/>
                        <a:ext cx="1841400" cy="47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827584" y="4437112"/>
            <a:ext cx="906017"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rPr>
              <a:t>误差</a:t>
            </a:r>
            <a:endParaRPr lang="zh-CN" altLang="en-US" dirty="0"/>
          </a:p>
        </p:txBody>
      </p:sp>
      <p:sp>
        <p:nvSpPr>
          <p:cNvPr id="19" name="矩形 18"/>
          <p:cNvSpPr/>
          <p:nvPr/>
        </p:nvSpPr>
        <p:spPr>
          <a:xfrm>
            <a:off x="4895129" y="4393801"/>
            <a:ext cx="2938625" cy="523220"/>
          </a:xfrm>
          <a:prstGeom prst="rect">
            <a:avLst/>
          </a:prstGeom>
        </p:spPr>
        <p:txBody>
          <a:bodyPr wrap="none">
            <a:spAutoFit/>
          </a:bodyPr>
          <a:lstStyle/>
          <a:p>
            <a:r>
              <a:rPr lang="en-US" altLang="zh-CN" sz="2800" b="1" dirty="0">
                <a:solidFill>
                  <a:srgbClr val="000000"/>
                </a:solidFill>
                <a:latin typeface="+mj-lt"/>
              </a:rPr>
              <a:t>[</a:t>
            </a:r>
            <a:r>
              <a:rPr lang="en-US" altLang="zh-CN" sz="2800" b="1" i="1" dirty="0">
                <a:solidFill>
                  <a:srgbClr val="000000"/>
                </a:solidFill>
                <a:latin typeface="+mj-lt"/>
              </a:rPr>
              <a:t>x</a:t>
            </a:r>
            <a:r>
              <a:rPr lang="en-US" altLang="zh-CN" sz="2800" b="1" dirty="0">
                <a:solidFill>
                  <a:srgbClr val="000000"/>
                </a:solidFill>
                <a:latin typeface="+mj-lt"/>
              </a:rPr>
              <a:t>]</a:t>
            </a:r>
            <a:r>
              <a:rPr lang="zh-CN" altLang="en-US" sz="2800" b="1" dirty="0">
                <a:solidFill>
                  <a:srgbClr val="000000"/>
                </a:solidFill>
                <a:latin typeface="+mj-lt"/>
              </a:rPr>
              <a:t>代表</a:t>
            </a:r>
            <a:r>
              <a:rPr lang="en-US" altLang="zh-CN" sz="2800" b="1" i="1" dirty="0">
                <a:solidFill>
                  <a:srgbClr val="000000"/>
                </a:solidFill>
                <a:latin typeface="+mj-lt"/>
              </a:rPr>
              <a:t>x</a:t>
            </a:r>
            <a:r>
              <a:rPr lang="zh-CN" altLang="en-US" sz="2800" b="1" dirty="0">
                <a:solidFill>
                  <a:srgbClr val="000000"/>
                </a:solidFill>
                <a:latin typeface="+mj-lt"/>
              </a:rPr>
              <a:t>的量化值</a:t>
            </a:r>
            <a:endParaRPr lang="zh-CN" altLang="en-US" b="1" dirty="0">
              <a:latin typeface="+mj-lt"/>
            </a:endParaRPr>
          </a:p>
        </p:txBody>
      </p:sp>
    </p:spTree>
    <p:extLst>
      <p:ext uri="{BB962C8B-B14F-4D97-AF65-F5344CB8AC3E}">
        <p14:creationId xmlns:p14="http://schemas.microsoft.com/office/powerpoint/2010/main" val="3076101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anim calcmode="lin" valueType="num">
                                      <p:cBhvr>
                                        <p:cTn id="27" dur="1000" fill="hold"/>
                                        <p:tgtEl>
                                          <p:spTgt spid="14"/>
                                        </p:tgtEl>
                                        <p:attrNameLst>
                                          <p:attrName>ppt_x</p:attrName>
                                        </p:attrNameLst>
                                      </p:cBhvr>
                                      <p:tavLst>
                                        <p:tav tm="0">
                                          <p:val>
                                            <p:strVal val="#ppt_x"/>
                                          </p:val>
                                        </p:tav>
                                        <p:tav tm="100000">
                                          <p:val>
                                            <p:strVal val="#ppt_x"/>
                                          </p:val>
                                        </p:tav>
                                      </p:tavLst>
                                    </p:anim>
                                    <p:anim calcmode="lin" valueType="num">
                                      <p:cBhvr>
                                        <p:cTn id="28" dur="1000" fill="hold"/>
                                        <p:tgtEl>
                                          <p:spTgt spid="14"/>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
                                          </p:val>
                                        </p:tav>
                                        <p:tav tm="100000">
                                          <p:val>
                                            <p:strVal val="#ppt_x"/>
                                          </p:val>
                                        </p:tav>
                                      </p:tavLst>
                                    </p:anim>
                                    <p:anim calcmode="lin" valueType="num">
                                      <p:cBhvr>
                                        <p:cTn id="33" dur="1000" fill="hold"/>
                                        <p:tgtEl>
                                          <p:spTgt spid="1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3" grpId="0"/>
      <p:bldP spid="16" grpId="0"/>
      <p:bldP spid="1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09481" y="1072108"/>
            <a:ext cx="3613868" cy="287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rotWithShape="1">
          <a:blip r:embed="rId3"/>
          <a:srcRect r="49182"/>
          <a:stretch/>
        </p:blipFill>
        <p:spPr>
          <a:xfrm>
            <a:off x="683568" y="984329"/>
            <a:ext cx="3672408" cy="3053334"/>
          </a:xfrm>
          <a:prstGeom prst="rect">
            <a:avLst/>
          </a:prstGeom>
        </p:spPr>
      </p:pic>
      <p:sp>
        <p:nvSpPr>
          <p:cNvPr id="15" name="Rectangle 4"/>
          <p:cNvSpPr>
            <a:spLocks noChangeArrowheads="1"/>
          </p:cNvSpPr>
          <p:nvPr/>
        </p:nvSpPr>
        <p:spPr bwMode="auto">
          <a:xfrm>
            <a:off x="596668" y="4110171"/>
            <a:ext cx="433537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00"/>
                </a:solidFill>
                <a:latin typeface="+mj-lt"/>
              </a:rPr>
              <a:t>图</a:t>
            </a:r>
            <a:r>
              <a:rPr lang="en-US" altLang="zh-CN" b="1" dirty="0">
                <a:solidFill>
                  <a:srgbClr val="000000"/>
                </a:solidFill>
                <a:latin typeface="+mj-lt"/>
              </a:rPr>
              <a:t>6.22(a)</a:t>
            </a:r>
            <a:r>
              <a:rPr lang="zh-CN" altLang="en-US" b="1" dirty="0">
                <a:solidFill>
                  <a:srgbClr val="000000"/>
                </a:solidFill>
                <a:latin typeface="+mj-lt"/>
              </a:rPr>
              <a:t> 定点制补码截尾处理 </a:t>
            </a:r>
            <a:endParaRPr lang="en-US" altLang="zh-CN" b="1" dirty="0">
              <a:solidFill>
                <a:srgbClr val="000000"/>
              </a:solidFill>
              <a:latin typeface="+mj-lt"/>
            </a:endParaRPr>
          </a:p>
          <a:p>
            <a:pPr algn="l" eaLnBrk="1" hangingPunct="1"/>
            <a:r>
              <a:rPr lang="en-US" altLang="zh-CN" b="1" dirty="0">
                <a:solidFill>
                  <a:srgbClr val="000000"/>
                </a:solidFill>
                <a:latin typeface="+mj-lt"/>
              </a:rPr>
              <a:t>                 </a:t>
            </a:r>
            <a:r>
              <a:rPr lang="zh-CN" altLang="en-US" b="1" dirty="0">
                <a:solidFill>
                  <a:srgbClr val="000000"/>
                </a:solidFill>
                <a:latin typeface="+mj-lt"/>
              </a:rPr>
              <a:t>的量化特性</a:t>
            </a:r>
            <a:r>
              <a:rPr lang="zh-CN" altLang="en-US" b="1" dirty="0">
                <a:latin typeface="+mj-lt"/>
              </a:rPr>
              <a:t> </a:t>
            </a:r>
          </a:p>
        </p:txBody>
      </p:sp>
      <p:sp>
        <p:nvSpPr>
          <p:cNvPr id="10" name="Text Box 5"/>
          <p:cNvSpPr txBox="1">
            <a:spLocks noChangeArrowheads="1"/>
          </p:cNvSpPr>
          <p:nvPr/>
        </p:nvSpPr>
        <p:spPr bwMode="auto">
          <a:xfrm>
            <a:off x="5148064" y="4107990"/>
            <a:ext cx="3744416"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00"/>
                </a:solidFill>
              </a:rPr>
              <a:t>图</a:t>
            </a:r>
            <a:r>
              <a:rPr lang="en-US" altLang="zh-CN" b="1" dirty="0">
                <a:solidFill>
                  <a:srgbClr val="000000"/>
                </a:solidFill>
              </a:rPr>
              <a:t>6.23</a:t>
            </a:r>
            <a:r>
              <a:rPr lang="zh-CN" altLang="en-US" b="1" dirty="0">
                <a:solidFill>
                  <a:srgbClr val="000000"/>
                </a:solidFill>
              </a:rPr>
              <a:t> 定点制舍入处理</a:t>
            </a:r>
            <a:endParaRPr lang="en-US" altLang="zh-CN" b="1" dirty="0">
              <a:solidFill>
                <a:srgbClr val="000000"/>
              </a:solidFill>
            </a:endParaRPr>
          </a:p>
          <a:p>
            <a:pPr eaLnBrk="1" hangingPunct="1">
              <a:spcBef>
                <a:spcPts val="0"/>
              </a:spcBef>
            </a:pPr>
            <a:r>
              <a:rPr lang="zh-CN" altLang="en-US" b="1" dirty="0">
                <a:solidFill>
                  <a:srgbClr val="000000"/>
                </a:solidFill>
              </a:rPr>
              <a:t>            的量化特性</a:t>
            </a:r>
          </a:p>
        </p:txBody>
      </p:sp>
      <p:sp>
        <p:nvSpPr>
          <p:cNvPr id="3" name="矩形 2"/>
          <p:cNvSpPr/>
          <p:nvPr/>
        </p:nvSpPr>
        <p:spPr>
          <a:xfrm>
            <a:off x="228247" y="5301208"/>
            <a:ext cx="8664233" cy="1076961"/>
          </a:xfrm>
          <a:prstGeom prst="rect">
            <a:avLst/>
          </a:prstGeom>
        </p:spPr>
        <p:txBody>
          <a:bodyPr wrap="square">
            <a:spAutoFit/>
          </a:bodyPr>
          <a:lstStyle/>
          <a:p>
            <a:pPr lvl="1" eaLnBrk="1" hangingPunct="1">
              <a:lnSpc>
                <a:spcPct val="120000"/>
              </a:lnSpc>
              <a:spcBef>
                <a:spcPct val="40000"/>
              </a:spcBef>
              <a:spcAft>
                <a:spcPct val="20000"/>
              </a:spcAft>
              <a:buFontTx/>
              <a:buNone/>
            </a:pPr>
            <a:r>
              <a:rPr lang="zh-CN" altLang="en-US" sz="2800" b="1" dirty="0">
                <a:solidFill>
                  <a:srgbClr val="000000"/>
                </a:solidFill>
                <a:latin typeface="Times New Roman" panose="02020603050405020304" pitchFamily="18" charset="0"/>
              </a:rPr>
              <a:t>舍入处理的误差比截尾处理的误差小，所以对信号进行量化时</a:t>
            </a:r>
            <a:r>
              <a:rPr lang="zh-CN" altLang="en-US" sz="2800" b="1" dirty="0">
                <a:solidFill>
                  <a:srgbClr val="0000CC"/>
                </a:solidFill>
                <a:latin typeface="Times New Roman" panose="02020603050405020304" pitchFamily="18" charset="0"/>
              </a:rPr>
              <a:t>多用舍入处理</a:t>
            </a:r>
            <a:r>
              <a:rPr lang="zh-CN" altLang="en-US" sz="2800" b="1" dirty="0">
                <a:solidFill>
                  <a:srgbClr val="000000"/>
                </a:solidFill>
                <a:latin typeface="Times New Roman" panose="02020603050405020304" pitchFamily="18" charset="0"/>
              </a:rPr>
              <a:t>。</a:t>
            </a:r>
          </a:p>
        </p:txBody>
      </p:sp>
      <p:graphicFrame>
        <p:nvGraphicFramePr>
          <p:cNvPr id="13" name="Object 1031"/>
          <p:cNvGraphicFramePr>
            <a:graphicFrameLocks noChangeAspect="1"/>
          </p:cNvGraphicFramePr>
          <p:nvPr>
            <p:extLst>
              <p:ext uri="{D42A27DB-BD31-4B8C-83A1-F6EECF244321}">
                <p14:modId xmlns:p14="http://schemas.microsoft.com/office/powerpoint/2010/main" val="901598317"/>
              </p:ext>
            </p:extLst>
          </p:nvPr>
        </p:nvGraphicFramePr>
        <p:xfrm>
          <a:off x="6963604" y="3224900"/>
          <a:ext cx="1985544" cy="905004"/>
        </p:xfrm>
        <a:graphic>
          <a:graphicData uri="http://schemas.openxmlformats.org/presentationml/2006/ole">
            <mc:AlternateContent xmlns:mc="http://schemas.openxmlformats.org/markup-compatibility/2006">
              <mc:Choice xmlns:v="urn:schemas-microsoft-com:vml" Requires="v">
                <p:oleObj name="Equation" r:id="rId4" imgW="863280" imgH="393480" progId="Equation.DSMT4">
                  <p:embed/>
                </p:oleObj>
              </mc:Choice>
              <mc:Fallback>
                <p:oleObj name="Equation" r:id="rId4" imgW="863280" imgH="393480" progId="Equation.DSMT4">
                  <p:embed/>
                  <p:pic>
                    <p:nvPicPr>
                      <p:cNvPr id="5" name="Object 1031"/>
                      <p:cNvPicPr>
                        <a:picLocks noChangeAspect="1" noChangeArrowheads="1"/>
                      </p:cNvPicPr>
                      <p:nvPr/>
                    </p:nvPicPr>
                    <p:blipFill>
                      <a:blip r:embed="rId5"/>
                      <a:srcRect/>
                      <a:stretch>
                        <a:fillRect/>
                      </a:stretch>
                    </p:blipFill>
                    <p:spPr bwMode="auto">
                      <a:xfrm>
                        <a:off x="6963604" y="3224900"/>
                        <a:ext cx="1985544" cy="9050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031"/>
          <p:cNvGraphicFramePr>
            <a:graphicFrameLocks noChangeAspect="1"/>
          </p:cNvGraphicFramePr>
          <p:nvPr>
            <p:extLst>
              <p:ext uri="{D42A27DB-BD31-4B8C-83A1-F6EECF244321}">
                <p14:modId xmlns:p14="http://schemas.microsoft.com/office/powerpoint/2010/main" val="2885737213"/>
              </p:ext>
            </p:extLst>
          </p:nvPr>
        </p:nvGraphicFramePr>
        <p:xfrm>
          <a:off x="2961961" y="3474330"/>
          <a:ext cx="1809750" cy="523875"/>
        </p:xfrm>
        <a:graphic>
          <a:graphicData uri="http://schemas.openxmlformats.org/presentationml/2006/ole">
            <mc:AlternateContent xmlns:mc="http://schemas.openxmlformats.org/markup-compatibility/2006">
              <mc:Choice xmlns:v="urn:schemas-microsoft-com:vml" Requires="v">
                <p:oleObj name="Equation" r:id="rId6" imgW="787320" imgH="228600" progId="Equation.DSMT4">
                  <p:embed/>
                </p:oleObj>
              </mc:Choice>
              <mc:Fallback>
                <p:oleObj name="Equation" r:id="rId6" imgW="787320" imgH="228600" progId="Equation.DSMT4">
                  <p:embed/>
                  <p:pic>
                    <p:nvPicPr>
                      <p:cNvPr id="13" name="Object 1031"/>
                      <p:cNvPicPr>
                        <a:picLocks noChangeAspect="1" noChangeArrowheads="1"/>
                      </p:cNvPicPr>
                      <p:nvPr/>
                    </p:nvPicPr>
                    <p:blipFill>
                      <a:blip r:embed="rId7"/>
                      <a:srcRect/>
                      <a:stretch>
                        <a:fillRect/>
                      </a:stretch>
                    </p:blipFill>
                    <p:spPr bwMode="auto">
                      <a:xfrm>
                        <a:off x="2961961" y="3474330"/>
                        <a:ext cx="180975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6.2.2  </a:t>
            </a:r>
            <a:r>
              <a:rPr lang="zh-CN" altLang="en-US" sz="3200" b="1" dirty="0">
                <a:solidFill>
                  <a:srgbClr val="993300"/>
                </a:solidFill>
                <a:ea typeface="楷体_GB2312" pitchFamily="49" charset="-122"/>
              </a:rPr>
              <a:t>定点制的量化误差</a:t>
            </a:r>
          </a:p>
        </p:txBody>
      </p:sp>
    </p:spTree>
    <p:extLst>
      <p:ext uri="{BB962C8B-B14F-4D97-AF65-F5344CB8AC3E}">
        <p14:creationId xmlns:p14="http://schemas.microsoft.com/office/powerpoint/2010/main" val="39208517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1933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6.2.3  A/D</a:t>
            </a:r>
            <a:r>
              <a:rPr lang="zh-CN" altLang="en-US" sz="3200" b="1" dirty="0">
                <a:solidFill>
                  <a:srgbClr val="993300"/>
                </a:solidFill>
                <a:ea typeface="楷体_GB2312" pitchFamily="49" charset="-122"/>
              </a:rPr>
              <a:t>变换的量化效应</a:t>
            </a:r>
          </a:p>
        </p:txBody>
      </p:sp>
      <p:sp>
        <p:nvSpPr>
          <p:cNvPr id="3" name="Rectangle 4"/>
          <p:cNvSpPr>
            <a:spLocks noChangeArrowheads="1"/>
          </p:cNvSpPr>
          <p:nvPr/>
        </p:nvSpPr>
        <p:spPr bwMode="auto">
          <a:xfrm>
            <a:off x="902940" y="6093296"/>
            <a:ext cx="762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rgbClr val="000000"/>
                </a:solidFill>
              </a:rPr>
              <a:t>图</a:t>
            </a:r>
            <a:r>
              <a:rPr lang="en-US" altLang="zh-CN" b="1" dirty="0">
                <a:solidFill>
                  <a:srgbClr val="000000"/>
                </a:solidFill>
              </a:rPr>
              <a:t>6.24  A/D</a:t>
            </a:r>
            <a:r>
              <a:rPr lang="zh-CN" altLang="en-US" b="1" dirty="0">
                <a:solidFill>
                  <a:srgbClr val="000000"/>
                </a:solidFill>
              </a:rPr>
              <a:t>变换器的模型</a:t>
            </a:r>
          </a:p>
        </p:txBody>
      </p:sp>
      <p:pic>
        <p:nvPicPr>
          <p:cNvPr id="4" name="Picture 6"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69900" y="2780928"/>
            <a:ext cx="6911975"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592224" y="5630605"/>
            <a:ext cx="1217000" cy="400110"/>
          </a:xfrm>
          <a:prstGeom prst="rect">
            <a:avLst/>
          </a:prstGeom>
        </p:spPr>
        <p:txBody>
          <a:bodyPr wrap="none">
            <a:spAutoFit/>
          </a:bodyPr>
          <a:lstStyle/>
          <a:p>
            <a:r>
              <a:rPr kumimoji="1" lang="zh-CN" altLang="en-US" sz="2000" b="1" dirty="0">
                <a:solidFill>
                  <a:srgbClr val="000000"/>
                </a:solidFill>
                <a:latin typeface="Times New Roman" panose="02020603050405020304" pitchFamily="18" charset="0"/>
                <a:cs typeface="Times New Roman" panose="02020603050405020304" pitchFamily="18" charset="0"/>
              </a:rPr>
              <a:t>统计模型</a:t>
            </a:r>
            <a:endParaRPr lang="zh-CN" altLang="en-US" sz="2000" dirty="0">
              <a:latin typeface="Times New Roman" panose="02020603050405020304" pitchFamily="18" charset="0"/>
              <a:cs typeface="Times New Roman" panose="02020603050405020304" pitchFamily="18" charset="0"/>
            </a:endParaRPr>
          </a:p>
        </p:txBody>
      </p:sp>
      <p:sp>
        <p:nvSpPr>
          <p:cNvPr id="7" name="矩形 6"/>
          <p:cNvSpPr/>
          <p:nvPr/>
        </p:nvSpPr>
        <p:spPr>
          <a:xfrm>
            <a:off x="4592224" y="4033345"/>
            <a:ext cx="1475084" cy="400110"/>
          </a:xfrm>
          <a:prstGeom prst="rect">
            <a:avLst/>
          </a:prstGeom>
        </p:spPr>
        <p:txBody>
          <a:bodyPr wrap="none">
            <a:spAutoFit/>
          </a:bodyPr>
          <a:lstStyle/>
          <a:p>
            <a:r>
              <a:rPr kumimoji="1" lang="zh-CN" altLang="en-US" sz="2000" b="1" dirty="0">
                <a:solidFill>
                  <a:srgbClr val="000000"/>
                </a:solidFill>
                <a:latin typeface="Times New Roman" panose="02020603050405020304" pitchFamily="18" charset="0"/>
                <a:cs typeface="Times New Roman" panose="02020603050405020304" pitchFamily="18" charset="0"/>
              </a:rPr>
              <a:t>非线性模型</a:t>
            </a:r>
            <a:endParaRPr lang="zh-CN" altLang="en-US" sz="2000" dirty="0">
              <a:latin typeface="Times New Roman" panose="02020603050405020304" pitchFamily="18" charset="0"/>
              <a:cs typeface="Times New Roman" panose="02020603050405020304" pitchFamily="18" charset="0"/>
            </a:endParaRPr>
          </a:p>
        </p:txBody>
      </p:sp>
      <p:sp>
        <p:nvSpPr>
          <p:cNvPr id="10" name="Rectangle 8"/>
          <p:cNvSpPr>
            <a:spLocks noChangeArrowheads="1"/>
          </p:cNvSpPr>
          <p:nvPr/>
        </p:nvSpPr>
        <p:spPr bwMode="auto">
          <a:xfrm>
            <a:off x="533400" y="849108"/>
            <a:ext cx="8359080" cy="1868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57175"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05000"/>
              </a:lnSpc>
              <a:spcAft>
                <a:spcPts val="0"/>
              </a:spcAft>
            </a:pPr>
            <a:r>
              <a:rPr lang="en-US" altLang="zh-CN" sz="2800" b="1" dirty="0">
                <a:solidFill>
                  <a:srgbClr val="000000"/>
                </a:solidFill>
              </a:rPr>
              <a:t>A/D</a:t>
            </a:r>
            <a:r>
              <a:rPr lang="zh-CN" altLang="en-US" sz="2800" b="1" dirty="0">
                <a:solidFill>
                  <a:srgbClr val="000000"/>
                </a:solidFill>
              </a:rPr>
              <a:t>变换器分为两部分：</a:t>
            </a:r>
          </a:p>
          <a:p>
            <a:pPr algn="just">
              <a:lnSpc>
                <a:spcPct val="105000"/>
              </a:lnSpc>
              <a:spcAft>
                <a:spcPts val="0"/>
              </a:spcAft>
            </a:pPr>
            <a:r>
              <a:rPr lang="zh-CN" altLang="en-US" sz="2800" b="1" dirty="0">
                <a:solidFill>
                  <a:srgbClr val="000000"/>
                </a:solidFill>
              </a:rPr>
              <a:t>采样：时间离散，幅度连续；</a:t>
            </a:r>
          </a:p>
          <a:p>
            <a:pPr algn="just">
              <a:lnSpc>
                <a:spcPct val="105000"/>
              </a:lnSpc>
              <a:spcAft>
                <a:spcPts val="0"/>
              </a:spcAft>
            </a:pPr>
            <a:r>
              <a:rPr lang="zh-CN" altLang="en-US" sz="2800" b="1" dirty="0">
                <a:solidFill>
                  <a:srgbClr val="000000"/>
                </a:solidFill>
              </a:rPr>
              <a:t>量化：数字编码，对采样序列作舍入或截尾处理，</a:t>
            </a:r>
            <a:endParaRPr lang="en-US" altLang="zh-CN" sz="2800" b="1" dirty="0">
              <a:solidFill>
                <a:srgbClr val="000000"/>
              </a:solidFill>
            </a:endParaRPr>
          </a:p>
          <a:p>
            <a:pPr algn="just">
              <a:lnSpc>
                <a:spcPct val="105000"/>
              </a:lnSpc>
              <a:spcAft>
                <a:spcPts val="0"/>
              </a:spcAft>
            </a:pPr>
            <a:r>
              <a:rPr lang="zh-CN" altLang="en-US" sz="2800" b="1" dirty="0">
                <a:solidFill>
                  <a:srgbClr val="000000"/>
                </a:solidFill>
              </a:rPr>
              <a:t>            得有限字长数字信号         。</a:t>
            </a:r>
          </a:p>
        </p:txBody>
      </p:sp>
      <p:graphicFrame>
        <p:nvGraphicFramePr>
          <p:cNvPr id="11" name="Object 2"/>
          <p:cNvGraphicFramePr>
            <a:graphicFrameLocks noChangeAspect="1"/>
          </p:cNvGraphicFramePr>
          <p:nvPr>
            <p:extLst>
              <p:ext uri="{D42A27DB-BD31-4B8C-83A1-F6EECF244321}">
                <p14:modId xmlns:p14="http://schemas.microsoft.com/office/powerpoint/2010/main" val="3236431362"/>
              </p:ext>
            </p:extLst>
          </p:nvPr>
        </p:nvGraphicFramePr>
        <p:xfrm>
          <a:off x="5200724" y="2204864"/>
          <a:ext cx="754063" cy="469900"/>
        </p:xfrm>
        <a:graphic>
          <a:graphicData uri="http://schemas.openxmlformats.org/presentationml/2006/ole">
            <mc:AlternateContent xmlns:mc="http://schemas.openxmlformats.org/markup-compatibility/2006">
              <mc:Choice xmlns:v="urn:schemas-microsoft-com:vml" Requires="v">
                <p:oleObj name="Equation" r:id="rId3" imgW="342720" imgH="215640" progId="Equation.DSMT4">
                  <p:embed/>
                </p:oleObj>
              </mc:Choice>
              <mc:Fallback>
                <p:oleObj name="Equation" r:id="rId3" imgW="342720" imgH="215640" progId="Equation.DSMT4">
                  <p:embed/>
                  <p:pic>
                    <p:nvPicPr>
                      <p:cNvPr id="13314" name="Object 2"/>
                      <p:cNvPicPr>
                        <a:picLocks noChangeAspect="1" noChangeArrowheads="1"/>
                      </p:cNvPicPr>
                      <p:nvPr/>
                    </p:nvPicPr>
                    <p:blipFill>
                      <a:blip r:embed="rId4"/>
                      <a:srcRect/>
                      <a:stretch>
                        <a:fillRect/>
                      </a:stretch>
                    </p:blipFill>
                    <p:spPr bwMode="auto">
                      <a:xfrm>
                        <a:off x="5200724" y="2204864"/>
                        <a:ext cx="7540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27404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51560" r="-1041"/>
          <a:stretch/>
        </p:blipFill>
        <p:spPr bwMode="auto">
          <a:xfrm>
            <a:off x="1152016" y="4725144"/>
            <a:ext cx="6911975" cy="1525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028"/>
          <p:cNvSpPr>
            <a:spLocks noChangeArrowheads="1"/>
          </p:cNvSpPr>
          <p:nvPr/>
        </p:nvSpPr>
        <p:spPr bwMode="auto">
          <a:xfrm>
            <a:off x="899592" y="836712"/>
            <a:ext cx="7416824" cy="65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zh-CN" altLang="en-US" sz="2800" b="1" dirty="0">
                <a:solidFill>
                  <a:srgbClr val="000000"/>
                </a:solidFill>
                <a:latin typeface="Times New Roman" panose="02020603050405020304" pitchFamily="18" charset="0"/>
                <a:cs typeface="Times New Roman" panose="02020603050405020304" pitchFamily="18" charset="0"/>
              </a:rPr>
              <a:t>图</a:t>
            </a:r>
            <a:r>
              <a:rPr lang="en-US" altLang="zh-CN" sz="2800" b="1" dirty="0">
                <a:solidFill>
                  <a:srgbClr val="000000"/>
                </a:solidFill>
                <a:latin typeface="Times New Roman" panose="02020603050405020304" pitchFamily="18" charset="0"/>
                <a:cs typeface="Times New Roman" panose="02020603050405020304" pitchFamily="18" charset="0"/>
              </a:rPr>
              <a:t>6.24(b)</a:t>
            </a:r>
            <a:r>
              <a:rPr lang="zh-CN" altLang="en-US" sz="2800" b="1" dirty="0">
                <a:solidFill>
                  <a:srgbClr val="000000"/>
                </a:solidFill>
                <a:latin typeface="Times New Roman" panose="02020603050405020304" pitchFamily="18" charset="0"/>
                <a:cs typeface="Times New Roman" panose="02020603050405020304" pitchFamily="18" charset="0"/>
              </a:rPr>
              <a:t>为</a:t>
            </a:r>
            <a:r>
              <a:rPr kumimoji="1" lang="zh-CN" altLang="en-US" sz="2800" b="1" dirty="0">
                <a:solidFill>
                  <a:srgbClr val="000000"/>
                </a:solidFill>
                <a:latin typeface="Times New Roman" panose="02020603050405020304" pitchFamily="18" charset="0"/>
                <a:cs typeface="Times New Roman" panose="02020603050405020304" pitchFamily="18" charset="0"/>
              </a:rPr>
              <a:t>量化过程的统计模型表示。</a:t>
            </a:r>
            <a:r>
              <a:rPr kumimoji="1" lang="zh-CN" altLang="en-US" b="1" dirty="0">
                <a:solidFill>
                  <a:srgbClr val="000000"/>
                </a:solidFill>
                <a:latin typeface="Times New Roman" panose="02020603050405020304" pitchFamily="18" charset="0"/>
                <a:cs typeface="Times New Roman" panose="02020603050405020304" pitchFamily="18" charset="0"/>
              </a:rPr>
              <a:t> </a:t>
            </a:r>
          </a:p>
        </p:txBody>
      </p:sp>
      <p:sp>
        <p:nvSpPr>
          <p:cNvPr id="9" name="Rectangle 4"/>
          <p:cNvSpPr>
            <a:spLocks noChangeArrowheads="1"/>
          </p:cNvSpPr>
          <p:nvPr/>
        </p:nvSpPr>
        <p:spPr bwMode="auto">
          <a:xfrm>
            <a:off x="899592" y="1489198"/>
            <a:ext cx="8136904" cy="3157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12700" algn="l">
              <a:tabLst>
                <a:tab pos="44577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4577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4577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4577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4577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14000"/>
              </a:lnSpc>
              <a:spcAft>
                <a:spcPts val="0"/>
              </a:spcAft>
            </a:pPr>
            <a:r>
              <a:rPr lang="zh-CN" altLang="en-US" b="1" dirty="0">
                <a:solidFill>
                  <a:srgbClr val="000000"/>
                </a:solidFill>
              </a:rPr>
              <a:t>对量化误差</a:t>
            </a:r>
            <a:r>
              <a:rPr lang="en-US" altLang="zh-CN" b="1" i="1" dirty="0">
                <a:solidFill>
                  <a:srgbClr val="000000"/>
                </a:solidFill>
              </a:rPr>
              <a:t>e</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srgbClr val="000000"/>
                </a:solidFill>
              </a:rPr>
              <a:t> 作如下假设：</a:t>
            </a:r>
          </a:p>
          <a:p>
            <a:pPr algn="just" eaLnBrk="0" hangingPunct="0">
              <a:lnSpc>
                <a:spcPct val="114000"/>
              </a:lnSpc>
              <a:spcAft>
                <a:spcPts val="0"/>
              </a:spcAft>
            </a:pPr>
            <a:r>
              <a:rPr lang="zh-CN" altLang="en-US" b="1" dirty="0">
                <a:solidFill>
                  <a:srgbClr val="000000"/>
                </a:solidFill>
              </a:rPr>
              <a:t>       ① </a:t>
            </a:r>
            <a:r>
              <a:rPr lang="en-US" altLang="zh-CN" b="1" i="1" dirty="0">
                <a:solidFill>
                  <a:srgbClr val="000000"/>
                </a:solidFill>
              </a:rPr>
              <a:t>e</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srgbClr val="000000"/>
                </a:solidFill>
              </a:rPr>
              <a:t>是平稳随机序列；</a:t>
            </a:r>
          </a:p>
          <a:p>
            <a:pPr algn="just">
              <a:lnSpc>
                <a:spcPct val="114000"/>
              </a:lnSpc>
              <a:spcAft>
                <a:spcPts val="0"/>
              </a:spcAft>
            </a:pPr>
            <a:r>
              <a:rPr lang="zh-CN" altLang="en-US" b="1" dirty="0">
                <a:solidFill>
                  <a:srgbClr val="000000"/>
                </a:solidFill>
              </a:rPr>
              <a:t>       ② </a:t>
            </a:r>
            <a:r>
              <a:rPr lang="en-US" altLang="zh-CN" b="1" i="1" dirty="0">
                <a:solidFill>
                  <a:srgbClr val="000000"/>
                </a:solidFill>
              </a:rPr>
              <a:t>e</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srgbClr val="000000"/>
                </a:solidFill>
              </a:rPr>
              <a:t>与信号</a:t>
            </a:r>
            <a:r>
              <a:rPr lang="en-US" altLang="zh-CN" b="1" i="1" dirty="0">
                <a:solidFill>
                  <a:srgbClr val="000000"/>
                </a:solidFill>
              </a:rPr>
              <a:t>x</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srgbClr val="000000"/>
                </a:solidFill>
              </a:rPr>
              <a:t>不相关；</a:t>
            </a:r>
          </a:p>
          <a:p>
            <a:pPr algn="just">
              <a:lnSpc>
                <a:spcPct val="114000"/>
              </a:lnSpc>
              <a:spcAft>
                <a:spcPts val="0"/>
              </a:spcAft>
            </a:pPr>
            <a:r>
              <a:rPr lang="zh-CN" altLang="en-US" b="1" dirty="0">
                <a:solidFill>
                  <a:srgbClr val="000000"/>
                </a:solidFill>
              </a:rPr>
              <a:t>       ③ </a:t>
            </a:r>
            <a:r>
              <a:rPr lang="en-US" altLang="zh-CN" b="1" i="1" dirty="0">
                <a:solidFill>
                  <a:srgbClr val="000000"/>
                </a:solidFill>
              </a:rPr>
              <a:t>e</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srgbClr val="000000"/>
                </a:solidFill>
              </a:rPr>
              <a:t>任意两个值之间不相关，即为白噪声；</a:t>
            </a:r>
          </a:p>
          <a:p>
            <a:pPr algn="just">
              <a:lnSpc>
                <a:spcPct val="114000"/>
              </a:lnSpc>
              <a:spcAft>
                <a:spcPts val="0"/>
              </a:spcAft>
            </a:pPr>
            <a:r>
              <a:rPr lang="zh-CN" altLang="en-US" b="1" dirty="0">
                <a:solidFill>
                  <a:srgbClr val="000000"/>
                </a:solidFill>
              </a:rPr>
              <a:t>       ④ </a:t>
            </a:r>
            <a:r>
              <a:rPr lang="en-US" altLang="zh-CN" b="1" i="1" dirty="0">
                <a:solidFill>
                  <a:srgbClr val="000000"/>
                </a:solidFill>
              </a:rPr>
              <a:t>e</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srgbClr val="000000"/>
                </a:solidFill>
              </a:rPr>
              <a:t>具有均匀等概率分布。</a:t>
            </a:r>
          </a:p>
          <a:p>
            <a:pPr algn="just">
              <a:lnSpc>
                <a:spcPct val="125000"/>
              </a:lnSpc>
            </a:pPr>
            <a:r>
              <a:rPr lang="zh-CN" altLang="en-US" b="1" dirty="0">
                <a:solidFill>
                  <a:srgbClr val="000000"/>
                </a:solidFill>
              </a:rPr>
              <a:t>根据这样的假定，量化误差是一个与信号序列完全不相关的白噪声序列，称为量化噪声（是一个加性白噪声）。</a:t>
            </a:r>
          </a:p>
        </p:txBody>
      </p:sp>
      <p:sp>
        <p:nvSpPr>
          <p:cNvPr id="7" name="Rectangle 3"/>
          <p:cNvSpPr>
            <a:spLocks noChangeArrowheads="1"/>
          </p:cNvSpPr>
          <p:nvPr/>
        </p:nvSpPr>
        <p:spPr bwMode="auto">
          <a:xfrm>
            <a:off x="71933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6.2.3  A/D</a:t>
            </a:r>
            <a:r>
              <a:rPr lang="zh-CN" altLang="en-US" sz="3200" b="1" dirty="0">
                <a:solidFill>
                  <a:srgbClr val="993300"/>
                </a:solidFill>
                <a:ea typeface="楷体_GB2312" pitchFamily="49" charset="-122"/>
              </a:rPr>
              <a:t>变换的量化效应</a:t>
            </a:r>
          </a:p>
        </p:txBody>
      </p:sp>
    </p:spTree>
    <p:extLst>
      <p:ext uri="{BB962C8B-B14F-4D97-AF65-F5344CB8AC3E}">
        <p14:creationId xmlns:p14="http://schemas.microsoft.com/office/powerpoint/2010/main" val="18824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animEffect transition="in" filter="fade">
                                      <p:cBhvr>
                                        <p:cTn id="7" dur="1000"/>
                                        <p:tgtEl>
                                          <p:spTgt spid="9">
                                            <p:txEl>
                                              <p:pRg st="5" end="5"/>
                                            </p:txEl>
                                          </p:spTgt>
                                        </p:tgtEl>
                                      </p:cBhvr>
                                    </p:animEffect>
                                    <p:anim calcmode="lin" valueType="num">
                                      <p:cBhvr>
                                        <p:cTn id="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4606" y="4293096"/>
            <a:ext cx="4362612" cy="1567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029"/>
          <p:cNvSpPr>
            <a:spLocks noChangeArrowheads="1"/>
          </p:cNvSpPr>
          <p:nvPr/>
        </p:nvSpPr>
        <p:spPr bwMode="auto">
          <a:xfrm>
            <a:off x="983171" y="5911105"/>
            <a:ext cx="684076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445770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rgbClr val="000000"/>
                </a:solidFill>
              </a:rPr>
              <a:t>图</a:t>
            </a:r>
            <a:r>
              <a:rPr lang="en-US" altLang="zh-CN" b="1" dirty="0">
                <a:solidFill>
                  <a:srgbClr val="000000"/>
                </a:solidFill>
              </a:rPr>
              <a:t>6.25   </a:t>
            </a:r>
            <a:r>
              <a:rPr lang="zh-CN" altLang="en-US" b="1" dirty="0">
                <a:solidFill>
                  <a:srgbClr val="000000"/>
                </a:solidFill>
              </a:rPr>
              <a:t>量化噪声的概率分布</a:t>
            </a:r>
          </a:p>
          <a:p>
            <a:pPr algn="l"/>
            <a:r>
              <a:rPr lang="zh-CN" altLang="en-US" b="1" dirty="0">
                <a:solidFill>
                  <a:srgbClr val="000000"/>
                </a:solidFill>
              </a:rPr>
              <a:t>         </a:t>
            </a:r>
            <a:r>
              <a:rPr lang="en-US" altLang="zh-CN" b="1" dirty="0">
                <a:solidFill>
                  <a:srgbClr val="000000"/>
                </a:solidFill>
              </a:rPr>
              <a:t>(a)</a:t>
            </a:r>
            <a:r>
              <a:rPr lang="zh-CN" altLang="en-US" b="1" dirty="0">
                <a:solidFill>
                  <a:srgbClr val="000000"/>
                </a:solidFill>
              </a:rPr>
              <a:t>补码截尾误差           </a:t>
            </a:r>
            <a:r>
              <a:rPr lang="en-US" altLang="zh-CN" b="1" dirty="0">
                <a:solidFill>
                  <a:srgbClr val="000000"/>
                </a:solidFill>
              </a:rPr>
              <a:t>(b)</a:t>
            </a:r>
            <a:r>
              <a:rPr lang="zh-CN" altLang="en-US" b="1" dirty="0">
                <a:solidFill>
                  <a:srgbClr val="000000"/>
                </a:solidFill>
              </a:rPr>
              <a:t>舍入误差</a:t>
            </a:r>
          </a:p>
        </p:txBody>
      </p:sp>
      <p:graphicFrame>
        <p:nvGraphicFramePr>
          <p:cNvPr id="8" name="Object 5"/>
          <p:cNvGraphicFramePr>
            <a:graphicFrameLocks noChangeAspect="1"/>
          </p:cNvGraphicFramePr>
          <p:nvPr>
            <p:extLst>
              <p:ext uri="{D42A27DB-BD31-4B8C-83A1-F6EECF244321}">
                <p14:modId xmlns:p14="http://schemas.microsoft.com/office/powerpoint/2010/main" val="4256883758"/>
              </p:ext>
            </p:extLst>
          </p:nvPr>
        </p:nvGraphicFramePr>
        <p:xfrm>
          <a:off x="1728599" y="2810595"/>
          <a:ext cx="4291920" cy="838080"/>
        </p:xfrm>
        <a:graphic>
          <a:graphicData uri="http://schemas.openxmlformats.org/presentationml/2006/ole">
            <mc:AlternateContent xmlns:mc="http://schemas.openxmlformats.org/markup-compatibility/2006">
              <mc:Choice xmlns:v="urn:schemas-microsoft-com:vml" Requires="v">
                <p:oleObj name="Equation" r:id="rId3" imgW="2145960" imgH="419040" progId="Equation.DSMT4">
                  <p:embed/>
                </p:oleObj>
              </mc:Choice>
              <mc:Fallback>
                <p:oleObj name="Equation" r:id="rId3" imgW="2145960" imgH="419040" progId="Equation.DSMT4">
                  <p:embed/>
                  <p:pic>
                    <p:nvPicPr>
                      <p:cNvPr id="243717" name="Object 5"/>
                      <p:cNvPicPr>
                        <a:picLocks noChangeAspect="1" noChangeArrowheads="1"/>
                      </p:cNvPicPr>
                      <p:nvPr/>
                    </p:nvPicPr>
                    <p:blipFill>
                      <a:blip r:embed="rId4"/>
                      <a:srcRect/>
                      <a:stretch>
                        <a:fillRect/>
                      </a:stretch>
                    </p:blipFill>
                    <p:spPr bwMode="auto">
                      <a:xfrm>
                        <a:off x="1728599" y="2810595"/>
                        <a:ext cx="4291920" cy="838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矩形 8"/>
          <p:cNvSpPr/>
          <p:nvPr/>
        </p:nvSpPr>
        <p:spPr>
          <a:xfrm>
            <a:off x="822237" y="836712"/>
            <a:ext cx="2348720" cy="523220"/>
          </a:xfrm>
          <a:prstGeom prst="rect">
            <a:avLst/>
          </a:prstGeom>
        </p:spPr>
        <p:txBody>
          <a:bodyPr wrap="none">
            <a:spAutoFit/>
          </a:bodyPr>
          <a:lstStyle/>
          <a:p>
            <a:r>
              <a:rPr lang="zh-CN" altLang="en-US" sz="2800" b="1" dirty="0">
                <a:solidFill>
                  <a:srgbClr val="000000"/>
                </a:solidFill>
              </a:rPr>
              <a:t>补码截尾误差</a:t>
            </a:r>
            <a:endParaRPr lang="zh-CN" altLang="en-US" sz="2800" dirty="0"/>
          </a:p>
        </p:txBody>
      </p:sp>
      <p:sp>
        <p:nvSpPr>
          <p:cNvPr id="11" name="矩形 10"/>
          <p:cNvSpPr/>
          <p:nvPr/>
        </p:nvSpPr>
        <p:spPr>
          <a:xfrm>
            <a:off x="755576" y="2420888"/>
            <a:ext cx="1627369" cy="523220"/>
          </a:xfrm>
          <a:prstGeom prst="rect">
            <a:avLst/>
          </a:prstGeom>
        </p:spPr>
        <p:txBody>
          <a:bodyPr wrap="none">
            <a:spAutoFit/>
          </a:bodyPr>
          <a:lstStyle/>
          <a:p>
            <a:r>
              <a:rPr lang="zh-CN" altLang="en-US" sz="2800" b="1" dirty="0">
                <a:solidFill>
                  <a:srgbClr val="000000"/>
                </a:solidFill>
              </a:rPr>
              <a:t>舍入误差</a:t>
            </a:r>
          </a:p>
        </p:txBody>
      </p:sp>
      <p:sp>
        <p:nvSpPr>
          <p:cNvPr id="13" name="矩形 12"/>
          <p:cNvSpPr/>
          <p:nvPr/>
        </p:nvSpPr>
        <p:spPr>
          <a:xfrm>
            <a:off x="774620" y="2965517"/>
            <a:ext cx="906017" cy="523220"/>
          </a:xfrm>
          <a:prstGeom prst="rect">
            <a:avLst/>
          </a:prstGeom>
        </p:spPr>
        <p:txBody>
          <a:bodyPr wrap="none">
            <a:spAutoFit/>
          </a:bodyPr>
          <a:lstStyle/>
          <a:p>
            <a:r>
              <a:rPr lang="zh-CN" altLang="en-US" sz="2800" b="1" dirty="0">
                <a:solidFill>
                  <a:srgbClr val="800000"/>
                </a:solidFill>
              </a:rPr>
              <a:t>均值</a:t>
            </a:r>
            <a:endParaRPr lang="zh-CN" altLang="en-US" dirty="0"/>
          </a:p>
        </p:txBody>
      </p:sp>
      <p:sp>
        <p:nvSpPr>
          <p:cNvPr id="15" name="矩形 14"/>
          <p:cNvSpPr/>
          <p:nvPr/>
        </p:nvSpPr>
        <p:spPr>
          <a:xfrm>
            <a:off x="757382" y="3638612"/>
            <a:ext cx="906017" cy="523220"/>
          </a:xfrm>
          <a:prstGeom prst="rect">
            <a:avLst/>
          </a:prstGeom>
        </p:spPr>
        <p:txBody>
          <a:bodyPr wrap="none">
            <a:spAutoFit/>
          </a:bodyPr>
          <a:lstStyle/>
          <a:p>
            <a:r>
              <a:rPr lang="zh-CN" altLang="en-US" sz="2800" b="1" dirty="0">
                <a:solidFill>
                  <a:srgbClr val="800000"/>
                </a:solidFill>
              </a:rPr>
              <a:t>方差</a:t>
            </a:r>
            <a:endParaRPr lang="zh-CN" altLang="en-US" dirty="0"/>
          </a:p>
        </p:txBody>
      </p:sp>
      <p:sp>
        <p:nvSpPr>
          <p:cNvPr id="17" name="矩形 16"/>
          <p:cNvSpPr/>
          <p:nvPr/>
        </p:nvSpPr>
        <p:spPr>
          <a:xfrm>
            <a:off x="290030" y="3611716"/>
            <a:ext cx="543739" cy="523220"/>
          </a:xfrm>
          <a:prstGeom prst="rect">
            <a:avLst/>
          </a:prstGeom>
        </p:spPr>
        <p:txBody>
          <a:bodyPr wrap="none">
            <a:spAutoFit/>
          </a:bodyPr>
          <a:lstStyle/>
          <a:p>
            <a:r>
              <a:rPr lang="zh-CN" altLang="en-US" sz="2800" dirty="0">
                <a:solidFill>
                  <a:srgbClr val="FF0066"/>
                </a:solidFill>
              </a:rPr>
              <a:t>★</a:t>
            </a:r>
            <a:endParaRPr lang="zh-CN" altLang="en-US" sz="2800" dirty="0"/>
          </a:p>
        </p:txBody>
      </p:sp>
      <p:graphicFrame>
        <p:nvGraphicFramePr>
          <p:cNvPr id="18" name="Object 5"/>
          <p:cNvGraphicFramePr>
            <a:graphicFrameLocks noChangeAspect="1"/>
          </p:cNvGraphicFramePr>
          <p:nvPr>
            <p:extLst>
              <p:ext uri="{D42A27DB-BD31-4B8C-83A1-F6EECF244321}">
                <p14:modId xmlns:p14="http://schemas.microsoft.com/office/powerpoint/2010/main" val="2797135093"/>
              </p:ext>
            </p:extLst>
          </p:nvPr>
        </p:nvGraphicFramePr>
        <p:xfrm>
          <a:off x="1741488" y="3573016"/>
          <a:ext cx="4368800" cy="660400"/>
        </p:xfrm>
        <a:graphic>
          <a:graphicData uri="http://schemas.openxmlformats.org/presentationml/2006/ole">
            <mc:AlternateContent xmlns:mc="http://schemas.openxmlformats.org/markup-compatibility/2006">
              <mc:Choice xmlns:v="urn:schemas-microsoft-com:vml" Requires="v">
                <p:oleObj name="Equation" r:id="rId5" imgW="2184120" imgH="330120" progId="Equation.DSMT4">
                  <p:embed/>
                </p:oleObj>
              </mc:Choice>
              <mc:Fallback>
                <p:oleObj name="Equation" r:id="rId5" imgW="2184120" imgH="330120" progId="Equation.DSMT4">
                  <p:embed/>
                  <p:pic>
                    <p:nvPicPr>
                      <p:cNvPr id="8" name="Object 5"/>
                      <p:cNvPicPr>
                        <a:picLocks noChangeAspect="1" noChangeArrowheads="1"/>
                      </p:cNvPicPr>
                      <p:nvPr/>
                    </p:nvPicPr>
                    <p:blipFill>
                      <a:blip r:embed="rId6"/>
                      <a:srcRect/>
                      <a:stretch>
                        <a:fillRect/>
                      </a:stretch>
                    </p:blipFill>
                    <p:spPr bwMode="auto">
                      <a:xfrm>
                        <a:off x="1741488" y="3573016"/>
                        <a:ext cx="43688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矩形 18"/>
          <p:cNvSpPr/>
          <p:nvPr/>
        </p:nvSpPr>
        <p:spPr>
          <a:xfrm>
            <a:off x="816005" y="1268791"/>
            <a:ext cx="906017" cy="523220"/>
          </a:xfrm>
          <a:prstGeom prst="rect">
            <a:avLst/>
          </a:prstGeom>
        </p:spPr>
        <p:txBody>
          <a:bodyPr wrap="none">
            <a:spAutoFit/>
          </a:bodyPr>
          <a:lstStyle/>
          <a:p>
            <a:r>
              <a:rPr lang="zh-CN" altLang="en-US" sz="2800" b="1" dirty="0">
                <a:solidFill>
                  <a:srgbClr val="800000"/>
                </a:solidFill>
              </a:rPr>
              <a:t>均值</a:t>
            </a:r>
            <a:endParaRPr lang="zh-CN" altLang="en-US" dirty="0"/>
          </a:p>
        </p:txBody>
      </p:sp>
      <p:sp>
        <p:nvSpPr>
          <p:cNvPr id="20" name="矩形 19"/>
          <p:cNvSpPr/>
          <p:nvPr/>
        </p:nvSpPr>
        <p:spPr>
          <a:xfrm>
            <a:off x="816005" y="1884644"/>
            <a:ext cx="906017" cy="523220"/>
          </a:xfrm>
          <a:prstGeom prst="rect">
            <a:avLst/>
          </a:prstGeom>
        </p:spPr>
        <p:txBody>
          <a:bodyPr wrap="none">
            <a:spAutoFit/>
          </a:bodyPr>
          <a:lstStyle/>
          <a:p>
            <a:r>
              <a:rPr lang="zh-CN" altLang="en-US" sz="2800" b="1" dirty="0">
                <a:solidFill>
                  <a:srgbClr val="800000"/>
                </a:solidFill>
              </a:rPr>
              <a:t>方差</a:t>
            </a:r>
            <a:endParaRPr lang="zh-CN" altLang="en-US" dirty="0"/>
          </a:p>
        </p:txBody>
      </p:sp>
      <p:graphicFrame>
        <p:nvGraphicFramePr>
          <p:cNvPr id="21" name="Object 5"/>
          <p:cNvGraphicFramePr>
            <a:graphicFrameLocks noChangeAspect="1"/>
          </p:cNvGraphicFramePr>
          <p:nvPr>
            <p:extLst>
              <p:ext uri="{D42A27DB-BD31-4B8C-83A1-F6EECF244321}">
                <p14:modId xmlns:p14="http://schemas.microsoft.com/office/powerpoint/2010/main" val="384006153"/>
              </p:ext>
            </p:extLst>
          </p:nvPr>
        </p:nvGraphicFramePr>
        <p:xfrm>
          <a:off x="1957370" y="1192664"/>
          <a:ext cx="4439844" cy="796176"/>
        </p:xfrm>
        <a:graphic>
          <a:graphicData uri="http://schemas.openxmlformats.org/presentationml/2006/ole">
            <mc:AlternateContent xmlns:mc="http://schemas.openxmlformats.org/markup-compatibility/2006">
              <mc:Choice xmlns:v="urn:schemas-microsoft-com:vml" Requires="v">
                <p:oleObj name="Equation" r:id="rId7" imgW="2336760" imgH="419040" progId="Equation.DSMT4">
                  <p:embed/>
                </p:oleObj>
              </mc:Choice>
              <mc:Fallback>
                <p:oleObj name="Equation" r:id="rId7" imgW="2336760" imgH="419040" progId="Equation.DSMT4">
                  <p:embed/>
                  <p:pic>
                    <p:nvPicPr>
                      <p:cNvPr id="8" name="Object 5"/>
                      <p:cNvPicPr>
                        <a:picLocks noChangeAspect="1" noChangeArrowheads="1"/>
                      </p:cNvPicPr>
                      <p:nvPr/>
                    </p:nvPicPr>
                    <p:blipFill>
                      <a:blip r:embed="rId8"/>
                      <a:srcRect/>
                      <a:stretch>
                        <a:fillRect/>
                      </a:stretch>
                    </p:blipFill>
                    <p:spPr bwMode="auto">
                      <a:xfrm>
                        <a:off x="1957370" y="1192664"/>
                        <a:ext cx="4439844" cy="796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5"/>
          <p:cNvGraphicFramePr>
            <a:graphicFrameLocks noChangeAspect="1"/>
          </p:cNvGraphicFramePr>
          <p:nvPr>
            <p:extLst>
              <p:ext uri="{D42A27DB-BD31-4B8C-83A1-F6EECF244321}">
                <p14:modId xmlns:p14="http://schemas.microsoft.com/office/powerpoint/2010/main" val="2165887738"/>
              </p:ext>
            </p:extLst>
          </p:nvPr>
        </p:nvGraphicFramePr>
        <p:xfrm>
          <a:off x="1972711" y="1844824"/>
          <a:ext cx="4149828" cy="627228"/>
        </p:xfrm>
        <a:graphic>
          <a:graphicData uri="http://schemas.openxmlformats.org/presentationml/2006/ole">
            <mc:AlternateContent xmlns:mc="http://schemas.openxmlformats.org/markup-compatibility/2006">
              <mc:Choice xmlns:v="urn:schemas-microsoft-com:vml" Requires="v">
                <p:oleObj name="Equation" r:id="rId9" imgW="2184120" imgH="330120" progId="Equation.DSMT4">
                  <p:embed/>
                </p:oleObj>
              </mc:Choice>
              <mc:Fallback>
                <p:oleObj name="Equation" r:id="rId9" imgW="2184120" imgH="330120" progId="Equation.DSMT4">
                  <p:embed/>
                  <p:pic>
                    <p:nvPicPr>
                      <p:cNvPr id="18" name="Object 5"/>
                      <p:cNvPicPr>
                        <a:picLocks noChangeAspect="1" noChangeArrowheads="1"/>
                      </p:cNvPicPr>
                      <p:nvPr/>
                    </p:nvPicPr>
                    <p:blipFill>
                      <a:blip r:embed="rId10"/>
                      <a:srcRect/>
                      <a:stretch>
                        <a:fillRect/>
                      </a:stretch>
                    </p:blipFill>
                    <p:spPr bwMode="auto">
                      <a:xfrm>
                        <a:off x="1972711" y="1844824"/>
                        <a:ext cx="4149828" cy="627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4"/>
          <p:cNvGraphicFramePr>
            <a:graphicFrameLocks noChangeAspect="1"/>
          </p:cNvGraphicFramePr>
          <p:nvPr>
            <p:extLst>
              <p:ext uri="{D42A27DB-BD31-4B8C-83A1-F6EECF244321}">
                <p14:modId xmlns:p14="http://schemas.microsoft.com/office/powerpoint/2010/main" val="2406723459"/>
              </p:ext>
            </p:extLst>
          </p:nvPr>
        </p:nvGraphicFramePr>
        <p:xfrm>
          <a:off x="7439596" y="3611716"/>
          <a:ext cx="1033560" cy="502920"/>
        </p:xfrm>
        <a:graphic>
          <a:graphicData uri="http://schemas.openxmlformats.org/presentationml/2006/ole">
            <mc:AlternateContent xmlns:mc="http://schemas.openxmlformats.org/markup-compatibility/2006">
              <mc:Choice xmlns:v="urn:schemas-microsoft-com:vml" Requires="v">
                <p:oleObj name="Equation" r:id="rId11" imgW="469800" imgH="228600" progId="Equation.DSMT4">
                  <p:embed/>
                </p:oleObj>
              </mc:Choice>
              <mc:Fallback>
                <p:oleObj name="Equation" r:id="rId11" imgW="469800" imgH="228600" progId="Equation.DSMT4">
                  <p:embed/>
                  <p:pic>
                    <p:nvPicPr>
                      <p:cNvPr id="11" name="Object 4"/>
                      <p:cNvPicPr>
                        <a:picLocks noChangeAspect="1" noChangeArrowheads="1"/>
                      </p:cNvPicPr>
                      <p:nvPr/>
                    </p:nvPicPr>
                    <p:blipFill>
                      <a:blip r:embed="rId12"/>
                      <a:srcRect/>
                      <a:stretch>
                        <a:fillRect/>
                      </a:stretch>
                    </p:blipFill>
                    <p:spPr bwMode="auto">
                      <a:xfrm>
                        <a:off x="7439596" y="3611716"/>
                        <a:ext cx="1033560"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Rectangle 3"/>
          <p:cNvSpPr>
            <a:spLocks noChangeArrowheads="1"/>
          </p:cNvSpPr>
          <p:nvPr/>
        </p:nvSpPr>
        <p:spPr bwMode="auto">
          <a:xfrm>
            <a:off x="71933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6.2.3  A/D</a:t>
            </a:r>
            <a:r>
              <a:rPr lang="zh-CN" altLang="en-US" sz="3200" b="1" dirty="0">
                <a:solidFill>
                  <a:srgbClr val="993300"/>
                </a:solidFill>
                <a:ea typeface="楷体_GB2312" pitchFamily="49" charset="-122"/>
              </a:rPr>
              <a:t>变换的量化效应</a:t>
            </a:r>
          </a:p>
        </p:txBody>
      </p:sp>
    </p:spTree>
    <p:extLst>
      <p:ext uri="{BB962C8B-B14F-4D97-AF65-F5344CB8AC3E}">
        <p14:creationId xmlns:p14="http://schemas.microsoft.com/office/powerpoint/2010/main" val="931723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790128" y="939800"/>
            <a:ext cx="7886328" cy="547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lnSpc>
                <a:spcPct val="11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定义量化信噪比：</a:t>
            </a:r>
          </a:p>
          <a:p>
            <a:pPr algn="just">
              <a:lnSpc>
                <a:spcPct val="11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 </a:t>
            </a:r>
          </a:p>
          <a:p>
            <a:pPr algn="just">
              <a:lnSpc>
                <a:spcPct val="11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gn="just">
              <a:lnSpc>
                <a:spcPct val="8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gn="just">
              <a:lnSpc>
                <a:spcPct val="11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用对数表示：</a:t>
            </a:r>
          </a:p>
          <a:p>
            <a:pPr algn="just">
              <a:lnSpc>
                <a:spcPct val="11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gn="just">
              <a:lnSpc>
                <a:spcPct val="11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gn="just">
              <a:lnSpc>
                <a:spcPct val="110000"/>
              </a:lnSpc>
              <a:spcBef>
                <a:spcPct val="0"/>
              </a:spcBef>
              <a:buFontTx/>
              <a:buNone/>
            </a:pPr>
            <a:endParaRPr lang="zh-CN" altLang="en-US" sz="2800" dirty="0">
              <a:solidFill>
                <a:srgbClr val="000000"/>
              </a:solidFill>
              <a:latin typeface="宋体" panose="02010600030101010101" pitchFamily="2" charset="-122"/>
              <a:ea typeface="宋体" panose="02010600030101010101" pitchFamily="2" charset="-122"/>
            </a:endParaRPr>
          </a:p>
          <a:p>
            <a:pPr>
              <a:lnSpc>
                <a:spcPct val="110000"/>
              </a:lnSpc>
              <a:spcBef>
                <a:spcPts val="0"/>
              </a:spcBef>
              <a:buNone/>
            </a:pPr>
            <a:endParaRPr lang="en-US"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25000"/>
              </a:spcBef>
            </a:pP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字长每增加 </a:t>
            </a:r>
            <a:r>
              <a:rPr lang="en-US"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位，量化信噪比约增加</a:t>
            </a:r>
            <a:r>
              <a:rPr lang="en-US"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6 dB</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pP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信号能量越大，量化信噪比越高。</a:t>
            </a:r>
          </a:p>
        </p:txBody>
      </p:sp>
      <p:graphicFrame>
        <p:nvGraphicFramePr>
          <p:cNvPr id="8" name="Object 3"/>
          <p:cNvGraphicFramePr>
            <a:graphicFrameLocks noChangeAspect="1"/>
          </p:cNvGraphicFramePr>
          <p:nvPr>
            <p:extLst>
              <p:ext uri="{D42A27DB-BD31-4B8C-83A1-F6EECF244321}">
                <p14:modId xmlns:p14="http://schemas.microsoft.com/office/powerpoint/2010/main" val="2494379566"/>
              </p:ext>
            </p:extLst>
          </p:nvPr>
        </p:nvGraphicFramePr>
        <p:xfrm>
          <a:off x="2806352" y="1484784"/>
          <a:ext cx="3913956" cy="1051560"/>
        </p:xfrm>
        <a:graphic>
          <a:graphicData uri="http://schemas.openxmlformats.org/presentationml/2006/ole">
            <mc:AlternateContent xmlns:mc="http://schemas.openxmlformats.org/markup-compatibility/2006">
              <mc:Choice xmlns:v="urn:schemas-microsoft-com:vml" Requires="v">
                <p:oleObj name="Equation" r:id="rId2" imgW="1701720" imgH="457200" progId="Equation.DSMT4">
                  <p:embed/>
                </p:oleObj>
              </mc:Choice>
              <mc:Fallback>
                <p:oleObj name="Equation" r:id="rId2" imgW="1701720" imgH="457200" progId="Equation.DSMT4">
                  <p:embed/>
                  <p:pic>
                    <p:nvPicPr>
                      <p:cNvPr id="107523" name="Object 3"/>
                      <p:cNvPicPr>
                        <a:picLocks noChangeAspect="1" noChangeArrowheads="1"/>
                      </p:cNvPicPr>
                      <p:nvPr/>
                    </p:nvPicPr>
                    <p:blipFill>
                      <a:blip r:embed="rId3"/>
                      <a:srcRect/>
                      <a:stretch>
                        <a:fillRect/>
                      </a:stretch>
                    </p:blipFill>
                    <p:spPr bwMode="auto">
                      <a:xfrm>
                        <a:off x="2806352" y="1484784"/>
                        <a:ext cx="3913956" cy="105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3196579860"/>
              </p:ext>
            </p:extLst>
          </p:nvPr>
        </p:nvGraphicFramePr>
        <p:xfrm>
          <a:off x="2580828" y="3244850"/>
          <a:ext cx="5608320" cy="1635760"/>
        </p:xfrm>
        <a:graphic>
          <a:graphicData uri="http://schemas.openxmlformats.org/presentationml/2006/ole">
            <mc:AlternateContent xmlns:mc="http://schemas.openxmlformats.org/markup-compatibility/2006">
              <mc:Choice xmlns:v="urn:schemas-microsoft-com:vml" Requires="v">
                <p:oleObj name="Equation" r:id="rId4" imgW="2438400" imgH="711200" progId="Equation.DSMT4">
                  <p:embed/>
                </p:oleObj>
              </mc:Choice>
              <mc:Fallback>
                <p:oleObj name="Equation" r:id="rId4" imgW="2438400" imgH="711200" progId="Equation.DSMT4">
                  <p:embed/>
                  <p:pic>
                    <p:nvPicPr>
                      <p:cNvPr id="10240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0828" y="3244850"/>
                        <a:ext cx="5608320" cy="163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p:cNvSpPr>
            <a:spLocks noChangeArrowheads="1"/>
          </p:cNvSpPr>
          <p:nvPr/>
        </p:nvSpPr>
        <p:spPr bwMode="auto">
          <a:xfrm>
            <a:off x="71933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6.2.3  A/D</a:t>
            </a:r>
            <a:r>
              <a:rPr lang="zh-CN" altLang="en-US" sz="3200" b="1" dirty="0">
                <a:solidFill>
                  <a:srgbClr val="993300"/>
                </a:solidFill>
                <a:ea typeface="楷体_GB2312" pitchFamily="49" charset="-122"/>
              </a:rPr>
              <a:t>变换的量化效应</a:t>
            </a:r>
          </a:p>
        </p:txBody>
      </p:sp>
    </p:spTree>
    <p:extLst>
      <p:ext uri="{BB962C8B-B14F-4D97-AF65-F5344CB8AC3E}">
        <p14:creationId xmlns:p14="http://schemas.microsoft.com/office/powerpoint/2010/main" val="258958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9" end="9"/>
                                            </p:txEl>
                                          </p:spTgt>
                                        </p:tgtEl>
                                        <p:attrNameLst>
                                          <p:attrName>style.visibility</p:attrName>
                                        </p:attrNameLst>
                                      </p:cBhvr>
                                      <p:to>
                                        <p:strVal val="visible"/>
                                      </p:to>
                                    </p:set>
                                    <p:animEffect transition="in" filter="fade">
                                      <p:cBhvr>
                                        <p:cTn id="14" dur="1000"/>
                                        <p:tgtEl>
                                          <p:spTgt spid="7">
                                            <p:txEl>
                                              <p:pRg st="9" end="9"/>
                                            </p:txEl>
                                          </p:spTgt>
                                        </p:tgtEl>
                                      </p:cBhvr>
                                    </p:animEffect>
                                    <p:anim calcmode="lin" valueType="num">
                                      <p:cBhvr>
                                        <p:cTn id="15"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10" end="10"/>
                                            </p:txEl>
                                          </p:spTgt>
                                        </p:tgtEl>
                                        <p:attrNameLst>
                                          <p:attrName>style.visibility</p:attrName>
                                        </p:attrNameLst>
                                      </p:cBhvr>
                                      <p:to>
                                        <p:strVal val="visible"/>
                                      </p:to>
                                    </p:set>
                                    <p:animEffect transition="in" filter="fade">
                                      <p:cBhvr>
                                        <p:cTn id="21" dur="1000"/>
                                        <p:tgtEl>
                                          <p:spTgt spid="7">
                                            <p:txEl>
                                              <p:pRg st="10" end="10"/>
                                            </p:txEl>
                                          </p:spTgt>
                                        </p:tgtEl>
                                      </p:cBhvr>
                                    </p:animEffect>
                                    <p:anim calcmode="lin" valueType="num">
                                      <p:cBhvr>
                                        <p:cTn id="22"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6.2.4  </a:t>
            </a:r>
            <a:r>
              <a:rPr lang="zh-CN" altLang="en-US" sz="3200" b="1" dirty="0">
                <a:solidFill>
                  <a:srgbClr val="993300"/>
                </a:solidFill>
                <a:ea typeface="楷体_GB2312" pitchFamily="49" charset="-122"/>
              </a:rPr>
              <a:t>量化噪声通过线性系统</a:t>
            </a:r>
          </a:p>
        </p:txBody>
      </p:sp>
      <p:pic>
        <p:nvPicPr>
          <p:cNvPr id="7" name="Picture 4"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449872"/>
            <a:ext cx="74168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5"/>
          <p:cNvSpPr txBox="1">
            <a:spLocks noChangeArrowheads="1"/>
          </p:cNvSpPr>
          <p:nvPr/>
        </p:nvSpPr>
        <p:spPr bwMode="auto">
          <a:xfrm>
            <a:off x="2267744" y="3109466"/>
            <a:ext cx="455147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00"/>
                </a:solidFill>
              </a:rPr>
              <a:t>图</a:t>
            </a:r>
            <a:r>
              <a:rPr lang="en-US" altLang="zh-CN" b="1" dirty="0">
                <a:solidFill>
                  <a:srgbClr val="000000"/>
                </a:solidFill>
              </a:rPr>
              <a:t>6.26	</a:t>
            </a:r>
            <a:r>
              <a:rPr lang="zh-CN" altLang="en-US" b="1" dirty="0">
                <a:solidFill>
                  <a:srgbClr val="000000"/>
                </a:solidFill>
              </a:rPr>
              <a:t>量化噪声通过线性系统</a:t>
            </a:r>
          </a:p>
        </p:txBody>
      </p:sp>
      <p:sp>
        <p:nvSpPr>
          <p:cNvPr id="9" name="Rectangle 3"/>
          <p:cNvSpPr>
            <a:spLocks noChangeArrowheads="1"/>
          </p:cNvSpPr>
          <p:nvPr/>
        </p:nvSpPr>
        <p:spPr bwMode="auto">
          <a:xfrm>
            <a:off x="548469" y="3938129"/>
            <a:ext cx="2376264"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a:lnSpc>
                <a:spcPct val="115000"/>
              </a:lnSpc>
              <a:spcBef>
                <a:spcPct val="0"/>
              </a:spcBef>
              <a:spcAft>
                <a:spcPct val="30000"/>
              </a:spcAft>
              <a:buFontTx/>
              <a:buNone/>
            </a:pPr>
            <a:r>
              <a:rPr lang="zh-CN" altLang="en-US" sz="2800" dirty="0">
                <a:latin typeface="宋体" panose="02010600030101010101" pitchFamily="2" charset="-122"/>
                <a:ea typeface="宋体" panose="02010600030101010101" pitchFamily="2" charset="-122"/>
              </a:rPr>
              <a:t>系统的输出：</a:t>
            </a:r>
          </a:p>
        </p:txBody>
      </p:sp>
      <p:graphicFrame>
        <p:nvGraphicFramePr>
          <p:cNvPr id="10" name="Object 4"/>
          <p:cNvGraphicFramePr>
            <a:graphicFrameLocks noGrp="1" noChangeAspect="1"/>
          </p:cNvGraphicFramePr>
          <p:nvPr>
            <p:ph/>
            <p:extLst>
              <p:ext uri="{D42A27DB-BD31-4B8C-83A1-F6EECF244321}">
                <p14:modId xmlns:p14="http://schemas.microsoft.com/office/powerpoint/2010/main" val="1302128544"/>
              </p:ext>
            </p:extLst>
          </p:nvPr>
        </p:nvGraphicFramePr>
        <p:xfrm>
          <a:off x="2699792" y="4004898"/>
          <a:ext cx="5841540" cy="992772"/>
        </p:xfrm>
        <a:graphic>
          <a:graphicData uri="http://schemas.openxmlformats.org/presentationml/2006/ole">
            <mc:AlternateContent xmlns:mc="http://schemas.openxmlformats.org/markup-compatibility/2006">
              <mc:Choice xmlns:v="urn:schemas-microsoft-com:vml" Requires="v">
                <p:oleObj name="Equation" r:id="rId3" imgW="2539800" imgH="431640" progId="Equation.DSMT4">
                  <p:embed/>
                </p:oleObj>
              </mc:Choice>
              <mc:Fallback>
                <p:oleObj name="Equation" r:id="rId3" imgW="2539800" imgH="431640" progId="Equation.DSMT4">
                  <p:embed/>
                  <p:pic>
                    <p:nvPicPr>
                      <p:cNvPr id="105476" name="Object 4"/>
                      <p:cNvPicPr>
                        <a:picLocks noChangeAspect="1" noChangeArrowheads="1"/>
                      </p:cNvPicPr>
                      <p:nvPr/>
                    </p:nvPicPr>
                    <p:blipFill>
                      <a:blip r:embed="rId4"/>
                      <a:srcRect/>
                      <a:stretch>
                        <a:fillRect/>
                      </a:stretch>
                    </p:blipFill>
                    <p:spPr bwMode="auto">
                      <a:xfrm>
                        <a:off x="2699792" y="4004898"/>
                        <a:ext cx="5841540" cy="9927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
          <p:cNvGraphicFramePr>
            <a:graphicFrameLocks noGrp="1" noChangeAspect="1"/>
          </p:cNvGraphicFramePr>
          <p:nvPr>
            <p:ph sz="quarter" idx="1"/>
            <p:extLst>
              <p:ext uri="{D42A27DB-BD31-4B8C-83A1-F6EECF244321}">
                <p14:modId xmlns:p14="http://schemas.microsoft.com/office/powerpoint/2010/main" val="2285510937"/>
              </p:ext>
            </p:extLst>
          </p:nvPr>
        </p:nvGraphicFramePr>
        <p:xfrm>
          <a:off x="2686911" y="5466528"/>
          <a:ext cx="2803608" cy="554760"/>
        </p:xfrm>
        <a:graphic>
          <a:graphicData uri="http://schemas.openxmlformats.org/presentationml/2006/ole">
            <mc:AlternateContent xmlns:mc="http://schemas.openxmlformats.org/markup-compatibility/2006">
              <mc:Choice xmlns:v="urn:schemas-microsoft-com:vml" Requires="v">
                <p:oleObj name="Equation" r:id="rId5" imgW="1218960" imgH="241200" progId="Equation.DSMT4">
                  <p:embed/>
                </p:oleObj>
              </mc:Choice>
              <mc:Fallback>
                <p:oleObj name="Equation" r:id="rId5" imgW="1218960" imgH="241200" progId="Equation.DSMT4">
                  <p:embed/>
                  <p:pic>
                    <p:nvPicPr>
                      <p:cNvPr id="197634" name="Object 2"/>
                      <p:cNvPicPr>
                        <a:picLocks noChangeAspect="1" noChangeArrowheads="1"/>
                      </p:cNvPicPr>
                      <p:nvPr/>
                    </p:nvPicPr>
                    <p:blipFill>
                      <a:blip r:embed="rId6"/>
                      <a:srcRect/>
                      <a:stretch>
                        <a:fillRect/>
                      </a:stretch>
                    </p:blipFill>
                    <p:spPr bwMode="auto">
                      <a:xfrm>
                        <a:off x="2686911" y="5466528"/>
                        <a:ext cx="2803608" cy="5547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856399" y="5485795"/>
            <a:ext cx="1627369"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rPr>
              <a:t>输出噪声</a:t>
            </a:r>
            <a:endParaRPr lang="zh-CN" altLang="en-US" dirty="0"/>
          </a:p>
        </p:txBody>
      </p:sp>
    </p:spTree>
    <p:extLst>
      <p:ext uri="{BB962C8B-B14F-4D97-AF65-F5344CB8AC3E}">
        <p14:creationId xmlns:p14="http://schemas.microsoft.com/office/powerpoint/2010/main" val="223765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4"/>
          <p:cNvGraphicFramePr>
            <a:graphicFrameLocks noChangeAspect="1"/>
          </p:cNvGraphicFramePr>
          <p:nvPr>
            <p:extLst>
              <p:ext uri="{D42A27DB-BD31-4B8C-83A1-F6EECF244321}">
                <p14:modId xmlns:p14="http://schemas.microsoft.com/office/powerpoint/2010/main" val="3562809337"/>
              </p:ext>
            </p:extLst>
          </p:nvPr>
        </p:nvGraphicFramePr>
        <p:xfrm>
          <a:off x="431838" y="1465387"/>
          <a:ext cx="8110537" cy="2179637"/>
        </p:xfrm>
        <a:graphic>
          <a:graphicData uri="http://schemas.openxmlformats.org/presentationml/2006/ole">
            <mc:AlternateContent xmlns:mc="http://schemas.openxmlformats.org/markup-compatibility/2006">
              <mc:Choice xmlns:v="urn:schemas-microsoft-com:vml" Requires="v">
                <p:oleObj name="Equation" r:id="rId2" imgW="3390900" imgH="914400" progId="Equation.DSMT4">
                  <p:embed/>
                </p:oleObj>
              </mc:Choice>
              <mc:Fallback>
                <p:oleObj name="Equation" r:id="rId2" imgW="3390900" imgH="914400" progId="Equation.DSMT4">
                  <p:embed/>
                  <p:pic>
                    <p:nvPicPr>
                      <p:cNvPr id="10650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38" y="1465387"/>
                        <a:ext cx="8110537" cy="217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431837" y="3717032"/>
            <a:ext cx="8110537" cy="523220"/>
          </a:xfrm>
          <a:prstGeom prst="rect">
            <a:avLst/>
          </a:prstGeom>
        </p:spPr>
        <p:txBody>
          <a:bodyPr wrap="square">
            <a:spAutoFit/>
          </a:bodyPr>
          <a:lstStyle/>
          <a:p>
            <a:pPr lvl="0" algn="just" eaLnBrk="1" hangingPunct="1"/>
            <a:r>
              <a:rPr lang="zh-CN" altLang="en-US" sz="2800" b="1" dirty="0">
                <a:solidFill>
                  <a:srgbClr val="000000"/>
                </a:solidFill>
                <a:latin typeface="Times New Roman" panose="02020603050405020304" pitchFamily="18" charset="0"/>
                <a:cs typeface="Times New Roman" panose="02020603050405020304" pitchFamily="18" charset="0"/>
              </a:rPr>
              <a:t>由于 </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 </a:t>
            </a:r>
            <a:r>
              <a:rPr lang="zh-CN" altLang="en-US" sz="2800" b="1" dirty="0">
                <a:solidFill>
                  <a:srgbClr val="000000"/>
                </a:solidFill>
                <a:latin typeface="Times New Roman" panose="02020603050405020304" pitchFamily="18" charset="0"/>
                <a:cs typeface="Times New Roman" panose="02020603050405020304" pitchFamily="18" charset="0"/>
              </a:rPr>
              <a:t>是白噪声，各变量之间互不相关，则</a:t>
            </a:r>
          </a:p>
        </p:txBody>
      </p:sp>
      <p:graphicFrame>
        <p:nvGraphicFramePr>
          <p:cNvPr id="9" name="Object 4"/>
          <p:cNvGraphicFramePr>
            <a:graphicFrameLocks noChangeAspect="1"/>
          </p:cNvGraphicFramePr>
          <p:nvPr>
            <p:extLst>
              <p:ext uri="{D42A27DB-BD31-4B8C-83A1-F6EECF244321}">
                <p14:modId xmlns:p14="http://schemas.microsoft.com/office/powerpoint/2010/main" val="3970136911"/>
              </p:ext>
            </p:extLst>
          </p:nvPr>
        </p:nvGraphicFramePr>
        <p:xfrm>
          <a:off x="1823280" y="4486697"/>
          <a:ext cx="5327650" cy="598487"/>
        </p:xfrm>
        <a:graphic>
          <a:graphicData uri="http://schemas.openxmlformats.org/presentationml/2006/ole">
            <mc:AlternateContent xmlns:mc="http://schemas.openxmlformats.org/markup-compatibility/2006">
              <mc:Choice xmlns:v="urn:schemas-microsoft-com:vml" Requires="v">
                <p:oleObj name="Equation" r:id="rId4" imgW="2120900" imgH="254000" progId="Equation.DSMT4">
                  <p:embed/>
                </p:oleObj>
              </mc:Choice>
              <mc:Fallback>
                <p:oleObj name="Equation" r:id="rId4" imgW="2120900" imgH="254000" progId="Equation.DSMT4">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3280" y="4486697"/>
                        <a:ext cx="53276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431837" y="5579204"/>
            <a:ext cx="543739"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得</a:t>
            </a:r>
            <a:endParaRPr lang="zh-CN" altLang="en-US" b="1" dirty="0"/>
          </a:p>
        </p:txBody>
      </p:sp>
      <p:graphicFrame>
        <p:nvGraphicFramePr>
          <p:cNvPr id="13" name="Object 5"/>
          <p:cNvGraphicFramePr>
            <a:graphicFrameLocks noChangeAspect="1"/>
          </p:cNvGraphicFramePr>
          <p:nvPr>
            <p:extLst>
              <p:ext uri="{D42A27DB-BD31-4B8C-83A1-F6EECF244321}">
                <p14:modId xmlns:p14="http://schemas.microsoft.com/office/powerpoint/2010/main" val="1719927669"/>
              </p:ext>
            </p:extLst>
          </p:nvPr>
        </p:nvGraphicFramePr>
        <p:xfrm>
          <a:off x="1102704" y="5269314"/>
          <a:ext cx="7473950" cy="1143000"/>
        </p:xfrm>
        <a:graphic>
          <a:graphicData uri="http://schemas.openxmlformats.org/presentationml/2006/ole">
            <mc:AlternateContent xmlns:mc="http://schemas.openxmlformats.org/markup-compatibility/2006">
              <mc:Choice xmlns:v="urn:schemas-microsoft-com:vml" Requires="v">
                <p:oleObj name="Equation" r:id="rId6" imgW="2933640" imgH="431640" progId="Equation.DSMT4">
                  <p:embed/>
                </p:oleObj>
              </mc:Choice>
              <mc:Fallback>
                <p:oleObj name="Equation" r:id="rId6" imgW="2933640" imgH="431640" progId="Equation.DSMT4">
                  <p:embed/>
                  <p:pic>
                    <p:nvPicPr>
                      <p:cNvPr id="7" name="Object 5"/>
                      <p:cNvPicPr>
                        <a:picLocks noChangeAspect="1" noChangeArrowheads="1"/>
                      </p:cNvPicPr>
                      <p:nvPr/>
                    </p:nvPicPr>
                    <p:blipFill>
                      <a:blip r:embed="rId7"/>
                      <a:srcRect/>
                      <a:stretch>
                        <a:fillRect/>
                      </a:stretch>
                    </p:blipFill>
                    <p:spPr bwMode="auto">
                      <a:xfrm>
                        <a:off x="1102704" y="5269314"/>
                        <a:ext cx="74739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395536" y="961564"/>
            <a:ext cx="6555000" cy="523220"/>
          </a:xfrm>
          <a:prstGeom prst="rect">
            <a:avLst/>
          </a:prstGeom>
        </p:spPr>
        <p:txBody>
          <a:bodyPr wrap="none">
            <a:spAutoFit/>
          </a:bodyPr>
          <a:lstStyle/>
          <a:p>
            <a:r>
              <a:rPr lang="zh-CN" altLang="en-US" sz="2800" b="1" dirty="0">
                <a:solidFill>
                  <a:srgbClr val="000000"/>
                </a:solidFill>
              </a:rPr>
              <a:t>若</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是</a:t>
            </a:r>
            <a:r>
              <a:rPr lang="zh-CN" altLang="en-US" sz="2800" b="1" dirty="0">
                <a:solidFill>
                  <a:srgbClr val="000000"/>
                </a:solidFill>
              </a:rPr>
              <a:t>舍入噪声，</a:t>
            </a:r>
            <a:r>
              <a:rPr kumimoji="1" lang="zh-CN" altLang="en-US" sz="2800" b="1" dirty="0">
                <a:latin typeface="Times New Roman" panose="02020603050405020304" pitchFamily="18" charset="0"/>
              </a:rPr>
              <a:t>输出噪声的方差为：</a:t>
            </a:r>
          </a:p>
        </p:txBody>
      </p:sp>
      <p:sp>
        <p:nvSpPr>
          <p:cNvPr id="10"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6.2.4  </a:t>
            </a:r>
            <a:r>
              <a:rPr lang="zh-CN" altLang="en-US" sz="3200" b="1" dirty="0">
                <a:solidFill>
                  <a:srgbClr val="993300"/>
                </a:solidFill>
                <a:ea typeface="楷体_GB2312" pitchFamily="49" charset="-122"/>
              </a:rPr>
              <a:t>量化噪声通过线性系统</a:t>
            </a:r>
          </a:p>
        </p:txBody>
      </p:sp>
    </p:spTree>
    <p:extLst>
      <p:ext uri="{BB962C8B-B14F-4D97-AF65-F5344CB8AC3E}">
        <p14:creationId xmlns:p14="http://schemas.microsoft.com/office/powerpoint/2010/main" val="102173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0" y="2187403"/>
            <a:ext cx="4285928" cy="5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04800">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a:spcBef>
                <a:spcPct val="0"/>
              </a:spcBef>
              <a:buFontTx/>
              <a:buNone/>
            </a:pPr>
            <a:r>
              <a:rPr lang="zh-CN" altLang="en-US" sz="2800" dirty="0">
                <a:latin typeface="Times New Roman" panose="02020603050405020304" pitchFamily="18" charset="0"/>
                <a:ea typeface="宋体" panose="02010600030101010101" pitchFamily="2" charset="-122"/>
              </a:rPr>
              <a:t>由</a:t>
            </a:r>
            <a:r>
              <a:rPr lang="en-US" altLang="zh-CN" sz="2800" dirty="0" err="1">
                <a:latin typeface="Times New Roman" panose="02020603050405020304" pitchFamily="18" charset="0"/>
                <a:ea typeface="宋体" panose="02010600030101010101" pitchFamily="2" charset="-122"/>
              </a:rPr>
              <a:t>Parseval</a:t>
            </a:r>
            <a:r>
              <a:rPr lang="zh-CN" altLang="en-US" sz="2800" dirty="0">
                <a:latin typeface="Times New Roman" panose="02020603050405020304" pitchFamily="18" charset="0"/>
                <a:ea typeface="宋体" panose="02010600030101010101" pitchFamily="2" charset="-122"/>
              </a:rPr>
              <a:t>定理</a:t>
            </a:r>
          </a:p>
        </p:txBody>
      </p:sp>
      <p:graphicFrame>
        <p:nvGraphicFramePr>
          <p:cNvPr id="4" name="Object 4"/>
          <p:cNvGraphicFramePr>
            <a:graphicFrameLocks noChangeAspect="1"/>
          </p:cNvGraphicFramePr>
          <p:nvPr>
            <p:extLst>
              <p:ext uri="{D42A27DB-BD31-4B8C-83A1-F6EECF244321}">
                <p14:modId xmlns:p14="http://schemas.microsoft.com/office/powerpoint/2010/main" val="3676080920"/>
              </p:ext>
            </p:extLst>
          </p:nvPr>
        </p:nvGraphicFramePr>
        <p:xfrm>
          <a:off x="3474442" y="993436"/>
          <a:ext cx="2825750" cy="1079500"/>
        </p:xfrm>
        <a:graphic>
          <a:graphicData uri="http://schemas.openxmlformats.org/presentationml/2006/ole">
            <mc:AlternateContent xmlns:mc="http://schemas.openxmlformats.org/markup-compatibility/2006">
              <mc:Choice xmlns:v="urn:schemas-microsoft-com:vml" Requires="v">
                <p:oleObj name="Equation" r:id="rId2" imgW="1130040" imgH="431640" progId="Equation.DSMT4">
                  <p:embed/>
                </p:oleObj>
              </mc:Choice>
              <mc:Fallback>
                <p:oleObj name="Equation" r:id="rId2" imgW="1130040" imgH="431640" progId="Equation.DSMT4">
                  <p:embed/>
                  <p:pic>
                    <p:nvPicPr>
                      <p:cNvPr id="108548" name="Object 4"/>
                      <p:cNvPicPr>
                        <a:picLocks noChangeAspect="1" noChangeArrowheads="1"/>
                      </p:cNvPicPr>
                      <p:nvPr/>
                    </p:nvPicPr>
                    <p:blipFill>
                      <a:blip r:embed="rId3"/>
                      <a:srcRect/>
                      <a:stretch>
                        <a:fillRect/>
                      </a:stretch>
                    </p:blipFill>
                    <p:spPr bwMode="auto">
                      <a:xfrm>
                        <a:off x="3474442" y="993436"/>
                        <a:ext cx="28257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5"/>
          <p:cNvSpPr>
            <a:spLocks noChangeArrowheads="1"/>
          </p:cNvSpPr>
          <p:nvPr/>
        </p:nvSpPr>
        <p:spPr bwMode="auto">
          <a:xfrm>
            <a:off x="233338" y="4951359"/>
            <a:ext cx="830580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30000"/>
              </a:lnSpc>
              <a:spcBef>
                <a:spcPct val="50000"/>
              </a:spcBef>
              <a:buFontTx/>
              <a:buNone/>
            </a:pPr>
            <a:r>
              <a:rPr lang="zh-CN" altLang="en-US" sz="2800" dirty="0">
                <a:latin typeface="Times New Roman" panose="02020603050405020304" pitchFamily="18" charset="0"/>
                <a:ea typeface="宋体" panose="02010600030101010101" pitchFamily="2" charset="-122"/>
              </a:rPr>
              <a:t>如</a:t>
            </a:r>
            <a:r>
              <a:rPr lang="en-US" altLang="zh-CN" sz="2800" i="1" dirty="0">
                <a:latin typeface="Times New Roman" panose="02020603050405020304" pitchFamily="18" charset="0"/>
                <a:ea typeface="宋体" panose="02010600030101010101" pitchFamily="2" charset="-122"/>
              </a:rPr>
              <a:t>e</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为截尾噪声，则输出噪声中还有一直流分量</a:t>
            </a:r>
          </a:p>
        </p:txBody>
      </p:sp>
      <p:graphicFrame>
        <p:nvGraphicFramePr>
          <p:cNvPr id="7" name="Object 6"/>
          <p:cNvGraphicFramePr>
            <a:graphicFrameLocks noGrp="1" noChangeAspect="1"/>
          </p:cNvGraphicFramePr>
          <p:nvPr>
            <p:ph idx="1"/>
            <p:extLst>
              <p:ext uri="{D42A27DB-BD31-4B8C-83A1-F6EECF244321}">
                <p14:modId xmlns:p14="http://schemas.microsoft.com/office/powerpoint/2010/main" val="2915596409"/>
              </p:ext>
            </p:extLst>
          </p:nvPr>
        </p:nvGraphicFramePr>
        <p:xfrm>
          <a:off x="689520" y="5664793"/>
          <a:ext cx="7683500" cy="1050925"/>
        </p:xfrm>
        <a:graphic>
          <a:graphicData uri="http://schemas.openxmlformats.org/presentationml/2006/ole">
            <mc:AlternateContent xmlns:mc="http://schemas.openxmlformats.org/markup-compatibility/2006">
              <mc:Choice xmlns:v="urn:schemas-microsoft-com:vml" Requires="v">
                <p:oleObj name="Equation" r:id="rId4" imgW="3340080" imgH="457200" progId="Equation.DSMT4">
                  <p:embed/>
                </p:oleObj>
              </mc:Choice>
              <mc:Fallback>
                <p:oleObj name="Equation" r:id="rId4" imgW="3340080" imgH="457200" progId="Equation.DSMT4">
                  <p:embed/>
                  <p:pic>
                    <p:nvPicPr>
                      <p:cNvPr id="113670" name="Object 6"/>
                      <p:cNvPicPr>
                        <a:picLocks noChangeAspect="1" noChangeArrowheads="1"/>
                      </p:cNvPicPr>
                      <p:nvPr/>
                    </p:nvPicPr>
                    <p:blipFill>
                      <a:blip r:embed="rId5"/>
                      <a:srcRect/>
                      <a:stretch>
                        <a:fillRect/>
                      </a:stretch>
                    </p:blipFill>
                    <p:spPr bwMode="auto">
                      <a:xfrm>
                        <a:off x="689520" y="5664793"/>
                        <a:ext cx="7683500"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1655246694"/>
              </p:ext>
            </p:extLst>
          </p:nvPr>
        </p:nvGraphicFramePr>
        <p:xfrm>
          <a:off x="1496677" y="2755708"/>
          <a:ext cx="5080000" cy="1047750"/>
        </p:xfrm>
        <a:graphic>
          <a:graphicData uri="http://schemas.openxmlformats.org/presentationml/2006/ole">
            <mc:AlternateContent xmlns:mc="http://schemas.openxmlformats.org/markup-compatibility/2006">
              <mc:Choice xmlns:v="urn:schemas-microsoft-com:vml" Requires="v">
                <p:oleObj name="Equation" r:id="rId6" imgW="2031840" imgH="419040" progId="Equation.DSMT4">
                  <p:embed/>
                </p:oleObj>
              </mc:Choice>
              <mc:Fallback>
                <p:oleObj name="Equation" r:id="rId6" imgW="2031840" imgH="419040" progId="Equation.DSMT4">
                  <p:embed/>
                  <p:pic>
                    <p:nvPicPr>
                      <p:cNvPr id="4" name="Object 4"/>
                      <p:cNvPicPr>
                        <a:picLocks noChangeAspect="1" noChangeArrowheads="1"/>
                      </p:cNvPicPr>
                      <p:nvPr/>
                    </p:nvPicPr>
                    <p:blipFill>
                      <a:blip r:embed="rId7"/>
                      <a:srcRect/>
                      <a:stretch>
                        <a:fillRect/>
                      </a:stretch>
                    </p:blipFill>
                    <p:spPr bwMode="auto">
                      <a:xfrm>
                        <a:off x="1496677" y="2755708"/>
                        <a:ext cx="50800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p:cNvSpPr/>
          <p:nvPr/>
        </p:nvSpPr>
        <p:spPr>
          <a:xfrm>
            <a:off x="211837" y="1268760"/>
            <a:ext cx="543739" cy="523220"/>
          </a:xfrm>
          <a:prstGeom prst="rect">
            <a:avLst/>
          </a:prstGeom>
        </p:spPr>
        <p:txBody>
          <a:bodyPr wrap="none">
            <a:spAutoFit/>
          </a:bodyPr>
          <a:lstStyle/>
          <a:p>
            <a:r>
              <a:rPr lang="zh-CN" altLang="en-US" sz="2800" dirty="0">
                <a:solidFill>
                  <a:srgbClr val="FF0066"/>
                </a:solidFill>
              </a:rPr>
              <a:t>★</a:t>
            </a:r>
            <a:endParaRPr lang="zh-CN" altLang="en-US" sz="2800" dirty="0"/>
          </a:p>
        </p:txBody>
      </p:sp>
      <p:sp>
        <p:nvSpPr>
          <p:cNvPr id="12" name="矩形 11"/>
          <p:cNvSpPr/>
          <p:nvPr/>
        </p:nvSpPr>
        <p:spPr>
          <a:xfrm>
            <a:off x="734012" y="1286836"/>
            <a:ext cx="2709396"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rPr>
              <a:t>输出噪声的方差</a:t>
            </a:r>
            <a:endParaRPr lang="zh-CN" altLang="en-US" dirty="0"/>
          </a:p>
        </p:txBody>
      </p:sp>
      <p:sp>
        <p:nvSpPr>
          <p:cNvPr id="11"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6.2.4  </a:t>
            </a:r>
            <a:r>
              <a:rPr lang="zh-CN" altLang="en-US" sz="3200" b="1" dirty="0">
                <a:solidFill>
                  <a:srgbClr val="993300"/>
                </a:solidFill>
                <a:ea typeface="楷体_GB2312" pitchFamily="49" charset="-122"/>
              </a:rPr>
              <a:t>量化噪声通过线性系统</a:t>
            </a:r>
          </a:p>
        </p:txBody>
      </p:sp>
      <p:pic>
        <p:nvPicPr>
          <p:cNvPr id="2" name="图片 1">
            <a:extLst>
              <a:ext uri="{FF2B5EF4-FFF2-40B4-BE49-F238E27FC236}">
                <a16:creationId xmlns:a16="http://schemas.microsoft.com/office/drawing/2014/main" id="{C90369EC-2E35-22A8-34B5-FFB6CD1B68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4538" y="3964368"/>
            <a:ext cx="4392488" cy="986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52E10F09-B48E-22EF-758C-06FCBF505751}"/>
              </a:ext>
            </a:extLst>
          </p:cNvPr>
          <p:cNvSpPr>
            <a:spLocks noChangeArrowheads="1"/>
          </p:cNvSpPr>
          <p:nvPr/>
        </p:nvSpPr>
        <p:spPr bwMode="auto">
          <a:xfrm>
            <a:off x="394897" y="4175469"/>
            <a:ext cx="1079351"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30000"/>
              </a:lnSpc>
              <a:spcBef>
                <a:spcPct val="50000"/>
              </a:spcBef>
              <a:buFontTx/>
              <a:buNone/>
            </a:pPr>
            <a:r>
              <a:rPr lang="zh-CN" altLang="en-US" sz="2800" dirty="0">
                <a:solidFill>
                  <a:schemeClr val="tx2"/>
                </a:solidFill>
                <a:latin typeface="Times New Roman" panose="02020603050405020304" pitchFamily="18" charset="0"/>
                <a:ea typeface="宋体" panose="02010600030101010101" pitchFamily="2" charset="-122"/>
              </a:rPr>
              <a:t>或</a:t>
            </a:r>
            <a:endParaRPr lang="en-US" altLang="zh-CN" sz="2800" dirty="0">
              <a:solidFill>
                <a:schemeClr val="tx2"/>
              </a:solidFill>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CB4BD5C1-79AC-271B-9B71-1689FA284231}"/>
              </a:ext>
            </a:extLst>
          </p:cNvPr>
          <p:cNvSpPr txBox="1">
            <a:spLocks noChangeArrowheads="1"/>
          </p:cNvSpPr>
          <p:nvPr/>
        </p:nvSpPr>
        <p:spPr bwMode="auto">
          <a:xfrm>
            <a:off x="6732240" y="2956527"/>
            <a:ext cx="2270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spcBef>
                <a:spcPct val="0"/>
              </a:spcBef>
              <a:buFontTx/>
              <a:buNone/>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6.55</a:t>
            </a:r>
            <a:r>
              <a:rPr lang="zh-CN" altLang="en-US" dirty="0">
                <a:latin typeface="Times New Roman" panose="02020603050405020304" pitchFamily="18" charset="0"/>
                <a:ea typeface="宋体" panose="02010600030101010101" pitchFamily="2" charset="-122"/>
              </a:rPr>
              <a:t>）</a:t>
            </a:r>
            <a:endParaRPr lang="zh-CN" altLang="en-US" dirty="0"/>
          </a:p>
        </p:txBody>
      </p:sp>
      <p:sp>
        <p:nvSpPr>
          <p:cNvPr id="13" name="文本框 12">
            <a:extLst>
              <a:ext uri="{FF2B5EF4-FFF2-40B4-BE49-F238E27FC236}">
                <a16:creationId xmlns:a16="http://schemas.microsoft.com/office/drawing/2014/main" id="{0E01A5B5-7E11-7D85-B300-BE7FEAEEBB0F}"/>
              </a:ext>
            </a:extLst>
          </p:cNvPr>
          <p:cNvSpPr txBox="1">
            <a:spLocks noChangeArrowheads="1"/>
          </p:cNvSpPr>
          <p:nvPr/>
        </p:nvSpPr>
        <p:spPr bwMode="auto">
          <a:xfrm>
            <a:off x="6732240" y="4134807"/>
            <a:ext cx="2270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spcBef>
                <a:spcPct val="0"/>
              </a:spcBef>
              <a:buFontTx/>
              <a:buNone/>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6.56</a:t>
            </a:r>
            <a:r>
              <a:rPr lang="zh-CN" altLang="en-US" dirty="0">
                <a:latin typeface="Times New Roman" panose="02020603050405020304" pitchFamily="18" charset="0"/>
                <a:ea typeface="宋体" panose="02010600030101010101" pitchFamily="2" charset="-122"/>
              </a:rPr>
              <a:t>）</a:t>
            </a:r>
            <a:endParaRPr lang="zh-CN" altLang="en-US" dirty="0"/>
          </a:p>
        </p:txBody>
      </p:sp>
      <p:sp>
        <p:nvSpPr>
          <p:cNvPr id="14" name="文本框 13">
            <a:extLst>
              <a:ext uri="{FF2B5EF4-FFF2-40B4-BE49-F238E27FC236}">
                <a16:creationId xmlns:a16="http://schemas.microsoft.com/office/drawing/2014/main" id="{0EA5CBD9-D95B-C00E-C9CA-882548FF7B9F}"/>
              </a:ext>
            </a:extLst>
          </p:cNvPr>
          <p:cNvSpPr txBox="1">
            <a:spLocks noChangeArrowheads="1"/>
          </p:cNvSpPr>
          <p:nvPr/>
        </p:nvSpPr>
        <p:spPr bwMode="auto">
          <a:xfrm>
            <a:off x="6705263" y="1190606"/>
            <a:ext cx="2270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spcBef>
                <a:spcPct val="0"/>
              </a:spcBef>
              <a:buFontTx/>
              <a:buNone/>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6.54</a:t>
            </a:r>
            <a:r>
              <a:rPr lang="zh-CN" altLang="en-US" dirty="0">
                <a:latin typeface="Times New Roman" panose="02020603050405020304" pitchFamily="18" charset="0"/>
                <a:ea typeface="宋体" panose="02010600030101010101" pitchFamily="2" charset="-122"/>
              </a:rPr>
              <a:t>）</a:t>
            </a:r>
            <a:endParaRPr lang="zh-CN" altLang="en-US" dirty="0"/>
          </a:p>
        </p:txBody>
      </p:sp>
    </p:spTree>
    <p:extLst>
      <p:ext uri="{BB962C8B-B14F-4D97-AF65-F5344CB8AC3E}">
        <p14:creationId xmlns:p14="http://schemas.microsoft.com/office/powerpoint/2010/main" val="115295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anim calcmode="lin" valueType="num">
                                      <p:cBhvr>
                                        <p:cTn id="30" dur="1000" fill="hold"/>
                                        <p:tgtEl>
                                          <p:spTgt spid="2"/>
                                        </p:tgtEl>
                                        <p:attrNameLst>
                                          <p:attrName>ppt_x</p:attrName>
                                        </p:attrNameLst>
                                      </p:cBhvr>
                                      <p:tavLst>
                                        <p:tav tm="0">
                                          <p:val>
                                            <p:strVal val="#ppt_x"/>
                                          </p:val>
                                        </p:tav>
                                        <p:tav tm="100000">
                                          <p:val>
                                            <p:strVal val="#ppt_x"/>
                                          </p:val>
                                        </p:tav>
                                      </p:tavLst>
                                    </p:anim>
                                    <p:anim calcmode="lin" valueType="num">
                                      <p:cBhvr>
                                        <p:cTn id="31" dur="1000" fill="hold"/>
                                        <p:tgtEl>
                                          <p:spTgt spid="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1000"/>
                                        <p:tgtEl>
                                          <p:spTgt spid="5"/>
                                        </p:tgtEl>
                                      </p:cBhvr>
                                    </p:animEffect>
                                    <p:anim calcmode="lin" valueType="num">
                                      <p:cBhvr>
                                        <p:cTn id="42" dur="1000" fill="hold"/>
                                        <p:tgtEl>
                                          <p:spTgt spid="5"/>
                                        </p:tgtEl>
                                        <p:attrNameLst>
                                          <p:attrName>ppt_x</p:attrName>
                                        </p:attrNameLst>
                                      </p:cBhvr>
                                      <p:tavLst>
                                        <p:tav tm="0">
                                          <p:val>
                                            <p:strVal val="#ppt_x"/>
                                          </p:val>
                                        </p:tav>
                                        <p:tav tm="100000">
                                          <p:val>
                                            <p:strVal val="#ppt_x"/>
                                          </p:val>
                                        </p:tav>
                                      </p:tavLst>
                                    </p:anim>
                                    <p:anim calcmode="lin" valueType="num">
                                      <p:cBhvr>
                                        <p:cTn id="43" dur="1000" fill="hold"/>
                                        <p:tgtEl>
                                          <p:spTgt spid="5"/>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1000"/>
                                        <p:tgtEl>
                                          <p:spTgt spid="7"/>
                                        </p:tgtEl>
                                      </p:cBhvr>
                                    </p:animEffect>
                                    <p:anim calcmode="lin" valueType="num">
                                      <p:cBhvr>
                                        <p:cTn id="47" dur="1000" fill="hold"/>
                                        <p:tgtEl>
                                          <p:spTgt spid="7"/>
                                        </p:tgtEl>
                                        <p:attrNameLst>
                                          <p:attrName>ppt_x</p:attrName>
                                        </p:attrNameLst>
                                      </p:cBhvr>
                                      <p:tavLst>
                                        <p:tav tm="0">
                                          <p:val>
                                            <p:strVal val="#ppt_x"/>
                                          </p:val>
                                        </p:tav>
                                        <p:tav tm="100000">
                                          <p:val>
                                            <p:strVal val="#ppt_x"/>
                                          </p:val>
                                        </p:tav>
                                      </p:tavLst>
                                    </p:anim>
                                    <p:anim calcmode="lin" valueType="num">
                                      <p:cBhvr>
                                        <p:cTn id="4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9" grpId="0"/>
      <p:bldP spid="1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522746" y="908720"/>
            <a:ext cx="7993063" cy="3052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lnSpc>
                <a:spcPct val="114000"/>
              </a:lnSpc>
              <a:spcBef>
                <a:spcPct val="0"/>
              </a:spcBef>
              <a:buFontTx/>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例</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6.4</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：设有一</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8</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位</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=7)</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A/D</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转换器，它的输出       </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lnSpc>
                <a:spcPct val="114000"/>
              </a:lnSpc>
              <a:spcBef>
                <a:spcPct val="0"/>
              </a:spcBef>
              <a:buFontTx/>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经下列系统函数的</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IIR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滤波器，</a:t>
            </a:r>
          </a:p>
          <a:p>
            <a:pPr algn="just">
              <a:lnSpc>
                <a:spcPct val="114000"/>
              </a:lnSpc>
              <a:spcBef>
                <a:spcPct val="0"/>
              </a:spcBef>
              <a:buFontTx/>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   </a:t>
            </a:r>
          </a:p>
          <a:p>
            <a:pPr algn="just">
              <a:lnSpc>
                <a:spcPct val="114000"/>
              </a:lnSpc>
              <a:spcBef>
                <a:spcPct val="0"/>
              </a:spcBef>
              <a:buFontTx/>
              <a:buNone/>
            </a:pP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4000"/>
              </a:lnSpc>
              <a:spcBef>
                <a:spcPct val="0"/>
              </a:spcBef>
              <a:buFontTx/>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求此滤波器输出端的量化噪声功率。</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30000"/>
              </a:lnSpc>
              <a:spcBef>
                <a:spcPct val="0"/>
              </a:spcBef>
              <a:buFontTx/>
              <a:buNone/>
            </a:pP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950396501"/>
              </p:ext>
            </p:extLst>
          </p:nvPr>
        </p:nvGraphicFramePr>
        <p:xfrm>
          <a:off x="3310396" y="1889006"/>
          <a:ext cx="2541270" cy="963930"/>
        </p:xfrm>
        <a:graphic>
          <a:graphicData uri="http://schemas.openxmlformats.org/presentationml/2006/ole">
            <mc:AlternateContent xmlns:mc="http://schemas.openxmlformats.org/markup-compatibility/2006">
              <mc:Choice xmlns:v="urn:schemas-microsoft-com:vml" Requires="v">
                <p:oleObj name="Equation" r:id="rId2" imgW="1104900" imgH="419100" progId="Equation.DSMT4">
                  <p:embed/>
                </p:oleObj>
              </mc:Choice>
              <mc:Fallback>
                <p:oleObj name="Equation" r:id="rId2" imgW="1104900" imgH="419100" progId="Equation.DSMT4">
                  <p:embed/>
                  <p:pic>
                    <p:nvPicPr>
                      <p:cNvPr id="11469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0396" y="1889006"/>
                        <a:ext cx="2541270" cy="96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5"/>
          <p:cNvGraphicFramePr>
            <a:graphicFrameLocks noChangeAspect="1"/>
          </p:cNvGraphicFramePr>
          <p:nvPr>
            <p:extLst>
              <p:ext uri="{D42A27DB-BD31-4B8C-83A1-F6EECF244321}">
                <p14:modId xmlns:p14="http://schemas.microsoft.com/office/powerpoint/2010/main" val="3666790288"/>
              </p:ext>
            </p:extLst>
          </p:nvPr>
        </p:nvGraphicFramePr>
        <p:xfrm>
          <a:off x="8032216" y="1009602"/>
          <a:ext cx="788256" cy="495972"/>
        </p:xfrm>
        <a:graphic>
          <a:graphicData uri="http://schemas.openxmlformats.org/presentationml/2006/ole">
            <mc:AlternateContent xmlns:mc="http://schemas.openxmlformats.org/markup-compatibility/2006">
              <mc:Choice xmlns:v="urn:schemas-microsoft-com:vml" Requires="v">
                <p:oleObj name="Equation" r:id="rId4" imgW="342720" imgH="215640" progId="Equation.DSMT4">
                  <p:embed/>
                </p:oleObj>
              </mc:Choice>
              <mc:Fallback>
                <p:oleObj name="Equation" r:id="rId4" imgW="342720" imgH="215640" progId="Equation.DSMT4">
                  <p:embed/>
                  <p:pic>
                    <p:nvPicPr>
                      <p:cNvPr id="114693" name="Object 5"/>
                      <p:cNvPicPr>
                        <a:picLocks noChangeAspect="1" noChangeArrowheads="1"/>
                      </p:cNvPicPr>
                      <p:nvPr/>
                    </p:nvPicPr>
                    <p:blipFill>
                      <a:blip r:embed="rId5"/>
                      <a:srcRect/>
                      <a:stretch>
                        <a:fillRect/>
                      </a:stretch>
                    </p:blipFill>
                    <p:spPr bwMode="auto">
                      <a:xfrm>
                        <a:off x="8032216" y="1009602"/>
                        <a:ext cx="788256" cy="495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535831" y="3719058"/>
            <a:ext cx="906017" cy="592213"/>
          </a:xfrm>
          <a:prstGeom prst="rect">
            <a:avLst/>
          </a:prstGeom>
        </p:spPr>
        <p:txBody>
          <a:bodyPr wrap="none">
            <a:spAutoFit/>
          </a:bodyPr>
          <a:lstStyle/>
          <a:p>
            <a:pPr lvl="0" algn="just">
              <a:lnSpc>
                <a:spcPct val="130000"/>
              </a:lnSpc>
            </a:pPr>
            <a:r>
              <a:rPr lang="zh-CN" altLang="en-US" sz="2800" b="1" dirty="0">
                <a:solidFill>
                  <a:srgbClr val="000000"/>
                </a:solidFill>
                <a:latin typeface="Times New Roman" panose="02020603050405020304" pitchFamily="18" charset="0"/>
              </a:rPr>
              <a:t>解：</a:t>
            </a:r>
          </a:p>
        </p:txBody>
      </p:sp>
      <p:graphicFrame>
        <p:nvGraphicFramePr>
          <p:cNvPr id="8" name="Object 4"/>
          <p:cNvGraphicFramePr>
            <a:graphicFrameLocks noChangeAspect="1"/>
          </p:cNvGraphicFramePr>
          <p:nvPr>
            <p:extLst>
              <p:ext uri="{D42A27DB-BD31-4B8C-83A1-F6EECF244321}">
                <p14:modId xmlns:p14="http://schemas.microsoft.com/office/powerpoint/2010/main" val="3297595589"/>
              </p:ext>
            </p:extLst>
          </p:nvPr>
        </p:nvGraphicFramePr>
        <p:xfrm>
          <a:off x="1441848" y="3573016"/>
          <a:ext cx="4219575" cy="922338"/>
        </p:xfrm>
        <a:graphic>
          <a:graphicData uri="http://schemas.openxmlformats.org/presentationml/2006/ole">
            <mc:AlternateContent xmlns:mc="http://schemas.openxmlformats.org/markup-compatibility/2006">
              <mc:Choice xmlns:v="urn:schemas-microsoft-com:vml" Requires="v">
                <p:oleObj name="Equation" r:id="rId6" imgW="1917360" imgH="419040" progId="Equation.DSMT4">
                  <p:embed/>
                </p:oleObj>
              </mc:Choice>
              <mc:Fallback>
                <p:oleObj name="Equation" r:id="rId6" imgW="1917360" imgH="419040" progId="Equation.DSMT4">
                  <p:embed/>
                  <p:pic>
                    <p:nvPicPr>
                      <p:cNvPr id="109572" name="Object 4"/>
                      <p:cNvPicPr>
                        <a:picLocks noChangeAspect="1" noChangeArrowheads="1"/>
                      </p:cNvPicPr>
                      <p:nvPr/>
                    </p:nvPicPr>
                    <p:blipFill>
                      <a:blip r:embed="rId7"/>
                      <a:srcRect/>
                      <a:stretch>
                        <a:fillRect/>
                      </a:stretch>
                    </p:blipFill>
                    <p:spPr bwMode="auto">
                      <a:xfrm>
                        <a:off x="1441848" y="3573016"/>
                        <a:ext cx="421957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
          <p:cNvGraphicFramePr>
            <a:graphicFrameLocks noChangeAspect="1"/>
          </p:cNvGraphicFramePr>
          <p:nvPr>
            <p:extLst>
              <p:ext uri="{D42A27DB-BD31-4B8C-83A1-F6EECF244321}">
                <p14:modId xmlns:p14="http://schemas.microsoft.com/office/powerpoint/2010/main" val="122966639"/>
              </p:ext>
            </p:extLst>
          </p:nvPr>
        </p:nvGraphicFramePr>
        <p:xfrm>
          <a:off x="1318076" y="5315694"/>
          <a:ext cx="7214364" cy="1021752"/>
        </p:xfrm>
        <a:graphic>
          <a:graphicData uri="http://schemas.openxmlformats.org/presentationml/2006/ole">
            <mc:AlternateContent xmlns:mc="http://schemas.openxmlformats.org/markup-compatibility/2006">
              <mc:Choice xmlns:v="urn:schemas-microsoft-com:vml" Requires="v">
                <p:oleObj name="Equation" r:id="rId8" imgW="3136680" imgH="444240" progId="Equation.DSMT4">
                  <p:embed/>
                </p:oleObj>
              </mc:Choice>
              <mc:Fallback>
                <p:oleObj name="Equation" r:id="rId8" imgW="3136680" imgH="444240" progId="Equation.DSMT4">
                  <p:embed/>
                  <p:pic>
                    <p:nvPicPr>
                      <p:cNvPr id="6" name="Object 4"/>
                      <p:cNvPicPr>
                        <a:picLocks noChangeAspect="1" noChangeArrowheads="1"/>
                      </p:cNvPicPr>
                      <p:nvPr/>
                    </p:nvPicPr>
                    <p:blipFill>
                      <a:blip r:embed="rId9"/>
                      <a:srcRect/>
                      <a:stretch>
                        <a:fillRect/>
                      </a:stretch>
                    </p:blipFill>
                    <p:spPr bwMode="auto">
                      <a:xfrm>
                        <a:off x="1318076" y="5315694"/>
                        <a:ext cx="7214364" cy="102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2"/>
          <p:cNvGraphicFramePr>
            <a:graphicFrameLocks noChangeAspect="1"/>
          </p:cNvGraphicFramePr>
          <p:nvPr>
            <p:extLst>
              <p:ext uri="{D42A27DB-BD31-4B8C-83A1-F6EECF244321}">
                <p14:modId xmlns:p14="http://schemas.microsoft.com/office/powerpoint/2010/main" val="1240466754"/>
              </p:ext>
            </p:extLst>
          </p:nvPr>
        </p:nvGraphicFramePr>
        <p:xfrm>
          <a:off x="1389063" y="4687888"/>
          <a:ext cx="2717800" cy="527050"/>
        </p:xfrm>
        <a:graphic>
          <a:graphicData uri="http://schemas.openxmlformats.org/presentationml/2006/ole">
            <mc:AlternateContent xmlns:mc="http://schemas.openxmlformats.org/markup-compatibility/2006">
              <mc:Choice xmlns:v="urn:schemas-microsoft-com:vml" Requires="v">
                <p:oleObj name="Equation" r:id="rId10" imgW="1180800" imgH="228600" progId="Equation.DSMT4">
                  <p:embed/>
                </p:oleObj>
              </mc:Choice>
              <mc:Fallback>
                <p:oleObj name="Equation" r:id="rId10" imgW="1180800" imgH="228600" progId="Equation.DSMT4">
                  <p:embed/>
                  <p:pic>
                    <p:nvPicPr>
                      <p:cNvPr id="4" name="对象 2"/>
                      <p:cNvPicPr>
                        <a:picLocks noChangeAspect="1" noChangeArrowheads="1"/>
                      </p:cNvPicPr>
                      <p:nvPr/>
                    </p:nvPicPr>
                    <p:blipFill>
                      <a:blip r:embed="rId11"/>
                      <a:srcRect/>
                      <a:stretch>
                        <a:fillRect/>
                      </a:stretch>
                    </p:blipFill>
                    <p:spPr bwMode="auto">
                      <a:xfrm>
                        <a:off x="1389063" y="4687888"/>
                        <a:ext cx="271780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p:cNvSpPr>
            <a:spLocks noChangeArrowheads="1"/>
          </p:cNvSpPr>
          <p:nvPr/>
        </p:nvSpPr>
        <p:spPr bwMode="auto">
          <a:xfrm>
            <a:off x="755576" y="228600"/>
            <a:ext cx="66609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6.2.4  </a:t>
            </a:r>
            <a:r>
              <a:rPr lang="zh-CN" altLang="en-US" sz="3200" b="1" dirty="0">
                <a:solidFill>
                  <a:srgbClr val="993300"/>
                </a:solidFill>
                <a:ea typeface="楷体_GB2312" pitchFamily="49" charset="-122"/>
              </a:rPr>
              <a:t>量化噪声通过线性系统</a:t>
            </a:r>
          </a:p>
        </p:txBody>
      </p:sp>
    </p:spTree>
    <p:extLst>
      <p:ext uri="{BB962C8B-B14F-4D97-AF65-F5344CB8AC3E}">
        <p14:creationId xmlns:p14="http://schemas.microsoft.com/office/powerpoint/2010/main" val="160571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7848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a:solidFill>
                  <a:srgbClr val="993300"/>
                </a:solidFill>
                <a:ea typeface="楷体_GB2312" pitchFamily="49" charset="-122"/>
              </a:rPr>
              <a:t>6.3 </a:t>
            </a:r>
            <a:r>
              <a:rPr lang="zh-CN" altLang="en-US" sz="2800" b="1" dirty="0">
                <a:solidFill>
                  <a:srgbClr val="993300"/>
                </a:solidFill>
                <a:ea typeface="楷体_GB2312" pitchFamily="49" charset="-122"/>
              </a:rPr>
              <a:t>有限字长运算对数字信号处理系统的影响 </a:t>
            </a:r>
          </a:p>
        </p:txBody>
      </p:sp>
      <p:sp>
        <p:nvSpPr>
          <p:cNvPr id="8" name="Rectangle 3"/>
          <p:cNvSpPr>
            <a:spLocks noChangeArrowheads="1"/>
          </p:cNvSpPr>
          <p:nvPr/>
        </p:nvSpPr>
        <p:spPr bwMode="auto">
          <a:xfrm>
            <a:off x="179512" y="1124744"/>
            <a:ext cx="8640960" cy="27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914400" indent="-45720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marL="0" lvl="1" indent="720000" algn="just" eaLnBrk="1" hangingPunct="1">
              <a:lnSpc>
                <a:spcPct val="125000"/>
              </a:lnSpc>
              <a:spcBef>
                <a:spcPct val="0"/>
              </a:spcBef>
              <a:spcAft>
                <a:spcPts val="0"/>
              </a:spcAft>
              <a:buFontTx/>
              <a:buNone/>
            </a:pPr>
            <a:r>
              <a:rPr lang="zh-CN" altLang="en-US" sz="2800" dirty="0">
                <a:solidFill>
                  <a:srgbClr val="000000"/>
                </a:solidFill>
                <a:latin typeface="Times New Roman" panose="02020603050405020304" pitchFamily="18" charset="0"/>
                <a:ea typeface="宋体" panose="02010600030101010101" pitchFamily="2" charset="-122"/>
              </a:rPr>
              <a:t>数字信号处理系统的实现，涉及</a:t>
            </a:r>
            <a:r>
              <a:rPr lang="zh-CN" altLang="en-US" sz="2800" dirty="0">
                <a:solidFill>
                  <a:srgbClr val="0000CC"/>
                </a:solidFill>
                <a:latin typeface="Times New Roman" panose="02020603050405020304" pitchFamily="18" charset="0"/>
                <a:ea typeface="宋体" panose="02010600030101010101" pitchFamily="2" charset="-122"/>
              </a:rPr>
              <a:t>相乘、求和运算</a:t>
            </a:r>
            <a:r>
              <a:rPr lang="zh-CN" altLang="en-US" sz="2800" dirty="0">
                <a:latin typeface="Times New Roman" panose="02020603050405020304" pitchFamily="18" charset="0"/>
                <a:ea typeface="宋体" panose="02010600030101010101" pitchFamily="2" charset="-122"/>
              </a:rPr>
              <a:t>。</a:t>
            </a:r>
          </a:p>
          <a:p>
            <a:pPr marL="0" indent="720000" algn="just">
              <a:lnSpc>
                <a:spcPct val="125000"/>
              </a:lnSpc>
              <a:spcBef>
                <a:spcPct val="0"/>
              </a:spcBef>
              <a:spcAft>
                <a:spcPts val="0"/>
              </a:spcAft>
              <a:buFontTx/>
              <a:buNone/>
            </a:pPr>
            <a:r>
              <a:rPr lang="zh-CN" altLang="en-US" sz="2800" dirty="0">
                <a:solidFill>
                  <a:srgbClr val="FF0000"/>
                </a:solidFill>
                <a:latin typeface="Times New Roman" panose="02020603050405020304" pitchFamily="18" charset="0"/>
                <a:ea typeface="宋体" panose="02010600030101010101" pitchFamily="2" charset="-122"/>
              </a:rPr>
              <a:t>定点制</a:t>
            </a:r>
            <a:r>
              <a:rPr lang="zh-CN" altLang="en-US" sz="2800" dirty="0">
                <a:solidFill>
                  <a:srgbClr val="000000"/>
                </a:solidFill>
                <a:latin typeface="Times New Roman" panose="02020603050405020304" pitchFamily="18" charset="0"/>
                <a:ea typeface="宋体" panose="02010600030101010101" pitchFamily="2" charset="-122"/>
              </a:rPr>
              <a:t>运算中，</a:t>
            </a:r>
            <a:r>
              <a:rPr lang="zh-CN" altLang="en-US" sz="2800" dirty="0">
                <a:solidFill>
                  <a:srgbClr val="FF0000"/>
                </a:solidFill>
                <a:latin typeface="Times New Roman" panose="02020603050405020304" pitchFamily="18" charset="0"/>
                <a:ea typeface="宋体" panose="02010600030101010101" pitchFamily="2" charset="-122"/>
              </a:rPr>
              <a:t>每一次乘法运算之后</a:t>
            </a:r>
            <a:r>
              <a:rPr lang="zh-CN" altLang="en-US" sz="2800" dirty="0">
                <a:solidFill>
                  <a:srgbClr val="000000"/>
                </a:solidFill>
                <a:latin typeface="Times New Roman" panose="02020603050405020304" pitchFamily="18" charset="0"/>
                <a:ea typeface="宋体" panose="02010600030101010101" pitchFamily="2" charset="-122"/>
              </a:rPr>
              <a:t>都要作一次</a:t>
            </a:r>
            <a:r>
              <a:rPr lang="zh-CN" altLang="en-US" sz="2800" dirty="0">
                <a:solidFill>
                  <a:srgbClr val="FF0000"/>
                </a:solidFill>
                <a:latin typeface="Times New Roman" panose="02020603050405020304" pitchFamily="18" charset="0"/>
                <a:ea typeface="宋体" panose="02010600030101010101" pitchFamily="2" charset="-122"/>
              </a:rPr>
              <a:t>舍入</a:t>
            </a:r>
            <a:r>
              <a:rPr lang="zh-CN" altLang="en-US" sz="2800" dirty="0">
                <a:solidFill>
                  <a:srgbClr val="000000"/>
                </a:solidFill>
                <a:latin typeface="Times New Roman" panose="02020603050405020304" pitchFamily="18" charset="0"/>
                <a:ea typeface="宋体" panose="02010600030101010101" pitchFamily="2" charset="-122"/>
              </a:rPr>
              <a:t>（截尾）</a:t>
            </a:r>
            <a:r>
              <a:rPr lang="zh-CN" altLang="en-US" sz="2800" dirty="0">
                <a:solidFill>
                  <a:srgbClr val="FF0000"/>
                </a:solidFill>
                <a:latin typeface="Times New Roman" panose="02020603050405020304" pitchFamily="18" charset="0"/>
                <a:ea typeface="宋体" panose="02010600030101010101" pitchFamily="2" charset="-122"/>
              </a:rPr>
              <a:t>处理</a:t>
            </a:r>
            <a:r>
              <a:rPr lang="zh-CN" altLang="en-US" sz="2800" dirty="0">
                <a:solidFill>
                  <a:srgbClr val="000000"/>
                </a:solidFill>
                <a:latin typeface="Times New Roman" panose="02020603050405020304" pitchFamily="18" charset="0"/>
                <a:ea typeface="宋体" panose="02010600030101010101" pitchFamily="2" charset="-122"/>
              </a:rPr>
              <a:t>，引入了</a:t>
            </a:r>
            <a:r>
              <a:rPr lang="zh-CN" altLang="en-US" sz="2800" dirty="0">
                <a:latin typeface="Times New Roman" panose="02020603050405020304" pitchFamily="18" charset="0"/>
                <a:ea typeface="宋体" panose="02010600030101010101" pitchFamily="2" charset="-122"/>
              </a:rPr>
              <a:t>误差。</a:t>
            </a:r>
            <a:endParaRPr lang="en-US" altLang="zh-CN" sz="2800" dirty="0">
              <a:latin typeface="Times New Roman" panose="02020603050405020304" pitchFamily="18" charset="0"/>
              <a:ea typeface="宋体" panose="02010600030101010101" pitchFamily="2" charset="-122"/>
            </a:endParaRPr>
          </a:p>
          <a:p>
            <a:pPr marL="0" indent="720000" algn="just">
              <a:lnSpc>
                <a:spcPct val="125000"/>
              </a:lnSpc>
              <a:spcBef>
                <a:spcPct val="0"/>
              </a:spcBef>
              <a:spcAft>
                <a:spcPts val="0"/>
              </a:spcAft>
              <a:buFontTx/>
              <a:buNone/>
            </a:pPr>
            <a:r>
              <a:rPr lang="zh-CN" altLang="en-US" sz="2800" dirty="0">
                <a:solidFill>
                  <a:srgbClr val="000000"/>
                </a:solidFill>
                <a:latin typeface="Times New Roman" panose="02020603050405020304" pitchFamily="18" charset="0"/>
                <a:ea typeface="宋体" panose="02010600030101010101" pitchFamily="2" charset="-122"/>
              </a:rPr>
              <a:t>采用统计分析方法时，可以</a:t>
            </a:r>
            <a:r>
              <a:rPr lang="zh-CN" altLang="en-US" sz="2800" dirty="0">
                <a:solidFill>
                  <a:srgbClr val="FF0000"/>
                </a:solidFill>
                <a:latin typeface="Times New Roman" panose="02020603050405020304" pitchFamily="18" charset="0"/>
                <a:ea typeface="宋体" panose="02010600030101010101" pitchFamily="2" charset="-122"/>
              </a:rPr>
              <a:t>将舍入误差作为独立噪声</a:t>
            </a:r>
            <a:r>
              <a:rPr lang="en-US" altLang="zh-CN" sz="2800" i="1" dirty="0">
                <a:solidFill>
                  <a:srgbClr val="FF0000"/>
                </a:solidFill>
                <a:latin typeface="Times New Roman" panose="02020603050405020304" pitchFamily="18" charset="0"/>
                <a:ea typeface="宋体" panose="02010600030101010101" pitchFamily="2" charset="-122"/>
              </a:rPr>
              <a:t>e</a:t>
            </a:r>
            <a:r>
              <a:rPr lang="en-US" altLang="zh-CN" sz="2800" dirty="0">
                <a:solidFill>
                  <a:srgbClr val="FF0000"/>
                </a:solidFill>
                <a:latin typeface="Times New Roman" panose="02020603050405020304" pitchFamily="18" charset="0"/>
                <a:ea typeface="宋体" panose="02010600030101010101" pitchFamily="2" charset="-122"/>
              </a:rPr>
              <a:t>(</a:t>
            </a:r>
            <a:r>
              <a:rPr lang="en-US" altLang="zh-CN" sz="2800" i="1" dirty="0">
                <a:solidFill>
                  <a:srgbClr val="FF0000"/>
                </a:solidFill>
                <a:latin typeface="Times New Roman" panose="02020603050405020304" pitchFamily="18" charset="0"/>
                <a:ea typeface="宋体" panose="02010600030101010101" pitchFamily="2" charset="-122"/>
              </a:rPr>
              <a:t>n</a:t>
            </a:r>
            <a:r>
              <a:rPr lang="en-US" altLang="zh-CN" sz="2800" dirty="0">
                <a:solidFill>
                  <a:srgbClr val="FF0000"/>
                </a:solidFill>
                <a:latin typeface="Times New Roman" panose="02020603050405020304" pitchFamily="18" charset="0"/>
                <a:ea typeface="宋体" panose="02010600030101010101" pitchFamily="2" charset="-122"/>
              </a:rPr>
              <a:t>)</a:t>
            </a:r>
            <a:r>
              <a:rPr lang="zh-CN" altLang="en-US" sz="2800" dirty="0">
                <a:solidFill>
                  <a:srgbClr val="FF0000"/>
                </a:solidFill>
                <a:latin typeface="Times New Roman" panose="02020603050405020304" pitchFamily="18" charset="0"/>
                <a:ea typeface="宋体" panose="02010600030101010101" pitchFamily="2" charset="-122"/>
              </a:rPr>
              <a:t>叠加在信号上</a:t>
            </a:r>
            <a:r>
              <a:rPr lang="zh-CN" altLang="en-US" sz="2800" dirty="0">
                <a:solidFill>
                  <a:srgbClr val="000000"/>
                </a:solidFill>
                <a:latin typeface="Times New Roman" panose="02020603050405020304" pitchFamily="18" charset="0"/>
                <a:ea typeface="宋体" panose="02010600030101010101" pitchFamily="2" charset="-122"/>
              </a:rPr>
              <a:t>，如图</a:t>
            </a:r>
            <a:r>
              <a:rPr lang="en-US" altLang="zh-CN" sz="2800" dirty="0">
                <a:solidFill>
                  <a:srgbClr val="000000"/>
                </a:solidFill>
                <a:latin typeface="Times New Roman" panose="02020603050405020304" pitchFamily="18" charset="0"/>
                <a:ea typeface="宋体" panose="02010600030101010101" pitchFamily="2" charset="-122"/>
              </a:rPr>
              <a:t>6.27(c)</a:t>
            </a:r>
            <a:r>
              <a:rPr lang="zh-CN" altLang="en-US" sz="2800" dirty="0">
                <a:solidFill>
                  <a:srgbClr val="000000"/>
                </a:solidFill>
                <a:latin typeface="Times New Roman" panose="02020603050405020304" pitchFamily="18" charset="0"/>
                <a:ea typeface="宋体" panose="02010600030101010101" pitchFamily="2" charset="-122"/>
              </a:rPr>
              <a:t>所示。</a:t>
            </a:r>
          </a:p>
        </p:txBody>
      </p:sp>
      <p:sp>
        <p:nvSpPr>
          <p:cNvPr id="9" name="Rectangle 3"/>
          <p:cNvSpPr>
            <a:spLocks noChangeArrowheads="1"/>
          </p:cNvSpPr>
          <p:nvPr/>
        </p:nvSpPr>
        <p:spPr bwMode="auto">
          <a:xfrm>
            <a:off x="1506638" y="5786100"/>
            <a:ext cx="676339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dirty="0">
                <a:solidFill>
                  <a:srgbClr val="000000"/>
                </a:solidFill>
              </a:rPr>
              <a:t>图</a:t>
            </a:r>
            <a:r>
              <a:rPr lang="en-US" altLang="zh-CN" sz="2800" b="1" dirty="0">
                <a:solidFill>
                  <a:srgbClr val="000000"/>
                </a:solidFill>
              </a:rPr>
              <a:t>6.27  </a:t>
            </a:r>
            <a:r>
              <a:rPr lang="zh-CN" altLang="en-US" sz="2800" b="1" dirty="0">
                <a:solidFill>
                  <a:srgbClr val="000000"/>
                </a:solidFill>
              </a:rPr>
              <a:t>定点相乘运算统计分析的流图表示</a:t>
            </a:r>
          </a:p>
        </p:txBody>
      </p:sp>
      <p:pic>
        <p:nvPicPr>
          <p:cNvPr id="10"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4318842"/>
            <a:ext cx="7519988"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24768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ChangeArrowheads="1"/>
          </p:cNvSpPr>
          <p:nvPr/>
        </p:nvSpPr>
        <p:spPr bwMode="auto">
          <a:xfrm>
            <a:off x="323528" y="924887"/>
            <a:ext cx="845820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a:lnSpc>
                <a:spcPct val="120000"/>
              </a:lnSpc>
              <a:spcBef>
                <a:spcPct val="0"/>
              </a:spcBef>
              <a:spcAft>
                <a:spcPct val="50000"/>
              </a:spcAft>
              <a:buFontTx/>
              <a:buNone/>
            </a:pPr>
            <a:r>
              <a:rPr lang="en-US" altLang="zh-CN" sz="2800" b="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000000"/>
                </a:solidFill>
                <a:latin typeface="Times New Roman" panose="02020603050405020304" pitchFamily="18" charset="0"/>
                <a:ea typeface="宋体" panose="02010600030101010101" pitchFamily="2" charset="-122"/>
              </a:rPr>
              <a:t>对舍入噪声</a:t>
            </a:r>
            <a:r>
              <a:rPr lang="en-US" altLang="zh-CN" sz="2800" i="1" dirty="0">
                <a:solidFill>
                  <a:srgbClr val="000000"/>
                </a:solidFill>
                <a:latin typeface="Times New Roman" panose="02020603050405020304" pitchFamily="18" charset="0"/>
                <a:ea typeface="宋体" panose="02010600030101010101" pitchFamily="2" charset="-122"/>
              </a:rPr>
              <a:t>e</a:t>
            </a:r>
            <a:r>
              <a:rPr lang="en-US" altLang="zh-CN" sz="2800" dirty="0">
                <a:solidFill>
                  <a:srgbClr val="000000"/>
                </a:solidFill>
                <a:latin typeface="Times New Roman" panose="02020603050405020304" pitchFamily="18" charset="0"/>
                <a:ea typeface="宋体" panose="02010600030101010101" pitchFamily="2" charset="-122"/>
              </a:rPr>
              <a:t>(</a:t>
            </a:r>
            <a:r>
              <a:rPr lang="en-US" altLang="zh-CN" sz="2800" i="1" dirty="0">
                <a:solidFill>
                  <a:srgbClr val="000000"/>
                </a:solidFill>
                <a:latin typeface="Times New Roman" panose="02020603050405020304" pitchFamily="18" charset="0"/>
                <a:ea typeface="宋体" panose="02010600030101010101" pitchFamily="2" charset="-122"/>
              </a:rPr>
              <a:t>n</a:t>
            </a:r>
            <a:r>
              <a:rPr lang="en-US" altLang="zh-CN" sz="2800" dirty="0">
                <a:solidFill>
                  <a:srgbClr val="000000"/>
                </a:solidFill>
                <a:latin typeface="Times New Roman" panose="02020603050405020304" pitchFamily="18" charset="0"/>
                <a:ea typeface="宋体" panose="02010600030101010101" pitchFamily="2" charset="-122"/>
              </a:rPr>
              <a:t>)</a:t>
            </a:r>
            <a:r>
              <a:rPr lang="zh-CN" altLang="en-US" sz="2800" dirty="0">
                <a:solidFill>
                  <a:srgbClr val="000000"/>
                </a:solidFill>
                <a:latin typeface="Times New Roman" panose="02020603050405020304" pitchFamily="18" charset="0"/>
                <a:ea typeface="宋体" panose="02010600030101010101" pitchFamily="2" charset="-122"/>
              </a:rPr>
              <a:t>作如下的假设：</a:t>
            </a:r>
            <a:endParaRPr lang="zh-CN" altLang="en-US" sz="2800" b="0" dirty="0">
              <a:solidFill>
                <a:srgbClr val="000000"/>
              </a:solidFill>
              <a:latin typeface="Times New Roman" panose="02020603050405020304" pitchFamily="18" charset="0"/>
              <a:ea typeface="宋体" panose="02010600030101010101" pitchFamily="2" charset="-122"/>
            </a:endParaRPr>
          </a:p>
        </p:txBody>
      </p:sp>
      <p:graphicFrame>
        <p:nvGraphicFramePr>
          <p:cNvPr id="11" name="Object 5"/>
          <p:cNvGraphicFramePr>
            <a:graphicFrameLocks noChangeAspect="1"/>
          </p:cNvGraphicFramePr>
          <p:nvPr>
            <p:extLst>
              <p:ext uri="{D42A27DB-BD31-4B8C-83A1-F6EECF244321}">
                <p14:modId xmlns:p14="http://schemas.microsoft.com/office/powerpoint/2010/main" val="2545520793"/>
              </p:ext>
            </p:extLst>
          </p:nvPr>
        </p:nvGraphicFramePr>
        <p:xfrm>
          <a:off x="6622236" y="5481291"/>
          <a:ext cx="1694180" cy="554990"/>
        </p:xfrm>
        <a:graphic>
          <a:graphicData uri="http://schemas.openxmlformats.org/presentationml/2006/ole">
            <mc:AlternateContent xmlns:mc="http://schemas.openxmlformats.org/markup-compatibility/2006">
              <mc:Choice xmlns:v="urn:schemas-microsoft-com:vml" Requires="v">
                <p:oleObj name="Equation" r:id="rId2" imgW="736600" imgH="241300" progId="Equation.DSMT4">
                  <p:embed/>
                </p:oleObj>
              </mc:Choice>
              <mc:Fallback>
                <p:oleObj name="Equation" r:id="rId2" imgW="736600" imgH="241300" progId="Equation.DSMT4">
                  <p:embed/>
                  <p:pic>
                    <p:nvPicPr>
                      <p:cNvPr id="11571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2236" y="5481291"/>
                        <a:ext cx="1694180" cy="5549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323527" y="5445224"/>
            <a:ext cx="7571847" cy="543739"/>
          </a:xfrm>
          <a:prstGeom prst="rect">
            <a:avLst/>
          </a:prstGeom>
        </p:spPr>
        <p:txBody>
          <a:bodyPr wrap="square">
            <a:spAutoFit/>
          </a:bodyPr>
          <a:lstStyle/>
          <a:p>
            <a:pPr marL="0" lvl="1" eaLnBrk="1" hangingPunct="1">
              <a:lnSpc>
                <a:spcPct val="115000"/>
              </a:lnSpc>
              <a:spcBef>
                <a:spcPct val="30000"/>
              </a:spcBef>
            </a:pPr>
            <a:r>
              <a:rPr lang="zh-CN" altLang="en-US" sz="2800" b="1" dirty="0">
                <a:solidFill>
                  <a:srgbClr val="000000"/>
                </a:solidFill>
                <a:latin typeface="Times New Roman" panose="02020603050405020304" pitchFamily="18" charset="0"/>
              </a:rPr>
              <a:t>舍入量化处理，</a:t>
            </a:r>
            <a:r>
              <a:rPr lang="en-US" altLang="zh-CN" sz="2800" b="1" i="1" dirty="0">
                <a:solidFill>
                  <a:srgbClr val="000000"/>
                </a:solidFill>
                <a:latin typeface="Times New Roman" panose="02020603050405020304" pitchFamily="18" charset="0"/>
              </a:rPr>
              <a:t>e</a:t>
            </a:r>
            <a:r>
              <a:rPr lang="en-US" altLang="zh-CN" sz="2800" b="1" dirty="0">
                <a:solidFill>
                  <a:srgbClr val="000000"/>
                </a:solidFill>
                <a:latin typeface="Times New Roman" panose="02020603050405020304" pitchFamily="18" charset="0"/>
              </a:rPr>
              <a:t>(</a:t>
            </a:r>
            <a:r>
              <a:rPr lang="en-US" altLang="zh-CN" sz="2800" b="1" i="1" dirty="0">
                <a:solidFill>
                  <a:srgbClr val="000000"/>
                </a:solidFill>
                <a:latin typeface="Times New Roman" panose="02020603050405020304" pitchFamily="18" charset="0"/>
              </a:rPr>
              <a:t>n</a:t>
            </a:r>
            <a:r>
              <a:rPr lang="en-US" altLang="zh-CN" sz="2800" b="1" dirty="0">
                <a:solidFill>
                  <a:srgbClr val="000000"/>
                </a:solidFill>
                <a:latin typeface="Times New Roman" panose="02020603050405020304" pitchFamily="18" charset="0"/>
              </a:rPr>
              <a:t>)</a:t>
            </a:r>
            <a:r>
              <a:rPr lang="zh-CN" altLang="en-US" sz="2800" b="1" dirty="0">
                <a:solidFill>
                  <a:srgbClr val="000000"/>
                </a:solidFill>
                <a:latin typeface="Times New Roman" panose="02020603050405020304" pitchFamily="18" charset="0"/>
              </a:rPr>
              <a:t>的均值为</a:t>
            </a:r>
            <a:r>
              <a:rPr lang="en-US" altLang="zh-CN" sz="2800" b="1" dirty="0">
                <a:solidFill>
                  <a:srgbClr val="000000"/>
                </a:solidFill>
                <a:latin typeface="Times New Roman" panose="02020603050405020304" pitchFamily="18" charset="0"/>
              </a:rPr>
              <a:t>0</a:t>
            </a:r>
            <a:r>
              <a:rPr lang="zh-CN" altLang="en-US" sz="2800" b="1" dirty="0">
                <a:solidFill>
                  <a:srgbClr val="000000"/>
                </a:solidFill>
                <a:latin typeface="Times New Roman" panose="02020603050405020304" pitchFamily="18" charset="0"/>
              </a:rPr>
              <a:t>，方差为</a:t>
            </a:r>
          </a:p>
        </p:txBody>
      </p:sp>
      <p:sp>
        <p:nvSpPr>
          <p:cNvPr id="12" name="Rectangle 4"/>
          <p:cNvSpPr>
            <a:spLocks noChangeArrowheads="1"/>
          </p:cNvSpPr>
          <p:nvPr/>
        </p:nvSpPr>
        <p:spPr bwMode="auto">
          <a:xfrm>
            <a:off x="323528" y="1580608"/>
            <a:ext cx="8640960" cy="177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12700" algn="l">
              <a:tabLst>
                <a:tab pos="44577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4577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4577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4577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4577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457700" algn="l"/>
              </a:tabLs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14000"/>
              </a:lnSpc>
              <a:spcAft>
                <a:spcPts val="0"/>
              </a:spcAft>
            </a:pPr>
            <a:r>
              <a:rPr lang="zh-CN" altLang="en-US" b="1" dirty="0">
                <a:solidFill>
                  <a:srgbClr val="000000"/>
                </a:solidFill>
              </a:rPr>
              <a:t>①所有这些噪声都是平稳随机序列；</a:t>
            </a:r>
          </a:p>
          <a:p>
            <a:pPr algn="just">
              <a:lnSpc>
                <a:spcPct val="114000"/>
              </a:lnSpc>
              <a:spcAft>
                <a:spcPts val="0"/>
              </a:spcAft>
            </a:pPr>
            <a:r>
              <a:rPr lang="zh-CN" altLang="en-US" b="1" dirty="0">
                <a:solidFill>
                  <a:srgbClr val="000000"/>
                </a:solidFill>
              </a:rPr>
              <a:t>②所有噪声都与信号</a:t>
            </a:r>
            <a:r>
              <a:rPr lang="en-US" altLang="zh-CN" b="1" i="1" dirty="0">
                <a:solidFill>
                  <a:srgbClr val="000000"/>
                </a:solidFill>
              </a:rPr>
              <a:t>x</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srgbClr val="000000"/>
                </a:solidFill>
              </a:rPr>
              <a:t>不相关，且各噪声之间也互不相关；</a:t>
            </a:r>
          </a:p>
          <a:p>
            <a:pPr algn="just">
              <a:lnSpc>
                <a:spcPct val="114000"/>
              </a:lnSpc>
              <a:spcAft>
                <a:spcPts val="0"/>
              </a:spcAft>
            </a:pPr>
            <a:r>
              <a:rPr lang="zh-CN" altLang="en-US" b="1" dirty="0">
                <a:solidFill>
                  <a:srgbClr val="000000"/>
                </a:solidFill>
              </a:rPr>
              <a:t>③噪声是白噪声；</a:t>
            </a:r>
          </a:p>
          <a:p>
            <a:pPr algn="just">
              <a:lnSpc>
                <a:spcPct val="114000"/>
              </a:lnSpc>
              <a:spcAft>
                <a:spcPts val="0"/>
              </a:spcAft>
            </a:pPr>
            <a:r>
              <a:rPr lang="zh-CN" altLang="en-US" b="1" dirty="0">
                <a:solidFill>
                  <a:srgbClr val="000000"/>
                </a:solidFill>
              </a:rPr>
              <a:t>④噪声序列在量化间隔上均匀分布。</a:t>
            </a:r>
          </a:p>
        </p:txBody>
      </p:sp>
      <p:sp>
        <p:nvSpPr>
          <p:cNvPr id="4" name="矩形 3"/>
          <p:cNvSpPr/>
          <p:nvPr/>
        </p:nvSpPr>
        <p:spPr>
          <a:xfrm>
            <a:off x="323527" y="3505778"/>
            <a:ext cx="8264190" cy="1651414"/>
          </a:xfrm>
          <a:prstGeom prst="rect">
            <a:avLst/>
          </a:prstGeom>
        </p:spPr>
        <p:txBody>
          <a:bodyPr wrap="square">
            <a:spAutoFit/>
          </a:bodyPr>
          <a:lstStyle/>
          <a:p>
            <a:pPr algn="just" eaLnBrk="1" hangingPunct="1">
              <a:lnSpc>
                <a:spcPct val="125000"/>
              </a:lnSpc>
            </a:pPr>
            <a:r>
              <a:rPr lang="zh-CN" altLang="en-US" sz="2800" b="1" dirty="0">
                <a:solidFill>
                  <a:srgbClr val="000000"/>
                </a:solidFill>
                <a:latin typeface="Times New Roman" panose="02020603050405020304" pitchFamily="18" charset="0"/>
                <a:cs typeface="Times New Roman" panose="02020603050405020304" pitchFamily="18" charset="0"/>
              </a:rPr>
              <a:t>有了这些条件，整个系统就可作为线性系统处理。每一个噪声可用</a:t>
            </a:r>
            <a:r>
              <a:rPr lang="en-US" altLang="zh-CN" sz="2800" b="1" dirty="0">
                <a:solidFill>
                  <a:srgbClr val="000000"/>
                </a:solidFill>
                <a:latin typeface="Times New Roman" panose="02020603050405020304" pitchFamily="18" charset="0"/>
                <a:cs typeface="Times New Roman" panose="02020603050405020304" pitchFamily="18" charset="0"/>
              </a:rPr>
              <a:t>6.2.4</a:t>
            </a:r>
            <a:r>
              <a:rPr lang="zh-CN" altLang="en-US" sz="2800" b="1" dirty="0">
                <a:solidFill>
                  <a:srgbClr val="000000"/>
                </a:solidFill>
                <a:latin typeface="Times New Roman" panose="02020603050405020304" pitchFamily="18" charset="0"/>
                <a:cs typeface="Times New Roman" panose="02020603050405020304" pitchFamily="18" charset="0"/>
              </a:rPr>
              <a:t>节介绍的内容求出其输出噪声，所有输出噪声经线性叠加得到总的噪声输出。</a:t>
            </a:r>
            <a:endParaRPr lang="zh-CN" altLang="en-US" sz="2800" b="1" dirty="0">
              <a:latin typeface="Times New Roman" panose="02020603050405020304" pitchFamily="18" charset="0"/>
              <a:cs typeface="Times New Roman" panose="02020603050405020304" pitchFamily="18" charset="0"/>
            </a:endParaRPr>
          </a:p>
        </p:txBody>
      </p:sp>
      <p:sp>
        <p:nvSpPr>
          <p:cNvPr id="9" name="Rectangle 3"/>
          <p:cNvSpPr>
            <a:spLocks noChangeArrowheads="1"/>
          </p:cNvSpPr>
          <p:nvPr/>
        </p:nvSpPr>
        <p:spPr bwMode="auto">
          <a:xfrm>
            <a:off x="755576" y="228600"/>
            <a:ext cx="7848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a:solidFill>
                  <a:srgbClr val="993300"/>
                </a:solidFill>
                <a:ea typeface="楷体_GB2312" pitchFamily="49" charset="-122"/>
              </a:rPr>
              <a:t>6.3 </a:t>
            </a:r>
            <a:r>
              <a:rPr lang="zh-CN" altLang="en-US" sz="2800" b="1" dirty="0">
                <a:solidFill>
                  <a:srgbClr val="993300"/>
                </a:solidFill>
                <a:ea typeface="楷体_GB2312" pitchFamily="49" charset="-122"/>
              </a:rPr>
              <a:t>有限字长运算对数字信号处理系统的影响 </a:t>
            </a:r>
          </a:p>
        </p:txBody>
      </p:sp>
    </p:spTree>
    <p:extLst>
      <p:ext uri="{BB962C8B-B14F-4D97-AF65-F5344CB8AC3E}">
        <p14:creationId xmlns:p14="http://schemas.microsoft.com/office/powerpoint/2010/main" val="255012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
        <p:nvSpPr>
          <p:cNvPr id="7" name="Rectangle 3"/>
          <p:cNvSpPr>
            <a:spLocks noChangeArrowheads="1"/>
          </p:cNvSpPr>
          <p:nvPr/>
        </p:nvSpPr>
        <p:spPr bwMode="auto">
          <a:xfrm>
            <a:off x="395536" y="1020306"/>
            <a:ext cx="85344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spcAft>
                <a:spcPct val="50000"/>
              </a:spcAft>
              <a:buFontTx/>
              <a:buNone/>
            </a:pPr>
            <a:r>
              <a:rPr lang="en-US" altLang="zh-CN" sz="2800" dirty="0">
                <a:latin typeface="+mj-lt"/>
                <a:ea typeface="宋体" panose="02010600030101010101" pitchFamily="2" charset="-122"/>
              </a:rPr>
              <a:t>    </a:t>
            </a:r>
            <a:r>
              <a:rPr lang="zh-CN" altLang="en-US" sz="2800" dirty="0">
                <a:latin typeface="+mj-lt"/>
                <a:ea typeface="宋体" panose="02010600030101010101" pitchFamily="2" charset="-122"/>
              </a:rPr>
              <a:t>以一阶</a:t>
            </a:r>
            <a:r>
              <a:rPr lang="en-US" altLang="zh-CN" sz="2800" dirty="0">
                <a:latin typeface="+mj-lt"/>
                <a:ea typeface="宋体" panose="02010600030101010101" pitchFamily="2" charset="-122"/>
              </a:rPr>
              <a:t>IIR</a:t>
            </a:r>
            <a:r>
              <a:rPr lang="zh-CN" altLang="en-US" sz="2800" dirty="0">
                <a:latin typeface="+mj-lt"/>
                <a:ea typeface="宋体" panose="02010600030101010101" pitchFamily="2" charset="-122"/>
              </a:rPr>
              <a:t>滤波器为例：</a:t>
            </a:r>
          </a:p>
          <a:p>
            <a:pPr algn="just">
              <a:spcBef>
                <a:spcPct val="0"/>
              </a:spcBef>
              <a:buFontTx/>
              <a:buNone/>
            </a:pPr>
            <a:endParaRPr lang="zh-CN" altLang="en-US" sz="2800" dirty="0">
              <a:latin typeface="+mj-lt"/>
              <a:ea typeface="宋体" panose="02010600030101010101" pitchFamily="2" charset="-122"/>
            </a:endParaRPr>
          </a:p>
          <a:p>
            <a:pPr algn="just">
              <a:spcBef>
                <a:spcPct val="0"/>
              </a:spcBef>
              <a:buFontTx/>
              <a:buNone/>
            </a:pPr>
            <a:endParaRPr lang="zh-CN" altLang="en-US" sz="2800" dirty="0">
              <a:latin typeface="+mj-lt"/>
              <a:ea typeface="宋体" panose="02010600030101010101" pitchFamily="2" charset="-122"/>
            </a:endParaRPr>
          </a:p>
        </p:txBody>
      </p:sp>
      <p:graphicFrame>
        <p:nvGraphicFramePr>
          <p:cNvPr id="8" name="Object 4"/>
          <p:cNvGraphicFramePr>
            <a:graphicFrameLocks noChangeAspect="1"/>
          </p:cNvGraphicFramePr>
          <p:nvPr>
            <p:extLst>
              <p:ext uri="{D42A27DB-BD31-4B8C-83A1-F6EECF244321}">
                <p14:modId xmlns:p14="http://schemas.microsoft.com/office/powerpoint/2010/main" val="344610872"/>
              </p:ext>
            </p:extLst>
          </p:nvPr>
        </p:nvGraphicFramePr>
        <p:xfrm>
          <a:off x="2574925" y="1689100"/>
          <a:ext cx="3625850" cy="488950"/>
        </p:xfrm>
        <a:graphic>
          <a:graphicData uri="http://schemas.openxmlformats.org/presentationml/2006/ole">
            <mc:AlternateContent xmlns:mc="http://schemas.openxmlformats.org/markup-compatibility/2006">
              <mc:Choice xmlns:v="urn:schemas-microsoft-com:vml" Requires="v">
                <p:oleObj name="Equation" r:id="rId2" imgW="1511280" imgH="203040" progId="Equation.DSMT4">
                  <p:embed/>
                </p:oleObj>
              </mc:Choice>
              <mc:Fallback>
                <p:oleObj name="Equation" r:id="rId2" imgW="1511280" imgH="203040" progId="Equation.DSMT4">
                  <p:embed/>
                  <p:pic>
                    <p:nvPicPr>
                      <p:cNvPr id="121860" name="Object 4"/>
                      <p:cNvPicPr>
                        <a:picLocks noChangeAspect="1" noChangeArrowheads="1"/>
                      </p:cNvPicPr>
                      <p:nvPr/>
                    </p:nvPicPr>
                    <p:blipFill>
                      <a:blip r:embed="rId3"/>
                      <a:srcRect/>
                      <a:stretch>
                        <a:fillRect/>
                      </a:stretch>
                    </p:blipFill>
                    <p:spPr bwMode="auto">
                      <a:xfrm>
                        <a:off x="2574925" y="1689100"/>
                        <a:ext cx="36258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3026091968"/>
              </p:ext>
            </p:extLst>
          </p:nvPr>
        </p:nvGraphicFramePr>
        <p:xfrm>
          <a:off x="6372200" y="1625611"/>
          <a:ext cx="2085975" cy="615950"/>
        </p:xfrm>
        <a:graphic>
          <a:graphicData uri="http://schemas.openxmlformats.org/presentationml/2006/ole">
            <mc:AlternateContent xmlns:mc="http://schemas.openxmlformats.org/markup-compatibility/2006">
              <mc:Choice xmlns:v="urn:schemas-microsoft-com:vml" Requires="v">
                <p:oleObj name="Equation" r:id="rId4" imgW="761669" imgH="241195" progId="Equation.DSMT4">
                  <p:embed/>
                </p:oleObj>
              </mc:Choice>
              <mc:Fallback>
                <p:oleObj name="Equation" r:id="rId4" imgW="761669" imgH="241195" progId="Equation.DSMT4">
                  <p:embed/>
                  <p:pic>
                    <p:nvPicPr>
                      <p:cNvPr id="12186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2200" y="1625611"/>
                        <a:ext cx="20859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p:cNvSpPr>
            <a:spLocks noChangeArrowheads="1"/>
          </p:cNvSpPr>
          <p:nvPr/>
        </p:nvSpPr>
        <p:spPr bwMode="auto">
          <a:xfrm>
            <a:off x="1809031" y="4960704"/>
            <a:ext cx="55162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00"/>
                </a:solidFill>
              </a:rPr>
              <a:t>图</a:t>
            </a:r>
            <a:r>
              <a:rPr lang="en-US" altLang="zh-CN" b="1" dirty="0">
                <a:solidFill>
                  <a:srgbClr val="000000"/>
                </a:solidFill>
              </a:rPr>
              <a:t>6.28    </a:t>
            </a:r>
            <a:r>
              <a:rPr lang="zh-CN" altLang="en-US" b="1" dirty="0">
                <a:solidFill>
                  <a:srgbClr val="000000"/>
                </a:solidFill>
              </a:rPr>
              <a:t>一阶</a:t>
            </a:r>
            <a:r>
              <a:rPr lang="en-US" altLang="zh-CN" b="1" dirty="0">
                <a:solidFill>
                  <a:srgbClr val="000000"/>
                </a:solidFill>
              </a:rPr>
              <a:t>IIR</a:t>
            </a:r>
            <a:r>
              <a:rPr lang="zh-CN" altLang="en-US" b="1" dirty="0">
                <a:solidFill>
                  <a:srgbClr val="000000"/>
                </a:solidFill>
              </a:rPr>
              <a:t>滤波器的舍入噪声分析</a:t>
            </a:r>
            <a:endParaRPr lang="zh-CN" altLang="en-US" b="1" dirty="0"/>
          </a:p>
        </p:txBody>
      </p:sp>
      <p:pic>
        <p:nvPicPr>
          <p:cNvPr id="11" name="Picture 6" descr="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42604" y="3186946"/>
            <a:ext cx="5724003" cy="1566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714774" y="1689852"/>
            <a:ext cx="1620957" cy="523220"/>
          </a:xfrm>
          <a:prstGeom prst="rect">
            <a:avLst/>
          </a:prstGeom>
        </p:spPr>
        <p:txBody>
          <a:bodyPr wrap="none">
            <a:spAutoFit/>
          </a:bodyPr>
          <a:lstStyle/>
          <a:p>
            <a:r>
              <a:rPr lang="zh-CN" altLang="en-US" sz="2800" b="1" dirty="0">
                <a:solidFill>
                  <a:srgbClr val="000000"/>
                </a:solidFill>
                <a:latin typeface="Times New Roman"/>
              </a:rPr>
              <a:t>差分方程</a:t>
            </a:r>
            <a:endParaRPr lang="zh-CN" altLang="en-US" b="1" dirty="0"/>
          </a:p>
        </p:txBody>
      </p:sp>
      <p:sp>
        <p:nvSpPr>
          <p:cNvPr id="12" name="矩形 11"/>
          <p:cNvSpPr/>
          <p:nvPr/>
        </p:nvSpPr>
        <p:spPr>
          <a:xfrm>
            <a:off x="755576" y="2348880"/>
            <a:ext cx="7992888" cy="523220"/>
          </a:xfrm>
          <a:prstGeom prst="rect">
            <a:avLst/>
          </a:prstGeom>
        </p:spPr>
        <p:txBody>
          <a:bodyPr wrap="square">
            <a:spAutoFit/>
          </a:bodyPr>
          <a:lstStyle/>
          <a:p>
            <a:pPr lvl="0" algn="just"/>
            <a:r>
              <a:rPr lang="zh-CN" altLang="en-US" sz="2800" b="1" dirty="0">
                <a:solidFill>
                  <a:srgbClr val="000000"/>
                </a:solidFill>
                <a:latin typeface="Times New Roman"/>
              </a:rPr>
              <a:t>乘积项                   将引入一个舍入噪声，如图</a:t>
            </a:r>
          </a:p>
        </p:txBody>
      </p:sp>
      <p:graphicFrame>
        <p:nvGraphicFramePr>
          <p:cNvPr id="13" name="Object 4"/>
          <p:cNvGraphicFramePr>
            <a:graphicFrameLocks noChangeAspect="1"/>
          </p:cNvGraphicFramePr>
          <p:nvPr>
            <p:extLst>
              <p:ext uri="{D42A27DB-BD31-4B8C-83A1-F6EECF244321}">
                <p14:modId xmlns:p14="http://schemas.microsoft.com/office/powerpoint/2010/main" val="4065242647"/>
              </p:ext>
            </p:extLst>
          </p:nvPr>
        </p:nvGraphicFramePr>
        <p:xfrm>
          <a:off x="1907704" y="2392613"/>
          <a:ext cx="1676400" cy="488950"/>
        </p:xfrm>
        <a:graphic>
          <a:graphicData uri="http://schemas.openxmlformats.org/presentationml/2006/ole">
            <mc:AlternateContent xmlns:mc="http://schemas.openxmlformats.org/markup-compatibility/2006">
              <mc:Choice xmlns:v="urn:schemas-microsoft-com:vml" Requires="v">
                <p:oleObj name="Equation" r:id="rId7" imgW="698400" imgH="203040" progId="Equation.DSMT4">
                  <p:embed/>
                </p:oleObj>
              </mc:Choice>
              <mc:Fallback>
                <p:oleObj name="Equation" r:id="rId7" imgW="698400" imgH="203040" progId="Equation.DSMT4">
                  <p:embed/>
                  <p:pic>
                    <p:nvPicPr>
                      <p:cNvPr id="8" name="Object 4"/>
                      <p:cNvPicPr>
                        <a:picLocks noChangeAspect="1" noChangeArrowheads="1"/>
                      </p:cNvPicPr>
                      <p:nvPr/>
                    </p:nvPicPr>
                    <p:blipFill>
                      <a:blip r:embed="rId8"/>
                      <a:srcRect/>
                      <a:stretch>
                        <a:fillRect/>
                      </a:stretch>
                    </p:blipFill>
                    <p:spPr bwMode="auto">
                      <a:xfrm>
                        <a:off x="1907704" y="2392613"/>
                        <a:ext cx="16764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4"/>
          <p:cNvGraphicFramePr>
            <a:graphicFrameLocks noChangeAspect="1"/>
          </p:cNvGraphicFramePr>
          <p:nvPr>
            <p:extLst>
              <p:ext uri="{D42A27DB-BD31-4B8C-83A1-F6EECF244321}">
                <p14:modId xmlns:p14="http://schemas.microsoft.com/office/powerpoint/2010/main" val="2024365901"/>
              </p:ext>
            </p:extLst>
          </p:nvPr>
        </p:nvGraphicFramePr>
        <p:xfrm>
          <a:off x="3555851" y="5587248"/>
          <a:ext cx="2600325" cy="993775"/>
        </p:xfrm>
        <a:graphic>
          <a:graphicData uri="http://schemas.openxmlformats.org/presentationml/2006/ole">
            <mc:AlternateContent xmlns:mc="http://schemas.openxmlformats.org/markup-compatibility/2006">
              <mc:Choice xmlns:v="urn:schemas-microsoft-com:vml" Requires="v">
                <p:oleObj name="Equation" r:id="rId9" imgW="1130040" imgH="431640" progId="Equation.DSMT4">
                  <p:embed/>
                </p:oleObj>
              </mc:Choice>
              <mc:Fallback>
                <p:oleObj name="Equation" r:id="rId9" imgW="1130040" imgH="431640" progId="Equation.DSMT4">
                  <p:embed/>
                  <p:pic>
                    <p:nvPicPr>
                      <p:cNvPr id="10" name="Object 4"/>
                      <p:cNvPicPr>
                        <a:picLocks noChangeAspect="1" noChangeArrowheads="1"/>
                      </p:cNvPicPr>
                      <p:nvPr/>
                    </p:nvPicPr>
                    <p:blipFill>
                      <a:blip r:embed="rId10"/>
                      <a:srcRect/>
                      <a:stretch>
                        <a:fillRect/>
                      </a:stretch>
                    </p:blipFill>
                    <p:spPr bwMode="auto">
                      <a:xfrm>
                        <a:off x="3555851" y="5587248"/>
                        <a:ext cx="260032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p:nvPr/>
        </p:nvSpPr>
        <p:spPr>
          <a:xfrm>
            <a:off x="755576" y="5805264"/>
            <a:ext cx="2709396" cy="523220"/>
          </a:xfrm>
          <a:prstGeom prst="rect">
            <a:avLst/>
          </a:prstGeom>
        </p:spPr>
        <p:txBody>
          <a:bodyPr wrap="none">
            <a:spAutoFit/>
          </a:bodyPr>
          <a:lstStyle/>
          <a:p>
            <a:r>
              <a:rPr kumimoji="1" lang="zh-CN" altLang="en-US" sz="2800" b="1" dirty="0">
                <a:solidFill>
                  <a:srgbClr val="000000"/>
                </a:solidFill>
                <a:latin typeface="Times New Roman" panose="02020603050405020304" pitchFamily="18" charset="0"/>
              </a:rPr>
              <a:t>输出噪声的方差</a:t>
            </a:r>
            <a:endParaRPr lang="zh-CN" altLang="en-US" dirty="0"/>
          </a:p>
        </p:txBody>
      </p:sp>
    </p:spTree>
    <p:extLst>
      <p:ext uri="{BB962C8B-B14F-4D97-AF65-F5344CB8AC3E}">
        <p14:creationId xmlns:p14="http://schemas.microsoft.com/office/powerpoint/2010/main" val="330911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a:spLocks noChangeArrowheads="1"/>
          </p:cNvSpPr>
          <p:nvPr/>
        </p:nvSpPr>
        <p:spPr bwMode="auto">
          <a:xfrm>
            <a:off x="885770" y="2276872"/>
            <a:ext cx="7921625" cy="341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a:lnSpc>
                <a:spcPct val="11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       </a:t>
            </a:r>
          </a:p>
          <a:p>
            <a:pPr algn="just">
              <a:lnSpc>
                <a:spcPct val="11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gn="just">
              <a:lnSpc>
                <a:spcPct val="11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     </a:t>
            </a:r>
          </a:p>
          <a:p>
            <a:pPr algn="just">
              <a:lnSpc>
                <a:spcPct val="11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gn="just">
              <a:lnSpc>
                <a:spcPct val="11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gn="just">
              <a:lnSpc>
                <a:spcPct val="11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gn="just">
              <a:lnSpc>
                <a:spcPct val="110000"/>
              </a:lnSpc>
              <a:spcBef>
                <a:spcPct val="0"/>
              </a:spcBef>
              <a:buFontTx/>
              <a:buNone/>
            </a:pPr>
            <a:r>
              <a:rPr lang="zh-CN" altLang="en-US" sz="2800" dirty="0">
                <a:solidFill>
                  <a:srgbClr val="000000"/>
                </a:solidFill>
                <a:latin typeface="宋体" panose="02010600030101010101" pitchFamily="2" charset="-122"/>
                <a:ea typeface="宋体" panose="02010600030101010101" pitchFamily="2" charset="-122"/>
              </a:rPr>
              <a:t>  </a:t>
            </a:r>
            <a:endParaRPr lang="zh-CN" altLang="en-US" sz="2800" dirty="0">
              <a:solidFill>
                <a:srgbClr val="000000"/>
              </a:solidFill>
              <a:latin typeface="Times New Roman" panose="02020603050405020304" pitchFamily="18" charset="0"/>
              <a:ea typeface="宋体" panose="02010600030101010101" pitchFamily="2" charset="-122"/>
            </a:endParaRPr>
          </a:p>
        </p:txBody>
      </p:sp>
      <p:graphicFrame>
        <p:nvGraphicFramePr>
          <p:cNvPr id="17" name="Object 3"/>
          <p:cNvGraphicFramePr>
            <a:graphicFrameLocks noChangeAspect="1"/>
          </p:cNvGraphicFramePr>
          <p:nvPr>
            <p:extLst>
              <p:ext uri="{D42A27DB-BD31-4B8C-83A1-F6EECF244321}">
                <p14:modId xmlns:p14="http://schemas.microsoft.com/office/powerpoint/2010/main" val="1592071503"/>
              </p:ext>
            </p:extLst>
          </p:nvPr>
        </p:nvGraphicFramePr>
        <p:xfrm>
          <a:off x="2534896" y="2291844"/>
          <a:ext cx="4352290" cy="993140"/>
        </p:xfrm>
        <a:graphic>
          <a:graphicData uri="http://schemas.openxmlformats.org/presentationml/2006/ole">
            <mc:AlternateContent xmlns:mc="http://schemas.openxmlformats.org/markup-compatibility/2006">
              <mc:Choice xmlns:v="urn:schemas-microsoft-com:vml" Requires="v">
                <p:oleObj name="Equation" r:id="rId2" imgW="1892300" imgH="431800" progId="Equation.DSMT4">
                  <p:embed/>
                </p:oleObj>
              </mc:Choice>
              <mc:Fallback>
                <p:oleObj name="Equation" r:id="rId2" imgW="1892300" imgH="431800" progId="Equation.DSMT4">
                  <p:embed/>
                  <p:pic>
                    <p:nvPicPr>
                      <p:cNvPr id="12390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4896" y="2291844"/>
                        <a:ext cx="4352290" cy="993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4"/>
          <p:cNvGraphicFramePr>
            <a:graphicFrameLocks noChangeAspect="1"/>
          </p:cNvGraphicFramePr>
          <p:nvPr>
            <p:extLst>
              <p:ext uri="{D42A27DB-BD31-4B8C-83A1-F6EECF244321}">
                <p14:modId xmlns:p14="http://schemas.microsoft.com/office/powerpoint/2010/main" val="160180881"/>
              </p:ext>
            </p:extLst>
          </p:nvPr>
        </p:nvGraphicFramePr>
        <p:xfrm>
          <a:off x="2541622" y="3356992"/>
          <a:ext cx="4118610" cy="1022350"/>
        </p:xfrm>
        <a:graphic>
          <a:graphicData uri="http://schemas.openxmlformats.org/presentationml/2006/ole">
            <mc:AlternateContent xmlns:mc="http://schemas.openxmlformats.org/markup-compatibility/2006">
              <mc:Choice xmlns:v="urn:schemas-microsoft-com:vml" Requires="v">
                <p:oleObj name="Equation" r:id="rId4" imgW="1790700" imgH="444500" progId="Equation.DSMT4">
                  <p:embed/>
                </p:oleObj>
              </mc:Choice>
              <mc:Fallback>
                <p:oleObj name="Equation" r:id="rId4" imgW="1790700" imgH="444500" progId="Equation.DSMT4">
                  <p:embed/>
                  <p:pic>
                    <p:nvPicPr>
                      <p:cNvPr id="11878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1622" y="3356992"/>
                        <a:ext cx="411861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5"/>
          <p:cNvGraphicFramePr>
            <a:graphicFrameLocks noChangeAspect="1"/>
          </p:cNvGraphicFramePr>
          <p:nvPr>
            <p:extLst>
              <p:ext uri="{D42A27DB-BD31-4B8C-83A1-F6EECF244321}">
                <p14:modId xmlns:p14="http://schemas.microsoft.com/office/powerpoint/2010/main" val="664654907"/>
              </p:ext>
            </p:extLst>
          </p:nvPr>
        </p:nvGraphicFramePr>
        <p:xfrm>
          <a:off x="2688876" y="4502456"/>
          <a:ext cx="5316220" cy="1022350"/>
        </p:xfrm>
        <a:graphic>
          <a:graphicData uri="http://schemas.openxmlformats.org/presentationml/2006/ole">
            <mc:AlternateContent xmlns:mc="http://schemas.openxmlformats.org/markup-compatibility/2006">
              <mc:Choice xmlns:v="urn:schemas-microsoft-com:vml" Requires="v">
                <p:oleObj name="Equation" r:id="rId6" imgW="2311400" imgH="444500" progId="Equation.DSMT4">
                  <p:embed/>
                </p:oleObj>
              </mc:Choice>
              <mc:Fallback>
                <p:oleObj name="Equation" r:id="rId6" imgW="2311400" imgH="444500" progId="Equation.DSMT4">
                  <p:embed/>
                  <p:pic>
                    <p:nvPicPr>
                      <p:cNvPr id="11878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8876" y="4502456"/>
                        <a:ext cx="531622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4152051284"/>
              </p:ext>
            </p:extLst>
          </p:nvPr>
        </p:nvGraphicFramePr>
        <p:xfrm>
          <a:off x="1041450" y="836712"/>
          <a:ext cx="2336616" cy="933984"/>
        </p:xfrm>
        <a:graphic>
          <a:graphicData uri="http://schemas.openxmlformats.org/presentationml/2006/ole">
            <mc:AlternateContent xmlns:mc="http://schemas.openxmlformats.org/markup-compatibility/2006">
              <mc:Choice xmlns:v="urn:schemas-microsoft-com:vml" Requires="v">
                <p:oleObj name="Equation" r:id="rId8" imgW="1015920" imgH="406080" progId="Equation.DSMT4">
                  <p:embed/>
                </p:oleObj>
              </mc:Choice>
              <mc:Fallback>
                <p:oleObj name="Equation" r:id="rId8" imgW="1015920" imgH="406080" progId="Equation.DSMT4">
                  <p:embed/>
                  <p:pic>
                    <p:nvPicPr>
                      <p:cNvPr id="14" name="Object 5"/>
                      <p:cNvPicPr>
                        <a:picLocks noChangeAspect="1" noChangeArrowheads="1"/>
                      </p:cNvPicPr>
                      <p:nvPr/>
                    </p:nvPicPr>
                    <p:blipFill>
                      <a:blip r:embed="rId9"/>
                      <a:srcRect/>
                      <a:stretch>
                        <a:fillRect/>
                      </a:stretch>
                    </p:blipFill>
                    <p:spPr bwMode="auto">
                      <a:xfrm>
                        <a:off x="1041450" y="836712"/>
                        <a:ext cx="2336616" cy="9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4"/>
          <p:cNvGraphicFramePr>
            <a:graphicFrameLocks noChangeAspect="1"/>
          </p:cNvGraphicFramePr>
          <p:nvPr>
            <p:extLst>
              <p:ext uri="{D42A27DB-BD31-4B8C-83A1-F6EECF244321}">
                <p14:modId xmlns:p14="http://schemas.microsoft.com/office/powerpoint/2010/main" val="1789011872"/>
              </p:ext>
            </p:extLst>
          </p:nvPr>
        </p:nvGraphicFramePr>
        <p:xfrm>
          <a:off x="4543156" y="1010341"/>
          <a:ext cx="2073312" cy="525780"/>
        </p:xfrm>
        <a:graphic>
          <a:graphicData uri="http://schemas.openxmlformats.org/presentationml/2006/ole">
            <mc:AlternateContent xmlns:mc="http://schemas.openxmlformats.org/markup-compatibility/2006">
              <mc:Choice xmlns:v="urn:schemas-microsoft-com:vml" Requires="v">
                <p:oleObj name="Equation" r:id="rId10" imgW="901440" imgH="228600" progId="Equation.DSMT4">
                  <p:embed/>
                </p:oleObj>
              </mc:Choice>
              <mc:Fallback>
                <p:oleObj name="Equation" r:id="rId10" imgW="901440" imgH="228600" progId="Equation.DSMT4">
                  <p:embed/>
                  <p:pic>
                    <p:nvPicPr>
                      <p:cNvPr id="15" name="Object 4"/>
                      <p:cNvPicPr>
                        <a:picLocks noChangeAspect="1" noChangeArrowheads="1"/>
                      </p:cNvPicPr>
                      <p:nvPr/>
                    </p:nvPicPr>
                    <p:blipFill>
                      <a:blip r:embed="rId11"/>
                      <a:srcRect/>
                      <a:stretch>
                        <a:fillRect/>
                      </a:stretch>
                    </p:blipFill>
                    <p:spPr bwMode="auto">
                      <a:xfrm>
                        <a:off x="4543156" y="1010341"/>
                        <a:ext cx="207331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999923" y="4730477"/>
            <a:ext cx="1627369" cy="566309"/>
          </a:xfrm>
          <a:prstGeom prst="rect">
            <a:avLst/>
          </a:prstGeom>
        </p:spPr>
        <p:txBody>
          <a:bodyPr wrap="none">
            <a:spAutoFit/>
          </a:bodyPr>
          <a:lstStyle/>
          <a:p>
            <a:pPr lvl="0" algn="just">
              <a:lnSpc>
                <a:spcPct val="110000"/>
              </a:lnSpc>
            </a:pPr>
            <a:r>
              <a:rPr lang="zh-CN" altLang="en-US" sz="2800" b="1" dirty="0">
                <a:solidFill>
                  <a:srgbClr val="000000"/>
                </a:solidFill>
                <a:latin typeface="Times New Roman" panose="02020603050405020304" pitchFamily="18" charset="0"/>
              </a:rPr>
              <a:t>均可求得</a:t>
            </a:r>
          </a:p>
        </p:txBody>
      </p:sp>
      <p:sp>
        <p:nvSpPr>
          <p:cNvPr id="8" name="矩形 7"/>
          <p:cNvSpPr/>
          <p:nvPr/>
        </p:nvSpPr>
        <p:spPr>
          <a:xfrm>
            <a:off x="1043608" y="5866638"/>
            <a:ext cx="6840760" cy="566309"/>
          </a:xfrm>
          <a:prstGeom prst="rect">
            <a:avLst/>
          </a:prstGeom>
        </p:spPr>
        <p:txBody>
          <a:bodyPr wrap="square">
            <a:spAutoFit/>
          </a:bodyPr>
          <a:lstStyle/>
          <a:p>
            <a:pPr lvl="0" algn="just">
              <a:lnSpc>
                <a:spcPct val="110000"/>
              </a:lnSpc>
            </a:pPr>
            <a:r>
              <a:rPr lang="zh-CN" altLang="en-US" sz="2800" b="1" dirty="0">
                <a:solidFill>
                  <a:srgbClr val="000000"/>
                </a:solidFill>
                <a:latin typeface="宋体" panose="02010600030101010101" pitchFamily="2" charset="-122"/>
              </a:rPr>
              <a:t>可见字长</a:t>
            </a:r>
            <a:r>
              <a:rPr lang="en-US" altLang="zh-CN" sz="2800" b="1" i="1" dirty="0">
                <a:latin typeface="Times New Roman" panose="02020603050405020304" pitchFamily="18" charset="0"/>
              </a:rPr>
              <a:t>b </a:t>
            </a:r>
            <a:r>
              <a:rPr lang="zh-CN" altLang="en-US" sz="2800" b="1" dirty="0">
                <a:solidFill>
                  <a:srgbClr val="000000"/>
                </a:solidFill>
                <a:latin typeface="宋体" panose="02010600030101010101" pitchFamily="2" charset="-122"/>
              </a:rPr>
              <a:t>越大，输出噪声越小。</a:t>
            </a:r>
            <a:endParaRPr lang="zh-CN" altLang="en-US" sz="2800" b="1" dirty="0">
              <a:solidFill>
                <a:srgbClr val="000000"/>
              </a:solidFill>
              <a:latin typeface="Times New Roman" panose="02020603050405020304" pitchFamily="18" charset="0"/>
            </a:endParaRPr>
          </a:p>
        </p:txBody>
      </p:sp>
      <p:sp>
        <p:nvSpPr>
          <p:cNvPr id="12" name="矩形 11"/>
          <p:cNvSpPr/>
          <p:nvPr/>
        </p:nvSpPr>
        <p:spPr>
          <a:xfrm>
            <a:off x="971600" y="1910979"/>
            <a:ext cx="2438488" cy="527580"/>
          </a:xfrm>
          <a:prstGeom prst="rect">
            <a:avLst/>
          </a:prstGeom>
        </p:spPr>
        <p:txBody>
          <a:bodyPr wrap="none">
            <a:spAutoFit/>
          </a:bodyPr>
          <a:lstStyle/>
          <a:p>
            <a:pPr lvl="0" algn="just" eaLnBrk="1" hangingPunct="1">
              <a:lnSpc>
                <a:spcPct val="110000"/>
              </a:lnSpc>
            </a:pPr>
            <a:r>
              <a:rPr lang="zh-CN" altLang="en-US" sz="2800" b="1" dirty="0">
                <a:solidFill>
                  <a:srgbClr val="000000"/>
                </a:solidFill>
                <a:latin typeface="Times New Roman" panose="02020603050405020304" pitchFamily="18" charset="0"/>
              </a:rPr>
              <a:t>输出噪声方差 </a:t>
            </a:r>
          </a:p>
        </p:txBody>
      </p:sp>
      <p:sp>
        <p:nvSpPr>
          <p:cNvPr id="14" name="矩形 13"/>
          <p:cNvSpPr/>
          <p:nvPr/>
        </p:nvSpPr>
        <p:spPr>
          <a:xfrm>
            <a:off x="1003925" y="3068960"/>
            <a:ext cx="543739"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或</a:t>
            </a:r>
            <a:endParaRPr lang="zh-CN" altLang="en-US" b="1" dirty="0"/>
          </a:p>
        </p:txBody>
      </p:sp>
      <p:sp>
        <p:nvSpPr>
          <p:cNvPr id="13"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40251178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781744" y="1052736"/>
            <a:ext cx="7894712" cy="293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lnSpc>
                <a:spcPct val="11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例</a:t>
            </a:r>
            <a:r>
              <a:rPr lang="en-US" altLang="zh-CN" sz="2800" dirty="0">
                <a:solidFill>
                  <a:srgbClr val="000000"/>
                </a:solidFill>
                <a:latin typeface="Times New Roman" panose="02020603050405020304" pitchFamily="18" charset="0"/>
                <a:ea typeface="宋体" panose="02010600030101010101" pitchFamily="2" charset="-122"/>
              </a:rPr>
              <a:t>6.5</a:t>
            </a:r>
            <a:r>
              <a:rPr lang="zh-CN" altLang="en-US" sz="2800" dirty="0">
                <a:solidFill>
                  <a:srgbClr val="000000"/>
                </a:solidFill>
                <a:latin typeface="Times New Roman" panose="02020603050405020304" pitchFamily="18" charset="0"/>
                <a:ea typeface="宋体" panose="02010600030101010101" pitchFamily="2" charset="-122"/>
              </a:rPr>
              <a:t>：采用定点制算法，尾数作舍入处理，分析计算系统函数</a:t>
            </a:r>
          </a:p>
          <a:p>
            <a:pPr algn="just">
              <a:lnSpc>
                <a:spcPct val="11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        </a:t>
            </a:r>
          </a:p>
          <a:p>
            <a:pPr algn="just">
              <a:lnSpc>
                <a:spcPct val="110000"/>
              </a:lnSpc>
              <a:spcBef>
                <a:spcPct val="0"/>
              </a:spcBef>
              <a:buFontTx/>
              <a:buNone/>
            </a:pPr>
            <a:endParaRPr lang="en-US" altLang="zh-CN" sz="2800" dirty="0">
              <a:solidFill>
                <a:srgbClr val="000000"/>
              </a:solidFill>
              <a:latin typeface="Times New Roman" panose="02020603050405020304" pitchFamily="18" charset="0"/>
              <a:ea typeface="宋体" panose="02010600030101010101" pitchFamily="2" charset="-122"/>
            </a:endParaRPr>
          </a:p>
          <a:p>
            <a:pPr algn="just">
              <a:lnSpc>
                <a:spcPct val="11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的直接型、级联型、并联型三种结构的输出噪声方差 。</a:t>
            </a:r>
          </a:p>
        </p:txBody>
      </p:sp>
      <p:graphicFrame>
        <p:nvGraphicFramePr>
          <p:cNvPr id="11" name="Object 3"/>
          <p:cNvGraphicFramePr>
            <a:graphicFrameLocks noChangeAspect="1"/>
          </p:cNvGraphicFramePr>
          <p:nvPr>
            <p:extLst>
              <p:ext uri="{D42A27DB-BD31-4B8C-83A1-F6EECF244321}">
                <p14:modId xmlns:p14="http://schemas.microsoft.com/office/powerpoint/2010/main" val="1690512594"/>
              </p:ext>
            </p:extLst>
          </p:nvPr>
        </p:nvGraphicFramePr>
        <p:xfrm>
          <a:off x="2123728" y="1916832"/>
          <a:ext cx="4410710" cy="993140"/>
        </p:xfrm>
        <a:graphic>
          <a:graphicData uri="http://schemas.openxmlformats.org/presentationml/2006/ole">
            <mc:AlternateContent xmlns:mc="http://schemas.openxmlformats.org/markup-compatibility/2006">
              <mc:Choice xmlns:v="urn:schemas-microsoft-com:vml" Requires="v">
                <p:oleObj name="Equation" r:id="rId2" imgW="1917700" imgH="431800" progId="Equation.DSMT4">
                  <p:embed/>
                </p:oleObj>
              </mc:Choice>
              <mc:Fallback>
                <p:oleObj name="Equation" r:id="rId2" imgW="1917700" imgH="431800" progId="Equation.DSMT4">
                  <p:embed/>
                  <p:pic>
                    <p:nvPicPr>
                      <p:cNvPr id="12493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916832"/>
                        <a:ext cx="4410710" cy="993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4"/>
          <p:cNvGraphicFramePr>
            <a:graphicFrameLocks noChangeAspect="1"/>
          </p:cNvGraphicFramePr>
          <p:nvPr>
            <p:extLst>
              <p:ext uri="{D42A27DB-BD31-4B8C-83A1-F6EECF244321}">
                <p14:modId xmlns:p14="http://schemas.microsoft.com/office/powerpoint/2010/main" val="3845898524"/>
              </p:ext>
            </p:extLst>
          </p:nvPr>
        </p:nvGraphicFramePr>
        <p:xfrm>
          <a:off x="2141232" y="4869160"/>
          <a:ext cx="3942936" cy="933984"/>
        </p:xfrm>
        <a:graphic>
          <a:graphicData uri="http://schemas.openxmlformats.org/presentationml/2006/ole">
            <mc:AlternateContent xmlns:mc="http://schemas.openxmlformats.org/markup-compatibility/2006">
              <mc:Choice xmlns:v="urn:schemas-microsoft-com:vml" Requires="v">
                <p:oleObj name="Equation" r:id="rId4" imgW="1714320" imgH="406080" progId="Equation.DSMT4">
                  <p:embed/>
                </p:oleObj>
              </mc:Choice>
              <mc:Fallback>
                <p:oleObj name="Equation" r:id="rId4" imgW="1714320" imgH="406080" progId="Equation.DSMT4">
                  <p:embed/>
                  <p:pic>
                    <p:nvPicPr>
                      <p:cNvPr id="124932" name="Object 4"/>
                      <p:cNvPicPr>
                        <a:picLocks noChangeAspect="1" noChangeArrowheads="1"/>
                      </p:cNvPicPr>
                      <p:nvPr/>
                    </p:nvPicPr>
                    <p:blipFill>
                      <a:blip r:embed="rId5"/>
                      <a:srcRect/>
                      <a:stretch>
                        <a:fillRect/>
                      </a:stretch>
                    </p:blipFill>
                    <p:spPr bwMode="auto">
                      <a:xfrm>
                        <a:off x="2141232" y="4869160"/>
                        <a:ext cx="3942936" cy="9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323528" y="1033572"/>
            <a:ext cx="543739" cy="523220"/>
          </a:xfrm>
          <a:prstGeom prst="rect">
            <a:avLst/>
          </a:prstGeom>
        </p:spPr>
        <p:txBody>
          <a:bodyPr wrap="none">
            <a:spAutoFit/>
          </a:bodyPr>
          <a:lstStyle/>
          <a:p>
            <a:r>
              <a:rPr lang="zh-CN" altLang="en-US" sz="2800" dirty="0">
                <a:solidFill>
                  <a:srgbClr val="FF0066"/>
                </a:solidFill>
              </a:rPr>
              <a:t>★</a:t>
            </a:r>
            <a:endParaRPr lang="zh-CN" altLang="en-US" sz="2800" dirty="0"/>
          </a:p>
        </p:txBody>
      </p:sp>
      <p:sp>
        <p:nvSpPr>
          <p:cNvPr id="3" name="矩形 2"/>
          <p:cNvSpPr/>
          <p:nvPr/>
        </p:nvSpPr>
        <p:spPr>
          <a:xfrm>
            <a:off x="971600" y="4210011"/>
            <a:ext cx="1686680" cy="566309"/>
          </a:xfrm>
          <a:prstGeom prst="rect">
            <a:avLst/>
          </a:prstGeom>
        </p:spPr>
        <p:txBody>
          <a:bodyPr wrap="none">
            <a:spAutoFit/>
          </a:bodyPr>
          <a:lstStyle/>
          <a:p>
            <a:pPr lvl="0" algn="just">
              <a:lnSpc>
                <a:spcPct val="110000"/>
              </a:lnSpc>
              <a:spcBef>
                <a:spcPct val="50000"/>
              </a:spcBef>
            </a:pPr>
            <a:r>
              <a:rPr lang="en-US" altLang="zh-CN" sz="2800" b="1" dirty="0">
                <a:solidFill>
                  <a:srgbClr val="000000"/>
                </a:solidFill>
                <a:latin typeface="Times New Roman" panose="02020603050405020304" pitchFamily="18" charset="0"/>
              </a:rPr>
              <a:t>(1)</a:t>
            </a:r>
            <a:r>
              <a:rPr lang="zh-CN" altLang="en-US" sz="2800" b="1" dirty="0">
                <a:solidFill>
                  <a:srgbClr val="000000"/>
                </a:solidFill>
                <a:latin typeface="Times New Roman" panose="02020603050405020304" pitchFamily="18" charset="0"/>
              </a:rPr>
              <a:t>直接型</a:t>
            </a:r>
          </a:p>
        </p:txBody>
      </p:sp>
      <p:sp>
        <p:nvSpPr>
          <p:cNvPr id="5" name="矩形 4"/>
          <p:cNvSpPr/>
          <p:nvPr/>
        </p:nvSpPr>
        <p:spPr>
          <a:xfrm>
            <a:off x="323528" y="4253100"/>
            <a:ext cx="906017"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解：</a:t>
            </a:r>
            <a:endParaRPr lang="zh-CN" altLang="en-US" dirty="0"/>
          </a:p>
        </p:txBody>
      </p:sp>
      <p:sp>
        <p:nvSpPr>
          <p:cNvPr id="9"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15167369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4"/>
          <p:cNvSpPr>
            <a:spLocks noChangeShapeType="1"/>
          </p:cNvSpPr>
          <p:nvPr/>
        </p:nvSpPr>
        <p:spPr bwMode="auto">
          <a:xfrm>
            <a:off x="2513975" y="1973951"/>
            <a:ext cx="10668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5"/>
          <p:cNvSpPr>
            <a:spLocks noChangeShapeType="1"/>
          </p:cNvSpPr>
          <p:nvPr/>
        </p:nvSpPr>
        <p:spPr bwMode="auto">
          <a:xfrm>
            <a:off x="2964825" y="3341818"/>
            <a:ext cx="914400"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6"/>
          <p:cNvSpPr>
            <a:spLocks noChangeShapeType="1"/>
          </p:cNvSpPr>
          <p:nvPr/>
        </p:nvSpPr>
        <p:spPr bwMode="auto">
          <a:xfrm>
            <a:off x="2964825" y="4709686"/>
            <a:ext cx="914400"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7"/>
          <p:cNvSpPr>
            <a:spLocks noChangeShapeType="1"/>
          </p:cNvSpPr>
          <p:nvPr/>
        </p:nvSpPr>
        <p:spPr bwMode="auto">
          <a:xfrm flipV="1">
            <a:off x="3885575" y="3806257"/>
            <a:ext cx="0" cy="916153"/>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8"/>
          <p:cNvSpPr>
            <a:spLocks noChangeShapeType="1"/>
          </p:cNvSpPr>
          <p:nvPr/>
        </p:nvSpPr>
        <p:spPr bwMode="auto">
          <a:xfrm flipV="1">
            <a:off x="3885575" y="2813758"/>
            <a:ext cx="0" cy="1068845"/>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9"/>
          <p:cNvSpPr>
            <a:spLocks noChangeShapeType="1"/>
          </p:cNvSpPr>
          <p:nvPr/>
        </p:nvSpPr>
        <p:spPr bwMode="auto">
          <a:xfrm>
            <a:off x="3885575" y="1515874"/>
            <a:ext cx="0" cy="458077"/>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10"/>
          <p:cNvSpPr>
            <a:spLocks noChangeShapeType="1"/>
          </p:cNvSpPr>
          <p:nvPr/>
        </p:nvSpPr>
        <p:spPr bwMode="auto">
          <a:xfrm>
            <a:off x="3504575" y="1973951"/>
            <a:ext cx="12192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Line 11"/>
          <p:cNvSpPr>
            <a:spLocks noChangeShapeType="1"/>
          </p:cNvSpPr>
          <p:nvPr/>
        </p:nvSpPr>
        <p:spPr bwMode="auto">
          <a:xfrm flipH="1">
            <a:off x="4571375" y="3348181"/>
            <a:ext cx="6858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12"/>
          <p:cNvSpPr>
            <a:spLocks noChangeShapeType="1"/>
          </p:cNvSpPr>
          <p:nvPr/>
        </p:nvSpPr>
        <p:spPr bwMode="auto">
          <a:xfrm flipH="1">
            <a:off x="4571375" y="4722410"/>
            <a:ext cx="6858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13"/>
          <p:cNvSpPr>
            <a:spLocks noChangeShapeType="1"/>
          </p:cNvSpPr>
          <p:nvPr/>
        </p:nvSpPr>
        <p:spPr bwMode="auto">
          <a:xfrm>
            <a:off x="5257175" y="1973951"/>
            <a:ext cx="0" cy="610769"/>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4"/>
          <p:cNvSpPr>
            <a:spLocks noChangeShapeType="1"/>
          </p:cNvSpPr>
          <p:nvPr/>
        </p:nvSpPr>
        <p:spPr bwMode="auto">
          <a:xfrm>
            <a:off x="5257175" y="3271834"/>
            <a:ext cx="0" cy="763461"/>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15"/>
          <p:cNvSpPr>
            <a:spLocks noChangeShapeType="1"/>
          </p:cNvSpPr>
          <p:nvPr/>
        </p:nvSpPr>
        <p:spPr bwMode="auto">
          <a:xfrm>
            <a:off x="5257175" y="1973951"/>
            <a:ext cx="9144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 name="Object 16"/>
          <p:cNvGraphicFramePr>
            <a:graphicFrameLocks noChangeAspect="1"/>
          </p:cNvGraphicFramePr>
          <p:nvPr>
            <p:extLst>
              <p:ext uri="{D42A27DB-BD31-4B8C-83A1-F6EECF244321}">
                <p14:modId xmlns:p14="http://schemas.microsoft.com/office/powerpoint/2010/main" val="2873355644"/>
              </p:ext>
            </p:extLst>
          </p:nvPr>
        </p:nvGraphicFramePr>
        <p:xfrm>
          <a:off x="3641100" y="836712"/>
          <a:ext cx="946150" cy="663257"/>
        </p:xfrm>
        <a:graphic>
          <a:graphicData uri="http://schemas.openxmlformats.org/presentationml/2006/ole">
            <mc:AlternateContent xmlns:mc="http://schemas.openxmlformats.org/markup-compatibility/2006">
              <mc:Choice xmlns:v="urn:schemas-microsoft-com:vml" Requires="v">
                <p:oleObj name="Equation" r:id="rId2" imgW="368280" imgH="228600" progId="Equation.DSMT4">
                  <p:embed/>
                </p:oleObj>
              </mc:Choice>
              <mc:Fallback>
                <p:oleObj name="Equation" r:id="rId2" imgW="368280" imgH="228600" progId="Equation.DSMT4">
                  <p:embed/>
                  <p:pic>
                    <p:nvPicPr>
                      <p:cNvPr id="125968" name="Object 16"/>
                      <p:cNvPicPr>
                        <a:picLocks noChangeAspect="1" noChangeArrowheads="1"/>
                      </p:cNvPicPr>
                      <p:nvPr/>
                    </p:nvPicPr>
                    <p:blipFill>
                      <a:blip r:embed="rId3"/>
                      <a:srcRect/>
                      <a:stretch>
                        <a:fillRect/>
                      </a:stretch>
                    </p:blipFill>
                    <p:spPr bwMode="auto">
                      <a:xfrm>
                        <a:off x="3641100" y="836712"/>
                        <a:ext cx="946150" cy="663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7"/>
          <p:cNvGraphicFramePr>
            <a:graphicFrameLocks noChangeAspect="1"/>
          </p:cNvGraphicFramePr>
          <p:nvPr>
            <p:extLst>
              <p:ext uri="{D42A27DB-BD31-4B8C-83A1-F6EECF244321}">
                <p14:modId xmlns:p14="http://schemas.microsoft.com/office/powerpoint/2010/main" val="3532897476"/>
              </p:ext>
            </p:extLst>
          </p:nvPr>
        </p:nvGraphicFramePr>
        <p:xfrm>
          <a:off x="1659900" y="1286836"/>
          <a:ext cx="850900" cy="590092"/>
        </p:xfrm>
        <a:graphic>
          <a:graphicData uri="http://schemas.openxmlformats.org/presentationml/2006/ole">
            <mc:AlternateContent xmlns:mc="http://schemas.openxmlformats.org/markup-compatibility/2006">
              <mc:Choice xmlns:v="urn:schemas-microsoft-com:vml" Requires="v">
                <p:oleObj name="Equation" r:id="rId4" imgW="330057" imgH="203112" progId="Equation.DSMT4">
                  <p:embed/>
                </p:oleObj>
              </mc:Choice>
              <mc:Fallback>
                <p:oleObj name="Equation" r:id="rId4" imgW="330057" imgH="203112" progId="Equation.DSMT4">
                  <p:embed/>
                  <p:pic>
                    <p:nvPicPr>
                      <p:cNvPr id="125969"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9900" y="1286836"/>
                        <a:ext cx="850900" cy="5900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8"/>
          <p:cNvGraphicFramePr>
            <a:graphicFrameLocks noChangeAspect="1"/>
          </p:cNvGraphicFramePr>
          <p:nvPr>
            <p:extLst>
              <p:ext uri="{D42A27DB-BD31-4B8C-83A1-F6EECF244321}">
                <p14:modId xmlns:p14="http://schemas.microsoft.com/office/powerpoint/2010/main" val="1368133901"/>
              </p:ext>
            </p:extLst>
          </p:nvPr>
        </p:nvGraphicFramePr>
        <p:xfrm>
          <a:off x="5835025" y="1286836"/>
          <a:ext cx="2044700" cy="687115"/>
        </p:xfrm>
        <a:graphic>
          <a:graphicData uri="http://schemas.openxmlformats.org/presentationml/2006/ole">
            <mc:AlternateContent xmlns:mc="http://schemas.openxmlformats.org/markup-compatibility/2006">
              <mc:Choice xmlns:v="urn:schemas-microsoft-com:vml" Requires="v">
                <p:oleObj name="Equation" r:id="rId6" imgW="812447" imgH="241195" progId="Equation.DSMT4">
                  <p:embed/>
                </p:oleObj>
              </mc:Choice>
              <mc:Fallback>
                <p:oleObj name="Equation" r:id="rId6" imgW="812447" imgH="241195" progId="Equation.DSMT4">
                  <p:embed/>
                  <p:pic>
                    <p:nvPicPr>
                      <p:cNvPr id="12597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35025" y="1286836"/>
                        <a:ext cx="2044700" cy="687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9"/>
          <p:cNvGraphicFramePr>
            <a:graphicFrameLocks noChangeAspect="1"/>
          </p:cNvGraphicFramePr>
          <p:nvPr>
            <p:extLst>
              <p:ext uri="{D42A27DB-BD31-4B8C-83A1-F6EECF244321}">
                <p14:modId xmlns:p14="http://schemas.microsoft.com/office/powerpoint/2010/main" val="3244893366"/>
              </p:ext>
            </p:extLst>
          </p:nvPr>
        </p:nvGraphicFramePr>
        <p:xfrm>
          <a:off x="1847225" y="4321593"/>
          <a:ext cx="947738" cy="663257"/>
        </p:xfrm>
        <a:graphic>
          <a:graphicData uri="http://schemas.openxmlformats.org/presentationml/2006/ole">
            <mc:AlternateContent xmlns:mc="http://schemas.openxmlformats.org/markup-compatibility/2006">
              <mc:Choice xmlns:v="urn:schemas-microsoft-com:vml" Requires="v">
                <p:oleObj name="Equation" r:id="rId8" imgW="368280" imgH="228600" progId="Equation.DSMT4">
                  <p:embed/>
                </p:oleObj>
              </mc:Choice>
              <mc:Fallback>
                <p:oleObj name="Equation" r:id="rId8" imgW="368280" imgH="228600" progId="Equation.DSMT4">
                  <p:embed/>
                  <p:pic>
                    <p:nvPicPr>
                      <p:cNvPr id="125971" name="Object 19"/>
                      <p:cNvPicPr>
                        <a:picLocks noChangeAspect="1" noChangeArrowheads="1"/>
                      </p:cNvPicPr>
                      <p:nvPr/>
                    </p:nvPicPr>
                    <p:blipFill>
                      <a:blip r:embed="rId9"/>
                      <a:srcRect/>
                      <a:stretch>
                        <a:fillRect/>
                      </a:stretch>
                    </p:blipFill>
                    <p:spPr bwMode="auto">
                      <a:xfrm>
                        <a:off x="1847225" y="4321593"/>
                        <a:ext cx="947738" cy="663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20"/>
          <p:cNvGraphicFramePr>
            <a:graphicFrameLocks noChangeAspect="1"/>
          </p:cNvGraphicFramePr>
          <p:nvPr>
            <p:extLst>
              <p:ext uri="{D42A27DB-BD31-4B8C-83A1-F6EECF244321}">
                <p14:modId xmlns:p14="http://schemas.microsoft.com/office/powerpoint/2010/main" val="1692544907"/>
              </p:ext>
            </p:extLst>
          </p:nvPr>
        </p:nvGraphicFramePr>
        <p:xfrm>
          <a:off x="1907550" y="2948954"/>
          <a:ext cx="947738" cy="663257"/>
        </p:xfrm>
        <a:graphic>
          <a:graphicData uri="http://schemas.openxmlformats.org/presentationml/2006/ole">
            <mc:AlternateContent xmlns:mc="http://schemas.openxmlformats.org/markup-compatibility/2006">
              <mc:Choice xmlns:v="urn:schemas-microsoft-com:vml" Requires="v">
                <p:oleObj name="Equation" r:id="rId10" imgW="368280" imgH="228600" progId="Equation.DSMT4">
                  <p:embed/>
                </p:oleObj>
              </mc:Choice>
              <mc:Fallback>
                <p:oleObj name="Equation" r:id="rId10" imgW="368280" imgH="228600" progId="Equation.DSMT4">
                  <p:embed/>
                  <p:pic>
                    <p:nvPicPr>
                      <p:cNvPr id="125972" name="Object 20"/>
                      <p:cNvPicPr>
                        <a:picLocks noChangeAspect="1" noChangeArrowheads="1"/>
                      </p:cNvPicPr>
                      <p:nvPr/>
                    </p:nvPicPr>
                    <p:blipFill>
                      <a:blip r:embed="rId11"/>
                      <a:srcRect/>
                      <a:stretch>
                        <a:fillRect/>
                      </a:stretch>
                    </p:blipFill>
                    <p:spPr bwMode="auto">
                      <a:xfrm>
                        <a:off x="1907550" y="2948954"/>
                        <a:ext cx="947738" cy="663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1"/>
          <p:cNvGraphicFramePr>
            <a:graphicFrameLocks noChangeAspect="1"/>
          </p:cNvGraphicFramePr>
          <p:nvPr>
            <p:extLst>
              <p:ext uri="{D42A27DB-BD31-4B8C-83A1-F6EECF244321}">
                <p14:modId xmlns:p14="http://schemas.microsoft.com/office/powerpoint/2010/main" val="1437375764"/>
              </p:ext>
            </p:extLst>
          </p:nvPr>
        </p:nvGraphicFramePr>
        <p:xfrm>
          <a:off x="5409575" y="2411350"/>
          <a:ext cx="609600" cy="648942"/>
        </p:xfrm>
        <a:graphic>
          <a:graphicData uri="http://schemas.openxmlformats.org/presentationml/2006/ole">
            <mc:AlternateContent xmlns:mc="http://schemas.openxmlformats.org/markup-compatibility/2006">
              <mc:Choice xmlns:v="urn:schemas-microsoft-com:vml" Requires="v">
                <p:oleObj name="Equation" r:id="rId12" imgW="215713" imgH="203024" progId="Equation.DSMT4">
                  <p:embed/>
                </p:oleObj>
              </mc:Choice>
              <mc:Fallback>
                <p:oleObj name="Equation" r:id="rId12" imgW="215713" imgH="203024" progId="Equation.DSMT4">
                  <p:embed/>
                  <p:pic>
                    <p:nvPicPr>
                      <p:cNvPr id="125973"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09575" y="2411350"/>
                        <a:ext cx="609600" cy="648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22"/>
          <p:cNvGraphicFramePr>
            <a:graphicFrameLocks noChangeAspect="1"/>
          </p:cNvGraphicFramePr>
          <p:nvPr>
            <p:extLst>
              <p:ext uri="{D42A27DB-BD31-4B8C-83A1-F6EECF244321}">
                <p14:modId xmlns:p14="http://schemas.microsoft.com/office/powerpoint/2010/main" val="2784739832"/>
              </p:ext>
            </p:extLst>
          </p:nvPr>
        </p:nvGraphicFramePr>
        <p:xfrm>
          <a:off x="5409575" y="3860336"/>
          <a:ext cx="685800" cy="728469"/>
        </p:xfrm>
        <a:graphic>
          <a:graphicData uri="http://schemas.openxmlformats.org/presentationml/2006/ole">
            <mc:AlternateContent xmlns:mc="http://schemas.openxmlformats.org/markup-compatibility/2006">
              <mc:Choice xmlns:v="urn:schemas-microsoft-com:vml" Requires="v">
                <p:oleObj name="Equation" r:id="rId14" imgW="215713" imgH="203024" progId="Equation.DSMT4">
                  <p:embed/>
                </p:oleObj>
              </mc:Choice>
              <mc:Fallback>
                <p:oleObj name="Equation" r:id="rId14" imgW="215713" imgH="203024" progId="Equation.DSMT4">
                  <p:embed/>
                  <p:pic>
                    <p:nvPicPr>
                      <p:cNvPr id="125974"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09575" y="3860336"/>
                        <a:ext cx="685800" cy="728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Line 23"/>
          <p:cNvSpPr>
            <a:spLocks noChangeShapeType="1"/>
          </p:cNvSpPr>
          <p:nvPr/>
        </p:nvSpPr>
        <p:spPr bwMode="auto">
          <a:xfrm>
            <a:off x="6171575" y="1973951"/>
            <a:ext cx="304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4"/>
          <p:cNvSpPr>
            <a:spLocks noChangeShapeType="1"/>
          </p:cNvSpPr>
          <p:nvPr/>
        </p:nvSpPr>
        <p:spPr bwMode="auto">
          <a:xfrm>
            <a:off x="5257175" y="2584720"/>
            <a:ext cx="0" cy="687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5"/>
          <p:cNvSpPr>
            <a:spLocks noChangeShapeType="1"/>
          </p:cNvSpPr>
          <p:nvPr/>
        </p:nvSpPr>
        <p:spPr bwMode="auto">
          <a:xfrm flipV="1">
            <a:off x="5257175" y="4035295"/>
            <a:ext cx="0" cy="687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6"/>
          <p:cNvSpPr>
            <a:spLocks noChangeShapeType="1"/>
          </p:cNvSpPr>
          <p:nvPr/>
        </p:nvSpPr>
        <p:spPr bwMode="auto">
          <a:xfrm>
            <a:off x="3885575" y="3346590"/>
            <a:ext cx="685800" cy="159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7"/>
          <p:cNvSpPr>
            <a:spLocks noChangeShapeType="1"/>
          </p:cNvSpPr>
          <p:nvPr/>
        </p:nvSpPr>
        <p:spPr bwMode="auto">
          <a:xfrm>
            <a:off x="3885575" y="4722410"/>
            <a:ext cx="8382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8"/>
          <p:cNvSpPr>
            <a:spLocks noChangeShapeType="1"/>
          </p:cNvSpPr>
          <p:nvPr/>
        </p:nvSpPr>
        <p:spPr bwMode="auto">
          <a:xfrm>
            <a:off x="4723775" y="1973951"/>
            <a:ext cx="533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flipV="1">
            <a:off x="3885575" y="1973951"/>
            <a:ext cx="0" cy="91615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2" name="Object 30"/>
          <p:cNvGraphicFramePr>
            <a:graphicFrameLocks noChangeAspect="1"/>
          </p:cNvGraphicFramePr>
          <p:nvPr>
            <p:extLst>
              <p:ext uri="{D42A27DB-BD31-4B8C-83A1-F6EECF244321}">
                <p14:modId xmlns:p14="http://schemas.microsoft.com/office/powerpoint/2010/main" val="3926526114"/>
              </p:ext>
            </p:extLst>
          </p:nvPr>
        </p:nvGraphicFramePr>
        <p:xfrm>
          <a:off x="2971175" y="1515874"/>
          <a:ext cx="846138" cy="475573"/>
        </p:xfrm>
        <a:graphic>
          <a:graphicData uri="http://schemas.openxmlformats.org/presentationml/2006/ole">
            <mc:AlternateContent xmlns:mc="http://schemas.openxmlformats.org/markup-compatibility/2006">
              <mc:Choice xmlns:v="urn:schemas-microsoft-com:vml" Requires="v">
                <p:oleObj name="Equation" r:id="rId16" imgW="317087" imgH="177569" progId="Equation.DSMT4">
                  <p:embed/>
                </p:oleObj>
              </mc:Choice>
              <mc:Fallback>
                <p:oleObj name="Equation" r:id="rId16" imgW="317087" imgH="177569" progId="Equation.DSMT4">
                  <p:embed/>
                  <p:pic>
                    <p:nvPicPr>
                      <p:cNvPr id="125982"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71175" y="1515874"/>
                        <a:ext cx="846138" cy="4755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31"/>
          <p:cNvGraphicFramePr>
            <a:graphicFrameLocks noChangeAspect="1"/>
          </p:cNvGraphicFramePr>
          <p:nvPr>
            <p:extLst>
              <p:ext uri="{D42A27DB-BD31-4B8C-83A1-F6EECF244321}">
                <p14:modId xmlns:p14="http://schemas.microsoft.com/office/powerpoint/2010/main" val="543678753"/>
              </p:ext>
            </p:extLst>
          </p:nvPr>
        </p:nvGraphicFramePr>
        <p:xfrm>
          <a:off x="4190375" y="2890104"/>
          <a:ext cx="609600" cy="475573"/>
        </p:xfrm>
        <a:graphic>
          <a:graphicData uri="http://schemas.openxmlformats.org/presentationml/2006/ole">
            <mc:AlternateContent xmlns:mc="http://schemas.openxmlformats.org/markup-compatibility/2006">
              <mc:Choice xmlns:v="urn:schemas-microsoft-com:vml" Requires="v">
                <p:oleObj name="Equation" r:id="rId18" imgW="228402" imgH="177646" progId="Equation.DSMT4">
                  <p:embed/>
                </p:oleObj>
              </mc:Choice>
              <mc:Fallback>
                <p:oleObj name="Equation" r:id="rId18" imgW="228402" imgH="177646" progId="Equation.DSMT4">
                  <p:embed/>
                  <p:pic>
                    <p:nvPicPr>
                      <p:cNvPr id="125983"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90375" y="2890104"/>
                        <a:ext cx="609600" cy="4755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32"/>
          <p:cNvGraphicFramePr>
            <a:graphicFrameLocks noChangeAspect="1"/>
          </p:cNvGraphicFramePr>
          <p:nvPr>
            <p:extLst>
              <p:ext uri="{D42A27DB-BD31-4B8C-83A1-F6EECF244321}">
                <p14:modId xmlns:p14="http://schemas.microsoft.com/office/powerpoint/2010/main" val="1812627281"/>
              </p:ext>
            </p:extLst>
          </p:nvPr>
        </p:nvGraphicFramePr>
        <p:xfrm>
          <a:off x="4068138" y="4340680"/>
          <a:ext cx="930275" cy="421494"/>
        </p:xfrm>
        <a:graphic>
          <a:graphicData uri="http://schemas.openxmlformats.org/presentationml/2006/ole">
            <mc:AlternateContent xmlns:mc="http://schemas.openxmlformats.org/markup-compatibility/2006">
              <mc:Choice xmlns:v="urn:schemas-microsoft-com:vml" Requires="v">
                <p:oleObj name="Equation" r:id="rId20" imgW="393359" imgH="177646" progId="Equation.DSMT4">
                  <p:embed/>
                </p:oleObj>
              </mc:Choice>
              <mc:Fallback>
                <p:oleObj name="Equation" r:id="rId20" imgW="393359" imgH="177646" progId="Equation.DSMT4">
                  <p:embed/>
                  <p:pic>
                    <p:nvPicPr>
                      <p:cNvPr id="125984"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68138" y="4340680"/>
                        <a:ext cx="930275" cy="4214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Rectangle 4"/>
          <p:cNvSpPr>
            <a:spLocks noChangeArrowheads="1"/>
          </p:cNvSpPr>
          <p:nvPr/>
        </p:nvSpPr>
        <p:spPr bwMode="auto">
          <a:xfrm>
            <a:off x="2747343" y="5085184"/>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auto" latinLnBrk="0" hangingPunct="0">
              <a:lnSpc>
                <a:spcPct val="100000"/>
              </a:lnSpc>
              <a:spcBef>
                <a:spcPct val="50000"/>
              </a:spcBef>
              <a:spcAft>
                <a:spcPts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6.29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直接型的舍入噪声</a:t>
            </a:r>
          </a:p>
        </p:txBody>
      </p:sp>
      <p:graphicFrame>
        <p:nvGraphicFramePr>
          <p:cNvPr id="38" name="Object 3"/>
          <p:cNvGraphicFramePr>
            <a:graphicFrameLocks noChangeAspect="1"/>
          </p:cNvGraphicFramePr>
          <p:nvPr>
            <p:extLst>
              <p:ext uri="{D42A27DB-BD31-4B8C-83A1-F6EECF244321}">
                <p14:modId xmlns:p14="http://schemas.microsoft.com/office/powerpoint/2010/main" val="718479903"/>
              </p:ext>
            </p:extLst>
          </p:nvPr>
        </p:nvGraphicFramePr>
        <p:xfrm>
          <a:off x="173591" y="5927556"/>
          <a:ext cx="2599092" cy="525780"/>
        </p:xfrm>
        <a:graphic>
          <a:graphicData uri="http://schemas.openxmlformats.org/presentationml/2006/ole">
            <mc:AlternateContent xmlns:mc="http://schemas.openxmlformats.org/markup-compatibility/2006">
              <mc:Choice xmlns:v="urn:schemas-microsoft-com:vml" Requires="v">
                <p:oleObj name="Equation" r:id="rId22" imgW="1130040" imgH="228600" progId="Equation.DSMT4">
                  <p:embed/>
                </p:oleObj>
              </mc:Choice>
              <mc:Fallback>
                <p:oleObj name="Equation" r:id="rId22" imgW="1130040" imgH="228600" progId="Equation.DSMT4">
                  <p:embed/>
                  <p:pic>
                    <p:nvPicPr>
                      <p:cNvPr id="4" name="Object 3"/>
                      <p:cNvPicPr>
                        <a:picLocks noChangeAspect="1" noChangeArrowheads="1"/>
                      </p:cNvPicPr>
                      <p:nvPr/>
                    </p:nvPicPr>
                    <p:blipFill>
                      <a:blip r:embed="rId23"/>
                      <a:srcRect/>
                      <a:stretch>
                        <a:fillRect/>
                      </a:stretch>
                    </p:blipFill>
                    <p:spPr bwMode="auto">
                      <a:xfrm>
                        <a:off x="173591" y="5927556"/>
                        <a:ext cx="259909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 name="矩形 40"/>
          <p:cNvSpPr/>
          <p:nvPr/>
        </p:nvSpPr>
        <p:spPr>
          <a:xfrm>
            <a:off x="2699792" y="5890094"/>
            <a:ext cx="2709396"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通过的网络都为</a:t>
            </a:r>
            <a:endParaRPr lang="zh-CN" altLang="en-US" b="1" dirty="0"/>
          </a:p>
        </p:txBody>
      </p:sp>
      <p:graphicFrame>
        <p:nvGraphicFramePr>
          <p:cNvPr id="42" name="Object 6"/>
          <p:cNvGraphicFramePr>
            <a:graphicFrameLocks noChangeAspect="1"/>
          </p:cNvGraphicFramePr>
          <p:nvPr>
            <p:extLst>
              <p:ext uri="{D42A27DB-BD31-4B8C-83A1-F6EECF244321}">
                <p14:modId xmlns:p14="http://schemas.microsoft.com/office/powerpoint/2010/main" val="1345915894"/>
              </p:ext>
            </p:extLst>
          </p:nvPr>
        </p:nvGraphicFramePr>
        <p:xfrm>
          <a:off x="5364088" y="5785192"/>
          <a:ext cx="3530160" cy="812160"/>
        </p:xfrm>
        <a:graphic>
          <a:graphicData uri="http://schemas.openxmlformats.org/presentationml/2006/ole">
            <mc:AlternateContent xmlns:mc="http://schemas.openxmlformats.org/markup-compatibility/2006">
              <mc:Choice xmlns:v="urn:schemas-microsoft-com:vml" Requires="v">
                <p:oleObj name="Equation" r:id="rId24" imgW="1765080" imgH="406080" progId="Equation.DSMT4">
                  <p:embed/>
                </p:oleObj>
              </mc:Choice>
              <mc:Fallback>
                <p:oleObj name="Equation" r:id="rId24" imgW="1765080" imgH="406080" progId="Equation.DSMT4">
                  <p:embed/>
                  <p:pic>
                    <p:nvPicPr>
                      <p:cNvPr id="8" name="Object 6"/>
                      <p:cNvPicPr>
                        <a:picLocks noChangeAspect="1" noChangeArrowheads="1"/>
                      </p:cNvPicPr>
                      <p:nvPr/>
                    </p:nvPicPr>
                    <p:blipFill>
                      <a:blip r:embed="rId25"/>
                      <a:srcRect/>
                      <a:stretch>
                        <a:fillRect/>
                      </a:stretch>
                    </p:blipFill>
                    <p:spPr bwMode="auto">
                      <a:xfrm>
                        <a:off x="5364088" y="5785192"/>
                        <a:ext cx="3530160" cy="81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577472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4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683568" y="2163738"/>
            <a:ext cx="7697787" cy="130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50000"/>
              </a:lnSpc>
              <a:spcBef>
                <a:spcPct val="0"/>
              </a:spcBef>
              <a:buFontTx/>
              <a:buNone/>
            </a:pPr>
            <a:r>
              <a:rPr lang="zh-CN" altLang="en-US" sz="2800" dirty="0">
                <a:latin typeface="Times New Roman" panose="02020603050405020304" pitchFamily="18" charset="0"/>
                <a:ea typeface="宋体" panose="02010600030101010101" pitchFamily="2" charset="-122"/>
              </a:rPr>
              <a:t>    </a:t>
            </a:r>
          </a:p>
          <a:p>
            <a:pPr>
              <a:lnSpc>
                <a:spcPct val="150000"/>
              </a:lnSpc>
              <a:spcBef>
                <a:spcPct val="0"/>
              </a:spcBef>
              <a:buFontTx/>
              <a:buNone/>
            </a:pPr>
            <a:endParaRPr lang="zh-CN" altLang="en-US" sz="2800" dirty="0">
              <a:latin typeface="Times New Roman" panose="02020603050405020304" pitchFamily="18" charset="0"/>
              <a:ea typeface="宋体" panose="02010600030101010101" pitchFamily="2" charset="-122"/>
            </a:endParaRPr>
          </a:p>
        </p:txBody>
      </p:sp>
      <p:graphicFrame>
        <p:nvGraphicFramePr>
          <p:cNvPr id="4" name="Object 4"/>
          <p:cNvGraphicFramePr>
            <a:graphicFrameLocks noChangeAspect="1"/>
          </p:cNvGraphicFramePr>
          <p:nvPr>
            <p:extLst>
              <p:ext uri="{D42A27DB-BD31-4B8C-83A1-F6EECF244321}">
                <p14:modId xmlns:p14="http://schemas.microsoft.com/office/powerpoint/2010/main" val="1111205202"/>
              </p:ext>
            </p:extLst>
          </p:nvPr>
        </p:nvGraphicFramePr>
        <p:xfrm>
          <a:off x="6641926" y="5373216"/>
          <a:ext cx="1314450" cy="527050"/>
        </p:xfrm>
        <a:graphic>
          <a:graphicData uri="http://schemas.openxmlformats.org/presentationml/2006/ole">
            <mc:AlternateContent xmlns:mc="http://schemas.openxmlformats.org/markup-compatibility/2006">
              <mc:Choice xmlns:v="urn:schemas-microsoft-com:vml" Requires="v">
                <p:oleObj name="Equation" r:id="rId2" imgW="571320" imgH="228600" progId="Equation.DSMT4">
                  <p:embed/>
                </p:oleObj>
              </mc:Choice>
              <mc:Fallback>
                <p:oleObj name="Equation" r:id="rId2" imgW="571320" imgH="228600" progId="Equation.DSMT4">
                  <p:embed/>
                  <p:pic>
                    <p:nvPicPr>
                      <p:cNvPr id="122884" name="Object 4"/>
                      <p:cNvPicPr>
                        <a:picLocks noChangeAspect="1" noChangeArrowheads="1"/>
                      </p:cNvPicPr>
                      <p:nvPr/>
                    </p:nvPicPr>
                    <p:blipFill>
                      <a:blip r:embed="rId3"/>
                      <a:srcRect/>
                      <a:stretch>
                        <a:fillRect/>
                      </a:stretch>
                    </p:blipFill>
                    <p:spPr bwMode="auto">
                      <a:xfrm>
                        <a:off x="6641926" y="5373216"/>
                        <a:ext cx="13144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8"/>
          <p:cNvGraphicFramePr>
            <a:graphicFrameLocks noChangeAspect="1"/>
          </p:cNvGraphicFramePr>
          <p:nvPr>
            <p:extLst>
              <p:ext uri="{D42A27DB-BD31-4B8C-83A1-F6EECF244321}">
                <p14:modId xmlns:p14="http://schemas.microsoft.com/office/powerpoint/2010/main" val="3707076262"/>
              </p:ext>
            </p:extLst>
          </p:nvPr>
        </p:nvGraphicFramePr>
        <p:xfrm>
          <a:off x="921855" y="3091508"/>
          <a:ext cx="2832588" cy="992772"/>
        </p:xfrm>
        <a:graphic>
          <a:graphicData uri="http://schemas.openxmlformats.org/presentationml/2006/ole">
            <mc:AlternateContent xmlns:mc="http://schemas.openxmlformats.org/markup-compatibility/2006">
              <mc:Choice xmlns:v="urn:schemas-microsoft-com:vml" Requires="v">
                <p:oleObj name="Equation" r:id="rId4" imgW="1231560" imgH="431640" progId="Equation.DSMT4">
                  <p:embed/>
                </p:oleObj>
              </mc:Choice>
              <mc:Fallback>
                <p:oleObj name="Equation" r:id="rId4" imgW="1231560" imgH="431640" progId="Equation.DSMT4">
                  <p:embed/>
                  <p:pic>
                    <p:nvPicPr>
                      <p:cNvPr id="67592"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1855" y="3091508"/>
                        <a:ext cx="2832588"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926500" y="2402304"/>
            <a:ext cx="2709396" cy="738664"/>
          </a:xfrm>
          <a:prstGeom prst="rect">
            <a:avLst/>
          </a:prstGeom>
        </p:spPr>
        <p:txBody>
          <a:bodyPr wrap="none">
            <a:spAutoFit/>
          </a:bodyPr>
          <a:lstStyle/>
          <a:p>
            <a:pPr lvl="0" eaLnBrk="1" hangingPunct="1">
              <a:lnSpc>
                <a:spcPct val="150000"/>
              </a:lnSpc>
            </a:pPr>
            <a:r>
              <a:rPr lang="zh-CN" altLang="en-US" sz="2800" b="1" dirty="0">
                <a:solidFill>
                  <a:srgbClr val="000000"/>
                </a:solidFill>
                <a:latin typeface="Times New Roman" panose="02020603050405020304" pitchFamily="18" charset="0"/>
              </a:rPr>
              <a:t>输出噪声的方差</a:t>
            </a:r>
          </a:p>
        </p:txBody>
      </p:sp>
      <p:graphicFrame>
        <p:nvGraphicFramePr>
          <p:cNvPr id="8" name="Object 6"/>
          <p:cNvGraphicFramePr>
            <a:graphicFrameLocks noChangeAspect="1"/>
          </p:cNvGraphicFramePr>
          <p:nvPr>
            <p:extLst>
              <p:ext uri="{D42A27DB-BD31-4B8C-83A1-F6EECF244321}">
                <p14:modId xmlns:p14="http://schemas.microsoft.com/office/powerpoint/2010/main" val="2666637204"/>
              </p:ext>
            </p:extLst>
          </p:nvPr>
        </p:nvGraphicFramePr>
        <p:xfrm>
          <a:off x="971599" y="836711"/>
          <a:ext cx="7180272" cy="893376"/>
        </p:xfrm>
        <a:graphic>
          <a:graphicData uri="http://schemas.openxmlformats.org/presentationml/2006/ole">
            <mc:AlternateContent xmlns:mc="http://schemas.openxmlformats.org/markup-compatibility/2006">
              <mc:Choice xmlns:v="urn:schemas-microsoft-com:vml" Requires="v">
                <p:oleObj name="Equation" r:id="rId6" imgW="3263760" imgH="406080" progId="Equation.DSMT4">
                  <p:embed/>
                </p:oleObj>
              </mc:Choice>
              <mc:Fallback>
                <p:oleObj name="Equation" r:id="rId6" imgW="3263760" imgH="406080" progId="Equation.DSMT4">
                  <p:embed/>
                  <p:pic>
                    <p:nvPicPr>
                      <p:cNvPr id="42" name="Object 6"/>
                      <p:cNvPicPr>
                        <a:picLocks noChangeAspect="1" noChangeArrowheads="1"/>
                      </p:cNvPicPr>
                      <p:nvPr/>
                    </p:nvPicPr>
                    <p:blipFill>
                      <a:blip r:embed="rId7"/>
                      <a:srcRect/>
                      <a:stretch>
                        <a:fillRect/>
                      </a:stretch>
                    </p:blipFill>
                    <p:spPr bwMode="auto">
                      <a:xfrm>
                        <a:off x="971599" y="836711"/>
                        <a:ext cx="7180272" cy="89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1915599674"/>
              </p:ext>
            </p:extLst>
          </p:nvPr>
        </p:nvGraphicFramePr>
        <p:xfrm>
          <a:off x="971600" y="1863675"/>
          <a:ext cx="4908550" cy="557213"/>
        </p:xfrm>
        <a:graphic>
          <a:graphicData uri="http://schemas.openxmlformats.org/presentationml/2006/ole">
            <mc:AlternateContent xmlns:mc="http://schemas.openxmlformats.org/markup-compatibility/2006">
              <mc:Choice xmlns:v="urn:schemas-microsoft-com:vml" Requires="v">
                <p:oleObj name="Equation" r:id="rId8" imgW="2133360" imgH="241200" progId="Equation.DSMT4">
                  <p:embed/>
                </p:oleObj>
              </mc:Choice>
              <mc:Fallback>
                <p:oleObj name="Equation" r:id="rId8" imgW="2133360" imgH="241200" progId="Equation.DSMT4">
                  <p:embed/>
                  <p:pic>
                    <p:nvPicPr>
                      <p:cNvPr id="11" name="Object 4"/>
                      <p:cNvPicPr>
                        <a:picLocks noChangeAspect="1" noChangeArrowheads="1"/>
                      </p:cNvPicPr>
                      <p:nvPr/>
                    </p:nvPicPr>
                    <p:blipFill>
                      <a:blip r:embed="rId9"/>
                      <a:srcRect/>
                      <a:stretch>
                        <a:fillRect/>
                      </a:stretch>
                    </p:blipFill>
                    <p:spPr bwMode="auto">
                      <a:xfrm>
                        <a:off x="971600" y="1863675"/>
                        <a:ext cx="490855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147531171"/>
              </p:ext>
            </p:extLst>
          </p:nvPr>
        </p:nvGraphicFramePr>
        <p:xfrm>
          <a:off x="1381645" y="4039160"/>
          <a:ext cx="6862763" cy="1022350"/>
        </p:xfrm>
        <a:graphic>
          <a:graphicData uri="http://schemas.openxmlformats.org/presentationml/2006/ole">
            <mc:AlternateContent xmlns:mc="http://schemas.openxmlformats.org/markup-compatibility/2006">
              <mc:Choice xmlns:v="urn:schemas-microsoft-com:vml" Requires="v">
                <p:oleObj name="Equation" r:id="rId10" imgW="2984400" imgH="444240" progId="Equation.DSMT4">
                  <p:embed/>
                </p:oleObj>
              </mc:Choice>
              <mc:Fallback>
                <p:oleObj name="Equation" r:id="rId10" imgW="2984400" imgH="444240" progId="Equation.DSMT4">
                  <p:embed/>
                  <p:pic>
                    <p:nvPicPr>
                      <p:cNvPr id="19" name="Object 5"/>
                      <p:cNvPicPr>
                        <a:picLocks noChangeAspect="1" noChangeArrowheads="1"/>
                      </p:cNvPicPr>
                      <p:nvPr/>
                    </p:nvPicPr>
                    <p:blipFill>
                      <a:blip r:embed="rId11"/>
                      <a:srcRect/>
                      <a:stretch>
                        <a:fillRect/>
                      </a:stretch>
                    </p:blipFill>
                    <p:spPr bwMode="auto">
                      <a:xfrm>
                        <a:off x="1381645" y="4039160"/>
                        <a:ext cx="6862763"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
          <p:cNvGraphicFramePr>
            <a:graphicFrameLocks noChangeAspect="1"/>
          </p:cNvGraphicFramePr>
          <p:nvPr>
            <p:extLst>
              <p:ext uri="{D42A27DB-BD31-4B8C-83A1-F6EECF244321}">
                <p14:modId xmlns:p14="http://schemas.microsoft.com/office/powerpoint/2010/main" val="1453000584"/>
              </p:ext>
            </p:extLst>
          </p:nvPr>
        </p:nvGraphicFramePr>
        <p:xfrm>
          <a:off x="3754443" y="3061930"/>
          <a:ext cx="4379913" cy="1022350"/>
        </p:xfrm>
        <a:graphic>
          <a:graphicData uri="http://schemas.openxmlformats.org/presentationml/2006/ole">
            <mc:AlternateContent xmlns:mc="http://schemas.openxmlformats.org/markup-compatibility/2006">
              <mc:Choice xmlns:v="urn:schemas-microsoft-com:vml" Requires="v">
                <p:oleObj name="Equation" r:id="rId12" imgW="1904760" imgH="444240" progId="Equation.DSMT4">
                  <p:embed/>
                </p:oleObj>
              </mc:Choice>
              <mc:Fallback>
                <p:oleObj name="Equation" r:id="rId12" imgW="1904760" imgH="444240" progId="Equation.DSMT4">
                  <p:embed/>
                  <p:pic>
                    <p:nvPicPr>
                      <p:cNvPr id="10" name="Object 5"/>
                      <p:cNvPicPr>
                        <a:picLocks noChangeAspect="1" noChangeArrowheads="1"/>
                      </p:cNvPicPr>
                      <p:nvPr/>
                    </p:nvPicPr>
                    <p:blipFill>
                      <a:blip r:embed="rId13"/>
                      <a:srcRect/>
                      <a:stretch>
                        <a:fillRect/>
                      </a:stretch>
                    </p:blipFill>
                    <p:spPr bwMode="auto">
                      <a:xfrm>
                        <a:off x="3754443" y="3061930"/>
                        <a:ext cx="4379913"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
          <p:cNvGraphicFramePr>
            <a:graphicFrameLocks noChangeAspect="1"/>
          </p:cNvGraphicFramePr>
          <p:nvPr>
            <p:extLst>
              <p:ext uri="{D42A27DB-BD31-4B8C-83A1-F6EECF244321}">
                <p14:modId xmlns:p14="http://schemas.microsoft.com/office/powerpoint/2010/main" val="2443632272"/>
              </p:ext>
            </p:extLst>
          </p:nvPr>
        </p:nvGraphicFramePr>
        <p:xfrm>
          <a:off x="1406053" y="5157192"/>
          <a:ext cx="5110163" cy="1022350"/>
        </p:xfrm>
        <a:graphic>
          <a:graphicData uri="http://schemas.openxmlformats.org/presentationml/2006/ole">
            <mc:AlternateContent xmlns:mc="http://schemas.openxmlformats.org/markup-compatibility/2006">
              <mc:Choice xmlns:v="urn:schemas-microsoft-com:vml" Requires="v">
                <p:oleObj name="Equation" r:id="rId14" imgW="2222280" imgH="444240" progId="Equation.DSMT4">
                  <p:embed/>
                </p:oleObj>
              </mc:Choice>
              <mc:Fallback>
                <p:oleObj name="Equation" r:id="rId14" imgW="2222280" imgH="444240" progId="Equation.DSMT4">
                  <p:embed/>
                  <p:pic>
                    <p:nvPicPr>
                      <p:cNvPr id="10" name="Object 5"/>
                      <p:cNvPicPr>
                        <a:picLocks noChangeAspect="1" noChangeArrowheads="1"/>
                      </p:cNvPicPr>
                      <p:nvPr/>
                    </p:nvPicPr>
                    <p:blipFill>
                      <a:blip r:embed="rId15"/>
                      <a:srcRect/>
                      <a:stretch>
                        <a:fillRect/>
                      </a:stretch>
                    </p:blipFill>
                    <p:spPr bwMode="auto">
                      <a:xfrm>
                        <a:off x="1406053" y="5157192"/>
                        <a:ext cx="5110163"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2245454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986522" y="909280"/>
            <a:ext cx="29979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spcAft>
                <a:spcPct val="60000"/>
              </a:spcAft>
              <a:buFontTx/>
              <a:buNone/>
            </a:pPr>
            <a:r>
              <a:rPr lang="en-US" altLang="zh-CN" sz="2800" dirty="0">
                <a:latin typeface="Times New Roman" panose="02020603050405020304" pitchFamily="18" charset="0"/>
                <a:ea typeface="宋体" panose="02010600030101010101" pitchFamily="2" charset="-122"/>
              </a:rPr>
              <a:t>(2)</a:t>
            </a:r>
            <a:r>
              <a:rPr lang="zh-CN" altLang="en-US" sz="2800" dirty="0">
                <a:latin typeface="Times New Roman" panose="02020603050405020304" pitchFamily="18" charset="0"/>
                <a:ea typeface="宋体" panose="02010600030101010101" pitchFamily="2" charset="-122"/>
              </a:rPr>
              <a:t>级联型</a:t>
            </a:r>
          </a:p>
        </p:txBody>
      </p:sp>
      <p:graphicFrame>
        <p:nvGraphicFramePr>
          <p:cNvPr id="5" name="Object 4"/>
          <p:cNvGraphicFramePr>
            <a:graphicFrameLocks noChangeAspect="1"/>
          </p:cNvGraphicFramePr>
          <p:nvPr>
            <p:extLst>
              <p:ext uri="{D42A27DB-BD31-4B8C-83A1-F6EECF244321}">
                <p14:modId xmlns:p14="http://schemas.microsoft.com/office/powerpoint/2010/main" val="3985050"/>
              </p:ext>
            </p:extLst>
          </p:nvPr>
        </p:nvGraphicFramePr>
        <p:xfrm>
          <a:off x="2915816" y="807432"/>
          <a:ext cx="3994848" cy="893376"/>
        </p:xfrm>
        <a:graphic>
          <a:graphicData uri="http://schemas.openxmlformats.org/presentationml/2006/ole">
            <mc:AlternateContent xmlns:mc="http://schemas.openxmlformats.org/markup-compatibility/2006">
              <mc:Choice xmlns:v="urn:schemas-microsoft-com:vml" Requires="v">
                <p:oleObj name="Equation" r:id="rId2" imgW="1815840" imgH="406080" progId="Equation.DSMT4">
                  <p:embed/>
                </p:oleObj>
              </mc:Choice>
              <mc:Fallback>
                <p:oleObj name="Equation" r:id="rId2" imgW="1815840" imgH="406080" progId="Equation.DSMT4">
                  <p:embed/>
                  <p:pic>
                    <p:nvPicPr>
                      <p:cNvPr id="130052" name="Object 4"/>
                      <p:cNvPicPr>
                        <a:picLocks noChangeAspect="1" noChangeArrowheads="1"/>
                      </p:cNvPicPr>
                      <p:nvPr/>
                    </p:nvPicPr>
                    <p:blipFill>
                      <a:blip r:embed="rId3"/>
                      <a:srcRect/>
                      <a:stretch>
                        <a:fillRect/>
                      </a:stretch>
                    </p:blipFill>
                    <p:spPr bwMode="auto">
                      <a:xfrm>
                        <a:off x="2915816" y="807432"/>
                        <a:ext cx="3994848" cy="89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6"/>
          <p:cNvGraphicFramePr>
            <a:graphicFrameLocks noChangeAspect="1"/>
          </p:cNvGraphicFramePr>
          <p:nvPr>
            <p:extLst>
              <p:ext uri="{D42A27DB-BD31-4B8C-83A1-F6EECF244321}">
                <p14:modId xmlns:p14="http://schemas.microsoft.com/office/powerpoint/2010/main" val="3965920586"/>
              </p:ext>
            </p:extLst>
          </p:nvPr>
        </p:nvGraphicFramePr>
        <p:xfrm>
          <a:off x="2222822" y="1667500"/>
          <a:ext cx="810260" cy="502920"/>
        </p:xfrm>
        <a:graphic>
          <a:graphicData uri="http://schemas.openxmlformats.org/presentationml/2006/ole">
            <mc:AlternateContent xmlns:mc="http://schemas.openxmlformats.org/markup-compatibility/2006">
              <mc:Choice xmlns:v="urn:schemas-microsoft-com:vml" Requires="v">
                <p:oleObj name="Equation" r:id="rId4" imgW="368280" imgH="228600" progId="Equation.DSMT4">
                  <p:embed/>
                </p:oleObj>
              </mc:Choice>
              <mc:Fallback>
                <p:oleObj name="Equation" r:id="rId4" imgW="368280" imgH="228600" progId="Equation.DSMT4">
                  <p:embed/>
                  <p:pic>
                    <p:nvPicPr>
                      <p:cNvPr id="120848" name="Object 16"/>
                      <p:cNvPicPr>
                        <a:picLocks noChangeAspect="1" noChangeArrowheads="1"/>
                      </p:cNvPicPr>
                      <p:nvPr/>
                    </p:nvPicPr>
                    <p:blipFill>
                      <a:blip r:embed="rId5"/>
                      <a:srcRect/>
                      <a:stretch>
                        <a:fillRect/>
                      </a:stretch>
                    </p:blipFill>
                    <p:spPr bwMode="auto">
                      <a:xfrm>
                        <a:off x="2222822" y="1667500"/>
                        <a:ext cx="81026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20"/>
          <p:cNvGraphicFramePr>
            <a:graphicFrameLocks noChangeAspect="1"/>
          </p:cNvGraphicFramePr>
          <p:nvPr>
            <p:extLst>
              <p:ext uri="{D42A27DB-BD31-4B8C-83A1-F6EECF244321}">
                <p14:modId xmlns:p14="http://schemas.microsoft.com/office/powerpoint/2010/main" val="561204448"/>
              </p:ext>
            </p:extLst>
          </p:nvPr>
        </p:nvGraphicFramePr>
        <p:xfrm>
          <a:off x="3048000" y="1651328"/>
          <a:ext cx="809625" cy="503237"/>
        </p:xfrm>
        <a:graphic>
          <a:graphicData uri="http://schemas.openxmlformats.org/presentationml/2006/ole">
            <mc:AlternateContent xmlns:mc="http://schemas.openxmlformats.org/markup-compatibility/2006">
              <mc:Choice xmlns:v="urn:schemas-microsoft-com:vml" Requires="v">
                <p:oleObj name="Equation" r:id="rId6" imgW="368280" imgH="228600" progId="Equation.DSMT4">
                  <p:embed/>
                </p:oleObj>
              </mc:Choice>
              <mc:Fallback>
                <p:oleObj name="Equation" r:id="rId6" imgW="368280" imgH="228600" progId="Equation.DSMT4">
                  <p:embed/>
                  <p:pic>
                    <p:nvPicPr>
                      <p:cNvPr id="120852" name="Object 20"/>
                      <p:cNvPicPr>
                        <a:picLocks noChangeAspect="1" noChangeArrowheads="1"/>
                      </p:cNvPicPr>
                      <p:nvPr/>
                    </p:nvPicPr>
                    <p:blipFill>
                      <a:blip r:embed="rId7"/>
                      <a:srcRect/>
                      <a:stretch>
                        <a:fillRect/>
                      </a:stretch>
                    </p:blipFill>
                    <p:spPr bwMode="auto">
                      <a:xfrm>
                        <a:off x="3048000" y="1651328"/>
                        <a:ext cx="80962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Line 23"/>
          <p:cNvSpPr>
            <a:spLocks noChangeShapeType="1"/>
          </p:cNvSpPr>
          <p:nvPr/>
        </p:nvSpPr>
        <p:spPr bwMode="auto">
          <a:xfrm>
            <a:off x="2846709" y="2200900"/>
            <a:ext cx="0" cy="7620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24"/>
          <p:cNvSpPr>
            <a:spLocks noChangeShapeType="1"/>
          </p:cNvSpPr>
          <p:nvPr/>
        </p:nvSpPr>
        <p:spPr bwMode="auto">
          <a:xfrm>
            <a:off x="3227709" y="2200900"/>
            <a:ext cx="0" cy="7620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27"/>
          <p:cNvSpPr>
            <a:spLocks noChangeShapeType="1"/>
          </p:cNvSpPr>
          <p:nvPr/>
        </p:nvSpPr>
        <p:spPr bwMode="auto">
          <a:xfrm>
            <a:off x="5208909" y="2124700"/>
            <a:ext cx="0" cy="8382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2" name="Object 19"/>
          <p:cNvGraphicFramePr>
            <a:graphicFrameLocks noChangeAspect="1"/>
          </p:cNvGraphicFramePr>
          <p:nvPr>
            <p:extLst>
              <p:ext uri="{D42A27DB-BD31-4B8C-83A1-F6EECF244321}">
                <p14:modId xmlns:p14="http://schemas.microsoft.com/office/powerpoint/2010/main" val="626380146"/>
              </p:ext>
            </p:extLst>
          </p:nvPr>
        </p:nvGraphicFramePr>
        <p:xfrm>
          <a:off x="4812034" y="1628800"/>
          <a:ext cx="810260" cy="502920"/>
        </p:xfrm>
        <a:graphic>
          <a:graphicData uri="http://schemas.openxmlformats.org/presentationml/2006/ole">
            <mc:AlternateContent xmlns:mc="http://schemas.openxmlformats.org/markup-compatibility/2006">
              <mc:Choice xmlns:v="urn:schemas-microsoft-com:vml" Requires="v">
                <p:oleObj name="Equation" r:id="rId8" imgW="368280" imgH="228600" progId="Equation.DSMT4">
                  <p:embed/>
                </p:oleObj>
              </mc:Choice>
              <mc:Fallback>
                <p:oleObj name="Equation" r:id="rId8" imgW="368280" imgH="228600" progId="Equation.DSMT4">
                  <p:embed/>
                  <p:pic>
                    <p:nvPicPr>
                      <p:cNvPr id="120851" name="Object 19"/>
                      <p:cNvPicPr>
                        <a:picLocks noChangeAspect="1" noChangeArrowheads="1"/>
                      </p:cNvPicPr>
                      <p:nvPr/>
                    </p:nvPicPr>
                    <p:blipFill>
                      <a:blip r:embed="rId9"/>
                      <a:srcRect/>
                      <a:stretch>
                        <a:fillRect/>
                      </a:stretch>
                    </p:blipFill>
                    <p:spPr bwMode="auto">
                      <a:xfrm>
                        <a:off x="4812034" y="1628800"/>
                        <a:ext cx="81026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组合 12"/>
          <p:cNvGrpSpPr>
            <a:grpSpLocks/>
          </p:cNvGrpSpPr>
          <p:nvPr/>
        </p:nvGrpSpPr>
        <p:grpSpPr bwMode="auto">
          <a:xfrm>
            <a:off x="1154434" y="2429500"/>
            <a:ext cx="7666038" cy="1689100"/>
            <a:chOff x="517525" y="3733800"/>
            <a:chExt cx="7666038" cy="1689100"/>
          </a:xfrm>
        </p:grpSpPr>
        <p:sp>
          <p:nvSpPr>
            <p:cNvPr id="14" name="Line 5"/>
            <p:cNvSpPr>
              <a:spLocks noChangeShapeType="1"/>
            </p:cNvSpPr>
            <p:nvPr/>
          </p:nvSpPr>
          <p:spPr bwMode="auto">
            <a:xfrm>
              <a:off x="1295400" y="4267200"/>
              <a:ext cx="6096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6"/>
            <p:cNvSpPr>
              <a:spLocks noChangeShapeType="1"/>
            </p:cNvSpPr>
            <p:nvPr/>
          </p:nvSpPr>
          <p:spPr bwMode="auto">
            <a:xfrm>
              <a:off x="1905000" y="4267200"/>
              <a:ext cx="6858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7"/>
            <p:cNvSpPr>
              <a:spLocks noChangeShapeType="1"/>
            </p:cNvSpPr>
            <p:nvPr/>
          </p:nvSpPr>
          <p:spPr bwMode="auto">
            <a:xfrm>
              <a:off x="2590800" y="4267200"/>
              <a:ext cx="9144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8"/>
            <p:cNvSpPr>
              <a:spLocks noChangeShapeType="1"/>
            </p:cNvSpPr>
            <p:nvPr/>
          </p:nvSpPr>
          <p:spPr bwMode="auto">
            <a:xfrm>
              <a:off x="3505200" y="4267200"/>
              <a:ext cx="21336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9"/>
            <p:cNvSpPr>
              <a:spLocks noChangeShapeType="1"/>
            </p:cNvSpPr>
            <p:nvPr/>
          </p:nvSpPr>
          <p:spPr bwMode="auto">
            <a:xfrm>
              <a:off x="5638800" y="4267200"/>
              <a:ext cx="6096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10"/>
            <p:cNvSpPr>
              <a:spLocks noChangeShapeType="1"/>
            </p:cNvSpPr>
            <p:nvPr/>
          </p:nvSpPr>
          <p:spPr bwMode="auto">
            <a:xfrm>
              <a:off x="5867400" y="42672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11"/>
            <p:cNvSpPr>
              <a:spLocks noChangeShapeType="1"/>
            </p:cNvSpPr>
            <p:nvPr/>
          </p:nvSpPr>
          <p:spPr bwMode="auto">
            <a:xfrm>
              <a:off x="5867400" y="4724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Freeform 12"/>
            <p:cNvSpPr>
              <a:spLocks/>
            </p:cNvSpPr>
            <p:nvPr/>
          </p:nvSpPr>
          <p:spPr bwMode="auto">
            <a:xfrm>
              <a:off x="4572000" y="4267200"/>
              <a:ext cx="1295400" cy="914400"/>
            </a:xfrm>
            <a:custGeom>
              <a:avLst/>
              <a:gdLst>
                <a:gd name="T0" fmla="*/ 2147483646 w 864"/>
                <a:gd name="T1" fmla="*/ 2147483646 h 528"/>
                <a:gd name="T2" fmla="*/ 2147483646 w 864"/>
                <a:gd name="T3" fmla="*/ 2147483646 h 528"/>
                <a:gd name="T4" fmla="*/ 0 w 864"/>
                <a:gd name="T5" fmla="*/ 0 h 528"/>
                <a:gd name="T6" fmla="*/ 0 60000 65536"/>
                <a:gd name="T7" fmla="*/ 0 60000 65536"/>
                <a:gd name="T8" fmla="*/ 0 60000 65536"/>
                <a:gd name="T9" fmla="*/ 0 w 864"/>
                <a:gd name="T10" fmla="*/ 0 h 528"/>
                <a:gd name="T11" fmla="*/ 864 w 864"/>
                <a:gd name="T12" fmla="*/ 528 h 528"/>
              </a:gdLst>
              <a:ahLst/>
              <a:cxnLst>
                <a:cxn ang="T6">
                  <a:pos x="T0" y="T1"/>
                </a:cxn>
                <a:cxn ang="T7">
                  <a:pos x="T2" y="T3"/>
                </a:cxn>
                <a:cxn ang="T8">
                  <a:pos x="T4" y="T5"/>
                </a:cxn>
              </a:cxnLst>
              <a:rect l="T9" t="T10" r="T11" b="T12"/>
              <a:pathLst>
                <a:path w="864" h="528">
                  <a:moveTo>
                    <a:pt x="864" y="528"/>
                  </a:moveTo>
                  <a:cubicBezTo>
                    <a:pt x="672" y="500"/>
                    <a:pt x="480" y="472"/>
                    <a:pt x="336" y="384"/>
                  </a:cubicBezTo>
                  <a:cubicBezTo>
                    <a:pt x="192" y="296"/>
                    <a:pt x="56" y="72"/>
                    <a:pt x="0" y="0"/>
                  </a:cubicBez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 name="Freeform 13"/>
            <p:cNvSpPr>
              <a:spLocks/>
            </p:cNvSpPr>
            <p:nvPr/>
          </p:nvSpPr>
          <p:spPr bwMode="auto">
            <a:xfrm>
              <a:off x="2590800" y="4267200"/>
              <a:ext cx="1295400" cy="914400"/>
            </a:xfrm>
            <a:custGeom>
              <a:avLst/>
              <a:gdLst>
                <a:gd name="T0" fmla="*/ 2147483646 w 864"/>
                <a:gd name="T1" fmla="*/ 2147483646 h 528"/>
                <a:gd name="T2" fmla="*/ 2147483646 w 864"/>
                <a:gd name="T3" fmla="*/ 2147483646 h 528"/>
                <a:gd name="T4" fmla="*/ 0 w 864"/>
                <a:gd name="T5" fmla="*/ 0 h 528"/>
                <a:gd name="T6" fmla="*/ 0 60000 65536"/>
                <a:gd name="T7" fmla="*/ 0 60000 65536"/>
                <a:gd name="T8" fmla="*/ 0 60000 65536"/>
                <a:gd name="T9" fmla="*/ 0 w 864"/>
                <a:gd name="T10" fmla="*/ 0 h 528"/>
                <a:gd name="T11" fmla="*/ 864 w 864"/>
                <a:gd name="T12" fmla="*/ 528 h 528"/>
              </a:gdLst>
              <a:ahLst/>
              <a:cxnLst>
                <a:cxn ang="T6">
                  <a:pos x="T0" y="T1"/>
                </a:cxn>
                <a:cxn ang="T7">
                  <a:pos x="T2" y="T3"/>
                </a:cxn>
                <a:cxn ang="T8">
                  <a:pos x="T4" y="T5"/>
                </a:cxn>
              </a:cxnLst>
              <a:rect l="T9" t="T10" r="T11" b="T12"/>
              <a:pathLst>
                <a:path w="864" h="528">
                  <a:moveTo>
                    <a:pt x="864" y="528"/>
                  </a:moveTo>
                  <a:cubicBezTo>
                    <a:pt x="672" y="500"/>
                    <a:pt x="480" y="472"/>
                    <a:pt x="336" y="384"/>
                  </a:cubicBezTo>
                  <a:cubicBezTo>
                    <a:pt x="192" y="296"/>
                    <a:pt x="56" y="72"/>
                    <a:pt x="0" y="0"/>
                  </a:cubicBez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 name="Line 14"/>
            <p:cNvSpPr>
              <a:spLocks noChangeShapeType="1"/>
            </p:cNvSpPr>
            <p:nvPr/>
          </p:nvSpPr>
          <p:spPr bwMode="auto">
            <a:xfrm>
              <a:off x="3886200" y="42672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15"/>
            <p:cNvSpPr>
              <a:spLocks noChangeShapeType="1"/>
            </p:cNvSpPr>
            <p:nvPr/>
          </p:nvSpPr>
          <p:spPr bwMode="auto">
            <a:xfrm flipV="1">
              <a:off x="3886200" y="48006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 name="Object 17"/>
            <p:cNvGraphicFramePr>
              <a:graphicFrameLocks noChangeAspect="1"/>
            </p:cNvGraphicFramePr>
            <p:nvPr/>
          </p:nvGraphicFramePr>
          <p:xfrm>
            <a:off x="517525" y="3810000"/>
            <a:ext cx="793750" cy="549275"/>
          </p:xfrm>
          <a:graphic>
            <a:graphicData uri="http://schemas.openxmlformats.org/presentationml/2006/ole">
              <mc:AlternateContent xmlns:mc="http://schemas.openxmlformats.org/markup-compatibility/2006">
                <mc:Choice xmlns:v="urn:schemas-microsoft-com:vml" Requires="v">
                  <p:oleObj name="Equation" r:id="rId10" imgW="330057" imgH="203112" progId="Equation.DSMT4">
                    <p:embed/>
                  </p:oleObj>
                </mc:Choice>
                <mc:Fallback>
                  <p:oleObj name="Equation" r:id="rId10" imgW="330057" imgH="203112" progId="Equation.DSMT4">
                    <p:embed/>
                    <p:pic>
                      <p:nvPicPr>
                        <p:cNvPr id="130071"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7525" y="3810000"/>
                          <a:ext cx="79375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18"/>
            <p:cNvGraphicFramePr>
              <a:graphicFrameLocks noChangeAspect="1"/>
            </p:cNvGraphicFramePr>
            <p:nvPr/>
          </p:nvGraphicFramePr>
          <p:xfrm>
            <a:off x="6296025" y="3733800"/>
            <a:ext cx="1887538" cy="633413"/>
          </p:xfrm>
          <a:graphic>
            <a:graphicData uri="http://schemas.openxmlformats.org/presentationml/2006/ole">
              <mc:AlternateContent xmlns:mc="http://schemas.openxmlformats.org/markup-compatibility/2006">
                <mc:Choice xmlns:v="urn:schemas-microsoft-com:vml" Requires="v">
                  <p:oleObj name="Equation" r:id="rId12" imgW="812447" imgH="241195" progId="Equation.DSMT4">
                    <p:embed/>
                  </p:oleObj>
                </mc:Choice>
                <mc:Fallback>
                  <p:oleObj name="Equation" r:id="rId12" imgW="812447" imgH="241195" progId="Equation.DSMT4">
                    <p:embed/>
                    <p:pic>
                      <p:nvPicPr>
                        <p:cNvPr id="130072"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96025" y="3733800"/>
                          <a:ext cx="1887538"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1"/>
            <p:cNvGraphicFramePr>
              <a:graphicFrameLocks noChangeAspect="1"/>
            </p:cNvGraphicFramePr>
            <p:nvPr/>
          </p:nvGraphicFramePr>
          <p:xfrm>
            <a:off x="3962400" y="4554538"/>
            <a:ext cx="533400" cy="566737"/>
          </p:xfrm>
          <a:graphic>
            <a:graphicData uri="http://schemas.openxmlformats.org/presentationml/2006/ole">
              <mc:AlternateContent xmlns:mc="http://schemas.openxmlformats.org/markup-compatibility/2006">
                <mc:Choice xmlns:v="urn:schemas-microsoft-com:vml" Requires="v">
                  <p:oleObj name="Equation" r:id="rId14" imgW="215713" imgH="203024" progId="Equation.DSMT4">
                    <p:embed/>
                  </p:oleObj>
                </mc:Choice>
                <mc:Fallback>
                  <p:oleObj name="Equation" r:id="rId14" imgW="215713" imgH="203024" progId="Equation.DSMT4">
                    <p:embed/>
                    <p:pic>
                      <p:nvPicPr>
                        <p:cNvPr id="130073"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62400" y="4554538"/>
                          <a:ext cx="533400" cy="56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2"/>
            <p:cNvGraphicFramePr>
              <a:graphicFrameLocks noChangeAspect="1"/>
            </p:cNvGraphicFramePr>
            <p:nvPr/>
          </p:nvGraphicFramePr>
          <p:xfrm>
            <a:off x="5943600" y="4554538"/>
            <a:ext cx="533400" cy="566737"/>
          </p:xfrm>
          <a:graphic>
            <a:graphicData uri="http://schemas.openxmlformats.org/presentationml/2006/ole">
              <mc:AlternateContent xmlns:mc="http://schemas.openxmlformats.org/markup-compatibility/2006">
                <mc:Choice xmlns:v="urn:schemas-microsoft-com:vml" Requires="v">
                  <p:oleObj name="Equation" r:id="rId16" imgW="215713" imgH="203024" progId="Equation.DSMT4">
                    <p:embed/>
                  </p:oleObj>
                </mc:Choice>
                <mc:Fallback>
                  <p:oleObj name="Equation" r:id="rId16" imgW="215713" imgH="203024" progId="Equation.DSMT4">
                    <p:embed/>
                    <p:pic>
                      <p:nvPicPr>
                        <p:cNvPr id="130074"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43600" y="4554538"/>
                          <a:ext cx="533400" cy="56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Line 25"/>
            <p:cNvSpPr>
              <a:spLocks noChangeShapeType="1"/>
            </p:cNvSpPr>
            <p:nvPr/>
          </p:nvSpPr>
          <p:spPr bwMode="auto">
            <a:xfrm flipH="1" flipV="1">
              <a:off x="3048000" y="48768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26"/>
            <p:cNvSpPr>
              <a:spLocks noChangeShapeType="1"/>
            </p:cNvSpPr>
            <p:nvPr/>
          </p:nvSpPr>
          <p:spPr bwMode="auto">
            <a:xfrm flipH="1" flipV="1">
              <a:off x="5029200" y="48768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1" name="Object 28"/>
            <p:cNvGraphicFramePr>
              <a:graphicFrameLocks noChangeAspect="1"/>
            </p:cNvGraphicFramePr>
            <p:nvPr/>
          </p:nvGraphicFramePr>
          <p:xfrm>
            <a:off x="2819400" y="5029200"/>
            <a:ext cx="533400" cy="393700"/>
          </p:xfrm>
          <a:graphic>
            <a:graphicData uri="http://schemas.openxmlformats.org/presentationml/2006/ole">
              <mc:AlternateContent xmlns:mc="http://schemas.openxmlformats.org/markup-compatibility/2006">
                <mc:Choice xmlns:v="urn:schemas-microsoft-com:vml" Requires="v">
                  <p:oleObj name="Equation" r:id="rId18" imgW="241091" imgH="177646" progId="Equation.DSMT4">
                    <p:embed/>
                  </p:oleObj>
                </mc:Choice>
                <mc:Fallback>
                  <p:oleObj name="Equation" r:id="rId18" imgW="241091" imgH="177646" progId="Equation.DSMT4">
                    <p:embed/>
                    <p:pic>
                      <p:nvPicPr>
                        <p:cNvPr id="130077" name="Object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19400" y="5029200"/>
                          <a:ext cx="533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29"/>
            <p:cNvGraphicFramePr>
              <a:graphicFrameLocks noChangeAspect="1"/>
            </p:cNvGraphicFramePr>
            <p:nvPr/>
          </p:nvGraphicFramePr>
          <p:xfrm>
            <a:off x="4864100" y="5029200"/>
            <a:ext cx="533400" cy="393700"/>
          </p:xfrm>
          <a:graphic>
            <a:graphicData uri="http://schemas.openxmlformats.org/presentationml/2006/ole">
              <mc:AlternateContent xmlns:mc="http://schemas.openxmlformats.org/markup-compatibility/2006">
                <mc:Choice xmlns:v="urn:schemas-microsoft-com:vml" Requires="v">
                  <p:oleObj name="Equation" r:id="rId20" imgW="241091" imgH="177646" progId="Equation.DSMT4">
                    <p:embed/>
                  </p:oleObj>
                </mc:Choice>
                <mc:Fallback>
                  <p:oleObj name="Equation" r:id="rId20" imgW="241091" imgH="177646" progId="Equation.DSMT4">
                    <p:embed/>
                    <p:pic>
                      <p:nvPicPr>
                        <p:cNvPr id="130078"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64100" y="5029200"/>
                          <a:ext cx="533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30"/>
            <p:cNvGraphicFramePr>
              <a:graphicFrameLocks noChangeAspect="1"/>
            </p:cNvGraphicFramePr>
            <p:nvPr/>
          </p:nvGraphicFramePr>
          <p:xfrm>
            <a:off x="1476375" y="3860800"/>
            <a:ext cx="701675" cy="393700"/>
          </p:xfrm>
          <a:graphic>
            <a:graphicData uri="http://schemas.openxmlformats.org/presentationml/2006/ole">
              <mc:AlternateContent xmlns:mc="http://schemas.openxmlformats.org/markup-compatibility/2006">
                <mc:Choice xmlns:v="urn:schemas-microsoft-com:vml" Requires="v">
                  <p:oleObj name="Equation" r:id="rId22" imgW="317087" imgH="177569" progId="Equation.DSMT4">
                    <p:embed/>
                  </p:oleObj>
                </mc:Choice>
                <mc:Fallback>
                  <p:oleObj name="Equation" r:id="rId22" imgW="317087" imgH="177569" progId="Equation.DSMT4">
                    <p:embed/>
                    <p:pic>
                      <p:nvPicPr>
                        <p:cNvPr id="130079" name="Object 3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476375" y="3860800"/>
                          <a:ext cx="701675"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4" name="Object 3"/>
          <p:cNvGraphicFramePr>
            <a:graphicFrameLocks noChangeAspect="1"/>
          </p:cNvGraphicFramePr>
          <p:nvPr>
            <p:extLst>
              <p:ext uri="{D42A27DB-BD31-4B8C-83A1-F6EECF244321}">
                <p14:modId xmlns:p14="http://schemas.microsoft.com/office/powerpoint/2010/main" val="593280994"/>
              </p:ext>
            </p:extLst>
          </p:nvPr>
        </p:nvGraphicFramePr>
        <p:xfrm>
          <a:off x="762000" y="4521771"/>
          <a:ext cx="1723068" cy="525780"/>
        </p:xfrm>
        <a:graphic>
          <a:graphicData uri="http://schemas.openxmlformats.org/presentationml/2006/ole">
            <mc:AlternateContent xmlns:mc="http://schemas.openxmlformats.org/markup-compatibility/2006">
              <mc:Choice xmlns:v="urn:schemas-microsoft-com:vml" Requires="v">
                <p:oleObj name="Equation" r:id="rId24" imgW="749160" imgH="228600" progId="Equation.DSMT4">
                  <p:embed/>
                </p:oleObj>
              </mc:Choice>
              <mc:Fallback>
                <p:oleObj name="Equation" r:id="rId24" imgW="749160" imgH="228600" progId="Equation.DSMT4">
                  <p:embed/>
                  <p:pic>
                    <p:nvPicPr>
                      <p:cNvPr id="38" name="Object 3"/>
                      <p:cNvPicPr>
                        <a:picLocks noChangeAspect="1" noChangeArrowheads="1"/>
                      </p:cNvPicPr>
                      <p:nvPr/>
                    </p:nvPicPr>
                    <p:blipFill>
                      <a:blip r:embed="rId25"/>
                      <a:srcRect/>
                      <a:stretch>
                        <a:fillRect/>
                      </a:stretch>
                    </p:blipFill>
                    <p:spPr bwMode="auto">
                      <a:xfrm>
                        <a:off x="762000" y="4521771"/>
                        <a:ext cx="1723068"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矩形 34"/>
          <p:cNvSpPr/>
          <p:nvPr/>
        </p:nvSpPr>
        <p:spPr>
          <a:xfrm>
            <a:off x="2556264" y="4509120"/>
            <a:ext cx="1988045"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通过的网络</a:t>
            </a:r>
            <a:endParaRPr lang="zh-CN" altLang="en-US" b="1" dirty="0"/>
          </a:p>
        </p:txBody>
      </p:sp>
      <p:graphicFrame>
        <p:nvGraphicFramePr>
          <p:cNvPr id="36" name="Object 6"/>
          <p:cNvGraphicFramePr>
            <a:graphicFrameLocks noChangeAspect="1"/>
          </p:cNvGraphicFramePr>
          <p:nvPr>
            <p:extLst>
              <p:ext uri="{D42A27DB-BD31-4B8C-83A1-F6EECF244321}">
                <p14:modId xmlns:p14="http://schemas.microsoft.com/office/powerpoint/2010/main" val="2452762073"/>
              </p:ext>
            </p:extLst>
          </p:nvPr>
        </p:nvGraphicFramePr>
        <p:xfrm>
          <a:off x="1295400" y="4917751"/>
          <a:ext cx="7291944" cy="921888"/>
        </p:xfrm>
        <a:graphic>
          <a:graphicData uri="http://schemas.openxmlformats.org/presentationml/2006/ole">
            <mc:AlternateContent xmlns:mc="http://schemas.openxmlformats.org/markup-compatibility/2006">
              <mc:Choice xmlns:v="urn:schemas-microsoft-com:vml" Requires="v">
                <p:oleObj name="Equation" r:id="rId26" imgW="3314520" imgH="419040" progId="Equation.DSMT4">
                  <p:embed/>
                </p:oleObj>
              </mc:Choice>
              <mc:Fallback>
                <p:oleObj name="Equation" r:id="rId26" imgW="3314520" imgH="419040" progId="Equation.DSMT4">
                  <p:embed/>
                  <p:pic>
                    <p:nvPicPr>
                      <p:cNvPr id="42" name="Object 6"/>
                      <p:cNvPicPr>
                        <a:picLocks noChangeAspect="1" noChangeArrowheads="1"/>
                      </p:cNvPicPr>
                      <p:nvPr/>
                    </p:nvPicPr>
                    <p:blipFill>
                      <a:blip r:embed="rId27"/>
                      <a:srcRect/>
                      <a:stretch>
                        <a:fillRect/>
                      </a:stretch>
                    </p:blipFill>
                    <p:spPr bwMode="auto">
                      <a:xfrm>
                        <a:off x="1295400" y="4917751"/>
                        <a:ext cx="7291944" cy="92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3"/>
          <p:cNvGraphicFramePr>
            <a:graphicFrameLocks noChangeAspect="1"/>
          </p:cNvGraphicFramePr>
          <p:nvPr>
            <p:extLst>
              <p:ext uri="{D42A27DB-BD31-4B8C-83A1-F6EECF244321}">
                <p14:modId xmlns:p14="http://schemas.microsoft.com/office/powerpoint/2010/main" val="1198773537"/>
              </p:ext>
            </p:extLst>
          </p:nvPr>
        </p:nvGraphicFramePr>
        <p:xfrm>
          <a:off x="777082" y="5961931"/>
          <a:ext cx="847044" cy="525780"/>
        </p:xfrm>
        <a:graphic>
          <a:graphicData uri="http://schemas.openxmlformats.org/presentationml/2006/ole">
            <mc:AlternateContent xmlns:mc="http://schemas.openxmlformats.org/markup-compatibility/2006">
              <mc:Choice xmlns:v="urn:schemas-microsoft-com:vml" Requires="v">
                <p:oleObj name="Equation" r:id="rId28" imgW="368280" imgH="228600" progId="Equation.DSMT4">
                  <p:embed/>
                </p:oleObj>
              </mc:Choice>
              <mc:Fallback>
                <p:oleObj name="Equation" r:id="rId28" imgW="368280" imgH="228600" progId="Equation.DSMT4">
                  <p:embed/>
                  <p:pic>
                    <p:nvPicPr>
                      <p:cNvPr id="34" name="Object 3"/>
                      <p:cNvPicPr>
                        <a:picLocks noChangeAspect="1" noChangeArrowheads="1"/>
                      </p:cNvPicPr>
                      <p:nvPr/>
                    </p:nvPicPr>
                    <p:blipFill>
                      <a:blip r:embed="rId29"/>
                      <a:srcRect/>
                      <a:stretch>
                        <a:fillRect/>
                      </a:stretch>
                    </p:blipFill>
                    <p:spPr bwMode="auto">
                      <a:xfrm>
                        <a:off x="777082" y="5961931"/>
                        <a:ext cx="847044"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矩形 37"/>
          <p:cNvSpPr/>
          <p:nvPr/>
        </p:nvSpPr>
        <p:spPr>
          <a:xfrm>
            <a:off x="1633929" y="5964491"/>
            <a:ext cx="1988045"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通过的网络</a:t>
            </a:r>
            <a:endParaRPr lang="zh-CN" altLang="en-US" b="1" dirty="0"/>
          </a:p>
        </p:txBody>
      </p:sp>
      <p:graphicFrame>
        <p:nvGraphicFramePr>
          <p:cNvPr id="39" name="Object 6"/>
          <p:cNvGraphicFramePr>
            <a:graphicFrameLocks noChangeAspect="1"/>
          </p:cNvGraphicFramePr>
          <p:nvPr>
            <p:extLst>
              <p:ext uri="{D42A27DB-BD31-4B8C-83A1-F6EECF244321}">
                <p14:modId xmlns:p14="http://schemas.microsoft.com/office/powerpoint/2010/main" val="920125716"/>
              </p:ext>
            </p:extLst>
          </p:nvPr>
        </p:nvGraphicFramePr>
        <p:xfrm>
          <a:off x="3723009" y="5810359"/>
          <a:ext cx="2597760" cy="893376"/>
        </p:xfrm>
        <a:graphic>
          <a:graphicData uri="http://schemas.openxmlformats.org/presentationml/2006/ole">
            <mc:AlternateContent xmlns:mc="http://schemas.openxmlformats.org/markup-compatibility/2006">
              <mc:Choice xmlns:v="urn:schemas-microsoft-com:vml" Requires="v">
                <p:oleObj name="Equation" r:id="rId30" imgW="1180800" imgH="406080" progId="Equation.DSMT4">
                  <p:embed/>
                </p:oleObj>
              </mc:Choice>
              <mc:Fallback>
                <p:oleObj name="Equation" r:id="rId30" imgW="1180800" imgH="406080" progId="Equation.DSMT4">
                  <p:embed/>
                  <p:pic>
                    <p:nvPicPr>
                      <p:cNvPr id="36" name="Object 6"/>
                      <p:cNvPicPr>
                        <a:picLocks noChangeAspect="1" noChangeArrowheads="1"/>
                      </p:cNvPicPr>
                      <p:nvPr/>
                    </p:nvPicPr>
                    <p:blipFill>
                      <a:blip r:embed="rId31"/>
                      <a:srcRect/>
                      <a:stretch>
                        <a:fillRect/>
                      </a:stretch>
                    </p:blipFill>
                    <p:spPr bwMode="auto">
                      <a:xfrm>
                        <a:off x="3723009" y="5810359"/>
                        <a:ext cx="2597760" cy="89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矩形 39"/>
          <p:cNvSpPr/>
          <p:nvPr/>
        </p:nvSpPr>
        <p:spPr>
          <a:xfrm>
            <a:off x="3885892" y="4074497"/>
            <a:ext cx="3147015" cy="400110"/>
          </a:xfrm>
          <a:prstGeom prst="rect">
            <a:avLst/>
          </a:prstGeom>
        </p:spPr>
        <p:txBody>
          <a:bodyPr wrap="none">
            <a:spAutoFit/>
          </a:bodyPr>
          <a:lstStyle/>
          <a:p>
            <a:r>
              <a:rPr lang="zh-CN" altLang="en-US" sz="2000" b="1" dirty="0">
                <a:solidFill>
                  <a:srgbClr val="000000"/>
                </a:solidFill>
              </a:rPr>
              <a:t>图</a:t>
            </a:r>
            <a:r>
              <a:rPr lang="en-US" altLang="zh-CN" sz="2000" b="1" dirty="0">
                <a:solidFill>
                  <a:srgbClr val="000000"/>
                </a:solidFill>
              </a:rPr>
              <a:t>6.30  </a:t>
            </a:r>
            <a:r>
              <a:rPr lang="zh-CN" altLang="en-US" sz="2000" b="1" dirty="0">
                <a:solidFill>
                  <a:srgbClr val="000000"/>
                </a:solidFill>
              </a:rPr>
              <a:t>级联型的舍入噪声</a:t>
            </a:r>
          </a:p>
        </p:txBody>
      </p:sp>
      <p:sp>
        <p:nvSpPr>
          <p:cNvPr id="42"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114604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3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35" grpId="0"/>
      <p:bldP spid="3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6"/>
          <p:cNvGraphicFramePr>
            <a:graphicFrameLocks noChangeAspect="1"/>
          </p:cNvGraphicFramePr>
          <p:nvPr>
            <p:extLst>
              <p:ext uri="{D42A27DB-BD31-4B8C-83A1-F6EECF244321}">
                <p14:modId xmlns:p14="http://schemas.microsoft.com/office/powerpoint/2010/main" val="3551766110"/>
              </p:ext>
            </p:extLst>
          </p:nvPr>
        </p:nvGraphicFramePr>
        <p:xfrm>
          <a:off x="899592" y="836711"/>
          <a:ext cx="6853896" cy="852768"/>
        </p:xfrm>
        <a:graphic>
          <a:graphicData uri="http://schemas.openxmlformats.org/presentationml/2006/ole">
            <mc:AlternateContent xmlns:mc="http://schemas.openxmlformats.org/markup-compatibility/2006">
              <mc:Choice xmlns:v="urn:schemas-microsoft-com:vml" Requires="v">
                <p:oleObj name="Equation" r:id="rId2" imgW="3263760" imgH="406080" progId="Equation.DSMT4">
                  <p:embed/>
                </p:oleObj>
              </mc:Choice>
              <mc:Fallback>
                <p:oleObj name="Equation" r:id="rId2" imgW="3263760" imgH="406080" progId="Equation.DSMT4">
                  <p:embed/>
                  <p:pic>
                    <p:nvPicPr>
                      <p:cNvPr id="8" name="Object 6"/>
                      <p:cNvPicPr>
                        <a:picLocks noChangeAspect="1" noChangeArrowheads="1"/>
                      </p:cNvPicPr>
                      <p:nvPr/>
                    </p:nvPicPr>
                    <p:blipFill>
                      <a:blip r:embed="rId3"/>
                      <a:srcRect/>
                      <a:stretch>
                        <a:fillRect/>
                      </a:stretch>
                    </p:blipFill>
                    <p:spPr bwMode="auto">
                      <a:xfrm>
                        <a:off x="899592" y="836711"/>
                        <a:ext cx="6853896" cy="852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4"/>
          <p:cNvGraphicFramePr>
            <a:graphicFrameLocks noChangeAspect="1"/>
          </p:cNvGraphicFramePr>
          <p:nvPr>
            <p:extLst>
              <p:ext uri="{D42A27DB-BD31-4B8C-83A1-F6EECF244321}">
                <p14:modId xmlns:p14="http://schemas.microsoft.com/office/powerpoint/2010/main" val="3052628441"/>
              </p:ext>
            </p:extLst>
          </p:nvPr>
        </p:nvGraphicFramePr>
        <p:xfrm>
          <a:off x="921855" y="1772816"/>
          <a:ext cx="4480056" cy="506520"/>
        </p:xfrm>
        <a:graphic>
          <a:graphicData uri="http://schemas.openxmlformats.org/presentationml/2006/ole">
            <mc:AlternateContent xmlns:mc="http://schemas.openxmlformats.org/markup-compatibility/2006">
              <mc:Choice xmlns:v="urn:schemas-microsoft-com:vml" Requires="v">
                <p:oleObj name="Equation" r:id="rId4" imgW="2133360" imgH="241200" progId="Equation.DSMT4">
                  <p:embed/>
                </p:oleObj>
              </mc:Choice>
              <mc:Fallback>
                <p:oleObj name="Equation" r:id="rId4" imgW="2133360" imgH="241200" progId="Equation.DSMT4">
                  <p:embed/>
                  <p:pic>
                    <p:nvPicPr>
                      <p:cNvPr id="9" name="Object 4"/>
                      <p:cNvPicPr>
                        <a:picLocks noChangeAspect="1" noChangeArrowheads="1"/>
                      </p:cNvPicPr>
                      <p:nvPr/>
                    </p:nvPicPr>
                    <p:blipFill>
                      <a:blip r:embed="rId5"/>
                      <a:srcRect/>
                      <a:stretch>
                        <a:fillRect/>
                      </a:stretch>
                    </p:blipFill>
                    <p:spPr bwMode="auto">
                      <a:xfrm>
                        <a:off x="921855" y="1772816"/>
                        <a:ext cx="4480056" cy="506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6"/>
          <p:cNvGraphicFramePr>
            <a:graphicFrameLocks noChangeAspect="1"/>
          </p:cNvGraphicFramePr>
          <p:nvPr>
            <p:extLst>
              <p:ext uri="{D42A27DB-BD31-4B8C-83A1-F6EECF244321}">
                <p14:modId xmlns:p14="http://schemas.microsoft.com/office/powerpoint/2010/main" val="2643625952"/>
              </p:ext>
            </p:extLst>
          </p:nvPr>
        </p:nvGraphicFramePr>
        <p:xfrm>
          <a:off x="952346" y="2276872"/>
          <a:ext cx="2479680" cy="852768"/>
        </p:xfrm>
        <a:graphic>
          <a:graphicData uri="http://schemas.openxmlformats.org/presentationml/2006/ole">
            <mc:AlternateContent xmlns:mc="http://schemas.openxmlformats.org/markup-compatibility/2006">
              <mc:Choice xmlns:v="urn:schemas-microsoft-com:vml" Requires="v">
                <p:oleObj name="Equation" r:id="rId6" imgW="1180800" imgH="406080" progId="Equation.DSMT4">
                  <p:embed/>
                </p:oleObj>
              </mc:Choice>
              <mc:Fallback>
                <p:oleObj name="Equation" r:id="rId6" imgW="1180800" imgH="406080" progId="Equation.DSMT4">
                  <p:embed/>
                  <p:pic>
                    <p:nvPicPr>
                      <p:cNvPr id="39" name="Object 6"/>
                      <p:cNvPicPr>
                        <a:picLocks noChangeAspect="1" noChangeArrowheads="1"/>
                      </p:cNvPicPr>
                      <p:nvPr/>
                    </p:nvPicPr>
                    <p:blipFill>
                      <a:blip r:embed="rId7"/>
                      <a:srcRect/>
                      <a:stretch>
                        <a:fillRect/>
                      </a:stretch>
                    </p:blipFill>
                    <p:spPr bwMode="auto">
                      <a:xfrm>
                        <a:off x="952346" y="2276872"/>
                        <a:ext cx="2479680" cy="852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4"/>
          <p:cNvGraphicFramePr>
            <a:graphicFrameLocks noChangeAspect="1"/>
          </p:cNvGraphicFramePr>
          <p:nvPr>
            <p:extLst>
              <p:ext uri="{D42A27DB-BD31-4B8C-83A1-F6EECF244321}">
                <p14:modId xmlns:p14="http://schemas.microsoft.com/office/powerpoint/2010/main" val="1806996559"/>
              </p:ext>
            </p:extLst>
          </p:nvPr>
        </p:nvGraphicFramePr>
        <p:xfrm>
          <a:off x="4076995" y="2420888"/>
          <a:ext cx="2266488" cy="506520"/>
        </p:xfrm>
        <a:graphic>
          <a:graphicData uri="http://schemas.openxmlformats.org/presentationml/2006/ole">
            <mc:AlternateContent xmlns:mc="http://schemas.openxmlformats.org/markup-compatibility/2006">
              <mc:Choice xmlns:v="urn:schemas-microsoft-com:vml" Requires="v">
                <p:oleObj name="Equation" r:id="rId8" imgW="1079280" imgH="241200" progId="Equation.DSMT4">
                  <p:embed/>
                </p:oleObj>
              </mc:Choice>
              <mc:Fallback>
                <p:oleObj name="Equation" r:id="rId8" imgW="1079280" imgH="241200" progId="Equation.DSMT4">
                  <p:embed/>
                  <p:pic>
                    <p:nvPicPr>
                      <p:cNvPr id="9" name="Object 4"/>
                      <p:cNvPicPr>
                        <a:picLocks noChangeAspect="1" noChangeArrowheads="1"/>
                      </p:cNvPicPr>
                      <p:nvPr/>
                    </p:nvPicPr>
                    <p:blipFill>
                      <a:blip r:embed="rId9"/>
                      <a:srcRect/>
                      <a:stretch>
                        <a:fillRect/>
                      </a:stretch>
                    </p:blipFill>
                    <p:spPr bwMode="auto">
                      <a:xfrm>
                        <a:off x="4076995" y="2420888"/>
                        <a:ext cx="2266488" cy="506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8"/>
          <p:cNvGraphicFramePr>
            <a:graphicFrameLocks noChangeAspect="1"/>
          </p:cNvGraphicFramePr>
          <p:nvPr>
            <p:extLst>
              <p:ext uri="{D42A27DB-BD31-4B8C-83A1-F6EECF244321}">
                <p14:modId xmlns:p14="http://schemas.microsoft.com/office/powerpoint/2010/main" val="2712377552"/>
              </p:ext>
            </p:extLst>
          </p:nvPr>
        </p:nvGraphicFramePr>
        <p:xfrm>
          <a:off x="969371" y="3140968"/>
          <a:ext cx="4609440" cy="949608"/>
        </p:xfrm>
        <a:graphic>
          <a:graphicData uri="http://schemas.openxmlformats.org/presentationml/2006/ole">
            <mc:AlternateContent xmlns:mc="http://schemas.openxmlformats.org/markup-compatibility/2006">
              <mc:Choice xmlns:v="urn:schemas-microsoft-com:vml" Requires="v">
                <p:oleObj name="Equation" r:id="rId10" imgW="2095200" imgH="431640" progId="Equation.DSMT4">
                  <p:embed/>
                </p:oleObj>
              </mc:Choice>
              <mc:Fallback>
                <p:oleObj name="Equation" r:id="rId10" imgW="2095200" imgH="431640" progId="Equation.DSMT4">
                  <p:embed/>
                  <p:pic>
                    <p:nvPicPr>
                      <p:cNvPr id="4" name="Object 8"/>
                      <p:cNvPicPr>
                        <a:picLocks noChangeAspect="1" noChangeArrowheads="1"/>
                      </p:cNvPicPr>
                      <p:nvPr/>
                    </p:nvPicPr>
                    <p:blipFill>
                      <a:blip r:embed="rId11"/>
                      <a:srcRect/>
                      <a:stretch>
                        <a:fillRect/>
                      </a:stretch>
                    </p:blipFill>
                    <p:spPr bwMode="auto">
                      <a:xfrm>
                        <a:off x="969371" y="3140968"/>
                        <a:ext cx="4609440"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8"/>
          <p:cNvGraphicFramePr>
            <a:graphicFrameLocks noChangeAspect="1"/>
          </p:cNvGraphicFramePr>
          <p:nvPr>
            <p:extLst>
              <p:ext uri="{D42A27DB-BD31-4B8C-83A1-F6EECF244321}">
                <p14:modId xmlns:p14="http://schemas.microsoft.com/office/powerpoint/2010/main" val="2039396815"/>
              </p:ext>
            </p:extLst>
          </p:nvPr>
        </p:nvGraphicFramePr>
        <p:xfrm>
          <a:off x="1487513" y="6165304"/>
          <a:ext cx="1229184" cy="502920"/>
        </p:xfrm>
        <a:graphic>
          <a:graphicData uri="http://schemas.openxmlformats.org/presentationml/2006/ole">
            <mc:AlternateContent xmlns:mc="http://schemas.openxmlformats.org/markup-compatibility/2006">
              <mc:Choice xmlns:v="urn:schemas-microsoft-com:vml" Requires="v">
                <p:oleObj name="Equation" r:id="rId12" imgW="558720" imgH="228600" progId="Equation.DSMT4">
                  <p:embed/>
                </p:oleObj>
              </mc:Choice>
              <mc:Fallback>
                <p:oleObj name="Equation" r:id="rId12" imgW="558720" imgH="228600" progId="Equation.DSMT4">
                  <p:embed/>
                  <p:pic>
                    <p:nvPicPr>
                      <p:cNvPr id="25" name="Object 8"/>
                      <p:cNvPicPr>
                        <a:picLocks noChangeAspect="1" noChangeArrowheads="1"/>
                      </p:cNvPicPr>
                      <p:nvPr/>
                    </p:nvPicPr>
                    <p:blipFill>
                      <a:blip r:embed="rId13"/>
                      <a:srcRect/>
                      <a:stretch>
                        <a:fillRect/>
                      </a:stretch>
                    </p:blipFill>
                    <p:spPr bwMode="auto">
                      <a:xfrm>
                        <a:off x="1487513" y="6165304"/>
                        <a:ext cx="1229184"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5"/>
          <p:cNvGraphicFramePr>
            <a:graphicFrameLocks noChangeAspect="1"/>
          </p:cNvGraphicFramePr>
          <p:nvPr>
            <p:extLst>
              <p:ext uri="{D42A27DB-BD31-4B8C-83A1-F6EECF244321}">
                <p14:modId xmlns:p14="http://schemas.microsoft.com/office/powerpoint/2010/main" val="2804548335"/>
              </p:ext>
            </p:extLst>
          </p:nvPr>
        </p:nvGraphicFramePr>
        <p:xfrm>
          <a:off x="1446485" y="4005064"/>
          <a:ext cx="6090480" cy="977328"/>
        </p:xfrm>
        <a:graphic>
          <a:graphicData uri="http://schemas.openxmlformats.org/presentationml/2006/ole">
            <mc:AlternateContent xmlns:mc="http://schemas.openxmlformats.org/markup-compatibility/2006">
              <mc:Choice xmlns:v="urn:schemas-microsoft-com:vml" Requires="v">
                <p:oleObj name="Equation" r:id="rId14" imgW="2768400" imgH="444240" progId="Equation.DSMT4">
                  <p:embed/>
                </p:oleObj>
              </mc:Choice>
              <mc:Fallback>
                <p:oleObj name="Equation" r:id="rId14" imgW="2768400" imgH="444240" progId="Equation.DSMT4">
                  <p:embed/>
                  <p:pic>
                    <p:nvPicPr>
                      <p:cNvPr id="11" name="Object 5"/>
                      <p:cNvPicPr>
                        <a:picLocks noChangeAspect="1" noChangeArrowheads="1"/>
                      </p:cNvPicPr>
                      <p:nvPr/>
                    </p:nvPicPr>
                    <p:blipFill>
                      <a:blip r:embed="rId15"/>
                      <a:srcRect/>
                      <a:stretch>
                        <a:fillRect/>
                      </a:stretch>
                    </p:blipFill>
                    <p:spPr bwMode="auto">
                      <a:xfrm>
                        <a:off x="1446485" y="4005064"/>
                        <a:ext cx="6090480" cy="9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5"/>
          <p:cNvGraphicFramePr>
            <a:graphicFrameLocks noChangeAspect="1"/>
          </p:cNvGraphicFramePr>
          <p:nvPr>
            <p:extLst>
              <p:ext uri="{D42A27DB-BD31-4B8C-83A1-F6EECF244321}">
                <p14:modId xmlns:p14="http://schemas.microsoft.com/office/powerpoint/2010/main" val="4103294624"/>
              </p:ext>
            </p:extLst>
          </p:nvPr>
        </p:nvGraphicFramePr>
        <p:xfrm>
          <a:off x="1468408" y="5013176"/>
          <a:ext cx="6816744" cy="977328"/>
        </p:xfrm>
        <a:graphic>
          <a:graphicData uri="http://schemas.openxmlformats.org/presentationml/2006/ole">
            <mc:AlternateContent xmlns:mc="http://schemas.openxmlformats.org/markup-compatibility/2006">
              <mc:Choice xmlns:v="urn:schemas-microsoft-com:vml" Requires="v">
                <p:oleObj name="Equation" r:id="rId16" imgW="3098520" imgH="444240" progId="Equation.DSMT4">
                  <p:embed/>
                </p:oleObj>
              </mc:Choice>
              <mc:Fallback>
                <p:oleObj name="Equation" r:id="rId16" imgW="3098520" imgH="444240" progId="Equation.DSMT4">
                  <p:embed/>
                  <p:pic>
                    <p:nvPicPr>
                      <p:cNvPr id="12" name="Object 5"/>
                      <p:cNvPicPr>
                        <a:picLocks noChangeAspect="1" noChangeArrowheads="1"/>
                      </p:cNvPicPr>
                      <p:nvPr/>
                    </p:nvPicPr>
                    <p:blipFill>
                      <a:blip r:embed="rId17"/>
                      <a:srcRect/>
                      <a:stretch>
                        <a:fillRect/>
                      </a:stretch>
                    </p:blipFill>
                    <p:spPr bwMode="auto">
                      <a:xfrm>
                        <a:off x="1468408" y="5013176"/>
                        <a:ext cx="6816744" cy="9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53536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482173" y="965859"/>
            <a:ext cx="865972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20000"/>
              </a:lnSpc>
              <a:spcBef>
                <a:spcPct val="0"/>
              </a:spcBef>
              <a:spcAft>
                <a:spcPct val="20000"/>
              </a:spcAft>
              <a:buFontTx/>
              <a:buNone/>
            </a:pPr>
            <a:r>
              <a:rPr lang="zh-CN" altLang="en-US" sz="2400" dirty="0">
                <a:latin typeface="宋体" panose="02010600030101010101" pitchFamily="2" charset="-122"/>
                <a:ea typeface="宋体" panose="02010600030101010101" pitchFamily="2" charset="-122"/>
              </a:rPr>
              <a:t>（思考：如果改变两个级联的一阶节的顺序，结果会怎样？）</a:t>
            </a:r>
            <a:r>
              <a:rPr lang="zh-CN" altLang="en-US" sz="2400" dirty="0">
                <a:latin typeface="Times New Roman" panose="02020603050405020304" pitchFamily="18" charset="0"/>
                <a:ea typeface="宋体" panose="02010600030101010101" pitchFamily="2" charset="-122"/>
              </a:rPr>
              <a:t> </a:t>
            </a:r>
          </a:p>
        </p:txBody>
      </p:sp>
      <p:graphicFrame>
        <p:nvGraphicFramePr>
          <p:cNvPr id="5" name="Object 16"/>
          <p:cNvGraphicFramePr>
            <a:graphicFrameLocks noChangeAspect="1"/>
          </p:cNvGraphicFramePr>
          <p:nvPr>
            <p:extLst>
              <p:ext uri="{D42A27DB-BD31-4B8C-83A1-F6EECF244321}">
                <p14:modId xmlns:p14="http://schemas.microsoft.com/office/powerpoint/2010/main" val="1591043801"/>
              </p:ext>
            </p:extLst>
          </p:nvPr>
        </p:nvGraphicFramePr>
        <p:xfrm>
          <a:off x="2222822" y="1523484"/>
          <a:ext cx="810260" cy="502920"/>
        </p:xfrm>
        <a:graphic>
          <a:graphicData uri="http://schemas.openxmlformats.org/presentationml/2006/ole">
            <mc:AlternateContent xmlns:mc="http://schemas.openxmlformats.org/markup-compatibility/2006">
              <mc:Choice xmlns:v="urn:schemas-microsoft-com:vml" Requires="v">
                <p:oleObj name="Equation" r:id="rId2" imgW="368280" imgH="228600" progId="Equation.DSMT4">
                  <p:embed/>
                </p:oleObj>
              </mc:Choice>
              <mc:Fallback>
                <p:oleObj name="Equation" r:id="rId2" imgW="368280" imgH="228600" progId="Equation.DSMT4">
                  <p:embed/>
                  <p:pic>
                    <p:nvPicPr>
                      <p:cNvPr id="7" name="Object 16"/>
                      <p:cNvPicPr>
                        <a:picLocks noChangeAspect="1" noChangeArrowheads="1"/>
                      </p:cNvPicPr>
                      <p:nvPr/>
                    </p:nvPicPr>
                    <p:blipFill>
                      <a:blip r:embed="rId3"/>
                      <a:srcRect/>
                      <a:stretch>
                        <a:fillRect/>
                      </a:stretch>
                    </p:blipFill>
                    <p:spPr bwMode="auto">
                      <a:xfrm>
                        <a:off x="2222822" y="1523484"/>
                        <a:ext cx="81026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20"/>
          <p:cNvGraphicFramePr>
            <a:graphicFrameLocks noChangeAspect="1"/>
          </p:cNvGraphicFramePr>
          <p:nvPr>
            <p:extLst>
              <p:ext uri="{D42A27DB-BD31-4B8C-83A1-F6EECF244321}">
                <p14:modId xmlns:p14="http://schemas.microsoft.com/office/powerpoint/2010/main" val="3974150487"/>
              </p:ext>
            </p:extLst>
          </p:nvPr>
        </p:nvGraphicFramePr>
        <p:xfrm>
          <a:off x="3048000" y="1507312"/>
          <a:ext cx="809625" cy="503237"/>
        </p:xfrm>
        <a:graphic>
          <a:graphicData uri="http://schemas.openxmlformats.org/presentationml/2006/ole">
            <mc:AlternateContent xmlns:mc="http://schemas.openxmlformats.org/markup-compatibility/2006">
              <mc:Choice xmlns:v="urn:schemas-microsoft-com:vml" Requires="v">
                <p:oleObj name="Equation" r:id="rId4" imgW="368280" imgH="228600" progId="Equation.DSMT4">
                  <p:embed/>
                </p:oleObj>
              </mc:Choice>
              <mc:Fallback>
                <p:oleObj name="Equation" r:id="rId4" imgW="368280" imgH="228600" progId="Equation.DSMT4">
                  <p:embed/>
                  <p:pic>
                    <p:nvPicPr>
                      <p:cNvPr id="8" name="Object 20"/>
                      <p:cNvPicPr>
                        <a:picLocks noChangeAspect="1" noChangeArrowheads="1"/>
                      </p:cNvPicPr>
                      <p:nvPr/>
                    </p:nvPicPr>
                    <p:blipFill>
                      <a:blip r:embed="rId5"/>
                      <a:srcRect/>
                      <a:stretch>
                        <a:fillRect/>
                      </a:stretch>
                    </p:blipFill>
                    <p:spPr bwMode="auto">
                      <a:xfrm>
                        <a:off x="3048000" y="1507312"/>
                        <a:ext cx="80962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Line 23"/>
          <p:cNvSpPr>
            <a:spLocks noChangeShapeType="1"/>
          </p:cNvSpPr>
          <p:nvPr/>
        </p:nvSpPr>
        <p:spPr bwMode="auto">
          <a:xfrm>
            <a:off x="2846709" y="2056884"/>
            <a:ext cx="0" cy="7620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24"/>
          <p:cNvSpPr>
            <a:spLocks noChangeShapeType="1"/>
          </p:cNvSpPr>
          <p:nvPr/>
        </p:nvSpPr>
        <p:spPr bwMode="auto">
          <a:xfrm>
            <a:off x="3227709" y="2056884"/>
            <a:ext cx="0" cy="7620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27"/>
          <p:cNvSpPr>
            <a:spLocks noChangeShapeType="1"/>
          </p:cNvSpPr>
          <p:nvPr/>
        </p:nvSpPr>
        <p:spPr bwMode="auto">
          <a:xfrm>
            <a:off x="5208909" y="1980684"/>
            <a:ext cx="0" cy="8382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 name="Object 19"/>
          <p:cNvGraphicFramePr>
            <a:graphicFrameLocks noChangeAspect="1"/>
          </p:cNvGraphicFramePr>
          <p:nvPr>
            <p:extLst>
              <p:ext uri="{D42A27DB-BD31-4B8C-83A1-F6EECF244321}">
                <p14:modId xmlns:p14="http://schemas.microsoft.com/office/powerpoint/2010/main" val="804123955"/>
              </p:ext>
            </p:extLst>
          </p:nvPr>
        </p:nvGraphicFramePr>
        <p:xfrm>
          <a:off x="4812034" y="1484784"/>
          <a:ext cx="810260" cy="502920"/>
        </p:xfrm>
        <a:graphic>
          <a:graphicData uri="http://schemas.openxmlformats.org/presentationml/2006/ole">
            <mc:AlternateContent xmlns:mc="http://schemas.openxmlformats.org/markup-compatibility/2006">
              <mc:Choice xmlns:v="urn:schemas-microsoft-com:vml" Requires="v">
                <p:oleObj name="Equation" r:id="rId6" imgW="368280" imgH="228600" progId="Equation.DSMT4">
                  <p:embed/>
                </p:oleObj>
              </mc:Choice>
              <mc:Fallback>
                <p:oleObj name="Equation" r:id="rId6" imgW="368280" imgH="228600" progId="Equation.DSMT4">
                  <p:embed/>
                  <p:pic>
                    <p:nvPicPr>
                      <p:cNvPr id="12" name="Object 19"/>
                      <p:cNvPicPr>
                        <a:picLocks noChangeAspect="1" noChangeArrowheads="1"/>
                      </p:cNvPicPr>
                      <p:nvPr/>
                    </p:nvPicPr>
                    <p:blipFill>
                      <a:blip r:embed="rId7"/>
                      <a:srcRect/>
                      <a:stretch>
                        <a:fillRect/>
                      </a:stretch>
                    </p:blipFill>
                    <p:spPr bwMode="auto">
                      <a:xfrm>
                        <a:off x="4812034" y="1484784"/>
                        <a:ext cx="81026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 name="组合 11"/>
          <p:cNvGrpSpPr>
            <a:grpSpLocks/>
          </p:cNvGrpSpPr>
          <p:nvPr/>
        </p:nvGrpSpPr>
        <p:grpSpPr bwMode="auto">
          <a:xfrm>
            <a:off x="1154434" y="2285484"/>
            <a:ext cx="7666038" cy="1689100"/>
            <a:chOff x="517525" y="3733800"/>
            <a:chExt cx="7666038" cy="1689100"/>
          </a:xfrm>
        </p:grpSpPr>
        <p:sp>
          <p:nvSpPr>
            <p:cNvPr id="13" name="Line 5"/>
            <p:cNvSpPr>
              <a:spLocks noChangeShapeType="1"/>
            </p:cNvSpPr>
            <p:nvPr/>
          </p:nvSpPr>
          <p:spPr bwMode="auto">
            <a:xfrm>
              <a:off x="1295400" y="4267200"/>
              <a:ext cx="6096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6"/>
            <p:cNvSpPr>
              <a:spLocks noChangeShapeType="1"/>
            </p:cNvSpPr>
            <p:nvPr/>
          </p:nvSpPr>
          <p:spPr bwMode="auto">
            <a:xfrm>
              <a:off x="1905000" y="4267200"/>
              <a:ext cx="6858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7"/>
            <p:cNvSpPr>
              <a:spLocks noChangeShapeType="1"/>
            </p:cNvSpPr>
            <p:nvPr/>
          </p:nvSpPr>
          <p:spPr bwMode="auto">
            <a:xfrm>
              <a:off x="2590800" y="4267200"/>
              <a:ext cx="9144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8"/>
            <p:cNvSpPr>
              <a:spLocks noChangeShapeType="1"/>
            </p:cNvSpPr>
            <p:nvPr/>
          </p:nvSpPr>
          <p:spPr bwMode="auto">
            <a:xfrm>
              <a:off x="3505200" y="4267200"/>
              <a:ext cx="21336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9"/>
            <p:cNvSpPr>
              <a:spLocks noChangeShapeType="1"/>
            </p:cNvSpPr>
            <p:nvPr/>
          </p:nvSpPr>
          <p:spPr bwMode="auto">
            <a:xfrm>
              <a:off x="5638800" y="4267200"/>
              <a:ext cx="6096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0"/>
            <p:cNvSpPr>
              <a:spLocks noChangeShapeType="1"/>
            </p:cNvSpPr>
            <p:nvPr/>
          </p:nvSpPr>
          <p:spPr bwMode="auto">
            <a:xfrm>
              <a:off x="5867400" y="42672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11"/>
            <p:cNvSpPr>
              <a:spLocks noChangeShapeType="1"/>
            </p:cNvSpPr>
            <p:nvPr/>
          </p:nvSpPr>
          <p:spPr bwMode="auto">
            <a:xfrm>
              <a:off x="5867400" y="4724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Freeform 12"/>
            <p:cNvSpPr>
              <a:spLocks/>
            </p:cNvSpPr>
            <p:nvPr/>
          </p:nvSpPr>
          <p:spPr bwMode="auto">
            <a:xfrm>
              <a:off x="4572000" y="4267200"/>
              <a:ext cx="1295400" cy="914400"/>
            </a:xfrm>
            <a:custGeom>
              <a:avLst/>
              <a:gdLst>
                <a:gd name="T0" fmla="*/ 2147483646 w 864"/>
                <a:gd name="T1" fmla="*/ 2147483646 h 528"/>
                <a:gd name="T2" fmla="*/ 2147483646 w 864"/>
                <a:gd name="T3" fmla="*/ 2147483646 h 528"/>
                <a:gd name="T4" fmla="*/ 0 w 864"/>
                <a:gd name="T5" fmla="*/ 0 h 528"/>
                <a:gd name="T6" fmla="*/ 0 60000 65536"/>
                <a:gd name="T7" fmla="*/ 0 60000 65536"/>
                <a:gd name="T8" fmla="*/ 0 60000 65536"/>
                <a:gd name="T9" fmla="*/ 0 w 864"/>
                <a:gd name="T10" fmla="*/ 0 h 528"/>
                <a:gd name="T11" fmla="*/ 864 w 864"/>
                <a:gd name="T12" fmla="*/ 528 h 528"/>
              </a:gdLst>
              <a:ahLst/>
              <a:cxnLst>
                <a:cxn ang="T6">
                  <a:pos x="T0" y="T1"/>
                </a:cxn>
                <a:cxn ang="T7">
                  <a:pos x="T2" y="T3"/>
                </a:cxn>
                <a:cxn ang="T8">
                  <a:pos x="T4" y="T5"/>
                </a:cxn>
              </a:cxnLst>
              <a:rect l="T9" t="T10" r="T11" b="T12"/>
              <a:pathLst>
                <a:path w="864" h="528">
                  <a:moveTo>
                    <a:pt x="864" y="528"/>
                  </a:moveTo>
                  <a:cubicBezTo>
                    <a:pt x="672" y="500"/>
                    <a:pt x="480" y="472"/>
                    <a:pt x="336" y="384"/>
                  </a:cubicBezTo>
                  <a:cubicBezTo>
                    <a:pt x="192" y="296"/>
                    <a:pt x="56" y="72"/>
                    <a:pt x="0" y="0"/>
                  </a:cubicBez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Freeform 13"/>
            <p:cNvSpPr>
              <a:spLocks/>
            </p:cNvSpPr>
            <p:nvPr/>
          </p:nvSpPr>
          <p:spPr bwMode="auto">
            <a:xfrm>
              <a:off x="2590800" y="4267200"/>
              <a:ext cx="1295400" cy="914400"/>
            </a:xfrm>
            <a:custGeom>
              <a:avLst/>
              <a:gdLst>
                <a:gd name="T0" fmla="*/ 2147483646 w 864"/>
                <a:gd name="T1" fmla="*/ 2147483646 h 528"/>
                <a:gd name="T2" fmla="*/ 2147483646 w 864"/>
                <a:gd name="T3" fmla="*/ 2147483646 h 528"/>
                <a:gd name="T4" fmla="*/ 0 w 864"/>
                <a:gd name="T5" fmla="*/ 0 h 528"/>
                <a:gd name="T6" fmla="*/ 0 60000 65536"/>
                <a:gd name="T7" fmla="*/ 0 60000 65536"/>
                <a:gd name="T8" fmla="*/ 0 60000 65536"/>
                <a:gd name="T9" fmla="*/ 0 w 864"/>
                <a:gd name="T10" fmla="*/ 0 h 528"/>
                <a:gd name="T11" fmla="*/ 864 w 864"/>
                <a:gd name="T12" fmla="*/ 528 h 528"/>
              </a:gdLst>
              <a:ahLst/>
              <a:cxnLst>
                <a:cxn ang="T6">
                  <a:pos x="T0" y="T1"/>
                </a:cxn>
                <a:cxn ang="T7">
                  <a:pos x="T2" y="T3"/>
                </a:cxn>
                <a:cxn ang="T8">
                  <a:pos x="T4" y="T5"/>
                </a:cxn>
              </a:cxnLst>
              <a:rect l="T9" t="T10" r="T11" b="T12"/>
              <a:pathLst>
                <a:path w="864" h="528">
                  <a:moveTo>
                    <a:pt x="864" y="528"/>
                  </a:moveTo>
                  <a:cubicBezTo>
                    <a:pt x="672" y="500"/>
                    <a:pt x="480" y="472"/>
                    <a:pt x="336" y="384"/>
                  </a:cubicBezTo>
                  <a:cubicBezTo>
                    <a:pt x="192" y="296"/>
                    <a:pt x="56" y="72"/>
                    <a:pt x="0" y="0"/>
                  </a:cubicBez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 name="Line 14"/>
            <p:cNvSpPr>
              <a:spLocks noChangeShapeType="1"/>
            </p:cNvSpPr>
            <p:nvPr/>
          </p:nvSpPr>
          <p:spPr bwMode="auto">
            <a:xfrm>
              <a:off x="3886200" y="42672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15"/>
            <p:cNvSpPr>
              <a:spLocks noChangeShapeType="1"/>
            </p:cNvSpPr>
            <p:nvPr/>
          </p:nvSpPr>
          <p:spPr bwMode="auto">
            <a:xfrm flipV="1">
              <a:off x="3886200" y="48006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4" name="Object 17"/>
            <p:cNvGraphicFramePr>
              <a:graphicFrameLocks noChangeAspect="1"/>
            </p:cNvGraphicFramePr>
            <p:nvPr/>
          </p:nvGraphicFramePr>
          <p:xfrm>
            <a:off x="517525" y="3810000"/>
            <a:ext cx="793750" cy="549275"/>
          </p:xfrm>
          <a:graphic>
            <a:graphicData uri="http://schemas.openxmlformats.org/presentationml/2006/ole">
              <mc:AlternateContent xmlns:mc="http://schemas.openxmlformats.org/markup-compatibility/2006">
                <mc:Choice xmlns:v="urn:schemas-microsoft-com:vml" Requires="v">
                  <p:oleObj name="Equation" r:id="rId8" imgW="330057" imgH="203112" progId="Equation.DSMT4">
                    <p:embed/>
                  </p:oleObj>
                </mc:Choice>
                <mc:Fallback>
                  <p:oleObj name="Equation" r:id="rId8" imgW="330057" imgH="203112" progId="Equation.DSMT4">
                    <p:embed/>
                    <p:pic>
                      <p:nvPicPr>
                        <p:cNvPr id="25"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7525" y="3810000"/>
                          <a:ext cx="79375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18"/>
            <p:cNvGraphicFramePr>
              <a:graphicFrameLocks noChangeAspect="1"/>
            </p:cNvGraphicFramePr>
            <p:nvPr/>
          </p:nvGraphicFramePr>
          <p:xfrm>
            <a:off x="6296025" y="3733800"/>
            <a:ext cx="1887538" cy="633413"/>
          </p:xfrm>
          <a:graphic>
            <a:graphicData uri="http://schemas.openxmlformats.org/presentationml/2006/ole">
              <mc:AlternateContent xmlns:mc="http://schemas.openxmlformats.org/markup-compatibility/2006">
                <mc:Choice xmlns:v="urn:schemas-microsoft-com:vml" Requires="v">
                  <p:oleObj name="Equation" r:id="rId10" imgW="812447" imgH="241195" progId="Equation.DSMT4">
                    <p:embed/>
                  </p:oleObj>
                </mc:Choice>
                <mc:Fallback>
                  <p:oleObj name="Equation" r:id="rId10" imgW="812447" imgH="241195" progId="Equation.DSMT4">
                    <p:embed/>
                    <p:pic>
                      <p:nvPicPr>
                        <p:cNvPr id="26"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96025" y="3733800"/>
                          <a:ext cx="1887538"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1"/>
            <p:cNvGraphicFramePr>
              <a:graphicFrameLocks noChangeAspect="1"/>
            </p:cNvGraphicFramePr>
            <p:nvPr/>
          </p:nvGraphicFramePr>
          <p:xfrm>
            <a:off x="3962400" y="4554538"/>
            <a:ext cx="533400" cy="566737"/>
          </p:xfrm>
          <a:graphic>
            <a:graphicData uri="http://schemas.openxmlformats.org/presentationml/2006/ole">
              <mc:AlternateContent xmlns:mc="http://schemas.openxmlformats.org/markup-compatibility/2006">
                <mc:Choice xmlns:v="urn:schemas-microsoft-com:vml" Requires="v">
                  <p:oleObj name="Equation" r:id="rId12" imgW="215713" imgH="203024" progId="Equation.DSMT4">
                    <p:embed/>
                  </p:oleObj>
                </mc:Choice>
                <mc:Fallback>
                  <p:oleObj name="Equation" r:id="rId12" imgW="215713" imgH="203024" progId="Equation.DSMT4">
                    <p:embed/>
                    <p:pic>
                      <p:nvPicPr>
                        <p:cNvPr id="27"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62400" y="4554538"/>
                          <a:ext cx="533400" cy="56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2"/>
            <p:cNvGraphicFramePr>
              <a:graphicFrameLocks noChangeAspect="1"/>
            </p:cNvGraphicFramePr>
            <p:nvPr/>
          </p:nvGraphicFramePr>
          <p:xfrm>
            <a:off x="5943600" y="4554538"/>
            <a:ext cx="533400" cy="566737"/>
          </p:xfrm>
          <a:graphic>
            <a:graphicData uri="http://schemas.openxmlformats.org/presentationml/2006/ole">
              <mc:AlternateContent xmlns:mc="http://schemas.openxmlformats.org/markup-compatibility/2006">
                <mc:Choice xmlns:v="urn:schemas-microsoft-com:vml" Requires="v">
                  <p:oleObj name="Equation" r:id="rId14" imgW="215713" imgH="203024" progId="Equation.DSMT4">
                    <p:embed/>
                  </p:oleObj>
                </mc:Choice>
                <mc:Fallback>
                  <p:oleObj name="Equation" r:id="rId14" imgW="215713" imgH="203024" progId="Equation.DSMT4">
                    <p:embed/>
                    <p:pic>
                      <p:nvPicPr>
                        <p:cNvPr id="28"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43600" y="4554538"/>
                          <a:ext cx="533400" cy="56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 name="Line 25"/>
            <p:cNvSpPr>
              <a:spLocks noChangeShapeType="1"/>
            </p:cNvSpPr>
            <p:nvPr/>
          </p:nvSpPr>
          <p:spPr bwMode="auto">
            <a:xfrm flipH="1" flipV="1">
              <a:off x="3048000" y="48768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26"/>
            <p:cNvSpPr>
              <a:spLocks noChangeShapeType="1"/>
            </p:cNvSpPr>
            <p:nvPr/>
          </p:nvSpPr>
          <p:spPr bwMode="auto">
            <a:xfrm flipH="1" flipV="1">
              <a:off x="5029200" y="48768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0" name="Object 28"/>
            <p:cNvGraphicFramePr>
              <a:graphicFrameLocks noChangeAspect="1"/>
            </p:cNvGraphicFramePr>
            <p:nvPr>
              <p:extLst>
                <p:ext uri="{D42A27DB-BD31-4B8C-83A1-F6EECF244321}">
                  <p14:modId xmlns:p14="http://schemas.microsoft.com/office/powerpoint/2010/main" val="3300813062"/>
                </p:ext>
              </p:extLst>
            </p:nvPr>
          </p:nvGraphicFramePr>
          <p:xfrm>
            <a:off x="2819400" y="5029200"/>
            <a:ext cx="533400" cy="393700"/>
          </p:xfrm>
          <a:graphic>
            <a:graphicData uri="http://schemas.openxmlformats.org/presentationml/2006/ole">
              <mc:AlternateContent xmlns:mc="http://schemas.openxmlformats.org/markup-compatibility/2006">
                <mc:Choice xmlns:v="urn:schemas-microsoft-com:vml" Requires="v">
                  <p:oleObj name="Equation" r:id="rId16" imgW="241200" imgH="177480" progId="Equation.DSMT4">
                    <p:embed/>
                  </p:oleObj>
                </mc:Choice>
                <mc:Fallback>
                  <p:oleObj name="Equation" r:id="rId16" imgW="241200" imgH="177480" progId="Equation.DSMT4">
                    <p:embed/>
                    <p:pic>
                      <p:nvPicPr>
                        <p:cNvPr id="31" name="Object 28"/>
                        <p:cNvPicPr>
                          <a:picLocks noChangeAspect="1" noChangeArrowheads="1"/>
                        </p:cNvPicPr>
                        <p:nvPr/>
                      </p:nvPicPr>
                      <p:blipFill>
                        <a:blip r:embed="rId17"/>
                        <a:srcRect/>
                        <a:stretch>
                          <a:fillRect/>
                        </a:stretch>
                      </p:blipFill>
                      <p:spPr bwMode="auto">
                        <a:xfrm>
                          <a:off x="2819400" y="5029200"/>
                          <a:ext cx="533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29"/>
            <p:cNvGraphicFramePr>
              <a:graphicFrameLocks noChangeAspect="1"/>
            </p:cNvGraphicFramePr>
            <p:nvPr>
              <p:extLst>
                <p:ext uri="{D42A27DB-BD31-4B8C-83A1-F6EECF244321}">
                  <p14:modId xmlns:p14="http://schemas.microsoft.com/office/powerpoint/2010/main" val="3771270988"/>
                </p:ext>
              </p:extLst>
            </p:nvPr>
          </p:nvGraphicFramePr>
          <p:xfrm>
            <a:off x="4864100" y="5029200"/>
            <a:ext cx="533400" cy="393700"/>
          </p:xfrm>
          <a:graphic>
            <a:graphicData uri="http://schemas.openxmlformats.org/presentationml/2006/ole">
              <mc:AlternateContent xmlns:mc="http://schemas.openxmlformats.org/markup-compatibility/2006">
                <mc:Choice xmlns:v="urn:schemas-microsoft-com:vml" Requires="v">
                  <p:oleObj name="Equation" r:id="rId18" imgW="241200" imgH="177480" progId="Equation.DSMT4">
                    <p:embed/>
                  </p:oleObj>
                </mc:Choice>
                <mc:Fallback>
                  <p:oleObj name="Equation" r:id="rId18" imgW="241200" imgH="177480" progId="Equation.DSMT4">
                    <p:embed/>
                    <p:pic>
                      <p:nvPicPr>
                        <p:cNvPr id="32" name="Object 29"/>
                        <p:cNvPicPr>
                          <a:picLocks noChangeAspect="1" noChangeArrowheads="1"/>
                        </p:cNvPicPr>
                        <p:nvPr/>
                      </p:nvPicPr>
                      <p:blipFill>
                        <a:blip r:embed="rId19"/>
                        <a:srcRect/>
                        <a:stretch>
                          <a:fillRect/>
                        </a:stretch>
                      </p:blipFill>
                      <p:spPr bwMode="auto">
                        <a:xfrm>
                          <a:off x="4864100" y="5029200"/>
                          <a:ext cx="533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30"/>
            <p:cNvGraphicFramePr>
              <a:graphicFrameLocks noChangeAspect="1"/>
            </p:cNvGraphicFramePr>
            <p:nvPr/>
          </p:nvGraphicFramePr>
          <p:xfrm>
            <a:off x="1476375" y="3860800"/>
            <a:ext cx="701675" cy="393700"/>
          </p:xfrm>
          <a:graphic>
            <a:graphicData uri="http://schemas.openxmlformats.org/presentationml/2006/ole">
              <mc:AlternateContent xmlns:mc="http://schemas.openxmlformats.org/markup-compatibility/2006">
                <mc:Choice xmlns:v="urn:schemas-microsoft-com:vml" Requires="v">
                  <p:oleObj name="Equation" r:id="rId20" imgW="317087" imgH="177569" progId="Equation.DSMT4">
                    <p:embed/>
                  </p:oleObj>
                </mc:Choice>
                <mc:Fallback>
                  <p:oleObj name="Equation" r:id="rId20" imgW="317087" imgH="177569" progId="Equation.DSMT4">
                    <p:embed/>
                    <p:pic>
                      <p:nvPicPr>
                        <p:cNvPr id="33" name="Object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76375" y="3860800"/>
                          <a:ext cx="701675"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3" name="Object 6"/>
          <p:cNvGraphicFramePr>
            <a:graphicFrameLocks noChangeAspect="1"/>
          </p:cNvGraphicFramePr>
          <p:nvPr>
            <p:extLst>
              <p:ext uri="{D42A27DB-BD31-4B8C-83A1-F6EECF244321}">
                <p14:modId xmlns:p14="http://schemas.microsoft.com/office/powerpoint/2010/main" val="2605294182"/>
              </p:ext>
            </p:extLst>
          </p:nvPr>
        </p:nvGraphicFramePr>
        <p:xfrm>
          <a:off x="1102480" y="4653136"/>
          <a:ext cx="6853896" cy="852768"/>
        </p:xfrm>
        <a:graphic>
          <a:graphicData uri="http://schemas.openxmlformats.org/presentationml/2006/ole">
            <mc:AlternateContent xmlns:mc="http://schemas.openxmlformats.org/markup-compatibility/2006">
              <mc:Choice xmlns:v="urn:schemas-microsoft-com:vml" Requires="v">
                <p:oleObj name="Equation" r:id="rId22" imgW="3263760" imgH="406080" progId="Equation.DSMT4">
                  <p:embed/>
                </p:oleObj>
              </mc:Choice>
              <mc:Fallback>
                <p:oleObj name="Equation" r:id="rId22" imgW="3263760" imgH="406080" progId="Equation.DSMT4">
                  <p:embed/>
                  <p:pic>
                    <p:nvPicPr>
                      <p:cNvPr id="12" name="Object 6"/>
                      <p:cNvPicPr>
                        <a:picLocks noChangeAspect="1" noChangeArrowheads="1"/>
                      </p:cNvPicPr>
                      <p:nvPr/>
                    </p:nvPicPr>
                    <p:blipFill>
                      <a:blip r:embed="rId23"/>
                      <a:srcRect/>
                      <a:stretch>
                        <a:fillRect/>
                      </a:stretch>
                    </p:blipFill>
                    <p:spPr bwMode="auto">
                      <a:xfrm>
                        <a:off x="1102480" y="4653136"/>
                        <a:ext cx="6853896" cy="852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Object 6"/>
          <p:cNvGraphicFramePr>
            <a:graphicFrameLocks noChangeAspect="1"/>
          </p:cNvGraphicFramePr>
          <p:nvPr>
            <p:extLst>
              <p:ext uri="{D42A27DB-BD31-4B8C-83A1-F6EECF244321}">
                <p14:modId xmlns:p14="http://schemas.microsoft.com/office/powerpoint/2010/main" val="4198003553"/>
              </p:ext>
            </p:extLst>
          </p:nvPr>
        </p:nvGraphicFramePr>
        <p:xfrm>
          <a:off x="3750493" y="5589240"/>
          <a:ext cx="2479680" cy="852768"/>
        </p:xfrm>
        <a:graphic>
          <a:graphicData uri="http://schemas.openxmlformats.org/presentationml/2006/ole">
            <mc:AlternateContent xmlns:mc="http://schemas.openxmlformats.org/markup-compatibility/2006">
              <mc:Choice xmlns:v="urn:schemas-microsoft-com:vml" Requires="v">
                <p:oleObj name="Equation" r:id="rId24" imgW="1180800" imgH="406080" progId="Equation.DSMT4">
                  <p:embed/>
                </p:oleObj>
              </mc:Choice>
              <mc:Fallback>
                <p:oleObj name="Equation" r:id="rId24" imgW="1180800" imgH="406080" progId="Equation.DSMT4">
                  <p:embed/>
                  <p:pic>
                    <p:nvPicPr>
                      <p:cNvPr id="23" name="Object 6"/>
                      <p:cNvPicPr>
                        <a:picLocks noChangeAspect="1" noChangeArrowheads="1"/>
                      </p:cNvPicPr>
                      <p:nvPr/>
                    </p:nvPicPr>
                    <p:blipFill>
                      <a:blip r:embed="rId25"/>
                      <a:srcRect/>
                      <a:stretch>
                        <a:fillRect/>
                      </a:stretch>
                    </p:blipFill>
                    <p:spPr bwMode="auto">
                      <a:xfrm>
                        <a:off x="3750493" y="5589240"/>
                        <a:ext cx="2479680" cy="852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3"/>
          <p:cNvGraphicFramePr>
            <a:graphicFrameLocks noChangeAspect="1"/>
          </p:cNvGraphicFramePr>
          <p:nvPr>
            <p:extLst>
              <p:ext uri="{D42A27DB-BD31-4B8C-83A1-F6EECF244321}">
                <p14:modId xmlns:p14="http://schemas.microsoft.com/office/powerpoint/2010/main" val="3369371737"/>
              </p:ext>
            </p:extLst>
          </p:nvPr>
        </p:nvGraphicFramePr>
        <p:xfrm>
          <a:off x="904716" y="4127356"/>
          <a:ext cx="1723068" cy="525780"/>
        </p:xfrm>
        <a:graphic>
          <a:graphicData uri="http://schemas.openxmlformats.org/presentationml/2006/ole">
            <mc:AlternateContent xmlns:mc="http://schemas.openxmlformats.org/markup-compatibility/2006">
              <mc:Choice xmlns:v="urn:schemas-microsoft-com:vml" Requires="v">
                <p:oleObj name="Equation" r:id="rId26" imgW="749160" imgH="228600" progId="Equation.DSMT4">
                  <p:embed/>
                </p:oleObj>
              </mc:Choice>
              <mc:Fallback>
                <p:oleObj name="Equation" r:id="rId26" imgW="749160" imgH="228600" progId="Equation.DSMT4">
                  <p:embed/>
                  <p:pic>
                    <p:nvPicPr>
                      <p:cNvPr id="34" name="Object 3"/>
                      <p:cNvPicPr>
                        <a:picLocks noChangeAspect="1" noChangeArrowheads="1"/>
                      </p:cNvPicPr>
                      <p:nvPr/>
                    </p:nvPicPr>
                    <p:blipFill>
                      <a:blip r:embed="rId27"/>
                      <a:srcRect/>
                      <a:stretch>
                        <a:fillRect/>
                      </a:stretch>
                    </p:blipFill>
                    <p:spPr bwMode="auto">
                      <a:xfrm>
                        <a:off x="904716" y="4127356"/>
                        <a:ext cx="1723068"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矩形 37"/>
          <p:cNvSpPr/>
          <p:nvPr/>
        </p:nvSpPr>
        <p:spPr>
          <a:xfrm>
            <a:off x="2643207" y="4114705"/>
            <a:ext cx="2709396"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通过的网络都为</a:t>
            </a:r>
            <a:endParaRPr lang="zh-CN" altLang="en-US" b="1" dirty="0"/>
          </a:p>
        </p:txBody>
      </p:sp>
      <p:graphicFrame>
        <p:nvGraphicFramePr>
          <p:cNvPr id="39" name="Object 3"/>
          <p:cNvGraphicFramePr>
            <a:graphicFrameLocks noChangeAspect="1"/>
          </p:cNvGraphicFramePr>
          <p:nvPr>
            <p:extLst>
              <p:ext uri="{D42A27DB-BD31-4B8C-83A1-F6EECF244321}">
                <p14:modId xmlns:p14="http://schemas.microsoft.com/office/powerpoint/2010/main" val="2263010565"/>
              </p:ext>
            </p:extLst>
          </p:nvPr>
        </p:nvGraphicFramePr>
        <p:xfrm>
          <a:off x="870832" y="5733256"/>
          <a:ext cx="847044" cy="525780"/>
        </p:xfrm>
        <a:graphic>
          <a:graphicData uri="http://schemas.openxmlformats.org/presentationml/2006/ole">
            <mc:AlternateContent xmlns:mc="http://schemas.openxmlformats.org/markup-compatibility/2006">
              <mc:Choice xmlns:v="urn:schemas-microsoft-com:vml" Requires="v">
                <p:oleObj name="Equation" r:id="rId28" imgW="368280" imgH="228600" progId="Equation.DSMT4">
                  <p:embed/>
                </p:oleObj>
              </mc:Choice>
              <mc:Fallback>
                <p:oleObj name="Equation" r:id="rId28" imgW="368280" imgH="228600" progId="Equation.DSMT4">
                  <p:embed/>
                  <p:pic>
                    <p:nvPicPr>
                      <p:cNvPr id="37" name="Object 3"/>
                      <p:cNvPicPr>
                        <a:picLocks noChangeAspect="1" noChangeArrowheads="1"/>
                      </p:cNvPicPr>
                      <p:nvPr/>
                    </p:nvPicPr>
                    <p:blipFill>
                      <a:blip r:embed="rId29"/>
                      <a:srcRect/>
                      <a:stretch>
                        <a:fillRect/>
                      </a:stretch>
                    </p:blipFill>
                    <p:spPr bwMode="auto">
                      <a:xfrm>
                        <a:off x="870832" y="5733256"/>
                        <a:ext cx="847044"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矩形 39"/>
          <p:cNvSpPr/>
          <p:nvPr/>
        </p:nvSpPr>
        <p:spPr>
          <a:xfrm>
            <a:off x="1727679" y="5719229"/>
            <a:ext cx="1988045"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通过的网络</a:t>
            </a:r>
            <a:endParaRPr lang="zh-CN" altLang="en-US" b="1" dirty="0"/>
          </a:p>
        </p:txBody>
      </p:sp>
      <p:sp>
        <p:nvSpPr>
          <p:cNvPr id="42"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16097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ChangeAspect="1"/>
          </p:cNvGraphicFramePr>
          <p:nvPr>
            <p:extLst>
              <p:ext uri="{D42A27DB-BD31-4B8C-83A1-F6EECF244321}">
                <p14:modId xmlns:p14="http://schemas.microsoft.com/office/powerpoint/2010/main" val="3708836676"/>
              </p:ext>
            </p:extLst>
          </p:nvPr>
        </p:nvGraphicFramePr>
        <p:xfrm>
          <a:off x="6030802" y="884878"/>
          <a:ext cx="2266488" cy="506520"/>
        </p:xfrm>
        <a:graphic>
          <a:graphicData uri="http://schemas.openxmlformats.org/presentationml/2006/ole">
            <mc:AlternateContent xmlns:mc="http://schemas.openxmlformats.org/markup-compatibility/2006">
              <mc:Choice xmlns:v="urn:schemas-microsoft-com:vml" Requires="v">
                <p:oleObj name="Equation" r:id="rId2" imgW="1079280" imgH="241200" progId="Equation.DSMT4">
                  <p:embed/>
                </p:oleObj>
              </mc:Choice>
              <mc:Fallback>
                <p:oleObj name="Equation" r:id="rId2" imgW="1079280" imgH="241200" progId="Equation.DSMT4">
                  <p:embed/>
                  <p:pic>
                    <p:nvPicPr>
                      <p:cNvPr id="36" name="Object 4"/>
                      <p:cNvPicPr>
                        <a:picLocks noChangeAspect="1" noChangeArrowheads="1"/>
                      </p:cNvPicPr>
                      <p:nvPr/>
                    </p:nvPicPr>
                    <p:blipFill>
                      <a:blip r:embed="rId3"/>
                      <a:srcRect/>
                      <a:stretch>
                        <a:fillRect/>
                      </a:stretch>
                    </p:blipFill>
                    <p:spPr bwMode="auto">
                      <a:xfrm>
                        <a:off x="6030802" y="884878"/>
                        <a:ext cx="2266488" cy="506520"/>
                      </a:xfrm>
                      <a:prstGeom prst="rect">
                        <a:avLst/>
                      </a:prstGeom>
                      <a:noFill/>
                      <a:ln>
                        <a:noFill/>
                      </a:ln>
                    </p:spPr>
                  </p:pic>
                </p:oleObj>
              </mc:Fallback>
            </mc:AlternateContent>
          </a:graphicData>
        </a:graphic>
      </p:graphicFrame>
      <p:graphicFrame>
        <p:nvGraphicFramePr>
          <p:cNvPr id="5" name="Object 8"/>
          <p:cNvGraphicFramePr>
            <a:graphicFrameLocks noChangeAspect="1"/>
          </p:cNvGraphicFramePr>
          <p:nvPr>
            <p:extLst>
              <p:ext uri="{D42A27DB-BD31-4B8C-83A1-F6EECF244321}">
                <p14:modId xmlns:p14="http://schemas.microsoft.com/office/powerpoint/2010/main" val="3067165110"/>
              </p:ext>
            </p:extLst>
          </p:nvPr>
        </p:nvGraphicFramePr>
        <p:xfrm>
          <a:off x="1066481" y="1556792"/>
          <a:ext cx="4609440" cy="949608"/>
        </p:xfrm>
        <a:graphic>
          <a:graphicData uri="http://schemas.openxmlformats.org/presentationml/2006/ole">
            <mc:AlternateContent xmlns:mc="http://schemas.openxmlformats.org/markup-compatibility/2006">
              <mc:Choice xmlns:v="urn:schemas-microsoft-com:vml" Requires="v">
                <p:oleObj name="Equation" r:id="rId4" imgW="2095200" imgH="431640" progId="Equation.DSMT4">
                  <p:embed/>
                </p:oleObj>
              </mc:Choice>
              <mc:Fallback>
                <p:oleObj name="Equation" r:id="rId4" imgW="2095200" imgH="431640" progId="Equation.DSMT4">
                  <p:embed/>
                  <p:pic>
                    <p:nvPicPr>
                      <p:cNvPr id="25" name="Object 8"/>
                      <p:cNvPicPr>
                        <a:picLocks noChangeAspect="1" noChangeArrowheads="1"/>
                      </p:cNvPicPr>
                      <p:nvPr/>
                    </p:nvPicPr>
                    <p:blipFill>
                      <a:blip r:embed="rId5"/>
                      <a:srcRect/>
                      <a:stretch>
                        <a:fillRect/>
                      </a:stretch>
                    </p:blipFill>
                    <p:spPr bwMode="auto">
                      <a:xfrm>
                        <a:off x="1066481" y="1556792"/>
                        <a:ext cx="4609440"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8"/>
          <p:cNvGraphicFramePr>
            <a:graphicFrameLocks noChangeAspect="1"/>
          </p:cNvGraphicFramePr>
          <p:nvPr>
            <p:extLst>
              <p:ext uri="{D42A27DB-BD31-4B8C-83A1-F6EECF244321}">
                <p14:modId xmlns:p14="http://schemas.microsoft.com/office/powerpoint/2010/main" val="513279616"/>
              </p:ext>
            </p:extLst>
          </p:nvPr>
        </p:nvGraphicFramePr>
        <p:xfrm>
          <a:off x="1489742" y="4870296"/>
          <a:ext cx="1229184" cy="502920"/>
        </p:xfrm>
        <a:graphic>
          <a:graphicData uri="http://schemas.openxmlformats.org/presentationml/2006/ole">
            <mc:AlternateContent xmlns:mc="http://schemas.openxmlformats.org/markup-compatibility/2006">
              <mc:Choice xmlns:v="urn:schemas-microsoft-com:vml" Requires="v">
                <p:oleObj name="Equation" r:id="rId6" imgW="558720" imgH="228600" progId="Equation.DSMT4">
                  <p:embed/>
                </p:oleObj>
              </mc:Choice>
              <mc:Fallback>
                <p:oleObj name="Equation" r:id="rId6" imgW="558720" imgH="228600" progId="Equation.DSMT4">
                  <p:embed/>
                  <p:pic>
                    <p:nvPicPr>
                      <p:cNvPr id="26" name="Object 8"/>
                      <p:cNvPicPr>
                        <a:picLocks noChangeAspect="1" noChangeArrowheads="1"/>
                      </p:cNvPicPr>
                      <p:nvPr/>
                    </p:nvPicPr>
                    <p:blipFill>
                      <a:blip r:embed="rId7"/>
                      <a:srcRect/>
                      <a:stretch>
                        <a:fillRect/>
                      </a:stretch>
                    </p:blipFill>
                    <p:spPr bwMode="auto">
                      <a:xfrm>
                        <a:off x="1489742" y="4870296"/>
                        <a:ext cx="1229184"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3231800195"/>
              </p:ext>
            </p:extLst>
          </p:nvPr>
        </p:nvGraphicFramePr>
        <p:xfrm>
          <a:off x="1470637" y="2492896"/>
          <a:ext cx="6090480" cy="977328"/>
        </p:xfrm>
        <a:graphic>
          <a:graphicData uri="http://schemas.openxmlformats.org/presentationml/2006/ole">
            <mc:AlternateContent xmlns:mc="http://schemas.openxmlformats.org/markup-compatibility/2006">
              <mc:Choice xmlns:v="urn:schemas-microsoft-com:vml" Requires="v">
                <p:oleObj name="Equation" r:id="rId8" imgW="2768400" imgH="444240" progId="Equation.DSMT4">
                  <p:embed/>
                </p:oleObj>
              </mc:Choice>
              <mc:Fallback>
                <p:oleObj name="Equation" r:id="rId8" imgW="2768400" imgH="444240" progId="Equation.DSMT4">
                  <p:embed/>
                  <p:pic>
                    <p:nvPicPr>
                      <p:cNvPr id="27" name="Object 5"/>
                      <p:cNvPicPr>
                        <a:picLocks noChangeAspect="1" noChangeArrowheads="1"/>
                      </p:cNvPicPr>
                      <p:nvPr/>
                    </p:nvPicPr>
                    <p:blipFill>
                      <a:blip r:embed="rId9"/>
                      <a:srcRect/>
                      <a:stretch>
                        <a:fillRect/>
                      </a:stretch>
                    </p:blipFill>
                    <p:spPr bwMode="auto">
                      <a:xfrm>
                        <a:off x="1470637" y="2492896"/>
                        <a:ext cx="6090480" cy="9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1972271062"/>
              </p:ext>
            </p:extLst>
          </p:nvPr>
        </p:nvGraphicFramePr>
        <p:xfrm>
          <a:off x="1470637" y="3646160"/>
          <a:ext cx="6816744" cy="977328"/>
        </p:xfrm>
        <a:graphic>
          <a:graphicData uri="http://schemas.openxmlformats.org/presentationml/2006/ole">
            <mc:AlternateContent xmlns:mc="http://schemas.openxmlformats.org/markup-compatibility/2006">
              <mc:Choice xmlns:v="urn:schemas-microsoft-com:vml" Requires="v">
                <p:oleObj name="Equation" r:id="rId10" imgW="3098520" imgH="444240" progId="Equation.DSMT4">
                  <p:embed/>
                </p:oleObj>
              </mc:Choice>
              <mc:Fallback>
                <p:oleObj name="Equation" r:id="rId10" imgW="3098520" imgH="444240" progId="Equation.DSMT4">
                  <p:embed/>
                  <p:pic>
                    <p:nvPicPr>
                      <p:cNvPr id="28" name="Object 5"/>
                      <p:cNvPicPr>
                        <a:picLocks noChangeAspect="1" noChangeArrowheads="1"/>
                      </p:cNvPicPr>
                      <p:nvPr/>
                    </p:nvPicPr>
                    <p:blipFill>
                      <a:blip r:embed="rId11"/>
                      <a:srcRect/>
                      <a:stretch>
                        <a:fillRect/>
                      </a:stretch>
                    </p:blipFill>
                    <p:spPr bwMode="auto">
                      <a:xfrm>
                        <a:off x="1470637" y="3646160"/>
                        <a:ext cx="6816744" cy="9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
          <p:cNvGraphicFramePr>
            <a:graphicFrameLocks noChangeAspect="1"/>
          </p:cNvGraphicFramePr>
          <p:nvPr>
            <p:extLst>
              <p:ext uri="{D42A27DB-BD31-4B8C-83A1-F6EECF244321}">
                <p14:modId xmlns:p14="http://schemas.microsoft.com/office/powerpoint/2010/main" val="2649007461"/>
              </p:ext>
            </p:extLst>
          </p:nvPr>
        </p:nvGraphicFramePr>
        <p:xfrm>
          <a:off x="1066481" y="926537"/>
          <a:ext cx="4480056" cy="506520"/>
        </p:xfrm>
        <a:graphic>
          <a:graphicData uri="http://schemas.openxmlformats.org/presentationml/2006/ole">
            <mc:AlternateContent xmlns:mc="http://schemas.openxmlformats.org/markup-compatibility/2006">
              <mc:Choice xmlns:v="urn:schemas-microsoft-com:vml" Requires="v">
                <p:oleObj name="Equation" r:id="rId12" imgW="2133360" imgH="241200" progId="Equation.DSMT4">
                  <p:embed/>
                </p:oleObj>
              </mc:Choice>
              <mc:Fallback>
                <p:oleObj name="Equation" r:id="rId12" imgW="2133360" imgH="241200" progId="Equation.DSMT4">
                  <p:embed/>
                  <p:pic>
                    <p:nvPicPr>
                      <p:cNvPr id="22" name="Object 4"/>
                      <p:cNvPicPr>
                        <a:picLocks noChangeAspect="1" noChangeArrowheads="1"/>
                      </p:cNvPicPr>
                      <p:nvPr/>
                    </p:nvPicPr>
                    <p:blipFill>
                      <a:blip r:embed="rId13"/>
                      <a:srcRect/>
                      <a:stretch>
                        <a:fillRect/>
                      </a:stretch>
                    </p:blipFill>
                    <p:spPr bwMode="auto">
                      <a:xfrm>
                        <a:off x="1066481" y="926537"/>
                        <a:ext cx="4480056" cy="506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30913429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2"/>
          <p:cNvSpPr>
            <a:spLocks noChangeArrowheads="1"/>
          </p:cNvSpPr>
          <p:nvPr/>
        </p:nvSpPr>
        <p:spPr bwMode="auto">
          <a:xfrm>
            <a:off x="395536" y="980728"/>
            <a:ext cx="20161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spcAft>
                <a:spcPct val="20000"/>
              </a:spcAft>
              <a:buFontTx/>
              <a:buNone/>
            </a:pPr>
            <a:r>
              <a:rPr lang="en-US" altLang="zh-CN" sz="2800" dirty="0">
                <a:solidFill>
                  <a:srgbClr val="000000"/>
                </a:solidFill>
                <a:latin typeface="Times New Roman" panose="02020603050405020304" pitchFamily="18" charset="0"/>
                <a:ea typeface="宋体" panose="02010600030101010101" pitchFamily="2" charset="-122"/>
              </a:rPr>
              <a:t>(3)</a:t>
            </a:r>
            <a:r>
              <a:rPr lang="zh-CN" altLang="en-US" sz="2800" dirty="0">
                <a:solidFill>
                  <a:srgbClr val="000000"/>
                </a:solidFill>
                <a:latin typeface="Times New Roman" panose="02020603050405020304" pitchFamily="18" charset="0"/>
                <a:ea typeface="宋体" panose="02010600030101010101" pitchFamily="2" charset="-122"/>
              </a:rPr>
              <a:t>并联型  </a:t>
            </a:r>
          </a:p>
        </p:txBody>
      </p:sp>
      <p:graphicFrame>
        <p:nvGraphicFramePr>
          <p:cNvPr id="42" name="Object 3"/>
          <p:cNvGraphicFramePr>
            <a:graphicFrameLocks noChangeAspect="1"/>
          </p:cNvGraphicFramePr>
          <p:nvPr>
            <p:extLst>
              <p:ext uri="{D42A27DB-BD31-4B8C-83A1-F6EECF244321}">
                <p14:modId xmlns:p14="http://schemas.microsoft.com/office/powerpoint/2010/main" val="986531501"/>
              </p:ext>
            </p:extLst>
          </p:nvPr>
        </p:nvGraphicFramePr>
        <p:xfrm>
          <a:off x="2701549" y="836712"/>
          <a:ext cx="4322988" cy="933984"/>
        </p:xfrm>
        <a:graphic>
          <a:graphicData uri="http://schemas.openxmlformats.org/presentationml/2006/ole">
            <mc:AlternateContent xmlns:mc="http://schemas.openxmlformats.org/markup-compatibility/2006">
              <mc:Choice xmlns:v="urn:schemas-microsoft-com:vml" Requires="v">
                <p:oleObj name="Equation" r:id="rId2" imgW="1879560" imgH="406080" progId="Equation.DSMT4">
                  <p:embed/>
                </p:oleObj>
              </mc:Choice>
              <mc:Fallback>
                <p:oleObj name="Equation" r:id="rId2" imgW="1879560" imgH="406080" progId="Equation.DSMT4">
                  <p:embed/>
                  <p:pic>
                    <p:nvPicPr>
                      <p:cNvPr id="133123" name="Object 3"/>
                      <p:cNvPicPr>
                        <a:picLocks noChangeAspect="1" noChangeArrowheads="1"/>
                      </p:cNvPicPr>
                      <p:nvPr/>
                    </p:nvPicPr>
                    <p:blipFill>
                      <a:blip r:embed="rId3"/>
                      <a:srcRect/>
                      <a:stretch>
                        <a:fillRect/>
                      </a:stretch>
                    </p:blipFill>
                    <p:spPr bwMode="auto">
                      <a:xfrm>
                        <a:off x="2701549" y="836712"/>
                        <a:ext cx="4322988" cy="9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Object 10"/>
          <p:cNvGraphicFramePr>
            <a:graphicFrameLocks noChangeAspect="1"/>
          </p:cNvGraphicFramePr>
          <p:nvPr>
            <p:extLst>
              <p:ext uri="{D42A27DB-BD31-4B8C-83A1-F6EECF244321}">
                <p14:modId xmlns:p14="http://schemas.microsoft.com/office/powerpoint/2010/main" val="390990230"/>
              </p:ext>
            </p:extLst>
          </p:nvPr>
        </p:nvGraphicFramePr>
        <p:xfrm>
          <a:off x="2716039" y="1712070"/>
          <a:ext cx="631825" cy="441325"/>
        </p:xfrm>
        <a:graphic>
          <a:graphicData uri="http://schemas.openxmlformats.org/presentationml/2006/ole">
            <mc:AlternateContent xmlns:mc="http://schemas.openxmlformats.org/markup-compatibility/2006">
              <mc:Choice xmlns:v="urn:schemas-microsoft-com:vml" Requires="v">
                <p:oleObj name="Equation" r:id="rId4" imgW="368280" imgH="228600" progId="Equation.DSMT4">
                  <p:embed/>
                </p:oleObj>
              </mc:Choice>
              <mc:Fallback>
                <p:oleObj name="Equation" r:id="rId4" imgW="368280" imgH="228600" progId="Equation.DSMT4">
                  <p:embed/>
                  <p:pic>
                    <p:nvPicPr>
                      <p:cNvPr id="123919" name="Object 10"/>
                      <p:cNvPicPr>
                        <a:picLocks noChangeAspect="1" noChangeArrowheads="1"/>
                      </p:cNvPicPr>
                      <p:nvPr/>
                    </p:nvPicPr>
                    <p:blipFill>
                      <a:blip r:embed="rId5"/>
                      <a:srcRect/>
                      <a:stretch>
                        <a:fillRect/>
                      </a:stretch>
                    </p:blipFill>
                    <p:spPr bwMode="auto">
                      <a:xfrm>
                        <a:off x="2716039" y="1712070"/>
                        <a:ext cx="631825"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3"/>
          <p:cNvGraphicFramePr>
            <a:graphicFrameLocks noChangeAspect="1"/>
          </p:cNvGraphicFramePr>
          <p:nvPr>
            <p:extLst>
              <p:ext uri="{D42A27DB-BD31-4B8C-83A1-F6EECF244321}">
                <p14:modId xmlns:p14="http://schemas.microsoft.com/office/powerpoint/2010/main" val="3884422419"/>
              </p:ext>
            </p:extLst>
          </p:nvPr>
        </p:nvGraphicFramePr>
        <p:xfrm>
          <a:off x="2627049" y="3164929"/>
          <a:ext cx="630238" cy="441325"/>
        </p:xfrm>
        <a:graphic>
          <a:graphicData uri="http://schemas.openxmlformats.org/presentationml/2006/ole">
            <mc:AlternateContent xmlns:mc="http://schemas.openxmlformats.org/markup-compatibility/2006">
              <mc:Choice xmlns:v="urn:schemas-microsoft-com:vml" Requires="v">
                <p:oleObj name="Equation" r:id="rId6" imgW="368280" imgH="228600" progId="Equation.DSMT4">
                  <p:embed/>
                </p:oleObj>
              </mc:Choice>
              <mc:Fallback>
                <p:oleObj name="Equation" r:id="rId6" imgW="368280" imgH="228600" progId="Equation.DSMT4">
                  <p:embed/>
                  <p:pic>
                    <p:nvPicPr>
                      <p:cNvPr id="123922" name="Object 13"/>
                      <p:cNvPicPr>
                        <a:picLocks noChangeAspect="1" noChangeArrowheads="1"/>
                      </p:cNvPicPr>
                      <p:nvPr/>
                    </p:nvPicPr>
                    <p:blipFill>
                      <a:blip r:embed="rId7"/>
                      <a:srcRect/>
                      <a:stretch>
                        <a:fillRect/>
                      </a:stretch>
                    </p:blipFill>
                    <p:spPr bwMode="auto">
                      <a:xfrm>
                        <a:off x="2627049" y="3164929"/>
                        <a:ext cx="630238"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14"/>
          <p:cNvGraphicFramePr>
            <a:graphicFrameLocks noChangeAspect="1"/>
          </p:cNvGraphicFramePr>
          <p:nvPr>
            <p:extLst>
              <p:ext uri="{D42A27DB-BD31-4B8C-83A1-F6EECF244321}">
                <p14:modId xmlns:p14="http://schemas.microsoft.com/office/powerpoint/2010/main" val="1155588651"/>
              </p:ext>
            </p:extLst>
          </p:nvPr>
        </p:nvGraphicFramePr>
        <p:xfrm>
          <a:off x="3400425" y="1700808"/>
          <a:ext cx="630238" cy="441325"/>
        </p:xfrm>
        <a:graphic>
          <a:graphicData uri="http://schemas.openxmlformats.org/presentationml/2006/ole">
            <mc:AlternateContent xmlns:mc="http://schemas.openxmlformats.org/markup-compatibility/2006">
              <mc:Choice xmlns:v="urn:schemas-microsoft-com:vml" Requires="v">
                <p:oleObj name="Equation" r:id="rId8" imgW="368280" imgH="228600" progId="Equation.DSMT4">
                  <p:embed/>
                </p:oleObj>
              </mc:Choice>
              <mc:Fallback>
                <p:oleObj name="Equation" r:id="rId8" imgW="368280" imgH="228600" progId="Equation.DSMT4">
                  <p:embed/>
                  <p:pic>
                    <p:nvPicPr>
                      <p:cNvPr id="123923" name="Object 14"/>
                      <p:cNvPicPr>
                        <a:picLocks noChangeAspect="1" noChangeArrowheads="1"/>
                      </p:cNvPicPr>
                      <p:nvPr/>
                    </p:nvPicPr>
                    <p:blipFill>
                      <a:blip r:embed="rId9"/>
                      <a:srcRect/>
                      <a:stretch>
                        <a:fillRect/>
                      </a:stretch>
                    </p:blipFill>
                    <p:spPr bwMode="auto">
                      <a:xfrm>
                        <a:off x="3400425" y="1700808"/>
                        <a:ext cx="630238"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Line 28"/>
          <p:cNvSpPr>
            <a:spLocks noChangeShapeType="1"/>
          </p:cNvSpPr>
          <p:nvPr/>
        </p:nvSpPr>
        <p:spPr bwMode="auto">
          <a:xfrm>
            <a:off x="3108151" y="2093070"/>
            <a:ext cx="0" cy="381000"/>
          </a:xfrm>
          <a:prstGeom prst="line">
            <a:avLst/>
          </a:prstGeom>
          <a:noFill/>
          <a:ln w="222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47" name="Line 29"/>
          <p:cNvSpPr>
            <a:spLocks noChangeShapeType="1"/>
          </p:cNvSpPr>
          <p:nvPr/>
        </p:nvSpPr>
        <p:spPr bwMode="auto">
          <a:xfrm>
            <a:off x="3496999" y="2093070"/>
            <a:ext cx="0" cy="381000"/>
          </a:xfrm>
          <a:prstGeom prst="line">
            <a:avLst/>
          </a:prstGeom>
          <a:noFill/>
          <a:ln w="222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48" name="Line 30"/>
          <p:cNvSpPr>
            <a:spLocks noChangeShapeType="1"/>
          </p:cNvSpPr>
          <p:nvPr/>
        </p:nvSpPr>
        <p:spPr bwMode="auto">
          <a:xfrm>
            <a:off x="3093740" y="3544191"/>
            <a:ext cx="0" cy="360000"/>
          </a:xfrm>
          <a:prstGeom prst="line">
            <a:avLst/>
          </a:prstGeom>
          <a:noFill/>
          <a:ln w="222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49" name="Line 31"/>
          <p:cNvSpPr>
            <a:spLocks noChangeShapeType="1"/>
          </p:cNvSpPr>
          <p:nvPr/>
        </p:nvSpPr>
        <p:spPr bwMode="auto">
          <a:xfrm>
            <a:off x="3496999" y="3522016"/>
            <a:ext cx="0" cy="381000"/>
          </a:xfrm>
          <a:prstGeom prst="line">
            <a:avLst/>
          </a:prstGeom>
          <a:noFill/>
          <a:ln w="222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graphicFrame>
        <p:nvGraphicFramePr>
          <p:cNvPr id="50" name="Object 33"/>
          <p:cNvGraphicFramePr>
            <a:graphicFrameLocks noChangeAspect="1"/>
          </p:cNvGraphicFramePr>
          <p:nvPr>
            <p:extLst>
              <p:ext uri="{D42A27DB-BD31-4B8C-83A1-F6EECF244321}">
                <p14:modId xmlns:p14="http://schemas.microsoft.com/office/powerpoint/2010/main" val="2257679485"/>
              </p:ext>
            </p:extLst>
          </p:nvPr>
        </p:nvGraphicFramePr>
        <p:xfrm>
          <a:off x="3371587" y="3141117"/>
          <a:ext cx="631825" cy="441325"/>
        </p:xfrm>
        <a:graphic>
          <a:graphicData uri="http://schemas.openxmlformats.org/presentationml/2006/ole">
            <mc:AlternateContent xmlns:mc="http://schemas.openxmlformats.org/markup-compatibility/2006">
              <mc:Choice xmlns:v="urn:schemas-microsoft-com:vml" Requires="v">
                <p:oleObj name="Equation" r:id="rId10" imgW="368280" imgH="228600" progId="Equation.DSMT4">
                  <p:embed/>
                </p:oleObj>
              </mc:Choice>
              <mc:Fallback>
                <p:oleObj name="Equation" r:id="rId10" imgW="368280" imgH="228600" progId="Equation.DSMT4">
                  <p:embed/>
                  <p:pic>
                    <p:nvPicPr>
                      <p:cNvPr id="123942" name="Object 33"/>
                      <p:cNvPicPr>
                        <a:picLocks noChangeAspect="1" noChangeArrowheads="1"/>
                      </p:cNvPicPr>
                      <p:nvPr/>
                    </p:nvPicPr>
                    <p:blipFill>
                      <a:blip r:embed="rId11"/>
                      <a:srcRect/>
                      <a:stretch>
                        <a:fillRect/>
                      </a:stretch>
                    </p:blipFill>
                    <p:spPr bwMode="auto">
                      <a:xfrm>
                        <a:off x="3371587" y="3141117"/>
                        <a:ext cx="631825"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Text Box 35"/>
          <p:cNvSpPr txBox="1">
            <a:spLocks noChangeArrowheads="1"/>
          </p:cNvSpPr>
          <p:nvPr/>
        </p:nvSpPr>
        <p:spPr bwMode="auto">
          <a:xfrm>
            <a:off x="2220648" y="2061320"/>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0.36</a:t>
            </a:r>
          </a:p>
        </p:txBody>
      </p:sp>
      <p:sp>
        <p:nvSpPr>
          <p:cNvPr id="53" name="Line 4"/>
          <p:cNvSpPr>
            <a:spLocks noChangeShapeType="1"/>
          </p:cNvSpPr>
          <p:nvPr/>
        </p:nvSpPr>
        <p:spPr bwMode="auto">
          <a:xfrm>
            <a:off x="1988875" y="3888540"/>
            <a:ext cx="5032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54" name="Line 5"/>
          <p:cNvSpPr>
            <a:spLocks noChangeShapeType="1"/>
          </p:cNvSpPr>
          <p:nvPr/>
        </p:nvSpPr>
        <p:spPr bwMode="auto">
          <a:xfrm>
            <a:off x="4147875" y="3888540"/>
            <a:ext cx="11430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55" name="Freeform 6"/>
          <p:cNvSpPr>
            <a:spLocks/>
          </p:cNvSpPr>
          <p:nvPr/>
        </p:nvSpPr>
        <p:spPr bwMode="auto">
          <a:xfrm>
            <a:off x="3497000" y="2474077"/>
            <a:ext cx="1066800" cy="762001"/>
          </a:xfrm>
          <a:custGeom>
            <a:avLst/>
            <a:gdLst>
              <a:gd name="T0" fmla="*/ 2147483646 w 864"/>
              <a:gd name="T1" fmla="*/ 2147483646 h 528"/>
              <a:gd name="T2" fmla="*/ 2147483646 w 864"/>
              <a:gd name="T3" fmla="*/ 2147483646 h 528"/>
              <a:gd name="T4" fmla="*/ 0 w 864"/>
              <a:gd name="T5" fmla="*/ 0 h 528"/>
              <a:gd name="T6" fmla="*/ 0 60000 65536"/>
              <a:gd name="T7" fmla="*/ 0 60000 65536"/>
              <a:gd name="T8" fmla="*/ 0 60000 65536"/>
              <a:gd name="T9" fmla="*/ 0 w 864"/>
              <a:gd name="T10" fmla="*/ 0 h 528"/>
              <a:gd name="T11" fmla="*/ 864 w 864"/>
              <a:gd name="T12" fmla="*/ 528 h 528"/>
            </a:gdLst>
            <a:ahLst/>
            <a:cxnLst>
              <a:cxn ang="T6">
                <a:pos x="T0" y="T1"/>
              </a:cxn>
              <a:cxn ang="T7">
                <a:pos x="T2" y="T3"/>
              </a:cxn>
              <a:cxn ang="T8">
                <a:pos x="T4" y="T5"/>
              </a:cxn>
            </a:cxnLst>
            <a:rect l="T9" t="T10" r="T11" b="T12"/>
            <a:pathLst>
              <a:path w="864" h="528">
                <a:moveTo>
                  <a:pt x="864" y="528"/>
                </a:moveTo>
                <a:cubicBezTo>
                  <a:pt x="672" y="500"/>
                  <a:pt x="480" y="472"/>
                  <a:pt x="336" y="384"/>
                </a:cubicBezTo>
                <a:cubicBezTo>
                  <a:pt x="192" y="296"/>
                  <a:pt x="56" y="72"/>
                  <a:pt x="0" y="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56" name="Freeform 7"/>
          <p:cNvSpPr>
            <a:spLocks/>
          </p:cNvSpPr>
          <p:nvPr/>
        </p:nvSpPr>
        <p:spPr bwMode="auto">
          <a:xfrm>
            <a:off x="3496998" y="3886956"/>
            <a:ext cx="1066804" cy="755646"/>
          </a:xfrm>
          <a:custGeom>
            <a:avLst/>
            <a:gdLst>
              <a:gd name="T0" fmla="*/ 2147483646 w 864"/>
              <a:gd name="T1" fmla="*/ 2147483646 h 528"/>
              <a:gd name="T2" fmla="*/ 2147483646 w 864"/>
              <a:gd name="T3" fmla="*/ 2147483646 h 528"/>
              <a:gd name="T4" fmla="*/ 0 w 864"/>
              <a:gd name="T5" fmla="*/ 0 h 528"/>
              <a:gd name="T6" fmla="*/ 0 60000 65536"/>
              <a:gd name="T7" fmla="*/ 0 60000 65536"/>
              <a:gd name="T8" fmla="*/ 0 60000 65536"/>
              <a:gd name="T9" fmla="*/ 0 w 864"/>
              <a:gd name="T10" fmla="*/ 0 h 528"/>
              <a:gd name="T11" fmla="*/ 864 w 864"/>
              <a:gd name="T12" fmla="*/ 528 h 528"/>
            </a:gdLst>
            <a:ahLst/>
            <a:cxnLst>
              <a:cxn ang="T6">
                <a:pos x="T0" y="T1"/>
              </a:cxn>
              <a:cxn ang="T7">
                <a:pos x="T2" y="T3"/>
              </a:cxn>
              <a:cxn ang="T8">
                <a:pos x="T4" y="T5"/>
              </a:cxn>
            </a:cxnLst>
            <a:rect l="T9" t="T10" r="T11" b="T12"/>
            <a:pathLst>
              <a:path w="864" h="528">
                <a:moveTo>
                  <a:pt x="864" y="528"/>
                </a:moveTo>
                <a:cubicBezTo>
                  <a:pt x="672" y="500"/>
                  <a:pt x="480" y="472"/>
                  <a:pt x="336" y="384"/>
                </a:cubicBezTo>
                <a:cubicBezTo>
                  <a:pt x="192" y="296"/>
                  <a:pt x="56" y="72"/>
                  <a:pt x="0" y="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57" name="Line 8"/>
          <p:cNvSpPr>
            <a:spLocks noChangeShapeType="1"/>
          </p:cNvSpPr>
          <p:nvPr/>
        </p:nvSpPr>
        <p:spPr bwMode="auto">
          <a:xfrm>
            <a:off x="4563800" y="3886956"/>
            <a:ext cx="0" cy="568323"/>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58" name="Line 9"/>
          <p:cNvSpPr>
            <a:spLocks noChangeShapeType="1"/>
          </p:cNvSpPr>
          <p:nvPr/>
        </p:nvSpPr>
        <p:spPr bwMode="auto">
          <a:xfrm flipV="1">
            <a:off x="4563800" y="4455278"/>
            <a:ext cx="0" cy="18732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graphicFrame>
        <p:nvGraphicFramePr>
          <p:cNvPr id="59" name="Object 11"/>
          <p:cNvGraphicFramePr>
            <a:graphicFrameLocks noChangeAspect="1"/>
          </p:cNvGraphicFramePr>
          <p:nvPr>
            <p:extLst>
              <p:ext uri="{D42A27DB-BD31-4B8C-83A1-F6EECF244321}">
                <p14:modId xmlns:p14="http://schemas.microsoft.com/office/powerpoint/2010/main" val="1837658769"/>
              </p:ext>
            </p:extLst>
          </p:nvPr>
        </p:nvGraphicFramePr>
        <p:xfrm>
          <a:off x="1428487" y="3693278"/>
          <a:ext cx="566738" cy="392113"/>
        </p:xfrm>
        <a:graphic>
          <a:graphicData uri="http://schemas.openxmlformats.org/presentationml/2006/ole">
            <mc:AlternateContent xmlns:mc="http://schemas.openxmlformats.org/markup-compatibility/2006">
              <mc:Choice xmlns:v="urn:schemas-microsoft-com:vml" Requires="v">
                <p:oleObj name="Equation" r:id="rId12" imgW="330057" imgH="203112" progId="Equation.DSMT4">
                  <p:embed/>
                </p:oleObj>
              </mc:Choice>
              <mc:Fallback>
                <p:oleObj name="Equation" r:id="rId12" imgW="330057" imgH="203112" progId="Equation.DSMT4">
                  <p:embed/>
                  <p:pic>
                    <p:nvPicPr>
                      <p:cNvPr id="13314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487" y="3693278"/>
                        <a:ext cx="566738"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12"/>
          <p:cNvGraphicFramePr>
            <a:graphicFrameLocks noChangeAspect="1"/>
          </p:cNvGraphicFramePr>
          <p:nvPr>
            <p:extLst>
              <p:ext uri="{D42A27DB-BD31-4B8C-83A1-F6EECF244321}">
                <p14:modId xmlns:p14="http://schemas.microsoft.com/office/powerpoint/2010/main" val="52321147"/>
              </p:ext>
            </p:extLst>
          </p:nvPr>
        </p:nvGraphicFramePr>
        <p:xfrm>
          <a:off x="6905361" y="3769478"/>
          <a:ext cx="1392238" cy="466726"/>
        </p:xfrm>
        <a:graphic>
          <a:graphicData uri="http://schemas.openxmlformats.org/presentationml/2006/ole">
            <mc:AlternateContent xmlns:mc="http://schemas.openxmlformats.org/markup-compatibility/2006">
              <mc:Choice xmlns:v="urn:schemas-microsoft-com:vml" Requires="v">
                <p:oleObj name="Equation" r:id="rId14" imgW="812447" imgH="241195" progId="Equation.DSMT4">
                  <p:embed/>
                </p:oleObj>
              </mc:Choice>
              <mc:Fallback>
                <p:oleObj name="Equation" r:id="rId14" imgW="812447" imgH="241195" progId="Equation.DSMT4">
                  <p:embed/>
                  <p:pic>
                    <p:nvPicPr>
                      <p:cNvPr id="133141"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05361" y="3769478"/>
                        <a:ext cx="1392238" cy="4667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 name="Object 15"/>
          <p:cNvGraphicFramePr>
            <a:graphicFrameLocks noChangeAspect="1"/>
          </p:cNvGraphicFramePr>
          <p:nvPr>
            <p:extLst>
              <p:ext uri="{D42A27DB-BD31-4B8C-83A1-F6EECF244321}">
                <p14:modId xmlns:p14="http://schemas.microsoft.com/office/powerpoint/2010/main" val="2219748466"/>
              </p:ext>
            </p:extLst>
          </p:nvPr>
        </p:nvGraphicFramePr>
        <p:xfrm>
          <a:off x="4640000" y="4063166"/>
          <a:ext cx="369888" cy="392113"/>
        </p:xfrm>
        <a:graphic>
          <a:graphicData uri="http://schemas.openxmlformats.org/presentationml/2006/ole">
            <mc:AlternateContent xmlns:mc="http://schemas.openxmlformats.org/markup-compatibility/2006">
              <mc:Choice xmlns:v="urn:schemas-microsoft-com:vml" Requires="v">
                <p:oleObj name="Equation" r:id="rId16" imgW="215713" imgH="203024" progId="Equation.DSMT4">
                  <p:embed/>
                </p:oleObj>
              </mc:Choice>
              <mc:Fallback>
                <p:oleObj name="Equation" r:id="rId16" imgW="215713" imgH="203024" progId="Equation.DSMT4">
                  <p:embed/>
                  <p:pic>
                    <p:nvPicPr>
                      <p:cNvPr id="133142"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40000" y="4063166"/>
                        <a:ext cx="369888"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16"/>
          <p:cNvGraphicFramePr>
            <a:graphicFrameLocks noChangeAspect="1"/>
          </p:cNvGraphicFramePr>
          <p:nvPr>
            <p:extLst>
              <p:ext uri="{D42A27DB-BD31-4B8C-83A1-F6EECF244321}">
                <p14:modId xmlns:p14="http://schemas.microsoft.com/office/powerpoint/2010/main" val="1530214166"/>
              </p:ext>
            </p:extLst>
          </p:nvPr>
        </p:nvGraphicFramePr>
        <p:xfrm>
          <a:off x="4581262" y="2664577"/>
          <a:ext cx="369888" cy="393701"/>
        </p:xfrm>
        <a:graphic>
          <a:graphicData uri="http://schemas.openxmlformats.org/presentationml/2006/ole">
            <mc:AlternateContent xmlns:mc="http://schemas.openxmlformats.org/markup-compatibility/2006">
              <mc:Choice xmlns:v="urn:schemas-microsoft-com:vml" Requires="v">
                <p:oleObj name="Equation" r:id="rId18" imgW="215713" imgH="203024" progId="Equation.DSMT4">
                  <p:embed/>
                </p:oleObj>
              </mc:Choice>
              <mc:Fallback>
                <p:oleObj name="Equation" r:id="rId18" imgW="215713" imgH="203024" progId="Equation.DSMT4">
                  <p:embed/>
                  <p:pic>
                    <p:nvPicPr>
                      <p:cNvPr id="133143"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81262" y="2664577"/>
                        <a:ext cx="369888" cy="3937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 name="Line 17"/>
          <p:cNvSpPr>
            <a:spLocks noChangeShapeType="1"/>
          </p:cNvSpPr>
          <p:nvPr/>
        </p:nvSpPr>
        <p:spPr bwMode="auto">
          <a:xfrm flipV="1">
            <a:off x="2636575" y="2448677"/>
            <a:ext cx="0" cy="144780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64" name="Line 18"/>
          <p:cNvSpPr>
            <a:spLocks noChangeShapeType="1"/>
          </p:cNvSpPr>
          <p:nvPr/>
        </p:nvSpPr>
        <p:spPr bwMode="auto">
          <a:xfrm>
            <a:off x="2658800" y="2474077"/>
            <a:ext cx="2286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65" name="Line 19"/>
          <p:cNvSpPr>
            <a:spLocks noChangeShapeType="1"/>
          </p:cNvSpPr>
          <p:nvPr/>
        </p:nvSpPr>
        <p:spPr bwMode="auto">
          <a:xfrm>
            <a:off x="2887400" y="2474077"/>
            <a:ext cx="12192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66" name="Line 20"/>
          <p:cNvSpPr>
            <a:spLocks noChangeShapeType="1"/>
          </p:cNvSpPr>
          <p:nvPr/>
        </p:nvSpPr>
        <p:spPr bwMode="auto">
          <a:xfrm flipV="1">
            <a:off x="4089140" y="2472491"/>
            <a:ext cx="1787520" cy="317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67" name="Line 21"/>
          <p:cNvSpPr>
            <a:spLocks noChangeShapeType="1"/>
          </p:cNvSpPr>
          <p:nvPr/>
        </p:nvSpPr>
        <p:spPr bwMode="auto">
          <a:xfrm>
            <a:off x="5876661" y="2474071"/>
            <a:ext cx="0" cy="71121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68" name="Line 22"/>
          <p:cNvSpPr>
            <a:spLocks noChangeShapeType="1"/>
          </p:cNvSpPr>
          <p:nvPr/>
        </p:nvSpPr>
        <p:spPr bwMode="auto">
          <a:xfrm>
            <a:off x="5876661" y="3124953"/>
            <a:ext cx="0" cy="77152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69" name="Line 23"/>
          <p:cNvSpPr>
            <a:spLocks noChangeShapeType="1"/>
          </p:cNvSpPr>
          <p:nvPr/>
        </p:nvSpPr>
        <p:spPr bwMode="auto">
          <a:xfrm>
            <a:off x="6163999" y="3888540"/>
            <a:ext cx="6096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70" name="Line 24"/>
          <p:cNvSpPr>
            <a:spLocks noChangeShapeType="1"/>
          </p:cNvSpPr>
          <p:nvPr/>
        </p:nvSpPr>
        <p:spPr bwMode="auto">
          <a:xfrm flipH="1" flipV="1">
            <a:off x="3725600" y="2855077"/>
            <a:ext cx="76200" cy="7620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71" name="Line 25"/>
          <p:cNvSpPr>
            <a:spLocks noChangeShapeType="1"/>
          </p:cNvSpPr>
          <p:nvPr/>
        </p:nvSpPr>
        <p:spPr bwMode="auto">
          <a:xfrm>
            <a:off x="4563800" y="2474077"/>
            <a:ext cx="0" cy="762001"/>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72" name="Line 26"/>
          <p:cNvSpPr>
            <a:spLocks noChangeShapeType="1"/>
          </p:cNvSpPr>
          <p:nvPr/>
        </p:nvSpPr>
        <p:spPr bwMode="auto">
          <a:xfrm flipH="1" flipV="1">
            <a:off x="3649400" y="4150478"/>
            <a:ext cx="76200" cy="7620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73" name="Line 27"/>
          <p:cNvSpPr>
            <a:spLocks noChangeShapeType="1"/>
          </p:cNvSpPr>
          <p:nvPr/>
        </p:nvSpPr>
        <p:spPr bwMode="auto">
          <a:xfrm>
            <a:off x="5228961" y="3888540"/>
            <a:ext cx="9858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74" name="Line 32"/>
          <p:cNvSpPr>
            <a:spLocks noChangeShapeType="1"/>
          </p:cNvSpPr>
          <p:nvPr/>
        </p:nvSpPr>
        <p:spPr bwMode="auto">
          <a:xfrm>
            <a:off x="2420675" y="3888540"/>
            <a:ext cx="1800225"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sp>
        <p:nvSpPr>
          <p:cNvPr id="75" name="Text Box 36"/>
          <p:cNvSpPr txBox="1">
            <a:spLocks noChangeArrowheads="1"/>
          </p:cNvSpPr>
          <p:nvPr/>
        </p:nvSpPr>
        <p:spPr bwMode="auto">
          <a:xfrm>
            <a:off x="2987824" y="2709020"/>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0.9</a:t>
            </a:r>
          </a:p>
        </p:txBody>
      </p:sp>
      <p:sp>
        <p:nvSpPr>
          <p:cNvPr id="76" name="Text Box 37"/>
          <p:cNvSpPr txBox="1">
            <a:spLocks noChangeArrowheads="1"/>
          </p:cNvSpPr>
          <p:nvPr/>
        </p:nvSpPr>
        <p:spPr bwMode="auto">
          <a:xfrm>
            <a:off x="2220648" y="3932982"/>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-0.32</a:t>
            </a:r>
          </a:p>
        </p:txBody>
      </p:sp>
      <p:sp>
        <p:nvSpPr>
          <p:cNvPr id="77" name="Text Box 38"/>
          <p:cNvSpPr txBox="1">
            <a:spLocks noChangeArrowheads="1"/>
          </p:cNvSpPr>
          <p:nvPr/>
        </p:nvSpPr>
        <p:spPr bwMode="auto">
          <a:xfrm>
            <a:off x="3059832" y="4221907"/>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0.8</a:t>
            </a:r>
          </a:p>
        </p:txBody>
      </p:sp>
      <p:sp>
        <p:nvSpPr>
          <p:cNvPr id="2" name="矩形 1"/>
          <p:cNvSpPr/>
          <p:nvPr/>
        </p:nvSpPr>
        <p:spPr>
          <a:xfrm>
            <a:off x="2474307" y="4725144"/>
            <a:ext cx="3724096" cy="461665"/>
          </a:xfrm>
          <a:prstGeom prst="rect">
            <a:avLst/>
          </a:prstGeom>
        </p:spPr>
        <p:txBody>
          <a:bodyPr wrap="none">
            <a:spAutoFit/>
          </a:bodyPr>
          <a:lstStyle/>
          <a:p>
            <a:r>
              <a:rPr lang="zh-CN" altLang="en-US" sz="2400" b="1" dirty="0">
                <a:solidFill>
                  <a:srgbClr val="000000"/>
                </a:solidFill>
                <a:latin typeface="Times New Roman" panose="02020603050405020304" pitchFamily="18" charset="0"/>
                <a:cs typeface="Times New Roman" panose="02020603050405020304" pitchFamily="18" charset="0"/>
              </a:rPr>
              <a:t>图</a:t>
            </a:r>
            <a:r>
              <a:rPr lang="en-US" altLang="zh-CN" sz="2400" b="1" dirty="0">
                <a:solidFill>
                  <a:srgbClr val="000000"/>
                </a:solidFill>
                <a:latin typeface="Times New Roman" panose="02020603050405020304" pitchFamily="18" charset="0"/>
                <a:cs typeface="Times New Roman" panose="02020603050405020304" pitchFamily="18" charset="0"/>
              </a:rPr>
              <a:t>6.31  </a:t>
            </a:r>
            <a:r>
              <a:rPr lang="zh-CN" altLang="en-US" sz="2400" b="1" dirty="0">
                <a:solidFill>
                  <a:srgbClr val="000000"/>
                </a:solidFill>
                <a:latin typeface="Times New Roman" panose="02020603050405020304" pitchFamily="18" charset="0"/>
                <a:cs typeface="Times New Roman" panose="02020603050405020304" pitchFamily="18" charset="0"/>
              </a:rPr>
              <a:t>并联型的舍入噪声</a:t>
            </a:r>
          </a:p>
        </p:txBody>
      </p:sp>
      <p:sp>
        <p:nvSpPr>
          <p:cNvPr id="78" name="Line 18"/>
          <p:cNvSpPr>
            <a:spLocks noChangeShapeType="1"/>
          </p:cNvSpPr>
          <p:nvPr/>
        </p:nvSpPr>
        <p:spPr bwMode="auto">
          <a:xfrm>
            <a:off x="2658800" y="3888540"/>
            <a:ext cx="2286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600" b="0" i="0" u="none" strike="noStrike" kern="0" cap="none" spc="0" normalizeH="0" baseline="0" noProof="0">
              <a:ln>
                <a:noFill/>
              </a:ln>
              <a:solidFill>
                <a:srgbClr val="FFFF00"/>
              </a:solidFill>
              <a:effectLst/>
              <a:uLnTx/>
              <a:uFillTx/>
              <a:latin typeface="黑体" panose="02010609060101010101" pitchFamily="49" charset="-122"/>
              <a:ea typeface="黑体" panose="02010609060101010101" pitchFamily="49" charset="-122"/>
            </a:endParaRPr>
          </a:p>
        </p:txBody>
      </p:sp>
      <p:graphicFrame>
        <p:nvGraphicFramePr>
          <p:cNvPr id="79" name="Object 6"/>
          <p:cNvGraphicFramePr>
            <a:graphicFrameLocks noChangeAspect="1"/>
          </p:cNvGraphicFramePr>
          <p:nvPr>
            <p:extLst>
              <p:ext uri="{D42A27DB-BD31-4B8C-83A1-F6EECF244321}">
                <p14:modId xmlns:p14="http://schemas.microsoft.com/office/powerpoint/2010/main" val="2137275645"/>
              </p:ext>
            </p:extLst>
          </p:nvPr>
        </p:nvGraphicFramePr>
        <p:xfrm>
          <a:off x="4434759" y="5085184"/>
          <a:ext cx="2336400" cy="812160"/>
        </p:xfrm>
        <a:graphic>
          <a:graphicData uri="http://schemas.openxmlformats.org/presentationml/2006/ole">
            <mc:AlternateContent xmlns:mc="http://schemas.openxmlformats.org/markup-compatibility/2006">
              <mc:Choice xmlns:v="urn:schemas-microsoft-com:vml" Requires="v">
                <p:oleObj name="Equation" r:id="rId20" imgW="1168200" imgH="406080" progId="Equation.DSMT4">
                  <p:embed/>
                </p:oleObj>
              </mc:Choice>
              <mc:Fallback>
                <p:oleObj name="Equation" r:id="rId20" imgW="1168200" imgH="406080" progId="Equation.DSMT4">
                  <p:embed/>
                  <p:pic>
                    <p:nvPicPr>
                      <p:cNvPr id="33" name="Object 6"/>
                      <p:cNvPicPr>
                        <a:picLocks noChangeAspect="1" noChangeArrowheads="1"/>
                      </p:cNvPicPr>
                      <p:nvPr/>
                    </p:nvPicPr>
                    <p:blipFill>
                      <a:blip r:embed="rId21"/>
                      <a:srcRect/>
                      <a:stretch>
                        <a:fillRect/>
                      </a:stretch>
                    </p:blipFill>
                    <p:spPr bwMode="auto">
                      <a:xfrm>
                        <a:off x="4434759" y="5085184"/>
                        <a:ext cx="2336400" cy="81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 name="Object 3"/>
          <p:cNvGraphicFramePr>
            <a:graphicFrameLocks noChangeAspect="1"/>
          </p:cNvGraphicFramePr>
          <p:nvPr>
            <p:extLst>
              <p:ext uri="{D42A27DB-BD31-4B8C-83A1-F6EECF244321}">
                <p14:modId xmlns:p14="http://schemas.microsoft.com/office/powerpoint/2010/main" val="1210032718"/>
              </p:ext>
            </p:extLst>
          </p:nvPr>
        </p:nvGraphicFramePr>
        <p:xfrm>
          <a:off x="688692" y="5248054"/>
          <a:ext cx="1723068" cy="525780"/>
        </p:xfrm>
        <a:graphic>
          <a:graphicData uri="http://schemas.openxmlformats.org/presentationml/2006/ole">
            <mc:AlternateContent xmlns:mc="http://schemas.openxmlformats.org/markup-compatibility/2006">
              <mc:Choice xmlns:v="urn:schemas-microsoft-com:vml" Requires="v">
                <p:oleObj name="Equation" r:id="rId22" imgW="749160" imgH="228600" progId="Equation.DSMT4">
                  <p:embed/>
                </p:oleObj>
              </mc:Choice>
              <mc:Fallback>
                <p:oleObj name="Equation" r:id="rId22" imgW="749160" imgH="228600" progId="Equation.DSMT4">
                  <p:embed/>
                  <p:pic>
                    <p:nvPicPr>
                      <p:cNvPr id="37" name="Object 3"/>
                      <p:cNvPicPr>
                        <a:picLocks noChangeAspect="1" noChangeArrowheads="1"/>
                      </p:cNvPicPr>
                      <p:nvPr/>
                    </p:nvPicPr>
                    <p:blipFill>
                      <a:blip r:embed="rId23"/>
                      <a:srcRect/>
                      <a:stretch>
                        <a:fillRect/>
                      </a:stretch>
                    </p:blipFill>
                    <p:spPr bwMode="auto">
                      <a:xfrm>
                        <a:off x="688692" y="5248054"/>
                        <a:ext cx="1723068"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 name="矩形 80"/>
          <p:cNvSpPr/>
          <p:nvPr/>
        </p:nvSpPr>
        <p:spPr>
          <a:xfrm>
            <a:off x="2411660" y="5229200"/>
            <a:ext cx="1988045"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通过的网络</a:t>
            </a:r>
            <a:endParaRPr lang="zh-CN" altLang="en-US" b="1" dirty="0"/>
          </a:p>
        </p:txBody>
      </p:sp>
      <p:graphicFrame>
        <p:nvGraphicFramePr>
          <p:cNvPr id="82" name="Object 6"/>
          <p:cNvGraphicFramePr>
            <a:graphicFrameLocks noChangeAspect="1"/>
          </p:cNvGraphicFramePr>
          <p:nvPr>
            <p:extLst>
              <p:ext uri="{D42A27DB-BD31-4B8C-83A1-F6EECF244321}">
                <p14:modId xmlns:p14="http://schemas.microsoft.com/office/powerpoint/2010/main" val="805806388"/>
              </p:ext>
            </p:extLst>
          </p:nvPr>
        </p:nvGraphicFramePr>
        <p:xfrm>
          <a:off x="4451086" y="5847773"/>
          <a:ext cx="2361600" cy="812160"/>
        </p:xfrm>
        <a:graphic>
          <a:graphicData uri="http://schemas.openxmlformats.org/presentationml/2006/ole">
            <mc:AlternateContent xmlns:mc="http://schemas.openxmlformats.org/markup-compatibility/2006">
              <mc:Choice xmlns:v="urn:schemas-microsoft-com:vml" Requires="v">
                <p:oleObj name="Equation" r:id="rId24" imgW="1180800" imgH="406080" progId="Equation.DSMT4">
                  <p:embed/>
                </p:oleObj>
              </mc:Choice>
              <mc:Fallback>
                <p:oleObj name="Equation" r:id="rId24" imgW="1180800" imgH="406080" progId="Equation.DSMT4">
                  <p:embed/>
                  <p:pic>
                    <p:nvPicPr>
                      <p:cNvPr id="35" name="Object 6"/>
                      <p:cNvPicPr>
                        <a:picLocks noChangeAspect="1" noChangeArrowheads="1"/>
                      </p:cNvPicPr>
                      <p:nvPr/>
                    </p:nvPicPr>
                    <p:blipFill>
                      <a:blip r:embed="rId25"/>
                      <a:srcRect/>
                      <a:stretch>
                        <a:fillRect/>
                      </a:stretch>
                    </p:blipFill>
                    <p:spPr bwMode="auto">
                      <a:xfrm>
                        <a:off x="4451086" y="5847773"/>
                        <a:ext cx="2361600" cy="81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 name="Object 3"/>
          <p:cNvGraphicFramePr>
            <a:graphicFrameLocks noChangeAspect="1"/>
          </p:cNvGraphicFramePr>
          <p:nvPr>
            <p:extLst>
              <p:ext uri="{D42A27DB-BD31-4B8C-83A1-F6EECF244321}">
                <p14:modId xmlns:p14="http://schemas.microsoft.com/office/powerpoint/2010/main" val="277919197"/>
              </p:ext>
            </p:extLst>
          </p:nvPr>
        </p:nvGraphicFramePr>
        <p:xfrm>
          <a:off x="667815" y="5971434"/>
          <a:ext cx="1752048" cy="525780"/>
        </p:xfrm>
        <a:graphic>
          <a:graphicData uri="http://schemas.openxmlformats.org/presentationml/2006/ole">
            <mc:AlternateContent xmlns:mc="http://schemas.openxmlformats.org/markup-compatibility/2006">
              <mc:Choice xmlns:v="urn:schemas-microsoft-com:vml" Requires="v">
                <p:oleObj name="Equation" r:id="rId26" imgW="761760" imgH="228600" progId="Equation.DSMT4">
                  <p:embed/>
                </p:oleObj>
              </mc:Choice>
              <mc:Fallback>
                <p:oleObj name="Equation" r:id="rId26" imgW="761760" imgH="228600" progId="Equation.DSMT4">
                  <p:embed/>
                  <p:pic>
                    <p:nvPicPr>
                      <p:cNvPr id="39" name="Object 3"/>
                      <p:cNvPicPr>
                        <a:picLocks noChangeAspect="1" noChangeArrowheads="1"/>
                      </p:cNvPicPr>
                      <p:nvPr/>
                    </p:nvPicPr>
                    <p:blipFill>
                      <a:blip r:embed="rId27"/>
                      <a:srcRect/>
                      <a:stretch>
                        <a:fillRect/>
                      </a:stretch>
                    </p:blipFill>
                    <p:spPr bwMode="auto">
                      <a:xfrm>
                        <a:off x="667815" y="5971434"/>
                        <a:ext cx="1752048"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4" name="矩形 83"/>
          <p:cNvSpPr/>
          <p:nvPr/>
        </p:nvSpPr>
        <p:spPr>
          <a:xfrm>
            <a:off x="2428272" y="5949280"/>
            <a:ext cx="1988045"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通过的网络</a:t>
            </a:r>
            <a:endParaRPr lang="zh-CN" altLang="en-US" b="1" dirty="0"/>
          </a:p>
        </p:txBody>
      </p:sp>
      <p:sp>
        <p:nvSpPr>
          <p:cNvPr id="85"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327262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0"/>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0"/>
                                  </p:stCondLst>
                                  <p:childTnLst>
                                    <p:set>
                                      <p:cBhvr>
                                        <p:cTn id="35" dur="1" fill="hold">
                                          <p:stCondLst>
                                            <p:cond delay="0"/>
                                          </p:stCondLst>
                                        </p:cTn>
                                        <p:tgtEl>
                                          <p:spTgt spid="7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3"/>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0"/>
                                  </p:stCondLst>
                                  <p:childTnLst>
                                    <p:set>
                                      <p:cBhvr>
                                        <p:cTn id="45"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4"/>
          <p:cNvGraphicFramePr>
            <a:graphicFrameLocks noChangeAspect="1"/>
          </p:cNvGraphicFramePr>
          <p:nvPr>
            <p:extLst>
              <p:ext uri="{D42A27DB-BD31-4B8C-83A1-F6EECF244321}">
                <p14:modId xmlns:p14="http://schemas.microsoft.com/office/powerpoint/2010/main" val="2602822837"/>
              </p:ext>
            </p:extLst>
          </p:nvPr>
        </p:nvGraphicFramePr>
        <p:xfrm>
          <a:off x="5231160" y="5514388"/>
          <a:ext cx="1285056" cy="525780"/>
        </p:xfrm>
        <a:graphic>
          <a:graphicData uri="http://schemas.openxmlformats.org/presentationml/2006/ole">
            <mc:AlternateContent xmlns:mc="http://schemas.openxmlformats.org/markup-compatibility/2006">
              <mc:Choice xmlns:v="urn:schemas-microsoft-com:vml" Requires="v">
                <p:oleObj name="Equation" r:id="rId2" imgW="558720" imgH="228600" progId="Equation.DSMT4">
                  <p:embed/>
                </p:oleObj>
              </mc:Choice>
              <mc:Fallback>
                <p:oleObj name="Equation" r:id="rId2" imgW="558720" imgH="228600" progId="Equation.DSMT4">
                  <p:embed/>
                  <p:pic>
                    <p:nvPicPr>
                      <p:cNvPr id="128004" name="Object 4"/>
                      <p:cNvPicPr>
                        <a:picLocks noChangeAspect="1" noChangeArrowheads="1"/>
                      </p:cNvPicPr>
                      <p:nvPr/>
                    </p:nvPicPr>
                    <p:blipFill>
                      <a:blip r:embed="rId3"/>
                      <a:srcRect/>
                      <a:stretch>
                        <a:fillRect/>
                      </a:stretch>
                    </p:blipFill>
                    <p:spPr bwMode="auto">
                      <a:xfrm>
                        <a:off x="5231160" y="5514388"/>
                        <a:ext cx="1285056"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755576" y="2708998"/>
            <a:ext cx="2339102"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输出噪声方差</a:t>
            </a:r>
            <a:endParaRPr lang="zh-CN" altLang="en-US" b="1" dirty="0"/>
          </a:p>
        </p:txBody>
      </p:sp>
      <p:graphicFrame>
        <p:nvGraphicFramePr>
          <p:cNvPr id="18" name="Object 6"/>
          <p:cNvGraphicFramePr>
            <a:graphicFrameLocks noChangeAspect="1"/>
          </p:cNvGraphicFramePr>
          <p:nvPr>
            <p:extLst>
              <p:ext uri="{D42A27DB-BD31-4B8C-83A1-F6EECF244321}">
                <p14:modId xmlns:p14="http://schemas.microsoft.com/office/powerpoint/2010/main" val="3262919773"/>
              </p:ext>
            </p:extLst>
          </p:nvPr>
        </p:nvGraphicFramePr>
        <p:xfrm>
          <a:off x="943295" y="1712136"/>
          <a:ext cx="2479680" cy="852768"/>
        </p:xfrm>
        <a:graphic>
          <a:graphicData uri="http://schemas.openxmlformats.org/presentationml/2006/ole">
            <mc:AlternateContent xmlns:mc="http://schemas.openxmlformats.org/markup-compatibility/2006">
              <mc:Choice xmlns:v="urn:schemas-microsoft-com:vml" Requires="v">
                <p:oleObj name="Equation" r:id="rId4" imgW="1180800" imgH="406080" progId="Equation.DSMT4">
                  <p:embed/>
                </p:oleObj>
              </mc:Choice>
              <mc:Fallback>
                <p:oleObj name="Equation" r:id="rId4" imgW="1180800" imgH="406080" progId="Equation.DSMT4">
                  <p:embed/>
                  <p:pic>
                    <p:nvPicPr>
                      <p:cNvPr id="23" name="Object 6"/>
                      <p:cNvPicPr>
                        <a:picLocks noChangeAspect="1" noChangeArrowheads="1"/>
                      </p:cNvPicPr>
                      <p:nvPr/>
                    </p:nvPicPr>
                    <p:blipFill>
                      <a:blip r:embed="rId5"/>
                      <a:srcRect/>
                      <a:stretch>
                        <a:fillRect/>
                      </a:stretch>
                    </p:blipFill>
                    <p:spPr bwMode="auto">
                      <a:xfrm>
                        <a:off x="943295" y="1712136"/>
                        <a:ext cx="2479680" cy="852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4"/>
          <p:cNvGraphicFramePr>
            <a:graphicFrameLocks noChangeAspect="1"/>
          </p:cNvGraphicFramePr>
          <p:nvPr>
            <p:extLst>
              <p:ext uri="{D42A27DB-BD31-4B8C-83A1-F6EECF244321}">
                <p14:modId xmlns:p14="http://schemas.microsoft.com/office/powerpoint/2010/main" val="2894973557"/>
              </p:ext>
            </p:extLst>
          </p:nvPr>
        </p:nvGraphicFramePr>
        <p:xfrm>
          <a:off x="4067944" y="1856152"/>
          <a:ext cx="2266488" cy="506520"/>
        </p:xfrm>
        <a:graphic>
          <a:graphicData uri="http://schemas.openxmlformats.org/presentationml/2006/ole">
            <mc:AlternateContent xmlns:mc="http://schemas.openxmlformats.org/markup-compatibility/2006">
              <mc:Choice xmlns:v="urn:schemas-microsoft-com:vml" Requires="v">
                <p:oleObj name="Equation" r:id="rId6" imgW="1079280" imgH="241200" progId="Equation.DSMT4">
                  <p:embed/>
                </p:oleObj>
              </mc:Choice>
              <mc:Fallback>
                <p:oleObj name="Equation" r:id="rId6" imgW="1079280" imgH="241200" progId="Equation.DSMT4">
                  <p:embed/>
                  <p:pic>
                    <p:nvPicPr>
                      <p:cNvPr id="24" name="Object 4"/>
                      <p:cNvPicPr>
                        <a:picLocks noChangeAspect="1" noChangeArrowheads="1"/>
                      </p:cNvPicPr>
                      <p:nvPr/>
                    </p:nvPicPr>
                    <p:blipFill>
                      <a:blip r:embed="rId7"/>
                      <a:srcRect/>
                      <a:stretch>
                        <a:fillRect/>
                      </a:stretch>
                    </p:blipFill>
                    <p:spPr bwMode="auto">
                      <a:xfrm>
                        <a:off x="4067944" y="1856152"/>
                        <a:ext cx="2266488" cy="506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6"/>
          <p:cNvGraphicFramePr>
            <a:graphicFrameLocks noChangeAspect="1"/>
          </p:cNvGraphicFramePr>
          <p:nvPr>
            <p:extLst>
              <p:ext uri="{D42A27DB-BD31-4B8C-83A1-F6EECF244321}">
                <p14:modId xmlns:p14="http://schemas.microsoft.com/office/powerpoint/2010/main" val="2286553449"/>
              </p:ext>
            </p:extLst>
          </p:nvPr>
        </p:nvGraphicFramePr>
        <p:xfrm>
          <a:off x="955675" y="758825"/>
          <a:ext cx="2452688" cy="852488"/>
        </p:xfrm>
        <a:graphic>
          <a:graphicData uri="http://schemas.openxmlformats.org/presentationml/2006/ole">
            <mc:AlternateContent xmlns:mc="http://schemas.openxmlformats.org/markup-compatibility/2006">
              <mc:Choice xmlns:v="urn:schemas-microsoft-com:vml" Requires="v">
                <p:oleObj name="Equation" r:id="rId8" imgW="1168200" imgH="406080" progId="Equation.DSMT4">
                  <p:embed/>
                </p:oleObj>
              </mc:Choice>
              <mc:Fallback>
                <p:oleObj name="Equation" r:id="rId8" imgW="1168200" imgH="406080" progId="Equation.DSMT4">
                  <p:embed/>
                  <p:pic>
                    <p:nvPicPr>
                      <p:cNvPr id="18" name="Object 6"/>
                      <p:cNvPicPr>
                        <a:picLocks noChangeAspect="1" noChangeArrowheads="1"/>
                      </p:cNvPicPr>
                      <p:nvPr/>
                    </p:nvPicPr>
                    <p:blipFill>
                      <a:blip r:embed="rId9"/>
                      <a:srcRect/>
                      <a:stretch>
                        <a:fillRect/>
                      </a:stretch>
                    </p:blipFill>
                    <p:spPr bwMode="auto">
                      <a:xfrm>
                        <a:off x="955675" y="758825"/>
                        <a:ext cx="2452688"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4"/>
          <p:cNvGraphicFramePr>
            <a:graphicFrameLocks noChangeAspect="1"/>
          </p:cNvGraphicFramePr>
          <p:nvPr>
            <p:extLst>
              <p:ext uri="{D42A27DB-BD31-4B8C-83A1-F6EECF244321}">
                <p14:modId xmlns:p14="http://schemas.microsoft.com/office/powerpoint/2010/main" val="2830225387"/>
              </p:ext>
            </p:extLst>
          </p:nvPr>
        </p:nvGraphicFramePr>
        <p:xfrm>
          <a:off x="4079875" y="903288"/>
          <a:ext cx="2239963" cy="506412"/>
        </p:xfrm>
        <a:graphic>
          <a:graphicData uri="http://schemas.openxmlformats.org/presentationml/2006/ole">
            <mc:AlternateContent xmlns:mc="http://schemas.openxmlformats.org/markup-compatibility/2006">
              <mc:Choice xmlns:v="urn:schemas-microsoft-com:vml" Requires="v">
                <p:oleObj name="Equation" r:id="rId10" imgW="1066680" imgH="241200" progId="Equation.DSMT4">
                  <p:embed/>
                </p:oleObj>
              </mc:Choice>
              <mc:Fallback>
                <p:oleObj name="Equation" r:id="rId10" imgW="1066680" imgH="241200" progId="Equation.DSMT4">
                  <p:embed/>
                  <p:pic>
                    <p:nvPicPr>
                      <p:cNvPr id="19" name="Object 4"/>
                      <p:cNvPicPr>
                        <a:picLocks noChangeAspect="1" noChangeArrowheads="1"/>
                      </p:cNvPicPr>
                      <p:nvPr/>
                    </p:nvPicPr>
                    <p:blipFill>
                      <a:blip r:embed="rId11"/>
                      <a:srcRect/>
                      <a:stretch>
                        <a:fillRect/>
                      </a:stretch>
                    </p:blipFill>
                    <p:spPr bwMode="auto">
                      <a:xfrm>
                        <a:off x="4079875" y="903288"/>
                        <a:ext cx="2239963"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8"/>
          <p:cNvGraphicFramePr>
            <a:graphicFrameLocks noChangeAspect="1"/>
          </p:cNvGraphicFramePr>
          <p:nvPr>
            <p:extLst>
              <p:ext uri="{D42A27DB-BD31-4B8C-83A1-F6EECF244321}">
                <p14:modId xmlns:p14="http://schemas.microsoft.com/office/powerpoint/2010/main" val="949484511"/>
              </p:ext>
            </p:extLst>
          </p:nvPr>
        </p:nvGraphicFramePr>
        <p:xfrm>
          <a:off x="804912" y="3271763"/>
          <a:ext cx="4775200" cy="949325"/>
        </p:xfrm>
        <a:graphic>
          <a:graphicData uri="http://schemas.openxmlformats.org/presentationml/2006/ole">
            <mc:AlternateContent xmlns:mc="http://schemas.openxmlformats.org/markup-compatibility/2006">
              <mc:Choice xmlns:v="urn:schemas-microsoft-com:vml" Requires="v">
                <p:oleObj name="Equation" r:id="rId12" imgW="2171520" imgH="431640" progId="Equation.DSMT4">
                  <p:embed/>
                </p:oleObj>
              </mc:Choice>
              <mc:Fallback>
                <p:oleObj name="Equation" r:id="rId12" imgW="2171520" imgH="431640" progId="Equation.DSMT4">
                  <p:embed/>
                  <p:pic>
                    <p:nvPicPr>
                      <p:cNvPr id="5" name="Object 8"/>
                      <p:cNvPicPr>
                        <a:picLocks noChangeAspect="1" noChangeArrowheads="1"/>
                      </p:cNvPicPr>
                      <p:nvPr/>
                    </p:nvPicPr>
                    <p:blipFill>
                      <a:blip r:embed="rId13"/>
                      <a:srcRect/>
                      <a:stretch>
                        <a:fillRect/>
                      </a:stretch>
                    </p:blipFill>
                    <p:spPr bwMode="auto">
                      <a:xfrm>
                        <a:off x="804912" y="3271763"/>
                        <a:ext cx="477520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5"/>
          <p:cNvGraphicFramePr>
            <a:graphicFrameLocks noChangeAspect="1"/>
          </p:cNvGraphicFramePr>
          <p:nvPr>
            <p:extLst>
              <p:ext uri="{D42A27DB-BD31-4B8C-83A1-F6EECF244321}">
                <p14:modId xmlns:p14="http://schemas.microsoft.com/office/powerpoint/2010/main" val="1662365010"/>
              </p:ext>
            </p:extLst>
          </p:nvPr>
        </p:nvGraphicFramePr>
        <p:xfrm>
          <a:off x="1194172" y="4221088"/>
          <a:ext cx="4552950" cy="977900"/>
        </p:xfrm>
        <a:graphic>
          <a:graphicData uri="http://schemas.openxmlformats.org/presentationml/2006/ole">
            <mc:AlternateContent xmlns:mc="http://schemas.openxmlformats.org/markup-compatibility/2006">
              <mc:Choice xmlns:v="urn:schemas-microsoft-com:vml" Requires="v">
                <p:oleObj name="Equation" r:id="rId14" imgW="2070000" imgH="444240" progId="Equation.DSMT4">
                  <p:embed/>
                </p:oleObj>
              </mc:Choice>
              <mc:Fallback>
                <p:oleObj name="Equation" r:id="rId14" imgW="2070000" imgH="444240" progId="Equation.DSMT4">
                  <p:embed/>
                  <p:pic>
                    <p:nvPicPr>
                      <p:cNvPr id="8" name="Object 5"/>
                      <p:cNvPicPr>
                        <a:picLocks noChangeAspect="1" noChangeArrowheads="1"/>
                      </p:cNvPicPr>
                      <p:nvPr/>
                    </p:nvPicPr>
                    <p:blipFill>
                      <a:blip r:embed="rId15"/>
                      <a:srcRect/>
                      <a:stretch>
                        <a:fillRect/>
                      </a:stretch>
                    </p:blipFill>
                    <p:spPr bwMode="auto">
                      <a:xfrm>
                        <a:off x="1194172" y="4221088"/>
                        <a:ext cx="455295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5"/>
          <p:cNvGraphicFramePr>
            <a:graphicFrameLocks noChangeAspect="1"/>
          </p:cNvGraphicFramePr>
          <p:nvPr>
            <p:extLst>
              <p:ext uri="{D42A27DB-BD31-4B8C-83A1-F6EECF244321}">
                <p14:modId xmlns:p14="http://schemas.microsoft.com/office/powerpoint/2010/main" val="3375398426"/>
              </p:ext>
            </p:extLst>
          </p:nvPr>
        </p:nvGraphicFramePr>
        <p:xfrm>
          <a:off x="1250206" y="5318150"/>
          <a:ext cx="3884612" cy="919162"/>
        </p:xfrm>
        <a:graphic>
          <a:graphicData uri="http://schemas.openxmlformats.org/presentationml/2006/ole">
            <mc:AlternateContent xmlns:mc="http://schemas.openxmlformats.org/markup-compatibility/2006">
              <mc:Choice xmlns:v="urn:schemas-microsoft-com:vml" Requires="v">
                <p:oleObj name="Equation" r:id="rId16" imgW="1765080" imgH="419040" progId="Equation.DSMT4">
                  <p:embed/>
                </p:oleObj>
              </mc:Choice>
              <mc:Fallback>
                <p:oleObj name="Equation" r:id="rId16" imgW="1765080" imgH="419040" progId="Equation.DSMT4">
                  <p:embed/>
                  <p:pic>
                    <p:nvPicPr>
                      <p:cNvPr id="9" name="Object 5"/>
                      <p:cNvPicPr>
                        <a:picLocks noChangeAspect="1" noChangeArrowheads="1"/>
                      </p:cNvPicPr>
                      <p:nvPr/>
                    </p:nvPicPr>
                    <p:blipFill>
                      <a:blip r:embed="rId17"/>
                      <a:srcRect/>
                      <a:stretch>
                        <a:fillRect/>
                      </a:stretch>
                    </p:blipFill>
                    <p:spPr bwMode="auto">
                      <a:xfrm>
                        <a:off x="1250206" y="5318150"/>
                        <a:ext cx="3884612"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1277629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457200" y="1046163"/>
            <a:ext cx="8435280" cy="547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15000"/>
              </a:lnSpc>
              <a:spcBef>
                <a:spcPct val="50000"/>
              </a:spcBef>
              <a:buFontTx/>
              <a:buNone/>
            </a:pPr>
            <a:r>
              <a:rPr lang="zh-CN" altLang="en-US" sz="2800" dirty="0">
                <a:solidFill>
                  <a:srgbClr val="000000"/>
                </a:solidFill>
                <a:latin typeface="Times New Roman" panose="02020603050405020304" pitchFamily="18" charset="0"/>
                <a:ea typeface="宋体" panose="02010600030101010101" pitchFamily="2" charset="-122"/>
              </a:rPr>
              <a:t>比较三种结构的误差大小，可知</a:t>
            </a:r>
          </a:p>
          <a:p>
            <a:pPr algn="ctr">
              <a:lnSpc>
                <a:spcPct val="115000"/>
              </a:lnSpc>
              <a:spcBef>
                <a:spcPct val="50000"/>
              </a:spcBef>
              <a:buFontTx/>
              <a:buNone/>
            </a:pPr>
            <a:r>
              <a:rPr lang="zh-CN" altLang="en-US" sz="2800" dirty="0">
                <a:solidFill>
                  <a:srgbClr val="FF0000"/>
                </a:solidFill>
                <a:latin typeface="Times New Roman" panose="02020603050405020304" pitchFamily="18" charset="0"/>
                <a:ea typeface="宋体" panose="02010600030101010101" pitchFamily="2" charset="-122"/>
              </a:rPr>
              <a:t>直接型 </a:t>
            </a:r>
            <a:r>
              <a:rPr lang="en-US" altLang="zh-CN" sz="2800" dirty="0">
                <a:solidFill>
                  <a:srgbClr val="FF0000"/>
                </a:solidFill>
                <a:latin typeface="Times New Roman" panose="02020603050405020304" pitchFamily="18" charset="0"/>
                <a:ea typeface="宋体" panose="02010600030101010101" pitchFamily="2" charset="-122"/>
              </a:rPr>
              <a:t>&gt; </a:t>
            </a:r>
            <a:r>
              <a:rPr lang="zh-CN" altLang="en-US" sz="2800" dirty="0">
                <a:solidFill>
                  <a:srgbClr val="FF0000"/>
                </a:solidFill>
                <a:latin typeface="Times New Roman" panose="02020603050405020304" pitchFamily="18" charset="0"/>
                <a:ea typeface="宋体" panose="02010600030101010101" pitchFamily="2" charset="-122"/>
              </a:rPr>
              <a:t>级联型 </a:t>
            </a:r>
            <a:r>
              <a:rPr lang="en-US" altLang="zh-CN" sz="2800" dirty="0">
                <a:solidFill>
                  <a:srgbClr val="FF0000"/>
                </a:solidFill>
                <a:latin typeface="Times New Roman" panose="02020603050405020304" pitchFamily="18" charset="0"/>
                <a:ea typeface="宋体" panose="02010600030101010101" pitchFamily="2" charset="-122"/>
              </a:rPr>
              <a:t>&gt; </a:t>
            </a:r>
            <a:r>
              <a:rPr lang="zh-CN" altLang="en-US" sz="2800" dirty="0">
                <a:solidFill>
                  <a:srgbClr val="FF0000"/>
                </a:solidFill>
                <a:latin typeface="Times New Roman" panose="02020603050405020304" pitchFamily="18" charset="0"/>
                <a:ea typeface="宋体" panose="02010600030101010101" pitchFamily="2" charset="-122"/>
              </a:rPr>
              <a:t>并联型</a:t>
            </a:r>
          </a:p>
          <a:p>
            <a:pPr algn="just">
              <a:lnSpc>
                <a:spcPct val="115000"/>
              </a:lnSpc>
              <a:spcBef>
                <a:spcPts val="0"/>
              </a:spcBef>
              <a:spcAft>
                <a:spcPts val="0"/>
              </a:spcAft>
              <a:buFontTx/>
              <a:buNone/>
            </a:pPr>
            <a:r>
              <a:rPr lang="zh-CN" altLang="en-US" sz="2800" dirty="0">
                <a:solidFill>
                  <a:srgbClr val="000000"/>
                </a:solidFill>
                <a:latin typeface="Times New Roman" panose="02020603050405020304" pitchFamily="18" charset="0"/>
                <a:ea typeface="宋体" panose="02010600030101010101" pitchFamily="2" charset="-122"/>
              </a:rPr>
              <a:t>原因：</a:t>
            </a:r>
          </a:p>
          <a:p>
            <a:pPr algn="just">
              <a:lnSpc>
                <a:spcPct val="115000"/>
              </a:lnSpc>
              <a:spcBef>
                <a:spcPct val="0"/>
              </a:spcBef>
              <a:spcAft>
                <a:spcPct val="30000"/>
              </a:spcAft>
              <a:buClr>
                <a:srgbClr val="0000CC"/>
              </a:buClr>
              <a:buFont typeface="Wingdings" panose="05000000000000000000" pitchFamily="2" charset="2"/>
              <a:buChar char="Ø"/>
            </a:pPr>
            <a:r>
              <a:rPr lang="zh-CN" altLang="en-US" sz="2800" dirty="0">
                <a:solidFill>
                  <a:srgbClr val="000000"/>
                </a:solidFill>
                <a:latin typeface="Times New Roman" panose="02020603050405020304" pitchFamily="18" charset="0"/>
                <a:ea typeface="宋体" panose="02010600030101010101" pitchFamily="2" charset="-122"/>
              </a:rPr>
              <a:t>直接型结构的所有舍入误差都经过</a:t>
            </a:r>
            <a:r>
              <a:rPr lang="zh-CN" altLang="en-US" sz="2800" dirty="0">
                <a:solidFill>
                  <a:srgbClr val="0000CC"/>
                </a:solidFill>
                <a:latin typeface="Times New Roman" panose="02020603050405020304" pitchFamily="18" charset="0"/>
                <a:ea typeface="宋体" panose="02010600030101010101" pitchFamily="2" charset="-122"/>
              </a:rPr>
              <a:t>全部网络</a:t>
            </a:r>
            <a:r>
              <a:rPr lang="zh-CN" altLang="en-US" sz="2800" dirty="0">
                <a:solidFill>
                  <a:srgbClr val="000000"/>
                </a:solidFill>
                <a:latin typeface="Times New Roman" panose="02020603050405020304" pitchFamily="18" charset="0"/>
                <a:ea typeface="宋体" panose="02010600030101010101" pitchFamily="2" charset="-122"/>
              </a:rPr>
              <a:t>的反馈环节，</a:t>
            </a:r>
            <a:r>
              <a:rPr lang="zh-CN" altLang="en-US" sz="2800" dirty="0">
                <a:solidFill>
                  <a:srgbClr val="0000CC"/>
                </a:solidFill>
                <a:latin typeface="Times New Roman" panose="02020603050405020304" pitchFamily="18" charset="0"/>
                <a:ea typeface="宋体" panose="02010600030101010101" pitchFamily="2" charset="-122"/>
              </a:rPr>
              <a:t>反馈过程中误差积累</a:t>
            </a:r>
            <a:r>
              <a:rPr lang="zh-CN" altLang="en-US" sz="2800" dirty="0">
                <a:solidFill>
                  <a:srgbClr val="000000"/>
                </a:solidFill>
                <a:latin typeface="Times New Roman" panose="02020603050405020304" pitchFamily="18" charset="0"/>
                <a:ea typeface="宋体" panose="02010600030101010101" pitchFamily="2" charset="-122"/>
              </a:rPr>
              <a:t>，输出误差很大。</a:t>
            </a:r>
          </a:p>
          <a:p>
            <a:pPr algn="just">
              <a:lnSpc>
                <a:spcPct val="115000"/>
              </a:lnSpc>
              <a:spcBef>
                <a:spcPct val="0"/>
              </a:spcBef>
              <a:spcAft>
                <a:spcPct val="30000"/>
              </a:spcAft>
              <a:buClr>
                <a:srgbClr val="0000CC"/>
              </a:buClr>
              <a:buFont typeface="Wingdings" panose="05000000000000000000" pitchFamily="2" charset="2"/>
              <a:buChar char="Ø"/>
            </a:pPr>
            <a:r>
              <a:rPr lang="zh-CN" altLang="en-US" sz="2800" dirty="0">
                <a:solidFill>
                  <a:srgbClr val="000000"/>
                </a:solidFill>
                <a:latin typeface="Times New Roman" panose="02020603050405020304" pitchFamily="18" charset="0"/>
                <a:ea typeface="宋体" panose="02010600030101010101" pitchFamily="2" charset="-122"/>
              </a:rPr>
              <a:t>级联型结构，每个舍入误差</a:t>
            </a:r>
            <a:r>
              <a:rPr lang="zh-CN" altLang="en-US" sz="2800" dirty="0">
                <a:solidFill>
                  <a:srgbClr val="0000CC"/>
                </a:solidFill>
                <a:latin typeface="Times New Roman" panose="02020603050405020304" pitchFamily="18" charset="0"/>
                <a:ea typeface="宋体" panose="02010600030101010101" pitchFamily="2" charset="-122"/>
              </a:rPr>
              <a:t>只通过其后面的反馈环节</a:t>
            </a:r>
            <a:r>
              <a:rPr lang="zh-CN" altLang="en-US" sz="2800" dirty="0">
                <a:solidFill>
                  <a:srgbClr val="000000"/>
                </a:solidFill>
                <a:latin typeface="Times New Roman" panose="02020603050405020304" pitchFamily="18" charset="0"/>
                <a:ea typeface="宋体" panose="02010600030101010101" pitchFamily="2" charset="-122"/>
              </a:rPr>
              <a:t>，而不通过它前面的反馈环节，误差小于直接型</a:t>
            </a:r>
          </a:p>
          <a:p>
            <a:pPr algn="just">
              <a:lnSpc>
                <a:spcPct val="115000"/>
              </a:lnSpc>
              <a:spcBef>
                <a:spcPct val="0"/>
              </a:spcBef>
              <a:spcAft>
                <a:spcPct val="30000"/>
              </a:spcAft>
              <a:buClr>
                <a:srgbClr val="0000CC"/>
              </a:buClr>
              <a:buFont typeface="Wingdings" panose="05000000000000000000" pitchFamily="2" charset="2"/>
              <a:buChar char="Ø"/>
            </a:pPr>
            <a:r>
              <a:rPr lang="zh-CN" altLang="en-US" sz="2800" dirty="0">
                <a:solidFill>
                  <a:srgbClr val="000000"/>
                </a:solidFill>
                <a:latin typeface="Times New Roman" panose="02020603050405020304" pitchFamily="18" charset="0"/>
                <a:ea typeface="宋体" panose="02010600030101010101" pitchFamily="2" charset="-122"/>
              </a:rPr>
              <a:t>并联型，每个并联网络的舍入误差</a:t>
            </a:r>
            <a:r>
              <a:rPr lang="zh-CN" altLang="en-US" sz="2800" dirty="0">
                <a:solidFill>
                  <a:srgbClr val="0000CC"/>
                </a:solidFill>
                <a:latin typeface="Times New Roman" panose="02020603050405020304" pitchFamily="18" charset="0"/>
                <a:ea typeface="宋体" panose="02010600030101010101" pitchFamily="2" charset="-122"/>
              </a:rPr>
              <a:t>只通过本身的反馈环节</a:t>
            </a:r>
            <a:r>
              <a:rPr lang="zh-CN" altLang="en-US" sz="2800" dirty="0">
                <a:solidFill>
                  <a:srgbClr val="000000"/>
                </a:solidFill>
                <a:latin typeface="Times New Roman" panose="02020603050405020304" pitchFamily="18" charset="0"/>
                <a:ea typeface="宋体" panose="02010600030101010101" pitchFamily="2" charset="-122"/>
              </a:rPr>
              <a:t>，与其它并联网络无关，积累作用最小，误差最小。</a:t>
            </a:r>
          </a:p>
        </p:txBody>
      </p:sp>
      <p:sp>
        <p:nvSpPr>
          <p:cNvPr id="6"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2678853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1000"/>
                                        <p:tgtEl>
                                          <p:spTgt spid="4">
                                            <p:txEl>
                                              <p:pRg st="4" end="4"/>
                                            </p:txEl>
                                          </p:spTgt>
                                        </p:tgtEl>
                                      </p:cBhvr>
                                    </p:animEffect>
                                    <p:anim calcmode="lin" valueType="num">
                                      <p:cBhvr>
                                        <p:cTn id="2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1000"/>
                                        <p:tgtEl>
                                          <p:spTgt spid="4">
                                            <p:txEl>
                                              <p:pRg st="5" end="5"/>
                                            </p:txEl>
                                          </p:spTgt>
                                        </p:tgtEl>
                                      </p:cBhvr>
                                    </p:animEffect>
                                    <p:anim calcmode="lin" valueType="num">
                                      <p:cBhvr>
                                        <p:cTn id="3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323528" y="1196752"/>
            <a:ext cx="868680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50000"/>
              </a:lnSpc>
              <a:buFontTx/>
              <a:buNone/>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该结论对</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IIR</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数字滤波器有普遍意义。</a:t>
            </a:r>
          </a:p>
          <a:p>
            <a:pPr>
              <a:lnSpc>
                <a:spcPct val="150000"/>
              </a:lnSpc>
              <a:buFontTx/>
              <a:buNone/>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因此，从有限字长效应看，</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直接型（</a:t>
            </a:r>
            <a:r>
              <a:rPr lang="en-US"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Ⅰ</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Ⅱ</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型）</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结构最差，运算误差最大，高阶时避免采用；</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级联型</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结构较好；</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并联型</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结构最好，运算误差最小。</a:t>
            </a:r>
          </a:p>
          <a:p>
            <a:pPr>
              <a:lnSpc>
                <a:spcPct val="150000"/>
              </a:lnSpc>
              <a:buFontTx/>
              <a:buNone/>
            </a:pPr>
            <a:endParaRPr lang="en-US" altLang="zh-CN" sz="2800" dirty="0">
              <a:solidFill>
                <a:srgbClr val="000000"/>
              </a:solidFill>
              <a:latin typeface="Times New Roman" panose="02020603050405020304" pitchFamily="18" charset="0"/>
              <a:ea typeface="宋体" panose="02010600030101010101" pitchFamily="2" charset="-122"/>
            </a:endParaRPr>
          </a:p>
          <a:p>
            <a:pPr>
              <a:lnSpc>
                <a:spcPct val="150000"/>
              </a:lnSpc>
              <a:buFontTx/>
              <a:buNone/>
            </a:pPr>
            <a:r>
              <a:rPr lang="zh-CN" altLang="en-US" sz="2800" dirty="0">
                <a:solidFill>
                  <a:srgbClr val="000000"/>
                </a:solidFill>
                <a:latin typeface="Times New Roman" panose="02020603050405020304" pitchFamily="18" charset="0"/>
                <a:ea typeface="宋体" panose="02010600030101010101" pitchFamily="2" charset="-122"/>
              </a:rPr>
              <a:t>结论：</a:t>
            </a:r>
            <a:r>
              <a:rPr lang="en-US" altLang="zh-CN" sz="2800" dirty="0">
                <a:solidFill>
                  <a:srgbClr val="FF0000"/>
                </a:solidFill>
                <a:latin typeface="Times New Roman" panose="02020603050405020304" pitchFamily="18" charset="0"/>
                <a:ea typeface="宋体" panose="02010600030101010101" pitchFamily="2" charset="-122"/>
              </a:rPr>
              <a:t>IIR</a:t>
            </a:r>
            <a:r>
              <a:rPr lang="zh-CN" altLang="en-US" sz="2800" dirty="0">
                <a:solidFill>
                  <a:srgbClr val="FF0000"/>
                </a:solidFill>
                <a:latin typeface="Times New Roman" panose="02020603050405020304" pitchFamily="18" charset="0"/>
                <a:ea typeface="宋体" panose="02010600030101010101" pitchFamily="2" charset="-122"/>
              </a:rPr>
              <a:t>滤波器的有限字长效应与它的结构有关</a:t>
            </a:r>
            <a:r>
              <a:rPr lang="zh-CN" altLang="en-US" sz="2800" dirty="0">
                <a:solidFill>
                  <a:srgbClr val="000000"/>
                </a:solidFill>
                <a:latin typeface="Times New Roman" panose="02020603050405020304" pitchFamily="18" charset="0"/>
                <a:ea typeface="宋体" panose="02010600030101010101" pitchFamily="2" charset="-122"/>
              </a:rPr>
              <a:t>。</a:t>
            </a:r>
          </a:p>
        </p:txBody>
      </p:sp>
      <p:sp>
        <p:nvSpPr>
          <p:cNvPr id="6" name="Rectangle 3"/>
          <p:cNvSpPr>
            <a:spLocks noChangeArrowheads="1"/>
          </p:cNvSpPr>
          <p:nvPr/>
        </p:nvSpPr>
        <p:spPr bwMode="auto">
          <a:xfrm>
            <a:off x="755576" y="228600"/>
            <a:ext cx="7021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6.3.1  IIR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17523779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70930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6.3.2  FIR</a:t>
            </a:r>
            <a:r>
              <a:rPr lang="zh-CN" altLang="en-US" sz="3200" b="1" dirty="0">
                <a:solidFill>
                  <a:srgbClr val="993300"/>
                </a:solidFill>
                <a:ea typeface="楷体_GB2312" pitchFamily="49" charset="-122"/>
              </a:rPr>
              <a:t>滤波器的有限字长效应</a:t>
            </a:r>
          </a:p>
        </p:txBody>
      </p:sp>
      <p:sp>
        <p:nvSpPr>
          <p:cNvPr id="4" name="Rectangle 3"/>
          <p:cNvSpPr>
            <a:spLocks noChangeArrowheads="1"/>
          </p:cNvSpPr>
          <p:nvPr/>
        </p:nvSpPr>
        <p:spPr bwMode="auto">
          <a:xfrm>
            <a:off x="827583" y="1363702"/>
            <a:ext cx="784887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76225">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indent="720000" algn="just" eaLnBrk="1" hangingPunct="1">
              <a:lnSpc>
                <a:spcPct val="125000"/>
              </a:lnSpc>
              <a:spcBef>
                <a:spcPct val="0"/>
              </a:spcBef>
              <a:spcAft>
                <a:spcPts val="0"/>
              </a:spcAft>
              <a:buFontTx/>
              <a:buNone/>
            </a:pP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IIR</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的分析方法同样适用于</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无反馈环节</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（频率采样型结构除外），</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不会造成舍入误差的积累</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，舍入误差的影响比同阶</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IIR</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滤波器小，</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不会产生非线性振荡</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755576" y="3717032"/>
            <a:ext cx="7992888" cy="1169551"/>
          </a:xfrm>
          <a:prstGeom prst="rect">
            <a:avLst/>
          </a:prstGeom>
        </p:spPr>
        <p:txBody>
          <a:bodyPr wrap="square">
            <a:spAutoFit/>
          </a:bodyPr>
          <a:lstStyle/>
          <a:p>
            <a:pPr lvl="0" indent="720000" algn="just" eaLnBrk="1" hangingPunct="1">
              <a:lnSpc>
                <a:spcPct val="125000"/>
              </a:lnSpc>
              <a:spcAft>
                <a:spcPts val="0"/>
              </a:spcAft>
            </a:pPr>
            <a:r>
              <a:rPr lang="zh-CN" altLang="en-US" sz="2800" b="1" dirty="0">
                <a:solidFill>
                  <a:srgbClr val="000000"/>
                </a:solidFill>
                <a:latin typeface="Times New Roman" panose="02020603050405020304" pitchFamily="18" charset="0"/>
                <a:cs typeface="Times New Roman" panose="02020603050405020304" pitchFamily="18" charset="0"/>
              </a:rPr>
              <a:t>以定点实现的横截型结构为例分析</a:t>
            </a:r>
            <a:r>
              <a:rPr lang="en-US" altLang="zh-CN" sz="2800" b="1" dirty="0">
                <a:solidFill>
                  <a:srgbClr val="000000"/>
                </a:solidFill>
                <a:latin typeface="Times New Roman" panose="02020603050405020304" pitchFamily="18" charset="0"/>
                <a:cs typeface="Times New Roman" panose="02020603050405020304" pitchFamily="18" charset="0"/>
              </a:rPr>
              <a:t>FIR</a:t>
            </a:r>
            <a:r>
              <a:rPr lang="zh-CN" altLang="en-US" sz="2800" b="1" dirty="0">
                <a:solidFill>
                  <a:srgbClr val="000000"/>
                </a:solidFill>
                <a:latin typeface="Times New Roman" panose="02020603050405020304" pitchFamily="18" charset="0"/>
                <a:cs typeface="Times New Roman" panose="02020603050405020304" pitchFamily="18" charset="0"/>
              </a:rPr>
              <a:t>的有限字长效应。</a:t>
            </a:r>
          </a:p>
        </p:txBody>
      </p:sp>
    </p:spTree>
    <p:extLst>
      <p:ext uri="{BB962C8B-B14F-4D97-AF65-F5344CB8AC3E}">
        <p14:creationId xmlns:p14="http://schemas.microsoft.com/office/powerpoint/2010/main" val="28399953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4"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9" y="1700808"/>
            <a:ext cx="7449937" cy="178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4"/>
          <p:cNvSpPr>
            <a:spLocks noGrp="1" noChangeArrowheads="1"/>
          </p:cNvSpPr>
          <p:nvPr>
            <p:ph type="title" idx="4294967295"/>
          </p:nvPr>
        </p:nvSpPr>
        <p:spPr>
          <a:xfrm>
            <a:off x="1475656" y="3581326"/>
            <a:ext cx="6192688" cy="639762"/>
          </a:xfrm>
        </p:spPr>
        <p:txBody>
          <a:bodyPr/>
          <a:lstStyle/>
          <a:p>
            <a:r>
              <a:rPr lang="zh-CN" altLang="en-US" sz="2400" b="1" i="0" dirty="0">
                <a:solidFill>
                  <a:srgbClr val="000000"/>
                </a:solidFill>
                <a:latin typeface="Times New Roman" panose="02020603050405020304" pitchFamily="18" charset="0"/>
                <a:cs typeface="Times New Roman" panose="02020603050405020304" pitchFamily="18" charset="0"/>
              </a:rPr>
              <a:t>图</a:t>
            </a:r>
            <a:r>
              <a:rPr lang="en-US" altLang="zh-CN" sz="2400" b="1" i="0" dirty="0">
                <a:solidFill>
                  <a:srgbClr val="000000"/>
                </a:solidFill>
                <a:latin typeface="Times New Roman" panose="02020603050405020304" pitchFamily="18" charset="0"/>
                <a:cs typeface="Times New Roman" panose="02020603050405020304" pitchFamily="18" charset="0"/>
              </a:rPr>
              <a:t>6.32  </a:t>
            </a:r>
            <a:r>
              <a:rPr lang="zh-CN" altLang="en-US" sz="2400" b="1" i="0" dirty="0">
                <a:solidFill>
                  <a:srgbClr val="000000"/>
                </a:solidFill>
                <a:latin typeface="Times New Roman" panose="02020603050405020304" pitchFamily="18" charset="0"/>
                <a:cs typeface="Times New Roman" panose="02020603050405020304" pitchFamily="18" charset="0"/>
              </a:rPr>
              <a:t>横截型</a:t>
            </a:r>
            <a:r>
              <a:rPr lang="en-US" altLang="zh-CN" sz="2400" b="1" i="0" dirty="0">
                <a:solidFill>
                  <a:srgbClr val="000000"/>
                </a:solidFill>
                <a:latin typeface="Times New Roman" panose="02020603050405020304" pitchFamily="18" charset="0"/>
                <a:cs typeface="Times New Roman" panose="02020603050405020304" pitchFamily="18" charset="0"/>
              </a:rPr>
              <a:t>FIR</a:t>
            </a:r>
            <a:r>
              <a:rPr lang="zh-CN" altLang="en-US" sz="2400" b="1" i="0" dirty="0">
                <a:solidFill>
                  <a:srgbClr val="000000"/>
                </a:solidFill>
                <a:latin typeface="Times New Roman" panose="02020603050405020304" pitchFamily="18" charset="0"/>
                <a:cs typeface="Times New Roman" panose="02020603050405020304" pitchFamily="18" charset="0"/>
              </a:rPr>
              <a:t>滤波器的舍入噪声分析</a:t>
            </a:r>
          </a:p>
        </p:txBody>
      </p:sp>
      <p:graphicFrame>
        <p:nvGraphicFramePr>
          <p:cNvPr id="15" name="Object 2"/>
          <p:cNvGraphicFramePr>
            <a:graphicFrameLocks noChangeAspect="1"/>
          </p:cNvGraphicFramePr>
          <p:nvPr>
            <p:extLst>
              <p:ext uri="{D42A27DB-BD31-4B8C-83A1-F6EECF244321}">
                <p14:modId xmlns:p14="http://schemas.microsoft.com/office/powerpoint/2010/main" val="2428430755"/>
              </p:ext>
            </p:extLst>
          </p:nvPr>
        </p:nvGraphicFramePr>
        <p:xfrm>
          <a:off x="2627784" y="832713"/>
          <a:ext cx="2666412" cy="906444"/>
        </p:xfrm>
        <a:graphic>
          <a:graphicData uri="http://schemas.openxmlformats.org/presentationml/2006/ole">
            <mc:AlternateContent xmlns:mc="http://schemas.openxmlformats.org/markup-compatibility/2006">
              <mc:Choice xmlns:v="urn:schemas-microsoft-com:vml" Requires="v">
                <p:oleObj name="Equation" r:id="rId3" imgW="1269720" imgH="431640" progId="Equation.DSMT4">
                  <p:embed/>
                </p:oleObj>
              </mc:Choice>
              <mc:Fallback>
                <p:oleObj name="Equation" r:id="rId3" imgW="1269720" imgH="431640" progId="Equation.DSMT4">
                  <p:embed/>
                  <p:pic>
                    <p:nvPicPr>
                      <p:cNvPr id="41986" name="Object 2"/>
                      <p:cNvPicPr>
                        <a:picLocks noChangeAspect="1" noChangeArrowheads="1"/>
                      </p:cNvPicPr>
                      <p:nvPr/>
                    </p:nvPicPr>
                    <p:blipFill>
                      <a:blip r:embed="rId4"/>
                      <a:srcRect/>
                      <a:stretch>
                        <a:fillRect/>
                      </a:stretch>
                    </p:blipFill>
                    <p:spPr bwMode="auto">
                      <a:xfrm>
                        <a:off x="2627784" y="832713"/>
                        <a:ext cx="2666412" cy="90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3"/>
          <p:cNvGraphicFramePr>
            <a:graphicFrameLocks noChangeAspect="1"/>
          </p:cNvGraphicFramePr>
          <p:nvPr>
            <p:extLst>
              <p:ext uri="{D42A27DB-BD31-4B8C-83A1-F6EECF244321}">
                <p14:modId xmlns:p14="http://schemas.microsoft.com/office/powerpoint/2010/main" val="1735777925"/>
              </p:ext>
            </p:extLst>
          </p:nvPr>
        </p:nvGraphicFramePr>
        <p:xfrm>
          <a:off x="1475656" y="5363621"/>
          <a:ext cx="1547812" cy="584200"/>
        </p:xfrm>
        <a:graphic>
          <a:graphicData uri="http://schemas.openxmlformats.org/presentationml/2006/ole">
            <mc:AlternateContent xmlns:mc="http://schemas.openxmlformats.org/markup-compatibility/2006">
              <mc:Choice xmlns:v="urn:schemas-microsoft-com:vml" Requires="v">
                <p:oleObj name="Equation" r:id="rId5" imgW="672840" imgH="253800" progId="Equation.DSMT4">
                  <p:embed/>
                </p:oleObj>
              </mc:Choice>
              <mc:Fallback>
                <p:oleObj name="Equation" r:id="rId5" imgW="672840" imgH="253800" progId="Equation.DSMT4">
                  <p:embed/>
                  <p:pic>
                    <p:nvPicPr>
                      <p:cNvPr id="7" name="Object 3"/>
                      <p:cNvPicPr>
                        <a:picLocks noChangeAspect="1" noChangeArrowheads="1"/>
                      </p:cNvPicPr>
                      <p:nvPr/>
                    </p:nvPicPr>
                    <p:blipFill>
                      <a:blip r:embed="rId6"/>
                      <a:srcRect/>
                      <a:stretch>
                        <a:fillRect/>
                      </a:stretch>
                    </p:blipFill>
                    <p:spPr bwMode="auto">
                      <a:xfrm>
                        <a:off x="1475656" y="5363621"/>
                        <a:ext cx="1547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5"/>
          <p:cNvGraphicFramePr>
            <a:graphicFrameLocks noChangeAspect="1"/>
          </p:cNvGraphicFramePr>
          <p:nvPr>
            <p:extLst>
              <p:ext uri="{D42A27DB-BD31-4B8C-83A1-F6EECF244321}">
                <p14:modId xmlns:p14="http://schemas.microsoft.com/office/powerpoint/2010/main" val="1587009748"/>
              </p:ext>
            </p:extLst>
          </p:nvPr>
        </p:nvGraphicFramePr>
        <p:xfrm>
          <a:off x="3065834" y="5157192"/>
          <a:ext cx="4584700" cy="963612"/>
        </p:xfrm>
        <a:graphic>
          <a:graphicData uri="http://schemas.openxmlformats.org/presentationml/2006/ole">
            <mc:AlternateContent xmlns:mc="http://schemas.openxmlformats.org/markup-compatibility/2006">
              <mc:Choice xmlns:v="urn:schemas-microsoft-com:vml" Requires="v">
                <p:oleObj name="Equation" r:id="rId7" imgW="1993680" imgH="419040" progId="Equation.DSMT4">
                  <p:embed/>
                </p:oleObj>
              </mc:Choice>
              <mc:Fallback>
                <p:oleObj name="Equation" r:id="rId7" imgW="1993680" imgH="419040" progId="Equation.DSMT4">
                  <p:embed/>
                  <p:pic>
                    <p:nvPicPr>
                      <p:cNvPr id="19" name="Object 5"/>
                      <p:cNvPicPr>
                        <a:picLocks noChangeAspect="1" noChangeArrowheads="1"/>
                      </p:cNvPicPr>
                      <p:nvPr/>
                    </p:nvPicPr>
                    <p:blipFill>
                      <a:blip r:embed="rId8"/>
                      <a:srcRect/>
                      <a:stretch>
                        <a:fillRect/>
                      </a:stretch>
                    </p:blipFill>
                    <p:spPr bwMode="auto">
                      <a:xfrm>
                        <a:off x="3065834" y="5157192"/>
                        <a:ext cx="4584700"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p:nvSpPr>
        <p:spPr>
          <a:xfrm>
            <a:off x="341784" y="4221088"/>
            <a:ext cx="8118648" cy="999697"/>
          </a:xfrm>
          <a:prstGeom prst="rect">
            <a:avLst/>
          </a:prstGeom>
        </p:spPr>
        <p:txBody>
          <a:bodyPr wrap="square">
            <a:spAutoFit/>
          </a:bodyPr>
          <a:lstStyle/>
          <a:p>
            <a:pPr>
              <a:lnSpc>
                <a:spcPct val="110000"/>
              </a:lnSpc>
            </a:pPr>
            <a:r>
              <a:rPr lang="zh-CN" altLang="en-US" sz="2800" b="1" dirty="0">
                <a:solidFill>
                  <a:srgbClr val="000000"/>
                </a:solidFill>
                <a:latin typeface="Times New Roman" panose="02020603050405020304" pitchFamily="18" charset="0"/>
              </a:rPr>
              <a:t>图中可见，所有舍入噪声都</a:t>
            </a:r>
            <a:r>
              <a:rPr lang="zh-CN" altLang="en-US" sz="2800" b="1" dirty="0">
                <a:solidFill>
                  <a:srgbClr val="0000CC"/>
                </a:solidFill>
                <a:latin typeface="Times New Roman" panose="02020603050405020304" pitchFamily="18" charset="0"/>
              </a:rPr>
              <a:t>直接加在输出端</a:t>
            </a:r>
            <a:r>
              <a:rPr lang="zh-CN" altLang="en-US" sz="2800" b="1" dirty="0">
                <a:solidFill>
                  <a:srgbClr val="000000"/>
                </a:solidFill>
                <a:latin typeface="Times New Roman" panose="02020603050405020304" pitchFamily="18" charset="0"/>
              </a:rPr>
              <a:t>，因此输出噪声是这些噪声的简单和。</a:t>
            </a:r>
            <a:endParaRPr lang="zh-CN" altLang="en-US" b="1" dirty="0"/>
          </a:p>
        </p:txBody>
      </p:sp>
      <p:sp>
        <p:nvSpPr>
          <p:cNvPr id="18" name="矩形 17"/>
          <p:cNvSpPr/>
          <p:nvPr/>
        </p:nvSpPr>
        <p:spPr>
          <a:xfrm>
            <a:off x="6402513" y="1242879"/>
            <a:ext cx="1887114" cy="523220"/>
          </a:xfrm>
          <a:prstGeom prst="rect">
            <a:avLst/>
          </a:prstGeom>
        </p:spPr>
        <p:txBody>
          <a:bodyPr wrap="square">
            <a:spAutoFit/>
          </a:bodyPr>
          <a:lstStyle/>
          <a:p>
            <a:r>
              <a:rPr lang="zh-CN" altLang="en-US" sz="2800" b="1" dirty="0">
                <a:solidFill>
                  <a:srgbClr val="FF0000"/>
                </a:solidFill>
                <a:latin typeface="Times New Roman" panose="02020603050405020304" pitchFamily="18" charset="0"/>
                <a:ea typeface="宋体"/>
                <a:cs typeface="Times New Roman" panose="02020603050405020304" pitchFamily="18" charset="0"/>
              </a:rPr>
              <a:t>阶数 </a:t>
            </a:r>
            <a:r>
              <a:rPr lang="en-US" altLang="zh-CN" sz="2800" b="1" i="1" dirty="0">
                <a:solidFill>
                  <a:srgbClr val="FF0000"/>
                </a:solidFill>
                <a:latin typeface="Times New Roman" panose="02020603050405020304" pitchFamily="18" charset="0"/>
                <a:ea typeface="宋体"/>
                <a:cs typeface="Times New Roman" panose="02020603050405020304" pitchFamily="18" charset="0"/>
              </a:rPr>
              <a:t>N</a:t>
            </a:r>
            <a:r>
              <a:rPr lang="en-US" altLang="zh-CN" sz="2800" b="1" dirty="0">
                <a:solidFill>
                  <a:srgbClr val="FF0000"/>
                </a:solidFill>
                <a:latin typeface="Times New Roman" panose="02020603050405020304" pitchFamily="18" charset="0"/>
                <a:ea typeface="宋体"/>
                <a:cs typeface="Times New Roman" panose="02020603050405020304" pitchFamily="18" charset="0"/>
              </a:rPr>
              <a:t>-1</a:t>
            </a:r>
            <a:endParaRPr lang="zh-CN" altLang="en-US" dirty="0">
              <a:solidFill>
                <a:srgbClr val="FF0000"/>
              </a:solidFill>
            </a:endParaRPr>
          </a:p>
        </p:txBody>
      </p:sp>
      <p:sp>
        <p:nvSpPr>
          <p:cNvPr id="19" name="矩形 18"/>
          <p:cNvSpPr/>
          <p:nvPr/>
        </p:nvSpPr>
        <p:spPr>
          <a:xfrm>
            <a:off x="6372200" y="836712"/>
            <a:ext cx="1887114" cy="523220"/>
          </a:xfrm>
          <a:prstGeom prst="rect">
            <a:avLst/>
          </a:prstGeom>
        </p:spPr>
        <p:txBody>
          <a:bodyPr wrap="square">
            <a:spAutoFit/>
          </a:bodyPr>
          <a:lstStyle/>
          <a:p>
            <a:r>
              <a:rPr lang="zh-CN" altLang="en-US" sz="2800" b="1" dirty="0">
                <a:solidFill>
                  <a:srgbClr val="0000CC"/>
                </a:solidFill>
                <a:latin typeface="Times New Roman" panose="02020603050405020304" pitchFamily="18" charset="0"/>
                <a:ea typeface="宋体"/>
                <a:cs typeface="Times New Roman" panose="02020603050405020304" pitchFamily="18" charset="0"/>
              </a:rPr>
              <a:t>长度 </a:t>
            </a:r>
            <a:r>
              <a:rPr lang="en-US" altLang="zh-CN" sz="2800" b="1" i="1" dirty="0">
                <a:solidFill>
                  <a:srgbClr val="0000CC"/>
                </a:solidFill>
                <a:latin typeface="Times New Roman" panose="02020603050405020304" pitchFamily="18" charset="0"/>
                <a:ea typeface="宋体"/>
                <a:cs typeface="Times New Roman" panose="02020603050405020304" pitchFamily="18" charset="0"/>
              </a:rPr>
              <a:t>N</a:t>
            </a:r>
            <a:endParaRPr lang="zh-CN" altLang="en-US" dirty="0">
              <a:solidFill>
                <a:srgbClr val="0000CC"/>
              </a:solidFill>
            </a:endParaRPr>
          </a:p>
        </p:txBody>
      </p:sp>
      <p:sp>
        <p:nvSpPr>
          <p:cNvPr id="20" name="矩形 19"/>
          <p:cNvSpPr/>
          <p:nvPr/>
        </p:nvSpPr>
        <p:spPr>
          <a:xfrm>
            <a:off x="751661" y="5363621"/>
            <a:ext cx="543739" cy="523220"/>
          </a:xfrm>
          <a:prstGeom prst="rect">
            <a:avLst/>
          </a:prstGeom>
        </p:spPr>
        <p:txBody>
          <a:bodyPr wrap="none">
            <a:spAutoFit/>
          </a:bodyPr>
          <a:lstStyle/>
          <a:p>
            <a:r>
              <a:rPr lang="zh-CN" altLang="en-US" sz="2800" dirty="0">
                <a:solidFill>
                  <a:srgbClr val="FF0066"/>
                </a:solidFill>
              </a:rPr>
              <a:t>★</a:t>
            </a:r>
            <a:endParaRPr lang="zh-CN" altLang="en-US" sz="2800" dirty="0"/>
          </a:p>
        </p:txBody>
      </p:sp>
      <p:sp>
        <p:nvSpPr>
          <p:cNvPr id="21" name="Rectangle 2"/>
          <p:cNvSpPr>
            <a:spLocks noChangeArrowheads="1"/>
          </p:cNvSpPr>
          <p:nvPr/>
        </p:nvSpPr>
        <p:spPr bwMode="auto">
          <a:xfrm>
            <a:off x="332549" y="6109463"/>
            <a:ext cx="7772400"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20000"/>
              </a:lnSpc>
              <a:spcBef>
                <a:spcPct val="50000"/>
              </a:spcBef>
              <a:buFontTx/>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输出噪声方差与字长</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有关，也与阶数有关。</a:t>
            </a:r>
          </a:p>
        </p:txBody>
      </p:sp>
      <p:sp>
        <p:nvSpPr>
          <p:cNvPr id="23" name="Rectangle 3"/>
          <p:cNvSpPr>
            <a:spLocks noChangeArrowheads="1"/>
          </p:cNvSpPr>
          <p:nvPr/>
        </p:nvSpPr>
        <p:spPr bwMode="auto">
          <a:xfrm>
            <a:off x="755576" y="228600"/>
            <a:ext cx="70930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6.3.2  FIR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4252018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611560" y="873348"/>
            <a:ext cx="8208912" cy="151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indent="720000">
              <a:lnSpc>
                <a:spcPct val="110000"/>
              </a:lnSpc>
              <a:spcBef>
                <a:spcPts val="0"/>
              </a:spcBef>
              <a:buFontTx/>
              <a:buNone/>
            </a:pPr>
            <a:r>
              <a:rPr lang="zh-CN" altLang="en-US" sz="2800" dirty="0">
                <a:solidFill>
                  <a:srgbClr val="000000"/>
                </a:solidFill>
                <a:latin typeface="Times New Roman" panose="02020603050405020304" pitchFamily="18" charset="0"/>
                <a:ea typeface="宋体" panose="02010600030101010101" pitchFamily="2" charset="-122"/>
              </a:rPr>
              <a:t>定点运算时，</a:t>
            </a:r>
            <a:r>
              <a:rPr lang="zh-CN" altLang="en-US" sz="2800" dirty="0">
                <a:latin typeface="Times New Roman" panose="02020603050405020304" pitchFamily="18" charset="0"/>
                <a:ea typeface="宋体" panose="02010600030101010101" pitchFamily="2" charset="-122"/>
              </a:rPr>
              <a:t>动态范围</a:t>
            </a:r>
            <a:r>
              <a:rPr lang="zh-CN" altLang="en-US" sz="2800" dirty="0">
                <a:solidFill>
                  <a:srgbClr val="000000"/>
                </a:solidFill>
                <a:latin typeface="Times New Roman" panose="02020603050405020304" pitchFamily="18" charset="0"/>
                <a:ea typeface="宋体" panose="02010600030101010101" pitchFamily="2" charset="-122"/>
              </a:rPr>
              <a:t>的限制，常导致</a:t>
            </a:r>
            <a:r>
              <a:rPr lang="en-US" altLang="zh-CN" sz="2800" dirty="0">
                <a:solidFill>
                  <a:srgbClr val="000000"/>
                </a:solidFill>
                <a:latin typeface="Times New Roman" panose="02020603050405020304" pitchFamily="18" charset="0"/>
                <a:ea typeface="宋体" panose="02010600030101010101" pitchFamily="2" charset="-122"/>
              </a:rPr>
              <a:t>FIR</a:t>
            </a:r>
            <a:r>
              <a:rPr lang="zh-CN" altLang="en-US" sz="2800" dirty="0">
                <a:solidFill>
                  <a:srgbClr val="000000"/>
                </a:solidFill>
                <a:latin typeface="Times New Roman" panose="02020603050405020304" pitchFamily="18" charset="0"/>
                <a:ea typeface="宋体" panose="02010600030101010101" pitchFamily="2" charset="-122"/>
              </a:rPr>
              <a:t>的输出结果发生溢出。利用</a:t>
            </a:r>
            <a:r>
              <a:rPr lang="zh-CN" altLang="en-US" sz="2800" dirty="0">
                <a:solidFill>
                  <a:srgbClr val="0000CC"/>
                </a:solidFill>
                <a:latin typeface="Times New Roman" panose="02020603050405020304" pitchFamily="18" charset="0"/>
                <a:ea typeface="宋体" panose="02010600030101010101" pitchFamily="2" charset="-122"/>
              </a:rPr>
              <a:t>比例因子</a:t>
            </a:r>
            <a:r>
              <a:rPr lang="zh-CN" altLang="en-US" sz="2800" dirty="0">
                <a:solidFill>
                  <a:srgbClr val="000000"/>
                </a:solidFill>
                <a:latin typeface="Times New Roman" panose="02020603050405020304" pitchFamily="18" charset="0"/>
                <a:ea typeface="宋体" panose="02010600030101010101" pitchFamily="2" charset="-122"/>
              </a:rPr>
              <a:t>，压缩信号的动态范围，可避免溢出。</a:t>
            </a:r>
          </a:p>
        </p:txBody>
      </p:sp>
      <p:graphicFrame>
        <p:nvGraphicFramePr>
          <p:cNvPr id="10" name="Object 3"/>
          <p:cNvGraphicFramePr>
            <a:graphicFrameLocks noChangeAspect="1"/>
          </p:cNvGraphicFramePr>
          <p:nvPr>
            <p:extLst>
              <p:ext uri="{D42A27DB-BD31-4B8C-83A1-F6EECF244321}">
                <p14:modId xmlns:p14="http://schemas.microsoft.com/office/powerpoint/2010/main" val="3248553524"/>
              </p:ext>
            </p:extLst>
          </p:nvPr>
        </p:nvGraphicFramePr>
        <p:xfrm>
          <a:off x="2843213" y="2348880"/>
          <a:ext cx="3124080" cy="863280"/>
        </p:xfrm>
        <a:graphic>
          <a:graphicData uri="http://schemas.openxmlformats.org/presentationml/2006/ole">
            <mc:AlternateContent xmlns:mc="http://schemas.openxmlformats.org/markup-compatibility/2006">
              <mc:Choice xmlns:v="urn:schemas-microsoft-com:vml" Requires="v">
                <p:oleObj name="Equation" r:id="rId2" imgW="1562040" imgH="431640" progId="Equation.DSMT4">
                  <p:embed/>
                </p:oleObj>
              </mc:Choice>
              <mc:Fallback>
                <p:oleObj name="Equation" r:id="rId2" imgW="1562040" imgH="431640" progId="Equation.DSMT4">
                  <p:embed/>
                  <p:pic>
                    <p:nvPicPr>
                      <p:cNvPr id="143363" name="Object 3"/>
                      <p:cNvPicPr>
                        <a:picLocks noChangeAspect="1" noChangeArrowheads="1"/>
                      </p:cNvPicPr>
                      <p:nvPr/>
                    </p:nvPicPr>
                    <p:blipFill>
                      <a:blip r:embed="rId3"/>
                      <a:srcRect/>
                      <a:stretch>
                        <a:fillRect/>
                      </a:stretch>
                    </p:blipFill>
                    <p:spPr bwMode="auto">
                      <a:xfrm>
                        <a:off x="2843213" y="2348880"/>
                        <a:ext cx="3124080" cy="8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649842" y="2492896"/>
            <a:ext cx="1885453" cy="523220"/>
          </a:xfrm>
          <a:prstGeom prst="rect">
            <a:avLst/>
          </a:prstGeom>
        </p:spPr>
        <p:txBody>
          <a:bodyPr wrap="none">
            <a:spAutoFit/>
          </a:bodyPr>
          <a:lstStyle/>
          <a:p>
            <a:r>
              <a:rPr lang="en-US" altLang="zh-CN" sz="2800" b="1" dirty="0">
                <a:solidFill>
                  <a:srgbClr val="000000"/>
                </a:solidFill>
                <a:latin typeface="Times New Roman" panose="02020603050405020304" pitchFamily="18" charset="0"/>
              </a:rPr>
              <a:t>FIR</a:t>
            </a:r>
            <a:r>
              <a:rPr lang="zh-CN" altLang="en-US" sz="2800" b="1" dirty="0">
                <a:solidFill>
                  <a:srgbClr val="000000"/>
                </a:solidFill>
                <a:latin typeface="Times New Roman" panose="02020603050405020304" pitchFamily="18" charset="0"/>
              </a:rPr>
              <a:t>的输出</a:t>
            </a:r>
            <a:endParaRPr lang="zh-CN" altLang="en-US" b="1" dirty="0"/>
          </a:p>
        </p:txBody>
      </p:sp>
      <p:graphicFrame>
        <p:nvGraphicFramePr>
          <p:cNvPr id="8" name="Object 3"/>
          <p:cNvGraphicFramePr>
            <a:graphicFrameLocks noChangeAspect="1"/>
          </p:cNvGraphicFramePr>
          <p:nvPr>
            <p:extLst>
              <p:ext uri="{D42A27DB-BD31-4B8C-83A1-F6EECF244321}">
                <p14:modId xmlns:p14="http://schemas.microsoft.com/office/powerpoint/2010/main" val="4081495754"/>
              </p:ext>
            </p:extLst>
          </p:nvPr>
        </p:nvGraphicFramePr>
        <p:xfrm>
          <a:off x="2843213" y="3212976"/>
          <a:ext cx="2869920" cy="863280"/>
        </p:xfrm>
        <a:graphic>
          <a:graphicData uri="http://schemas.openxmlformats.org/presentationml/2006/ole">
            <mc:AlternateContent xmlns:mc="http://schemas.openxmlformats.org/markup-compatibility/2006">
              <mc:Choice xmlns:v="urn:schemas-microsoft-com:vml" Requires="v">
                <p:oleObj name="Equation" r:id="rId4" imgW="1434960" imgH="431640" progId="Equation.DSMT4">
                  <p:embed/>
                </p:oleObj>
              </mc:Choice>
              <mc:Fallback>
                <p:oleObj name="Equation" r:id="rId4" imgW="1434960" imgH="431640" progId="Equation.DSMT4">
                  <p:embed/>
                  <p:pic>
                    <p:nvPicPr>
                      <p:cNvPr id="10" name="Object 3"/>
                      <p:cNvPicPr>
                        <a:picLocks noChangeAspect="1" noChangeArrowheads="1"/>
                      </p:cNvPicPr>
                      <p:nvPr/>
                    </p:nvPicPr>
                    <p:blipFill>
                      <a:blip r:embed="rId5"/>
                      <a:srcRect/>
                      <a:stretch>
                        <a:fillRect/>
                      </a:stretch>
                    </p:blipFill>
                    <p:spPr bwMode="auto">
                      <a:xfrm>
                        <a:off x="2843213" y="3212976"/>
                        <a:ext cx="2869920" cy="8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
          <p:cNvGraphicFramePr>
            <a:graphicFrameLocks noChangeAspect="1"/>
          </p:cNvGraphicFramePr>
          <p:nvPr>
            <p:extLst>
              <p:ext uri="{D42A27DB-BD31-4B8C-83A1-F6EECF244321}">
                <p14:modId xmlns:p14="http://schemas.microsoft.com/office/powerpoint/2010/main" val="3301572013"/>
              </p:ext>
            </p:extLst>
          </p:nvPr>
        </p:nvGraphicFramePr>
        <p:xfrm>
          <a:off x="4984330" y="4170536"/>
          <a:ext cx="1193800" cy="482600"/>
        </p:xfrm>
        <a:graphic>
          <a:graphicData uri="http://schemas.openxmlformats.org/presentationml/2006/ole">
            <mc:AlternateContent xmlns:mc="http://schemas.openxmlformats.org/markup-compatibility/2006">
              <mc:Choice xmlns:v="urn:schemas-microsoft-com:vml" Requires="v">
                <p:oleObj name="Equation" r:id="rId6" imgW="596900" imgH="241300" progId="Equation.DSMT4">
                  <p:embed/>
                </p:oleObj>
              </mc:Choice>
              <mc:Fallback>
                <p:oleObj name="Equation" r:id="rId6" imgW="596900" imgH="241300" progId="Equation.DSMT4">
                  <p:embed/>
                  <p:pic>
                    <p:nvPicPr>
                      <p:cNvPr id="8"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4330" y="4170536"/>
                        <a:ext cx="11938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668032" y="4077072"/>
            <a:ext cx="4512774" cy="592213"/>
          </a:xfrm>
          <a:prstGeom prst="rect">
            <a:avLst/>
          </a:prstGeom>
        </p:spPr>
        <p:txBody>
          <a:bodyPr wrap="none">
            <a:spAutoFit/>
          </a:bodyPr>
          <a:lstStyle/>
          <a:p>
            <a:pPr lvl="0" algn="just" eaLnBrk="1" hangingPunct="1">
              <a:lnSpc>
                <a:spcPct val="130000"/>
              </a:lnSpc>
            </a:pPr>
            <a:r>
              <a:rPr lang="zh-CN" altLang="en-US" sz="2800" b="1" dirty="0">
                <a:solidFill>
                  <a:srgbClr val="000000"/>
                </a:solidFill>
                <a:latin typeface="Times New Roman" panose="02020603050405020304" pitchFamily="18" charset="0"/>
              </a:rPr>
              <a:t>定点数不产生溢出的条件：</a:t>
            </a:r>
          </a:p>
        </p:txBody>
      </p:sp>
      <p:sp>
        <p:nvSpPr>
          <p:cNvPr id="12" name="矩形 11"/>
          <p:cNvSpPr/>
          <p:nvPr/>
        </p:nvSpPr>
        <p:spPr>
          <a:xfrm>
            <a:off x="611560" y="4725144"/>
            <a:ext cx="7560840" cy="652486"/>
          </a:xfrm>
          <a:prstGeom prst="rect">
            <a:avLst/>
          </a:prstGeom>
        </p:spPr>
        <p:txBody>
          <a:bodyPr wrap="square">
            <a:spAutoFit/>
          </a:bodyPr>
          <a:lstStyle/>
          <a:p>
            <a:pPr lvl="0" algn="just">
              <a:lnSpc>
                <a:spcPct val="130000"/>
              </a:lnSpc>
            </a:pPr>
            <a:r>
              <a:rPr lang="zh-CN" altLang="en-US" sz="2800" b="1" dirty="0">
                <a:solidFill>
                  <a:srgbClr val="000000"/>
                </a:solidFill>
                <a:latin typeface="Times New Roman" panose="02020603050405020304" pitchFamily="18" charset="0"/>
              </a:rPr>
              <a:t>为使结果不溢出，对</a:t>
            </a:r>
            <a:r>
              <a:rPr lang="en-US" altLang="zh-CN" sz="2800" b="1" i="1" dirty="0">
                <a:solidFill>
                  <a:srgbClr val="000000"/>
                </a:solidFill>
                <a:latin typeface="Times New Roman" panose="02020603050405020304" pitchFamily="18" charset="0"/>
              </a:rPr>
              <a:t>x</a:t>
            </a:r>
            <a:r>
              <a:rPr lang="en-US" altLang="zh-CN" sz="2800" b="1" dirty="0">
                <a:solidFill>
                  <a:srgbClr val="000000"/>
                </a:solidFill>
                <a:latin typeface="Times New Roman" panose="02020603050405020304" pitchFamily="18" charset="0"/>
              </a:rPr>
              <a:t>(</a:t>
            </a:r>
            <a:r>
              <a:rPr lang="en-US" altLang="zh-CN" sz="2800" b="1" i="1" dirty="0">
                <a:solidFill>
                  <a:srgbClr val="000000"/>
                </a:solidFill>
                <a:latin typeface="Times New Roman" panose="02020603050405020304" pitchFamily="18" charset="0"/>
              </a:rPr>
              <a:t>n</a:t>
            </a:r>
            <a:r>
              <a:rPr lang="en-US" altLang="zh-CN" sz="2800" b="1" dirty="0">
                <a:solidFill>
                  <a:srgbClr val="000000"/>
                </a:solidFill>
                <a:latin typeface="Times New Roman" panose="02020603050405020304" pitchFamily="18" charset="0"/>
              </a:rPr>
              <a:t>) </a:t>
            </a:r>
            <a:r>
              <a:rPr lang="zh-CN" altLang="en-US" sz="2800" b="1" dirty="0">
                <a:solidFill>
                  <a:srgbClr val="000000"/>
                </a:solidFill>
                <a:latin typeface="Times New Roman" panose="02020603050405020304" pitchFamily="18" charset="0"/>
              </a:rPr>
              <a:t>采用标度因子</a:t>
            </a:r>
            <a:r>
              <a:rPr lang="en-US" altLang="zh-CN" sz="2800" b="1" i="1" dirty="0">
                <a:solidFill>
                  <a:srgbClr val="FF0000"/>
                </a:solidFill>
                <a:latin typeface="Times New Roman" panose="02020603050405020304" pitchFamily="18" charset="0"/>
              </a:rPr>
              <a:t>A</a:t>
            </a:r>
            <a:r>
              <a:rPr lang="zh-CN" altLang="en-US" sz="2800" b="1" dirty="0">
                <a:solidFill>
                  <a:srgbClr val="000000"/>
                </a:solidFill>
                <a:latin typeface="Times New Roman" panose="02020603050405020304" pitchFamily="18" charset="0"/>
              </a:rPr>
              <a:t>，使</a:t>
            </a:r>
          </a:p>
        </p:txBody>
      </p:sp>
      <p:graphicFrame>
        <p:nvGraphicFramePr>
          <p:cNvPr id="13" name="Object 4"/>
          <p:cNvGraphicFramePr>
            <a:graphicFrameLocks noChangeAspect="1"/>
          </p:cNvGraphicFramePr>
          <p:nvPr>
            <p:extLst>
              <p:ext uri="{D42A27DB-BD31-4B8C-83A1-F6EECF244321}">
                <p14:modId xmlns:p14="http://schemas.microsoft.com/office/powerpoint/2010/main" val="3979820045"/>
              </p:ext>
            </p:extLst>
          </p:nvPr>
        </p:nvGraphicFramePr>
        <p:xfrm>
          <a:off x="683568" y="5301208"/>
          <a:ext cx="2539440" cy="863280"/>
        </p:xfrm>
        <a:graphic>
          <a:graphicData uri="http://schemas.openxmlformats.org/presentationml/2006/ole">
            <mc:AlternateContent xmlns:mc="http://schemas.openxmlformats.org/markup-compatibility/2006">
              <mc:Choice xmlns:v="urn:schemas-microsoft-com:vml" Requires="v">
                <p:oleObj name="Equation" r:id="rId8" imgW="1269720" imgH="431640" progId="Equation.DSMT4">
                  <p:embed/>
                </p:oleObj>
              </mc:Choice>
              <mc:Fallback>
                <p:oleObj name="Equation" r:id="rId8" imgW="1269720" imgH="431640" progId="Equation.DSMT4">
                  <p:embed/>
                  <p:pic>
                    <p:nvPicPr>
                      <p:cNvPr id="9" name="Object 4"/>
                      <p:cNvPicPr>
                        <a:picLocks noChangeAspect="1" noChangeArrowheads="1"/>
                      </p:cNvPicPr>
                      <p:nvPr/>
                    </p:nvPicPr>
                    <p:blipFill>
                      <a:blip r:embed="rId9"/>
                      <a:srcRect/>
                      <a:stretch>
                        <a:fillRect/>
                      </a:stretch>
                    </p:blipFill>
                    <p:spPr bwMode="auto">
                      <a:xfrm>
                        <a:off x="683568" y="5301208"/>
                        <a:ext cx="2539440" cy="8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4"/>
          <p:cNvGraphicFramePr>
            <a:graphicFrameLocks noChangeAspect="1"/>
          </p:cNvGraphicFramePr>
          <p:nvPr>
            <p:extLst>
              <p:ext uri="{D42A27DB-BD31-4B8C-83A1-F6EECF244321}">
                <p14:modId xmlns:p14="http://schemas.microsoft.com/office/powerpoint/2010/main" val="4085355607"/>
              </p:ext>
            </p:extLst>
          </p:nvPr>
        </p:nvGraphicFramePr>
        <p:xfrm>
          <a:off x="4423569" y="5362848"/>
          <a:ext cx="2336400" cy="1244160"/>
        </p:xfrm>
        <a:graphic>
          <a:graphicData uri="http://schemas.openxmlformats.org/presentationml/2006/ole">
            <mc:AlternateContent xmlns:mc="http://schemas.openxmlformats.org/markup-compatibility/2006">
              <mc:Choice xmlns:v="urn:schemas-microsoft-com:vml" Requires="v">
                <p:oleObj name="Equation" r:id="rId10" imgW="1168200" imgH="622080" progId="Equation.DSMT4">
                  <p:embed/>
                </p:oleObj>
              </mc:Choice>
              <mc:Fallback>
                <p:oleObj name="Equation" r:id="rId10" imgW="1168200" imgH="622080" progId="Equation.DSMT4">
                  <p:embed/>
                  <p:pic>
                    <p:nvPicPr>
                      <p:cNvPr id="13" name="Object 4"/>
                      <p:cNvPicPr>
                        <a:picLocks noChangeAspect="1" noChangeArrowheads="1"/>
                      </p:cNvPicPr>
                      <p:nvPr/>
                    </p:nvPicPr>
                    <p:blipFill>
                      <a:blip r:embed="rId11"/>
                      <a:srcRect/>
                      <a:stretch>
                        <a:fillRect/>
                      </a:stretch>
                    </p:blipFill>
                    <p:spPr bwMode="auto">
                      <a:xfrm>
                        <a:off x="4423569" y="5362848"/>
                        <a:ext cx="2336400" cy="124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3810634" y="5445224"/>
            <a:ext cx="545342" cy="592213"/>
          </a:xfrm>
          <a:prstGeom prst="rect">
            <a:avLst/>
          </a:prstGeom>
        </p:spPr>
        <p:txBody>
          <a:bodyPr wrap="none">
            <a:spAutoFit/>
          </a:bodyPr>
          <a:lstStyle/>
          <a:p>
            <a:pPr lvl="0" algn="just">
              <a:lnSpc>
                <a:spcPct val="130000"/>
              </a:lnSpc>
            </a:pPr>
            <a:r>
              <a:rPr lang="zh-CN" altLang="en-US" sz="2800" b="1" dirty="0">
                <a:solidFill>
                  <a:srgbClr val="000000"/>
                </a:solidFill>
                <a:latin typeface="Times New Roman" panose="02020603050405020304" pitchFamily="18" charset="0"/>
              </a:rPr>
              <a:t>即</a:t>
            </a:r>
          </a:p>
        </p:txBody>
      </p:sp>
      <p:sp>
        <p:nvSpPr>
          <p:cNvPr id="17" name="Rectangle 3"/>
          <p:cNvSpPr>
            <a:spLocks noChangeArrowheads="1"/>
          </p:cNvSpPr>
          <p:nvPr/>
        </p:nvSpPr>
        <p:spPr bwMode="auto">
          <a:xfrm>
            <a:off x="755576" y="228600"/>
            <a:ext cx="70930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6.3.2  FIR</a:t>
            </a:r>
            <a:r>
              <a:rPr lang="zh-CN" altLang="en-US" sz="3200" b="1" dirty="0">
                <a:solidFill>
                  <a:srgbClr val="993300"/>
                </a:solidFill>
                <a:ea typeface="楷体_GB2312" pitchFamily="49" charset="-122"/>
              </a:rPr>
              <a:t>滤波器的有限字长效应</a:t>
            </a:r>
          </a:p>
        </p:txBody>
      </p:sp>
    </p:spTree>
    <p:extLst>
      <p:ext uri="{BB962C8B-B14F-4D97-AF65-F5344CB8AC3E}">
        <p14:creationId xmlns:p14="http://schemas.microsoft.com/office/powerpoint/2010/main" val="1530194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1000"/>
                                        <p:tgtEl>
                                          <p:spTgt spid="16"/>
                                        </p:tgtEl>
                                      </p:cBhvr>
                                    </p:animEffect>
                                    <p:anim calcmode="lin" valueType="num">
                                      <p:cBhvr>
                                        <p:cTn id="44" dur="1000" fill="hold"/>
                                        <p:tgtEl>
                                          <p:spTgt spid="16"/>
                                        </p:tgtEl>
                                        <p:attrNameLst>
                                          <p:attrName>ppt_x</p:attrName>
                                        </p:attrNameLst>
                                      </p:cBhvr>
                                      <p:tavLst>
                                        <p:tav tm="0">
                                          <p:val>
                                            <p:strVal val="#ppt_x"/>
                                          </p:val>
                                        </p:tav>
                                        <p:tav tm="100000">
                                          <p:val>
                                            <p:strVal val="#ppt_x"/>
                                          </p:val>
                                        </p:tav>
                                      </p:tavLst>
                                    </p:anim>
                                    <p:anim calcmode="lin" valueType="num">
                                      <p:cBhvr>
                                        <p:cTn id="4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73090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a:solidFill>
                  <a:srgbClr val="993300"/>
                </a:solidFill>
                <a:ea typeface="楷体_GB2312" pitchFamily="49" charset="-122"/>
              </a:rPr>
              <a:t>6.3 </a:t>
            </a:r>
            <a:r>
              <a:rPr lang="zh-CN" altLang="en-US" sz="2800" b="1" dirty="0">
                <a:solidFill>
                  <a:srgbClr val="993300"/>
                </a:solidFill>
                <a:ea typeface="楷体_GB2312" pitchFamily="49" charset="-122"/>
              </a:rPr>
              <a:t>有限字长运算对数字信号处理系统的影响 </a:t>
            </a:r>
          </a:p>
        </p:txBody>
      </p:sp>
      <p:sp>
        <p:nvSpPr>
          <p:cNvPr id="7" name="矩形 6"/>
          <p:cNvSpPr/>
          <p:nvPr/>
        </p:nvSpPr>
        <p:spPr>
          <a:xfrm>
            <a:off x="683568" y="908720"/>
            <a:ext cx="1518364"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rPr>
              <a:t>6.3</a:t>
            </a:r>
            <a:r>
              <a:rPr kumimoji="0" lang="zh-CN" altLang="en-US" sz="32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rPr>
              <a:t>要点</a:t>
            </a:r>
          </a:p>
        </p:txBody>
      </p:sp>
      <p:sp>
        <p:nvSpPr>
          <p:cNvPr id="8" name="Content Placeholder 2"/>
          <p:cNvSpPr>
            <a:spLocks noGrp="1"/>
          </p:cNvSpPr>
          <p:nvPr>
            <p:ph sz="half" idx="1"/>
          </p:nvPr>
        </p:nvSpPr>
        <p:spPr>
          <a:xfrm>
            <a:off x="215008" y="1619942"/>
            <a:ext cx="8173416" cy="3954991"/>
          </a:xfrm>
        </p:spPr>
        <p:txBody>
          <a:bodyPr/>
          <a:lstStyle/>
          <a:p>
            <a:pPr>
              <a:lnSpc>
                <a:spcPct val="125000"/>
              </a:lnSpc>
            </a:pP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分析</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IIR</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滤波器直接型、级联型、并联型结构的有限字长效应  </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(P265</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 例</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6.5)</a:t>
            </a:r>
          </a:p>
          <a:p>
            <a:pPr>
              <a:lnSpc>
                <a:spcPct val="125000"/>
              </a:lnSpc>
              <a:spcBef>
                <a:spcPts val="1800"/>
              </a:spcBef>
            </a:pP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分析</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FIR</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滤波器横截型结构的有限字长效应</a:t>
            </a:r>
          </a:p>
        </p:txBody>
      </p:sp>
      <p:graphicFrame>
        <p:nvGraphicFramePr>
          <p:cNvPr id="9" name="Object 3"/>
          <p:cNvGraphicFramePr>
            <a:graphicFrameLocks noChangeAspect="1"/>
          </p:cNvGraphicFramePr>
          <p:nvPr>
            <p:extLst>
              <p:ext uri="{D42A27DB-BD31-4B8C-83A1-F6EECF244321}">
                <p14:modId xmlns:p14="http://schemas.microsoft.com/office/powerpoint/2010/main" val="2845596992"/>
              </p:ext>
            </p:extLst>
          </p:nvPr>
        </p:nvGraphicFramePr>
        <p:xfrm>
          <a:off x="4949924" y="3429000"/>
          <a:ext cx="2832100" cy="963613"/>
        </p:xfrm>
        <a:graphic>
          <a:graphicData uri="http://schemas.openxmlformats.org/presentationml/2006/ole">
            <mc:AlternateContent xmlns:mc="http://schemas.openxmlformats.org/markup-compatibility/2006">
              <mc:Choice xmlns:v="urn:schemas-microsoft-com:vml" Requires="v">
                <p:oleObj name="Equation" r:id="rId2" imgW="1231560" imgH="419040" progId="Equation.DSMT4">
                  <p:embed/>
                </p:oleObj>
              </mc:Choice>
              <mc:Fallback>
                <p:oleObj name="Equation" r:id="rId2" imgW="1231560" imgH="419040" progId="Equation.DSMT4">
                  <p:embed/>
                  <p:pic>
                    <p:nvPicPr>
                      <p:cNvPr id="16" name="Object 3"/>
                      <p:cNvPicPr>
                        <a:picLocks noChangeAspect="1" noChangeArrowheads="1"/>
                      </p:cNvPicPr>
                      <p:nvPr/>
                    </p:nvPicPr>
                    <p:blipFill>
                      <a:blip r:embed="rId3"/>
                      <a:srcRect/>
                      <a:stretch>
                        <a:fillRect/>
                      </a:stretch>
                    </p:blipFill>
                    <p:spPr bwMode="auto">
                      <a:xfrm>
                        <a:off x="4949924" y="3429000"/>
                        <a:ext cx="2832100"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471736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5292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6.4  </a:t>
            </a:r>
            <a:r>
              <a:rPr lang="zh-CN" altLang="en-US" sz="3200" b="1" dirty="0">
                <a:solidFill>
                  <a:srgbClr val="993300"/>
                </a:solidFill>
                <a:ea typeface="楷体_GB2312" pitchFamily="49" charset="-122"/>
              </a:rPr>
              <a:t>极限环振荡</a:t>
            </a:r>
          </a:p>
        </p:txBody>
      </p:sp>
      <p:sp>
        <p:nvSpPr>
          <p:cNvPr id="8" name="Rectangle 2"/>
          <p:cNvSpPr txBox="1">
            <a:spLocks noChangeArrowheads="1"/>
          </p:cNvSpPr>
          <p:nvPr/>
        </p:nvSpPr>
        <p:spPr bwMode="auto">
          <a:xfrm>
            <a:off x="683568" y="1988840"/>
            <a:ext cx="5132842" cy="577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4400" b="1">
                <a:solidFill>
                  <a:srgbClr val="3333CC"/>
                </a:solidFill>
                <a:latin typeface="+mj-lt"/>
                <a:ea typeface="+mj-ea"/>
                <a:cs typeface="+mj-cs"/>
              </a:defRPr>
            </a:lvl1pPr>
            <a:lvl2pPr algn="ctr" rtl="0" eaLnBrk="0" fontAlgn="base" hangingPunct="0">
              <a:spcBef>
                <a:spcPct val="0"/>
              </a:spcBef>
              <a:spcAft>
                <a:spcPct val="0"/>
              </a:spcAft>
              <a:defRPr kumimoji="1" sz="4400" b="1">
                <a:solidFill>
                  <a:srgbClr val="3333CC"/>
                </a:solidFill>
                <a:latin typeface="黑体" pitchFamily="2" charset="-122"/>
                <a:ea typeface="黑体" pitchFamily="2" charset="-122"/>
              </a:defRPr>
            </a:lvl2pPr>
            <a:lvl3pPr algn="ctr" rtl="0" eaLnBrk="0" fontAlgn="base" hangingPunct="0">
              <a:spcBef>
                <a:spcPct val="0"/>
              </a:spcBef>
              <a:spcAft>
                <a:spcPct val="0"/>
              </a:spcAft>
              <a:defRPr kumimoji="1" sz="4400" b="1">
                <a:solidFill>
                  <a:srgbClr val="3333CC"/>
                </a:solidFill>
                <a:latin typeface="黑体" pitchFamily="2" charset="-122"/>
                <a:ea typeface="黑体" pitchFamily="2" charset="-122"/>
              </a:defRPr>
            </a:lvl3pPr>
            <a:lvl4pPr algn="ctr" rtl="0" eaLnBrk="0" fontAlgn="base" hangingPunct="0">
              <a:spcBef>
                <a:spcPct val="0"/>
              </a:spcBef>
              <a:spcAft>
                <a:spcPct val="0"/>
              </a:spcAft>
              <a:defRPr kumimoji="1" sz="4400" b="1">
                <a:solidFill>
                  <a:srgbClr val="3333CC"/>
                </a:solidFill>
                <a:latin typeface="黑体" pitchFamily="2" charset="-122"/>
                <a:ea typeface="黑体" pitchFamily="2" charset="-122"/>
              </a:defRPr>
            </a:lvl4pPr>
            <a:lvl5pPr algn="ctr" rtl="0" eaLnBrk="0" fontAlgn="base" hangingPunct="0">
              <a:spcBef>
                <a:spcPct val="0"/>
              </a:spcBef>
              <a:spcAft>
                <a:spcPct val="0"/>
              </a:spcAft>
              <a:defRPr kumimoji="1" sz="4400" b="1">
                <a:solidFill>
                  <a:srgbClr val="3333CC"/>
                </a:solidFill>
                <a:latin typeface="黑体" pitchFamily="2" charset="-122"/>
                <a:ea typeface="黑体" pitchFamily="2" charset="-122"/>
              </a:defRPr>
            </a:lvl5pPr>
            <a:lvl6pPr marL="457200" algn="ctr" rtl="0" fontAlgn="base">
              <a:spcBef>
                <a:spcPct val="0"/>
              </a:spcBef>
              <a:spcAft>
                <a:spcPct val="0"/>
              </a:spcAft>
              <a:defRPr kumimoji="1" sz="4400" b="1">
                <a:solidFill>
                  <a:srgbClr val="3333CC"/>
                </a:solidFill>
                <a:latin typeface="黑体" pitchFamily="2" charset="-122"/>
                <a:ea typeface="黑体" pitchFamily="2" charset="-122"/>
              </a:defRPr>
            </a:lvl6pPr>
            <a:lvl7pPr marL="914400" algn="ctr" rtl="0" fontAlgn="base">
              <a:spcBef>
                <a:spcPct val="0"/>
              </a:spcBef>
              <a:spcAft>
                <a:spcPct val="0"/>
              </a:spcAft>
              <a:defRPr kumimoji="1" sz="4400" b="1">
                <a:solidFill>
                  <a:srgbClr val="3333CC"/>
                </a:solidFill>
                <a:latin typeface="黑体" pitchFamily="2" charset="-122"/>
                <a:ea typeface="黑体" pitchFamily="2" charset="-122"/>
              </a:defRPr>
            </a:lvl7pPr>
            <a:lvl8pPr marL="1371600" algn="ctr" rtl="0" fontAlgn="base">
              <a:spcBef>
                <a:spcPct val="0"/>
              </a:spcBef>
              <a:spcAft>
                <a:spcPct val="0"/>
              </a:spcAft>
              <a:defRPr kumimoji="1" sz="4400" b="1">
                <a:solidFill>
                  <a:srgbClr val="3333CC"/>
                </a:solidFill>
                <a:latin typeface="黑体" pitchFamily="2" charset="-122"/>
                <a:ea typeface="黑体" pitchFamily="2" charset="-122"/>
              </a:defRPr>
            </a:lvl8pPr>
            <a:lvl9pPr marL="1828800" algn="ctr" rtl="0" fontAlgn="base">
              <a:spcBef>
                <a:spcPct val="0"/>
              </a:spcBef>
              <a:spcAft>
                <a:spcPct val="0"/>
              </a:spcAft>
              <a:defRPr kumimoji="1" sz="4400" b="1">
                <a:solidFill>
                  <a:srgbClr val="3333CC"/>
                </a:solidFill>
                <a:latin typeface="黑体" pitchFamily="2" charset="-122"/>
                <a:ea typeface="黑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6.4.1  </a:t>
            </a:r>
            <a:r>
              <a:rPr kumimoji="1"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零输入极限环振荡</a:t>
            </a:r>
          </a:p>
        </p:txBody>
      </p:sp>
      <p:sp>
        <p:nvSpPr>
          <p:cNvPr id="10" name="Rectangle 3"/>
          <p:cNvSpPr>
            <a:spLocks noChangeArrowheads="1"/>
          </p:cNvSpPr>
          <p:nvPr/>
        </p:nvSpPr>
        <p:spPr bwMode="auto">
          <a:xfrm>
            <a:off x="463649" y="2683132"/>
            <a:ext cx="8572847" cy="341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10000"/>
              </a:lnSpc>
              <a:spcBef>
                <a:spcPct val="0"/>
              </a:spcBef>
              <a:spcAft>
                <a:spcPts val="0"/>
              </a:spcAft>
              <a:buFontTx/>
              <a:buNone/>
            </a:pPr>
            <a:r>
              <a:rPr lang="en-US" altLang="zh-CN" sz="2800" dirty="0">
                <a:solidFill>
                  <a:srgbClr val="000000"/>
                </a:solidFill>
                <a:latin typeface="Arial" panose="020B0604020202020204" pitchFamily="34" charset="0"/>
                <a:ea typeface="宋体" panose="02010600030101010101" pitchFamily="2" charset="-122"/>
              </a:rPr>
              <a:t>        </a:t>
            </a:r>
            <a:r>
              <a:rPr lang="zh-CN" altLang="en-US" sz="2800" dirty="0">
                <a:solidFill>
                  <a:srgbClr val="000000"/>
                </a:solidFill>
                <a:latin typeface="Arial" panose="020B0604020202020204" pitchFamily="34" charset="0"/>
                <a:ea typeface="宋体" panose="02010600030101010101" pitchFamily="2" charset="-122"/>
              </a:rPr>
              <a:t>对于一个按无限精度运算的</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IIR</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滤波器，如果它的极点都在单位圆内，系统总是稳定的，当输入信号归零后，</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IIR </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数字滤波器的响应将逐步趋于</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spcBef>
                <a:spcPct val="0"/>
              </a:spcBef>
              <a:spcAft>
                <a:spcPct val="50000"/>
              </a:spcAft>
              <a:buFontTx/>
              <a:buNone/>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但同一滤波器，以</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有限精度</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进行运算时，当输入信号归零后，</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由于舍入引入的非线性作用</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输出不会趋于零，而是停留在某一数值上，或在一定数值间振荡</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，这种现象为“</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零输入极限环振荡</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11" name="矩形 10"/>
          <p:cNvSpPr/>
          <p:nvPr/>
        </p:nvSpPr>
        <p:spPr>
          <a:xfrm>
            <a:off x="607665" y="954899"/>
            <a:ext cx="8360718" cy="1076961"/>
          </a:xfrm>
          <a:prstGeom prst="rect">
            <a:avLst/>
          </a:prstGeom>
        </p:spPr>
        <p:txBody>
          <a:bodyPr wrap="square">
            <a:spAutoFit/>
          </a:bodyPr>
          <a:lstStyle/>
          <a:p>
            <a:pPr indent="720000">
              <a:lnSpc>
                <a:spcPct val="120000"/>
              </a:lnSpc>
            </a:pPr>
            <a:r>
              <a:rPr lang="zh-CN" altLang="en-US" sz="2800" b="1" dirty="0">
                <a:solidFill>
                  <a:srgbClr val="000000"/>
                </a:solidFill>
                <a:latin typeface="Times New Roman" panose="02020603050405020304" pitchFamily="18" charset="0"/>
                <a:cs typeface="Times New Roman" panose="02020603050405020304" pitchFamily="18" charset="0"/>
              </a:rPr>
              <a:t>在</a:t>
            </a:r>
            <a:r>
              <a:rPr lang="en-US" altLang="zh-CN" sz="2800" b="1" dirty="0">
                <a:solidFill>
                  <a:srgbClr val="000000"/>
                </a:solidFill>
                <a:latin typeface="Times New Roman" panose="02020603050405020304" pitchFamily="18" charset="0"/>
                <a:cs typeface="Times New Roman" panose="02020603050405020304" pitchFamily="18" charset="0"/>
              </a:rPr>
              <a:t>IIR</a:t>
            </a:r>
            <a:r>
              <a:rPr lang="zh-CN" altLang="en-US" sz="2800" b="1" dirty="0">
                <a:solidFill>
                  <a:srgbClr val="000000"/>
                </a:solidFill>
                <a:latin typeface="Times New Roman" panose="02020603050405020304" pitchFamily="18" charset="0"/>
                <a:cs typeface="Times New Roman" panose="02020603050405020304" pitchFamily="18" charset="0"/>
              </a:rPr>
              <a:t>滤波器的定点制运算中，常产生两种极限环振荡</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t>零输入极限环振荡，大信号极限环振荡。</a:t>
            </a: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472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5292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6.4.1  </a:t>
            </a:r>
            <a:r>
              <a:rPr lang="zh-CN" altLang="en-US" sz="3200" b="1" dirty="0">
                <a:solidFill>
                  <a:srgbClr val="993300"/>
                </a:solidFill>
                <a:ea typeface="楷体_GB2312" pitchFamily="49" charset="-122"/>
              </a:rPr>
              <a:t>零输入极限环振荡</a:t>
            </a:r>
          </a:p>
        </p:txBody>
      </p:sp>
      <p:sp>
        <p:nvSpPr>
          <p:cNvPr id="8" name="Rectangle 2"/>
          <p:cNvSpPr>
            <a:spLocks noChangeArrowheads="1"/>
          </p:cNvSpPr>
          <p:nvPr/>
        </p:nvSpPr>
        <p:spPr bwMode="auto">
          <a:xfrm>
            <a:off x="947757" y="931870"/>
            <a:ext cx="5494117" cy="58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lnSpc>
                <a:spcPct val="115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假设一阶</a:t>
            </a:r>
            <a:r>
              <a:rPr lang="en-US" altLang="zh-CN" sz="2800" dirty="0">
                <a:solidFill>
                  <a:srgbClr val="000000"/>
                </a:solidFill>
                <a:latin typeface="Times New Roman" panose="02020603050405020304" pitchFamily="18" charset="0"/>
                <a:ea typeface="宋体" panose="02010600030101010101" pitchFamily="2" charset="-122"/>
              </a:rPr>
              <a:t>IIR</a:t>
            </a:r>
            <a:r>
              <a:rPr lang="zh-CN" altLang="en-US" sz="2800" dirty="0">
                <a:solidFill>
                  <a:srgbClr val="000000"/>
                </a:solidFill>
                <a:latin typeface="Times New Roman" panose="02020603050405020304" pitchFamily="18" charset="0"/>
                <a:ea typeface="宋体" panose="02010600030101010101" pitchFamily="2" charset="-122"/>
              </a:rPr>
              <a:t>滤波器的系统函数为</a:t>
            </a:r>
          </a:p>
        </p:txBody>
      </p:sp>
      <p:graphicFrame>
        <p:nvGraphicFramePr>
          <p:cNvPr id="11" name="Object 5"/>
          <p:cNvGraphicFramePr>
            <a:graphicFrameLocks noChangeAspect="1"/>
          </p:cNvGraphicFramePr>
          <p:nvPr>
            <p:extLst>
              <p:ext uri="{D42A27DB-BD31-4B8C-83A1-F6EECF244321}">
                <p14:modId xmlns:p14="http://schemas.microsoft.com/office/powerpoint/2010/main" val="3284972664"/>
              </p:ext>
            </p:extLst>
          </p:nvPr>
        </p:nvGraphicFramePr>
        <p:xfrm>
          <a:off x="6297858" y="737297"/>
          <a:ext cx="2306590" cy="963511"/>
        </p:xfrm>
        <a:graphic>
          <a:graphicData uri="http://schemas.openxmlformats.org/presentationml/2006/ole">
            <mc:AlternateContent xmlns:mc="http://schemas.openxmlformats.org/markup-compatibility/2006">
              <mc:Choice xmlns:v="urn:schemas-microsoft-com:vml" Requires="v">
                <p:oleObj name="Equation" r:id="rId2" imgW="1002865" imgH="418918" progId="Equation.DSMT4">
                  <p:embed/>
                </p:oleObj>
              </mc:Choice>
              <mc:Fallback>
                <p:oleObj name="Equation" r:id="rId2" imgW="1002865" imgH="418918" progId="Equation.DSMT4">
                  <p:embed/>
                  <p:pic>
                    <p:nvPicPr>
                      <p:cNvPr id="15053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858" y="737297"/>
                        <a:ext cx="2306590" cy="9635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2" name="Picture 4" descr="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9672" y="4405610"/>
            <a:ext cx="5378054" cy="1613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5"/>
          <p:cNvSpPr txBox="1">
            <a:spLocks noChangeArrowheads="1"/>
          </p:cNvSpPr>
          <p:nvPr/>
        </p:nvSpPr>
        <p:spPr bwMode="auto">
          <a:xfrm>
            <a:off x="1833610" y="6133802"/>
            <a:ext cx="50403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t>图</a:t>
            </a:r>
            <a:r>
              <a:rPr lang="en-US" altLang="zh-CN" b="1" dirty="0"/>
              <a:t>6.36   </a:t>
            </a:r>
            <a:r>
              <a:rPr lang="zh-CN" altLang="en-US" b="1" dirty="0"/>
              <a:t>一阶</a:t>
            </a:r>
            <a:r>
              <a:rPr lang="en-US" altLang="zh-CN" b="1" dirty="0"/>
              <a:t>IIR</a:t>
            </a:r>
            <a:r>
              <a:rPr lang="zh-CN" altLang="en-US" b="1" dirty="0"/>
              <a:t>网络的非线性流图</a:t>
            </a:r>
          </a:p>
        </p:txBody>
      </p:sp>
      <p:graphicFrame>
        <p:nvGraphicFramePr>
          <p:cNvPr id="14" name="Object 3"/>
          <p:cNvGraphicFramePr>
            <a:graphicFrameLocks noChangeAspect="1"/>
          </p:cNvGraphicFramePr>
          <p:nvPr>
            <p:extLst>
              <p:ext uri="{D42A27DB-BD31-4B8C-83A1-F6EECF244321}">
                <p14:modId xmlns:p14="http://schemas.microsoft.com/office/powerpoint/2010/main" val="726419475"/>
              </p:ext>
            </p:extLst>
          </p:nvPr>
        </p:nvGraphicFramePr>
        <p:xfrm>
          <a:off x="2479968" y="1665864"/>
          <a:ext cx="3388176" cy="466992"/>
        </p:xfrm>
        <a:graphic>
          <a:graphicData uri="http://schemas.openxmlformats.org/presentationml/2006/ole">
            <mc:AlternateContent xmlns:mc="http://schemas.openxmlformats.org/markup-compatibility/2006">
              <mc:Choice xmlns:v="urn:schemas-microsoft-com:vml" Requires="v">
                <p:oleObj name="Equation" r:id="rId5" imgW="1473120" imgH="203040" progId="Equation.DSMT4">
                  <p:embed/>
                </p:oleObj>
              </mc:Choice>
              <mc:Fallback>
                <p:oleObj name="Equation" r:id="rId5" imgW="1473120" imgH="203040" progId="Equation.DSMT4">
                  <p:embed/>
                  <p:pic>
                    <p:nvPicPr>
                      <p:cNvPr id="1027" name="Object 3"/>
                      <p:cNvPicPr>
                        <a:picLocks noChangeAspect="1" noChangeArrowheads="1"/>
                      </p:cNvPicPr>
                      <p:nvPr/>
                    </p:nvPicPr>
                    <p:blipFill>
                      <a:blip r:embed="rId6"/>
                      <a:srcRect/>
                      <a:stretch>
                        <a:fillRect/>
                      </a:stretch>
                    </p:blipFill>
                    <p:spPr bwMode="auto">
                      <a:xfrm>
                        <a:off x="2479968" y="1665864"/>
                        <a:ext cx="3388176" cy="4669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947757" y="2387876"/>
            <a:ext cx="7656691" cy="1112805"/>
          </a:xfrm>
          <a:prstGeom prst="rect">
            <a:avLst/>
          </a:prstGeom>
        </p:spPr>
        <p:txBody>
          <a:bodyPr wrap="square">
            <a:spAutoFit/>
          </a:bodyPr>
          <a:lstStyle/>
          <a:p>
            <a:pPr>
              <a:lnSpc>
                <a:spcPct val="125000"/>
              </a:lnSpc>
            </a:pPr>
            <a:r>
              <a:rPr lang="zh-CN" altLang="en-US" sz="2800" b="1" dirty="0">
                <a:solidFill>
                  <a:srgbClr val="000000"/>
                </a:solidFill>
              </a:rPr>
              <a:t>在定点制中，每次乘法运算后都必须对尾数作舍入处理，因此，实际的非线性差分方程为</a:t>
            </a:r>
            <a:endParaRPr lang="zh-CN" altLang="en-US" sz="2800" b="1" dirty="0"/>
          </a:p>
        </p:txBody>
      </p:sp>
      <p:graphicFrame>
        <p:nvGraphicFramePr>
          <p:cNvPr id="15" name="Object 4"/>
          <p:cNvGraphicFramePr>
            <a:graphicFrameLocks noChangeAspect="1"/>
          </p:cNvGraphicFramePr>
          <p:nvPr>
            <p:extLst>
              <p:ext uri="{D42A27DB-BD31-4B8C-83A1-F6EECF244321}">
                <p14:modId xmlns:p14="http://schemas.microsoft.com/office/powerpoint/2010/main" val="3403795188"/>
              </p:ext>
            </p:extLst>
          </p:nvPr>
        </p:nvGraphicFramePr>
        <p:xfrm>
          <a:off x="2330797" y="3578309"/>
          <a:ext cx="4689475" cy="565150"/>
        </p:xfrm>
        <a:graphic>
          <a:graphicData uri="http://schemas.openxmlformats.org/presentationml/2006/ole">
            <mc:AlternateContent xmlns:mc="http://schemas.openxmlformats.org/markup-compatibility/2006">
              <mc:Choice xmlns:v="urn:schemas-microsoft-com:vml" Requires="v">
                <p:oleObj name="Equation" r:id="rId7" imgW="1638000" imgH="228600" progId="Equation.DSMT4">
                  <p:embed/>
                </p:oleObj>
              </mc:Choice>
              <mc:Fallback>
                <p:oleObj name="Equation" r:id="rId7" imgW="1638000" imgH="228600" progId="Equation.DSMT4">
                  <p:embed/>
                  <p:pic>
                    <p:nvPicPr>
                      <p:cNvPr id="1028" name="Object 4"/>
                      <p:cNvPicPr>
                        <a:picLocks noChangeAspect="1" noChangeArrowheads="1"/>
                      </p:cNvPicPr>
                      <p:nvPr/>
                    </p:nvPicPr>
                    <p:blipFill>
                      <a:blip r:embed="rId8"/>
                      <a:srcRect/>
                      <a:stretch>
                        <a:fillRect/>
                      </a:stretch>
                    </p:blipFill>
                    <p:spPr bwMode="auto">
                      <a:xfrm>
                        <a:off x="2330797" y="3578309"/>
                        <a:ext cx="468947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6937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683568" y="1124744"/>
            <a:ext cx="792003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2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若输入为</a:t>
            </a:r>
          </a:p>
          <a:p>
            <a:pPr>
              <a:lnSpc>
                <a:spcPct val="12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endParaRPr>
          </a:p>
          <a:p>
            <a:pPr>
              <a:lnSpc>
                <a:spcPct val="120000"/>
              </a:lnSpc>
              <a:spcBef>
                <a:spcPct val="0"/>
              </a:spcBef>
              <a:buFontTx/>
              <a:buNone/>
            </a:pPr>
            <a:r>
              <a:rPr lang="zh-CN" altLang="en-US" sz="2800" dirty="0">
                <a:solidFill>
                  <a:srgbClr val="000000"/>
                </a:solidFill>
                <a:latin typeface="宋体" panose="02010600030101010101" pitchFamily="2" charset="-122"/>
                <a:ea typeface="宋体" panose="02010600030101010101" pitchFamily="2" charset="-122"/>
              </a:rPr>
              <a:t>无限精度时，</a:t>
            </a:r>
            <a:r>
              <a:rPr lang="zh-CN" altLang="en-US" sz="2800" dirty="0">
                <a:solidFill>
                  <a:srgbClr val="000000"/>
                </a:solidFill>
                <a:latin typeface="Times New Roman" panose="02020603050405020304" pitchFamily="18" charset="0"/>
                <a:ea typeface="宋体" panose="02010600030101010101" pitchFamily="2" charset="-122"/>
              </a:rPr>
              <a:t>其输出为</a:t>
            </a:r>
          </a:p>
          <a:p>
            <a:pPr>
              <a:lnSpc>
                <a:spcPct val="120000"/>
              </a:lnSpc>
              <a:spcBef>
                <a:spcPct val="0"/>
              </a:spcBef>
              <a:buFontTx/>
              <a:buNone/>
            </a:pPr>
            <a:endPar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只要</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|&lt;1</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，输出将逐渐衰减到</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8" name="Object 3"/>
          <p:cNvGraphicFramePr>
            <a:graphicFrameLocks noChangeAspect="1"/>
          </p:cNvGraphicFramePr>
          <p:nvPr>
            <p:extLst>
              <p:ext uri="{D42A27DB-BD31-4B8C-83A1-F6EECF244321}">
                <p14:modId xmlns:p14="http://schemas.microsoft.com/office/powerpoint/2010/main" val="2881551555"/>
              </p:ext>
            </p:extLst>
          </p:nvPr>
        </p:nvGraphicFramePr>
        <p:xfrm>
          <a:off x="2546499" y="863722"/>
          <a:ext cx="3379788" cy="1089025"/>
        </p:xfrm>
        <a:graphic>
          <a:graphicData uri="http://schemas.openxmlformats.org/presentationml/2006/ole">
            <mc:AlternateContent xmlns:mc="http://schemas.openxmlformats.org/markup-compatibility/2006">
              <mc:Choice xmlns:v="urn:schemas-microsoft-com:vml" Requires="v">
                <p:oleObj name="Equation" r:id="rId2" imgW="1600200" imgH="457200" progId="Equation.DSMT4">
                  <p:embed/>
                </p:oleObj>
              </mc:Choice>
              <mc:Fallback>
                <p:oleObj name="Equation" r:id="rId2" imgW="1600200" imgH="457200" progId="Equation.DSMT4">
                  <p:embed/>
                  <p:pic>
                    <p:nvPicPr>
                      <p:cNvPr id="152579" name="Object 3"/>
                      <p:cNvPicPr>
                        <a:picLocks noChangeAspect="1" noChangeArrowheads="1"/>
                      </p:cNvPicPr>
                      <p:nvPr/>
                    </p:nvPicPr>
                    <p:blipFill>
                      <a:blip r:embed="rId3"/>
                      <a:srcRect/>
                      <a:stretch>
                        <a:fillRect/>
                      </a:stretch>
                    </p:blipFill>
                    <p:spPr bwMode="auto">
                      <a:xfrm>
                        <a:off x="2546499" y="863722"/>
                        <a:ext cx="3379788"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3927810559"/>
              </p:ext>
            </p:extLst>
          </p:nvPr>
        </p:nvGraphicFramePr>
        <p:xfrm>
          <a:off x="4687912" y="1952747"/>
          <a:ext cx="3194050" cy="927100"/>
        </p:xfrm>
        <a:graphic>
          <a:graphicData uri="http://schemas.openxmlformats.org/presentationml/2006/ole">
            <mc:AlternateContent xmlns:mc="http://schemas.openxmlformats.org/markup-compatibility/2006">
              <mc:Choice xmlns:v="urn:schemas-microsoft-com:vml" Requires="v">
                <p:oleObj name="Equation" r:id="rId4" imgW="1358640" imgH="393480" progId="Equation.DSMT4">
                  <p:embed/>
                </p:oleObj>
              </mc:Choice>
              <mc:Fallback>
                <p:oleObj name="Equation" r:id="rId4" imgW="1358640" imgH="393480" progId="Equation.DSMT4">
                  <p:embed/>
                  <p:pic>
                    <p:nvPicPr>
                      <p:cNvPr id="146436" name="Object 4"/>
                      <p:cNvPicPr>
                        <a:picLocks noChangeAspect="1" noChangeArrowheads="1"/>
                      </p:cNvPicPr>
                      <p:nvPr/>
                    </p:nvPicPr>
                    <p:blipFill>
                      <a:blip r:embed="rId5"/>
                      <a:srcRect/>
                      <a:stretch>
                        <a:fillRect/>
                      </a:stretch>
                    </p:blipFill>
                    <p:spPr bwMode="auto">
                      <a:xfrm>
                        <a:off x="4687912" y="1952747"/>
                        <a:ext cx="319405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p:cNvSpPr/>
          <p:nvPr/>
        </p:nvSpPr>
        <p:spPr>
          <a:xfrm>
            <a:off x="712278" y="4941168"/>
            <a:ext cx="7532130" cy="559897"/>
          </a:xfrm>
          <a:prstGeom prst="rect">
            <a:avLst/>
          </a:prstGeom>
        </p:spPr>
        <p:txBody>
          <a:bodyPr wrap="square">
            <a:spAutoFit/>
          </a:bodyPr>
          <a:lstStyle/>
          <a:p>
            <a:pPr lvl="0">
              <a:lnSpc>
                <a:spcPct val="120000"/>
              </a:lnSpc>
            </a:pPr>
            <a:r>
              <a:rPr lang="zh-CN" altLang="en-US" sz="2800" b="1" dirty="0">
                <a:solidFill>
                  <a:srgbClr val="000000"/>
                </a:solidFill>
                <a:latin typeface="Times New Roman" panose="02020603050405020304" pitchFamily="18" charset="0"/>
              </a:rPr>
              <a:t>假设字长 </a:t>
            </a:r>
            <a:r>
              <a:rPr lang="en-US" altLang="zh-CN" sz="2800" b="1" i="1" dirty="0">
                <a:solidFill>
                  <a:srgbClr val="000000"/>
                </a:solidFill>
                <a:latin typeface="Times New Roman" panose="02020603050405020304" pitchFamily="18" charset="0"/>
              </a:rPr>
              <a:t>b</a:t>
            </a:r>
            <a:r>
              <a:rPr lang="en-US" altLang="zh-CN" sz="2800" b="1" dirty="0">
                <a:solidFill>
                  <a:srgbClr val="000000"/>
                </a:solidFill>
                <a:latin typeface="Times New Roman" panose="02020603050405020304" pitchFamily="18" charset="0"/>
              </a:rPr>
              <a:t>=3</a:t>
            </a:r>
            <a:r>
              <a:rPr lang="zh-CN" altLang="en-US" sz="2800" b="1" dirty="0">
                <a:solidFill>
                  <a:srgbClr val="000000"/>
                </a:solidFill>
                <a:latin typeface="Times New Roman" panose="02020603050405020304" pitchFamily="18" charset="0"/>
              </a:rPr>
              <a:t>，系数 </a:t>
            </a:r>
            <a:r>
              <a:rPr lang="en-US" altLang="zh-CN" sz="2800" b="1" i="1" dirty="0">
                <a:solidFill>
                  <a:srgbClr val="000000"/>
                </a:solidFill>
                <a:latin typeface="Times New Roman" panose="02020603050405020304" pitchFamily="18" charset="0"/>
              </a:rPr>
              <a:t>a</a:t>
            </a:r>
            <a:r>
              <a:rPr lang="en-US" altLang="zh-CN" sz="2800" b="1" dirty="0">
                <a:solidFill>
                  <a:srgbClr val="000000"/>
                </a:solidFill>
                <a:latin typeface="Times New Roman" panose="02020603050405020304" pitchFamily="18" charset="0"/>
              </a:rPr>
              <a:t>=0.100</a:t>
            </a:r>
            <a:r>
              <a:rPr lang="zh-CN" altLang="en-US" sz="2800" b="1" dirty="0">
                <a:solidFill>
                  <a:srgbClr val="000000"/>
                </a:solidFill>
                <a:latin typeface="Times New Roman" panose="02020603050405020304" pitchFamily="18" charset="0"/>
              </a:rPr>
              <a:t>（</a:t>
            </a:r>
            <a:r>
              <a:rPr lang="en-US" altLang="zh-CN" sz="2800" b="1" dirty="0">
                <a:solidFill>
                  <a:srgbClr val="000000"/>
                </a:solidFill>
                <a:latin typeface="Times New Roman" panose="02020603050405020304" pitchFamily="18" charset="0"/>
              </a:rPr>
              <a:t>+0.5</a:t>
            </a:r>
            <a:r>
              <a:rPr lang="zh-CN" altLang="en-US" sz="2800" b="1" dirty="0">
                <a:solidFill>
                  <a:srgbClr val="000000"/>
                </a:solidFill>
                <a:latin typeface="Times New Roman" panose="02020603050405020304" pitchFamily="18" charset="0"/>
              </a:rPr>
              <a:t>）。</a:t>
            </a:r>
          </a:p>
        </p:txBody>
      </p:sp>
      <p:sp>
        <p:nvSpPr>
          <p:cNvPr id="12" name="矩形 11"/>
          <p:cNvSpPr/>
          <p:nvPr/>
        </p:nvSpPr>
        <p:spPr>
          <a:xfrm>
            <a:off x="712278" y="4113769"/>
            <a:ext cx="4512774" cy="609398"/>
          </a:xfrm>
          <a:prstGeom prst="rect">
            <a:avLst/>
          </a:prstGeom>
        </p:spPr>
        <p:txBody>
          <a:bodyPr wrap="none">
            <a:spAutoFit/>
          </a:bodyPr>
          <a:lstStyle/>
          <a:p>
            <a:pPr lvl="0">
              <a:lnSpc>
                <a:spcPct val="120000"/>
              </a:lnSpc>
              <a:spcBef>
                <a:spcPct val="50000"/>
              </a:spcBef>
            </a:pPr>
            <a:r>
              <a:rPr lang="zh-CN" altLang="en-US" sz="2800" b="1" dirty="0">
                <a:solidFill>
                  <a:srgbClr val="000000"/>
                </a:solidFill>
                <a:latin typeface="宋体" panose="02010600030101010101" pitchFamily="2" charset="-122"/>
              </a:rPr>
              <a:t>但</a:t>
            </a:r>
            <a:r>
              <a:rPr lang="zh-CN" altLang="en-US" sz="2800" b="1" dirty="0">
                <a:solidFill>
                  <a:schemeClr val="tx2">
                    <a:lumMod val="60000"/>
                    <a:lumOff val="40000"/>
                  </a:schemeClr>
                </a:solidFill>
                <a:latin typeface="宋体" panose="02010600030101010101" pitchFamily="2" charset="-122"/>
              </a:rPr>
              <a:t>有限精度</a:t>
            </a:r>
            <a:r>
              <a:rPr lang="zh-CN" altLang="en-US" sz="2800" b="1" dirty="0">
                <a:solidFill>
                  <a:srgbClr val="000000"/>
                </a:solidFill>
                <a:latin typeface="宋体" panose="02010600030101010101" pitchFamily="2" charset="-122"/>
              </a:rPr>
              <a:t>时，情况不同。</a:t>
            </a:r>
            <a:endParaRPr lang="zh-CN" altLang="en-US" sz="2800" b="1" dirty="0">
              <a:solidFill>
                <a:srgbClr val="000000"/>
              </a:solidFill>
              <a:latin typeface="Times New Roman" panose="02020603050405020304" pitchFamily="18" charset="0"/>
            </a:endParaRPr>
          </a:p>
        </p:txBody>
      </p:sp>
      <p:sp>
        <p:nvSpPr>
          <p:cNvPr id="11" name="Rectangle 3"/>
          <p:cNvSpPr>
            <a:spLocks noChangeArrowheads="1"/>
          </p:cNvSpPr>
          <p:nvPr/>
        </p:nvSpPr>
        <p:spPr bwMode="auto">
          <a:xfrm>
            <a:off x="755576" y="228600"/>
            <a:ext cx="5292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6.4.1  </a:t>
            </a:r>
            <a:r>
              <a:rPr lang="zh-CN" altLang="en-US" sz="3200" b="1" dirty="0">
                <a:solidFill>
                  <a:srgbClr val="993300"/>
                </a:solidFill>
                <a:ea typeface="楷体_GB2312" pitchFamily="49" charset="-122"/>
              </a:rPr>
              <a:t>零输入极限环振荡</a:t>
            </a:r>
          </a:p>
        </p:txBody>
      </p:sp>
    </p:spTree>
    <p:extLst>
      <p:ext uri="{BB962C8B-B14F-4D97-AF65-F5344CB8AC3E}">
        <p14:creationId xmlns:p14="http://schemas.microsoft.com/office/powerpoint/2010/main" val="191703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251520" y="1124744"/>
            <a:ext cx="8305800"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indent="720000" algn="just" eaLnBrk="1" hangingPunct="1">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下面是非线性差分方程的运算结果</a:t>
            </a:r>
            <a:r>
              <a:rPr lang="en-US" altLang="zh-CN" sz="2800" dirty="0">
                <a:solidFill>
                  <a:srgbClr val="000000"/>
                </a:solidFill>
                <a:latin typeface="Times New Roman" panose="02020603050405020304" pitchFamily="18" charset="0"/>
                <a:ea typeface="宋体" panose="02010600030101010101" pitchFamily="2" charset="-122"/>
              </a:rPr>
              <a:t>(</a:t>
            </a:r>
            <a:r>
              <a:rPr lang="zh-CN" altLang="en-US" sz="2800" dirty="0">
                <a:solidFill>
                  <a:srgbClr val="000000"/>
                </a:solidFill>
                <a:latin typeface="Times New Roman" panose="02020603050405020304" pitchFamily="18" charset="0"/>
                <a:ea typeface="宋体" panose="02010600030101010101" pitchFamily="2" charset="-122"/>
              </a:rPr>
              <a:t>表</a:t>
            </a:r>
            <a:r>
              <a:rPr lang="en-US" altLang="zh-CN" sz="2800" dirty="0">
                <a:solidFill>
                  <a:srgbClr val="000000"/>
                </a:solidFill>
                <a:latin typeface="Times New Roman" panose="02020603050405020304" pitchFamily="18" charset="0"/>
                <a:ea typeface="宋体" panose="02010600030101010101" pitchFamily="2" charset="-122"/>
              </a:rPr>
              <a:t>6.1)</a:t>
            </a:r>
            <a:r>
              <a:rPr lang="zh-CN" altLang="en-US" sz="2800" dirty="0">
                <a:solidFill>
                  <a:srgbClr val="000000"/>
                </a:solidFill>
                <a:latin typeface="Times New Roman" panose="02020603050405020304" pitchFamily="18" charset="0"/>
                <a:ea typeface="宋体" panose="02010600030101010101" pitchFamily="2" charset="-122"/>
              </a:rPr>
              <a:t>：</a:t>
            </a:r>
          </a:p>
          <a:p>
            <a:pPr algn="just">
              <a:spcBef>
                <a:spcPct val="0"/>
              </a:spcBef>
              <a:buFontTx/>
              <a:buNone/>
            </a:pPr>
            <a:r>
              <a:rPr lang="zh-CN" altLang="en-US" sz="2800" dirty="0">
                <a:solidFill>
                  <a:srgbClr val="000000"/>
                </a:solidFill>
                <a:latin typeface="Times New Roman" panose="02020603050405020304" pitchFamily="18" charset="0"/>
                <a:ea typeface="宋体" panose="02010600030101010101" pitchFamily="2" charset="-122"/>
              </a:rPr>
              <a:t> </a:t>
            </a:r>
          </a:p>
          <a:p>
            <a:pPr algn="just">
              <a:spcBef>
                <a:spcPct val="0"/>
              </a:spcBef>
              <a:buFontTx/>
              <a:buNone/>
            </a:pPr>
            <a:r>
              <a:rPr lang="zh-CN" altLang="en-US" sz="2400" dirty="0">
                <a:solidFill>
                  <a:srgbClr val="000000"/>
                </a:solidFill>
                <a:latin typeface="Times New Roman" panose="02020603050405020304" pitchFamily="18" charset="0"/>
                <a:ea typeface="宋体" panose="02010600030101010101" pitchFamily="2" charset="-122"/>
              </a:rPr>
              <a:t>  </a:t>
            </a:r>
            <a:r>
              <a:rPr lang="en-US" altLang="zh-CN" sz="240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a:p>
            <a:pPr algn="just">
              <a:spcBef>
                <a:spcPct val="0"/>
              </a:spcBef>
              <a:buFontTx/>
              <a:buNone/>
            </a:pPr>
            <a:r>
              <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     0.111	  0.000          0.0000             0.000           0.111(7/8)</a:t>
            </a:r>
          </a:p>
          <a:p>
            <a:pPr algn="just">
              <a:spcBef>
                <a:spcPct val="0"/>
              </a:spcBef>
              <a:buFontTx/>
              <a:buNone/>
            </a:pP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1     0.000	  0.111          0.0111             0.100           0.100(1/2)</a:t>
            </a:r>
          </a:p>
          <a:p>
            <a:pPr algn="just">
              <a:spcBef>
                <a:spcPct val="0"/>
              </a:spcBef>
              <a:buFontTx/>
              <a:buNone/>
            </a:pP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2     0.000	  0.100	         0.0100             0.010           0.010(1/4)</a:t>
            </a:r>
          </a:p>
          <a:p>
            <a:pPr algn="just">
              <a:spcBef>
                <a:spcPct val="0"/>
              </a:spcBef>
              <a:buFontTx/>
              <a:buNone/>
            </a:pP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3     0.000	  0.010	         0.0010             0.001           0.001(1/8)</a:t>
            </a:r>
          </a:p>
          <a:p>
            <a:pPr algn="just">
              <a:spcBef>
                <a:spcPct val="0"/>
              </a:spcBef>
              <a:buFontTx/>
              <a:buNone/>
            </a:pP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4     0.000	  0.001          0.0001             0.001           0.001(1/8)</a:t>
            </a:r>
          </a:p>
          <a:p>
            <a:pPr algn="just">
              <a:spcBef>
                <a:spcPct val="0"/>
              </a:spcBef>
              <a:buFontTx/>
              <a:buNone/>
            </a:pP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a:p>
            <a:pPr algn="just">
              <a:spcBef>
                <a:spcPct val="0"/>
              </a:spcBef>
              <a:buFontTx/>
              <a:buNone/>
            </a:pPr>
            <a:endParaRPr lang="en-US" altLang="zh-CN" sz="2400" dirty="0">
              <a:solidFill>
                <a:srgbClr val="000000"/>
              </a:solidFill>
              <a:latin typeface="Times New Roman" panose="02020603050405020304" pitchFamily="18" charset="0"/>
              <a:ea typeface="宋体" panose="02010600030101010101" pitchFamily="2" charset="-122"/>
            </a:endParaRPr>
          </a:p>
          <a:p>
            <a:pPr algn="just">
              <a:spcBef>
                <a:spcPct val="0"/>
              </a:spcBef>
              <a:buFontTx/>
              <a:buNone/>
            </a:pPr>
            <a:r>
              <a:rPr lang="en-US" altLang="zh-CN" sz="2400" dirty="0">
                <a:solidFill>
                  <a:srgbClr val="000000"/>
                </a:solidFill>
                <a:latin typeface="Times New Roman" panose="02020603050405020304" pitchFamily="18" charset="0"/>
                <a:ea typeface="宋体" panose="02010600030101010101" pitchFamily="2" charset="-122"/>
              </a:rPr>
              <a:t>        </a:t>
            </a:r>
          </a:p>
        </p:txBody>
      </p:sp>
      <p:graphicFrame>
        <p:nvGraphicFramePr>
          <p:cNvPr id="11" name="Object 3"/>
          <p:cNvGraphicFramePr>
            <a:graphicFrameLocks noChangeAspect="1"/>
          </p:cNvGraphicFramePr>
          <p:nvPr>
            <p:extLst>
              <p:ext uri="{D42A27DB-BD31-4B8C-83A1-F6EECF244321}">
                <p14:modId xmlns:p14="http://schemas.microsoft.com/office/powerpoint/2010/main" val="447396323"/>
              </p:ext>
            </p:extLst>
          </p:nvPr>
        </p:nvGraphicFramePr>
        <p:xfrm>
          <a:off x="3575907" y="2018327"/>
          <a:ext cx="1284125" cy="474569"/>
        </p:xfrm>
        <a:graphic>
          <a:graphicData uri="http://schemas.openxmlformats.org/presentationml/2006/ole">
            <mc:AlternateContent xmlns:mc="http://schemas.openxmlformats.org/markup-compatibility/2006">
              <mc:Choice xmlns:v="urn:schemas-microsoft-com:vml" Requires="v">
                <p:oleObj name="Equation" r:id="rId2" imgW="583693" imgH="215713" progId="Equation.DSMT4">
                  <p:embed/>
                </p:oleObj>
              </mc:Choice>
              <mc:Fallback>
                <p:oleObj name="Equation" r:id="rId2" imgW="583693" imgH="215713" progId="Equation.DSMT4">
                  <p:embed/>
                  <p:pic>
                    <p:nvPicPr>
                      <p:cNvPr id="15360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907" y="2018327"/>
                        <a:ext cx="1284125" cy="4745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4"/>
          <p:cNvGraphicFramePr>
            <a:graphicFrameLocks noChangeAspect="1"/>
          </p:cNvGraphicFramePr>
          <p:nvPr>
            <p:extLst>
              <p:ext uri="{D42A27DB-BD31-4B8C-83A1-F6EECF244321}">
                <p14:modId xmlns:p14="http://schemas.microsoft.com/office/powerpoint/2010/main" val="1594221076"/>
              </p:ext>
            </p:extLst>
          </p:nvPr>
        </p:nvGraphicFramePr>
        <p:xfrm>
          <a:off x="5169595" y="1989976"/>
          <a:ext cx="1648460" cy="502920"/>
        </p:xfrm>
        <a:graphic>
          <a:graphicData uri="http://schemas.openxmlformats.org/presentationml/2006/ole">
            <mc:AlternateContent xmlns:mc="http://schemas.openxmlformats.org/markup-compatibility/2006">
              <mc:Choice xmlns:v="urn:schemas-microsoft-com:vml" Requires="v">
                <p:oleObj name="Equation" r:id="rId4" imgW="749300" imgH="228600" progId="Equation.DSMT4">
                  <p:embed/>
                </p:oleObj>
              </mc:Choice>
              <mc:Fallback>
                <p:oleObj name="Equation" r:id="rId4" imgW="749300" imgH="228600" progId="Equation.DSMT4">
                  <p:embed/>
                  <p:pic>
                    <p:nvPicPr>
                      <p:cNvPr id="15360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9595" y="1989976"/>
                        <a:ext cx="164846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5"/>
          <p:cNvGraphicFramePr>
            <a:graphicFrameLocks noChangeAspect="1"/>
          </p:cNvGraphicFramePr>
          <p:nvPr>
            <p:extLst>
              <p:ext uri="{D42A27DB-BD31-4B8C-83A1-F6EECF244321}">
                <p14:modId xmlns:p14="http://schemas.microsoft.com/office/powerpoint/2010/main" val="1691783674"/>
              </p:ext>
            </p:extLst>
          </p:nvPr>
        </p:nvGraphicFramePr>
        <p:xfrm>
          <a:off x="2031387" y="2018327"/>
          <a:ext cx="1172461" cy="474569"/>
        </p:xfrm>
        <a:graphic>
          <a:graphicData uri="http://schemas.openxmlformats.org/presentationml/2006/ole">
            <mc:AlternateContent xmlns:mc="http://schemas.openxmlformats.org/markup-compatibility/2006">
              <mc:Choice xmlns:v="urn:schemas-microsoft-com:vml" Requires="v">
                <p:oleObj name="Equation" r:id="rId6" imgW="532937" imgH="215713" progId="Equation.DSMT4">
                  <p:embed/>
                </p:oleObj>
              </mc:Choice>
              <mc:Fallback>
                <p:oleObj name="Equation" r:id="rId6" imgW="532937" imgH="215713" progId="Equation.DSMT4">
                  <p:embed/>
                  <p:pic>
                    <p:nvPicPr>
                      <p:cNvPr id="153605"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31387" y="2018327"/>
                        <a:ext cx="1172461" cy="4745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6"/>
          <p:cNvGraphicFramePr>
            <a:graphicFrameLocks noChangeAspect="1"/>
          </p:cNvGraphicFramePr>
          <p:nvPr>
            <p:extLst>
              <p:ext uri="{D42A27DB-BD31-4B8C-83A1-F6EECF244321}">
                <p14:modId xmlns:p14="http://schemas.microsoft.com/office/powerpoint/2010/main" val="696687443"/>
              </p:ext>
            </p:extLst>
          </p:nvPr>
        </p:nvGraphicFramePr>
        <p:xfrm>
          <a:off x="7322246" y="2018123"/>
          <a:ext cx="726125" cy="474773"/>
        </p:xfrm>
        <a:graphic>
          <a:graphicData uri="http://schemas.openxmlformats.org/presentationml/2006/ole">
            <mc:AlternateContent xmlns:mc="http://schemas.openxmlformats.org/markup-compatibility/2006">
              <mc:Choice xmlns:v="urn:schemas-microsoft-com:vml" Requires="v">
                <p:oleObj name="Equation" r:id="rId8" imgW="330057" imgH="215806" progId="Equation.DSMT4">
                  <p:embed/>
                </p:oleObj>
              </mc:Choice>
              <mc:Fallback>
                <p:oleObj name="Equation" r:id="rId8" imgW="330057" imgH="215806" progId="Equation.DSMT4">
                  <p:embed/>
                  <p:pic>
                    <p:nvPicPr>
                      <p:cNvPr id="153606"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22246" y="2018123"/>
                        <a:ext cx="726125" cy="474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7"/>
          <p:cNvSpPr>
            <a:spLocks noChangeArrowheads="1"/>
          </p:cNvSpPr>
          <p:nvPr/>
        </p:nvSpPr>
        <p:spPr bwMode="auto">
          <a:xfrm>
            <a:off x="245286" y="4844038"/>
            <a:ext cx="8229600"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indent="720000" eaLnBrk="1" hangingPunct="1">
              <a:lnSpc>
                <a:spcPct val="120000"/>
              </a:lnSpc>
              <a:spcBef>
                <a:spcPct val="0"/>
              </a:spcBef>
              <a:spcAft>
                <a:spcPct val="50000"/>
              </a:spcAft>
              <a:buFontTx/>
              <a:buNone/>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可见，输出停留在 </a:t>
            </a:r>
            <a:r>
              <a:rPr lang="en-US" altLang="zh-CN" sz="28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=0.001 (1/8)</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上再也衰减不下去了，</a:t>
            </a:r>
            <a:r>
              <a:rPr lang="zh-CN" altLang="en-US" sz="2800" dirty="0">
                <a:solidFill>
                  <a:srgbClr val="000000"/>
                </a:solidFill>
                <a:latin typeface="Times New Roman" panose="02020603050405020304" pitchFamily="18" charset="0"/>
                <a:ea typeface="宋体" panose="02010600030101010101" pitchFamily="2" charset="-122"/>
              </a:rPr>
              <a:t>如图</a:t>
            </a:r>
            <a:r>
              <a:rPr lang="en-US" altLang="zh-CN" sz="2800" dirty="0">
                <a:solidFill>
                  <a:srgbClr val="000000"/>
                </a:solidFill>
                <a:latin typeface="Times New Roman" panose="02020603050405020304" pitchFamily="18" charset="0"/>
                <a:ea typeface="宋体" panose="02010600030101010101" pitchFamily="2" charset="-122"/>
              </a:rPr>
              <a:t>6.37(a)</a:t>
            </a:r>
            <a:r>
              <a:rPr lang="zh-CN" altLang="en-US" sz="2800" dirty="0">
                <a:solidFill>
                  <a:srgbClr val="000000"/>
                </a:solidFill>
                <a:latin typeface="Times New Roman" panose="02020603050405020304" pitchFamily="18" charset="0"/>
                <a:ea typeface="宋体" panose="02010600030101010101" pitchFamily="2" charset="-122"/>
              </a:rPr>
              <a:t>所示，       </a:t>
            </a:r>
            <a:r>
              <a:rPr lang="en-US" altLang="zh-CN" sz="2800" dirty="0">
                <a:solidFill>
                  <a:srgbClr val="000000"/>
                </a:solidFill>
                <a:latin typeface="Times New Roman" panose="02020603050405020304" pitchFamily="18" charset="0"/>
                <a:ea typeface="宋体" panose="02010600030101010101" pitchFamily="2" charset="-122"/>
              </a:rPr>
              <a:t>=</a:t>
            </a:r>
            <a:r>
              <a:rPr lang="en-US"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1/8</a:t>
            </a:r>
            <a:r>
              <a:rPr lang="zh-CN" altLang="en-US" sz="2800" dirty="0">
                <a:solidFill>
                  <a:srgbClr val="000000"/>
                </a:solidFill>
                <a:latin typeface="Times New Roman" panose="02020603050405020304" pitchFamily="18" charset="0"/>
                <a:ea typeface="宋体" panose="02010600030101010101" pitchFamily="2" charset="-122"/>
              </a:rPr>
              <a:t>以下也称为“死带”区域</a:t>
            </a:r>
            <a:endPar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6" name="Object 6"/>
          <p:cNvGraphicFramePr>
            <a:graphicFrameLocks noChangeAspect="1"/>
          </p:cNvGraphicFramePr>
          <p:nvPr>
            <p:extLst>
              <p:ext uri="{D42A27DB-BD31-4B8C-83A1-F6EECF244321}">
                <p14:modId xmlns:p14="http://schemas.microsoft.com/office/powerpoint/2010/main" val="3689960020"/>
              </p:ext>
            </p:extLst>
          </p:nvPr>
        </p:nvGraphicFramePr>
        <p:xfrm>
          <a:off x="3917883" y="4901501"/>
          <a:ext cx="726125" cy="474773"/>
        </p:xfrm>
        <a:graphic>
          <a:graphicData uri="http://schemas.openxmlformats.org/presentationml/2006/ole">
            <mc:AlternateContent xmlns:mc="http://schemas.openxmlformats.org/markup-compatibility/2006">
              <mc:Choice xmlns:v="urn:schemas-microsoft-com:vml" Requires="v">
                <p:oleObj name="Equation" r:id="rId8" imgW="330057" imgH="215806" progId="Equation.DSMT4">
                  <p:embed/>
                </p:oleObj>
              </mc:Choice>
              <mc:Fallback>
                <p:oleObj name="Equation" r:id="rId8" imgW="330057" imgH="215806" progId="Equation.DSMT4">
                  <p:embed/>
                  <p:pic>
                    <p:nvPicPr>
                      <p:cNvPr id="14"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17883" y="4901501"/>
                        <a:ext cx="726125" cy="474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6"/>
          <p:cNvGraphicFramePr>
            <a:graphicFrameLocks noChangeAspect="1"/>
          </p:cNvGraphicFramePr>
          <p:nvPr>
            <p:extLst>
              <p:ext uri="{D42A27DB-BD31-4B8C-83A1-F6EECF244321}">
                <p14:modId xmlns:p14="http://schemas.microsoft.com/office/powerpoint/2010/main" val="3972299429"/>
              </p:ext>
            </p:extLst>
          </p:nvPr>
        </p:nvGraphicFramePr>
        <p:xfrm>
          <a:off x="4806532" y="5402499"/>
          <a:ext cx="726125" cy="474773"/>
        </p:xfrm>
        <a:graphic>
          <a:graphicData uri="http://schemas.openxmlformats.org/presentationml/2006/ole">
            <mc:AlternateContent xmlns:mc="http://schemas.openxmlformats.org/markup-compatibility/2006">
              <mc:Choice xmlns:v="urn:schemas-microsoft-com:vml" Requires="v">
                <p:oleObj name="Equation" r:id="rId8" imgW="330057" imgH="215806" progId="Equation.DSMT4">
                  <p:embed/>
                </p:oleObj>
              </mc:Choice>
              <mc:Fallback>
                <p:oleObj name="Equation" r:id="rId8" imgW="330057" imgH="215806" progId="Equation.DSMT4">
                  <p:embed/>
                  <p:pic>
                    <p:nvPicPr>
                      <p:cNvPr id="16"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6532" y="5402499"/>
                        <a:ext cx="726125" cy="474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Rectangle 3"/>
          <p:cNvSpPr>
            <a:spLocks noChangeArrowheads="1"/>
          </p:cNvSpPr>
          <p:nvPr/>
        </p:nvSpPr>
        <p:spPr bwMode="auto">
          <a:xfrm>
            <a:off x="755576" y="228600"/>
            <a:ext cx="5292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6.4.1  </a:t>
            </a:r>
            <a:r>
              <a:rPr lang="zh-CN" altLang="en-US" sz="3200" b="1" dirty="0">
                <a:solidFill>
                  <a:srgbClr val="993300"/>
                </a:solidFill>
                <a:ea typeface="楷体_GB2312" pitchFamily="49" charset="-122"/>
              </a:rPr>
              <a:t>零输入极限环振荡</a:t>
            </a:r>
          </a:p>
        </p:txBody>
      </p:sp>
    </p:spTree>
    <p:extLst>
      <p:ext uri="{BB962C8B-B14F-4D97-AF65-F5344CB8AC3E}">
        <p14:creationId xmlns:p14="http://schemas.microsoft.com/office/powerpoint/2010/main" val="5214543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683568" y="908720"/>
            <a:ext cx="7992888" cy="198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eaLnBrk="1" hangingPunct="1">
              <a:lnSpc>
                <a:spcPct val="110000"/>
              </a:lnSpc>
              <a:spcBef>
                <a:spcPct val="0"/>
              </a:spcBef>
              <a:buFontTx/>
              <a:buNone/>
            </a:pPr>
            <a:r>
              <a:rPr lang="en-US" altLang="zh-CN" sz="280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000000"/>
                </a:solidFill>
                <a:latin typeface="Times New Roman" panose="02020603050405020304" pitchFamily="18" charset="0"/>
                <a:ea typeface="宋体" panose="02010600030101010101" pitchFamily="2" charset="-122"/>
              </a:rPr>
              <a:t>如果系数 </a:t>
            </a:r>
            <a:r>
              <a:rPr lang="en-US" altLang="zh-CN" sz="2800" i="1" dirty="0">
                <a:solidFill>
                  <a:srgbClr val="0000CC"/>
                </a:solidFill>
                <a:latin typeface="Times New Roman" panose="02020603050405020304" pitchFamily="18" charset="0"/>
                <a:ea typeface="宋体" panose="02010600030101010101" pitchFamily="2" charset="-122"/>
              </a:rPr>
              <a:t>a</a:t>
            </a:r>
            <a:r>
              <a:rPr lang="zh-CN" altLang="en-US" sz="2800" dirty="0">
                <a:solidFill>
                  <a:srgbClr val="0000CC"/>
                </a:solidFill>
                <a:latin typeface="Times New Roman" panose="02020603050405020304" pitchFamily="18" charset="0"/>
                <a:ea typeface="宋体" panose="02010600030101010101" pitchFamily="2" charset="-122"/>
              </a:rPr>
              <a:t>为负数</a:t>
            </a:r>
            <a:r>
              <a:rPr lang="zh-CN" altLang="en-US" sz="2800" dirty="0">
                <a:solidFill>
                  <a:srgbClr val="000000"/>
                </a:solidFill>
                <a:latin typeface="Times New Roman" panose="02020603050405020304" pitchFamily="18" charset="0"/>
                <a:ea typeface="宋体" panose="02010600030101010101" pitchFamily="2" charset="-122"/>
              </a:rPr>
              <a:t>，例如</a:t>
            </a:r>
            <a:r>
              <a:rPr lang="zh-CN" altLang="en-US" sz="2800" dirty="0">
                <a:solidFill>
                  <a:srgbClr val="0000CC"/>
                </a:solidFill>
                <a:latin typeface="Times New Roman" panose="02020603050405020304" pitchFamily="18" charset="0"/>
                <a:ea typeface="宋体" panose="02010600030101010101" pitchFamily="2" charset="-122"/>
              </a:rPr>
              <a:t> </a:t>
            </a:r>
            <a:r>
              <a:rPr lang="en-US" altLang="zh-CN" sz="2800" dirty="0">
                <a:solidFill>
                  <a:srgbClr val="0000CC"/>
                </a:solidFill>
                <a:latin typeface="宋体" panose="02010600030101010101" pitchFamily="2" charset="-122"/>
                <a:ea typeface="宋体" panose="02010600030101010101" pitchFamily="2" charset="-122"/>
              </a:rPr>
              <a:t>-</a:t>
            </a:r>
            <a:r>
              <a:rPr lang="en-US" altLang="zh-CN" sz="2800" dirty="0">
                <a:solidFill>
                  <a:srgbClr val="0000CC"/>
                </a:solidFill>
                <a:latin typeface="Times New Roman" panose="02020603050405020304" pitchFamily="18" charset="0"/>
                <a:ea typeface="宋体" panose="02010600030101010101" pitchFamily="2" charset="-122"/>
              </a:rPr>
              <a:t>0.5</a:t>
            </a:r>
            <a:r>
              <a:rPr lang="zh-CN" altLang="en-US" sz="2800" dirty="0">
                <a:solidFill>
                  <a:srgbClr val="0000CC"/>
                </a:solidFill>
                <a:latin typeface="Times New Roman" panose="02020603050405020304" pitchFamily="18" charset="0"/>
                <a:ea typeface="宋体" panose="02010600030101010101" pitchFamily="2" charset="-122"/>
              </a:rPr>
              <a:t>，</a:t>
            </a:r>
            <a:r>
              <a:rPr lang="zh-CN" altLang="en-US" sz="2800" dirty="0">
                <a:solidFill>
                  <a:srgbClr val="000000"/>
                </a:solidFill>
                <a:latin typeface="Times New Roman" panose="02020603050405020304" pitchFamily="18" charset="0"/>
                <a:ea typeface="宋体" panose="02010600030101010101" pitchFamily="2" charset="-122"/>
              </a:rPr>
              <a:t>则每乘一次</a:t>
            </a:r>
            <a:r>
              <a:rPr lang="en-US" altLang="zh-CN" sz="2800" i="1" dirty="0">
                <a:solidFill>
                  <a:srgbClr val="000000"/>
                </a:solidFill>
                <a:latin typeface="Times New Roman" panose="02020603050405020304" pitchFamily="18" charset="0"/>
                <a:ea typeface="宋体" panose="02010600030101010101" pitchFamily="2" charset="-122"/>
              </a:rPr>
              <a:t>a</a:t>
            </a:r>
            <a:r>
              <a:rPr lang="en-US" altLang="zh-CN" sz="280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000000"/>
                </a:solidFill>
                <a:latin typeface="Times New Roman" panose="02020603050405020304" pitchFamily="18" charset="0"/>
                <a:ea typeface="宋体" panose="02010600030101010101" pitchFamily="2" charset="-122"/>
              </a:rPr>
              <a:t>就改变一次符号，因此输出将是正负相间的，如图</a:t>
            </a:r>
            <a:r>
              <a:rPr lang="en-US" altLang="zh-CN" sz="2800" dirty="0">
                <a:solidFill>
                  <a:srgbClr val="000000"/>
                </a:solidFill>
                <a:latin typeface="Times New Roman" panose="02020603050405020304" pitchFamily="18" charset="0"/>
                <a:ea typeface="宋体" panose="02010600030101010101" pitchFamily="2" charset="-122"/>
              </a:rPr>
              <a:t>6.37(b)</a:t>
            </a:r>
            <a:r>
              <a:rPr lang="zh-CN" altLang="en-US" sz="2800" dirty="0">
                <a:solidFill>
                  <a:srgbClr val="000000"/>
                </a:solidFill>
                <a:latin typeface="Times New Roman" panose="02020603050405020304" pitchFamily="18" charset="0"/>
                <a:ea typeface="宋体" panose="02010600030101010101" pitchFamily="2" charset="-122"/>
              </a:rPr>
              <a:t>所示</a:t>
            </a:r>
            <a:r>
              <a:rPr lang="en-US" altLang="zh-CN" sz="280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000000"/>
                </a:solidFill>
                <a:latin typeface="Times New Roman" panose="02020603050405020304" pitchFamily="18" charset="0"/>
                <a:ea typeface="宋体" panose="02010600030101010101" pitchFamily="2" charset="-122"/>
              </a:rPr>
              <a:t>，这时在        </a:t>
            </a:r>
            <a:r>
              <a:rPr lang="en-US" altLang="zh-CN" sz="2800" dirty="0">
                <a:solidFill>
                  <a:srgbClr val="000000"/>
                </a:solidFill>
                <a:latin typeface="Times New Roman" panose="02020603050405020304" pitchFamily="18" charset="0"/>
                <a:ea typeface="宋体" panose="02010600030101010101" pitchFamily="2" charset="-122"/>
              </a:rPr>
              <a:t>±1/8</a:t>
            </a:r>
            <a:r>
              <a:rPr lang="zh-CN" altLang="en-US" sz="2800" dirty="0">
                <a:solidFill>
                  <a:srgbClr val="000000"/>
                </a:solidFill>
                <a:latin typeface="Times New Roman" panose="02020603050405020304" pitchFamily="18" charset="0"/>
                <a:ea typeface="宋体" panose="02010600030101010101" pitchFamily="2" charset="-122"/>
              </a:rPr>
              <a:t>之间作周期性稳态振荡。</a:t>
            </a:r>
          </a:p>
        </p:txBody>
      </p:sp>
      <p:sp>
        <p:nvSpPr>
          <p:cNvPr id="5" name="Rectangle 3"/>
          <p:cNvSpPr>
            <a:spLocks noChangeArrowheads="1"/>
          </p:cNvSpPr>
          <p:nvPr/>
        </p:nvSpPr>
        <p:spPr bwMode="auto">
          <a:xfrm>
            <a:off x="2483768" y="6237312"/>
            <a:ext cx="37385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dirty="0">
                <a:solidFill>
                  <a:srgbClr val="000000"/>
                </a:solidFill>
              </a:rPr>
              <a:t>图</a:t>
            </a:r>
            <a:r>
              <a:rPr lang="en-US" altLang="zh-CN" b="1" dirty="0">
                <a:solidFill>
                  <a:srgbClr val="000000"/>
                </a:solidFill>
              </a:rPr>
              <a:t>6.37</a:t>
            </a:r>
            <a:r>
              <a:rPr lang="zh-CN" altLang="en-US" b="1" dirty="0">
                <a:solidFill>
                  <a:srgbClr val="000000"/>
                </a:solidFill>
              </a:rPr>
              <a:t>   零输入极限环振荡</a:t>
            </a:r>
          </a:p>
        </p:txBody>
      </p:sp>
      <p:pic>
        <p:nvPicPr>
          <p:cNvPr id="7" name="Picture 5" descr="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7214" y="2852936"/>
            <a:ext cx="6210618" cy="3316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6"/>
          <p:cNvGraphicFramePr>
            <a:graphicFrameLocks noChangeAspect="1"/>
          </p:cNvGraphicFramePr>
          <p:nvPr>
            <p:extLst>
              <p:ext uri="{D42A27DB-BD31-4B8C-83A1-F6EECF244321}">
                <p14:modId xmlns:p14="http://schemas.microsoft.com/office/powerpoint/2010/main" val="1643981490"/>
              </p:ext>
            </p:extLst>
          </p:nvPr>
        </p:nvGraphicFramePr>
        <p:xfrm>
          <a:off x="4072243" y="1902838"/>
          <a:ext cx="726125" cy="474773"/>
        </p:xfrm>
        <a:graphic>
          <a:graphicData uri="http://schemas.openxmlformats.org/presentationml/2006/ole">
            <mc:AlternateContent xmlns:mc="http://schemas.openxmlformats.org/markup-compatibility/2006">
              <mc:Choice xmlns:v="urn:schemas-microsoft-com:vml" Requires="v">
                <p:oleObj name="Equation" r:id="rId3" imgW="330057" imgH="215806" progId="Equation.DSMT4">
                  <p:embed/>
                </p:oleObj>
              </mc:Choice>
              <mc:Fallback>
                <p:oleObj name="Equation" r:id="rId3" imgW="330057" imgH="215806" progId="Equation.DSMT4">
                  <p:embed/>
                  <p:pic>
                    <p:nvPicPr>
                      <p:cNvPr id="1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2243" y="1902838"/>
                        <a:ext cx="726125" cy="474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3"/>
          <p:cNvSpPr>
            <a:spLocks noChangeArrowheads="1"/>
          </p:cNvSpPr>
          <p:nvPr/>
        </p:nvSpPr>
        <p:spPr bwMode="auto">
          <a:xfrm>
            <a:off x="755576" y="228600"/>
            <a:ext cx="5292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6.4.1  </a:t>
            </a:r>
            <a:r>
              <a:rPr lang="zh-CN" altLang="en-US" sz="3200" b="1" dirty="0">
                <a:solidFill>
                  <a:srgbClr val="993300"/>
                </a:solidFill>
                <a:ea typeface="楷体_GB2312" pitchFamily="49" charset="-122"/>
              </a:rPr>
              <a:t>零输入极限环振荡</a:t>
            </a:r>
          </a:p>
        </p:txBody>
      </p:sp>
    </p:spTree>
    <p:extLst>
      <p:ext uri="{BB962C8B-B14F-4D97-AF65-F5344CB8AC3E}">
        <p14:creationId xmlns:p14="http://schemas.microsoft.com/office/powerpoint/2010/main" val="10650089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971600" y="836712"/>
            <a:ext cx="4176464" cy="54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lnSpc>
                <a:spcPct val="115000"/>
              </a:lnSpc>
              <a:spcBef>
                <a:spcPct val="0"/>
              </a:spcBef>
              <a:spcAft>
                <a:spcPct val="50000"/>
              </a:spcAft>
              <a:buFontTx/>
              <a:buNone/>
            </a:pPr>
            <a:r>
              <a:rPr lang="zh-CN" altLang="en-US" sz="2800" dirty="0">
                <a:latin typeface="Times New Roman" panose="02020603050405020304" pitchFamily="18" charset="0"/>
                <a:ea typeface="宋体" panose="02010600030101010101" pitchFamily="2" charset="-122"/>
              </a:rPr>
              <a:t>振荡产生的原因：</a:t>
            </a:r>
          </a:p>
        </p:txBody>
      </p:sp>
      <p:graphicFrame>
        <p:nvGraphicFramePr>
          <p:cNvPr id="4" name="Object 3"/>
          <p:cNvGraphicFramePr>
            <a:graphicFrameLocks noChangeAspect="1"/>
          </p:cNvGraphicFramePr>
          <p:nvPr>
            <p:extLst>
              <p:ext uri="{D42A27DB-BD31-4B8C-83A1-F6EECF244321}">
                <p14:modId xmlns:p14="http://schemas.microsoft.com/office/powerpoint/2010/main" val="4273937383"/>
              </p:ext>
            </p:extLst>
          </p:nvPr>
        </p:nvGraphicFramePr>
        <p:xfrm>
          <a:off x="2987824" y="1898975"/>
          <a:ext cx="2570040" cy="474408"/>
        </p:xfrm>
        <a:graphic>
          <a:graphicData uri="http://schemas.openxmlformats.org/presentationml/2006/ole">
            <mc:AlternateContent xmlns:mc="http://schemas.openxmlformats.org/markup-compatibility/2006">
              <mc:Choice xmlns:v="urn:schemas-microsoft-com:vml" Requires="v">
                <p:oleObj name="Equation" r:id="rId2" imgW="1168200" imgH="215640" progId="Equation.DSMT4">
                  <p:embed/>
                </p:oleObj>
              </mc:Choice>
              <mc:Fallback>
                <p:oleObj name="Equation" r:id="rId2" imgW="1168200" imgH="215640" progId="Equation.DSMT4">
                  <p:embed/>
                  <p:pic>
                    <p:nvPicPr>
                      <p:cNvPr id="156675" name="Object 3"/>
                      <p:cNvPicPr>
                        <a:picLocks noChangeAspect="1" noChangeArrowheads="1"/>
                      </p:cNvPicPr>
                      <p:nvPr/>
                    </p:nvPicPr>
                    <p:blipFill>
                      <a:blip r:embed="rId3"/>
                      <a:srcRect/>
                      <a:stretch>
                        <a:fillRect/>
                      </a:stretch>
                    </p:blipFill>
                    <p:spPr bwMode="auto">
                      <a:xfrm>
                        <a:off x="2987824" y="1898975"/>
                        <a:ext cx="2570040" cy="474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141797178"/>
              </p:ext>
            </p:extLst>
          </p:nvPr>
        </p:nvGraphicFramePr>
        <p:xfrm>
          <a:off x="469840" y="1906208"/>
          <a:ext cx="2262744" cy="474408"/>
        </p:xfrm>
        <a:graphic>
          <a:graphicData uri="http://schemas.openxmlformats.org/presentationml/2006/ole">
            <mc:AlternateContent xmlns:mc="http://schemas.openxmlformats.org/markup-compatibility/2006">
              <mc:Choice xmlns:v="urn:schemas-microsoft-com:vml" Requires="v">
                <p:oleObj name="Equation" r:id="rId4" imgW="1028520" imgH="215640" progId="Equation.DSMT4">
                  <p:embed/>
                </p:oleObj>
              </mc:Choice>
              <mc:Fallback>
                <p:oleObj name="Equation" r:id="rId4" imgW="1028520" imgH="215640" progId="Equation.DSMT4">
                  <p:embed/>
                  <p:pic>
                    <p:nvPicPr>
                      <p:cNvPr id="156676" name="Object 4"/>
                      <p:cNvPicPr>
                        <a:picLocks noChangeAspect="1" noChangeArrowheads="1"/>
                      </p:cNvPicPr>
                      <p:nvPr/>
                    </p:nvPicPr>
                    <p:blipFill>
                      <a:blip r:embed="rId5"/>
                      <a:srcRect/>
                      <a:stretch>
                        <a:fillRect/>
                      </a:stretch>
                    </p:blipFill>
                    <p:spPr bwMode="auto">
                      <a:xfrm>
                        <a:off x="469840" y="1906208"/>
                        <a:ext cx="2262744" cy="474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2152768724"/>
              </p:ext>
            </p:extLst>
          </p:nvPr>
        </p:nvGraphicFramePr>
        <p:xfrm>
          <a:off x="5868144" y="1863795"/>
          <a:ext cx="2765664" cy="502920"/>
        </p:xfrm>
        <a:graphic>
          <a:graphicData uri="http://schemas.openxmlformats.org/presentationml/2006/ole">
            <mc:AlternateContent xmlns:mc="http://schemas.openxmlformats.org/markup-compatibility/2006">
              <mc:Choice xmlns:v="urn:schemas-microsoft-com:vml" Requires="v">
                <p:oleObj name="Equation" r:id="rId6" imgW="1257120" imgH="228600" progId="Equation.DSMT4">
                  <p:embed/>
                </p:oleObj>
              </mc:Choice>
              <mc:Fallback>
                <p:oleObj name="Equation" r:id="rId6" imgW="1257120" imgH="228600" progId="Equation.DSMT4">
                  <p:embed/>
                  <p:pic>
                    <p:nvPicPr>
                      <p:cNvPr id="156677" name="Object 5"/>
                      <p:cNvPicPr>
                        <a:picLocks noChangeAspect="1" noChangeArrowheads="1"/>
                      </p:cNvPicPr>
                      <p:nvPr/>
                    </p:nvPicPr>
                    <p:blipFill>
                      <a:blip r:embed="rId7"/>
                      <a:srcRect/>
                      <a:stretch>
                        <a:fillRect/>
                      </a:stretch>
                    </p:blipFill>
                    <p:spPr bwMode="auto">
                      <a:xfrm>
                        <a:off x="5868144" y="1863795"/>
                        <a:ext cx="2765664"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矩形 8"/>
          <p:cNvSpPr/>
          <p:nvPr/>
        </p:nvSpPr>
        <p:spPr>
          <a:xfrm>
            <a:off x="4850884" y="1340768"/>
            <a:ext cx="1377300" cy="523220"/>
          </a:xfrm>
          <a:prstGeom prst="rect">
            <a:avLst/>
          </a:prstGeom>
        </p:spPr>
        <p:txBody>
          <a:bodyPr wrap="none">
            <a:spAutoFit/>
          </a:bodyPr>
          <a:lstStyle/>
          <a:p>
            <a:r>
              <a:rPr lang="en-US" altLang="zh-CN" sz="2800" b="1" i="1" dirty="0">
                <a:solidFill>
                  <a:srgbClr val="000000"/>
                </a:solidFill>
                <a:latin typeface="Times New Roman" panose="02020603050405020304" pitchFamily="18" charset="0"/>
              </a:rPr>
              <a:t>a</a:t>
            </a:r>
            <a:r>
              <a:rPr lang="en-US" altLang="zh-CN" sz="2800" b="1" dirty="0">
                <a:solidFill>
                  <a:srgbClr val="000000"/>
                </a:solidFill>
                <a:latin typeface="Times New Roman" panose="02020603050405020304" pitchFamily="18" charset="0"/>
              </a:rPr>
              <a:t>=0.100</a:t>
            </a:r>
            <a:endParaRPr lang="zh-CN" altLang="en-US" dirty="0"/>
          </a:p>
        </p:txBody>
      </p:sp>
      <p:sp>
        <p:nvSpPr>
          <p:cNvPr id="11" name="矩形 10"/>
          <p:cNvSpPr/>
          <p:nvPr/>
        </p:nvSpPr>
        <p:spPr>
          <a:xfrm>
            <a:off x="5868144" y="2367851"/>
            <a:ext cx="3528392" cy="1534779"/>
          </a:xfrm>
          <a:prstGeom prst="rect">
            <a:avLst/>
          </a:prstGeom>
        </p:spPr>
        <p:txBody>
          <a:bodyPr wrap="square">
            <a:spAutoFit/>
          </a:bodyPr>
          <a:lstStyle/>
          <a:p>
            <a:pPr lvl="0" algn="just">
              <a:lnSpc>
                <a:spcPct val="115000"/>
              </a:lnSpc>
              <a:spcAft>
                <a:spcPts val="0"/>
              </a:spcAft>
            </a:pPr>
            <a:r>
              <a:rPr lang="zh-CN" altLang="en-US" sz="2800" b="1" dirty="0">
                <a:solidFill>
                  <a:srgbClr val="000000"/>
                </a:solidFill>
                <a:latin typeface="Times New Roman" panose="02020603050405020304" pitchFamily="18" charset="0"/>
              </a:rPr>
              <a:t>经舍入处理后与</a:t>
            </a:r>
            <a:endParaRPr lang="en-US" altLang="zh-CN" sz="2800" b="1" dirty="0">
              <a:solidFill>
                <a:srgbClr val="000000"/>
              </a:solidFill>
              <a:latin typeface="Times New Roman" panose="02020603050405020304" pitchFamily="18" charset="0"/>
            </a:endParaRPr>
          </a:p>
          <a:p>
            <a:pPr lvl="0" algn="just">
              <a:lnSpc>
                <a:spcPct val="115000"/>
              </a:lnSpc>
              <a:spcAft>
                <a:spcPts val="0"/>
              </a:spcAft>
            </a:pPr>
            <a:r>
              <a:rPr lang="zh-CN" altLang="en-US" sz="2800" b="1" dirty="0">
                <a:solidFill>
                  <a:srgbClr val="000000"/>
                </a:solidFill>
                <a:latin typeface="Times New Roman" panose="02020603050405020304" pitchFamily="18" charset="0"/>
              </a:rPr>
              <a:t>            的值相同，</a:t>
            </a:r>
            <a:endParaRPr lang="en-US" altLang="zh-CN" sz="2800" b="1" dirty="0">
              <a:solidFill>
                <a:srgbClr val="000000"/>
              </a:solidFill>
              <a:latin typeface="Times New Roman" panose="02020603050405020304" pitchFamily="18" charset="0"/>
            </a:endParaRPr>
          </a:p>
          <a:p>
            <a:pPr lvl="0" algn="just">
              <a:lnSpc>
                <a:spcPct val="115000"/>
              </a:lnSpc>
              <a:spcAft>
                <a:spcPts val="0"/>
              </a:spcAft>
            </a:pPr>
            <a:r>
              <a:rPr lang="zh-CN" altLang="en-US" sz="2800" b="1" dirty="0">
                <a:solidFill>
                  <a:srgbClr val="000000"/>
                </a:solidFill>
                <a:latin typeface="Times New Roman" panose="02020603050405020304" pitchFamily="18" charset="0"/>
              </a:rPr>
              <a:t>因此输出保持不变。</a:t>
            </a:r>
          </a:p>
        </p:txBody>
      </p:sp>
      <p:sp>
        <p:nvSpPr>
          <p:cNvPr id="13" name="矩形 12"/>
          <p:cNvSpPr/>
          <p:nvPr/>
        </p:nvSpPr>
        <p:spPr>
          <a:xfrm>
            <a:off x="971600" y="1356450"/>
            <a:ext cx="3969356" cy="587853"/>
          </a:xfrm>
          <a:prstGeom prst="rect">
            <a:avLst/>
          </a:prstGeom>
        </p:spPr>
        <p:txBody>
          <a:bodyPr wrap="none">
            <a:spAutoFit/>
          </a:bodyPr>
          <a:lstStyle/>
          <a:p>
            <a:pPr lvl="0" algn="just">
              <a:lnSpc>
                <a:spcPct val="115000"/>
              </a:lnSpc>
              <a:spcAft>
                <a:spcPct val="50000"/>
              </a:spcAft>
            </a:pPr>
            <a:r>
              <a:rPr lang="zh-CN" altLang="en-US" sz="2800" b="1" dirty="0">
                <a:solidFill>
                  <a:srgbClr val="000000"/>
                </a:solidFill>
                <a:latin typeface="Times New Roman" panose="02020603050405020304" pitchFamily="18" charset="0"/>
              </a:rPr>
              <a:t>观察 表</a:t>
            </a:r>
            <a:r>
              <a:rPr lang="en-US" altLang="zh-CN" sz="2800" b="1" dirty="0">
                <a:solidFill>
                  <a:srgbClr val="000000"/>
                </a:solidFill>
                <a:latin typeface="Times New Roman" panose="02020603050405020304" pitchFamily="18" charset="0"/>
              </a:rPr>
              <a:t>6.1</a:t>
            </a:r>
            <a:r>
              <a:rPr lang="zh-CN" altLang="en-US" sz="2800" b="1" dirty="0">
                <a:solidFill>
                  <a:srgbClr val="000000"/>
                </a:solidFill>
                <a:latin typeface="Times New Roman" panose="02020603050405020304" pitchFamily="18" charset="0"/>
              </a:rPr>
              <a:t>的最后一行，</a:t>
            </a:r>
            <a:endParaRPr lang="en-US" altLang="zh-CN" sz="2800" b="1" dirty="0">
              <a:solidFill>
                <a:srgbClr val="000000"/>
              </a:solidFill>
              <a:latin typeface="Times New Roman" panose="02020603050405020304" pitchFamily="18" charset="0"/>
            </a:endParaRPr>
          </a:p>
        </p:txBody>
      </p:sp>
      <p:graphicFrame>
        <p:nvGraphicFramePr>
          <p:cNvPr id="14" name="Object 4"/>
          <p:cNvGraphicFramePr>
            <a:graphicFrameLocks noChangeAspect="1"/>
          </p:cNvGraphicFramePr>
          <p:nvPr>
            <p:extLst>
              <p:ext uri="{D42A27DB-BD31-4B8C-83A1-F6EECF244321}">
                <p14:modId xmlns:p14="http://schemas.microsoft.com/office/powerpoint/2010/main" val="205923183"/>
              </p:ext>
            </p:extLst>
          </p:nvPr>
        </p:nvGraphicFramePr>
        <p:xfrm>
          <a:off x="5868144" y="2937472"/>
          <a:ext cx="1173162" cy="473075"/>
        </p:xfrm>
        <a:graphic>
          <a:graphicData uri="http://schemas.openxmlformats.org/presentationml/2006/ole">
            <mc:AlternateContent xmlns:mc="http://schemas.openxmlformats.org/markup-compatibility/2006">
              <mc:Choice xmlns:v="urn:schemas-microsoft-com:vml" Requires="v">
                <p:oleObj name="Equation" r:id="rId8" imgW="533160" imgH="215640" progId="Equation.DSMT4">
                  <p:embed/>
                </p:oleObj>
              </mc:Choice>
              <mc:Fallback>
                <p:oleObj name="Equation" r:id="rId8" imgW="533160" imgH="215640" progId="Equation.DSMT4">
                  <p:embed/>
                  <p:pic>
                    <p:nvPicPr>
                      <p:cNvPr id="5" name="Object 4"/>
                      <p:cNvPicPr>
                        <a:picLocks noChangeAspect="1" noChangeArrowheads="1"/>
                      </p:cNvPicPr>
                      <p:nvPr/>
                    </p:nvPicPr>
                    <p:blipFill>
                      <a:blip r:embed="rId9"/>
                      <a:srcRect/>
                      <a:stretch>
                        <a:fillRect/>
                      </a:stretch>
                    </p:blipFill>
                    <p:spPr bwMode="auto">
                      <a:xfrm>
                        <a:off x="5868144" y="2937472"/>
                        <a:ext cx="1173162"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矩形 15"/>
          <p:cNvSpPr/>
          <p:nvPr/>
        </p:nvSpPr>
        <p:spPr>
          <a:xfrm>
            <a:off x="450475" y="4096043"/>
            <a:ext cx="1988045"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可解释为当</a:t>
            </a:r>
            <a:endParaRPr lang="zh-CN" altLang="en-US" b="1" dirty="0"/>
          </a:p>
        </p:txBody>
      </p:sp>
      <p:graphicFrame>
        <p:nvGraphicFramePr>
          <p:cNvPr id="17" name="Object 5"/>
          <p:cNvGraphicFramePr>
            <a:graphicFrameLocks noChangeAspect="1"/>
          </p:cNvGraphicFramePr>
          <p:nvPr>
            <p:extLst>
              <p:ext uri="{D42A27DB-BD31-4B8C-83A1-F6EECF244321}">
                <p14:modId xmlns:p14="http://schemas.microsoft.com/office/powerpoint/2010/main" val="2671357100"/>
              </p:ext>
            </p:extLst>
          </p:nvPr>
        </p:nvGraphicFramePr>
        <p:xfrm>
          <a:off x="2437110" y="4116507"/>
          <a:ext cx="3575050" cy="503238"/>
        </p:xfrm>
        <a:graphic>
          <a:graphicData uri="http://schemas.openxmlformats.org/presentationml/2006/ole">
            <mc:AlternateContent xmlns:mc="http://schemas.openxmlformats.org/markup-compatibility/2006">
              <mc:Choice xmlns:v="urn:schemas-microsoft-com:vml" Requires="v">
                <p:oleObj name="Equation" r:id="rId10" imgW="1625400" imgH="228600" progId="Equation.DSMT4">
                  <p:embed/>
                </p:oleObj>
              </mc:Choice>
              <mc:Fallback>
                <p:oleObj name="Equation" r:id="rId10" imgW="1625400" imgH="228600" progId="Equation.DSMT4">
                  <p:embed/>
                  <p:pic>
                    <p:nvPicPr>
                      <p:cNvPr id="7" name="Object 5"/>
                      <p:cNvPicPr>
                        <a:picLocks noChangeAspect="1" noChangeArrowheads="1"/>
                      </p:cNvPicPr>
                      <p:nvPr/>
                    </p:nvPicPr>
                    <p:blipFill>
                      <a:blip r:embed="rId11"/>
                      <a:srcRect/>
                      <a:stretch>
                        <a:fillRect/>
                      </a:stretch>
                    </p:blipFill>
                    <p:spPr bwMode="auto">
                      <a:xfrm>
                        <a:off x="2437110" y="4116507"/>
                        <a:ext cx="3575050"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矩形 18"/>
          <p:cNvSpPr/>
          <p:nvPr/>
        </p:nvSpPr>
        <p:spPr>
          <a:xfrm>
            <a:off x="6012160" y="4096043"/>
            <a:ext cx="906017"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时，</a:t>
            </a:r>
            <a:endParaRPr lang="zh-CN" altLang="en-US" b="1" dirty="0"/>
          </a:p>
        </p:txBody>
      </p:sp>
      <p:sp>
        <p:nvSpPr>
          <p:cNvPr id="21" name="矩形 20"/>
          <p:cNvSpPr/>
          <p:nvPr/>
        </p:nvSpPr>
        <p:spPr>
          <a:xfrm>
            <a:off x="450475" y="4654104"/>
            <a:ext cx="8183333" cy="1114664"/>
          </a:xfrm>
          <a:prstGeom prst="rect">
            <a:avLst/>
          </a:prstGeom>
        </p:spPr>
        <p:txBody>
          <a:bodyPr wrap="square">
            <a:spAutoFit/>
          </a:bodyPr>
          <a:lstStyle/>
          <a:p>
            <a:pPr>
              <a:lnSpc>
                <a:spcPct val="125000"/>
              </a:lnSpc>
            </a:pPr>
            <a:r>
              <a:rPr lang="zh-CN" altLang="en-US" sz="2800" b="1" dirty="0">
                <a:solidFill>
                  <a:srgbClr val="000000"/>
                </a:solidFill>
                <a:latin typeface="Times New Roman" panose="02020603050405020304" pitchFamily="18" charset="0"/>
                <a:cs typeface="Times New Roman" panose="02020603050405020304" pitchFamily="18" charset="0"/>
              </a:rPr>
              <a:t>舍入处理使</a:t>
            </a:r>
            <a:r>
              <a:rPr kumimoji="1" lang="zh-CN" altLang="en-US" sz="2800" b="1" dirty="0">
                <a:solidFill>
                  <a:srgbClr val="000000"/>
                </a:solidFill>
                <a:latin typeface="Times New Roman" panose="02020603050405020304" pitchFamily="18" charset="0"/>
                <a:cs typeface="Times New Roman" panose="02020603050405020304" pitchFamily="18" charset="0"/>
              </a:rPr>
              <a:t>系数 </a:t>
            </a:r>
            <a:r>
              <a:rPr kumimoji="1" lang="en-US" altLang="zh-CN" sz="2800" b="1" i="1" dirty="0">
                <a:solidFill>
                  <a:srgbClr val="000000"/>
                </a:solidFill>
                <a:latin typeface="Times New Roman" panose="02020603050405020304" pitchFamily="18" charset="0"/>
                <a:cs typeface="Times New Roman" panose="02020603050405020304" pitchFamily="18" charset="0"/>
              </a:rPr>
              <a:t>a</a:t>
            </a:r>
            <a:r>
              <a:rPr kumimoji="1" lang="en-US" altLang="zh-CN" sz="2800" b="1" dirty="0">
                <a:solidFill>
                  <a:srgbClr val="000000"/>
                </a:solidFill>
                <a:latin typeface="Times New Roman" panose="02020603050405020304" pitchFamily="18" charset="0"/>
                <a:cs typeface="Times New Roman" panose="02020603050405020304" pitchFamily="18" charset="0"/>
              </a:rPr>
              <a:t> </a:t>
            </a:r>
            <a:r>
              <a:rPr kumimoji="1" lang="zh-CN" altLang="en-US" sz="2800" b="1" dirty="0">
                <a:solidFill>
                  <a:srgbClr val="000000"/>
                </a:solidFill>
                <a:latin typeface="Times New Roman" panose="02020603050405020304" pitchFamily="18" charset="0"/>
                <a:cs typeface="Times New Roman" panose="02020603050405020304" pitchFamily="18" charset="0"/>
              </a:rPr>
              <a:t>失效，或者说相当于将 </a:t>
            </a:r>
            <a:r>
              <a:rPr kumimoji="1" lang="en-US" altLang="zh-CN" sz="2800" b="1" i="1" dirty="0">
                <a:solidFill>
                  <a:srgbClr val="000000"/>
                </a:solidFill>
                <a:latin typeface="Times New Roman" panose="02020603050405020304" pitchFamily="18" charset="0"/>
                <a:cs typeface="Times New Roman" panose="02020603050405020304" pitchFamily="18" charset="0"/>
              </a:rPr>
              <a:t>a </a:t>
            </a:r>
            <a:r>
              <a:rPr kumimoji="1" lang="zh-CN" altLang="en-US" sz="2800" b="1" dirty="0">
                <a:solidFill>
                  <a:srgbClr val="000000"/>
                </a:solidFill>
                <a:latin typeface="Times New Roman" panose="02020603050405020304" pitchFamily="18" charset="0"/>
                <a:cs typeface="Times New Roman" panose="02020603050405020304" pitchFamily="18" charset="0"/>
              </a:rPr>
              <a:t>换成了一个绝对值为</a:t>
            </a:r>
            <a:r>
              <a:rPr kumimoji="1" lang="en-US" altLang="zh-CN" sz="2800" b="1" dirty="0">
                <a:solidFill>
                  <a:srgbClr val="000000"/>
                </a:solidFill>
                <a:latin typeface="Times New Roman" panose="02020603050405020304" pitchFamily="18" charset="0"/>
                <a:cs typeface="Times New Roman" panose="02020603050405020304" pitchFamily="18" charset="0"/>
              </a:rPr>
              <a:t>1</a:t>
            </a:r>
            <a:r>
              <a:rPr kumimoji="1" lang="zh-CN" altLang="en-US" sz="2800" b="1" dirty="0">
                <a:solidFill>
                  <a:srgbClr val="000000"/>
                </a:solidFill>
                <a:latin typeface="Times New Roman" panose="02020603050405020304" pitchFamily="18" charset="0"/>
                <a:cs typeface="Times New Roman" panose="02020603050405020304" pitchFamily="18" charset="0"/>
              </a:rPr>
              <a:t>的等效系数，</a:t>
            </a:r>
            <a:endParaRPr lang="zh-CN" altLang="en-US" b="1" dirty="0">
              <a:latin typeface="Times New Roman" panose="02020603050405020304" pitchFamily="18" charset="0"/>
              <a:cs typeface="Times New Roman" panose="02020603050405020304" pitchFamily="18" charset="0"/>
            </a:endParaRPr>
          </a:p>
        </p:txBody>
      </p:sp>
      <p:graphicFrame>
        <p:nvGraphicFramePr>
          <p:cNvPr id="22" name="Object 4"/>
          <p:cNvGraphicFramePr>
            <a:graphicFrameLocks noChangeAspect="1"/>
          </p:cNvGraphicFramePr>
          <p:nvPr>
            <p:extLst>
              <p:ext uri="{D42A27DB-BD31-4B8C-83A1-F6EECF244321}">
                <p14:modId xmlns:p14="http://schemas.microsoft.com/office/powerpoint/2010/main" val="2338314137"/>
              </p:ext>
            </p:extLst>
          </p:nvPr>
        </p:nvGraphicFramePr>
        <p:xfrm>
          <a:off x="4878388" y="5070843"/>
          <a:ext cx="2149475" cy="893762"/>
        </p:xfrm>
        <a:graphic>
          <a:graphicData uri="http://schemas.openxmlformats.org/presentationml/2006/ole">
            <mc:AlternateContent xmlns:mc="http://schemas.openxmlformats.org/markup-compatibility/2006">
              <mc:Choice xmlns:v="urn:schemas-microsoft-com:vml" Requires="v">
                <p:oleObj name="Equation" r:id="rId12" imgW="977760" imgH="406080" progId="Equation.DSMT4">
                  <p:embed/>
                </p:oleObj>
              </mc:Choice>
              <mc:Fallback>
                <p:oleObj name="Equation" r:id="rId12" imgW="977760" imgH="406080" progId="Equation.DSMT4">
                  <p:embed/>
                  <p:pic>
                    <p:nvPicPr>
                      <p:cNvPr id="11" name="Object 4"/>
                      <p:cNvPicPr>
                        <a:picLocks noChangeAspect="1" noChangeArrowheads="1"/>
                      </p:cNvPicPr>
                      <p:nvPr/>
                    </p:nvPicPr>
                    <p:blipFill>
                      <a:blip r:embed="rId13"/>
                      <a:srcRect/>
                      <a:stretch>
                        <a:fillRect/>
                      </a:stretch>
                    </p:blipFill>
                    <p:spPr bwMode="auto">
                      <a:xfrm>
                        <a:off x="4878388" y="5070843"/>
                        <a:ext cx="2149475" cy="893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矩形 22"/>
          <p:cNvSpPr/>
          <p:nvPr/>
        </p:nvSpPr>
        <p:spPr>
          <a:xfrm>
            <a:off x="434344" y="5959831"/>
            <a:ext cx="8674160" cy="587853"/>
          </a:xfrm>
          <a:prstGeom prst="rect">
            <a:avLst/>
          </a:prstGeom>
        </p:spPr>
        <p:txBody>
          <a:bodyPr wrap="square">
            <a:spAutoFit/>
          </a:bodyPr>
          <a:lstStyle/>
          <a:p>
            <a:pPr algn="just">
              <a:lnSpc>
                <a:spcPct val="115000"/>
              </a:lnSpc>
              <a:spcAft>
                <a:spcPct val="50000"/>
              </a:spcAft>
            </a:pPr>
            <a:r>
              <a:rPr lang="zh-CN" altLang="en-US" sz="2800" b="1" dirty="0">
                <a:solidFill>
                  <a:srgbClr val="0000CC"/>
                </a:solidFill>
                <a:latin typeface="Times New Roman" panose="02020603050405020304" pitchFamily="18" charset="0"/>
              </a:rPr>
              <a:t>极点等效迁移到单位圆上</a:t>
            </a:r>
            <a:r>
              <a:rPr lang="zh-CN" altLang="en-US" sz="2800" b="1" dirty="0">
                <a:solidFill>
                  <a:srgbClr val="000000"/>
                </a:solidFill>
                <a:latin typeface="Times New Roman" panose="02020603050405020304" pitchFamily="18" charset="0"/>
              </a:rPr>
              <a:t>，系统失去稳定，出现振荡</a:t>
            </a:r>
          </a:p>
        </p:txBody>
      </p:sp>
      <p:sp>
        <p:nvSpPr>
          <p:cNvPr id="18" name="Rectangle 3"/>
          <p:cNvSpPr>
            <a:spLocks noChangeArrowheads="1"/>
          </p:cNvSpPr>
          <p:nvPr/>
        </p:nvSpPr>
        <p:spPr bwMode="auto">
          <a:xfrm>
            <a:off x="755576" y="228600"/>
            <a:ext cx="5292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6.4.1  </a:t>
            </a:r>
            <a:r>
              <a:rPr lang="zh-CN" altLang="en-US" sz="3200" b="1" dirty="0">
                <a:solidFill>
                  <a:srgbClr val="993300"/>
                </a:solidFill>
                <a:ea typeface="楷体_GB2312" pitchFamily="49" charset="-122"/>
              </a:rPr>
              <a:t>零输入极限环振荡</a:t>
            </a:r>
          </a:p>
        </p:txBody>
      </p:sp>
    </p:spTree>
    <p:extLst>
      <p:ext uri="{BB962C8B-B14F-4D97-AF65-F5344CB8AC3E}">
        <p14:creationId xmlns:p14="http://schemas.microsoft.com/office/powerpoint/2010/main" val="131664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1" grpId="0"/>
      <p:bldP spid="2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467544" y="1052736"/>
            <a:ext cx="8458200" cy="508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10000"/>
              </a:lnSpc>
              <a:spcBef>
                <a:spcPct val="0"/>
              </a:spcBef>
              <a:buFontTx/>
              <a:buNone/>
            </a:pPr>
            <a:r>
              <a:rPr lang="zh-CN" altLang="en-US" sz="2800" dirty="0">
                <a:solidFill>
                  <a:schemeClr val="tx2"/>
                </a:solidFill>
                <a:latin typeface="宋体" panose="02010600030101010101" pitchFamily="2" charset="-122"/>
                <a:ea typeface="宋体" panose="02010600030101010101" pitchFamily="2" charset="-122"/>
              </a:rPr>
              <a:t>极限环振荡幅度与字长的关系：</a:t>
            </a:r>
          </a:p>
        </p:txBody>
      </p:sp>
      <p:graphicFrame>
        <p:nvGraphicFramePr>
          <p:cNvPr id="4" name="Object 3"/>
          <p:cNvGraphicFramePr>
            <a:graphicFrameLocks noChangeAspect="1"/>
          </p:cNvGraphicFramePr>
          <p:nvPr>
            <p:extLst>
              <p:ext uri="{D42A27DB-BD31-4B8C-83A1-F6EECF244321}">
                <p14:modId xmlns:p14="http://schemas.microsoft.com/office/powerpoint/2010/main" val="3310662050"/>
              </p:ext>
            </p:extLst>
          </p:nvPr>
        </p:nvGraphicFramePr>
        <p:xfrm>
          <a:off x="1990725" y="1557338"/>
          <a:ext cx="4586288" cy="904875"/>
        </p:xfrm>
        <a:graphic>
          <a:graphicData uri="http://schemas.openxmlformats.org/presentationml/2006/ole">
            <mc:AlternateContent xmlns:mc="http://schemas.openxmlformats.org/markup-compatibility/2006">
              <mc:Choice xmlns:v="urn:schemas-microsoft-com:vml" Requires="v">
                <p:oleObj name="Equation" r:id="rId2" imgW="1993680" imgH="393480" progId="Equation.DSMT4">
                  <p:embed/>
                </p:oleObj>
              </mc:Choice>
              <mc:Fallback>
                <p:oleObj name="Equation" r:id="rId2" imgW="1993680" imgH="393480" progId="Equation.DSMT4">
                  <p:embed/>
                  <p:pic>
                    <p:nvPicPr>
                      <p:cNvPr id="158723" name="Object 3"/>
                      <p:cNvPicPr>
                        <a:picLocks noChangeAspect="1" noChangeArrowheads="1"/>
                      </p:cNvPicPr>
                      <p:nvPr/>
                    </p:nvPicPr>
                    <p:blipFill>
                      <a:blip r:embed="rId3"/>
                      <a:srcRect/>
                      <a:stretch>
                        <a:fillRect/>
                      </a:stretch>
                    </p:blipFill>
                    <p:spPr bwMode="auto">
                      <a:xfrm>
                        <a:off x="1990725" y="1557338"/>
                        <a:ext cx="4586288"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459104005"/>
              </p:ext>
            </p:extLst>
          </p:nvPr>
        </p:nvGraphicFramePr>
        <p:xfrm>
          <a:off x="2123728" y="3270746"/>
          <a:ext cx="2801938" cy="1022350"/>
        </p:xfrm>
        <a:graphic>
          <a:graphicData uri="http://schemas.openxmlformats.org/presentationml/2006/ole">
            <mc:AlternateContent xmlns:mc="http://schemas.openxmlformats.org/markup-compatibility/2006">
              <mc:Choice xmlns:v="urn:schemas-microsoft-com:vml" Requires="v">
                <p:oleObj name="Equation" r:id="rId4" imgW="1218960" imgH="444240" progId="Equation.DSMT4">
                  <p:embed/>
                </p:oleObj>
              </mc:Choice>
              <mc:Fallback>
                <p:oleObj name="Equation" r:id="rId4" imgW="1218960" imgH="444240" progId="Equation.DSMT4">
                  <p:embed/>
                  <p:pic>
                    <p:nvPicPr>
                      <p:cNvPr id="152580" name="Object 4"/>
                      <p:cNvPicPr>
                        <a:picLocks noChangeAspect="1" noChangeArrowheads="1"/>
                      </p:cNvPicPr>
                      <p:nvPr/>
                    </p:nvPicPr>
                    <p:blipFill>
                      <a:blip r:embed="rId5"/>
                      <a:srcRect/>
                      <a:stretch>
                        <a:fillRect/>
                      </a:stretch>
                    </p:blipFill>
                    <p:spPr bwMode="auto">
                      <a:xfrm>
                        <a:off x="2123728" y="3270746"/>
                        <a:ext cx="2801938"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矩形 7"/>
          <p:cNvSpPr/>
          <p:nvPr/>
        </p:nvSpPr>
        <p:spPr>
          <a:xfrm>
            <a:off x="-36512" y="2484122"/>
            <a:ext cx="2810385" cy="656846"/>
          </a:xfrm>
          <a:prstGeom prst="rect">
            <a:avLst/>
          </a:prstGeom>
        </p:spPr>
        <p:txBody>
          <a:bodyPr wrap="none">
            <a:spAutoFit/>
          </a:bodyPr>
          <a:lstStyle/>
          <a:p>
            <a:pPr lvl="1">
              <a:lnSpc>
                <a:spcPct val="150000"/>
              </a:lnSpc>
            </a:pPr>
            <a:r>
              <a:rPr lang="zh-CN" altLang="en-US" sz="2800" b="1" dirty="0">
                <a:solidFill>
                  <a:srgbClr val="000000"/>
                </a:solidFill>
                <a:latin typeface="Times New Roman" panose="02020603050405020304" pitchFamily="18" charset="0"/>
              </a:rPr>
              <a:t>极限环振荡时</a:t>
            </a:r>
          </a:p>
        </p:txBody>
      </p:sp>
      <p:graphicFrame>
        <p:nvGraphicFramePr>
          <p:cNvPr id="10" name="Object 5"/>
          <p:cNvGraphicFramePr>
            <a:graphicFrameLocks noChangeAspect="1"/>
          </p:cNvGraphicFramePr>
          <p:nvPr>
            <p:extLst>
              <p:ext uri="{D42A27DB-BD31-4B8C-83A1-F6EECF244321}">
                <p14:modId xmlns:p14="http://schemas.microsoft.com/office/powerpoint/2010/main" val="4102818201"/>
              </p:ext>
            </p:extLst>
          </p:nvPr>
        </p:nvGraphicFramePr>
        <p:xfrm>
          <a:off x="2887415" y="2633676"/>
          <a:ext cx="3575050" cy="503238"/>
        </p:xfrm>
        <a:graphic>
          <a:graphicData uri="http://schemas.openxmlformats.org/presentationml/2006/ole">
            <mc:AlternateContent xmlns:mc="http://schemas.openxmlformats.org/markup-compatibility/2006">
              <mc:Choice xmlns:v="urn:schemas-microsoft-com:vml" Requires="v">
                <p:oleObj name="Equation" r:id="rId6" imgW="1625400" imgH="228600" progId="Equation.DSMT4">
                  <p:embed/>
                </p:oleObj>
              </mc:Choice>
              <mc:Fallback>
                <p:oleObj name="Equation" r:id="rId6" imgW="1625400" imgH="228600" progId="Equation.DSMT4">
                  <p:embed/>
                  <p:pic>
                    <p:nvPicPr>
                      <p:cNvPr id="17" name="Object 5"/>
                      <p:cNvPicPr>
                        <a:picLocks noChangeAspect="1" noChangeArrowheads="1"/>
                      </p:cNvPicPr>
                      <p:nvPr/>
                    </p:nvPicPr>
                    <p:blipFill>
                      <a:blip r:embed="rId7"/>
                      <a:srcRect/>
                      <a:stretch>
                        <a:fillRect/>
                      </a:stretch>
                    </p:blipFill>
                    <p:spPr bwMode="auto">
                      <a:xfrm>
                        <a:off x="2887415" y="2633676"/>
                        <a:ext cx="3575050"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2"/>
          <p:cNvSpPr>
            <a:spLocks noChangeArrowheads="1"/>
          </p:cNvSpPr>
          <p:nvPr/>
        </p:nvSpPr>
        <p:spPr bwMode="auto">
          <a:xfrm>
            <a:off x="467544" y="4509120"/>
            <a:ext cx="8458200" cy="1729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10000"/>
              </a:lnSpc>
              <a:spcBef>
                <a:spcPct val="50000"/>
              </a:spcBef>
              <a:buClr>
                <a:srgbClr val="0000CC"/>
              </a:buClr>
              <a:buFont typeface="Wingdings" panose="05000000000000000000" pitchFamily="2" charset="2"/>
              <a:buChar char="Ø"/>
            </a:pPr>
            <a:r>
              <a:rPr lang="zh-CN" altLang="en-US" sz="2800" dirty="0">
                <a:solidFill>
                  <a:srgbClr val="000000"/>
                </a:solidFill>
                <a:latin typeface="Times New Roman" panose="02020603050405020304" pitchFamily="18" charset="0"/>
                <a:ea typeface="宋体" panose="02010600030101010101" pitchFamily="2" charset="-122"/>
              </a:rPr>
              <a:t>  极限环振荡的幅度与量化阶成正比；与极点位置和滤波器阶数有关；</a:t>
            </a:r>
          </a:p>
          <a:p>
            <a:pPr>
              <a:lnSpc>
                <a:spcPct val="110000"/>
              </a:lnSpc>
              <a:spcBef>
                <a:spcPct val="50000"/>
              </a:spcBef>
              <a:buClr>
                <a:srgbClr val="0000CC"/>
              </a:buClr>
              <a:buFont typeface="Wingdings" panose="05000000000000000000" pitchFamily="2" charset="2"/>
              <a:buChar char="Ø"/>
            </a:pPr>
            <a:r>
              <a:rPr lang="zh-CN" altLang="en-US" sz="2800" dirty="0">
                <a:solidFill>
                  <a:srgbClr val="000000"/>
                </a:solidFill>
                <a:latin typeface="Times New Roman" panose="02020603050405020304" pitchFamily="18" charset="0"/>
                <a:ea typeface="宋体" panose="02010600030101010101" pitchFamily="2" charset="-122"/>
              </a:rPr>
              <a:t>  增加字长，可减小</a:t>
            </a:r>
            <a:r>
              <a:rPr lang="zh-CN" altLang="en-US" sz="2800" dirty="0">
                <a:solidFill>
                  <a:srgbClr val="000000"/>
                </a:solidFill>
                <a:latin typeface="宋体" panose="02010600030101010101" pitchFamily="2" charset="-122"/>
                <a:ea typeface="宋体" panose="02010600030101010101" pitchFamily="2" charset="-122"/>
              </a:rPr>
              <a:t>极限环振荡。  </a:t>
            </a:r>
            <a:endParaRPr lang="zh-CN" altLang="en-US" sz="2800" dirty="0">
              <a:solidFill>
                <a:srgbClr val="000000"/>
              </a:solidFill>
              <a:latin typeface="Times New Roman" panose="02020603050405020304" pitchFamily="18" charset="0"/>
              <a:ea typeface="宋体" panose="02010600030101010101" pitchFamily="2" charset="-122"/>
            </a:endParaRPr>
          </a:p>
        </p:txBody>
      </p:sp>
      <p:sp>
        <p:nvSpPr>
          <p:cNvPr id="9" name="Rectangle 3"/>
          <p:cNvSpPr>
            <a:spLocks noChangeArrowheads="1"/>
          </p:cNvSpPr>
          <p:nvPr/>
        </p:nvSpPr>
        <p:spPr bwMode="auto">
          <a:xfrm>
            <a:off x="755576" y="228600"/>
            <a:ext cx="5292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6.4.1  </a:t>
            </a:r>
            <a:r>
              <a:rPr lang="zh-CN" altLang="en-US" sz="3200" b="1" dirty="0">
                <a:solidFill>
                  <a:srgbClr val="993300"/>
                </a:solidFill>
                <a:ea typeface="楷体_GB2312" pitchFamily="49" charset="-122"/>
              </a:rPr>
              <a:t>零输入极限环振荡</a:t>
            </a:r>
          </a:p>
        </p:txBody>
      </p:sp>
    </p:spTree>
    <p:extLst>
      <p:ext uri="{BB962C8B-B14F-4D97-AF65-F5344CB8AC3E}">
        <p14:creationId xmlns:p14="http://schemas.microsoft.com/office/powerpoint/2010/main" val="393127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755576" y="228600"/>
            <a:ext cx="7381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6.5 </a:t>
            </a:r>
            <a:r>
              <a:rPr lang="zh-CN" altLang="en-US" sz="3200" b="1" dirty="0">
                <a:solidFill>
                  <a:srgbClr val="993300"/>
                </a:solidFill>
                <a:ea typeface="楷体_GB2312" pitchFamily="49" charset="-122"/>
              </a:rPr>
              <a:t>系数量化对数字滤波器的影响</a:t>
            </a:r>
          </a:p>
        </p:txBody>
      </p:sp>
      <p:sp>
        <p:nvSpPr>
          <p:cNvPr id="4" name="Rectangle 3"/>
          <p:cNvSpPr>
            <a:spLocks noChangeArrowheads="1"/>
          </p:cNvSpPr>
          <p:nvPr/>
        </p:nvSpPr>
        <p:spPr bwMode="auto">
          <a:xfrm>
            <a:off x="611956" y="836712"/>
            <a:ext cx="8064500" cy="211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a:lnSpc>
                <a:spcPct val="120000"/>
              </a:lnSpc>
              <a:spcBef>
                <a:spcPct val="0"/>
              </a:spcBef>
              <a:spcAft>
                <a:spcPct val="30000"/>
              </a:spcAft>
              <a:buFontTx/>
              <a:buNone/>
            </a:pPr>
            <a:r>
              <a:rPr lang="en-US" altLang="zh-CN" sz="280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000000"/>
                </a:solidFill>
                <a:latin typeface="Times New Roman" panose="02020603050405020304" pitchFamily="18" charset="0"/>
                <a:ea typeface="宋体" panose="02010600030101010101" pitchFamily="2" charset="-122"/>
              </a:rPr>
              <a:t>    由于滤波器的所有系数必须以有限长度的二进码形式存放在存储器中，所以必然对理想系数值进行量化，造成</a:t>
            </a:r>
            <a:r>
              <a:rPr lang="zh-CN" altLang="en-US" sz="2800" dirty="0">
                <a:solidFill>
                  <a:srgbClr val="0000CC"/>
                </a:solidFill>
                <a:latin typeface="Times New Roman" panose="02020603050405020304" pitchFamily="18" charset="0"/>
                <a:ea typeface="宋体" panose="02010600030101010101" pitchFamily="2" charset="-122"/>
              </a:rPr>
              <a:t>实际系数存在误差</a:t>
            </a:r>
            <a:r>
              <a:rPr lang="zh-CN" altLang="en-US" sz="2800" dirty="0">
                <a:solidFill>
                  <a:srgbClr val="000000"/>
                </a:solidFill>
                <a:latin typeface="Times New Roman" panose="02020603050405020304" pitchFamily="18" charset="0"/>
                <a:ea typeface="宋体" panose="02010600030101010101" pitchFamily="2" charset="-122"/>
              </a:rPr>
              <a:t>，使</a:t>
            </a:r>
            <a:r>
              <a:rPr lang="zh-CN" altLang="en-US" sz="2800" dirty="0">
                <a:solidFill>
                  <a:srgbClr val="0000CC"/>
                </a:solidFill>
                <a:latin typeface="Times New Roman" panose="02020603050405020304" pitchFamily="18" charset="0"/>
                <a:ea typeface="宋体" panose="02010600030101010101" pitchFamily="2" charset="-122"/>
              </a:rPr>
              <a:t>零、极点位置发生偏移</a:t>
            </a:r>
            <a:r>
              <a:rPr lang="zh-CN" altLang="en-US" sz="2800" dirty="0">
                <a:solidFill>
                  <a:srgbClr val="000000"/>
                </a:solidFill>
                <a:latin typeface="Times New Roman" panose="02020603050405020304" pitchFamily="18" charset="0"/>
                <a:ea typeface="宋体" panose="02010600030101010101" pitchFamily="2" charset="-122"/>
              </a:rPr>
              <a:t>，从而影响滤波器性能。</a:t>
            </a:r>
          </a:p>
        </p:txBody>
      </p:sp>
      <p:sp>
        <p:nvSpPr>
          <p:cNvPr id="5" name="Rectangle 2"/>
          <p:cNvSpPr>
            <a:spLocks noChangeArrowheads="1"/>
          </p:cNvSpPr>
          <p:nvPr/>
        </p:nvSpPr>
        <p:spPr bwMode="auto">
          <a:xfrm>
            <a:off x="611956" y="3015381"/>
            <a:ext cx="8153400" cy="350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indent="720000" algn="just">
              <a:lnSpc>
                <a:spcPct val="110000"/>
              </a:lnSpc>
              <a:spcBef>
                <a:spcPct val="0"/>
              </a:spcBef>
              <a:spcAft>
                <a:spcPct val="30000"/>
              </a:spcAft>
              <a:buFontTx/>
              <a:buNone/>
            </a:pPr>
            <a:r>
              <a:rPr lang="zh-CN" altLang="en-US" sz="2800" dirty="0">
                <a:solidFill>
                  <a:srgbClr val="000000"/>
                </a:solidFill>
                <a:latin typeface="Times New Roman" panose="02020603050405020304" pitchFamily="18" charset="0"/>
                <a:ea typeface="宋体" panose="02010600030101010101" pitchFamily="2" charset="-122"/>
              </a:rPr>
              <a:t>一个设计正确的滤波器，在实现时，由于系数量化，可能会导致实际滤波器的特性不符合要求，严重时甚至使单位圆内的</a:t>
            </a:r>
            <a:r>
              <a:rPr lang="zh-CN" altLang="en-US" sz="2800" dirty="0">
                <a:solidFill>
                  <a:srgbClr val="0000CC"/>
                </a:solidFill>
                <a:latin typeface="Times New Roman" panose="02020603050405020304" pitchFamily="18" charset="0"/>
                <a:ea typeface="宋体" panose="02010600030101010101" pitchFamily="2" charset="-122"/>
              </a:rPr>
              <a:t>极点偏离</a:t>
            </a:r>
            <a:r>
              <a:rPr lang="zh-CN" altLang="en-US" sz="2800" dirty="0">
                <a:solidFill>
                  <a:srgbClr val="000000"/>
                </a:solidFill>
                <a:latin typeface="Times New Roman" panose="02020603050405020304" pitchFamily="18" charset="0"/>
                <a:ea typeface="宋体" panose="02010600030101010101" pitchFamily="2" charset="-122"/>
              </a:rPr>
              <a:t>到单位圆外，从而系统失去稳定性。</a:t>
            </a:r>
          </a:p>
          <a:p>
            <a:pPr algn="just">
              <a:lnSpc>
                <a:spcPct val="110000"/>
              </a:lnSpc>
              <a:spcBef>
                <a:spcPct val="0"/>
              </a:spcBef>
              <a:spcAft>
                <a:spcPct val="30000"/>
              </a:spcAft>
              <a:buFontTx/>
              <a:buNone/>
            </a:pPr>
            <a:r>
              <a:rPr lang="zh-CN" altLang="en-US" sz="2800" dirty="0">
                <a:solidFill>
                  <a:srgbClr val="000000"/>
                </a:solidFill>
                <a:latin typeface="Times New Roman" panose="02020603050405020304" pitchFamily="18" charset="0"/>
                <a:ea typeface="宋体" panose="02010600030101010101" pitchFamily="2" charset="-122"/>
              </a:rPr>
              <a:t>        系数量化对滤波器的影响</a:t>
            </a:r>
            <a:r>
              <a:rPr lang="zh-CN" altLang="en-US" sz="2800" dirty="0">
                <a:solidFill>
                  <a:srgbClr val="FF0000"/>
                </a:solidFill>
                <a:latin typeface="Times New Roman" panose="02020603050405020304" pitchFamily="18" charset="0"/>
                <a:ea typeface="宋体" panose="02010600030101010101" pitchFamily="2" charset="-122"/>
              </a:rPr>
              <a:t>与字长有关</a:t>
            </a:r>
            <a:r>
              <a:rPr lang="zh-CN" altLang="en-US" sz="2800" dirty="0">
                <a:solidFill>
                  <a:srgbClr val="000000"/>
                </a:solidFill>
                <a:latin typeface="Times New Roman" panose="02020603050405020304" pitchFamily="18" charset="0"/>
                <a:ea typeface="宋体" panose="02010600030101010101" pitchFamily="2" charset="-122"/>
              </a:rPr>
              <a:t>，也与滤波器的</a:t>
            </a:r>
            <a:r>
              <a:rPr lang="zh-CN" altLang="en-US" sz="2800" dirty="0">
                <a:solidFill>
                  <a:srgbClr val="FF0000"/>
                </a:solidFill>
                <a:latin typeface="Times New Roman" panose="02020603050405020304" pitchFamily="18" charset="0"/>
                <a:ea typeface="宋体" panose="02010600030101010101" pitchFamily="2" charset="-122"/>
              </a:rPr>
              <a:t>结构有关</a:t>
            </a:r>
            <a:r>
              <a:rPr lang="zh-CN" altLang="en-US" sz="2800" dirty="0">
                <a:solidFill>
                  <a:srgbClr val="000000"/>
                </a:solidFill>
                <a:latin typeface="Times New Roman" panose="02020603050405020304" pitchFamily="18" charset="0"/>
                <a:ea typeface="宋体" panose="02010600030101010101" pitchFamily="2" charset="-122"/>
              </a:rPr>
              <a:t>，选择合适的结构可改善系数量化的影响。</a:t>
            </a:r>
          </a:p>
        </p:txBody>
      </p:sp>
    </p:spTree>
    <p:extLst>
      <p:ext uri="{BB962C8B-B14F-4D97-AF65-F5344CB8AC3E}">
        <p14:creationId xmlns:p14="http://schemas.microsoft.com/office/powerpoint/2010/main" val="21876589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a:grpSpLocks/>
          </p:cNvGrpSpPr>
          <p:nvPr/>
        </p:nvGrpSpPr>
        <p:grpSpPr bwMode="auto">
          <a:xfrm>
            <a:off x="407860" y="1208112"/>
            <a:ext cx="8208894" cy="5029200"/>
            <a:chOff x="1618" y="6900"/>
            <a:chExt cx="8415" cy="4680"/>
          </a:xfrm>
        </p:grpSpPr>
        <p:grpSp>
          <p:nvGrpSpPr>
            <p:cNvPr id="4" name="Group 3"/>
            <p:cNvGrpSpPr>
              <a:grpSpLocks/>
            </p:cNvGrpSpPr>
            <p:nvPr/>
          </p:nvGrpSpPr>
          <p:grpSpPr bwMode="auto">
            <a:xfrm>
              <a:off x="1618" y="6900"/>
              <a:ext cx="4096" cy="3588"/>
              <a:chOff x="1352" y="1440"/>
              <a:chExt cx="4945" cy="4332"/>
            </a:xfrm>
          </p:grpSpPr>
          <p:sp>
            <p:nvSpPr>
              <p:cNvPr id="11" name="Text Box 4"/>
              <p:cNvSpPr txBox="1">
                <a:spLocks noChangeArrowheads="1"/>
              </p:cNvSpPr>
              <p:nvPr/>
            </p:nvSpPr>
            <p:spPr bwMode="auto">
              <a:xfrm>
                <a:off x="1352" y="2409"/>
                <a:ext cx="342" cy="119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buFontTx/>
                  <a:buNone/>
                </a:pPr>
                <a:r>
                  <a:rPr lang="zh-CN" altLang="en-US" sz="1800" b="0" dirty="0">
                    <a:solidFill>
                      <a:srgbClr val="000000"/>
                    </a:solidFill>
                    <a:latin typeface="Times New Roman" panose="02020603050405020304" pitchFamily="18" charset="0"/>
                    <a:ea typeface="宋体" panose="02010600030101010101" pitchFamily="2" charset="-122"/>
                  </a:rPr>
                  <a:t>幅度</a:t>
                </a:r>
                <a:r>
                  <a:rPr lang="en-US" altLang="zh-CN" sz="1800" b="0" dirty="0">
                    <a:solidFill>
                      <a:srgbClr val="000000"/>
                    </a:solidFill>
                    <a:latin typeface="Times New Roman" panose="02020603050405020304" pitchFamily="18" charset="0"/>
                    <a:ea typeface="宋体" panose="02010600030101010101" pitchFamily="2" charset="-122"/>
                  </a:rPr>
                  <a:t>dB</a:t>
                </a:r>
                <a:endParaRPr lang="en-US" altLang="zh-CN" sz="1800" b="0" dirty="0">
                  <a:latin typeface="Times New Roman" panose="02020603050405020304" pitchFamily="18" charset="0"/>
                  <a:ea typeface="宋体" panose="02010600030101010101" pitchFamily="2" charset="-122"/>
                </a:endParaRPr>
              </a:p>
            </p:txBody>
          </p:sp>
          <p:pic>
            <p:nvPicPr>
              <p:cNvPr id="12" name="Picture 5" descr="tu9a"/>
              <p:cNvPicPr>
                <a:picLocks noChangeAspect="1" noChangeArrowheads="1"/>
              </p:cNvPicPr>
              <p:nvPr/>
            </p:nvPicPr>
            <p:blipFill>
              <a:blip r:embed="rId2">
                <a:extLst>
                  <a:ext uri="{28A0092B-C50C-407E-A947-70E740481C1C}">
                    <a14:useLocalDpi xmlns:a14="http://schemas.microsoft.com/office/drawing/2010/main" val="0"/>
                  </a:ext>
                </a:extLst>
              </a:blip>
              <a:srcRect l="7544" t="6601" r="7367" b="5879"/>
              <a:stretch>
                <a:fillRect/>
              </a:stretch>
            </p:blipFill>
            <p:spPr bwMode="auto">
              <a:xfrm>
                <a:off x="1797" y="1440"/>
                <a:ext cx="4500" cy="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Object 6"/>
              <p:cNvGraphicFramePr>
                <a:graphicFrameLocks noChangeAspect="1"/>
              </p:cNvGraphicFramePr>
              <p:nvPr/>
            </p:nvGraphicFramePr>
            <p:xfrm>
              <a:off x="3909" y="4917"/>
              <a:ext cx="540" cy="285"/>
            </p:xfrm>
            <a:graphic>
              <a:graphicData uri="http://schemas.openxmlformats.org/presentationml/2006/ole">
                <mc:AlternateContent xmlns:mc="http://schemas.openxmlformats.org/markup-compatibility/2006">
                  <mc:Choice xmlns:v="urn:schemas-microsoft-com:vml" Requires="v">
                    <p:oleObj name="公式" r:id="rId3" imgW="342603" imgH="177646" progId="Equation.3">
                      <p:embed/>
                    </p:oleObj>
                  </mc:Choice>
                  <mc:Fallback>
                    <p:oleObj name="公式" r:id="rId3" imgW="342603" imgH="177646" progId="Equation.3">
                      <p:embed/>
                      <p:pic>
                        <p:nvPicPr>
                          <p:cNvPr id="17101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9" y="4917"/>
                            <a:ext cx="54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 name="Group 7"/>
              <p:cNvGrpSpPr>
                <a:grpSpLocks/>
              </p:cNvGrpSpPr>
              <p:nvPr/>
            </p:nvGrpSpPr>
            <p:grpSpPr bwMode="auto">
              <a:xfrm>
                <a:off x="4194" y="1725"/>
                <a:ext cx="1767" cy="684"/>
                <a:chOff x="8355" y="3606"/>
                <a:chExt cx="1767" cy="684"/>
              </a:xfrm>
            </p:grpSpPr>
            <p:sp>
              <p:nvSpPr>
                <p:cNvPr id="16" name="Text Box 8"/>
                <p:cNvSpPr txBox="1">
                  <a:spLocks noChangeArrowheads="1"/>
                </p:cNvSpPr>
                <p:nvPr/>
              </p:nvSpPr>
              <p:spPr bwMode="auto">
                <a:xfrm>
                  <a:off x="8355" y="3606"/>
                  <a:ext cx="1767" cy="684"/>
                </a:xfrm>
                <a:prstGeom prst="rect">
                  <a:avLst/>
                </a:prstGeom>
                <a:solidFill>
                  <a:srgbClr val="FFFFFF"/>
                </a:solidFill>
                <a:ln w="9525">
                  <a:solidFill>
                    <a:srgbClr val="000000"/>
                  </a:solidFill>
                  <a:miter lim="800000"/>
                  <a:headEnd/>
                  <a:tailEnd/>
                </a:ln>
              </p:spPr>
              <p:txBody>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buFontTx/>
                    <a:buNone/>
                  </a:pPr>
                  <a:r>
                    <a:rPr lang="en-US" altLang="zh-CN" sz="1800" b="0" dirty="0">
                      <a:solidFill>
                        <a:srgbClr val="000000"/>
                      </a:solidFill>
                      <a:latin typeface="Times New Roman" panose="02020603050405020304" pitchFamily="18" charset="0"/>
                      <a:ea typeface="宋体" panose="02010600030101010101" pitchFamily="2" charset="-122"/>
                    </a:rPr>
                    <a:t>        </a:t>
                  </a:r>
                  <a:r>
                    <a:rPr lang="zh-CN" altLang="en-US" sz="1600" b="0" dirty="0">
                      <a:solidFill>
                        <a:srgbClr val="000000"/>
                      </a:solidFill>
                      <a:latin typeface="Times New Roman" panose="02020603050405020304" pitchFamily="18" charset="0"/>
                      <a:ea typeface="宋体" panose="02010600030101010101" pitchFamily="2" charset="-122"/>
                    </a:rPr>
                    <a:t>量化前</a:t>
                  </a:r>
                </a:p>
                <a:p>
                  <a:pPr algn="just" eaLnBrk="1" hangingPunct="1">
                    <a:spcBef>
                      <a:spcPct val="0"/>
                    </a:spcBef>
                    <a:buFontTx/>
                    <a:buNone/>
                  </a:pPr>
                  <a:r>
                    <a:rPr lang="zh-CN" altLang="en-US" sz="1600" b="0" dirty="0">
                      <a:solidFill>
                        <a:srgbClr val="000000"/>
                      </a:solidFill>
                      <a:latin typeface="Times New Roman" panose="02020603050405020304" pitchFamily="18" charset="0"/>
                      <a:ea typeface="宋体" panose="02010600030101010101" pitchFamily="2" charset="-122"/>
                    </a:rPr>
                    <a:t>         量化后</a:t>
                  </a:r>
                  <a:endParaRPr lang="zh-CN" altLang="en-US" sz="1600" b="0" dirty="0">
                    <a:latin typeface="Times New Roman" panose="02020603050405020304" pitchFamily="18" charset="0"/>
                    <a:ea typeface="宋体" panose="02010600030101010101" pitchFamily="2" charset="-122"/>
                  </a:endParaRPr>
                </a:p>
              </p:txBody>
            </p:sp>
            <p:sp>
              <p:nvSpPr>
                <p:cNvPr id="17" name="Line 9"/>
                <p:cNvSpPr>
                  <a:spLocks noChangeShapeType="1"/>
                </p:cNvSpPr>
                <p:nvPr/>
              </p:nvSpPr>
              <p:spPr bwMode="auto">
                <a:xfrm>
                  <a:off x="8526" y="3777"/>
                  <a:ext cx="34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0"/>
                <p:cNvSpPr>
                  <a:spLocks noChangeShapeType="1"/>
                </p:cNvSpPr>
                <p:nvPr/>
              </p:nvSpPr>
              <p:spPr bwMode="auto">
                <a:xfrm flipH="1">
                  <a:off x="8526" y="4005"/>
                  <a:ext cx="3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 name="Text Box 11"/>
              <p:cNvSpPr txBox="1">
                <a:spLocks noChangeArrowheads="1"/>
              </p:cNvSpPr>
              <p:nvPr/>
            </p:nvSpPr>
            <p:spPr bwMode="auto">
              <a:xfrm>
                <a:off x="2085" y="5373"/>
                <a:ext cx="4104" cy="3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FontTx/>
                  <a:buNone/>
                </a:pPr>
                <a:r>
                  <a:rPr lang="en-US" altLang="zh-CN" sz="1800" b="0">
                    <a:solidFill>
                      <a:srgbClr val="000000"/>
                    </a:solidFill>
                    <a:latin typeface="Times New Roman" panose="02020603050405020304" pitchFamily="18" charset="0"/>
                    <a:ea typeface="宋体" panose="02010600030101010101" pitchFamily="2" charset="-122"/>
                  </a:rPr>
                  <a:t>(a) </a:t>
                </a:r>
                <a:r>
                  <a:rPr lang="zh-CN" altLang="en-US" sz="1800" b="0">
                    <a:solidFill>
                      <a:srgbClr val="000000"/>
                    </a:solidFill>
                    <a:latin typeface="Times New Roman" panose="02020603050405020304" pitchFamily="18" charset="0"/>
                    <a:ea typeface="宋体" panose="02010600030101010101" pitchFamily="2" charset="-122"/>
                  </a:rPr>
                  <a:t>系数量化前后的频率响应</a:t>
                </a:r>
              </a:p>
            </p:txBody>
          </p:sp>
        </p:grpSp>
        <p:sp>
          <p:nvSpPr>
            <p:cNvPr id="5" name="Text Box 12"/>
            <p:cNvSpPr txBox="1">
              <a:spLocks noChangeArrowheads="1"/>
            </p:cNvSpPr>
            <p:nvPr/>
          </p:nvSpPr>
          <p:spPr bwMode="auto">
            <a:xfrm>
              <a:off x="6399" y="10162"/>
              <a:ext cx="3531" cy="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FontTx/>
                <a:buNone/>
              </a:pPr>
              <a:r>
                <a:rPr lang="en-US" altLang="zh-CN" sz="1600" b="0">
                  <a:solidFill>
                    <a:srgbClr val="000000"/>
                  </a:solidFill>
                  <a:latin typeface="Times New Roman" panose="02020603050405020304" pitchFamily="18" charset="0"/>
                  <a:ea typeface="宋体" panose="02010600030101010101" pitchFamily="2" charset="-122"/>
                </a:rPr>
                <a:t>(b) </a:t>
              </a:r>
              <a:r>
                <a:rPr lang="zh-CN" altLang="en-US" sz="1600" b="0">
                  <a:solidFill>
                    <a:srgbClr val="000000"/>
                  </a:solidFill>
                  <a:latin typeface="Times New Roman" panose="02020603050405020304" pitchFamily="18" charset="0"/>
                  <a:ea typeface="宋体" panose="02010600030101010101" pitchFamily="2" charset="-122"/>
                </a:rPr>
                <a:t>系数量化前后的零极点分布</a:t>
              </a:r>
            </a:p>
            <a:p>
              <a:pPr algn="ctr" eaLnBrk="1" hangingPunct="1">
                <a:spcBef>
                  <a:spcPct val="0"/>
                </a:spcBef>
                <a:buFontTx/>
                <a:buNone/>
              </a:pPr>
              <a:r>
                <a:rPr lang="zh-CN" altLang="en-US" sz="1600" b="0">
                  <a:solidFill>
                    <a:srgbClr val="000000"/>
                  </a:solidFill>
                  <a:latin typeface="Times New Roman" panose="02020603050405020304" pitchFamily="18" charset="0"/>
                  <a:ea typeface="宋体" panose="02010600030101010101" pitchFamily="2" charset="-122"/>
                </a:rPr>
                <a:t>‘</a:t>
              </a:r>
              <a:r>
                <a:rPr lang="en-US" altLang="zh-CN" sz="1600" b="0">
                  <a:solidFill>
                    <a:srgbClr val="000000"/>
                  </a:solidFill>
                  <a:latin typeface="Times New Roman" panose="02020603050405020304" pitchFamily="18" charset="0"/>
                  <a:ea typeface="宋体" panose="02010600030101010101" pitchFamily="2" charset="-122"/>
                </a:rPr>
                <a:t>o’</a:t>
              </a:r>
              <a:r>
                <a:rPr lang="zh-CN" altLang="en-US" sz="1600" b="0">
                  <a:solidFill>
                    <a:srgbClr val="000000"/>
                  </a:solidFill>
                  <a:latin typeface="Times New Roman" panose="02020603050405020304" pitchFamily="18" charset="0"/>
                  <a:ea typeface="宋体" panose="02010600030101010101" pitchFamily="2" charset="-122"/>
                </a:rPr>
                <a:t>量化前的零点</a:t>
              </a:r>
              <a:r>
                <a:rPr lang="en-US" altLang="zh-CN" sz="1600" b="0">
                  <a:solidFill>
                    <a:srgbClr val="000000"/>
                  </a:solidFill>
                  <a:latin typeface="Times New Roman" panose="02020603050405020304" pitchFamily="18" charset="0"/>
                  <a:ea typeface="宋体" panose="02010600030101010101" pitchFamily="2" charset="-122"/>
                </a:rPr>
                <a:t>, ‘*’</a:t>
              </a:r>
              <a:r>
                <a:rPr lang="zh-CN" altLang="en-US" sz="1600" b="0">
                  <a:solidFill>
                    <a:srgbClr val="000000"/>
                  </a:solidFill>
                  <a:latin typeface="Times New Roman" panose="02020603050405020304" pitchFamily="18" charset="0"/>
                  <a:ea typeface="宋体" panose="02010600030101010101" pitchFamily="2" charset="-122"/>
                </a:rPr>
                <a:t>量化后的零点</a:t>
              </a:r>
              <a:r>
                <a:rPr lang="en-US" altLang="zh-CN" sz="1600" b="0">
                  <a:solidFill>
                    <a:srgbClr val="000000"/>
                  </a:solidFill>
                  <a:latin typeface="Times New Roman" panose="02020603050405020304" pitchFamily="18" charset="0"/>
                  <a:ea typeface="宋体" panose="02010600030101010101" pitchFamily="2" charset="-122"/>
                </a:rPr>
                <a:t>,</a:t>
              </a:r>
            </a:p>
            <a:p>
              <a:pPr algn="ctr" eaLnBrk="1" hangingPunct="1">
                <a:spcBef>
                  <a:spcPct val="0"/>
                </a:spcBef>
                <a:buFontTx/>
                <a:buNone/>
              </a:pPr>
              <a:r>
                <a:rPr lang="en-US" altLang="zh-CN" sz="1600" b="0">
                  <a:solidFill>
                    <a:srgbClr val="000000"/>
                  </a:solidFill>
                  <a:latin typeface="Times New Roman" panose="02020603050405020304" pitchFamily="18" charset="0"/>
                  <a:ea typeface="宋体" panose="02010600030101010101" pitchFamily="2" charset="-122"/>
                </a:rPr>
                <a:t>‘x’</a:t>
              </a:r>
              <a:r>
                <a:rPr lang="zh-CN" altLang="en-US" sz="1600" b="0">
                  <a:solidFill>
                    <a:srgbClr val="000000"/>
                  </a:solidFill>
                  <a:latin typeface="Times New Roman" panose="02020603050405020304" pitchFamily="18" charset="0"/>
                  <a:ea typeface="宋体" panose="02010600030101010101" pitchFamily="2" charset="-122"/>
                </a:rPr>
                <a:t>量化前的极点</a:t>
              </a:r>
              <a:r>
                <a:rPr lang="en-US" altLang="zh-CN" sz="1600" b="0">
                  <a:solidFill>
                    <a:srgbClr val="000000"/>
                  </a:solidFill>
                  <a:latin typeface="Times New Roman" panose="02020603050405020304" pitchFamily="18" charset="0"/>
                  <a:ea typeface="宋体" panose="02010600030101010101" pitchFamily="2" charset="-122"/>
                </a:rPr>
                <a:t>, ‘+’</a:t>
              </a:r>
              <a:r>
                <a:rPr lang="zh-CN" altLang="en-US" sz="1600" b="0">
                  <a:solidFill>
                    <a:srgbClr val="000000"/>
                  </a:solidFill>
                  <a:latin typeface="Times New Roman" panose="02020603050405020304" pitchFamily="18" charset="0"/>
                  <a:ea typeface="宋体" panose="02010600030101010101" pitchFamily="2" charset="-122"/>
                </a:rPr>
                <a:t>量化后的极点</a:t>
              </a:r>
            </a:p>
            <a:p>
              <a:pPr algn="ctr" eaLnBrk="1" hangingPunct="1">
                <a:spcBef>
                  <a:spcPct val="0"/>
                </a:spcBef>
                <a:buFontTx/>
                <a:buNone/>
              </a:pPr>
              <a:endParaRPr lang="en-US" altLang="zh-CN" sz="1600" b="0">
                <a:solidFill>
                  <a:srgbClr val="000000"/>
                </a:solidFill>
                <a:latin typeface="Times New Roman" panose="02020603050405020304" pitchFamily="18" charset="0"/>
                <a:ea typeface="宋体" panose="02010600030101010101" pitchFamily="2" charset="-122"/>
              </a:endParaRPr>
            </a:p>
          </p:txBody>
        </p:sp>
        <p:pic>
          <p:nvPicPr>
            <p:cNvPr id="7" name="Picture 13" descr="tu9c"/>
            <p:cNvPicPr>
              <a:picLocks noChangeAspect="1" noChangeArrowheads="1"/>
            </p:cNvPicPr>
            <p:nvPr/>
          </p:nvPicPr>
          <p:blipFill>
            <a:blip r:embed="rId5">
              <a:extLst>
                <a:ext uri="{28A0092B-C50C-407E-A947-70E740481C1C}">
                  <a14:useLocalDpi xmlns:a14="http://schemas.microsoft.com/office/drawing/2010/main" val="0"/>
                </a:ext>
              </a:extLst>
            </a:blip>
            <a:srcRect l="7544" t="6168" r="8740" b="6561"/>
            <a:stretch>
              <a:fillRect/>
            </a:stretch>
          </p:blipFill>
          <p:spPr bwMode="auto">
            <a:xfrm>
              <a:off x="6007" y="6900"/>
              <a:ext cx="4026" cy="2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4"/>
            <p:cNvSpPr txBox="1">
              <a:spLocks noChangeArrowheads="1"/>
            </p:cNvSpPr>
            <p:nvPr/>
          </p:nvSpPr>
          <p:spPr bwMode="auto">
            <a:xfrm>
              <a:off x="7625" y="9929"/>
              <a:ext cx="1079" cy="2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FontTx/>
                <a:buNone/>
              </a:pPr>
              <a:r>
                <a:rPr lang="zh-CN" altLang="en-US" sz="1800" b="0">
                  <a:solidFill>
                    <a:srgbClr val="000000"/>
                  </a:solidFill>
                  <a:latin typeface="Times New Roman" panose="02020603050405020304" pitchFamily="18" charset="0"/>
                  <a:ea typeface="宋体" panose="02010600030101010101" pitchFamily="2" charset="-122"/>
                </a:rPr>
                <a:t>实部</a:t>
              </a:r>
            </a:p>
          </p:txBody>
        </p:sp>
        <p:sp>
          <p:nvSpPr>
            <p:cNvPr id="9" name="Text Box 15"/>
            <p:cNvSpPr txBox="1">
              <a:spLocks noChangeArrowheads="1"/>
            </p:cNvSpPr>
            <p:nvPr/>
          </p:nvSpPr>
          <p:spPr bwMode="auto">
            <a:xfrm>
              <a:off x="5713" y="7879"/>
              <a:ext cx="245" cy="7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FontTx/>
                <a:buNone/>
              </a:pPr>
              <a:r>
                <a:rPr lang="zh-CN" altLang="en-US" sz="1800" b="0">
                  <a:solidFill>
                    <a:srgbClr val="000000"/>
                  </a:solidFill>
                  <a:latin typeface="Times New Roman" panose="02020603050405020304" pitchFamily="18" charset="0"/>
                  <a:ea typeface="宋体" panose="02010600030101010101" pitchFamily="2" charset="-122"/>
                </a:rPr>
                <a:t>虚部</a:t>
              </a:r>
              <a:endParaRPr lang="zh-CN" altLang="en-US" sz="900" b="0">
                <a:latin typeface="Times New Roman" panose="02020603050405020304" pitchFamily="18" charset="0"/>
                <a:ea typeface="宋体" panose="02010600030101010101" pitchFamily="2" charset="-122"/>
              </a:endParaRPr>
            </a:p>
          </p:txBody>
        </p:sp>
        <p:sp>
          <p:nvSpPr>
            <p:cNvPr id="10" name="Text Box 16"/>
            <p:cNvSpPr txBox="1">
              <a:spLocks noChangeArrowheads="1"/>
            </p:cNvSpPr>
            <p:nvPr/>
          </p:nvSpPr>
          <p:spPr bwMode="auto">
            <a:xfrm>
              <a:off x="3451" y="11112"/>
              <a:ext cx="5831"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buFontTx/>
                <a:buNone/>
              </a:pPr>
              <a:r>
                <a:rPr lang="zh-CN" altLang="en-US" sz="2400" dirty="0">
                  <a:latin typeface="Times New Roman" panose="02020603050405020304" pitchFamily="18" charset="0"/>
                  <a:ea typeface="宋体" panose="02010600030101010101" pitchFamily="2" charset="-122"/>
                </a:rPr>
                <a:t>图</a:t>
              </a:r>
              <a:r>
                <a:rPr lang="en-US" altLang="zh-CN" sz="2400" dirty="0">
                  <a:latin typeface="Times New Roman" panose="02020603050405020304" pitchFamily="18" charset="0"/>
                  <a:ea typeface="宋体" panose="02010600030101010101" pitchFamily="2" charset="-122"/>
                </a:rPr>
                <a:t>6.42</a:t>
              </a:r>
              <a:r>
                <a:rPr lang="zh-CN" altLang="en-US" sz="2400" dirty="0">
                  <a:latin typeface="Times New Roman" panose="02020603050405020304" pitchFamily="18" charset="0"/>
                  <a:ea typeface="宋体" panose="02010600030101010101" pitchFamily="2" charset="-122"/>
                </a:rPr>
                <a:t> 五阶椭圆低通滤波器的量化效应</a:t>
              </a:r>
            </a:p>
          </p:txBody>
        </p:sp>
      </p:grpSp>
      <p:sp>
        <p:nvSpPr>
          <p:cNvPr id="19" name="Rectangle 3"/>
          <p:cNvSpPr>
            <a:spLocks noChangeArrowheads="1"/>
          </p:cNvSpPr>
          <p:nvPr/>
        </p:nvSpPr>
        <p:spPr bwMode="auto">
          <a:xfrm>
            <a:off x="755576" y="228600"/>
            <a:ext cx="7381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6.5 </a:t>
            </a:r>
            <a:r>
              <a:rPr lang="zh-CN" altLang="en-US" sz="3200" b="1" dirty="0">
                <a:solidFill>
                  <a:srgbClr val="993300"/>
                </a:solidFill>
                <a:ea typeface="楷体_GB2312" pitchFamily="49" charset="-122"/>
              </a:rPr>
              <a:t>系数量化对数字滤波器的影响</a:t>
            </a:r>
          </a:p>
        </p:txBody>
      </p:sp>
    </p:spTree>
    <p:extLst>
      <p:ext uri="{BB962C8B-B14F-4D97-AF65-F5344CB8AC3E}">
        <p14:creationId xmlns:p14="http://schemas.microsoft.com/office/powerpoint/2010/main" val="2456442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323528" y="1484784"/>
            <a:ext cx="8712968" cy="111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indent="720000">
              <a:lnSpc>
                <a:spcPct val="125000"/>
              </a:lnSpc>
              <a:spcBef>
                <a:spcPts val="600"/>
              </a:spcBef>
              <a:buFontTx/>
              <a:buNone/>
            </a:pPr>
            <a:r>
              <a:rPr lang="zh-CN" altLang="en-US" sz="2800" dirty="0">
                <a:solidFill>
                  <a:srgbClr val="FF0000"/>
                </a:solidFill>
                <a:latin typeface="Times New Roman" panose="02020603050405020304" pitchFamily="18" charset="0"/>
                <a:ea typeface="宋体" panose="02010600030101010101" pitchFamily="2" charset="-122"/>
              </a:rPr>
              <a:t>极点位置灵敏度指每个极点位置对各系数偏差的敏感程度。极点位置的变化会影响系统的稳定性。</a:t>
            </a:r>
          </a:p>
        </p:txBody>
      </p:sp>
      <p:sp>
        <p:nvSpPr>
          <p:cNvPr id="5" name="矩形 4"/>
          <p:cNvSpPr/>
          <p:nvPr/>
        </p:nvSpPr>
        <p:spPr>
          <a:xfrm>
            <a:off x="1080469" y="836712"/>
            <a:ext cx="3427541" cy="656846"/>
          </a:xfrm>
          <a:prstGeom prst="rect">
            <a:avLst/>
          </a:prstGeom>
        </p:spPr>
        <p:txBody>
          <a:bodyPr wrap="none">
            <a:spAutoFit/>
          </a:bodyPr>
          <a:lstStyle/>
          <a:p>
            <a:pPr lvl="0">
              <a:lnSpc>
                <a:spcPct val="150000"/>
              </a:lnSpc>
              <a:spcBef>
                <a:spcPct val="50000"/>
              </a:spcBef>
            </a:pPr>
            <a:r>
              <a:rPr lang="en-US" altLang="zh-CN" sz="2800" b="1" dirty="0">
                <a:solidFill>
                  <a:srgbClr val="000000"/>
                </a:solidFill>
                <a:latin typeface="Times New Roman" panose="02020603050405020304" pitchFamily="18" charset="0"/>
              </a:rPr>
              <a:t>6.5.1</a:t>
            </a:r>
            <a:r>
              <a:rPr lang="zh-CN" altLang="en-US" sz="2800" b="1" dirty="0">
                <a:solidFill>
                  <a:srgbClr val="000000"/>
                </a:solidFill>
                <a:latin typeface="Times New Roman" panose="02020603050405020304" pitchFamily="18" charset="0"/>
              </a:rPr>
              <a:t>极点位置灵敏度</a:t>
            </a:r>
          </a:p>
        </p:txBody>
      </p:sp>
      <p:graphicFrame>
        <p:nvGraphicFramePr>
          <p:cNvPr id="7" name="Object 8"/>
          <p:cNvGraphicFramePr>
            <a:graphicFrameLocks noChangeAspect="1"/>
          </p:cNvGraphicFramePr>
          <p:nvPr>
            <p:extLst>
              <p:ext uri="{D42A27DB-BD31-4B8C-83A1-F6EECF244321}">
                <p14:modId xmlns:p14="http://schemas.microsoft.com/office/powerpoint/2010/main" val="3748844890"/>
              </p:ext>
            </p:extLst>
          </p:nvPr>
        </p:nvGraphicFramePr>
        <p:xfrm>
          <a:off x="5249914" y="2492896"/>
          <a:ext cx="3571875" cy="1758950"/>
        </p:xfrm>
        <a:graphic>
          <a:graphicData uri="http://schemas.openxmlformats.org/presentationml/2006/ole">
            <mc:AlternateContent xmlns:mc="http://schemas.openxmlformats.org/markup-compatibility/2006">
              <mc:Choice xmlns:v="urn:schemas-microsoft-com:vml" Requires="v">
                <p:oleObj name="Equation" r:id="rId2" imgW="1701720" imgH="838080" progId="Equation.DSMT4">
                  <p:embed/>
                </p:oleObj>
              </mc:Choice>
              <mc:Fallback>
                <p:oleObj name="Equation" r:id="rId2" imgW="1701720" imgH="838080" progId="Equation.DSMT4">
                  <p:embed/>
                  <p:pic>
                    <p:nvPicPr>
                      <p:cNvPr id="19" name="Object 8"/>
                      <p:cNvPicPr>
                        <a:picLocks noChangeAspect="1" noChangeArrowheads="1"/>
                      </p:cNvPicPr>
                      <p:nvPr/>
                    </p:nvPicPr>
                    <p:blipFill>
                      <a:blip r:embed="rId3"/>
                      <a:srcRect/>
                      <a:stretch>
                        <a:fillRect/>
                      </a:stretch>
                    </p:blipFill>
                    <p:spPr bwMode="auto">
                      <a:xfrm>
                        <a:off x="5249914" y="2492896"/>
                        <a:ext cx="3571875"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p:cNvSpPr/>
          <p:nvPr/>
        </p:nvSpPr>
        <p:spPr>
          <a:xfrm>
            <a:off x="683568" y="3110761"/>
            <a:ext cx="4589718" cy="523220"/>
          </a:xfrm>
          <a:prstGeom prst="rect">
            <a:avLst/>
          </a:prstGeom>
        </p:spPr>
        <p:txBody>
          <a:bodyPr wrap="none">
            <a:spAutoFit/>
          </a:bodyPr>
          <a:lstStyle/>
          <a:p>
            <a:r>
              <a:rPr lang="en-US" altLang="zh-CN" sz="2800" b="1" i="1" dirty="0">
                <a:solidFill>
                  <a:srgbClr val="000000"/>
                </a:solidFill>
                <a:latin typeface="Times New Roman" panose="02020603050405020304" pitchFamily="18" charset="0"/>
              </a:rPr>
              <a:t>N</a:t>
            </a:r>
            <a:r>
              <a:rPr lang="zh-CN" altLang="en-US" sz="2800" b="1" dirty="0">
                <a:solidFill>
                  <a:srgbClr val="000000"/>
                </a:solidFill>
                <a:latin typeface="Times New Roman" panose="02020603050405020304" pitchFamily="18" charset="0"/>
              </a:rPr>
              <a:t>阶直接型结构的</a:t>
            </a:r>
            <a:r>
              <a:rPr lang="en-US" altLang="zh-CN" sz="2800" b="1" dirty="0">
                <a:solidFill>
                  <a:srgbClr val="000000"/>
                </a:solidFill>
                <a:latin typeface="Times New Roman" panose="02020603050405020304" pitchFamily="18" charset="0"/>
                <a:cs typeface="Times New Roman" panose="02020603050405020304" pitchFamily="18" charset="0"/>
              </a:rPr>
              <a:t>IIR</a:t>
            </a:r>
            <a:r>
              <a:rPr lang="zh-CN" altLang="en-US" sz="2800" b="1" dirty="0">
                <a:solidFill>
                  <a:srgbClr val="000000"/>
                </a:solidFill>
                <a:latin typeface="Times New Roman" panose="02020603050405020304" pitchFamily="18" charset="0"/>
                <a:cs typeface="Times New Roman" panose="02020603050405020304" pitchFamily="18" charset="0"/>
              </a:rPr>
              <a:t>滤波器</a:t>
            </a:r>
            <a:endParaRPr lang="zh-CN" altLang="en-US" b="1" dirty="0"/>
          </a:p>
        </p:txBody>
      </p:sp>
      <p:sp>
        <p:nvSpPr>
          <p:cNvPr id="10" name="Rectangle 2"/>
          <p:cNvSpPr>
            <a:spLocks noChangeArrowheads="1"/>
          </p:cNvSpPr>
          <p:nvPr/>
        </p:nvSpPr>
        <p:spPr bwMode="auto">
          <a:xfrm>
            <a:off x="597669" y="4564285"/>
            <a:ext cx="807878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buFontTx/>
              <a:buNone/>
            </a:pPr>
            <a:r>
              <a:rPr lang="zh-CN" altLang="en-US" sz="2800" dirty="0">
                <a:latin typeface="Times New Roman" panose="02020603050405020304" pitchFamily="18" charset="0"/>
                <a:ea typeface="宋体" panose="02010600030101010101" pitchFamily="2" charset="-122"/>
              </a:rPr>
              <a:t>当系数量化后，其实际系统函数为</a:t>
            </a:r>
          </a:p>
          <a:p>
            <a:pPr algn="just" eaLnBrk="1" hangingPunct="1">
              <a:spcBef>
                <a:spcPct val="0"/>
              </a:spcBef>
              <a:buFontTx/>
              <a:buNone/>
            </a:pPr>
            <a:endParaRPr lang="zh-CN" altLang="en-US" sz="2800" dirty="0">
              <a:latin typeface="Times New Roman" panose="02020603050405020304" pitchFamily="18" charset="0"/>
              <a:ea typeface="宋体" panose="02010600030101010101" pitchFamily="2" charset="-122"/>
            </a:endParaRPr>
          </a:p>
          <a:p>
            <a:pPr algn="just" eaLnBrk="1" hangingPunct="1">
              <a:spcBef>
                <a:spcPct val="0"/>
              </a:spcBef>
              <a:buFontTx/>
              <a:buNone/>
            </a:pPr>
            <a:endParaRPr lang="zh-CN" altLang="en-US" sz="2800" dirty="0">
              <a:latin typeface="Times New Roman" panose="02020603050405020304" pitchFamily="18" charset="0"/>
              <a:ea typeface="宋体" panose="02010600030101010101" pitchFamily="2" charset="-122"/>
            </a:endParaRPr>
          </a:p>
        </p:txBody>
      </p:sp>
      <p:sp>
        <p:nvSpPr>
          <p:cNvPr id="12" name="矩形 11"/>
          <p:cNvSpPr/>
          <p:nvPr/>
        </p:nvSpPr>
        <p:spPr>
          <a:xfrm>
            <a:off x="676623" y="5667924"/>
            <a:ext cx="2339102" cy="523220"/>
          </a:xfrm>
          <a:prstGeom prst="rect">
            <a:avLst/>
          </a:prstGeom>
        </p:spPr>
        <p:txBody>
          <a:bodyPr wrap="none">
            <a:spAutoFit/>
          </a:bodyPr>
          <a:lstStyle/>
          <a:p>
            <a:pPr lvl="0" algn="just"/>
            <a:r>
              <a:rPr lang="zh-CN" altLang="en-US" sz="2800" b="1" dirty="0">
                <a:solidFill>
                  <a:srgbClr val="000000"/>
                </a:solidFill>
                <a:latin typeface="Times New Roman" panose="02020603050405020304" pitchFamily="18" charset="0"/>
              </a:rPr>
              <a:t>量化后的系数</a:t>
            </a:r>
          </a:p>
        </p:txBody>
      </p:sp>
      <p:graphicFrame>
        <p:nvGraphicFramePr>
          <p:cNvPr id="13" name="Object 3"/>
          <p:cNvGraphicFramePr>
            <a:graphicFrameLocks noChangeAspect="1"/>
          </p:cNvGraphicFramePr>
          <p:nvPr>
            <p:extLst>
              <p:ext uri="{D42A27DB-BD31-4B8C-83A1-F6EECF244321}">
                <p14:modId xmlns:p14="http://schemas.microsoft.com/office/powerpoint/2010/main" val="1722251396"/>
              </p:ext>
            </p:extLst>
          </p:nvPr>
        </p:nvGraphicFramePr>
        <p:xfrm>
          <a:off x="6156176" y="4005064"/>
          <a:ext cx="2560638" cy="1760537"/>
        </p:xfrm>
        <a:graphic>
          <a:graphicData uri="http://schemas.openxmlformats.org/presentationml/2006/ole">
            <mc:AlternateContent xmlns:mc="http://schemas.openxmlformats.org/markup-compatibility/2006">
              <mc:Choice xmlns:v="urn:schemas-microsoft-com:vml" Requires="v">
                <p:oleObj name="Equation" r:id="rId4" imgW="1218960" imgH="838080" progId="Equation.DSMT4">
                  <p:embed/>
                </p:oleObj>
              </mc:Choice>
              <mc:Fallback>
                <p:oleObj name="Equation" r:id="rId4" imgW="1218960" imgH="838080" progId="Equation.DSMT4">
                  <p:embed/>
                  <p:pic>
                    <p:nvPicPr>
                      <p:cNvPr id="4" name="Object 3"/>
                      <p:cNvPicPr>
                        <a:picLocks noChangeAspect="1" noChangeArrowheads="1"/>
                      </p:cNvPicPr>
                      <p:nvPr/>
                    </p:nvPicPr>
                    <p:blipFill>
                      <a:blip r:embed="rId5"/>
                      <a:srcRect/>
                      <a:stretch>
                        <a:fillRect/>
                      </a:stretch>
                    </p:blipFill>
                    <p:spPr bwMode="auto">
                      <a:xfrm>
                        <a:off x="6156176" y="4005064"/>
                        <a:ext cx="2560638"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4"/>
          <p:cNvGraphicFramePr>
            <a:graphicFrameLocks noChangeAspect="1"/>
          </p:cNvGraphicFramePr>
          <p:nvPr>
            <p:extLst>
              <p:ext uri="{D42A27DB-BD31-4B8C-83A1-F6EECF244321}">
                <p14:modId xmlns:p14="http://schemas.microsoft.com/office/powerpoint/2010/main" val="426927545"/>
              </p:ext>
            </p:extLst>
          </p:nvPr>
        </p:nvGraphicFramePr>
        <p:xfrm>
          <a:off x="3028567" y="5436157"/>
          <a:ext cx="1679481" cy="1039679"/>
        </p:xfrm>
        <a:graphic>
          <a:graphicData uri="http://schemas.openxmlformats.org/presentationml/2006/ole">
            <mc:AlternateContent xmlns:mc="http://schemas.openxmlformats.org/markup-compatibility/2006">
              <mc:Choice xmlns:v="urn:schemas-microsoft-com:vml" Requires="v">
                <p:oleObj name="Equation" r:id="rId6" imgW="799753" imgH="495085" progId="Equation.DSMT4">
                  <p:embed/>
                </p:oleObj>
              </mc:Choice>
              <mc:Fallback>
                <p:oleObj name="Equation" r:id="rId6" imgW="799753" imgH="495085" progId="Equation.DSMT4">
                  <p:embed/>
                  <p:pic>
                    <p:nvPicPr>
                      <p:cNvPr id="5"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28567" y="5436157"/>
                        <a:ext cx="1679481" cy="103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p:cNvSpPr>
            <a:spLocks noChangeArrowheads="1"/>
          </p:cNvSpPr>
          <p:nvPr/>
        </p:nvSpPr>
        <p:spPr bwMode="auto">
          <a:xfrm>
            <a:off x="755576" y="228600"/>
            <a:ext cx="7381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6.5 </a:t>
            </a:r>
            <a:r>
              <a:rPr lang="zh-CN" altLang="en-US" sz="3200" b="1" dirty="0">
                <a:solidFill>
                  <a:srgbClr val="993300"/>
                </a:solidFill>
                <a:ea typeface="楷体_GB2312" pitchFamily="49" charset="-122"/>
              </a:rPr>
              <a:t>系数量化对数字滤波器的影响</a:t>
            </a:r>
          </a:p>
        </p:txBody>
      </p:sp>
    </p:spTree>
    <p:extLst>
      <p:ext uri="{BB962C8B-B14F-4D97-AF65-F5344CB8AC3E}">
        <p14:creationId xmlns:p14="http://schemas.microsoft.com/office/powerpoint/2010/main" val="33600374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755576" y="892753"/>
            <a:ext cx="8001000" cy="1194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10000"/>
              </a:lnSpc>
              <a:spcBef>
                <a:spcPct val="0"/>
              </a:spcBef>
              <a:buFontTx/>
              <a:buNone/>
            </a:pPr>
            <a:r>
              <a:rPr lang="zh-CN" altLang="en-US" sz="2800" dirty="0">
                <a:solidFill>
                  <a:schemeClr val="tx2"/>
                </a:solidFill>
                <a:latin typeface="Times New Roman" panose="02020603050405020304" pitchFamily="18" charset="0"/>
                <a:ea typeface="宋体" panose="02010600030101010101" pitchFamily="2" charset="-122"/>
              </a:rPr>
              <a:t>系数偏差        造成的极点位置偏差：</a:t>
            </a:r>
          </a:p>
          <a:p>
            <a:pPr>
              <a:lnSpc>
                <a:spcPct val="110000"/>
              </a:lnSpc>
              <a:spcBef>
                <a:spcPts val="1200"/>
              </a:spcBef>
              <a:buFontTx/>
              <a:buNone/>
            </a:pPr>
            <a:r>
              <a:rPr lang="zh-CN" altLang="en-US" sz="2800" dirty="0">
                <a:latin typeface="Times New Roman" panose="02020603050405020304" pitchFamily="18" charset="0"/>
                <a:ea typeface="宋体" panose="02010600030101010101" pitchFamily="2" charset="-122"/>
              </a:rPr>
              <a:t>设理想极点为</a:t>
            </a:r>
          </a:p>
        </p:txBody>
      </p:sp>
      <p:graphicFrame>
        <p:nvGraphicFramePr>
          <p:cNvPr id="4" name="Object 3"/>
          <p:cNvGraphicFramePr>
            <a:graphicFrameLocks noChangeAspect="1"/>
          </p:cNvGraphicFramePr>
          <p:nvPr>
            <p:extLst>
              <p:ext uri="{D42A27DB-BD31-4B8C-83A1-F6EECF244321}">
                <p14:modId xmlns:p14="http://schemas.microsoft.com/office/powerpoint/2010/main" val="213420632"/>
              </p:ext>
            </p:extLst>
          </p:nvPr>
        </p:nvGraphicFramePr>
        <p:xfrm>
          <a:off x="3018979" y="1523203"/>
          <a:ext cx="2402136" cy="502920"/>
        </p:xfrm>
        <a:graphic>
          <a:graphicData uri="http://schemas.openxmlformats.org/presentationml/2006/ole">
            <mc:AlternateContent xmlns:mc="http://schemas.openxmlformats.org/markup-compatibility/2006">
              <mc:Choice xmlns:v="urn:schemas-microsoft-com:vml" Requires="v">
                <p:oleObj name="Equation" r:id="rId2" imgW="1091880" imgH="228600" progId="Equation.DSMT4">
                  <p:embed/>
                </p:oleObj>
              </mc:Choice>
              <mc:Fallback>
                <p:oleObj name="Equation" r:id="rId2" imgW="1091880" imgH="228600" progId="Equation.DSMT4">
                  <p:embed/>
                  <p:pic>
                    <p:nvPicPr>
                      <p:cNvPr id="174083" name="Object 3"/>
                      <p:cNvPicPr>
                        <a:picLocks noChangeAspect="1" noChangeArrowheads="1"/>
                      </p:cNvPicPr>
                      <p:nvPr/>
                    </p:nvPicPr>
                    <p:blipFill>
                      <a:blip r:embed="rId3"/>
                      <a:srcRect/>
                      <a:stretch>
                        <a:fillRect/>
                      </a:stretch>
                    </p:blipFill>
                    <p:spPr bwMode="auto">
                      <a:xfrm>
                        <a:off x="3018979" y="1523203"/>
                        <a:ext cx="2402136"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631022588"/>
              </p:ext>
            </p:extLst>
          </p:nvPr>
        </p:nvGraphicFramePr>
        <p:xfrm>
          <a:off x="1835696" y="2090508"/>
          <a:ext cx="4533732" cy="906444"/>
        </p:xfrm>
        <a:graphic>
          <a:graphicData uri="http://schemas.openxmlformats.org/presentationml/2006/ole">
            <mc:AlternateContent xmlns:mc="http://schemas.openxmlformats.org/markup-compatibility/2006">
              <mc:Choice xmlns:v="urn:schemas-microsoft-com:vml" Requires="v">
                <p:oleObj name="Equation" r:id="rId4" imgW="2158920" imgH="431640" progId="Equation.DSMT4">
                  <p:embed/>
                </p:oleObj>
              </mc:Choice>
              <mc:Fallback>
                <p:oleObj name="Equation" r:id="rId4" imgW="2158920" imgH="431640" progId="Equation.DSMT4">
                  <p:embed/>
                  <p:pic>
                    <p:nvPicPr>
                      <p:cNvPr id="174084" name="Object 4"/>
                      <p:cNvPicPr>
                        <a:picLocks noChangeAspect="1" noChangeArrowheads="1"/>
                      </p:cNvPicPr>
                      <p:nvPr/>
                    </p:nvPicPr>
                    <p:blipFill>
                      <a:blip r:embed="rId5"/>
                      <a:srcRect/>
                      <a:stretch>
                        <a:fillRect/>
                      </a:stretch>
                    </p:blipFill>
                    <p:spPr bwMode="auto">
                      <a:xfrm>
                        <a:off x="1835696" y="2090508"/>
                        <a:ext cx="4533732" cy="90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650589170"/>
              </p:ext>
            </p:extLst>
          </p:nvPr>
        </p:nvGraphicFramePr>
        <p:xfrm>
          <a:off x="4427984" y="3162538"/>
          <a:ext cx="3182938" cy="501650"/>
        </p:xfrm>
        <a:graphic>
          <a:graphicData uri="http://schemas.openxmlformats.org/presentationml/2006/ole">
            <mc:AlternateContent xmlns:mc="http://schemas.openxmlformats.org/markup-compatibility/2006">
              <mc:Choice xmlns:v="urn:schemas-microsoft-com:vml" Requires="v">
                <p:oleObj name="Equation" r:id="rId6" imgW="1447560" imgH="228600" progId="Equation.DSMT4">
                  <p:embed/>
                </p:oleObj>
              </mc:Choice>
              <mc:Fallback>
                <p:oleObj name="Equation" r:id="rId6" imgW="1447560" imgH="228600" progId="Equation.DSMT4">
                  <p:embed/>
                  <p:pic>
                    <p:nvPicPr>
                      <p:cNvPr id="174085" name="Object 5"/>
                      <p:cNvPicPr>
                        <a:picLocks noChangeAspect="1" noChangeArrowheads="1"/>
                      </p:cNvPicPr>
                      <p:nvPr/>
                    </p:nvPicPr>
                    <p:blipFill>
                      <a:blip r:embed="rId7"/>
                      <a:srcRect/>
                      <a:stretch>
                        <a:fillRect/>
                      </a:stretch>
                    </p:blipFill>
                    <p:spPr bwMode="auto">
                      <a:xfrm>
                        <a:off x="4427984" y="3162538"/>
                        <a:ext cx="31829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4180805554"/>
              </p:ext>
            </p:extLst>
          </p:nvPr>
        </p:nvGraphicFramePr>
        <p:xfrm>
          <a:off x="2384004" y="922338"/>
          <a:ext cx="531812" cy="503237"/>
        </p:xfrm>
        <a:graphic>
          <a:graphicData uri="http://schemas.openxmlformats.org/presentationml/2006/ole">
            <mc:AlternateContent xmlns:mc="http://schemas.openxmlformats.org/markup-compatibility/2006">
              <mc:Choice xmlns:v="urn:schemas-microsoft-com:vml" Requires="v">
                <p:oleObj name="Equation" r:id="rId8" imgW="241200" imgH="228600" progId="Equation.DSMT4">
                  <p:embed/>
                </p:oleObj>
              </mc:Choice>
              <mc:Fallback>
                <p:oleObj name="Equation" r:id="rId8" imgW="241200" imgH="228600" progId="Equation.DSMT4">
                  <p:embed/>
                  <p:pic>
                    <p:nvPicPr>
                      <p:cNvPr id="174088" name="Object 8"/>
                      <p:cNvPicPr>
                        <a:picLocks noChangeAspect="1" noChangeArrowheads="1"/>
                      </p:cNvPicPr>
                      <p:nvPr/>
                    </p:nvPicPr>
                    <p:blipFill>
                      <a:blip r:embed="rId9"/>
                      <a:srcRect/>
                      <a:stretch>
                        <a:fillRect/>
                      </a:stretch>
                    </p:blipFill>
                    <p:spPr bwMode="auto">
                      <a:xfrm>
                        <a:off x="2384004" y="922338"/>
                        <a:ext cx="5318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653947" y="3140968"/>
            <a:ext cx="4062069" cy="523220"/>
          </a:xfrm>
          <a:prstGeom prst="rect">
            <a:avLst/>
          </a:prstGeom>
        </p:spPr>
        <p:txBody>
          <a:bodyPr wrap="square">
            <a:spAutoFit/>
          </a:bodyPr>
          <a:lstStyle/>
          <a:p>
            <a:r>
              <a:rPr lang="zh-CN" altLang="en-US" sz="2800" b="1" dirty="0">
                <a:solidFill>
                  <a:srgbClr val="000000"/>
                </a:solidFill>
                <a:latin typeface="Times New Roman" panose="02020603050405020304" pitchFamily="18" charset="0"/>
              </a:rPr>
              <a:t> 系数量化后，极点变为</a:t>
            </a:r>
            <a:endParaRPr lang="zh-CN" altLang="en-US" b="1" dirty="0"/>
          </a:p>
        </p:txBody>
      </p:sp>
      <p:graphicFrame>
        <p:nvGraphicFramePr>
          <p:cNvPr id="12" name="Object 6"/>
          <p:cNvGraphicFramePr>
            <a:graphicFrameLocks noChangeAspect="1"/>
          </p:cNvGraphicFramePr>
          <p:nvPr>
            <p:extLst>
              <p:ext uri="{D42A27DB-BD31-4B8C-83A1-F6EECF244321}">
                <p14:modId xmlns:p14="http://schemas.microsoft.com/office/powerpoint/2010/main" val="269645501"/>
              </p:ext>
            </p:extLst>
          </p:nvPr>
        </p:nvGraphicFramePr>
        <p:xfrm>
          <a:off x="472776" y="3933056"/>
          <a:ext cx="8203680" cy="888480"/>
        </p:xfrm>
        <a:graphic>
          <a:graphicData uri="http://schemas.openxmlformats.org/presentationml/2006/ole">
            <mc:AlternateContent xmlns:mc="http://schemas.openxmlformats.org/markup-compatibility/2006">
              <mc:Choice xmlns:v="urn:schemas-microsoft-com:vml" Requires="v">
                <p:oleObj name="Equation" r:id="rId10" imgW="4101840" imgH="444240" progId="Equation.DSMT4">
                  <p:embed/>
                </p:oleObj>
              </mc:Choice>
              <mc:Fallback>
                <p:oleObj name="Equation" r:id="rId10" imgW="4101840" imgH="444240" progId="Equation.DSMT4">
                  <p:embed/>
                  <p:pic>
                    <p:nvPicPr>
                      <p:cNvPr id="7" name="Object 6"/>
                      <p:cNvPicPr>
                        <a:picLocks noChangeAspect="1" noChangeArrowheads="1"/>
                      </p:cNvPicPr>
                      <p:nvPr/>
                    </p:nvPicPr>
                    <p:blipFill>
                      <a:blip r:embed="rId11"/>
                      <a:srcRect/>
                      <a:stretch>
                        <a:fillRect/>
                      </a:stretch>
                    </p:blipFill>
                    <p:spPr bwMode="auto">
                      <a:xfrm>
                        <a:off x="472776" y="3933056"/>
                        <a:ext cx="8203680" cy="888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7"/>
          <p:cNvGraphicFramePr>
            <a:graphicFrameLocks noChangeAspect="1"/>
          </p:cNvGraphicFramePr>
          <p:nvPr>
            <p:extLst>
              <p:ext uri="{D42A27DB-BD31-4B8C-83A1-F6EECF244321}">
                <p14:modId xmlns:p14="http://schemas.microsoft.com/office/powerpoint/2010/main" val="2633088753"/>
              </p:ext>
            </p:extLst>
          </p:nvPr>
        </p:nvGraphicFramePr>
        <p:xfrm>
          <a:off x="600968" y="4941184"/>
          <a:ext cx="586656" cy="906444"/>
        </p:xfrm>
        <a:graphic>
          <a:graphicData uri="http://schemas.openxmlformats.org/presentationml/2006/ole">
            <mc:AlternateContent xmlns:mc="http://schemas.openxmlformats.org/markup-compatibility/2006">
              <mc:Choice xmlns:v="urn:schemas-microsoft-com:vml" Requires="v">
                <p:oleObj name="Equation" r:id="rId12" imgW="279360" imgH="431640" progId="Equation.DSMT4">
                  <p:embed/>
                </p:oleObj>
              </mc:Choice>
              <mc:Fallback>
                <p:oleObj name="Equation" r:id="rId12" imgW="279360" imgH="431640" progId="Equation.DSMT4">
                  <p:embed/>
                  <p:pic>
                    <p:nvPicPr>
                      <p:cNvPr id="8"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0968" y="4941184"/>
                        <a:ext cx="586656" cy="90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9"/>
          <p:cNvGraphicFramePr>
            <a:graphicFrameLocks noChangeAspect="1"/>
          </p:cNvGraphicFramePr>
          <p:nvPr>
            <p:extLst>
              <p:ext uri="{D42A27DB-BD31-4B8C-83A1-F6EECF244321}">
                <p14:modId xmlns:p14="http://schemas.microsoft.com/office/powerpoint/2010/main" val="3809515225"/>
              </p:ext>
            </p:extLst>
          </p:nvPr>
        </p:nvGraphicFramePr>
        <p:xfrm>
          <a:off x="5580112" y="5180252"/>
          <a:ext cx="559826" cy="479852"/>
        </p:xfrm>
        <a:graphic>
          <a:graphicData uri="http://schemas.openxmlformats.org/presentationml/2006/ole">
            <mc:AlternateContent xmlns:mc="http://schemas.openxmlformats.org/markup-compatibility/2006">
              <mc:Choice xmlns:v="urn:schemas-microsoft-com:vml" Requires="v">
                <p:oleObj name="Equation" r:id="rId14" imgW="266584" imgH="228501" progId="Equation.DSMT4">
                  <p:embed/>
                </p:oleObj>
              </mc:Choice>
              <mc:Fallback>
                <p:oleObj name="Equation" r:id="rId14" imgW="266584" imgH="228501" progId="Equation.DSMT4">
                  <p:embed/>
                  <p:pic>
                    <p:nvPicPr>
                      <p:cNvPr id="1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80112" y="5180252"/>
                        <a:ext cx="559826" cy="479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1103331" y="5153443"/>
            <a:ext cx="7244257" cy="523220"/>
          </a:xfrm>
          <a:prstGeom prst="rect">
            <a:avLst/>
          </a:prstGeom>
        </p:spPr>
        <p:txBody>
          <a:bodyPr wrap="square">
            <a:spAutoFit/>
          </a:bodyPr>
          <a:lstStyle/>
          <a:p>
            <a:r>
              <a:rPr lang="zh-CN" altLang="en-US" sz="2800" b="1" dirty="0">
                <a:solidFill>
                  <a:srgbClr val="000000"/>
                </a:solidFill>
                <a:latin typeface="Times New Roman" panose="02020603050405020304" pitchFamily="18" charset="0"/>
              </a:rPr>
              <a:t>值的大小决定系数</a:t>
            </a:r>
            <a:r>
              <a:rPr lang="en-US" altLang="zh-CN" sz="2800" b="1" i="1" dirty="0" err="1">
                <a:solidFill>
                  <a:srgbClr val="000000"/>
                </a:solidFill>
                <a:latin typeface="Times New Roman" panose="02020603050405020304" pitchFamily="18" charset="0"/>
              </a:rPr>
              <a:t>b</a:t>
            </a:r>
            <a:r>
              <a:rPr lang="en-US" altLang="zh-CN" sz="2800" b="1" i="1" baseline="-30000" dirty="0" err="1">
                <a:solidFill>
                  <a:srgbClr val="000000"/>
                </a:solidFill>
                <a:latin typeface="Times New Roman" panose="02020603050405020304" pitchFamily="18" charset="0"/>
              </a:rPr>
              <a:t>k</a:t>
            </a:r>
            <a:r>
              <a:rPr lang="zh-CN" altLang="en-US" sz="2800" b="1" dirty="0">
                <a:solidFill>
                  <a:srgbClr val="000000"/>
                </a:solidFill>
                <a:latin typeface="Times New Roman" panose="02020603050405020304" pitchFamily="18" charset="0"/>
              </a:rPr>
              <a:t> 的偏差        对极点偏差</a:t>
            </a:r>
            <a:endParaRPr lang="zh-CN" altLang="en-US" b="1" dirty="0"/>
          </a:p>
        </p:txBody>
      </p:sp>
      <p:graphicFrame>
        <p:nvGraphicFramePr>
          <p:cNvPr id="17" name="Object 4"/>
          <p:cNvGraphicFramePr>
            <a:graphicFrameLocks noChangeAspect="1"/>
          </p:cNvGraphicFramePr>
          <p:nvPr>
            <p:extLst>
              <p:ext uri="{D42A27DB-BD31-4B8C-83A1-F6EECF244321}">
                <p14:modId xmlns:p14="http://schemas.microsoft.com/office/powerpoint/2010/main" val="2748374303"/>
              </p:ext>
            </p:extLst>
          </p:nvPr>
        </p:nvGraphicFramePr>
        <p:xfrm>
          <a:off x="8087751" y="5165229"/>
          <a:ext cx="532980" cy="480060"/>
        </p:xfrm>
        <a:graphic>
          <a:graphicData uri="http://schemas.openxmlformats.org/presentationml/2006/ole">
            <mc:AlternateContent xmlns:mc="http://schemas.openxmlformats.org/markup-compatibility/2006">
              <mc:Choice xmlns:v="urn:schemas-microsoft-com:vml" Requires="v">
                <p:oleObj name="Equation" r:id="rId16" imgW="253800" imgH="228600" progId="Equation.DSMT4">
                  <p:embed/>
                </p:oleObj>
              </mc:Choice>
              <mc:Fallback>
                <p:oleObj name="Equation" r:id="rId16" imgW="253800" imgH="228600" progId="Equation.DSMT4">
                  <p:embed/>
                  <p:pic>
                    <p:nvPicPr>
                      <p:cNvPr id="5"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087751" y="5165229"/>
                        <a:ext cx="532980"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矩形 18"/>
          <p:cNvSpPr/>
          <p:nvPr/>
        </p:nvSpPr>
        <p:spPr>
          <a:xfrm>
            <a:off x="467544" y="5860003"/>
            <a:ext cx="2348720"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的影响程度。</a:t>
            </a:r>
            <a:endParaRPr lang="zh-CN" altLang="en-US" b="1" dirty="0"/>
          </a:p>
        </p:txBody>
      </p:sp>
      <p:graphicFrame>
        <p:nvGraphicFramePr>
          <p:cNvPr id="20" name="Object 7"/>
          <p:cNvGraphicFramePr>
            <a:graphicFrameLocks noChangeAspect="1"/>
          </p:cNvGraphicFramePr>
          <p:nvPr>
            <p:extLst>
              <p:ext uri="{D42A27DB-BD31-4B8C-83A1-F6EECF244321}">
                <p14:modId xmlns:p14="http://schemas.microsoft.com/office/powerpoint/2010/main" val="597109743"/>
              </p:ext>
            </p:extLst>
          </p:nvPr>
        </p:nvGraphicFramePr>
        <p:xfrm>
          <a:off x="2622272" y="5647744"/>
          <a:ext cx="586656" cy="906444"/>
        </p:xfrm>
        <a:graphic>
          <a:graphicData uri="http://schemas.openxmlformats.org/presentationml/2006/ole">
            <mc:AlternateContent xmlns:mc="http://schemas.openxmlformats.org/markup-compatibility/2006">
              <mc:Choice xmlns:v="urn:schemas-microsoft-com:vml" Requires="v">
                <p:oleObj name="Equation" r:id="rId12" imgW="279360" imgH="431640" progId="Equation.DSMT4">
                  <p:embed/>
                </p:oleObj>
              </mc:Choice>
              <mc:Fallback>
                <p:oleObj name="Equation" r:id="rId12" imgW="279360" imgH="431640" progId="Equation.DSMT4">
                  <p:embed/>
                  <p:pic>
                    <p:nvPicPr>
                      <p:cNvPr id="14"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2272" y="5647744"/>
                        <a:ext cx="586656" cy="90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21"/>
          <p:cNvSpPr/>
          <p:nvPr/>
        </p:nvSpPr>
        <p:spPr>
          <a:xfrm>
            <a:off x="3213292" y="5841082"/>
            <a:ext cx="5408853" cy="523220"/>
          </a:xfrm>
          <a:prstGeom prst="rect">
            <a:avLst/>
          </a:prstGeom>
        </p:spPr>
        <p:txBody>
          <a:bodyPr wrap="none">
            <a:spAutoFit/>
          </a:bodyPr>
          <a:lstStyle/>
          <a:p>
            <a:r>
              <a:rPr lang="zh-CN" altLang="en-US" sz="2800" b="1" dirty="0">
                <a:solidFill>
                  <a:srgbClr val="000000"/>
                </a:solidFill>
                <a:latin typeface="Times New Roman" panose="02020603050405020304" pitchFamily="18" charset="0"/>
              </a:rPr>
              <a:t>越大，      对       的影响也越大。</a:t>
            </a:r>
            <a:endParaRPr lang="zh-CN" altLang="en-US" b="1" dirty="0"/>
          </a:p>
        </p:txBody>
      </p:sp>
      <p:graphicFrame>
        <p:nvGraphicFramePr>
          <p:cNvPr id="23" name="Object 9"/>
          <p:cNvGraphicFramePr>
            <a:graphicFrameLocks noChangeAspect="1"/>
          </p:cNvGraphicFramePr>
          <p:nvPr>
            <p:extLst>
              <p:ext uri="{D42A27DB-BD31-4B8C-83A1-F6EECF244321}">
                <p14:modId xmlns:p14="http://schemas.microsoft.com/office/powerpoint/2010/main" val="3066993608"/>
              </p:ext>
            </p:extLst>
          </p:nvPr>
        </p:nvGraphicFramePr>
        <p:xfrm>
          <a:off x="4325991" y="5877452"/>
          <a:ext cx="559826" cy="479852"/>
        </p:xfrm>
        <a:graphic>
          <a:graphicData uri="http://schemas.openxmlformats.org/presentationml/2006/ole">
            <mc:AlternateContent xmlns:mc="http://schemas.openxmlformats.org/markup-compatibility/2006">
              <mc:Choice xmlns:v="urn:schemas-microsoft-com:vml" Requires="v">
                <p:oleObj name="Equation" r:id="rId14" imgW="266584" imgH="228501" progId="Equation.DSMT4">
                  <p:embed/>
                </p:oleObj>
              </mc:Choice>
              <mc:Fallback>
                <p:oleObj name="Equation" r:id="rId14" imgW="266584" imgH="228501" progId="Equation.DSMT4">
                  <p:embed/>
                  <p:pic>
                    <p:nvPicPr>
                      <p:cNvPr id="15"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25991" y="5877452"/>
                        <a:ext cx="559826" cy="479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4"/>
          <p:cNvGraphicFramePr>
            <a:graphicFrameLocks noChangeAspect="1"/>
          </p:cNvGraphicFramePr>
          <p:nvPr>
            <p:extLst>
              <p:ext uri="{D42A27DB-BD31-4B8C-83A1-F6EECF244321}">
                <p14:modId xmlns:p14="http://schemas.microsoft.com/office/powerpoint/2010/main" val="963805616"/>
              </p:ext>
            </p:extLst>
          </p:nvPr>
        </p:nvGraphicFramePr>
        <p:xfrm>
          <a:off x="5335164" y="5877272"/>
          <a:ext cx="532980" cy="480060"/>
        </p:xfrm>
        <a:graphic>
          <a:graphicData uri="http://schemas.openxmlformats.org/presentationml/2006/ole">
            <mc:AlternateContent xmlns:mc="http://schemas.openxmlformats.org/markup-compatibility/2006">
              <mc:Choice xmlns:v="urn:schemas-microsoft-com:vml" Requires="v">
                <p:oleObj name="Equation" r:id="rId16" imgW="253800" imgH="228600" progId="Equation.DSMT4">
                  <p:embed/>
                </p:oleObj>
              </mc:Choice>
              <mc:Fallback>
                <p:oleObj name="Equation" r:id="rId16" imgW="253800" imgH="228600" progId="Equation.DSMT4">
                  <p:embed/>
                  <p:pic>
                    <p:nvPicPr>
                      <p:cNvPr id="17"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35164" y="5877272"/>
                        <a:ext cx="532980"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3"/>
          <p:cNvSpPr>
            <a:spLocks noChangeArrowheads="1"/>
          </p:cNvSpPr>
          <p:nvPr/>
        </p:nvSpPr>
        <p:spPr bwMode="auto">
          <a:xfrm>
            <a:off x="755576" y="228600"/>
            <a:ext cx="7381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6.5 </a:t>
            </a:r>
            <a:r>
              <a:rPr lang="zh-CN" altLang="en-US" sz="3200" b="1" dirty="0">
                <a:solidFill>
                  <a:srgbClr val="993300"/>
                </a:solidFill>
                <a:ea typeface="楷体_GB2312" pitchFamily="49" charset="-122"/>
              </a:rPr>
              <a:t>系数量化对数字滤波器的影响</a:t>
            </a:r>
          </a:p>
        </p:txBody>
      </p:sp>
    </p:spTree>
    <p:extLst>
      <p:ext uri="{BB962C8B-B14F-4D97-AF65-F5344CB8AC3E}">
        <p14:creationId xmlns:p14="http://schemas.microsoft.com/office/powerpoint/2010/main" val="8170113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683568" y="1076073"/>
            <a:ext cx="83164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spcBef>
                <a:spcPct val="50000"/>
              </a:spcBef>
              <a:spcAft>
                <a:spcPct val="50000"/>
              </a:spcAft>
              <a:buFontTx/>
              <a:buNone/>
            </a:pPr>
            <a:r>
              <a:rPr lang="zh-CN" altLang="en-US" sz="2800" dirty="0">
                <a:latin typeface="Times New Roman" panose="02020603050405020304" pitchFamily="18" charset="0"/>
                <a:ea typeface="宋体" panose="02010600030101010101" pitchFamily="2" charset="-122"/>
              </a:rPr>
              <a:t>可根据多项式</a:t>
            </a:r>
            <a:r>
              <a:rPr lang="en-US" altLang="zh-CN" sz="2800" i="1" dirty="0">
                <a:latin typeface="Times New Roman" panose="02020603050405020304" pitchFamily="18" charset="0"/>
                <a:ea typeface="宋体" panose="02010600030101010101" pitchFamily="2" charset="-122"/>
              </a:rPr>
              <a:t>B</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z</a:t>
            </a:r>
            <a:r>
              <a:rPr lang="en-US" altLang="zh-CN" sz="2800" dirty="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求</a:t>
            </a:r>
            <a:r>
              <a:rPr lang="zh-CN" altLang="en-US" sz="2800" dirty="0">
                <a:solidFill>
                  <a:schemeClr val="tx2">
                    <a:lumMod val="60000"/>
                    <a:lumOff val="40000"/>
                  </a:schemeClr>
                </a:solidFill>
                <a:latin typeface="Times New Roman" panose="02020603050405020304" pitchFamily="18" charset="0"/>
                <a:ea typeface="宋体" panose="02010600030101010101" pitchFamily="2" charset="-122"/>
              </a:rPr>
              <a:t>极点位置灵敏度         </a:t>
            </a:r>
            <a:r>
              <a:rPr lang="zh-CN" altLang="en-US" sz="2800" dirty="0">
                <a:latin typeface="Times New Roman" panose="02020603050405020304" pitchFamily="18" charset="0"/>
                <a:ea typeface="宋体" panose="02010600030101010101" pitchFamily="2" charset="-122"/>
              </a:rPr>
              <a:t>的表达式</a:t>
            </a:r>
          </a:p>
        </p:txBody>
      </p:sp>
      <p:graphicFrame>
        <p:nvGraphicFramePr>
          <p:cNvPr id="10" name="Object 7"/>
          <p:cNvGraphicFramePr>
            <a:graphicFrameLocks noChangeAspect="1"/>
          </p:cNvGraphicFramePr>
          <p:nvPr>
            <p:extLst>
              <p:ext uri="{D42A27DB-BD31-4B8C-83A1-F6EECF244321}">
                <p14:modId xmlns:p14="http://schemas.microsoft.com/office/powerpoint/2010/main" val="3864476689"/>
              </p:ext>
            </p:extLst>
          </p:nvPr>
        </p:nvGraphicFramePr>
        <p:xfrm>
          <a:off x="6516216" y="836712"/>
          <a:ext cx="614592" cy="949608"/>
        </p:xfrm>
        <a:graphic>
          <a:graphicData uri="http://schemas.openxmlformats.org/presentationml/2006/ole">
            <mc:AlternateContent xmlns:mc="http://schemas.openxmlformats.org/markup-compatibility/2006">
              <mc:Choice xmlns:v="urn:schemas-microsoft-com:vml" Requires="v">
                <p:oleObj name="Equation" r:id="rId2" imgW="279360" imgH="431640" progId="Equation.DSMT4">
                  <p:embed/>
                </p:oleObj>
              </mc:Choice>
              <mc:Fallback>
                <p:oleObj name="Equation" r:id="rId2" imgW="279360" imgH="431640" progId="Equation.DSMT4">
                  <p:embed/>
                  <p:pic>
                    <p:nvPicPr>
                      <p:cNvPr id="2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16" y="836712"/>
                        <a:ext cx="614592"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
          <p:cNvGraphicFramePr>
            <a:graphicFrameLocks noChangeAspect="1"/>
          </p:cNvGraphicFramePr>
          <p:nvPr>
            <p:extLst>
              <p:ext uri="{D42A27DB-BD31-4B8C-83A1-F6EECF244321}">
                <p14:modId xmlns:p14="http://schemas.microsoft.com/office/powerpoint/2010/main" val="224278730"/>
              </p:ext>
            </p:extLst>
          </p:nvPr>
        </p:nvGraphicFramePr>
        <p:xfrm>
          <a:off x="2887663" y="1700213"/>
          <a:ext cx="2744787" cy="1724025"/>
        </p:xfrm>
        <a:graphic>
          <a:graphicData uri="http://schemas.openxmlformats.org/presentationml/2006/ole">
            <mc:AlternateContent xmlns:mc="http://schemas.openxmlformats.org/markup-compatibility/2006">
              <mc:Choice xmlns:v="urn:schemas-microsoft-com:vml" Requires="v">
                <p:oleObj name="Equation" r:id="rId4" imgW="1193760" imgH="749160" progId="Equation.DSMT4">
                  <p:embed/>
                </p:oleObj>
              </mc:Choice>
              <mc:Fallback>
                <p:oleObj name="Equation" r:id="rId4" imgW="1193760" imgH="749160" progId="Equation.DSMT4">
                  <p:embed/>
                  <p:pic>
                    <p:nvPicPr>
                      <p:cNvPr id="8" name="Object 3"/>
                      <p:cNvPicPr>
                        <a:picLocks noChangeAspect="1" noChangeArrowheads="1"/>
                      </p:cNvPicPr>
                      <p:nvPr/>
                    </p:nvPicPr>
                    <p:blipFill>
                      <a:blip r:embed="rId5"/>
                      <a:srcRect/>
                      <a:stretch>
                        <a:fillRect/>
                      </a:stretch>
                    </p:blipFill>
                    <p:spPr bwMode="auto">
                      <a:xfrm>
                        <a:off x="2887663" y="1700213"/>
                        <a:ext cx="2744787"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629816" y="3639484"/>
            <a:ext cx="8190656" cy="2730491"/>
          </a:xfrm>
          <a:prstGeom prst="rect">
            <a:avLst/>
          </a:prstGeom>
        </p:spPr>
        <p:txBody>
          <a:bodyPr wrap="square">
            <a:spAutoFit/>
          </a:bodyPr>
          <a:lstStyle/>
          <a:p>
            <a:pPr lvl="0" algn="just">
              <a:lnSpc>
                <a:spcPct val="125000"/>
              </a:lnSpc>
            </a:pPr>
            <a:r>
              <a:rPr lang="zh-CN" altLang="en-US" sz="2800" b="1" dirty="0">
                <a:solidFill>
                  <a:srgbClr val="000000"/>
                </a:solidFill>
                <a:latin typeface="Times New Roman" panose="02020603050405020304" pitchFamily="18" charset="0"/>
                <a:cs typeface="Times New Roman" panose="02020603050405020304" pitchFamily="18" charset="0"/>
              </a:rPr>
              <a:t>上式分母中每个因子</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p</a:t>
            </a:r>
            <a:r>
              <a:rPr lang="en-US" altLang="zh-CN" sz="2800" b="1" i="1" baseline="-30000" dirty="0">
                <a:solidFill>
                  <a:srgbClr val="000000"/>
                </a:solidFill>
                <a:latin typeface="Times New Roman" panose="02020603050405020304" pitchFamily="18" charset="0"/>
                <a:cs typeface="Times New Roman" panose="02020603050405020304" pitchFamily="18" charset="0"/>
              </a:rPr>
              <a:t>i</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p</a:t>
            </a:r>
            <a:r>
              <a:rPr lang="en-US" altLang="zh-CN" sz="2800" b="1" i="1" baseline="-30000" dirty="0" err="1">
                <a:solidFill>
                  <a:srgbClr val="000000"/>
                </a:solidFill>
                <a:latin typeface="Times New Roman" panose="02020603050405020304" pitchFamily="18" charset="0"/>
                <a:cs typeface="Times New Roman" panose="02020603050405020304" pitchFamily="18" charset="0"/>
              </a:rPr>
              <a:t>l</a:t>
            </a:r>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latin typeface="Times New Roman" panose="02020603050405020304" pitchFamily="18" charset="0"/>
                <a:cs typeface="Times New Roman" panose="02020603050405020304" pitchFamily="18" charset="0"/>
              </a:rPr>
              <a:t>是一个由极点</a:t>
            </a:r>
            <a:r>
              <a:rPr lang="en-US" altLang="zh-CN" sz="2800" b="1" i="1" dirty="0" err="1">
                <a:solidFill>
                  <a:srgbClr val="000000"/>
                </a:solidFill>
                <a:latin typeface="Times New Roman" panose="02020603050405020304" pitchFamily="18" charset="0"/>
                <a:cs typeface="Times New Roman" panose="02020603050405020304" pitchFamily="18" charset="0"/>
              </a:rPr>
              <a:t>p</a:t>
            </a:r>
            <a:r>
              <a:rPr lang="en-US" altLang="zh-CN" sz="2800" b="1" i="1" baseline="-30000" dirty="0" err="1">
                <a:solidFill>
                  <a:srgbClr val="000000"/>
                </a:solidFill>
                <a:latin typeface="Times New Roman" panose="02020603050405020304" pitchFamily="18" charset="0"/>
                <a:cs typeface="Times New Roman" panose="02020603050405020304" pitchFamily="18" charset="0"/>
              </a:rPr>
              <a:t>l</a:t>
            </a:r>
            <a:r>
              <a:rPr lang="zh-CN" altLang="en-US" sz="2800" b="1" dirty="0">
                <a:solidFill>
                  <a:srgbClr val="000000"/>
                </a:solidFill>
                <a:latin typeface="Times New Roman" panose="02020603050405020304" pitchFamily="18" charset="0"/>
                <a:cs typeface="Times New Roman" panose="02020603050405020304" pitchFamily="18" charset="0"/>
              </a:rPr>
              <a:t>指向当前极点</a:t>
            </a:r>
            <a:r>
              <a:rPr lang="en-US" altLang="zh-CN" sz="2800" b="1" i="1" dirty="0">
                <a:solidFill>
                  <a:srgbClr val="000000"/>
                </a:solidFill>
                <a:latin typeface="Times New Roman" panose="02020603050405020304" pitchFamily="18" charset="0"/>
                <a:cs typeface="Times New Roman" panose="02020603050405020304" pitchFamily="18" charset="0"/>
              </a:rPr>
              <a:t>p</a:t>
            </a:r>
            <a:r>
              <a:rPr lang="en-US" altLang="zh-CN" sz="2800" b="1" i="1" baseline="-30000" dirty="0">
                <a:solidFill>
                  <a:srgbClr val="000000"/>
                </a:solidFill>
                <a:latin typeface="Times New Roman" panose="02020603050405020304" pitchFamily="18" charset="0"/>
                <a:cs typeface="Times New Roman" panose="02020603050405020304" pitchFamily="18" charset="0"/>
              </a:rPr>
              <a:t>i</a:t>
            </a:r>
            <a:r>
              <a:rPr lang="zh-CN" altLang="en-US" sz="2800" b="1" dirty="0">
                <a:solidFill>
                  <a:srgbClr val="000000"/>
                </a:solidFill>
                <a:latin typeface="Times New Roman" panose="02020603050405020304" pitchFamily="18" charset="0"/>
                <a:cs typeface="Times New Roman" panose="02020603050405020304" pitchFamily="18" charset="0"/>
              </a:rPr>
              <a:t>的矢量，整个分母是所有极点指向极点</a:t>
            </a:r>
            <a:r>
              <a:rPr lang="en-US" altLang="zh-CN" sz="2800" b="1" i="1" dirty="0">
                <a:solidFill>
                  <a:srgbClr val="000000"/>
                </a:solidFill>
                <a:latin typeface="Times New Roman" panose="02020603050405020304" pitchFamily="18" charset="0"/>
                <a:cs typeface="Times New Roman" panose="02020603050405020304" pitchFamily="18" charset="0"/>
              </a:rPr>
              <a:t>p</a:t>
            </a:r>
            <a:r>
              <a:rPr lang="en-US" altLang="zh-CN" sz="2800" b="1" i="1" baseline="-30000" dirty="0">
                <a:solidFill>
                  <a:srgbClr val="000000"/>
                </a:solidFill>
                <a:latin typeface="Times New Roman" panose="02020603050405020304" pitchFamily="18" charset="0"/>
                <a:cs typeface="Times New Roman" panose="02020603050405020304" pitchFamily="18" charset="0"/>
              </a:rPr>
              <a:t>i</a:t>
            </a:r>
            <a:r>
              <a:rPr lang="zh-CN" altLang="en-US" sz="2800" b="1" dirty="0">
                <a:solidFill>
                  <a:srgbClr val="000000"/>
                </a:solidFill>
                <a:latin typeface="Times New Roman" panose="02020603050405020304" pitchFamily="18" charset="0"/>
                <a:cs typeface="Times New Roman" panose="02020603050405020304" pitchFamily="18" charset="0"/>
              </a:rPr>
              <a:t>的矢量积，这些</a:t>
            </a:r>
            <a:r>
              <a:rPr lang="zh-CN" altLang="en-US" sz="2800" b="1" dirty="0">
                <a:solidFill>
                  <a:srgbClr val="0000CC"/>
                </a:solidFill>
                <a:latin typeface="Times New Roman" panose="02020603050405020304" pitchFamily="18" charset="0"/>
                <a:cs typeface="Times New Roman" panose="02020603050405020304" pitchFamily="18" charset="0"/>
              </a:rPr>
              <a:t>矢量越长，极点彼此间的距离越远</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CC"/>
                </a:solidFill>
                <a:latin typeface="Times New Roman" panose="02020603050405020304" pitchFamily="18" charset="0"/>
                <a:cs typeface="Times New Roman" panose="02020603050405020304" pitchFamily="18" charset="0"/>
              </a:rPr>
              <a:t>极点位置灵敏度越低</a:t>
            </a:r>
            <a:r>
              <a:rPr lang="zh-CN" altLang="en-US" sz="2800" b="1" dirty="0">
                <a:solidFill>
                  <a:srgbClr val="000000"/>
                </a:solidFill>
                <a:latin typeface="Times New Roman" panose="02020603050405020304" pitchFamily="18" charset="0"/>
                <a:cs typeface="Times New Roman" panose="02020603050405020304" pitchFamily="18" charset="0"/>
              </a:rPr>
              <a:t>；矢量越短，极点位置灵敏度越高。即</a:t>
            </a:r>
            <a:r>
              <a:rPr lang="zh-CN" altLang="en-US" sz="2800" b="1" dirty="0">
                <a:solidFill>
                  <a:srgbClr val="FF0000"/>
                </a:solidFill>
                <a:latin typeface="Times New Roman" panose="02020603050405020304" pitchFamily="18" charset="0"/>
                <a:cs typeface="Times New Roman" panose="02020603050405020304" pitchFamily="18" charset="0"/>
              </a:rPr>
              <a:t>极点位置灵敏度与极点间距离成反比</a:t>
            </a:r>
            <a:r>
              <a:rPr lang="zh-CN" altLang="en-US" sz="2800" b="1" dirty="0">
                <a:solidFill>
                  <a:srgbClr val="000000"/>
                </a:solidFill>
                <a:latin typeface="Times New Roman" panose="02020603050405020304" pitchFamily="18" charset="0"/>
                <a:cs typeface="Times New Roman" panose="02020603050405020304" pitchFamily="18" charset="0"/>
              </a:rPr>
              <a:t>。 </a:t>
            </a:r>
          </a:p>
        </p:txBody>
      </p:sp>
      <p:sp>
        <p:nvSpPr>
          <p:cNvPr id="7" name="Rectangle 3"/>
          <p:cNvSpPr>
            <a:spLocks noChangeArrowheads="1"/>
          </p:cNvSpPr>
          <p:nvPr/>
        </p:nvSpPr>
        <p:spPr bwMode="auto">
          <a:xfrm>
            <a:off x="755576" y="228600"/>
            <a:ext cx="7381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6.5 </a:t>
            </a:r>
            <a:r>
              <a:rPr lang="zh-CN" altLang="en-US" sz="3200" b="1" dirty="0">
                <a:solidFill>
                  <a:srgbClr val="993300"/>
                </a:solidFill>
                <a:ea typeface="楷体_GB2312" pitchFamily="49" charset="-122"/>
              </a:rPr>
              <a:t>系数量化对数字滤波器的影响</a:t>
            </a:r>
          </a:p>
        </p:txBody>
      </p:sp>
    </p:spTree>
    <p:extLst>
      <p:ext uri="{BB962C8B-B14F-4D97-AF65-F5344CB8AC3E}">
        <p14:creationId xmlns:p14="http://schemas.microsoft.com/office/powerpoint/2010/main" val="21990970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3189" y="3284984"/>
            <a:ext cx="5712619"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p:cNvSpPr>
            <a:spLocks noChangeArrowheads="1"/>
          </p:cNvSpPr>
          <p:nvPr/>
        </p:nvSpPr>
        <p:spPr bwMode="auto">
          <a:xfrm>
            <a:off x="755576" y="858485"/>
            <a:ext cx="7920880" cy="235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9875">
              <a:spcBef>
                <a:spcPct val="20000"/>
              </a:spcBef>
              <a:buChar char="•"/>
              <a:tabLst>
                <a:tab pos="498475" algn="l"/>
                <a:tab pos="4457700" algn="l"/>
              </a:tabLst>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98475" algn="l"/>
                <a:tab pos="4457700" algn="l"/>
              </a:tabLst>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98475" algn="l"/>
                <a:tab pos="4457700" algn="l"/>
              </a:tabLst>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98475" algn="l"/>
                <a:tab pos="44577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98475" algn="l"/>
                <a:tab pos="4457700" algn="l"/>
              </a:tabLst>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98475" algn="l"/>
                <a:tab pos="4457700" algn="l"/>
              </a:tabLst>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98475" algn="l"/>
                <a:tab pos="4457700" algn="l"/>
              </a:tabLst>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98475" algn="l"/>
                <a:tab pos="4457700" algn="l"/>
              </a:tabLst>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98475" algn="l"/>
                <a:tab pos="4457700" algn="l"/>
              </a:tabLst>
              <a:defRPr kumimoji="1" sz="2000" b="1">
                <a:solidFill>
                  <a:schemeClr val="tx1"/>
                </a:solidFill>
                <a:latin typeface="黑体" panose="02010609060101010101" pitchFamily="49" charset="-122"/>
                <a:ea typeface="黑体" panose="02010609060101010101" pitchFamily="49" charset="-122"/>
              </a:defRPr>
            </a:lvl9pPr>
          </a:lstStyle>
          <a:p>
            <a:pPr algn="just" eaLnBrk="1" hangingPunct="1">
              <a:lnSpc>
                <a:spcPct val="105000"/>
              </a:lnSpc>
              <a:spcBef>
                <a:spcPct val="0"/>
              </a:spcBef>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例如，一个共轭极点在虚轴附近的带通滤波器如图</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6.41(a)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，一个共轭极点在实轴附近的低通滤波器如图</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6.41(b)</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solidFill>
                  <a:schemeClr val="tx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前者极点间距离比后者大，因此前者的极点位置灵敏度比后者小</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，即系数量化程度相同时，前者造成的误差比后者小。</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2"/>
          <p:cNvSpPr>
            <a:spLocks noChangeArrowheads="1"/>
          </p:cNvSpPr>
          <p:nvPr/>
        </p:nvSpPr>
        <p:spPr bwMode="auto">
          <a:xfrm>
            <a:off x="1475656" y="6165304"/>
            <a:ext cx="61926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600">
                <a:solidFill>
                  <a:srgbClr val="FFFF00"/>
                </a:solidFill>
                <a:latin typeface="黑体" panose="02010609060101010101" pitchFamily="49" charset="-122"/>
                <a:ea typeface="黑体" panose="02010609060101010101" pitchFamily="49" charset="-122"/>
              </a:defRPr>
            </a:lvl1pPr>
            <a:lvl2pPr marL="742950" indent="-285750">
              <a:defRPr kumimoji="1" sz="3600">
                <a:solidFill>
                  <a:srgbClr val="FFFF00"/>
                </a:solidFill>
                <a:latin typeface="黑体" panose="02010609060101010101" pitchFamily="49" charset="-122"/>
                <a:ea typeface="黑体" panose="02010609060101010101" pitchFamily="49" charset="-122"/>
              </a:defRPr>
            </a:lvl2pPr>
            <a:lvl3pPr marL="1143000" indent="-228600">
              <a:defRPr kumimoji="1" sz="3600">
                <a:solidFill>
                  <a:srgbClr val="FFFF00"/>
                </a:solidFill>
                <a:latin typeface="黑体" panose="02010609060101010101" pitchFamily="49" charset="-122"/>
                <a:ea typeface="黑体" panose="02010609060101010101" pitchFamily="49" charset="-122"/>
              </a:defRPr>
            </a:lvl3pPr>
            <a:lvl4pPr marL="1600200" indent="-228600">
              <a:defRPr kumimoji="1" sz="3600">
                <a:solidFill>
                  <a:srgbClr val="FFFF00"/>
                </a:solidFill>
                <a:latin typeface="黑体" panose="02010609060101010101" pitchFamily="49" charset="-122"/>
                <a:ea typeface="黑体" panose="02010609060101010101" pitchFamily="49" charset="-122"/>
              </a:defRPr>
            </a:lvl4pPr>
            <a:lvl5pPr marL="2057400" indent="-228600">
              <a:defRPr kumimoji="1" sz="3600">
                <a:solidFill>
                  <a:srgbClr val="FFFF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3600">
                <a:solidFill>
                  <a:srgbClr val="FFFF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3600">
                <a:solidFill>
                  <a:srgbClr val="FFFF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3600">
                <a:solidFill>
                  <a:srgbClr val="FFFF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3600">
                <a:solidFill>
                  <a:srgbClr val="FFFF00"/>
                </a:solidFill>
                <a:latin typeface="黑体" panose="02010609060101010101" pitchFamily="49" charset="-122"/>
                <a:ea typeface="黑体" panose="02010609060101010101" pitchFamily="49" charset="-122"/>
              </a:defRPr>
            </a:lvl9pPr>
          </a:lstStyle>
          <a:p>
            <a:r>
              <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图</a:t>
            </a: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6.41 </a:t>
            </a:r>
            <a:r>
              <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极点位置灵敏度与极点间距离的关系</a:t>
            </a:r>
          </a:p>
        </p:txBody>
      </p:sp>
      <p:sp>
        <p:nvSpPr>
          <p:cNvPr id="7" name="Rectangle 3"/>
          <p:cNvSpPr>
            <a:spLocks noChangeArrowheads="1"/>
          </p:cNvSpPr>
          <p:nvPr/>
        </p:nvSpPr>
        <p:spPr bwMode="auto">
          <a:xfrm>
            <a:off x="755576" y="228600"/>
            <a:ext cx="7381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6.5 </a:t>
            </a:r>
            <a:r>
              <a:rPr lang="zh-CN" altLang="en-US" sz="3200" b="1" dirty="0">
                <a:solidFill>
                  <a:srgbClr val="993300"/>
                </a:solidFill>
                <a:ea typeface="楷体_GB2312" pitchFamily="49" charset="-122"/>
              </a:rPr>
              <a:t>系数量化对数字滤波器的影响</a:t>
            </a:r>
          </a:p>
        </p:txBody>
      </p:sp>
    </p:spTree>
    <p:extLst>
      <p:ext uri="{BB962C8B-B14F-4D97-AF65-F5344CB8AC3E}">
        <p14:creationId xmlns:p14="http://schemas.microsoft.com/office/powerpoint/2010/main" val="28669696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3"/>
          <p:cNvSpPr txBox="1">
            <a:spLocks noChangeArrowheads="1"/>
          </p:cNvSpPr>
          <p:nvPr/>
        </p:nvSpPr>
        <p:spPr bwMode="auto">
          <a:xfrm>
            <a:off x="827584" y="1192693"/>
            <a:ext cx="7848872" cy="293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indent="720000" eaLnBrk="1" hangingPunct="1">
              <a:lnSpc>
                <a:spcPct val="125000"/>
              </a:lnSpc>
              <a:spcBef>
                <a:spcPts val="1200"/>
              </a:spcBef>
              <a:buFontTx/>
              <a:buNone/>
            </a:pPr>
            <a:r>
              <a:rPr lang="zh-CN" altLang="en-US" sz="2800" dirty="0">
                <a:latin typeface="Times New Roman" panose="02020603050405020304" pitchFamily="18" charset="0"/>
                <a:ea typeface="宋体" panose="02010600030101010101" pitchFamily="2" charset="-122"/>
              </a:rPr>
              <a:t>高阶直接型结构的滤波器，极点数目相对较多而密集，其极点位置灵敏度要比低阶滤波器的极点位置灵敏度高。</a:t>
            </a:r>
          </a:p>
          <a:p>
            <a:pPr indent="720000" eaLnBrk="1" hangingPunct="1">
              <a:lnSpc>
                <a:spcPct val="125000"/>
              </a:lnSpc>
              <a:spcBef>
                <a:spcPts val="1200"/>
              </a:spcBef>
              <a:buFontTx/>
              <a:buNone/>
            </a:pPr>
            <a:r>
              <a:rPr lang="zh-CN" altLang="en-US" sz="2800" dirty="0">
                <a:latin typeface="Times New Roman" panose="02020603050405020304" pitchFamily="18" charset="0"/>
                <a:ea typeface="宋体" panose="02010600030101010101" pitchFamily="2" charset="-122"/>
              </a:rPr>
              <a:t>级联型和并联型，每个二阶节分别实现一对极点，极点分布稀，极点位置灵敏度下降。</a:t>
            </a:r>
          </a:p>
        </p:txBody>
      </p:sp>
      <p:sp>
        <p:nvSpPr>
          <p:cNvPr id="4" name="Rectangle 3"/>
          <p:cNvSpPr>
            <a:spLocks noChangeArrowheads="1"/>
          </p:cNvSpPr>
          <p:nvPr/>
        </p:nvSpPr>
        <p:spPr bwMode="auto">
          <a:xfrm>
            <a:off x="755576" y="228600"/>
            <a:ext cx="7381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6.5 </a:t>
            </a:r>
            <a:r>
              <a:rPr lang="zh-CN" altLang="en-US" sz="3200" b="1" dirty="0">
                <a:solidFill>
                  <a:srgbClr val="993300"/>
                </a:solidFill>
                <a:ea typeface="楷体_GB2312" pitchFamily="49" charset="-122"/>
              </a:rPr>
              <a:t>系数量化对数字滤波器的影响</a:t>
            </a:r>
          </a:p>
        </p:txBody>
      </p:sp>
    </p:spTree>
    <p:extLst>
      <p:ext uri="{BB962C8B-B14F-4D97-AF65-F5344CB8AC3E}">
        <p14:creationId xmlns:p14="http://schemas.microsoft.com/office/powerpoint/2010/main" val="83622782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395536" y="1268760"/>
            <a:ext cx="8153400"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600" b="1">
                <a:solidFill>
                  <a:schemeClr val="tx1"/>
                </a:solidFill>
                <a:latin typeface="黑体" panose="02010609060101010101" pitchFamily="49" charset="-122"/>
                <a:ea typeface="黑体" panose="02010609060101010101" pitchFamily="49" charset="-122"/>
              </a:defRPr>
            </a:lvl1pPr>
            <a:lvl2pPr>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kumimoji="1" sz="28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kumimoji="1" sz="24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kumimoji="1"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黑体" panose="02010609060101010101" pitchFamily="49" charset="-122"/>
                <a:ea typeface="黑体" panose="02010609060101010101" pitchFamily="49" charset="-122"/>
              </a:defRPr>
            </a:lvl9pPr>
          </a:lstStyle>
          <a:p>
            <a:pPr>
              <a:lnSpc>
                <a:spcPct val="115000"/>
              </a:lnSpc>
              <a:spcBef>
                <a:spcPct val="50000"/>
              </a:spcBef>
              <a:buFontTx/>
              <a:buNone/>
            </a:pPr>
            <a:r>
              <a:rPr lang="zh-CN" altLang="en-US" sz="2800" dirty="0">
                <a:solidFill>
                  <a:srgbClr val="000000"/>
                </a:solidFill>
                <a:latin typeface="Times New Roman" panose="02020603050405020304" pitchFamily="18" charset="0"/>
                <a:ea typeface="宋体" panose="02010600030101010101" pitchFamily="2" charset="-122"/>
              </a:rPr>
              <a:t>影响极点位置灵敏度的几个因素：</a:t>
            </a:r>
          </a:p>
          <a:p>
            <a:pPr>
              <a:lnSpc>
                <a:spcPct val="115000"/>
              </a:lnSpc>
              <a:spcBef>
                <a:spcPct val="50000"/>
              </a:spcBef>
              <a:buClr>
                <a:srgbClr val="0000CC"/>
              </a:buClr>
              <a:buFont typeface="Wingdings" panose="05000000000000000000" pitchFamily="2" charset="2"/>
              <a:buChar char="Ø"/>
            </a:pPr>
            <a:r>
              <a:rPr lang="zh-CN" altLang="en-US" sz="2800" dirty="0">
                <a:solidFill>
                  <a:srgbClr val="000000"/>
                </a:solidFill>
                <a:latin typeface="Times New Roman" panose="02020603050405020304" pitchFamily="18" charset="0"/>
                <a:ea typeface="宋体" panose="02010600030101010101" pitchFamily="2" charset="-122"/>
              </a:rPr>
              <a:t>与极点的分布状态有关；</a:t>
            </a:r>
            <a:r>
              <a:rPr lang="zh-CN" altLang="en-US" sz="2800" dirty="0">
                <a:solidFill>
                  <a:srgbClr val="FF0000"/>
                </a:solidFill>
                <a:latin typeface="Times New Roman" panose="02020603050405020304" pitchFamily="18" charset="0"/>
                <a:ea typeface="宋体" panose="02010600030101010101" pitchFamily="2" charset="-122"/>
              </a:rPr>
              <a:t>极点位置灵敏度大小与极点间距离成反比</a:t>
            </a:r>
            <a:r>
              <a:rPr lang="zh-CN" altLang="en-US" sz="2800" dirty="0">
                <a:latin typeface="Times New Roman" panose="02020603050405020304" pitchFamily="18" charset="0"/>
                <a:ea typeface="宋体" panose="02010600030101010101" pitchFamily="2" charset="-122"/>
              </a:rPr>
              <a:t>。</a:t>
            </a:r>
          </a:p>
          <a:p>
            <a:pPr>
              <a:lnSpc>
                <a:spcPct val="115000"/>
              </a:lnSpc>
              <a:spcBef>
                <a:spcPct val="50000"/>
              </a:spcBef>
              <a:buClr>
                <a:srgbClr val="0000CC"/>
              </a:buClr>
              <a:buFont typeface="Wingdings" panose="05000000000000000000" pitchFamily="2" charset="2"/>
              <a:buChar char="Ø"/>
            </a:pPr>
            <a:r>
              <a:rPr lang="zh-CN" altLang="en-US" sz="2800" dirty="0">
                <a:solidFill>
                  <a:srgbClr val="000000"/>
                </a:solidFill>
                <a:latin typeface="Times New Roman" panose="02020603050405020304" pitchFamily="18" charset="0"/>
                <a:ea typeface="宋体" panose="02010600030101010101" pitchFamily="2" charset="-122"/>
              </a:rPr>
              <a:t>与滤波器结构有关；高阶直接型极点位置灵敏度高，并联或级联型，系数量化误差的影响小</a:t>
            </a:r>
            <a:r>
              <a:rPr lang="zh-CN" altLang="en-US" sz="2800" dirty="0">
                <a:latin typeface="Times New Roman" panose="02020603050405020304" pitchFamily="18" charset="0"/>
                <a:ea typeface="宋体" panose="02010600030101010101" pitchFamily="2" charset="-122"/>
              </a:rPr>
              <a:t>。</a:t>
            </a:r>
          </a:p>
        </p:txBody>
      </p:sp>
      <p:sp>
        <p:nvSpPr>
          <p:cNvPr id="5" name="矩形 4"/>
          <p:cNvSpPr/>
          <p:nvPr/>
        </p:nvSpPr>
        <p:spPr>
          <a:xfrm>
            <a:off x="395536" y="4509120"/>
            <a:ext cx="8496944" cy="1114664"/>
          </a:xfrm>
          <a:prstGeom prst="rect">
            <a:avLst/>
          </a:prstGeom>
        </p:spPr>
        <p:txBody>
          <a:bodyPr wrap="square">
            <a:spAutoFit/>
          </a:bodyPr>
          <a:lstStyle/>
          <a:p>
            <a:pPr lvl="0" indent="720000">
              <a:lnSpc>
                <a:spcPct val="125000"/>
              </a:lnSpc>
              <a:spcBef>
                <a:spcPct val="50000"/>
              </a:spcBef>
              <a:buClr>
                <a:srgbClr val="0000CC"/>
              </a:buClr>
            </a:pPr>
            <a:r>
              <a:rPr lang="zh-CN" altLang="en-US" sz="2800" b="1" dirty="0">
                <a:solidFill>
                  <a:srgbClr val="000000"/>
                </a:solidFill>
                <a:latin typeface="Times New Roman" panose="02020603050405020304" pitchFamily="18" charset="0"/>
              </a:rPr>
              <a:t>高阶滤波器避免用直接型，尽量分解为低阶网络的级联或并联。 </a:t>
            </a:r>
          </a:p>
        </p:txBody>
      </p:sp>
      <p:sp>
        <p:nvSpPr>
          <p:cNvPr id="7" name="矩形 6"/>
          <p:cNvSpPr/>
          <p:nvPr/>
        </p:nvSpPr>
        <p:spPr>
          <a:xfrm>
            <a:off x="5868144" y="1253293"/>
            <a:ext cx="543739" cy="523220"/>
          </a:xfrm>
          <a:prstGeom prst="rect">
            <a:avLst/>
          </a:prstGeom>
        </p:spPr>
        <p:txBody>
          <a:bodyPr wrap="none">
            <a:spAutoFit/>
          </a:bodyPr>
          <a:lstStyle/>
          <a:p>
            <a:r>
              <a:rPr lang="zh-CN" altLang="en-US" sz="2800" dirty="0">
                <a:solidFill>
                  <a:srgbClr val="FF0066"/>
                </a:solidFill>
              </a:rPr>
              <a:t>★</a:t>
            </a:r>
            <a:endParaRPr lang="zh-CN" altLang="en-US" sz="2800" dirty="0"/>
          </a:p>
        </p:txBody>
      </p:sp>
      <p:sp>
        <p:nvSpPr>
          <p:cNvPr id="8" name="Rectangle 3"/>
          <p:cNvSpPr>
            <a:spLocks noChangeArrowheads="1"/>
          </p:cNvSpPr>
          <p:nvPr/>
        </p:nvSpPr>
        <p:spPr bwMode="auto">
          <a:xfrm>
            <a:off x="755576" y="228600"/>
            <a:ext cx="7381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993300"/>
                </a:solidFill>
                <a:ea typeface="楷体_GB2312" pitchFamily="49" charset="-122"/>
              </a:rPr>
              <a:t>6.5 </a:t>
            </a:r>
            <a:r>
              <a:rPr lang="zh-CN" altLang="en-US" sz="3200" b="1" dirty="0">
                <a:solidFill>
                  <a:srgbClr val="993300"/>
                </a:solidFill>
                <a:ea typeface="楷体_GB2312" pitchFamily="49" charset="-122"/>
              </a:rPr>
              <a:t>系数量化对数字滤波器的影响</a:t>
            </a:r>
          </a:p>
        </p:txBody>
      </p:sp>
    </p:spTree>
    <p:extLst>
      <p:ext uri="{BB962C8B-B14F-4D97-AF65-F5344CB8AC3E}">
        <p14:creationId xmlns:p14="http://schemas.microsoft.com/office/powerpoint/2010/main" val="11357129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120" y="177400"/>
            <a:ext cx="2722220" cy="5847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作业题</a:t>
            </a:r>
            <a:r>
              <a:rPr kumimoji="0" lang="en-US" altLang="zh-CN"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共</a:t>
            </a:r>
            <a:r>
              <a:rPr kumimoji="0" lang="en-US" altLang="zh-CN"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题</a:t>
            </a:r>
            <a:r>
              <a:rPr kumimoji="0" lang="en-US" altLang="zh-CN"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pitchFamily="18" charset="0"/>
              <a:ea typeface="宋体" charset="-122"/>
              <a:cs typeface="Times New Roman" panose="02020603050405020304" pitchFamily="18" charset="0"/>
            </a:endParaRPr>
          </a:p>
        </p:txBody>
      </p:sp>
      <p:sp>
        <p:nvSpPr>
          <p:cNvPr id="11" name="矩形 10"/>
          <p:cNvSpPr/>
          <p:nvPr/>
        </p:nvSpPr>
        <p:spPr>
          <a:xfrm>
            <a:off x="323528" y="899930"/>
            <a:ext cx="723275" cy="523220"/>
          </a:xfrm>
          <a:prstGeom prst="rect">
            <a:avLst/>
          </a:prstGeom>
        </p:spPr>
        <p:txBody>
          <a:bodyPr wrap="none">
            <a:spAutoFit/>
          </a:bodyPr>
          <a:lstStyle/>
          <a:p>
            <a:r>
              <a:rPr lang="en-US" altLang="zh-CN" sz="28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6.3 </a:t>
            </a:r>
            <a:endParaRPr lang="zh-CN" altLang="en-US" sz="1600" dirty="0"/>
          </a:p>
        </p:txBody>
      </p:sp>
      <p:sp>
        <p:nvSpPr>
          <p:cNvPr id="12" name="Rectangle 2"/>
          <p:cNvSpPr txBox="1">
            <a:spLocks/>
          </p:cNvSpPr>
          <p:nvPr/>
        </p:nvSpPr>
        <p:spPr bwMode="auto">
          <a:xfrm>
            <a:off x="1038749" y="762175"/>
            <a:ext cx="7543800" cy="81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lvl="0" algn="l" eaLnBrk="1" fontAlgn="auto" hangingPunct="1">
              <a:lnSpc>
                <a:spcPct val="125000"/>
              </a:lnSpc>
              <a:spcBef>
                <a:spcPts val="0"/>
              </a:spcBef>
              <a:spcAft>
                <a:spcPts val="0"/>
              </a:spcAft>
              <a:defRPr/>
            </a:pPr>
            <a:r>
              <a:rPr lang="zh-CN" altLang="en-US"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用直接</a:t>
            </a:r>
            <a:r>
              <a:rPr lang="en-US" altLang="zh-CN"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I</a:t>
            </a:r>
            <a:r>
              <a:rPr lang="zh-CN" altLang="en-US"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型及直接</a:t>
            </a:r>
            <a:r>
              <a:rPr lang="en-US" altLang="zh-CN"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II</a:t>
            </a:r>
            <a:r>
              <a:rPr lang="zh-CN" altLang="en-US"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型结构实现以下系统</a:t>
            </a:r>
            <a:r>
              <a:rPr kumimoji="0" lang="zh-CN" alt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函数</a:t>
            </a:r>
            <a:r>
              <a:rPr kumimoji="0" lang="en-US" altLang="zh-CN" sz="28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3" name="Object 2"/>
          <p:cNvGraphicFramePr>
            <a:graphicFrameLocks noChangeAspect="1"/>
          </p:cNvGraphicFramePr>
          <p:nvPr>
            <p:extLst>
              <p:ext uri="{D42A27DB-BD31-4B8C-83A1-F6EECF244321}">
                <p14:modId xmlns:p14="http://schemas.microsoft.com/office/powerpoint/2010/main" val="4119868531"/>
              </p:ext>
            </p:extLst>
          </p:nvPr>
        </p:nvGraphicFramePr>
        <p:xfrm>
          <a:off x="1046803" y="1510527"/>
          <a:ext cx="3766455" cy="992710"/>
        </p:xfrm>
        <a:graphic>
          <a:graphicData uri="http://schemas.openxmlformats.org/presentationml/2006/ole">
            <mc:AlternateContent xmlns:mc="http://schemas.openxmlformats.org/markup-compatibility/2006">
              <mc:Choice xmlns:v="urn:schemas-microsoft-com:vml" Requires="v">
                <p:oleObj name="Equation" r:id="rId2" imgW="1637589" imgH="431613" progId="Equation.DSMT4">
                  <p:embed/>
                </p:oleObj>
              </mc:Choice>
              <mc:Fallback>
                <p:oleObj name="Equation" r:id="rId2" imgW="1637589" imgH="431613" progId="Equation.DSMT4">
                  <p:embed/>
                  <p:pic>
                    <p:nvPicPr>
                      <p:cNvPr id="1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803" y="1510527"/>
                        <a:ext cx="3766455" cy="992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Box 3"/>
          <p:cNvSpPr txBox="1">
            <a:spLocks noChangeArrowheads="1"/>
          </p:cNvSpPr>
          <p:nvPr/>
        </p:nvSpPr>
        <p:spPr bwMode="auto">
          <a:xfrm>
            <a:off x="352594" y="1747326"/>
            <a:ext cx="68615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cs typeface="Times New Roman" panose="02020603050405020304" pitchFamily="18" charset="0"/>
              </a:rPr>
              <a:t>(1)</a:t>
            </a:r>
            <a:endParaRPr lang="zh-CN" altLang="en-US" dirty="0">
              <a:cs typeface="Times New Roman" panose="02020603050405020304" pitchFamily="18" charset="0"/>
            </a:endParaRPr>
          </a:p>
        </p:txBody>
      </p:sp>
      <p:sp>
        <p:nvSpPr>
          <p:cNvPr id="15" name="矩形 14"/>
          <p:cNvSpPr/>
          <p:nvPr/>
        </p:nvSpPr>
        <p:spPr>
          <a:xfrm>
            <a:off x="355148" y="3268733"/>
            <a:ext cx="723275" cy="523220"/>
          </a:xfrm>
          <a:prstGeom prst="rect">
            <a:avLst/>
          </a:prstGeom>
        </p:spPr>
        <p:txBody>
          <a:bodyPr wrap="none">
            <a:spAutoFit/>
          </a:bodyPr>
          <a:lstStyle/>
          <a:p>
            <a:r>
              <a:rPr lang="en-US" altLang="zh-CN" sz="28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6.5 </a:t>
            </a:r>
            <a:endParaRPr lang="zh-CN" altLang="en-US" sz="1600" dirty="0"/>
          </a:p>
        </p:txBody>
      </p:sp>
      <p:sp>
        <p:nvSpPr>
          <p:cNvPr id="16" name="Rectangle 2"/>
          <p:cNvSpPr txBox="1">
            <a:spLocks/>
          </p:cNvSpPr>
          <p:nvPr/>
        </p:nvSpPr>
        <p:spPr bwMode="auto">
          <a:xfrm>
            <a:off x="1046803" y="3296261"/>
            <a:ext cx="7543800" cy="48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lvl="0" algn="l" eaLnBrk="1" fontAlgn="auto" hangingPunct="1">
              <a:lnSpc>
                <a:spcPct val="125000"/>
              </a:lnSpc>
              <a:spcBef>
                <a:spcPts val="0"/>
              </a:spcBef>
              <a:spcAft>
                <a:spcPts val="0"/>
              </a:spcAft>
              <a:defRPr/>
            </a:pPr>
            <a:r>
              <a:rPr lang="zh-CN" altLang="en-US"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设滤波器的差分方程为</a:t>
            </a:r>
            <a:endParaRPr lang="en-US" altLang="zh-CN"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矩形 16"/>
          <p:cNvSpPr/>
          <p:nvPr/>
        </p:nvSpPr>
        <p:spPr>
          <a:xfrm>
            <a:off x="1059569" y="4363061"/>
            <a:ext cx="8061259" cy="1169551"/>
          </a:xfrm>
          <a:prstGeom prst="rect">
            <a:avLst/>
          </a:prstGeom>
        </p:spPr>
        <p:txBody>
          <a:bodyPr wrap="square">
            <a:spAutoFit/>
          </a:bodyPr>
          <a:lstStyle/>
          <a:p>
            <a:pPr lvl="0" eaLnBrk="1" fontAlgn="auto" hangingPunct="1">
              <a:lnSpc>
                <a:spcPct val="125000"/>
              </a:lnSpc>
              <a:spcBef>
                <a:spcPts val="0"/>
              </a:spcBef>
              <a:spcAft>
                <a:spcPts val="0"/>
              </a:spcAft>
              <a:defRPr/>
            </a:pPr>
            <a:r>
              <a:rPr lang="zh-CN" altLang="en-US"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试用直接</a:t>
            </a:r>
            <a:r>
              <a:rPr lang="en-US" altLang="zh-CN"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I</a:t>
            </a:r>
            <a:r>
              <a:rPr lang="zh-CN" altLang="en-US"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型、直接</a:t>
            </a:r>
            <a:r>
              <a:rPr lang="en-US" altLang="zh-CN"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II</a:t>
            </a:r>
            <a:r>
              <a:rPr lang="zh-CN" altLang="en-US" sz="2800" b="1"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rPr>
              <a:t>型以及全部一阶节的级联型、并联型结构实现它。</a:t>
            </a:r>
          </a:p>
        </p:txBody>
      </p:sp>
      <p:graphicFrame>
        <p:nvGraphicFramePr>
          <p:cNvPr id="18" name="对象 2"/>
          <p:cNvGraphicFramePr>
            <a:graphicFrameLocks noChangeAspect="1"/>
          </p:cNvGraphicFramePr>
          <p:nvPr>
            <p:extLst>
              <p:ext uri="{D42A27DB-BD31-4B8C-83A1-F6EECF244321}">
                <p14:modId xmlns:p14="http://schemas.microsoft.com/office/powerpoint/2010/main" val="1453441878"/>
              </p:ext>
            </p:extLst>
          </p:nvPr>
        </p:nvGraphicFramePr>
        <p:xfrm>
          <a:off x="1958028" y="3650274"/>
          <a:ext cx="6453187" cy="865187"/>
        </p:xfrm>
        <a:graphic>
          <a:graphicData uri="http://schemas.openxmlformats.org/presentationml/2006/ole">
            <mc:AlternateContent xmlns:mc="http://schemas.openxmlformats.org/markup-compatibility/2006">
              <mc:Choice xmlns:v="urn:schemas-microsoft-com:vml" Requires="v">
                <p:oleObj name="Equation" r:id="rId4" imgW="2933640" imgH="393480" progId="Equation.DSMT4">
                  <p:embed/>
                </p:oleObj>
              </mc:Choice>
              <mc:Fallback>
                <p:oleObj name="Equation" r:id="rId4" imgW="2933640" imgH="393480" progId="Equation.DSMT4">
                  <p:embed/>
                  <p:pic>
                    <p:nvPicPr>
                      <p:cNvPr id="6" name="对象 2"/>
                      <p:cNvPicPr>
                        <a:picLocks noChangeAspect="1" noChangeArrowheads="1"/>
                      </p:cNvPicPr>
                      <p:nvPr/>
                    </p:nvPicPr>
                    <p:blipFill>
                      <a:blip r:embed="rId5"/>
                      <a:srcRect/>
                      <a:stretch>
                        <a:fillRect/>
                      </a:stretch>
                    </p:blipFill>
                    <p:spPr bwMode="auto">
                      <a:xfrm>
                        <a:off x="1958028" y="3650274"/>
                        <a:ext cx="645318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143551" y="3698012"/>
            <a:ext cx="1146468" cy="523220"/>
          </a:xfrm>
          <a:prstGeom prst="rect">
            <a:avLst/>
          </a:prstGeom>
        </p:spPr>
        <p:txBody>
          <a:bodyPr wrap="none">
            <a:spAutoFit/>
          </a:bodyPr>
          <a:lstStyle/>
          <a:p>
            <a:pPr lvl="0" eaLnBrk="1" hangingPunct="1"/>
            <a:r>
              <a:rPr lang="en-US" altLang="zh-CN"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修改</a:t>
            </a:r>
            <a:r>
              <a:rPr lang="en-US" altLang="zh-CN" sz="2800" b="1" dirty="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1037361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a:spLocks noChangeArrowheads="1"/>
          </p:cNvSpPr>
          <p:nvPr/>
        </p:nvSpPr>
        <p:spPr bwMode="auto">
          <a:xfrm>
            <a:off x="107504" y="586468"/>
            <a:ext cx="838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cs typeface="Times New Roman" panose="02020603050405020304" pitchFamily="18" charset="0"/>
              </a:rPr>
              <a:t>6.6</a:t>
            </a:r>
            <a:endParaRPr lang="zh-CN" altLang="en-US" dirty="0">
              <a:cs typeface="Times New Roman" panose="02020603050405020304" pitchFamily="18" charset="0"/>
            </a:endParaRPr>
          </a:p>
        </p:txBody>
      </p:sp>
      <p:sp>
        <p:nvSpPr>
          <p:cNvPr id="3" name="矩形 2"/>
          <p:cNvSpPr/>
          <p:nvPr/>
        </p:nvSpPr>
        <p:spPr>
          <a:xfrm>
            <a:off x="640903" y="588522"/>
            <a:ext cx="487345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rPr>
              <a:t>已知</a:t>
            </a:r>
            <a:r>
              <a:rPr lang="zh-CN" altLang="en-US" sz="2800" b="1" kern="0" dirty="0">
                <a:solidFill>
                  <a:srgbClr val="000000"/>
                </a:solidFill>
                <a:latin typeface="Times New Roman"/>
                <a:ea typeface="宋体" panose="02010600030101010101" pitchFamily="2" charset="-122"/>
              </a:rPr>
              <a:t>滤波器的单位脉冲响应为</a:t>
            </a:r>
            <a:endParaRPr kumimoji="0" lang="zh-CN" altLang="en-US" sz="1800" b="1" i="0" u="none" strike="noStrike" kern="0" cap="none" spc="0" normalizeH="0" baseline="0" noProof="0" dirty="0">
              <a:ln>
                <a:noFill/>
              </a:ln>
              <a:solidFill>
                <a:sysClr val="windowText" lastClr="000000"/>
              </a:solidFill>
              <a:effectLst/>
              <a:uLnTx/>
              <a:uFillTx/>
            </a:endParaRPr>
          </a:p>
        </p:txBody>
      </p:sp>
      <p:graphicFrame>
        <p:nvGraphicFramePr>
          <p:cNvPr id="4" name="Object 7"/>
          <p:cNvGraphicFramePr>
            <a:graphicFrameLocks noChangeAspect="1"/>
          </p:cNvGraphicFramePr>
          <p:nvPr>
            <p:extLst>
              <p:ext uri="{D42A27DB-BD31-4B8C-83A1-F6EECF244321}">
                <p14:modId xmlns:p14="http://schemas.microsoft.com/office/powerpoint/2010/main" val="2434653392"/>
              </p:ext>
            </p:extLst>
          </p:nvPr>
        </p:nvGraphicFramePr>
        <p:xfrm>
          <a:off x="5441502" y="588522"/>
          <a:ext cx="2630487" cy="554037"/>
        </p:xfrm>
        <a:graphic>
          <a:graphicData uri="http://schemas.openxmlformats.org/presentationml/2006/ole">
            <mc:AlternateContent xmlns:mc="http://schemas.openxmlformats.org/markup-compatibility/2006">
              <mc:Choice xmlns:v="urn:schemas-microsoft-com:vml" Requires="v">
                <p:oleObj name="Equation" r:id="rId2" imgW="1143000" imgH="241200" progId="Equation.DSMT4">
                  <p:embed/>
                </p:oleObj>
              </mc:Choice>
              <mc:Fallback>
                <p:oleObj name="Equation" r:id="rId2" imgW="1143000" imgH="241200" progId="Equation.DSMT4">
                  <p:embed/>
                  <p:pic>
                    <p:nvPicPr>
                      <p:cNvPr id="4" name="Object 7"/>
                      <p:cNvPicPr>
                        <a:picLocks noChangeAspect="1" noChangeArrowheads="1"/>
                      </p:cNvPicPr>
                      <p:nvPr/>
                    </p:nvPicPr>
                    <p:blipFill>
                      <a:blip r:embed="rId3"/>
                      <a:srcRect/>
                      <a:stretch>
                        <a:fillRect/>
                      </a:stretch>
                    </p:blipFill>
                    <p:spPr bwMode="auto">
                      <a:xfrm>
                        <a:off x="5441502" y="588522"/>
                        <a:ext cx="26304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3"/>
          <p:cNvSpPr txBox="1">
            <a:spLocks noChangeArrowheads="1"/>
          </p:cNvSpPr>
          <p:nvPr/>
        </p:nvSpPr>
        <p:spPr bwMode="auto">
          <a:xfrm>
            <a:off x="610423" y="1105580"/>
            <a:ext cx="71170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cs typeface="Times New Roman" panose="02020603050405020304" pitchFamily="18" charset="0"/>
              </a:rPr>
              <a:t>(1)</a:t>
            </a:r>
            <a:r>
              <a:rPr lang="zh-CN" altLang="en-US" dirty="0">
                <a:cs typeface="Times New Roman" panose="02020603050405020304" pitchFamily="18" charset="0"/>
              </a:rPr>
              <a:t>画出该系统的横截型结构流图。</a:t>
            </a:r>
            <a:endParaRPr lang="en-US" altLang="zh-CN" dirty="0">
              <a:cs typeface="Times New Roman" panose="02020603050405020304" pitchFamily="18" charset="0"/>
            </a:endParaRPr>
          </a:p>
        </p:txBody>
      </p:sp>
      <p:sp>
        <p:nvSpPr>
          <p:cNvPr id="11" name="TextBox 3"/>
          <p:cNvSpPr txBox="1">
            <a:spLocks noChangeArrowheads="1"/>
          </p:cNvSpPr>
          <p:nvPr/>
        </p:nvSpPr>
        <p:spPr bwMode="auto">
          <a:xfrm>
            <a:off x="107504" y="2494950"/>
            <a:ext cx="838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cs typeface="Times New Roman" panose="02020603050405020304" pitchFamily="18" charset="0"/>
              </a:rPr>
              <a:t>6.10</a:t>
            </a:r>
            <a:endParaRPr lang="zh-CN" altLang="en-US" dirty="0">
              <a:cs typeface="Times New Roman" panose="02020603050405020304" pitchFamily="18" charset="0"/>
            </a:endParaRPr>
          </a:p>
        </p:txBody>
      </p:sp>
      <p:sp>
        <p:nvSpPr>
          <p:cNvPr id="12" name="矩形 11"/>
          <p:cNvSpPr/>
          <p:nvPr/>
        </p:nvSpPr>
        <p:spPr>
          <a:xfrm>
            <a:off x="945704" y="2492896"/>
            <a:ext cx="5569153"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rPr>
              <a:t>一个二阶</a:t>
            </a:r>
            <a:r>
              <a:rPr kumimoji="0" lang="en-US" altLang="zh-CN" sz="2800" b="1" i="0" u="none" strike="noStrike" kern="0" cap="none" spc="0" normalizeH="0" baseline="0" noProof="0" dirty="0">
                <a:ln>
                  <a:noFill/>
                </a:ln>
                <a:solidFill>
                  <a:srgbClr val="000000"/>
                </a:solidFill>
                <a:effectLst/>
                <a:uLnTx/>
                <a:uFillTx/>
                <a:latin typeface="Times New Roman"/>
                <a:ea typeface="宋体" panose="02010600030101010101" pitchFamily="2" charset="-122"/>
              </a:rPr>
              <a:t>IIR</a:t>
            </a:r>
            <a:r>
              <a:rPr lang="zh-CN" altLang="en-US" sz="2800" b="1" kern="0" dirty="0">
                <a:solidFill>
                  <a:srgbClr val="000000"/>
                </a:solidFill>
                <a:latin typeface="Times New Roman"/>
                <a:ea typeface="宋体" panose="02010600030101010101" pitchFamily="2" charset="-122"/>
              </a:rPr>
              <a:t>滤波器的系统函数为</a:t>
            </a:r>
            <a:endParaRPr kumimoji="0" lang="zh-CN" altLang="en-US" sz="1800" b="1" i="0" u="none" strike="noStrike" kern="0" cap="none" spc="0" normalizeH="0" baseline="0" noProof="0" dirty="0">
              <a:ln>
                <a:noFill/>
              </a:ln>
              <a:solidFill>
                <a:sysClr val="windowText" lastClr="000000"/>
              </a:solidFill>
              <a:effectLst/>
              <a:uLnTx/>
              <a:uFillTx/>
            </a:endParaRPr>
          </a:p>
        </p:txBody>
      </p:sp>
      <p:graphicFrame>
        <p:nvGraphicFramePr>
          <p:cNvPr id="13" name="Object 3"/>
          <p:cNvGraphicFramePr>
            <a:graphicFrameLocks noChangeAspect="1"/>
          </p:cNvGraphicFramePr>
          <p:nvPr>
            <p:extLst>
              <p:ext uri="{D42A27DB-BD31-4B8C-83A1-F6EECF244321}">
                <p14:modId xmlns:p14="http://schemas.microsoft.com/office/powerpoint/2010/main" val="2825704766"/>
              </p:ext>
            </p:extLst>
          </p:nvPr>
        </p:nvGraphicFramePr>
        <p:xfrm>
          <a:off x="2183953" y="3100909"/>
          <a:ext cx="4059238" cy="992187"/>
        </p:xfrm>
        <a:graphic>
          <a:graphicData uri="http://schemas.openxmlformats.org/presentationml/2006/ole">
            <mc:AlternateContent xmlns:mc="http://schemas.openxmlformats.org/markup-compatibility/2006">
              <mc:Choice xmlns:v="urn:schemas-microsoft-com:vml" Requires="v">
                <p:oleObj name="Equation" r:id="rId4" imgW="1765080" imgH="431640" progId="Equation.DSMT4">
                  <p:embed/>
                </p:oleObj>
              </mc:Choice>
              <mc:Fallback>
                <p:oleObj name="Equation" r:id="rId4" imgW="1765080" imgH="431640" progId="Equation.DSMT4">
                  <p:embed/>
                  <p:pic>
                    <p:nvPicPr>
                      <p:cNvPr id="5" name="Object 3"/>
                      <p:cNvPicPr>
                        <a:picLocks noChangeAspect="1" noChangeArrowheads="1"/>
                      </p:cNvPicPr>
                      <p:nvPr/>
                    </p:nvPicPr>
                    <p:blipFill>
                      <a:blip r:embed="rId5"/>
                      <a:srcRect/>
                      <a:stretch>
                        <a:fillRect/>
                      </a:stretch>
                    </p:blipFill>
                    <p:spPr bwMode="auto">
                      <a:xfrm>
                        <a:off x="2183953" y="3100909"/>
                        <a:ext cx="4059238"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矩形 13"/>
          <p:cNvSpPr/>
          <p:nvPr/>
        </p:nvSpPr>
        <p:spPr>
          <a:xfrm>
            <a:off x="945703" y="4255676"/>
            <a:ext cx="7598555"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b="1" kern="0" dirty="0">
                <a:solidFill>
                  <a:srgbClr val="000000"/>
                </a:solidFill>
                <a:latin typeface="Times New Roman"/>
                <a:ea typeface="宋体" panose="02010600030101010101" pitchFamily="2" charset="-122"/>
              </a:rPr>
              <a:t>现用</a:t>
            </a:r>
            <a:r>
              <a:rPr lang="en-US" altLang="zh-CN" sz="2800" b="1" i="1" kern="0" dirty="0">
                <a:solidFill>
                  <a:srgbClr val="000000"/>
                </a:solidFill>
                <a:latin typeface="Times New Roman"/>
                <a:ea typeface="宋体" panose="02010600030101010101" pitchFamily="2" charset="-122"/>
              </a:rPr>
              <a:t>b</a:t>
            </a:r>
            <a:r>
              <a:rPr lang="zh-CN" altLang="en-US" sz="2800" b="1" kern="0" dirty="0">
                <a:solidFill>
                  <a:srgbClr val="000000"/>
                </a:solidFill>
                <a:latin typeface="Times New Roman"/>
                <a:ea typeface="宋体" panose="02010600030101010101" pitchFamily="2" charset="-122"/>
              </a:rPr>
              <a:t>位字长定点制实现它，尾数作舍入处理。</a:t>
            </a:r>
            <a:endParaRPr kumimoji="0" lang="zh-CN" altLang="en-US" sz="1800" b="1" i="0" u="none" strike="noStrike" kern="0" cap="none" spc="0" normalizeH="0" baseline="0" noProof="0" dirty="0">
              <a:ln>
                <a:noFill/>
              </a:ln>
              <a:solidFill>
                <a:sysClr val="windowText" lastClr="000000"/>
              </a:solidFill>
              <a:effectLst/>
              <a:uLnTx/>
              <a:uFillTx/>
            </a:endParaRPr>
          </a:p>
        </p:txBody>
      </p:sp>
      <p:sp>
        <p:nvSpPr>
          <p:cNvPr id="15" name="矩形 14"/>
          <p:cNvSpPr/>
          <p:nvPr/>
        </p:nvSpPr>
        <p:spPr>
          <a:xfrm>
            <a:off x="918320" y="4869160"/>
            <a:ext cx="8028384" cy="523220"/>
          </a:xfrm>
          <a:prstGeom prst="rect">
            <a:avLst/>
          </a:prstGeom>
        </p:spPr>
        <p:txBody>
          <a:bodyPr wrap="square">
            <a:spAutoFit/>
          </a:bodyPr>
          <a:lstStyle/>
          <a:p>
            <a:pPr eaLnBrk="1" hangingPunct="1"/>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en-US" sz="2800" b="1" dirty="0">
                <a:solidFill>
                  <a:srgbClr val="000000"/>
                </a:solidFill>
                <a:latin typeface="Times New Roman" panose="02020603050405020304" pitchFamily="18" charset="0"/>
                <a:cs typeface="Times New Roman" panose="02020603050405020304" pitchFamily="18" charset="0"/>
              </a:rPr>
              <a:t>用并联结构实现</a:t>
            </a:r>
            <a:r>
              <a:rPr lang="en-US" altLang="zh-CN" sz="2800" b="1" i="1" dirty="0">
                <a:latin typeface="Times New Roman" panose="02020603050405020304" pitchFamily="18" charset="0"/>
                <a:cs typeface="Times New Roman" panose="02020603050405020304" pitchFamily="18" charset="0"/>
              </a:rPr>
              <a:t>H</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z</a:t>
            </a:r>
            <a:r>
              <a:rPr lang="en-US" altLang="zh-CN" sz="2800" b="1" dirty="0">
                <a:latin typeface="Times New Roman" panose="02020603050405020304" pitchFamily="18" charset="0"/>
                <a:cs typeface="Times New Roman" panose="02020603050405020304" pitchFamily="18" charset="0"/>
              </a:rPr>
              <a:t>) </a:t>
            </a:r>
            <a:r>
              <a:rPr lang="zh-CN" altLang="en-US" sz="2800" b="1" dirty="0">
                <a:solidFill>
                  <a:srgbClr val="000000"/>
                </a:solidFill>
                <a:latin typeface="Times New Roman" panose="02020603050405020304" pitchFamily="18" charset="0"/>
                <a:cs typeface="Times New Roman" panose="02020603050405020304" pitchFamily="18" charset="0"/>
              </a:rPr>
              <a:t>，计算输出舍入噪声方差。</a:t>
            </a:r>
            <a:endParaRPr lang="en-US" altLang="zh-CN" sz="28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6211200"/>
      </p:ext>
    </p:extLst>
  </p:cSld>
  <p:clrMapOvr>
    <a:masterClrMapping/>
  </p:clrMapOvr>
</p:sld>
</file>

<file path=ppt/theme/theme1.xml><?xml version="1.0" encoding="utf-8"?>
<a:theme xmlns:a="http://schemas.openxmlformats.org/drawingml/2006/main" name="DSP2024">
  <a:themeElements>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fontScheme name="Global">
      <a:majorFont>
        <a:latin typeface="Times New Roman"/>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DSP2024</Template>
  <TotalTime>11744</TotalTime>
  <Words>5432</Words>
  <Application>Microsoft Office PowerPoint</Application>
  <PresentationFormat>全屏显示(4:3)</PresentationFormat>
  <Paragraphs>615</Paragraphs>
  <Slides>104</Slides>
  <Notes>1</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3</vt:i4>
      </vt:variant>
      <vt:variant>
        <vt:lpstr>幻灯片标题</vt:lpstr>
      </vt:variant>
      <vt:variant>
        <vt:i4>104</vt:i4>
      </vt:variant>
    </vt:vector>
  </HeadingPairs>
  <TitlesOfParts>
    <vt:vector size="118" baseType="lpstr">
      <vt:lpstr>等线</vt:lpstr>
      <vt:lpstr>等线 Light</vt:lpstr>
      <vt:lpstr>黑体</vt:lpstr>
      <vt:lpstr>楷体_GB2312</vt:lpstr>
      <vt:lpstr>宋体</vt:lpstr>
      <vt:lpstr>Arial</vt:lpstr>
      <vt:lpstr>Tahoma</vt:lpstr>
      <vt:lpstr>Times New Roman</vt:lpstr>
      <vt:lpstr>Wingdings</vt:lpstr>
      <vt:lpstr>DSP2024</vt:lpstr>
      <vt:lpstr>自定义设计方案</vt:lpstr>
      <vt:lpstr>Equation</vt:lpstr>
      <vt:lpstr>MathType 7.0 Equation</vt:lpstr>
      <vt:lpstr>公式</vt:lpstr>
      <vt:lpstr>第6章  数字信号处理系统的实现</vt:lpstr>
      <vt:lpstr>PowerPoint 演示文稿</vt:lpstr>
      <vt:lpstr>PowerPoint 演示文稿</vt:lpstr>
      <vt:lpstr>PowerPoint 演示文稿</vt:lpstr>
      <vt:lpstr>PowerPoint 演示文稿</vt:lpstr>
      <vt:lpstr>PowerPoint 演示文稿</vt:lpstr>
      <vt:lpstr>PowerPoint 演示文稿</vt:lpstr>
      <vt:lpstr>信号流图转置的作用</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(2)级联型</vt:lpstr>
      <vt:lpstr>PowerPoint 演示文稿</vt:lpstr>
      <vt:lpstr>PowerPoint 演示文稿</vt:lpstr>
      <vt:lpstr>(3)线性相位型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6.2.1  二进制数的表示</vt:lpstr>
      <vt:lpstr>PowerPoint 演示文稿</vt:lpstr>
      <vt:lpstr>定点数有三种表示方法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图6.32  横截型FIR滤波器的舍入噪声分析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数字信号处理系统的实现</dc:title>
  <dc:creator>user</dc:creator>
  <cp:lastModifiedBy>克琴 周</cp:lastModifiedBy>
  <cp:revision>1541</cp:revision>
  <cp:lastPrinted>2025-05-21T17:30:17Z</cp:lastPrinted>
  <dcterms:created xsi:type="dcterms:W3CDTF">2001-09-22T01:55:13Z</dcterms:created>
  <dcterms:modified xsi:type="dcterms:W3CDTF">2025-06-15T16:28:15Z</dcterms:modified>
</cp:coreProperties>
</file>