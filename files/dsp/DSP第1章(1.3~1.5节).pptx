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6" r:id="rId3"/>
  </p:sldMasterIdLst>
  <p:notesMasterIdLst>
    <p:notesMasterId r:id="rId60"/>
  </p:notesMasterIdLst>
  <p:handoutMasterIdLst>
    <p:handoutMasterId r:id="rId61"/>
  </p:handoutMasterIdLst>
  <p:sldIdLst>
    <p:sldId id="428" r:id="rId4"/>
    <p:sldId id="575" r:id="rId5"/>
    <p:sldId id="576" r:id="rId6"/>
    <p:sldId id="577" r:id="rId7"/>
    <p:sldId id="578" r:id="rId8"/>
    <p:sldId id="579" r:id="rId9"/>
    <p:sldId id="580" r:id="rId10"/>
    <p:sldId id="622" r:id="rId11"/>
    <p:sldId id="623" r:id="rId12"/>
    <p:sldId id="631" r:id="rId13"/>
    <p:sldId id="583" r:id="rId14"/>
    <p:sldId id="584" r:id="rId15"/>
    <p:sldId id="585" r:id="rId16"/>
    <p:sldId id="625" r:id="rId17"/>
    <p:sldId id="586" r:id="rId18"/>
    <p:sldId id="624" r:id="rId19"/>
    <p:sldId id="629" r:id="rId20"/>
    <p:sldId id="630" r:id="rId21"/>
    <p:sldId id="587" r:id="rId22"/>
    <p:sldId id="588" r:id="rId23"/>
    <p:sldId id="589" r:id="rId24"/>
    <p:sldId id="590" r:id="rId25"/>
    <p:sldId id="591" r:id="rId26"/>
    <p:sldId id="592" r:id="rId27"/>
    <p:sldId id="593" r:id="rId28"/>
    <p:sldId id="626" r:id="rId29"/>
    <p:sldId id="627" r:id="rId30"/>
    <p:sldId id="594" r:id="rId31"/>
    <p:sldId id="595" r:id="rId32"/>
    <p:sldId id="596" r:id="rId33"/>
    <p:sldId id="597" r:id="rId34"/>
    <p:sldId id="598" r:id="rId35"/>
    <p:sldId id="599" r:id="rId36"/>
    <p:sldId id="600" r:id="rId37"/>
    <p:sldId id="601" r:id="rId38"/>
    <p:sldId id="602" r:id="rId39"/>
    <p:sldId id="603" r:id="rId40"/>
    <p:sldId id="604" r:id="rId41"/>
    <p:sldId id="677" r:id="rId42"/>
    <p:sldId id="605" r:id="rId43"/>
    <p:sldId id="606" r:id="rId44"/>
    <p:sldId id="607" r:id="rId45"/>
    <p:sldId id="608" r:id="rId46"/>
    <p:sldId id="609" r:id="rId47"/>
    <p:sldId id="610" r:id="rId48"/>
    <p:sldId id="611" r:id="rId49"/>
    <p:sldId id="612" r:id="rId50"/>
    <p:sldId id="613" r:id="rId51"/>
    <p:sldId id="614" r:id="rId52"/>
    <p:sldId id="615" r:id="rId53"/>
    <p:sldId id="628" r:id="rId54"/>
    <p:sldId id="616" r:id="rId55"/>
    <p:sldId id="617" r:id="rId56"/>
    <p:sldId id="620" r:id="rId57"/>
    <p:sldId id="621" r:id="rId58"/>
    <p:sldId id="618" r:id="rId59"/>
  </p:sldIdLst>
  <p:sldSz cx="9144000" cy="6858000" type="screen4x3"/>
  <p:notesSz cx="6858000" cy="9144000"/>
  <p:custDataLst>
    <p:tags r:id="rId62"/>
  </p:custData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3300"/>
    <a:srgbClr val="00CC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3" autoAdjust="0"/>
    <p:restoredTop sz="94658" autoAdjust="0"/>
  </p:normalViewPr>
  <p:slideViewPr>
    <p:cSldViewPr showGuide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14"/>
    </p:cViewPr>
  </p:sorterViewPr>
  <p:notesViewPr>
    <p:cSldViewPr>
      <p:cViewPr varScale="1">
        <p:scale>
          <a:sx n="56" d="100"/>
          <a:sy n="56" d="100"/>
        </p:scale>
        <p:origin x="-124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056B376E-F8D8-461B-AD60-7A19F46C54D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1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AF1A803D-D698-46AD-AF67-D7ECD8A4F95C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88CE8D-231A-41FC-8E6A-02C700C148B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4"/>
            <p:cNvGrpSpPr/>
            <p:nvPr userDrawn="1"/>
          </p:nvGrpSpPr>
          <p:grpSpPr bwMode="auto">
            <a:xfrm>
              <a:off x="0" y="-12"/>
              <a:ext cx="5760" cy="1045"/>
              <a:chOff x="0" y="-9"/>
              <a:chExt cx="5760" cy="1045"/>
            </a:xfrm>
          </p:grpSpPr>
          <p:sp>
            <p:nvSpPr>
              <p:cNvPr id="8" name="Freeform 5"/>
              <p:cNvSpPr/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76435 w 4848"/>
                  <a:gd name="T1" fmla="*/ 485940542 h 432"/>
                  <a:gd name="T2" fmla="*/ 0 w 4848"/>
                  <a:gd name="T3" fmla="*/ 485940542 h 432"/>
                  <a:gd name="T4" fmla="*/ 0 w 4848"/>
                  <a:gd name="T5" fmla="*/ 0 h 432"/>
                  <a:gd name="T6" fmla="*/ 76435 w 4848"/>
                  <a:gd name="T7" fmla="*/ 0 h 432"/>
                  <a:gd name="T8" fmla="*/ 76435 w 4848"/>
                  <a:gd name="T9" fmla="*/ 48594054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" name="Group 6"/>
              <p:cNvGrpSpPr/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/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7 w 15"/>
                    <a:gd name="T1" fmla="*/ 3 h 23"/>
                    <a:gd name="T2" fmla="*/ 110 w 15"/>
                    <a:gd name="T3" fmla="*/ 3 h 23"/>
                    <a:gd name="T4" fmla="*/ 97 w 15"/>
                    <a:gd name="T5" fmla="*/ 3 h 23"/>
                    <a:gd name="T6" fmla="*/ 37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Freeform 8"/>
                <p:cNvSpPr/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7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9"/>
                <p:cNvSpPr/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2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2 w 30"/>
                    <a:gd name="T7" fmla="*/ 2 h 42"/>
                    <a:gd name="T8" fmla="*/ 47 w 30"/>
                    <a:gd name="T9" fmla="*/ 2 h 42"/>
                    <a:gd name="T10" fmla="*/ 44 w 30"/>
                    <a:gd name="T11" fmla="*/ 2 h 42"/>
                    <a:gd name="T12" fmla="*/ 32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0"/>
                <p:cNvSpPr/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11"/>
                <p:cNvSpPr/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2"/>
                <p:cNvSpPr/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6 w 69"/>
                    <a:gd name="T5" fmla="*/ 1 h 47"/>
                    <a:gd name="T6" fmla="*/ 48 w 69"/>
                    <a:gd name="T7" fmla="*/ 2 h 47"/>
                    <a:gd name="T8" fmla="*/ 34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3"/>
                <p:cNvSpPr/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3 h 277"/>
                    <a:gd name="T10" fmla="*/ 122 w 355"/>
                    <a:gd name="T11" fmla="*/ 5 h 277"/>
                    <a:gd name="T12" fmla="*/ 136 w 355"/>
                    <a:gd name="T13" fmla="*/ 6 h 277"/>
                    <a:gd name="T14" fmla="*/ 148 w 355"/>
                    <a:gd name="T15" fmla="*/ 6 h 277"/>
                    <a:gd name="T16" fmla="*/ 154 w 355"/>
                    <a:gd name="T17" fmla="*/ 7 h 277"/>
                    <a:gd name="T18" fmla="*/ 176 w 355"/>
                    <a:gd name="T19" fmla="*/ 7 h 277"/>
                    <a:gd name="T20" fmla="*/ 170 w 355"/>
                    <a:gd name="T21" fmla="*/ 9 h 277"/>
                    <a:gd name="T22" fmla="*/ 177 w 355"/>
                    <a:gd name="T23" fmla="*/ 10 h 277"/>
                    <a:gd name="T24" fmla="*/ 182 w 355"/>
                    <a:gd name="T25" fmla="*/ 10 h 277"/>
                    <a:gd name="T26" fmla="*/ 200 w 355"/>
                    <a:gd name="T27" fmla="*/ 10 h 277"/>
                    <a:gd name="T28" fmla="*/ 220 w 355"/>
                    <a:gd name="T29" fmla="*/ 11 h 277"/>
                    <a:gd name="T30" fmla="*/ 238 w 355"/>
                    <a:gd name="T31" fmla="*/ 11 h 277"/>
                    <a:gd name="T32" fmla="*/ 256 w 355"/>
                    <a:gd name="T33" fmla="*/ 11 h 277"/>
                    <a:gd name="T34" fmla="*/ 280 w 355"/>
                    <a:gd name="T35" fmla="*/ 12 h 277"/>
                    <a:gd name="T36" fmla="*/ 298 w 355"/>
                    <a:gd name="T37" fmla="*/ 12 h 277"/>
                    <a:gd name="T38" fmla="*/ 336 w 355"/>
                    <a:gd name="T39" fmla="*/ 12 h 277"/>
                    <a:gd name="T40" fmla="*/ 326 w 355"/>
                    <a:gd name="T41" fmla="*/ 12 h 277"/>
                    <a:gd name="T42" fmla="*/ 306 w 355"/>
                    <a:gd name="T43" fmla="*/ 12 h 277"/>
                    <a:gd name="T44" fmla="*/ 284 w 355"/>
                    <a:gd name="T45" fmla="*/ 12 h 277"/>
                    <a:gd name="T46" fmla="*/ 272 w 355"/>
                    <a:gd name="T47" fmla="*/ 12 h 277"/>
                    <a:gd name="T48" fmla="*/ 236 w 355"/>
                    <a:gd name="T49" fmla="*/ 12 h 277"/>
                    <a:gd name="T50" fmla="*/ 218 w 355"/>
                    <a:gd name="T51" fmla="*/ 12 h 277"/>
                    <a:gd name="T52" fmla="*/ 172 w 355"/>
                    <a:gd name="T53" fmla="*/ 11 h 277"/>
                    <a:gd name="T54" fmla="*/ 160 w 355"/>
                    <a:gd name="T55" fmla="*/ 10 h 277"/>
                    <a:gd name="T56" fmla="*/ 126 w 355"/>
                    <a:gd name="T57" fmla="*/ 9 h 277"/>
                    <a:gd name="T58" fmla="*/ 108 w 355"/>
                    <a:gd name="T59" fmla="*/ 8 h 277"/>
                    <a:gd name="T60" fmla="*/ 94 w 355"/>
                    <a:gd name="T61" fmla="*/ 7 h 277"/>
                    <a:gd name="T62" fmla="*/ 68 w 355"/>
                    <a:gd name="T63" fmla="*/ 5 h 277"/>
                    <a:gd name="T64" fmla="*/ 64 w 355"/>
                    <a:gd name="T65" fmla="*/ 5 h 277"/>
                    <a:gd name="T66" fmla="*/ 58 w 355"/>
                    <a:gd name="T67" fmla="*/ 5 h 277"/>
                    <a:gd name="T68" fmla="*/ 54 w 355"/>
                    <a:gd name="T69" fmla="*/ 4 h 277"/>
                    <a:gd name="T70" fmla="*/ 38 w 355"/>
                    <a:gd name="T71" fmla="*/ 2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4"/>
                <p:cNvSpPr/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6 w 156"/>
                    <a:gd name="T7" fmla="*/ 2 h 206"/>
                    <a:gd name="T8" fmla="*/ 122 w 156"/>
                    <a:gd name="T9" fmla="*/ 2 h 206"/>
                    <a:gd name="T10" fmla="*/ 128 w 156"/>
                    <a:gd name="T11" fmla="*/ 2 h 206"/>
                    <a:gd name="T12" fmla="*/ 140 w 156"/>
                    <a:gd name="T13" fmla="*/ 0 h 206"/>
                    <a:gd name="T14" fmla="*/ 166 w 156"/>
                    <a:gd name="T15" fmla="*/ 2 h 206"/>
                    <a:gd name="T16" fmla="*/ 162 w 156"/>
                    <a:gd name="T17" fmla="*/ 2 h 206"/>
                    <a:gd name="T18" fmla="*/ 142 w 156"/>
                    <a:gd name="T19" fmla="*/ 2 h 206"/>
                    <a:gd name="T20" fmla="*/ 148 w 156"/>
                    <a:gd name="T21" fmla="*/ 3 h 206"/>
                    <a:gd name="T22" fmla="*/ 158 w 156"/>
                    <a:gd name="T23" fmla="*/ 4 h 206"/>
                    <a:gd name="T24" fmla="*/ 162 w 156"/>
                    <a:gd name="T25" fmla="*/ 4 h 206"/>
                    <a:gd name="T26" fmla="*/ 144 w 156"/>
                    <a:gd name="T27" fmla="*/ 4 h 206"/>
                    <a:gd name="T28" fmla="*/ 132 w 156"/>
                    <a:gd name="T29" fmla="*/ 5 h 206"/>
                    <a:gd name="T30" fmla="*/ 120 w 156"/>
                    <a:gd name="T31" fmla="*/ 5 h 206"/>
                    <a:gd name="T32" fmla="*/ 116 w 156"/>
                    <a:gd name="T33" fmla="*/ 6 h 206"/>
                    <a:gd name="T34" fmla="*/ 104 w 156"/>
                    <a:gd name="T35" fmla="*/ 7 h 206"/>
                    <a:gd name="T36" fmla="*/ 98 w 156"/>
                    <a:gd name="T37" fmla="*/ 7 h 206"/>
                    <a:gd name="T38" fmla="*/ 76 w 156"/>
                    <a:gd name="T39" fmla="*/ 7 h 206"/>
                    <a:gd name="T40" fmla="*/ 72 w 156"/>
                    <a:gd name="T41" fmla="*/ 6 h 206"/>
                    <a:gd name="T42" fmla="*/ 60 w 156"/>
                    <a:gd name="T43" fmla="*/ 6 h 206"/>
                    <a:gd name="T44" fmla="*/ 42 w 156"/>
                    <a:gd name="T45" fmla="*/ 6 h 206"/>
                    <a:gd name="T46" fmla="*/ 28 w 156"/>
                    <a:gd name="T47" fmla="*/ 6 h 206"/>
                    <a:gd name="T48" fmla="*/ 10 w 156"/>
                    <a:gd name="T49" fmla="*/ 5 h 206"/>
                    <a:gd name="T50" fmla="*/ 4 w 156"/>
                    <a:gd name="T51" fmla="*/ 4 h 206"/>
                    <a:gd name="T52" fmla="*/ 0 w 156"/>
                    <a:gd name="T53" fmla="*/ 4 h 206"/>
                    <a:gd name="T54" fmla="*/ 20 w 156"/>
                    <a:gd name="T55" fmla="*/ 3 h 206"/>
                    <a:gd name="T56" fmla="*/ 32 w 156"/>
                    <a:gd name="T57" fmla="*/ 3 h 206"/>
                    <a:gd name="T58" fmla="*/ 34 w 156"/>
                    <a:gd name="T59" fmla="*/ 2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5"/>
                <p:cNvSpPr/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8 w 109"/>
                    <a:gd name="T7" fmla="*/ 3 h 38"/>
                    <a:gd name="T8" fmla="*/ 106 w 109"/>
                    <a:gd name="T9" fmla="*/ 0 h 38"/>
                    <a:gd name="T10" fmla="*/ 92 w 109"/>
                    <a:gd name="T11" fmla="*/ 3 h 38"/>
                    <a:gd name="T12" fmla="*/ 76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16"/>
                <p:cNvSpPr/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6 w 76"/>
                    <a:gd name="T7" fmla="*/ 2 h 104"/>
                    <a:gd name="T8" fmla="*/ 38 w 76"/>
                    <a:gd name="T9" fmla="*/ 2 h 104"/>
                    <a:gd name="T10" fmla="*/ 38 w 76"/>
                    <a:gd name="T11" fmla="*/ 2 h 104"/>
                    <a:gd name="T12" fmla="*/ 42 w 76"/>
                    <a:gd name="T13" fmla="*/ 2 h 104"/>
                    <a:gd name="T14" fmla="*/ 38 w 76"/>
                    <a:gd name="T15" fmla="*/ 2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2 h 104"/>
                    <a:gd name="T24" fmla="*/ 20 w 76"/>
                    <a:gd name="T25" fmla="*/ 3 h 104"/>
                    <a:gd name="T26" fmla="*/ 12 w 76"/>
                    <a:gd name="T27" fmla="*/ 3 h 104"/>
                    <a:gd name="T28" fmla="*/ 8 w 76"/>
                    <a:gd name="T29" fmla="*/ 3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7"/>
                <p:cNvSpPr/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8"/>
                <p:cNvSpPr/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3 w 49"/>
                    <a:gd name="T3" fmla="*/ 0 h 29"/>
                    <a:gd name="T4" fmla="*/ 26 w 49"/>
                    <a:gd name="T5" fmla="*/ 2 h 29"/>
                    <a:gd name="T6" fmla="*/ 19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/>
                <p:cNvSpPr/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4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4 h 48"/>
                    <a:gd name="T18" fmla="*/ 23 w 61"/>
                    <a:gd name="T19" fmla="*/ 6 h 48"/>
                    <a:gd name="T20" fmla="*/ 21 w 61"/>
                    <a:gd name="T21" fmla="*/ 4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/>
                <p:cNvSpPr/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2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2 h 182"/>
                    <a:gd name="T20" fmla="*/ 88 w 286"/>
                    <a:gd name="T21" fmla="*/ 2 h 182"/>
                    <a:gd name="T22" fmla="*/ 106 w 286"/>
                    <a:gd name="T23" fmla="*/ 4 h 182"/>
                    <a:gd name="T24" fmla="*/ 104 w 286"/>
                    <a:gd name="T25" fmla="*/ 5 h 182"/>
                    <a:gd name="T26" fmla="*/ 98 w 286"/>
                    <a:gd name="T27" fmla="*/ 6 h 182"/>
                    <a:gd name="T28" fmla="*/ 122 w 286"/>
                    <a:gd name="T29" fmla="*/ 5 h 182"/>
                    <a:gd name="T30" fmla="*/ 140 w 286"/>
                    <a:gd name="T31" fmla="*/ 6 h 182"/>
                    <a:gd name="T32" fmla="*/ 168 w 286"/>
                    <a:gd name="T33" fmla="*/ 6 h 182"/>
                    <a:gd name="T34" fmla="*/ 174 w 286"/>
                    <a:gd name="T35" fmla="*/ 6 h 182"/>
                    <a:gd name="T36" fmla="*/ 168 w 286"/>
                    <a:gd name="T37" fmla="*/ 6 h 182"/>
                    <a:gd name="T38" fmla="*/ 178 w 286"/>
                    <a:gd name="T39" fmla="*/ 6 h 182"/>
                    <a:gd name="T40" fmla="*/ 186 w 286"/>
                    <a:gd name="T41" fmla="*/ 5 h 182"/>
                    <a:gd name="T42" fmla="*/ 202 w 286"/>
                    <a:gd name="T43" fmla="*/ 5 h 182"/>
                    <a:gd name="T44" fmla="*/ 214 w 286"/>
                    <a:gd name="T45" fmla="*/ 5 h 182"/>
                    <a:gd name="T46" fmla="*/ 244 w 286"/>
                    <a:gd name="T47" fmla="*/ 7 h 182"/>
                    <a:gd name="T48" fmla="*/ 262 w 286"/>
                    <a:gd name="T49" fmla="*/ 7 h 182"/>
                    <a:gd name="T50" fmla="*/ 284 w 286"/>
                    <a:gd name="T51" fmla="*/ 7 h 182"/>
                    <a:gd name="T52" fmla="*/ 268 w 286"/>
                    <a:gd name="T53" fmla="*/ 6 h 182"/>
                    <a:gd name="T54" fmla="*/ 256 w 286"/>
                    <a:gd name="T55" fmla="*/ 6 h 182"/>
                    <a:gd name="T56" fmla="*/ 250 w 286"/>
                    <a:gd name="T57" fmla="*/ 5 h 182"/>
                    <a:gd name="T58" fmla="*/ 248 w 286"/>
                    <a:gd name="T59" fmla="*/ 5 h 182"/>
                    <a:gd name="T60" fmla="*/ 236 w 286"/>
                    <a:gd name="T61" fmla="*/ 5 h 182"/>
                    <a:gd name="T62" fmla="*/ 240 w 286"/>
                    <a:gd name="T63" fmla="*/ 4 h 182"/>
                    <a:gd name="T64" fmla="*/ 220 w 286"/>
                    <a:gd name="T65" fmla="*/ 3 h 182"/>
                    <a:gd name="T66" fmla="*/ 210 w 286"/>
                    <a:gd name="T67" fmla="*/ 2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21"/>
                <p:cNvSpPr/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2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3 h 78"/>
                    <a:gd name="T18" fmla="*/ 9 w 78"/>
                    <a:gd name="T19" fmla="*/ 2 h 78"/>
                    <a:gd name="T20" fmla="*/ 3 w 78"/>
                    <a:gd name="T21" fmla="*/ 2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22"/>
                <p:cNvSpPr/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3"/>
                <p:cNvSpPr/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4"/>
                <p:cNvSpPr/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25"/>
                <p:cNvSpPr/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26"/>
                <p:cNvSpPr/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2 h 80"/>
                    <a:gd name="T14" fmla="*/ 54 w 80"/>
                    <a:gd name="T15" fmla="*/ 3 h 80"/>
                    <a:gd name="T16" fmla="*/ 48 w 80"/>
                    <a:gd name="T17" fmla="*/ 4 h 80"/>
                    <a:gd name="T18" fmla="*/ 32 w 80"/>
                    <a:gd name="T19" fmla="*/ 3 h 80"/>
                    <a:gd name="T20" fmla="*/ 38 w 80"/>
                    <a:gd name="T21" fmla="*/ 2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2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27"/>
                <p:cNvSpPr/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4 h 174"/>
                    <a:gd name="T2" fmla="*/ 26 w 94"/>
                    <a:gd name="T3" fmla="*/ 5 h 174"/>
                    <a:gd name="T4" fmla="*/ 32 w 94"/>
                    <a:gd name="T5" fmla="*/ 4 h 174"/>
                    <a:gd name="T6" fmla="*/ 52 w 94"/>
                    <a:gd name="T7" fmla="*/ 4 h 174"/>
                    <a:gd name="T8" fmla="*/ 46 w 94"/>
                    <a:gd name="T9" fmla="*/ 5 h 174"/>
                    <a:gd name="T10" fmla="*/ 66 w 94"/>
                    <a:gd name="T11" fmla="*/ 5 h 174"/>
                    <a:gd name="T12" fmla="*/ 76 w 94"/>
                    <a:gd name="T13" fmla="*/ 6 h 174"/>
                    <a:gd name="T14" fmla="*/ 58 w 94"/>
                    <a:gd name="T15" fmla="*/ 6 h 174"/>
                    <a:gd name="T16" fmla="*/ 74 w 94"/>
                    <a:gd name="T17" fmla="*/ 7 h 174"/>
                    <a:gd name="T18" fmla="*/ 84 w 94"/>
                    <a:gd name="T19" fmla="*/ 6 h 174"/>
                    <a:gd name="T20" fmla="*/ 82 w 94"/>
                    <a:gd name="T21" fmla="*/ 5 h 174"/>
                    <a:gd name="T22" fmla="*/ 60 w 94"/>
                    <a:gd name="T23" fmla="*/ 4 h 174"/>
                    <a:gd name="T24" fmla="*/ 50 w 94"/>
                    <a:gd name="T25" fmla="*/ 3 h 174"/>
                    <a:gd name="T26" fmla="*/ 34 w 94"/>
                    <a:gd name="T27" fmla="*/ 3 h 174"/>
                    <a:gd name="T28" fmla="*/ 30 w 94"/>
                    <a:gd name="T29" fmla="*/ 2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3 h 174"/>
                    <a:gd name="T40" fmla="*/ 14 w 94"/>
                    <a:gd name="T41" fmla="*/ 4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28"/>
                <p:cNvSpPr/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29"/>
                <p:cNvSpPr/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3 w 43"/>
                    <a:gd name="T3" fmla="*/ 2 h 50"/>
                    <a:gd name="T4" fmla="*/ 75 w 43"/>
                    <a:gd name="T5" fmla="*/ 0 h 50"/>
                    <a:gd name="T6" fmla="*/ 47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30"/>
                <p:cNvSpPr/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11889 w 471"/>
                    <a:gd name="T1" fmla="*/ 339841 h 281"/>
                    <a:gd name="T2" fmla="*/ 14008 w 471"/>
                    <a:gd name="T3" fmla="*/ 303972 h 281"/>
                    <a:gd name="T4" fmla="*/ 12861 w 471"/>
                    <a:gd name="T5" fmla="*/ 297167 h 281"/>
                    <a:gd name="T6" fmla="*/ 9412 w 471"/>
                    <a:gd name="T7" fmla="*/ 264990 h 281"/>
                    <a:gd name="T8" fmla="*/ 2262 w 471"/>
                    <a:gd name="T9" fmla="*/ 261025 h 281"/>
                    <a:gd name="T10" fmla="*/ 0 w 471"/>
                    <a:gd name="T11" fmla="*/ 231867 h 281"/>
                    <a:gd name="T12" fmla="*/ 7032 w 471"/>
                    <a:gd name="T13" fmla="*/ 219014 h 281"/>
                    <a:gd name="T14" fmla="*/ 3367 w 471"/>
                    <a:gd name="T15" fmla="*/ 200325 h 281"/>
                    <a:gd name="T16" fmla="*/ 1021 w 471"/>
                    <a:gd name="T17" fmla="*/ 193948 h 281"/>
                    <a:gd name="T18" fmla="*/ 16520 w 471"/>
                    <a:gd name="T19" fmla="*/ 145728 h 281"/>
                    <a:gd name="T20" fmla="*/ 25331 w 471"/>
                    <a:gd name="T21" fmla="*/ 117107 h 281"/>
                    <a:gd name="T22" fmla="*/ 24587 w 471"/>
                    <a:gd name="T23" fmla="*/ 84991 h 281"/>
                    <a:gd name="T24" fmla="*/ 14008 w 471"/>
                    <a:gd name="T25" fmla="*/ 52004 h 281"/>
                    <a:gd name="T26" fmla="*/ 11826 w 471"/>
                    <a:gd name="T27" fmla="*/ 39049 h 281"/>
                    <a:gd name="T28" fmla="*/ 15175 w 471"/>
                    <a:gd name="T29" fmla="*/ 43529 h 281"/>
                    <a:gd name="T30" fmla="*/ 27756 w 471"/>
                    <a:gd name="T31" fmla="*/ 43042 h 281"/>
                    <a:gd name="T32" fmla="*/ 37010 w 471"/>
                    <a:gd name="T33" fmla="*/ 13210 h 281"/>
                    <a:gd name="T34" fmla="*/ 47629 w 471"/>
                    <a:gd name="T35" fmla="*/ 0 h 281"/>
                    <a:gd name="T36" fmla="*/ 51014 w 471"/>
                    <a:gd name="T37" fmla="*/ 2549 h 281"/>
                    <a:gd name="T38" fmla="*/ 53435 w 471"/>
                    <a:gd name="T39" fmla="*/ 10914 h 281"/>
                    <a:gd name="T40" fmla="*/ 56852 w 471"/>
                    <a:gd name="T41" fmla="*/ 6193 h 281"/>
                    <a:gd name="T42" fmla="*/ 63842 w 471"/>
                    <a:gd name="T43" fmla="*/ 9653 h 281"/>
                    <a:gd name="T44" fmla="*/ 67254 w 471"/>
                    <a:gd name="T45" fmla="*/ 10914 h 281"/>
                    <a:gd name="T46" fmla="*/ 81981 w 471"/>
                    <a:gd name="T47" fmla="*/ 17012 h 281"/>
                    <a:gd name="T48" fmla="*/ 90029 w 471"/>
                    <a:gd name="T49" fmla="*/ 28800 h 281"/>
                    <a:gd name="T50" fmla="*/ 97068 w 471"/>
                    <a:gd name="T51" fmla="*/ 20591 h 281"/>
                    <a:gd name="T52" fmla="*/ 100096 w 471"/>
                    <a:gd name="T53" fmla="*/ 17012 h 281"/>
                    <a:gd name="T54" fmla="*/ 113001 w 471"/>
                    <a:gd name="T55" fmla="*/ 17012 h 281"/>
                    <a:gd name="T56" fmla="*/ 122176 w 471"/>
                    <a:gd name="T57" fmla="*/ 39049 h 281"/>
                    <a:gd name="T58" fmla="*/ 133992 w 471"/>
                    <a:gd name="T59" fmla="*/ 71537 h 281"/>
                    <a:gd name="T60" fmla="*/ 142072 w 471"/>
                    <a:gd name="T61" fmla="*/ 84991 h 281"/>
                    <a:gd name="T62" fmla="*/ 148975 w 471"/>
                    <a:gd name="T63" fmla="*/ 82452 h 281"/>
                    <a:gd name="T64" fmla="*/ 156519 w 471"/>
                    <a:gd name="T65" fmla="*/ 78469 h 281"/>
                    <a:gd name="T66" fmla="*/ 168182 w 471"/>
                    <a:gd name="T67" fmla="*/ 86626 h 281"/>
                    <a:gd name="T68" fmla="*/ 173638 w 471"/>
                    <a:gd name="T69" fmla="*/ 98182 h 281"/>
                    <a:gd name="T70" fmla="*/ 178483 w 471"/>
                    <a:gd name="T71" fmla="*/ 109067 h 281"/>
                    <a:gd name="T72" fmla="*/ 184321 w 471"/>
                    <a:gd name="T73" fmla="*/ 135026 h 281"/>
                    <a:gd name="T74" fmla="*/ 186543 w 471"/>
                    <a:gd name="T75" fmla="*/ 145728 h 281"/>
                    <a:gd name="T76" fmla="*/ 187548 w 471"/>
                    <a:gd name="T77" fmla="*/ 152034 h 281"/>
                    <a:gd name="T78" fmla="*/ 179550 w 471"/>
                    <a:gd name="T79" fmla="*/ 171779 h 281"/>
                    <a:gd name="T80" fmla="*/ 186543 w 471"/>
                    <a:gd name="T81" fmla="*/ 171498 h 281"/>
                    <a:gd name="T82" fmla="*/ 198331 w 471"/>
                    <a:gd name="T83" fmla="*/ 188525 h 281"/>
                    <a:gd name="T84" fmla="*/ 211117 w 471"/>
                    <a:gd name="T85" fmla="*/ 190648 h 281"/>
                    <a:gd name="T86" fmla="*/ 220370 w 471"/>
                    <a:gd name="T87" fmla="*/ 203859 h 281"/>
                    <a:gd name="T88" fmla="*/ 221723 w 471"/>
                    <a:gd name="T89" fmla="*/ 208991 h 281"/>
                    <a:gd name="T90" fmla="*/ 221723 w 471"/>
                    <a:gd name="T91" fmla="*/ 213491 h 281"/>
                    <a:gd name="T92" fmla="*/ 228210 w 471"/>
                    <a:gd name="T93" fmla="*/ 208991 h 281"/>
                    <a:gd name="T94" fmla="*/ 231948 w 471"/>
                    <a:gd name="T95" fmla="*/ 207724 h 281"/>
                    <a:gd name="T96" fmla="*/ 254487 w 471"/>
                    <a:gd name="T97" fmla="*/ 224449 h 281"/>
                    <a:gd name="T98" fmla="*/ 258938 w 471"/>
                    <a:gd name="T99" fmla="*/ 241425 h 281"/>
                    <a:gd name="T100" fmla="*/ 269525 w 471"/>
                    <a:gd name="T101" fmla="*/ 243991 h 281"/>
                    <a:gd name="T102" fmla="*/ 272894 w 471"/>
                    <a:gd name="T103" fmla="*/ 261025 h 281"/>
                    <a:gd name="T104" fmla="*/ 261458 w 471"/>
                    <a:gd name="T105" fmla="*/ 313212 h 281"/>
                    <a:gd name="T106" fmla="*/ 251983 w 471"/>
                    <a:gd name="T107" fmla="*/ 3413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31"/>
                <p:cNvSpPr/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5 h 844"/>
                    <a:gd name="T8" fmla="*/ 586 w 984"/>
                    <a:gd name="T9" fmla="*/ 4 h 844"/>
                    <a:gd name="T10" fmla="*/ 606 w 984"/>
                    <a:gd name="T11" fmla="*/ 2 h 844"/>
                    <a:gd name="T12" fmla="*/ 642 w 984"/>
                    <a:gd name="T13" fmla="*/ 5 h 844"/>
                    <a:gd name="T14" fmla="*/ 682 w 984"/>
                    <a:gd name="T15" fmla="*/ 4 h 844"/>
                    <a:gd name="T16" fmla="*/ 706 w 984"/>
                    <a:gd name="T17" fmla="*/ 3 h 844"/>
                    <a:gd name="T18" fmla="*/ 762 w 984"/>
                    <a:gd name="T19" fmla="*/ 2 h 844"/>
                    <a:gd name="T20" fmla="*/ 798 w 984"/>
                    <a:gd name="T21" fmla="*/ 2 h 844"/>
                    <a:gd name="T22" fmla="*/ 798 w 984"/>
                    <a:gd name="T23" fmla="*/ 5 h 844"/>
                    <a:gd name="T24" fmla="*/ 790 w 984"/>
                    <a:gd name="T25" fmla="*/ 6 h 844"/>
                    <a:gd name="T26" fmla="*/ 766 w 984"/>
                    <a:gd name="T27" fmla="*/ 7 h 844"/>
                    <a:gd name="T28" fmla="*/ 762 w 984"/>
                    <a:gd name="T29" fmla="*/ 7 h 844"/>
                    <a:gd name="T30" fmla="*/ 802 w 984"/>
                    <a:gd name="T31" fmla="*/ 9 h 844"/>
                    <a:gd name="T32" fmla="*/ 786 w 984"/>
                    <a:gd name="T33" fmla="*/ 13 h 844"/>
                    <a:gd name="T34" fmla="*/ 830 w 984"/>
                    <a:gd name="T35" fmla="*/ 17 h 844"/>
                    <a:gd name="T36" fmla="*/ 854 w 984"/>
                    <a:gd name="T37" fmla="*/ 19 h 844"/>
                    <a:gd name="T38" fmla="*/ 830 w 984"/>
                    <a:gd name="T39" fmla="*/ 19 h 844"/>
                    <a:gd name="T40" fmla="*/ 746 w 984"/>
                    <a:gd name="T41" fmla="*/ 16 h 844"/>
                    <a:gd name="T42" fmla="*/ 678 w 984"/>
                    <a:gd name="T43" fmla="*/ 16 h 844"/>
                    <a:gd name="T44" fmla="*/ 590 w 984"/>
                    <a:gd name="T45" fmla="*/ 19 h 844"/>
                    <a:gd name="T46" fmla="*/ 642 w 984"/>
                    <a:gd name="T47" fmla="*/ 25 h 844"/>
                    <a:gd name="T48" fmla="*/ 710 w 984"/>
                    <a:gd name="T49" fmla="*/ 26 h 844"/>
                    <a:gd name="T50" fmla="*/ 738 w 984"/>
                    <a:gd name="T51" fmla="*/ 23 h 844"/>
                    <a:gd name="T52" fmla="*/ 774 w 984"/>
                    <a:gd name="T53" fmla="*/ 24 h 844"/>
                    <a:gd name="T54" fmla="*/ 766 w 984"/>
                    <a:gd name="T55" fmla="*/ 26 h 844"/>
                    <a:gd name="T56" fmla="*/ 802 w 984"/>
                    <a:gd name="T57" fmla="*/ 28 h 844"/>
                    <a:gd name="T58" fmla="*/ 838 w 984"/>
                    <a:gd name="T59" fmla="*/ 28 h 844"/>
                    <a:gd name="T60" fmla="*/ 922 w 984"/>
                    <a:gd name="T61" fmla="*/ 34 h 844"/>
                    <a:gd name="T62" fmla="*/ 942 w 984"/>
                    <a:gd name="T63" fmla="*/ 34 h 844"/>
                    <a:gd name="T64" fmla="*/ 874 w 984"/>
                    <a:gd name="T65" fmla="*/ 34 h 844"/>
                    <a:gd name="T66" fmla="*/ 830 w 984"/>
                    <a:gd name="T67" fmla="*/ 32 h 844"/>
                    <a:gd name="T68" fmla="*/ 778 w 984"/>
                    <a:gd name="T69" fmla="*/ 30 h 844"/>
                    <a:gd name="T70" fmla="*/ 702 w 984"/>
                    <a:gd name="T71" fmla="*/ 28 h 844"/>
                    <a:gd name="T72" fmla="*/ 614 w 984"/>
                    <a:gd name="T73" fmla="*/ 27 h 844"/>
                    <a:gd name="T74" fmla="*/ 506 w 984"/>
                    <a:gd name="T75" fmla="*/ 25 h 844"/>
                    <a:gd name="T76" fmla="*/ 462 w 984"/>
                    <a:gd name="T77" fmla="*/ 21 h 844"/>
                    <a:gd name="T78" fmla="*/ 430 w 984"/>
                    <a:gd name="T79" fmla="*/ 20 h 844"/>
                    <a:gd name="T80" fmla="*/ 382 w 984"/>
                    <a:gd name="T81" fmla="*/ 17 h 844"/>
                    <a:gd name="T82" fmla="*/ 342 w 984"/>
                    <a:gd name="T83" fmla="*/ 16 h 844"/>
                    <a:gd name="T84" fmla="*/ 354 w 984"/>
                    <a:gd name="T85" fmla="*/ 17 h 844"/>
                    <a:gd name="T86" fmla="*/ 418 w 984"/>
                    <a:gd name="T87" fmla="*/ 20 h 844"/>
                    <a:gd name="T88" fmla="*/ 422 w 984"/>
                    <a:gd name="T89" fmla="*/ 21 h 844"/>
                    <a:gd name="T90" fmla="*/ 394 w 984"/>
                    <a:gd name="T91" fmla="*/ 21 h 844"/>
                    <a:gd name="T92" fmla="*/ 354 w 984"/>
                    <a:gd name="T93" fmla="*/ 20 h 844"/>
                    <a:gd name="T94" fmla="*/ 314 w 984"/>
                    <a:gd name="T95" fmla="*/ 16 h 844"/>
                    <a:gd name="T96" fmla="*/ 266 w 984"/>
                    <a:gd name="T97" fmla="*/ 14 h 844"/>
                    <a:gd name="T98" fmla="*/ 210 w 984"/>
                    <a:gd name="T99" fmla="*/ 13 h 844"/>
                    <a:gd name="T100" fmla="*/ 154 w 984"/>
                    <a:gd name="T101" fmla="*/ 9 h 844"/>
                    <a:gd name="T102" fmla="*/ 66 w 984"/>
                    <a:gd name="T103" fmla="*/ 2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2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32"/>
                <p:cNvSpPr/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33"/>
                <p:cNvSpPr/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9 w 36"/>
                    <a:gd name="T3" fmla="*/ 1 h 37"/>
                    <a:gd name="T4" fmla="*/ 84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34"/>
                <p:cNvSpPr/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3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40 w 170"/>
                    <a:gd name="T11" fmla="*/ 3 h 96"/>
                    <a:gd name="T12" fmla="*/ 176 w 170"/>
                    <a:gd name="T13" fmla="*/ 4 h 96"/>
                    <a:gd name="T14" fmla="*/ 132 w 170"/>
                    <a:gd name="T15" fmla="*/ 5 h 96"/>
                    <a:gd name="T16" fmla="*/ 104 w 170"/>
                    <a:gd name="T17" fmla="*/ 4 h 96"/>
                    <a:gd name="T18" fmla="*/ 76 w 170"/>
                    <a:gd name="T19" fmla="*/ 3 h 96"/>
                    <a:gd name="T20" fmla="*/ 24 w 170"/>
                    <a:gd name="T21" fmla="*/ 3 h 96"/>
                    <a:gd name="T22" fmla="*/ 0 w 170"/>
                    <a:gd name="T23" fmla="*/ 3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35"/>
                <p:cNvSpPr/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36"/>
                <p:cNvSpPr/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37"/>
                <p:cNvSpPr/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38"/>
                <p:cNvSpPr/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40 w 44"/>
                    <a:gd name="T5" fmla="*/ 2 h 80"/>
                    <a:gd name="T6" fmla="*/ 52 w 44"/>
                    <a:gd name="T7" fmla="*/ 2 h 80"/>
                    <a:gd name="T8" fmla="*/ 40 w 44"/>
                    <a:gd name="T9" fmla="*/ 3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Freeform 39"/>
                <p:cNvSpPr/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124489 w 323"/>
                    <a:gd name="T1" fmla="*/ 1705 h 64"/>
                    <a:gd name="T2" fmla="*/ 130591 w 323"/>
                    <a:gd name="T3" fmla="*/ 10164 h 64"/>
                    <a:gd name="T4" fmla="*/ 132944 w 323"/>
                    <a:gd name="T5" fmla="*/ 0 h 64"/>
                    <a:gd name="T6" fmla="*/ 150120 w 323"/>
                    <a:gd name="T7" fmla="*/ 0 h 64"/>
                    <a:gd name="T8" fmla="*/ 162736 w 323"/>
                    <a:gd name="T9" fmla="*/ 21905 h 64"/>
                    <a:gd name="T10" fmla="*/ 180221 w 323"/>
                    <a:gd name="T11" fmla="*/ 12830 h 64"/>
                    <a:gd name="T12" fmla="*/ 177747 w 323"/>
                    <a:gd name="T13" fmla="*/ 36111 h 64"/>
                    <a:gd name="T14" fmla="*/ 168492 w 323"/>
                    <a:gd name="T15" fmla="*/ 58728 h 64"/>
                    <a:gd name="T16" fmla="*/ 166660 w 323"/>
                    <a:gd name="T17" fmla="*/ 36111 h 64"/>
                    <a:gd name="T18" fmla="*/ 162736 w 323"/>
                    <a:gd name="T19" fmla="*/ 38772 h 64"/>
                    <a:gd name="T20" fmla="*/ 158161 w 323"/>
                    <a:gd name="T21" fmla="*/ 36111 h 64"/>
                    <a:gd name="T22" fmla="*/ 148706 w 323"/>
                    <a:gd name="T23" fmla="*/ 26833 h 64"/>
                    <a:gd name="T24" fmla="*/ 129141 w 323"/>
                    <a:gd name="T25" fmla="*/ 47683 h 64"/>
                    <a:gd name="T26" fmla="*/ 113811 w 323"/>
                    <a:gd name="T27" fmla="*/ 55958 h 64"/>
                    <a:gd name="T28" fmla="*/ 119832 w 323"/>
                    <a:gd name="T29" fmla="*/ 71833 h 64"/>
                    <a:gd name="T30" fmla="*/ 106429 w 323"/>
                    <a:gd name="T31" fmla="*/ 78975 h 64"/>
                    <a:gd name="T32" fmla="*/ 95429 w 323"/>
                    <a:gd name="T33" fmla="*/ 76472 h 64"/>
                    <a:gd name="T34" fmla="*/ 100067 w 323"/>
                    <a:gd name="T35" fmla="*/ 71833 h 64"/>
                    <a:gd name="T36" fmla="*/ 96502 w 323"/>
                    <a:gd name="T37" fmla="*/ 50544 h 64"/>
                    <a:gd name="T38" fmla="*/ 95429 w 323"/>
                    <a:gd name="T39" fmla="*/ 38772 h 64"/>
                    <a:gd name="T40" fmla="*/ 89460 w 323"/>
                    <a:gd name="T41" fmla="*/ 29309 h 64"/>
                    <a:gd name="T42" fmla="*/ 80487 w 323"/>
                    <a:gd name="T43" fmla="*/ 34227 h 64"/>
                    <a:gd name="T44" fmla="*/ 75847 w 323"/>
                    <a:gd name="T45" fmla="*/ 34227 h 64"/>
                    <a:gd name="T46" fmla="*/ 69673 w 323"/>
                    <a:gd name="T47" fmla="*/ 31323 h 64"/>
                    <a:gd name="T48" fmla="*/ 46884 w 323"/>
                    <a:gd name="T49" fmla="*/ 2664 h 64"/>
                    <a:gd name="T50" fmla="*/ 33612 w 323"/>
                    <a:gd name="T51" fmla="*/ 17583 h 64"/>
                    <a:gd name="T52" fmla="*/ 1 w 323"/>
                    <a:gd name="T53" fmla="*/ 0 h 64"/>
                    <a:gd name="T54" fmla="*/ 124489 w 323"/>
                    <a:gd name="T55" fmla="*/ 1705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40"/>
                <p:cNvSpPr/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59825 w 300"/>
                    <a:gd name="T1" fmla="*/ 46915 h 31"/>
                    <a:gd name="T2" fmla="*/ 17413 w 300"/>
                    <a:gd name="T3" fmla="*/ 2022 h 31"/>
                    <a:gd name="T4" fmla="*/ 162356 w 300"/>
                    <a:gd name="T5" fmla="*/ 0 h 31"/>
                    <a:gd name="T6" fmla="*/ 168398 w 300"/>
                    <a:gd name="T7" fmla="*/ 21222 h 31"/>
                    <a:gd name="T8" fmla="*/ 150219 w 300"/>
                    <a:gd name="T9" fmla="*/ 24315 h 31"/>
                    <a:gd name="T10" fmla="*/ 59825 w 300"/>
                    <a:gd name="T11" fmla="*/ 46915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41"/>
                <p:cNvSpPr/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Freeform 42"/>
                <p:cNvSpPr/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60620115 w 436"/>
                    <a:gd name="T1" fmla="*/ 1342572 h 152"/>
                    <a:gd name="T2" fmla="*/ 362211035 w 436"/>
                    <a:gd name="T3" fmla="*/ 0 h 152"/>
                    <a:gd name="T4" fmla="*/ 345451203 w 436"/>
                    <a:gd name="T5" fmla="*/ 89392878 h 152"/>
                    <a:gd name="T6" fmla="*/ 329906989 w 436"/>
                    <a:gd name="T7" fmla="*/ 112334979 h 152"/>
                    <a:gd name="T8" fmla="*/ 325645129 w 436"/>
                    <a:gd name="T9" fmla="*/ 115843137 h 152"/>
                    <a:gd name="T10" fmla="*/ 311442541 w 436"/>
                    <a:gd name="T11" fmla="*/ 121159881 h 152"/>
                    <a:gd name="T12" fmla="*/ 299775579 w 436"/>
                    <a:gd name="T13" fmla="*/ 145445652 h 152"/>
                    <a:gd name="T14" fmla="*/ 300875541 w 436"/>
                    <a:gd name="T15" fmla="*/ 163721407 h 152"/>
                    <a:gd name="T16" fmla="*/ 302228238 w 436"/>
                    <a:gd name="T17" fmla="*/ 177303519 h 152"/>
                    <a:gd name="T18" fmla="*/ 304046416 w 436"/>
                    <a:gd name="T19" fmla="*/ 187458367 h 152"/>
                    <a:gd name="T20" fmla="*/ 300875541 w 436"/>
                    <a:gd name="T21" fmla="*/ 202383301 h 152"/>
                    <a:gd name="T22" fmla="*/ 291661238 w 436"/>
                    <a:gd name="T23" fmla="*/ 199097547 h 152"/>
                    <a:gd name="T24" fmla="*/ 284235110 w 436"/>
                    <a:gd name="T25" fmla="*/ 213776195 h 152"/>
                    <a:gd name="T26" fmla="*/ 288166188 w 436"/>
                    <a:gd name="T27" fmla="*/ 173889516 h 152"/>
                    <a:gd name="T28" fmla="*/ 280629597 w 436"/>
                    <a:gd name="T29" fmla="*/ 165895348 h 152"/>
                    <a:gd name="T30" fmla="*/ 285583100 w 436"/>
                    <a:gd name="T31" fmla="*/ 154363541 h 152"/>
                    <a:gd name="T32" fmla="*/ 284235110 w 436"/>
                    <a:gd name="T33" fmla="*/ 147704232 h 152"/>
                    <a:gd name="T34" fmla="*/ 265791667 w 436"/>
                    <a:gd name="T35" fmla="*/ 155704707 h 152"/>
                    <a:gd name="T36" fmla="*/ 263348264 w 436"/>
                    <a:gd name="T37" fmla="*/ 140781457 h 152"/>
                    <a:gd name="T38" fmla="*/ 246562905 w 436"/>
                    <a:gd name="T39" fmla="*/ 155704707 h 152"/>
                    <a:gd name="T40" fmla="*/ 265791667 w 436"/>
                    <a:gd name="T41" fmla="*/ 170644650 h 152"/>
                    <a:gd name="T42" fmla="*/ 253418238 w 436"/>
                    <a:gd name="T43" fmla="*/ 193556612 h 152"/>
                    <a:gd name="T44" fmla="*/ 258376499 w 436"/>
                    <a:gd name="T45" fmla="*/ 208471903 h 152"/>
                    <a:gd name="T46" fmla="*/ 261529835 w 436"/>
                    <a:gd name="T47" fmla="*/ 228700967 h 152"/>
                    <a:gd name="T48" fmla="*/ 256577371 w 436"/>
                    <a:gd name="T49" fmla="*/ 230080201 h 152"/>
                    <a:gd name="T50" fmla="*/ 260754500 w 436"/>
                    <a:gd name="T51" fmla="*/ 238111852 h 152"/>
                    <a:gd name="T52" fmla="*/ 255206430 w 436"/>
                    <a:gd name="T53" fmla="*/ 251641265 h 152"/>
                    <a:gd name="T54" fmla="*/ 0 w 436"/>
                    <a:gd name="T55" fmla="*/ 247016669 h 152"/>
                    <a:gd name="T56" fmla="*/ 60620115 w 436"/>
                    <a:gd name="T57" fmla="*/ 134257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43"/>
                <p:cNvSpPr/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5 h 165"/>
                    <a:gd name="T2" fmla="*/ 15 w 47"/>
                    <a:gd name="T3" fmla="*/ 4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3 h 165"/>
                    <a:gd name="T16" fmla="*/ 31 w 47"/>
                    <a:gd name="T17" fmla="*/ 4 h 165"/>
                    <a:gd name="T18" fmla="*/ 23 w 47"/>
                    <a:gd name="T19" fmla="*/ 4 h 165"/>
                    <a:gd name="T20" fmla="*/ 21 w 47"/>
                    <a:gd name="T21" fmla="*/ 5 h 165"/>
                    <a:gd name="T22" fmla="*/ 27 w 47"/>
                    <a:gd name="T23" fmla="*/ 5 h 165"/>
                    <a:gd name="T24" fmla="*/ 31 w 47"/>
                    <a:gd name="T25" fmla="*/ 5 h 165"/>
                    <a:gd name="T26" fmla="*/ 13 w 47"/>
                    <a:gd name="T27" fmla="*/ 5 h 165"/>
                    <a:gd name="T28" fmla="*/ 7 w 47"/>
                    <a:gd name="T29" fmla="*/ 5 h 165"/>
                    <a:gd name="T30" fmla="*/ 3 w 47"/>
                    <a:gd name="T31" fmla="*/ 5 h 165"/>
                    <a:gd name="T32" fmla="*/ 5 w 47"/>
                    <a:gd name="T33" fmla="*/ 5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44"/>
                <p:cNvSpPr/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2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2 h 103"/>
                    <a:gd name="T22" fmla="*/ 66 w 138"/>
                    <a:gd name="T23" fmla="*/ 3 h 103"/>
                    <a:gd name="T24" fmla="*/ 48 w 138"/>
                    <a:gd name="T25" fmla="*/ 4 h 103"/>
                    <a:gd name="T26" fmla="*/ 26 w 138"/>
                    <a:gd name="T27" fmla="*/ 4 h 103"/>
                    <a:gd name="T28" fmla="*/ 20 w 138"/>
                    <a:gd name="T29" fmla="*/ 3 h 103"/>
                    <a:gd name="T30" fmla="*/ 22 w 138"/>
                    <a:gd name="T31" fmla="*/ 4 h 103"/>
                    <a:gd name="T32" fmla="*/ 0 w 138"/>
                    <a:gd name="T33" fmla="*/ 4 h 103"/>
                    <a:gd name="T34" fmla="*/ 10 w 138"/>
                    <a:gd name="T35" fmla="*/ 3 h 103"/>
                    <a:gd name="T36" fmla="*/ 26 w 138"/>
                    <a:gd name="T37" fmla="*/ 2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45"/>
                <p:cNvSpPr/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2 w 188"/>
                    <a:gd name="T1" fmla="*/ 2 h 214"/>
                    <a:gd name="T2" fmla="*/ 144 w 188"/>
                    <a:gd name="T3" fmla="*/ 2 h 214"/>
                    <a:gd name="T4" fmla="*/ 154 w 188"/>
                    <a:gd name="T5" fmla="*/ 0 h 214"/>
                    <a:gd name="T6" fmla="*/ 166 w 188"/>
                    <a:gd name="T7" fmla="*/ 2 h 214"/>
                    <a:gd name="T8" fmla="*/ 172 w 188"/>
                    <a:gd name="T9" fmla="*/ 2 h 214"/>
                    <a:gd name="T10" fmla="*/ 162 w 188"/>
                    <a:gd name="T11" fmla="*/ 2 h 214"/>
                    <a:gd name="T12" fmla="*/ 154 w 188"/>
                    <a:gd name="T13" fmla="*/ 3 h 214"/>
                    <a:gd name="T14" fmla="*/ 146 w 188"/>
                    <a:gd name="T15" fmla="*/ 6 h 214"/>
                    <a:gd name="T16" fmla="*/ 128 w 188"/>
                    <a:gd name="T17" fmla="*/ 6 h 214"/>
                    <a:gd name="T18" fmla="*/ 104 w 188"/>
                    <a:gd name="T19" fmla="*/ 6 h 214"/>
                    <a:gd name="T20" fmla="*/ 96 w 188"/>
                    <a:gd name="T21" fmla="*/ 6 h 214"/>
                    <a:gd name="T22" fmla="*/ 94 w 188"/>
                    <a:gd name="T23" fmla="*/ 7 h 214"/>
                    <a:gd name="T24" fmla="*/ 90 w 188"/>
                    <a:gd name="T25" fmla="*/ 7 h 214"/>
                    <a:gd name="T26" fmla="*/ 80 w 188"/>
                    <a:gd name="T27" fmla="*/ 6 h 214"/>
                    <a:gd name="T28" fmla="*/ 58 w 188"/>
                    <a:gd name="T29" fmla="*/ 7 h 214"/>
                    <a:gd name="T30" fmla="*/ 76 w 188"/>
                    <a:gd name="T31" fmla="*/ 7 h 214"/>
                    <a:gd name="T32" fmla="*/ 78 w 188"/>
                    <a:gd name="T33" fmla="*/ 7 h 214"/>
                    <a:gd name="T34" fmla="*/ 58 w 188"/>
                    <a:gd name="T35" fmla="*/ 7 h 214"/>
                    <a:gd name="T36" fmla="*/ 34 w 188"/>
                    <a:gd name="T37" fmla="*/ 7 h 214"/>
                    <a:gd name="T38" fmla="*/ 36 w 188"/>
                    <a:gd name="T39" fmla="*/ 7 h 214"/>
                    <a:gd name="T40" fmla="*/ 46 w 188"/>
                    <a:gd name="T41" fmla="*/ 7 h 214"/>
                    <a:gd name="T42" fmla="*/ 34 w 188"/>
                    <a:gd name="T43" fmla="*/ 7 h 214"/>
                    <a:gd name="T44" fmla="*/ 26 w 188"/>
                    <a:gd name="T45" fmla="*/ 7 h 214"/>
                    <a:gd name="T46" fmla="*/ 30 w 188"/>
                    <a:gd name="T47" fmla="*/ 8 h 214"/>
                    <a:gd name="T48" fmla="*/ 14 w 188"/>
                    <a:gd name="T49" fmla="*/ 9 h 214"/>
                    <a:gd name="T50" fmla="*/ 0 w 188"/>
                    <a:gd name="T51" fmla="*/ 10 h 214"/>
                    <a:gd name="T52" fmla="*/ 8 w 188"/>
                    <a:gd name="T53" fmla="*/ 8 h 214"/>
                    <a:gd name="T54" fmla="*/ 0 w 188"/>
                    <a:gd name="T55" fmla="*/ 7 h 214"/>
                    <a:gd name="T56" fmla="*/ 14 w 188"/>
                    <a:gd name="T57" fmla="*/ 7 h 214"/>
                    <a:gd name="T58" fmla="*/ 32 w 188"/>
                    <a:gd name="T59" fmla="*/ 6 h 214"/>
                    <a:gd name="T60" fmla="*/ 44 w 188"/>
                    <a:gd name="T61" fmla="*/ 6 h 214"/>
                    <a:gd name="T62" fmla="*/ 72 w 188"/>
                    <a:gd name="T63" fmla="*/ 6 h 214"/>
                    <a:gd name="T64" fmla="*/ 84 w 188"/>
                    <a:gd name="T65" fmla="*/ 5 h 214"/>
                    <a:gd name="T66" fmla="*/ 98 w 188"/>
                    <a:gd name="T67" fmla="*/ 4 h 214"/>
                    <a:gd name="T68" fmla="*/ 104 w 188"/>
                    <a:gd name="T69" fmla="*/ 4 h 214"/>
                    <a:gd name="T70" fmla="*/ 116 w 188"/>
                    <a:gd name="T71" fmla="*/ 3 h 214"/>
                    <a:gd name="T72" fmla="*/ 134 w 188"/>
                    <a:gd name="T73" fmla="*/ 2 h 214"/>
                    <a:gd name="T74" fmla="*/ 138 w 188"/>
                    <a:gd name="T75" fmla="*/ 2 h 214"/>
                    <a:gd name="T76" fmla="*/ 132 w 188"/>
                    <a:gd name="T77" fmla="*/ 2 h 214"/>
                    <a:gd name="T78" fmla="*/ 136 w 188"/>
                    <a:gd name="T79" fmla="*/ 2 h 214"/>
                    <a:gd name="T80" fmla="*/ 142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Freeform 46"/>
                <p:cNvSpPr/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47"/>
                <p:cNvSpPr/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8 w 812"/>
                    <a:gd name="T1" fmla="*/ 2 h 564"/>
                    <a:gd name="T2" fmla="*/ 794 w 812"/>
                    <a:gd name="T3" fmla="*/ 3 h 564"/>
                    <a:gd name="T4" fmla="*/ 764 w 812"/>
                    <a:gd name="T5" fmla="*/ 5 h 564"/>
                    <a:gd name="T6" fmla="*/ 738 w 812"/>
                    <a:gd name="T7" fmla="*/ 6 h 564"/>
                    <a:gd name="T8" fmla="*/ 650 w 812"/>
                    <a:gd name="T9" fmla="*/ 7 h 564"/>
                    <a:gd name="T10" fmla="*/ 648 w 812"/>
                    <a:gd name="T11" fmla="*/ 9 h 564"/>
                    <a:gd name="T12" fmla="*/ 620 w 812"/>
                    <a:gd name="T13" fmla="*/ 9 h 564"/>
                    <a:gd name="T14" fmla="*/ 636 w 812"/>
                    <a:gd name="T15" fmla="*/ 7 h 564"/>
                    <a:gd name="T16" fmla="*/ 592 w 812"/>
                    <a:gd name="T17" fmla="*/ 7 h 564"/>
                    <a:gd name="T18" fmla="*/ 572 w 812"/>
                    <a:gd name="T19" fmla="*/ 9 h 564"/>
                    <a:gd name="T20" fmla="*/ 612 w 812"/>
                    <a:gd name="T21" fmla="*/ 11 h 564"/>
                    <a:gd name="T22" fmla="*/ 610 w 812"/>
                    <a:gd name="T23" fmla="*/ 16 h 564"/>
                    <a:gd name="T24" fmla="*/ 558 w 812"/>
                    <a:gd name="T25" fmla="*/ 16 h 564"/>
                    <a:gd name="T26" fmla="*/ 538 w 812"/>
                    <a:gd name="T27" fmla="*/ 16 h 564"/>
                    <a:gd name="T28" fmla="*/ 498 w 812"/>
                    <a:gd name="T29" fmla="*/ 14 h 564"/>
                    <a:gd name="T30" fmla="*/ 478 w 812"/>
                    <a:gd name="T31" fmla="*/ 14 h 564"/>
                    <a:gd name="T32" fmla="*/ 466 w 812"/>
                    <a:gd name="T33" fmla="*/ 16 h 564"/>
                    <a:gd name="T34" fmla="*/ 516 w 812"/>
                    <a:gd name="T35" fmla="*/ 20 h 564"/>
                    <a:gd name="T36" fmla="*/ 526 w 812"/>
                    <a:gd name="T37" fmla="*/ 21 h 564"/>
                    <a:gd name="T38" fmla="*/ 542 w 812"/>
                    <a:gd name="T39" fmla="*/ 23 h 564"/>
                    <a:gd name="T40" fmla="*/ 508 w 812"/>
                    <a:gd name="T41" fmla="*/ 23 h 564"/>
                    <a:gd name="T42" fmla="*/ 486 w 812"/>
                    <a:gd name="T43" fmla="*/ 21 h 564"/>
                    <a:gd name="T44" fmla="*/ 438 w 812"/>
                    <a:gd name="T45" fmla="*/ 17 h 564"/>
                    <a:gd name="T46" fmla="*/ 442 w 812"/>
                    <a:gd name="T47" fmla="*/ 13 h 564"/>
                    <a:gd name="T48" fmla="*/ 438 w 812"/>
                    <a:gd name="T49" fmla="*/ 11 h 564"/>
                    <a:gd name="T50" fmla="*/ 428 w 812"/>
                    <a:gd name="T51" fmla="*/ 11 h 564"/>
                    <a:gd name="T52" fmla="*/ 386 w 812"/>
                    <a:gd name="T53" fmla="*/ 11 h 564"/>
                    <a:gd name="T54" fmla="*/ 360 w 812"/>
                    <a:gd name="T55" fmla="*/ 7 h 564"/>
                    <a:gd name="T56" fmla="*/ 330 w 812"/>
                    <a:gd name="T57" fmla="*/ 7 h 564"/>
                    <a:gd name="T58" fmla="*/ 288 w 812"/>
                    <a:gd name="T59" fmla="*/ 7 h 564"/>
                    <a:gd name="T60" fmla="*/ 242 w 812"/>
                    <a:gd name="T61" fmla="*/ 9 h 564"/>
                    <a:gd name="T62" fmla="*/ 196 w 812"/>
                    <a:gd name="T63" fmla="*/ 11 h 564"/>
                    <a:gd name="T64" fmla="*/ 184 w 812"/>
                    <a:gd name="T65" fmla="*/ 11 h 564"/>
                    <a:gd name="T66" fmla="*/ 160 w 812"/>
                    <a:gd name="T67" fmla="*/ 13 h 564"/>
                    <a:gd name="T68" fmla="*/ 152 w 812"/>
                    <a:gd name="T69" fmla="*/ 14 h 564"/>
                    <a:gd name="T70" fmla="*/ 128 w 812"/>
                    <a:gd name="T71" fmla="*/ 16 h 564"/>
                    <a:gd name="T72" fmla="*/ 94 w 812"/>
                    <a:gd name="T73" fmla="*/ 16 h 564"/>
                    <a:gd name="T74" fmla="*/ 66 w 812"/>
                    <a:gd name="T75" fmla="*/ 11 h 564"/>
                    <a:gd name="T76" fmla="*/ 72 w 812"/>
                    <a:gd name="T77" fmla="*/ 6 h 564"/>
                    <a:gd name="T78" fmla="*/ 44 w 812"/>
                    <a:gd name="T79" fmla="*/ 7 h 564"/>
                    <a:gd name="T80" fmla="*/ 20 w 812"/>
                    <a:gd name="T81" fmla="*/ 6 h 564"/>
                    <a:gd name="T82" fmla="*/ 24 w 812"/>
                    <a:gd name="T83" fmla="*/ 6 h 564"/>
                    <a:gd name="T84" fmla="*/ 0 w 812"/>
                    <a:gd name="T85" fmla="*/ 4 h 564"/>
                    <a:gd name="T86" fmla="*/ 814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Freeform 48"/>
                <p:cNvSpPr/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3 w 43"/>
                    <a:gd name="T3" fmla="*/ 3 h 85"/>
                    <a:gd name="T4" fmla="*/ 76 w 43"/>
                    <a:gd name="T5" fmla="*/ 3 h 85"/>
                    <a:gd name="T6" fmla="*/ 37 w 43"/>
                    <a:gd name="T7" fmla="*/ 5 h 85"/>
                    <a:gd name="T8" fmla="*/ 1 w 43"/>
                    <a:gd name="T9" fmla="*/ 4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49"/>
                <p:cNvSpPr/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3 w 44"/>
                    <a:gd name="T3" fmla="*/ 2 h 74"/>
                    <a:gd name="T4" fmla="*/ 22 w 44"/>
                    <a:gd name="T5" fmla="*/ 2 h 74"/>
                    <a:gd name="T6" fmla="*/ 20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50"/>
                <p:cNvSpPr/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51"/>
                <p:cNvSpPr/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278652 w 682"/>
                    <a:gd name="T1" fmla="*/ 540620 h 557"/>
                    <a:gd name="T2" fmla="*/ 281433 w 682"/>
                    <a:gd name="T3" fmla="*/ 525737 h 557"/>
                    <a:gd name="T4" fmla="*/ 289695 w 682"/>
                    <a:gd name="T5" fmla="*/ 481409 h 557"/>
                    <a:gd name="T6" fmla="*/ 179179 w 682"/>
                    <a:gd name="T7" fmla="*/ 334021 h 557"/>
                    <a:gd name="T8" fmla="*/ 163457 w 682"/>
                    <a:gd name="T9" fmla="*/ 403177 h 557"/>
                    <a:gd name="T10" fmla="*/ 175574 w 682"/>
                    <a:gd name="T11" fmla="*/ 647625 h 557"/>
                    <a:gd name="T12" fmla="*/ 163457 w 682"/>
                    <a:gd name="T13" fmla="*/ 575767 h 557"/>
                    <a:gd name="T14" fmla="*/ 140277 w 682"/>
                    <a:gd name="T15" fmla="*/ 512115 h 557"/>
                    <a:gd name="T16" fmla="*/ 142027 w 682"/>
                    <a:gd name="T17" fmla="*/ 481409 h 557"/>
                    <a:gd name="T18" fmla="*/ 143349 w 682"/>
                    <a:gd name="T19" fmla="*/ 459616 h 557"/>
                    <a:gd name="T20" fmla="*/ 127417 w 682"/>
                    <a:gd name="T21" fmla="*/ 437106 h 557"/>
                    <a:gd name="T22" fmla="*/ 112451 w 682"/>
                    <a:gd name="T23" fmla="*/ 403177 h 557"/>
                    <a:gd name="T24" fmla="*/ 85614 w 682"/>
                    <a:gd name="T25" fmla="*/ 412132 h 557"/>
                    <a:gd name="T26" fmla="*/ 73290 w 682"/>
                    <a:gd name="T27" fmla="*/ 425351 h 557"/>
                    <a:gd name="T28" fmla="*/ 45173 w 682"/>
                    <a:gd name="T29" fmla="*/ 425351 h 557"/>
                    <a:gd name="T30" fmla="*/ 12860 w 682"/>
                    <a:gd name="T31" fmla="*/ 363599 h 557"/>
                    <a:gd name="T32" fmla="*/ 6324 w 682"/>
                    <a:gd name="T33" fmla="*/ 344404 h 557"/>
                    <a:gd name="T34" fmla="*/ 0 w 682"/>
                    <a:gd name="T35" fmla="*/ 307066 h 557"/>
                    <a:gd name="T36" fmla="*/ 14008 w 682"/>
                    <a:gd name="T37" fmla="*/ 248411 h 557"/>
                    <a:gd name="T38" fmla="*/ 18648 w 682"/>
                    <a:gd name="T39" fmla="*/ 210682 h 557"/>
                    <a:gd name="T40" fmla="*/ 29569 w 682"/>
                    <a:gd name="T41" fmla="*/ 166134 h 557"/>
                    <a:gd name="T42" fmla="*/ 47163 w 682"/>
                    <a:gd name="T43" fmla="*/ 134839 h 557"/>
                    <a:gd name="T44" fmla="*/ 97050 w 682"/>
                    <a:gd name="T45" fmla="*/ 78145 h 557"/>
                    <a:gd name="T46" fmla="*/ 127417 w 682"/>
                    <a:gd name="T47" fmla="*/ 35141 h 557"/>
                    <a:gd name="T48" fmla="*/ 149372 w 682"/>
                    <a:gd name="T49" fmla="*/ 6727 h 557"/>
                    <a:gd name="T50" fmla="*/ 210321 w 682"/>
                    <a:gd name="T51" fmla="*/ 2488 h 557"/>
                    <a:gd name="T52" fmla="*/ 230405 w 682"/>
                    <a:gd name="T53" fmla="*/ 0 h 557"/>
                    <a:gd name="T54" fmla="*/ 222306 w 682"/>
                    <a:gd name="T55" fmla="*/ 39307 h 557"/>
                    <a:gd name="T56" fmla="*/ 256575 w 682"/>
                    <a:gd name="T57" fmla="*/ 98293 h 557"/>
                    <a:gd name="T58" fmla="*/ 288020 w 682"/>
                    <a:gd name="T59" fmla="*/ 86241 h 557"/>
                    <a:gd name="T60" fmla="*/ 306345 w 682"/>
                    <a:gd name="T61" fmla="*/ 95016 h 557"/>
                    <a:gd name="T62" fmla="*/ 323657 w 682"/>
                    <a:gd name="T63" fmla="*/ 113177 h 557"/>
                    <a:gd name="T64" fmla="*/ 331467 w 682"/>
                    <a:gd name="T65" fmla="*/ 219031 h 557"/>
                    <a:gd name="T66" fmla="*/ 331467 w 682"/>
                    <a:gd name="T67" fmla="*/ 279710 h 557"/>
                    <a:gd name="T68" fmla="*/ 346737 w 682"/>
                    <a:gd name="T69" fmla="*/ 329817 h 557"/>
                    <a:gd name="T70" fmla="*/ 373846 w 682"/>
                    <a:gd name="T71" fmla="*/ 349528 h 557"/>
                    <a:gd name="T72" fmla="*/ 393747 w 682"/>
                    <a:gd name="T73" fmla="*/ 344404 h 557"/>
                    <a:gd name="T74" fmla="*/ 384477 w 682"/>
                    <a:gd name="T75" fmla="*/ 396418 h 557"/>
                    <a:gd name="T76" fmla="*/ 346737 w 682"/>
                    <a:gd name="T77" fmla="*/ 474632 h 557"/>
                    <a:gd name="T78" fmla="*/ 317510 w 682"/>
                    <a:gd name="T79" fmla="*/ 565308 h 557"/>
                    <a:gd name="T80" fmla="*/ 322071 w 682"/>
                    <a:gd name="T81" fmla="*/ 592137 h 557"/>
                    <a:gd name="T82" fmla="*/ 251855 w 682"/>
                    <a:gd name="T83" fmla="*/ 647625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52"/>
                <p:cNvSpPr/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137892 w 257"/>
                    <a:gd name="T1" fmla="*/ 410266 h 347"/>
                    <a:gd name="T2" fmla="*/ 132123 w 257"/>
                    <a:gd name="T3" fmla="*/ 355701 h 347"/>
                    <a:gd name="T4" fmla="*/ 123347 w 257"/>
                    <a:gd name="T5" fmla="*/ 340561 h 347"/>
                    <a:gd name="T6" fmla="*/ 122395 w 257"/>
                    <a:gd name="T7" fmla="*/ 318818 h 347"/>
                    <a:gd name="T8" fmla="*/ 118750 w 257"/>
                    <a:gd name="T9" fmla="*/ 300386 h 347"/>
                    <a:gd name="T10" fmla="*/ 118750 w 257"/>
                    <a:gd name="T11" fmla="*/ 270608 h 347"/>
                    <a:gd name="T12" fmla="*/ 117717 w 257"/>
                    <a:gd name="T13" fmla="*/ 252935 h 347"/>
                    <a:gd name="T14" fmla="*/ 129412 w 257"/>
                    <a:gd name="T15" fmla="*/ 238889 h 347"/>
                    <a:gd name="T16" fmla="*/ 145918 w 257"/>
                    <a:gd name="T17" fmla="*/ 233585 h 347"/>
                    <a:gd name="T18" fmla="*/ 145918 w 257"/>
                    <a:gd name="T19" fmla="*/ 161334 h 347"/>
                    <a:gd name="T20" fmla="*/ 30606 w 257"/>
                    <a:gd name="T21" fmla="*/ 113482 h 347"/>
                    <a:gd name="T22" fmla="*/ 18364 w 257"/>
                    <a:gd name="T23" fmla="*/ 116084 h 347"/>
                    <a:gd name="T24" fmla="*/ 9320 w 257"/>
                    <a:gd name="T25" fmla="*/ 120705 h 347"/>
                    <a:gd name="T26" fmla="*/ 0 w 257"/>
                    <a:gd name="T27" fmla="*/ 176600 h 347"/>
                    <a:gd name="T28" fmla="*/ 52628 w 257"/>
                    <a:gd name="T29" fmla="*/ 409038 h 347"/>
                    <a:gd name="T30" fmla="*/ 137892 w 257"/>
                    <a:gd name="T31" fmla="*/ 410266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53"/>
                <p:cNvSpPr/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54"/>
                <p:cNvSpPr/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55"/>
                <p:cNvSpPr/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8 w 57"/>
                    <a:gd name="T3" fmla="*/ 2 h 30"/>
                    <a:gd name="T4" fmla="*/ 52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56"/>
                <p:cNvSpPr/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7 w 693"/>
                    <a:gd name="T1" fmla="*/ 19 h 696"/>
                    <a:gd name="T2" fmla="*/ 377 w 693"/>
                    <a:gd name="T3" fmla="*/ 18 h 696"/>
                    <a:gd name="T4" fmla="*/ 309 w 693"/>
                    <a:gd name="T5" fmla="*/ 16 h 696"/>
                    <a:gd name="T6" fmla="*/ 249 w 693"/>
                    <a:gd name="T7" fmla="*/ 16 h 696"/>
                    <a:gd name="T8" fmla="*/ 221 w 693"/>
                    <a:gd name="T9" fmla="*/ 16 h 696"/>
                    <a:gd name="T10" fmla="*/ 245 w 693"/>
                    <a:gd name="T11" fmla="*/ 16 h 696"/>
                    <a:gd name="T12" fmla="*/ 277 w 693"/>
                    <a:gd name="T13" fmla="*/ 19 h 696"/>
                    <a:gd name="T14" fmla="*/ 305 w 693"/>
                    <a:gd name="T15" fmla="*/ 20 h 696"/>
                    <a:gd name="T16" fmla="*/ 317 w 693"/>
                    <a:gd name="T17" fmla="*/ 20 h 696"/>
                    <a:gd name="T18" fmla="*/ 297 w 693"/>
                    <a:gd name="T19" fmla="*/ 22 h 696"/>
                    <a:gd name="T20" fmla="*/ 245 w 693"/>
                    <a:gd name="T21" fmla="*/ 25 h 696"/>
                    <a:gd name="T22" fmla="*/ 209 w 693"/>
                    <a:gd name="T23" fmla="*/ 25 h 696"/>
                    <a:gd name="T24" fmla="*/ 97 w 693"/>
                    <a:gd name="T25" fmla="*/ 28 h 696"/>
                    <a:gd name="T26" fmla="*/ 77 w 693"/>
                    <a:gd name="T27" fmla="*/ 25 h 696"/>
                    <a:gd name="T28" fmla="*/ 45 w 693"/>
                    <a:gd name="T29" fmla="*/ 20 h 696"/>
                    <a:gd name="T30" fmla="*/ 33 w 693"/>
                    <a:gd name="T31" fmla="*/ 18 h 696"/>
                    <a:gd name="T32" fmla="*/ 53 w 693"/>
                    <a:gd name="T33" fmla="*/ 13 h 696"/>
                    <a:gd name="T34" fmla="*/ 17 w 693"/>
                    <a:gd name="T35" fmla="*/ 16 h 696"/>
                    <a:gd name="T36" fmla="*/ 81 w 693"/>
                    <a:gd name="T37" fmla="*/ 11 h 696"/>
                    <a:gd name="T38" fmla="*/ 113 w 693"/>
                    <a:gd name="T39" fmla="*/ 9 h 696"/>
                    <a:gd name="T40" fmla="*/ 37 w 693"/>
                    <a:gd name="T41" fmla="*/ 9 h 696"/>
                    <a:gd name="T42" fmla="*/ 1 w 693"/>
                    <a:gd name="T43" fmla="*/ 7 h 696"/>
                    <a:gd name="T44" fmla="*/ 25 w 693"/>
                    <a:gd name="T45" fmla="*/ 6 h 696"/>
                    <a:gd name="T46" fmla="*/ 97 w 693"/>
                    <a:gd name="T47" fmla="*/ 5 h 696"/>
                    <a:gd name="T48" fmla="*/ 205 w 693"/>
                    <a:gd name="T49" fmla="*/ 5 h 696"/>
                    <a:gd name="T50" fmla="*/ 213 w 693"/>
                    <a:gd name="T51" fmla="*/ 2 h 696"/>
                    <a:gd name="T52" fmla="*/ 245 w 693"/>
                    <a:gd name="T53" fmla="*/ 0 h 696"/>
                    <a:gd name="T54" fmla="*/ 341 w 693"/>
                    <a:gd name="T55" fmla="*/ 2 h 696"/>
                    <a:gd name="T56" fmla="*/ 313 w 693"/>
                    <a:gd name="T57" fmla="*/ 3 h 696"/>
                    <a:gd name="T58" fmla="*/ 285 w 693"/>
                    <a:gd name="T59" fmla="*/ 7 h 696"/>
                    <a:gd name="T60" fmla="*/ 345 w 693"/>
                    <a:gd name="T61" fmla="*/ 7 h 696"/>
                    <a:gd name="T62" fmla="*/ 357 w 693"/>
                    <a:gd name="T63" fmla="*/ 6 h 696"/>
                    <a:gd name="T64" fmla="*/ 401 w 693"/>
                    <a:gd name="T65" fmla="*/ 4 h 696"/>
                    <a:gd name="T66" fmla="*/ 481 w 693"/>
                    <a:gd name="T67" fmla="*/ 3 h 696"/>
                    <a:gd name="T68" fmla="*/ 508 w 693"/>
                    <a:gd name="T69" fmla="*/ 2 h 696"/>
                    <a:gd name="T70" fmla="*/ 514 w 693"/>
                    <a:gd name="T71" fmla="*/ 19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57"/>
                <p:cNvSpPr/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480089 w 931"/>
                    <a:gd name="T1" fmla="*/ 0 h 149"/>
                    <a:gd name="T2" fmla="*/ 83370 w 931"/>
                    <a:gd name="T3" fmla="*/ 34587 h 149"/>
                    <a:gd name="T4" fmla="*/ 52726 w 931"/>
                    <a:gd name="T5" fmla="*/ 49620 h 149"/>
                    <a:gd name="T6" fmla="*/ 36020 w 931"/>
                    <a:gd name="T7" fmla="*/ 49620 h 149"/>
                    <a:gd name="T8" fmla="*/ 12894 w 931"/>
                    <a:gd name="T9" fmla="*/ 91992 h 149"/>
                    <a:gd name="T10" fmla="*/ 0 w 931"/>
                    <a:gd name="T11" fmla="*/ 124961 h 149"/>
                    <a:gd name="T12" fmla="*/ 34375 w 931"/>
                    <a:gd name="T13" fmla="*/ 137381 h 149"/>
                    <a:gd name="T14" fmla="*/ 56315 w 931"/>
                    <a:gd name="T15" fmla="*/ 114071 h 149"/>
                    <a:gd name="T16" fmla="*/ 62995 w 931"/>
                    <a:gd name="T17" fmla="*/ 100484 h 149"/>
                    <a:gd name="T18" fmla="*/ 97404 w 931"/>
                    <a:gd name="T19" fmla="*/ 61977 h 149"/>
                    <a:gd name="T20" fmla="*/ 125148 w 931"/>
                    <a:gd name="T21" fmla="*/ 55024 h 149"/>
                    <a:gd name="T22" fmla="*/ 138177 w 931"/>
                    <a:gd name="T23" fmla="*/ 111643 h 149"/>
                    <a:gd name="T24" fmla="*/ 109509 w 931"/>
                    <a:gd name="T25" fmla="*/ 130563 h 149"/>
                    <a:gd name="T26" fmla="*/ 134368 w 931"/>
                    <a:gd name="T27" fmla="*/ 135018 h 149"/>
                    <a:gd name="T28" fmla="*/ 145506 w 931"/>
                    <a:gd name="T29" fmla="*/ 107214 h 149"/>
                    <a:gd name="T30" fmla="*/ 154921 w 931"/>
                    <a:gd name="T31" fmla="*/ 109619 h 149"/>
                    <a:gd name="T32" fmla="*/ 147264 w 931"/>
                    <a:gd name="T33" fmla="*/ 64535 h 149"/>
                    <a:gd name="T34" fmla="*/ 154921 w 931"/>
                    <a:gd name="T35" fmla="*/ 52823 h 149"/>
                    <a:gd name="T36" fmla="*/ 161042 w 931"/>
                    <a:gd name="T37" fmla="*/ 104954 h 149"/>
                    <a:gd name="T38" fmla="*/ 154921 w 931"/>
                    <a:gd name="T39" fmla="*/ 135018 h 149"/>
                    <a:gd name="T40" fmla="*/ 172635 w 931"/>
                    <a:gd name="T41" fmla="*/ 154979 h 149"/>
                    <a:gd name="T42" fmla="*/ 173966 w 931"/>
                    <a:gd name="T43" fmla="*/ 109619 h 149"/>
                    <a:gd name="T44" fmla="*/ 192792 w 931"/>
                    <a:gd name="T45" fmla="*/ 122655 h 149"/>
                    <a:gd name="T46" fmla="*/ 222409 w 931"/>
                    <a:gd name="T47" fmla="*/ 87506 h 149"/>
                    <a:gd name="T48" fmla="*/ 238190 w 931"/>
                    <a:gd name="T49" fmla="*/ 59478 h 149"/>
                    <a:gd name="T50" fmla="*/ 255877 w 931"/>
                    <a:gd name="T51" fmla="*/ 66433 h 149"/>
                    <a:gd name="T52" fmla="*/ 264867 w 931"/>
                    <a:gd name="T53" fmla="*/ 59478 h 149"/>
                    <a:gd name="T54" fmla="*/ 250996 w 931"/>
                    <a:gd name="T55" fmla="*/ 52823 h 149"/>
                    <a:gd name="T56" fmla="*/ 276130 w 931"/>
                    <a:gd name="T57" fmla="*/ 41447 h 149"/>
                    <a:gd name="T58" fmla="*/ 316665 w 931"/>
                    <a:gd name="T59" fmla="*/ 64535 h 149"/>
                    <a:gd name="T60" fmla="*/ 338287 w 931"/>
                    <a:gd name="T61" fmla="*/ 49620 h 149"/>
                    <a:gd name="T62" fmla="*/ 339761 w 931"/>
                    <a:gd name="T63" fmla="*/ 75358 h 149"/>
                    <a:gd name="T64" fmla="*/ 330657 w 931"/>
                    <a:gd name="T65" fmla="*/ 120299 h 149"/>
                    <a:gd name="T66" fmla="*/ 355930 w 931"/>
                    <a:gd name="T67" fmla="*/ 104954 h 149"/>
                    <a:gd name="T68" fmla="*/ 363242 w 931"/>
                    <a:gd name="T69" fmla="*/ 95958 h 149"/>
                    <a:gd name="T70" fmla="*/ 377378 w 931"/>
                    <a:gd name="T71" fmla="*/ 72618 h 149"/>
                    <a:gd name="T72" fmla="*/ 462235 w 931"/>
                    <a:gd name="T73" fmla="*/ 1004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58"/>
                <p:cNvSpPr/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5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Freeform 59"/>
                <p:cNvSpPr/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8 w 44"/>
                    <a:gd name="T3" fmla="*/ 0 h 32"/>
                    <a:gd name="T4" fmla="*/ 54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Freeform 60"/>
                <p:cNvSpPr/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61"/>
                <p:cNvSpPr/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62"/>
                <p:cNvSpPr/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83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63"/>
              <p:cNvGrpSpPr/>
              <p:nvPr userDrawn="1"/>
            </p:nvGrpSpPr>
            <p:grpSpPr bwMode="auto">
              <a:xfrm>
                <a:off x="7" y="6"/>
                <a:ext cx="5739" cy="1022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75"/>
              <p:cNvGrpSpPr/>
              <p:nvPr userDrawn="1"/>
            </p:nvGrpSpPr>
            <p:grpSpPr bwMode="auto">
              <a:xfrm>
                <a:off x="363" y="1"/>
                <a:ext cx="4919" cy="1034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3196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03197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32004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6E7986B-6AB3-4113-9973-CFE63432478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84F9D-C75E-4E1C-B02D-E7F277041D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8DE1-9BAB-473E-9EAC-AD10C061AA6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C7E8A7-F1B0-4BB3-89DC-A5DA01F9291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37639-B612-4C81-BBFF-6C9DBADC8E1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0BE2-ADC2-47C1-892E-DC98840054B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469112-43D0-48E0-9DFB-F773BED7F1D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1979E-3D7D-447B-8AAF-419B50B10B1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CB28F7-27D4-4A45-847C-D6984A40515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B7C5E-6705-475A-9B7E-810931111D7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F46CB-D1FF-44E0-8947-E02C2C21A38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AD391-3A3A-4A93-B20A-46D498E58D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组合 154"/>
          <p:cNvGrpSpPr/>
          <p:nvPr userDrawn="1"/>
        </p:nvGrpSpPr>
        <p:grpSpPr>
          <a:xfrm>
            <a:off x="142282" y="288798"/>
            <a:ext cx="533400" cy="426720"/>
            <a:chOff x="0" y="288798"/>
            <a:chExt cx="533400" cy="426720"/>
          </a:xfrm>
        </p:grpSpPr>
        <p:sp>
          <p:nvSpPr>
            <p:cNvPr id="156" name="矩形 155"/>
            <p:cNvSpPr/>
            <p:nvPr/>
          </p:nvSpPr>
          <p:spPr>
            <a:xfrm>
              <a:off x="0" y="288798"/>
              <a:ext cx="4191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457200" y="288798"/>
              <a:ext cx="762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8" name="图片 15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805" y="244642"/>
            <a:ext cx="492595" cy="5050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8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9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717B4-4078-4176-9966-43778C93659F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DBB0E-D6FF-4293-8659-9E5CECC2D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20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fld id="{57A1BFBC-C4B4-4643-86C1-56879915C522}" type="slidenum">
              <a:rPr lang="zh-CN" altLang="en-US"/>
              <a:t>‹#›</a:t>
            </a:fld>
            <a:endParaRPr lang="en-US" altLang="zh-CN"/>
          </a:p>
        </p:txBody>
      </p:sp>
      <p:grpSp>
        <p:nvGrpSpPr>
          <p:cNvPr id="160" name="组合 159"/>
          <p:cNvGrpSpPr/>
          <p:nvPr userDrawn="1"/>
        </p:nvGrpSpPr>
        <p:grpSpPr>
          <a:xfrm>
            <a:off x="142282" y="288798"/>
            <a:ext cx="533400" cy="426720"/>
            <a:chOff x="0" y="288798"/>
            <a:chExt cx="533400" cy="426720"/>
          </a:xfrm>
        </p:grpSpPr>
        <p:sp>
          <p:nvSpPr>
            <p:cNvPr id="161" name="矩形 160"/>
            <p:cNvSpPr/>
            <p:nvPr/>
          </p:nvSpPr>
          <p:spPr>
            <a:xfrm>
              <a:off x="0" y="288798"/>
              <a:ext cx="4191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457200" y="288798"/>
              <a:ext cx="762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3" name="图片 162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805" y="244642"/>
            <a:ext cx="492595" cy="5050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3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4.wmf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24.bin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0.bin"/><Relationship Id="rId22" Type="http://schemas.openxmlformats.org/officeDocument/2006/relationships/image" Target="../media/image2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30.wmf"/><Relationship Id="rId21" Type="http://schemas.openxmlformats.org/officeDocument/2006/relationships/image" Target="../media/image38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oleObject" Target="../embeddings/oleObject40.bin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12" Type="http://schemas.openxmlformats.org/officeDocument/2006/relationships/image" Target="../media/image23.wmf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36.bin"/><Relationship Id="rId16" Type="http://schemas.openxmlformats.org/officeDocument/2006/relationships/image" Target="../media/image25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2.wmf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4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20.wmf"/><Relationship Id="rId14" Type="http://schemas.openxmlformats.org/officeDocument/2006/relationships/image" Target="../media/image4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oleObject" Target="../embeddings/oleObject46.bin"/><Relationship Id="rId3" Type="http://schemas.openxmlformats.org/officeDocument/2006/relationships/image" Target="../media/image31.wmf"/><Relationship Id="rId7" Type="http://schemas.openxmlformats.org/officeDocument/2006/relationships/image" Target="../media/image46.wmf"/><Relationship Id="rId12" Type="http://schemas.openxmlformats.org/officeDocument/2006/relationships/image" Target="../media/image36.wmf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38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7.wmf"/><Relationship Id="rId5" Type="http://schemas.openxmlformats.org/officeDocument/2006/relationships/image" Target="../media/image45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4.wmf"/><Relationship Id="rId14" Type="http://schemas.openxmlformats.org/officeDocument/2006/relationships/image" Target="../media/image4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9.wmf"/><Relationship Id="rId7" Type="http://schemas.openxmlformats.org/officeDocument/2006/relationships/image" Target="../media/image51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60.png"/><Relationship Id="rId7" Type="http://schemas.openxmlformats.org/officeDocument/2006/relationships/oleObject" Target="../embeddings/oleObject59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4.wmf"/><Relationship Id="rId4" Type="http://schemas.openxmlformats.org/officeDocument/2006/relationships/image" Target="../media/image61.png"/><Relationship Id="rId9" Type="http://schemas.openxmlformats.org/officeDocument/2006/relationships/oleObject" Target="../embeddings/oleObject6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2.w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oleObject" Target="../embeddings/oleObject23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image" Target="../media/image66.wmf"/><Relationship Id="rId2" Type="http://schemas.openxmlformats.org/officeDocument/2006/relationships/oleObject" Target="../embeddings/oleObject69.bin"/><Relationship Id="rId16" Type="http://schemas.openxmlformats.org/officeDocument/2006/relationships/image" Target="../media/image77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65.wmf"/><Relationship Id="rId5" Type="http://schemas.openxmlformats.org/officeDocument/2006/relationships/image" Target="../media/image74.wmf"/><Relationship Id="rId15" Type="http://schemas.openxmlformats.org/officeDocument/2006/relationships/oleObject" Target="../embeddings/oleObject73.bin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6.wmf"/><Relationship Id="rId14" Type="http://schemas.openxmlformats.org/officeDocument/2006/relationships/image" Target="../media/image7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oleObject" Target="../embeddings/oleObject80.bin"/><Relationship Id="rId18" Type="http://schemas.openxmlformats.org/officeDocument/2006/relationships/image" Target="../media/image84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1.bin"/><Relationship Id="rId2" Type="http://schemas.openxmlformats.org/officeDocument/2006/relationships/oleObject" Target="../embeddings/oleObject74.bin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79.bin"/><Relationship Id="rId5" Type="http://schemas.openxmlformats.org/officeDocument/2006/relationships/image" Target="../media/image79.wmf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78.bin"/><Relationship Id="rId19" Type="http://schemas.openxmlformats.org/officeDocument/2006/relationships/oleObject" Target="../embeddings/oleObject23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1.wmf"/><Relationship Id="rId14" Type="http://schemas.openxmlformats.org/officeDocument/2006/relationships/image" Target="../media/image8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7.wmf"/><Relationship Id="rId3" Type="http://schemas.openxmlformats.org/officeDocument/2006/relationships/image" Target="../media/image85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13.bin"/><Relationship Id="rId17" Type="http://schemas.openxmlformats.org/officeDocument/2006/relationships/oleObject" Target="../embeddings/oleObject23.bin"/><Relationship Id="rId2" Type="http://schemas.openxmlformats.org/officeDocument/2006/relationships/oleObject" Target="../embeddings/oleObject82.bin"/><Relationship Id="rId16" Type="http://schemas.openxmlformats.org/officeDocument/2006/relationships/image" Target="../media/image79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6.wmf"/><Relationship Id="rId14" Type="http://schemas.openxmlformats.org/officeDocument/2006/relationships/image" Target="../media/image8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89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0.wmf"/><Relationship Id="rId5" Type="http://schemas.openxmlformats.org/officeDocument/2006/relationships/image" Target="../media/image91.wmf"/><Relationship Id="rId4" Type="http://schemas.openxmlformats.org/officeDocument/2006/relationships/oleObject" Target="../embeddings/oleObject9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9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95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98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9.wmf"/><Relationship Id="rId7" Type="http://schemas.openxmlformats.org/officeDocument/2006/relationships/image" Target="../media/image26.wmf"/><Relationship Id="rId12" Type="http://schemas.openxmlformats.org/officeDocument/2006/relationships/image" Target="../media/image102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01.bin"/><Relationship Id="rId5" Type="http://schemas.openxmlformats.org/officeDocument/2006/relationships/image" Target="../media/image100.wmf"/><Relationship Id="rId10" Type="http://schemas.openxmlformats.org/officeDocument/2006/relationships/image" Target="../media/image101.wmf"/><Relationship Id="rId4" Type="http://schemas.openxmlformats.org/officeDocument/2006/relationships/oleObject" Target="../embeddings/oleObject99.bin"/><Relationship Id="rId9" Type="http://schemas.openxmlformats.org/officeDocument/2006/relationships/oleObject" Target="../embeddings/oleObject10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10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13.bin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13.wmf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19.wmf"/><Relationship Id="rId1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8.bin"/><Relationship Id="rId17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6" Type="http://schemas.openxmlformats.org/officeDocument/2006/relationships/image" Target="../media/image111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18.wmf"/><Relationship Id="rId5" Type="http://schemas.openxmlformats.org/officeDocument/2006/relationships/image" Target="../media/image106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1.bin"/><Relationship Id="rId3" Type="http://schemas.openxmlformats.org/officeDocument/2006/relationships/oleObject" Target="../embeddings/oleObject120.bin"/><Relationship Id="rId21" Type="http://schemas.openxmlformats.org/officeDocument/2006/relationships/image" Target="../media/image131.wmf"/><Relationship Id="rId7" Type="http://schemas.openxmlformats.org/officeDocument/2006/relationships/image" Target="../media/image124.png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9.wmf"/><Relationship Id="rId25" Type="http://schemas.openxmlformats.org/officeDocument/2006/relationships/image" Target="../media/image133.wmf"/><Relationship Id="rId2" Type="http://schemas.openxmlformats.org/officeDocument/2006/relationships/image" Target="../media/image121.png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135.wmf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3.wmf"/><Relationship Id="rId11" Type="http://schemas.openxmlformats.org/officeDocument/2006/relationships/image" Target="../media/image126.wmf"/><Relationship Id="rId24" Type="http://schemas.openxmlformats.org/officeDocument/2006/relationships/oleObject" Target="../embeddings/oleObject130.bin"/><Relationship Id="rId5" Type="http://schemas.openxmlformats.org/officeDocument/2006/relationships/oleObject" Target="../embeddings/oleObject121.bin"/><Relationship Id="rId15" Type="http://schemas.openxmlformats.org/officeDocument/2006/relationships/image" Target="../media/image128.wmf"/><Relationship Id="rId23" Type="http://schemas.openxmlformats.org/officeDocument/2006/relationships/image" Target="../media/image132.wmf"/><Relationship Id="rId28" Type="http://schemas.openxmlformats.org/officeDocument/2006/relationships/oleObject" Target="../embeddings/oleObject132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30.wmf"/><Relationship Id="rId31" Type="http://schemas.openxmlformats.org/officeDocument/2006/relationships/image" Target="../media/image136.wmf"/><Relationship Id="rId4" Type="http://schemas.openxmlformats.org/officeDocument/2006/relationships/image" Target="../media/image122.wmf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image" Target="../media/image134.wmf"/><Relationship Id="rId30" Type="http://schemas.openxmlformats.org/officeDocument/2006/relationships/oleObject" Target="../embeddings/oleObject133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139.wmf"/><Relationship Id="rId3" Type="http://schemas.openxmlformats.org/officeDocument/2006/relationships/image" Target="../media/image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41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138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138.wmf"/><Relationship Id="rId5" Type="http://schemas.openxmlformats.org/officeDocument/2006/relationships/image" Target="../media/image137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13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44.bin"/><Relationship Id="rId2" Type="http://schemas.openxmlformats.org/officeDocument/2006/relationships/oleObject" Target="../embeddings/oleObject139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5" Type="http://schemas.openxmlformats.org/officeDocument/2006/relationships/image" Target="../media/image148.wmf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4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54.wmf"/><Relationship Id="rId3" Type="http://schemas.openxmlformats.org/officeDocument/2006/relationships/image" Target="../media/image7.wmf"/><Relationship Id="rId21" Type="http://schemas.openxmlformats.org/officeDocument/2006/relationships/oleObject" Target="../embeddings/oleObject153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1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153.wmf"/><Relationship Id="rId20" Type="http://schemas.openxmlformats.org/officeDocument/2006/relationships/image" Target="../media/image155.wmf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57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52.wmf"/><Relationship Id="rId22" Type="http://schemas.openxmlformats.org/officeDocument/2006/relationships/image" Target="../media/image15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58.bin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image" Target="../media/image50.wmf"/><Relationship Id="rId2" Type="http://schemas.openxmlformats.org/officeDocument/2006/relationships/oleObject" Target="../embeddings/oleObject155.bin"/><Relationship Id="rId16" Type="http://schemas.openxmlformats.org/officeDocument/2006/relationships/image" Target="../media/image162.wmf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57.bin"/><Relationship Id="rId11" Type="http://schemas.openxmlformats.org/officeDocument/2006/relationships/oleObject" Target="../embeddings/oleObject56.bin"/><Relationship Id="rId5" Type="http://schemas.openxmlformats.org/officeDocument/2006/relationships/image" Target="../media/image159.wmf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37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7.wmf"/><Relationship Id="rId14" Type="http://schemas.openxmlformats.org/officeDocument/2006/relationships/image" Target="../media/image16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38.wmf"/><Relationship Id="rId3" Type="http://schemas.openxmlformats.org/officeDocument/2006/relationships/image" Target="../media/image163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23.bin"/><Relationship Id="rId2" Type="http://schemas.openxmlformats.org/officeDocument/2006/relationships/oleObject" Target="../embeddings/oleObject160.bin"/><Relationship Id="rId16" Type="http://schemas.openxmlformats.org/officeDocument/2006/relationships/image" Target="../media/image167.wmf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62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64.w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6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72.wmf"/><Relationship Id="rId3" Type="http://schemas.openxmlformats.org/officeDocument/2006/relationships/image" Target="../media/image7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69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171.wmf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68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7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7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7" Type="http://schemas.openxmlformats.org/officeDocument/2006/relationships/image" Target="../media/image178.w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175.bin"/><Relationship Id="rId5" Type="http://schemas.openxmlformats.org/officeDocument/2006/relationships/image" Target="../media/image177.wmf"/><Relationship Id="rId4" Type="http://schemas.openxmlformats.org/officeDocument/2006/relationships/oleObject" Target="../embeddings/oleObject17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3" Type="http://schemas.openxmlformats.org/officeDocument/2006/relationships/image" Target="../media/image179.wmf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177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1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7" Type="http://schemas.openxmlformats.org/officeDocument/2006/relationships/image" Target="../media/image184.wmf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181.bin"/><Relationship Id="rId5" Type="http://schemas.openxmlformats.org/officeDocument/2006/relationships/image" Target="../media/image183.wmf"/><Relationship Id="rId4" Type="http://schemas.openxmlformats.org/officeDocument/2006/relationships/oleObject" Target="../embeddings/oleObject18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4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8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13" Type="http://schemas.openxmlformats.org/officeDocument/2006/relationships/image" Target="../media/image194.wmf"/><Relationship Id="rId3" Type="http://schemas.openxmlformats.org/officeDocument/2006/relationships/image" Target="../media/image189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91.bin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0" Type="http://schemas.openxmlformats.org/officeDocument/2006/relationships/oleObject" Target="../embeddings/oleObject190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3" Type="http://schemas.openxmlformats.org/officeDocument/2006/relationships/image" Target="../media/image195.wmf"/><Relationship Id="rId7" Type="http://schemas.openxmlformats.org/officeDocument/2006/relationships/image" Target="../media/image197.w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99.wmf"/><Relationship Id="rId5" Type="http://schemas.openxmlformats.org/officeDocument/2006/relationships/image" Target="../media/image196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9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171.wmf"/><Relationship Id="rId5" Type="http://schemas.openxmlformats.org/officeDocument/2006/relationships/image" Target="../media/image201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03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wmf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05.wmf"/><Relationship Id="rId4" Type="http://schemas.openxmlformats.org/officeDocument/2006/relationships/oleObject" Target="../embeddings/oleObject20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211.wmf"/><Relationship Id="rId18" Type="http://schemas.openxmlformats.org/officeDocument/2006/relationships/oleObject" Target="../embeddings/oleObject211.bin"/><Relationship Id="rId3" Type="http://schemas.openxmlformats.org/officeDocument/2006/relationships/image" Target="../media/image206.wmf"/><Relationship Id="rId21" Type="http://schemas.openxmlformats.org/officeDocument/2006/relationships/image" Target="../media/image215.wmf"/><Relationship Id="rId7" Type="http://schemas.openxmlformats.org/officeDocument/2006/relationships/image" Target="../media/image208.wmf"/><Relationship Id="rId12" Type="http://schemas.openxmlformats.org/officeDocument/2006/relationships/oleObject" Target="../embeddings/oleObject208.bin"/><Relationship Id="rId17" Type="http://schemas.openxmlformats.org/officeDocument/2006/relationships/image" Target="../media/image213.wmf"/><Relationship Id="rId2" Type="http://schemas.openxmlformats.org/officeDocument/2006/relationships/oleObject" Target="../embeddings/oleObject203.bin"/><Relationship Id="rId16" Type="http://schemas.openxmlformats.org/officeDocument/2006/relationships/oleObject" Target="../embeddings/oleObject210.bin"/><Relationship Id="rId20" Type="http://schemas.openxmlformats.org/officeDocument/2006/relationships/oleObject" Target="../embeddings/oleObject212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210.wmf"/><Relationship Id="rId5" Type="http://schemas.openxmlformats.org/officeDocument/2006/relationships/image" Target="../media/image207.wmf"/><Relationship Id="rId15" Type="http://schemas.openxmlformats.org/officeDocument/2006/relationships/image" Target="../media/image212.wmf"/><Relationship Id="rId10" Type="http://schemas.openxmlformats.org/officeDocument/2006/relationships/oleObject" Target="../embeddings/oleObject207.bin"/><Relationship Id="rId19" Type="http://schemas.openxmlformats.org/officeDocument/2006/relationships/image" Target="../media/image214.wmf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09.wmf"/><Relationship Id="rId14" Type="http://schemas.openxmlformats.org/officeDocument/2006/relationships/oleObject" Target="../embeddings/oleObject20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06.wmf"/><Relationship Id="rId7" Type="http://schemas.openxmlformats.org/officeDocument/2006/relationships/oleObject" Target="../embeddings/oleObject213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09.wmf"/><Relationship Id="rId5" Type="http://schemas.openxmlformats.org/officeDocument/2006/relationships/image" Target="../media/image208.wmf"/><Relationship Id="rId4" Type="http://schemas.openxmlformats.org/officeDocument/2006/relationships/image" Target="../media/image20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image" Target="../media/image222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21.wmf"/><Relationship Id="rId2" Type="http://schemas.openxmlformats.org/officeDocument/2006/relationships/image" Target="../media/image216.emf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220.wmf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1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26.bin"/><Relationship Id="rId3" Type="http://schemas.openxmlformats.org/officeDocument/2006/relationships/image" Target="../media/image223.wmf"/><Relationship Id="rId7" Type="http://schemas.openxmlformats.org/officeDocument/2006/relationships/image" Target="../media/image224.w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29.wmf"/><Relationship Id="rId2" Type="http://schemas.openxmlformats.org/officeDocument/2006/relationships/oleObject" Target="../embeddings/oleObject219.bin"/><Relationship Id="rId16" Type="http://schemas.openxmlformats.org/officeDocument/2006/relationships/oleObject" Target="../embeddings/oleObject225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26.wmf"/><Relationship Id="rId5" Type="http://schemas.openxmlformats.org/officeDocument/2006/relationships/image" Target="../media/image220.wmf"/><Relationship Id="rId15" Type="http://schemas.openxmlformats.org/officeDocument/2006/relationships/image" Target="../media/image228.w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30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2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3" Type="http://schemas.openxmlformats.org/officeDocument/2006/relationships/oleObject" Target="../embeddings/oleObject227.bin"/><Relationship Id="rId7" Type="http://schemas.openxmlformats.org/officeDocument/2006/relationships/image" Target="../media/image234.wmf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228.bin"/><Relationship Id="rId5" Type="http://schemas.openxmlformats.org/officeDocument/2006/relationships/image" Target="../media/image233.emf"/><Relationship Id="rId4" Type="http://schemas.openxmlformats.org/officeDocument/2006/relationships/image" Target="../media/image232.wmf"/><Relationship Id="rId9" Type="http://schemas.openxmlformats.org/officeDocument/2006/relationships/image" Target="../media/image23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w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3" Type="http://schemas.openxmlformats.org/officeDocument/2006/relationships/image" Target="../media/image237.wmf"/><Relationship Id="rId7" Type="http://schemas.openxmlformats.org/officeDocument/2006/relationships/image" Target="../media/image239.wmf"/><Relationship Id="rId2" Type="http://schemas.openxmlformats.org/officeDocument/2006/relationships/oleObject" Target="../embeddings/oleObject231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41.wmf"/><Relationship Id="rId5" Type="http://schemas.openxmlformats.org/officeDocument/2006/relationships/image" Target="../media/image238.wmf"/><Relationship Id="rId10" Type="http://schemas.openxmlformats.org/officeDocument/2006/relationships/oleObject" Target="../embeddings/oleObject235.bin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40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47.wmf"/><Relationship Id="rId3" Type="http://schemas.openxmlformats.org/officeDocument/2006/relationships/image" Target="../media/image242.wmf"/><Relationship Id="rId7" Type="http://schemas.openxmlformats.org/officeDocument/2006/relationships/image" Target="../media/image244.wmf"/><Relationship Id="rId12" Type="http://schemas.openxmlformats.org/officeDocument/2006/relationships/oleObject" Target="../embeddings/oleObject241.bin"/><Relationship Id="rId2" Type="http://schemas.openxmlformats.org/officeDocument/2006/relationships/oleObject" Target="../embeddings/oleObject2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46.wmf"/><Relationship Id="rId5" Type="http://schemas.openxmlformats.org/officeDocument/2006/relationships/image" Target="../media/image243.wmf"/><Relationship Id="rId10" Type="http://schemas.openxmlformats.org/officeDocument/2006/relationships/oleObject" Target="../embeddings/oleObject240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45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55.wmf"/><Relationship Id="rId2" Type="http://schemas.openxmlformats.org/officeDocument/2006/relationships/oleObject" Target="../embeddings/oleObject242.bin"/><Relationship Id="rId16" Type="http://schemas.openxmlformats.org/officeDocument/2006/relationships/oleObject" Target="../embeddings/oleObject24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52.wmf"/><Relationship Id="rId5" Type="http://schemas.openxmlformats.org/officeDocument/2006/relationships/image" Target="../media/image249.wmf"/><Relationship Id="rId15" Type="http://schemas.openxmlformats.org/officeDocument/2006/relationships/image" Target="../media/image254.w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51.wmf"/><Relationship Id="rId14" Type="http://schemas.openxmlformats.org/officeDocument/2006/relationships/oleObject" Target="../embeddings/oleObject248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7" Type="http://schemas.openxmlformats.org/officeDocument/2006/relationships/image" Target="../media/image258.wmf"/><Relationship Id="rId2" Type="http://schemas.openxmlformats.org/officeDocument/2006/relationships/oleObject" Target="../embeddings/oleObject25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2.bin"/><Relationship Id="rId5" Type="http://schemas.openxmlformats.org/officeDocument/2006/relationships/image" Target="../media/image257.wmf"/><Relationship Id="rId4" Type="http://schemas.openxmlformats.org/officeDocument/2006/relationships/oleObject" Target="../embeddings/oleObject25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2"/>
          <p:cNvSpPr>
            <a:spLocks noChangeArrowheads="1"/>
          </p:cNvSpPr>
          <p:nvPr/>
        </p:nvSpPr>
        <p:spPr bwMode="auto">
          <a:xfrm>
            <a:off x="762000" y="228600"/>
            <a:ext cx="57975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第</a:t>
            </a:r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章 离散时间信号与系统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00200"/>
            <a:ext cx="7583487" cy="37338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</a:rPr>
              <a:t>1.1</a:t>
            </a:r>
            <a:r>
              <a:rPr lang="zh-CN" altLang="en-US" b="1" dirty="0">
                <a:latin typeface="+mj-lt"/>
              </a:rPr>
              <a:t>离散时间信号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</a:rPr>
              <a:t>1.2</a:t>
            </a:r>
            <a:r>
              <a:rPr lang="zh-CN" altLang="en-US" b="1" dirty="0">
                <a:latin typeface="+mj-lt"/>
              </a:rPr>
              <a:t>离散时间信号的傅里叶变换与</a:t>
            </a:r>
            <a:r>
              <a:rPr lang="en-US" altLang="zh-CN" b="1" dirty="0">
                <a:latin typeface="+mj-lt"/>
              </a:rPr>
              <a:t>z</a:t>
            </a:r>
            <a:r>
              <a:rPr lang="zh-CN" altLang="en-US" b="1" dirty="0">
                <a:latin typeface="+mj-lt"/>
              </a:rPr>
              <a:t>变换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</a:rPr>
              <a:t>1.3</a:t>
            </a:r>
            <a:r>
              <a:rPr lang="zh-CN" altLang="en-US" b="1" dirty="0">
                <a:latin typeface="+mj-lt"/>
              </a:rPr>
              <a:t>离散时间系统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</a:rPr>
              <a:t>1.4</a:t>
            </a:r>
            <a:r>
              <a:rPr lang="zh-CN" altLang="en-US" b="1" dirty="0">
                <a:latin typeface="+mj-lt"/>
              </a:rPr>
              <a:t>系统的频率响应及其系统函数</a:t>
            </a:r>
            <a:endParaRPr lang="en-US" altLang="zh-CN" b="1" dirty="0">
              <a:latin typeface="+mj-lt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</a:rPr>
              <a:t>1.5</a:t>
            </a:r>
            <a:r>
              <a:rPr lang="zh-CN" altLang="en-US" b="1" dirty="0">
                <a:latin typeface="+mj-lt"/>
              </a:rPr>
              <a:t>本章小结</a:t>
            </a:r>
          </a:p>
        </p:txBody>
      </p:sp>
      <p:sp>
        <p:nvSpPr>
          <p:cNvPr id="4" name="AutoShape 7"/>
          <p:cNvSpPr/>
          <p:nvPr/>
        </p:nvSpPr>
        <p:spPr bwMode="auto">
          <a:xfrm>
            <a:off x="446988" y="3352800"/>
            <a:ext cx="304800" cy="1524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rgbClr val="3333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离散时间系统</a:t>
            </a:r>
          </a:p>
        </p:txBody>
      </p:sp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838200" y="1295400"/>
            <a:ext cx="7237412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3.1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线性系统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(linear system)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3.2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时不变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(time-invariant)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(linear time-invariant, LTI)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3.4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(stable system)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和因果系统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(causal system)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3.5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系统的差分方程描述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99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7"/>
          <p:cNvSpPr>
            <a:spLocks noChangeArrowheads="1"/>
          </p:cNvSpPr>
          <p:nvPr/>
        </p:nvSpPr>
        <p:spPr bwMode="auto">
          <a:xfrm>
            <a:off x="533400" y="990600"/>
            <a:ext cx="2914600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离散时间系统：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66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2"/>
          <p:cNvGraphicFramePr>
            <a:graphicFrameLocks noChangeAspect="1"/>
          </p:cNvGraphicFramePr>
          <p:nvPr/>
        </p:nvGraphicFramePr>
        <p:xfrm>
          <a:off x="3124200" y="1828800"/>
          <a:ext cx="2079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69600" imgH="4876800" progId="Equation.DSMT4">
                  <p:embed/>
                </p:oleObj>
              </mc:Choice>
              <mc:Fallback>
                <p:oleObj name="Equation" r:id="rId2" imgW="2346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28800"/>
                        <a:ext cx="20796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箭头连接符 5"/>
          <p:cNvCxnSpPr>
            <a:cxnSpLocks noChangeShapeType="1"/>
          </p:cNvCxnSpPr>
          <p:nvPr/>
        </p:nvCxnSpPr>
        <p:spPr bwMode="auto">
          <a:xfrm>
            <a:off x="2662238" y="3022600"/>
            <a:ext cx="9366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 6"/>
          <p:cNvSpPr>
            <a:spLocks noChangeArrowheads="1"/>
          </p:cNvSpPr>
          <p:nvPr/>
        </p:nvSpPr>
        <p:spPr bwMode="auto">
          <a:xfrm>
            <a:off x="3598863" y="2684463"/>
            <a:ext cx="1223962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" name="直接箭头连接符 10"/>
          <p:cNvCxnSpPr>
            <a:cxnSpLocks noChangeShapeType="1"/>
          </p:cNvCxnSpPr>
          <p:nvPr/>
        </p:nvCxnSpPr>
        <p:spPr bwMode="auto">
          <a:xfrm>
            <a:off x="4822825" y="3040063"/>
            <a:ext cx="9366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7" name="对象 7"/>
          <p:cNvGraphicFramePr>
            <a:graphicFrameLocks noChangeAspect="1"/>
          </p:cNvGraphicFramePr>
          <p:nvPr/>
        </p:nvGraphicFramePr>
        <p:xfrm>
          <a:off x="3929472" y="2821057"/>
          <a:ext cx="642528" cy="43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05600" imgH="4572000" progId="Equation.DSMT4">
                  <p:embed/>
                </p:oleObj>
              </mc:Choice>
              <mc:Fallback>
                <p:oleObj name="Equation" r:id="rId4" imgW="6705600" imgH="4572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472" y="2821057"/>
                        <a:ext cx="642528" cy="43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8"/>
          <p:cNvGraphicFramePr>
            <a:graphicFrameLocks noChangeAspect="1"/>
          </p:cNvGraphicFramePr>
          <p:nvPr/>
        </p:nvGraphicFramePr>
        <p:xfrm>
          <a:off x="2635250" y="25908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29600" imgH="4876800" progId="Equation.DSMT4">
                  <p:embed/>
                </p:oleObj>
              </mc:Choice>
              <mc:Fallback>
                <p:oleObj name="Equation" r:id="rId6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2590800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9"/>
          <p:cNvGraphicFramePr>
            <a:graphicFrameLocks noChangeAspect="1"/>
          </p:cNvGraphicFramePr>
          <p:nvPr/>
        </p:nvGraphicFramePr>
        <p:xfrm>
          <a:off x="5087937" y="2590800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24800" imgH="4876800" progId="Equation.DSMT4">
                  <p:embed/>
                </p:oleObj>
              </mc:Choice>
              <mc:Fallback>
                <p:oleObj name="Equation" r:id="rId8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7" y="2590800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7"/>
          <p:cNvSpPr>
            <a:spLocks noChangeArrowheads="1"/>
          </p:cNvSpPr>
          <p:nvPr/>
        </p:nvSpPr>
        <p:spPr bwMode="auto">
          <a:xfrm>
            <a:off x="457200" y="3886200"/>
            <a:ext cx="7921625" cy="1114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算子       表示变换，对       加上种种约束条件，就可以定义出各类离散时间系统。            </a:t>
            </a:r>
          </a:p>
        </p:txBody>
      </p:sp>
      <p:graphicFrame>
        <p:nvGraphicFramePr>
          <p:cNvPr id="22" name="对象 11"/>
          <p:cNvGraphicFramePr>
            <a:graphicFrameLocks noChangeAspect="1"/>
          </p:cNvGraphicFramePr>
          <p:nvPr/>
        </p:nvGraphicFramePr>
        <p:xfrm>
          <a:off x="1263650" y="4037013"/>
          <a:ext cx="6032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05600" imgH="4572000" progId="Equation.DSMT4">
                  <p:embed/>
                </p:oleObj>
              </mc:Choice>
              <mc:Fallback>
                <p:oleObj name="Equation" r:id="rId10" imgW="6705600" imgH="45720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4037013"/>
                        <a:ext cx="6032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12"/>
          <p:cNvGraphicFramePr>
            <a:graphicFrameLocks noChangeAspect="1"/>
          </p:cNvGraphicFramePr>
          <p:nvPr/>
        </p:nvGraphicFramePr>
        <p:xfrm>
          <a:off x="4065588" y="4024313"/>
          <a:ext cx="6032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05600" imgH="4572000" progId="Equation.DSMT4">
                  <p:embed/>
                </p:oleObj>
              </mc:Choice>
              <mc:Fallback>
                <p:oleObj name="Equation" r:id="rId12" imgW="6705600" imgH="45720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4024313"/>
                        <a:ext cx="6032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13"/>
          <p:cNvSpPr>
            <a:spLocks noChangeArrowheads="1"/>
          </p:cNvSpPr>
          <p:nvPr/>
        </p:nvSpPr>
        <p:spPr bwMode="auto">
          <a:xfrm>
            <a:off x="481012" y="5037138"/>
            <a:ext cx="84026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离散时间系统中最重要、最常用的是“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线性、时不变系统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”。</a:t>
            </a:r>
          </a:p>
        </p:txBody>
      </p:sp>
      <p:sp>
        <p:nvSpPr>
          <p:cNvPr id="20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离散时间系统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矩形 2"/>
          <p:cNvSpPr>
            <a:spLocks noChangeArrowheads="1"/>
          </p:cNvSpPr>
          <p:nvPr/>
        </p:nvSpPr>
        <p:spPr bwMode="auto">
          <a:xfrm>
            <a:off x="381000" y="940475"/>
            <a:ext cx="89154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线性系统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满足叠加原理：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)+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)]=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)]+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(n)] 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ay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)+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by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（对任意常数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以及所有可能的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都成立）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483357" y="1694527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" name="直接箭头连接符 7"/>
          <p:cNvCxnSpPr>
            <a:cxnSpLocks noChangeShapeType="1"/>
          </p:cNvCxnSpPr>
          <p:nvPr/>
        </p:nvCxnSpPr>
        <p:spPr bwMode="auto">
          <a:xfrm>
            <a:off x="2854325" y="3659188"/>
            <a:ext cx="9366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矩形 8"/>
          <p:cNvSpPr>
            <a:spLocks noChangeArrowheads="1"/>
          </p:cNvSpPr>
          <p:nvPr/>
        </p:nvSpPr>
        <p:spPr bwMode="auto">
          <a:xfrm>
            <a:off x="3790950" y="3319463"/>
            <a:ext cx="122396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接箭头连接符 9"/>
          <p:cNvCxnSpPr>
            <a:cxnSpLocks noChangeShapeType="1"/>
          </p:cNvCxnSpPr>
          <p:nvPr/>
        </p:nvCxnSpPr>
        <p:spPr bwMode="auto">
          <a:xfrm>
            <a:off x="5014913" y="3675063"/>
            <a:ext cx="935037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7" name="对象 11"/>
          <p:cNvGraphicFramePr>
            <a:graphicFrameLocks noChangeAspect="1"/>
          </p:cNvGraphicFramePr>
          <p:nvPr/>
        </p:nvGraphicFramePr>
        <p:xfrm>
          <a:off x="2787650" y="3200400"/>
          <a:ext cx="8112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0" imgH="5486400" progId="Equation.DSMT4">
                  <p:embed/>
                </p:oleObj>
              </mc:Choice>
              <mc:Fallback>
                <p:oleObj name="Equation" r:id="rId2" imgW="9144000" imgH="5486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3200400"/>
                        <a:ext cx="8112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12"/>
          <p:cNvGraphicFramePr>
            <a:graphicFrameLocks noChangeAspect="1"/>
          </p:cNvGraphicFramePr>
          <p:nvPr/>
        </p:nvGraphicFramePr>
        <p:xfrm>
          <a:off x="5078413" y="3200400"/>
          <a:ext cx="8112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0" imgH="5486400" progId="Equation.DSMT4">
                  <p:embed/>
                </p:oleObj>
              </mc:Choice>
              <mc:Fallback>
                <p:oleObj name="Equation" r:id="rId4" imgW="91440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3200400"/>
                        <a:ext cx="8112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箭头连接符 13"/>
          <p:cNvCxnSpPr>
            <a:cxnSpLocks noChangeShapeType="1"/>
          </p:cNvCxnSpPr>
          <p:nvPr/>
        </p:nvCxnSpPr>
        <p:spPr bwMode="auto">
          <a:xfrm>
            <a:off x="2854325" y="4606925"/>
            <a:ext cx="9366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14"/>
          <p:cNvSpPr>
            <a:spLocks noChangeArrowheads="1"/>
          </p:cNvSpPr>
          <p:nvPr/>
        </p:nvSpPr>
        <p:spPr bwMode="auto">
          <a:xfrm>
            <a:off x="3790950" y="4233863"/>
            <a:ext cx="122396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1" name="直接箭头连接符 15"/>
          <p:cNvCxnSpPr>
            <a:cxnSpLocks noChangeShapeType="1"/>
          </p:cNvCxnSpPr>
          <p:nvPr/>
        </p:nvCxnSpPr>
        <p:spPr bwMode="auto">
          <a:xfrm>
            <a:off x="5014913" y="4614863"/>
            <a:ext cx="935037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2" name="对象 17"/>
          <p:cNvGraphicFramePr>
            <a:graphicFrameLocks noChangeAspect="1"/>
          </p:cNvGraphicFramePr>
          <p:nvPr/>
        </p:nvGraphicFramePr>
        <p:xfrm>
          <a:off x="2794000" y="4135438"/>
          <a:ext cx="838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448800" imgH="5486400" progId="Equation.DSMT4">
                  <p:embed/>
                </p:oleObj>
              </mc:Choice>
              <mc:Fallback>
                <p:oleObj name="Equation" r:id="rId6" imgW="9448800" imgH="548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4135438"/>
                        <a:ext cx="8382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18"/>
          <p:cNvGraphicFramePr>
            <a:graphicFrameLocks noChangeAspect="1"/>
          </p:cNvGraphicFramePr>
          <p:nvPr/>
        </p:nvGraphicFramePr>
        <p:xfrm>
          <a:off x="5078413" y="4135438"/>
          <a:ext cx="8112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0" imgH="5486400" progId="Equation.DSMT4">
                  <p:embed/>
                </p:oleObj>
              </mc:Choice>
              <mc:Fallback>
                <p:oleObj name="Equation" r:id="rId8" imgW="91440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4135438"/>
                        <a:ext cx="8112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箭头连接符 19"/>
          <p:cNvCxnSpPr>
            <a:cxnSpLocks noChangeShapeType="1"/>
          </p:cNvCxnSpPr>
          <p:nvPr/>
        </p:nvCxnSpPr>
        <p:spPr bwMode="auto">
          <a:xfrm>
            <a:off x="2854325" y="5584826"/>
            <a:ext cx="9366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矩形 20"/>
          <p:cNvSpPr>
            <a:spLocks noChangeArrowheads="1"/>
          </p:cNvSpPr>
          <p:nvPr/>
        </p:nvSpPr>
        <p:spPr bwMode="auto">
          <a:xfrm>
            <a:off x="3790950" y="5224463"/>
            <a:ext cx="122396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6" name="直接箭头连接符 21"/>
          <p:cNvCxnSpPr>
            <a:cxnSpLocks noChangeShapeType="1"/>
          </p:cNvCxnSpPr>
          <p:nvPr/>
        </p:nvCxnSpPr>
        <p:spPr bwMode="auto">
          <a:xfrm>
            <a:off x="5014913" y="5602288"/>
            <a:ext cx="935037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7" name="对象 23"/>
          <p:cNvGraphicFramePr>
            <a:graphicFrameLocks noChangeAspect="1"/>
          </p:cNvGraphicFramePr>
          <p:nvPr/>
        </p:nvGraphicFramePr>
        <p:xfrm>
          <a:off x="1555750" y="5116513"/>
          <a:ext cx="2136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79200" imgH="5486400" progId="Equation.DSMT4">
                  <p:embed/>
                </p:oleObj>
              </mc:Choice>
              <mc:Fallback>
                <p:oleObj name="Equation" r:id="rId10" imgW="24079200" imgH="54864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5116513"/>
                        <a:ext cx="21367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1"/>
          <p:cNvGraphicFramePr>
            <a:graphicFrameLocks noChangeAspect="1"/>
          </p:cNvGraphicFramePr>
          <p:nvPr/>
        </p:nvGraphicFramePr>
        <p:xfrm>
          <a:off x="5038725" y="5116513"/>
          <a:ext cx="2082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469600" imgH="5486400" progId="Equation.DSMT4">
                  <p:embed/>
                </p:oleObj>
              </mc:Choice>
              <mc:Fallback>
                <p:oleObj name="Equation" r:id="rId12" imgW="23469600" imgH="548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5116513"/>
                        <a:ext cx="20828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占位符 3"/>
          <p:cNvSpPr txBox="1"/>
          <p:nvPr/>
        </p:nvSpPr>
        <p:spPr>
          <a:xfrm>
            <a:off x="1752600" y="5972175"/>
            <a:ext cx="5486400" cy="5048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15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1.8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线性系统</a:t>
            </a:r>
          </a:p>
        </p:txBody>
      </p:sp>
      <p:graphicFrame>
        <p:nvGraphicFramePr>
          <p:cNvPr id="40" name="对象 7"/>
          <p:cNvGraphicFramePr>
            <a:graphicFrameLocks noChangeAspect="1"/>
          </p:cNvGraphicFramePr>
          <p:nvPr/>
        </p:nvGraphicFramePr>
        <p:xfrm>
          <a:off x="4033871" y="3429000"/>
          <a:ext cx="642528" cy="43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05600" imgH="4572000" progId="Equation.DSMT4">
                  <p:embed/>
                </p:oleObj>
              </mc:Choice>
              <mc:Fallback>
                <p:oleObj name="Equation" r:id="rId16" imgW="6705600" imgH="4572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71" y="3429000"/>
                        <a:ext cx="642528" cy="43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7"/>
          <p:cNvGraphicFramePr>
            <a:graphicFrameLocks noChangeAspect="1"/>
          </p:cNvGraphicFramePr>
          <p:nvPr/>
        </p:nvGraphicFramePr>
        <p:xfrm>
          <a:off x="4043249" y="4375219"/>
          <a:ext cx="642528" cy="43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05600" imgH="4572000" progId="Equation.DSMT4">
                  <p:embed/>
                </p:oleObj>
              </mc:Choice>
              <mc:Fallback>
                <p:oleObj name="Equation" r:id="rId16" imgW="6705600" imgH="4572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249" y="4375219"/>
                        <a:ext cx="642528" cy="43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7"/>
          <p:cNvGraphicFramePr>
            <a:graphicFrameLocks noChangeAspect="1"/>
          </p:cNvGraphicFramePr>
          <p:nvPr/>
        </p:nvGraphicFramePr>
        <p:xfrm>
          <a:off x="4063027" y="5410200"/>
          <a:ext cx="642528" cy="43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05600" imgH="4572000" progId="Equation.DSMT4">
                  <p:embed/>
                </p:oleObj>
              </mc:Choice>
              <mc:Fallback>
                <p:oleObj name="Equation" r:id="rId16" imgW="6705600" imgH="4572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3027" y="5410200"/>
                        <a:ext cx="642528" cy="43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1.3.1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线性系统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(linear system)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04800" y="990802"/>
            <a:ext cx="86106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1.6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                                            是否为线性系统。</a:t>
            </a:r>
          </a:p>
        </p:txBody>
      </p:sp>
      <p:graphicFrame>
        <p:nvGraphicFramePr>
          <p:cNvPr id="4" name="对象 1"/>
          <p:cNvGraphicFramePr>
            <a:graphicFrameLocks noChangeAspect="1"/>
          </p:cNvGraphicFramePr>
          <p:nvPr/>
        </p:nvGraphicFramePr>
        <p:xfrm>
          <a:off x="1885166" y="4988089"/>
          <a:ext cx="3603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800" imgH="3352800" progId="Equation.DSMT4">
                  <p:embed/>
                </p:oleObj>
              </mc:Choice>
              <mc:Fallback>
                <p:oleObj name="Equation" r:id="rId2" imgW="3352800" imgH="3352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166" y="4988089"/>
                        <a:ext cx="3603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47800" y="5638800"/>
            <a:ext cx="198804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非线性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aphicFrame>
        <p:nvGraphicFramePr>
          <p:cNvPr id="7" name="对象 2"/>
          <p:cNvGraphicFramePr>
            <a:graphicFrameLocks noChangeAspect="1"/>
          </p:cNvGraphicFramePr>
          <p:nvPr/>
        </p:nvGraphicFramePr>
        <p:xfrm>
          <a:off x="2188716" y="1006957"/>
          <a:ext cx="405968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5486400" progId="Equation.DSMT4">
                  <p:embed/>
                </p:oleObj>
              </mc:Choice>
              <mc:Fallback>
                <p:oleObj name="Equation" r:id="rId4" imgW="423672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716" y="1006957"/>
                        <a:ext cx="4059684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313183" y="1600402"/>
            <a:ext cx="906017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1019229" y="3551970"/>
          <a:ext cx="2249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69600" imgH="4876800" progId="Equation.DSMT4">
                  <p:embed/>
                </p:oleObj>
              </mc:Choice>
              <mc:Fallback>
                <p:oleObj name="Equation" r:id="rId6" imgW="2346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229" y="3551970"/>
                        <a:ext cx="2249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"/>
          <p:cNvGraphicFramePr>
            <a:graphicFrameLocks noChangeAspect="1"/>
          </p:cNvGraphicFramePr>
          <p:nvPr/>
        </p:nvGraphicFramePr>
        <p:xfrm>
          <a:off x="1000298" y="4231154"/>
          <a:ext cx="2249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469600" imgH="5486400" progId="Equation.DSMT4">
                  <p:embed/>
                </p:oleObj>
              </mc:Choice>
              <mc:Fallback>
                <p:oleObj name="Equation" r:id="rId8" imgW="23469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298" y="4231154"/>
                        <a:ext cx="224948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2"/>
          <p:cNvGraphicFramePr>
            <a:graphicFrameLocks noChangeAspect="1"/>
          </p:cNvGraphicFramePr>
          <p:nvPr/>
        </p:nvGraphicFramePr>
        <p:xfrm>
          <a:off x="3264302" y="4202579"/>
          <a:ext cx="41179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976800" imgH="5791200" progId="Equation.DSMT4">
                  <p:embed/>
                </p:oleObj>
              </mc:Choice>
              <mc:Fallback>
                <p:oleObj name="Equation" r:id="rId10" imgW="42976800" imgH="5791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302" y="4202579"/>
                        <a:ext cx="41179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"/>
          <p:cNvGraphicFramePr>
            <a:graphicFrameLocks noChangeAspect="1"/>
          </p:cNvGraphicFramePr>
          <p:nvPr/>
        </p:nvGraphicFramePr>
        <p:xfrm>
          <a:off x="3224266" y="3499620"/>
          <a:ext cx="58991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1569600" imgH="5791200" progId="Equation.DSMT4">
                  <p:embed/>
                </p:oleObj>
              </mc:Choice>
              <mc:Fallback>
                <p:oleObj name="Equation" r:id="rId12" imgW="61569600" imgH="5791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66" y="3499620"/>
                        <a:ext cx="58991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2"/>
          <p:cNvGraphicFramePr>
            <a:graphicFrameLocks noChangeAspect="1"/>
          </p:cNvGraphicFramePr>
          <p:nvPr/>
        </p:nvGraphicFramePr>
        <p:xfrm>
          <a:off x="1019229" y="2849462"/>
          <a:ext cx="33305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747200" imgH="5486400" progId="Equation.DSMT4">
                  <p:embed/>
                </p:oleObj>
              </mc:Choice>
              <mc:Fallback>
                <p:oleObj name="Equation" r:id="rId14" imgW="347472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229" y="2849462"/>
                        <a:ext cx="333057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"/>
          <p:cNvGraphicFramePr>
            <a:graphicFrameLocks noChangeAspect="1"/>
          </p:cNvGraphicFramePr>
          <p:nvPr/>
        </p:nvGraphicFramePr>
        <p:xfrm>
          <a:off x="1019229" y="1592308"/>
          <a:ext cx="44100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024800" imgH="12192000" progId="Equation.DSMT4">
                  <p:embed/>
                </p:oleObj>
              </mc:Choice>
              <mc:Fallback>
                <p:oleObj name="Equation" r:id="rId16" imgW="46024800" imgH="12192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229" y="1592308"/>
                        <a:ext cx="441007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"/>
          <p:cNvGraphicFramePr>
            <a:graphicFrameLocks noChangeAspect="1"/>
          </p:cNvGraphicFramePr>
          <p:nvPr/>
        </p:nvGraphicFramePr>
        <p:xfrm>
          <a:off x="1019229" y="4944203"/>
          <a:ext cx="7604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924800" imgH="4876800" progId="Equation.DSMT4">
                  <p:embed/>
                </p:oleObj>
              </mc:Choice>
              <mc:Fallback>
                <p:oleObj name="Equation" r:id="rId18" imgW="79248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229" y="4944203"/>
                        <a:ext cx="7604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"/>
          <p:cNvGraphicFramePr>
            <a:graphicFrameLocks noChangeAspect="1"/>
          </p:cNvGraphicFramePr>
          <p:nvPr/>
        </p:nvGraphicFramePr>
        <p:xfrm>
          <a:off x="2351053" y="4905538"/>
          <a:ext cx="2249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469600" imgH="5486400" progId="Equation.DSMT4">
                  <p:embed/>
                </p:oleObj>
              </mc:Choice>
              <mc:Fallback>
                <p:oleObj name="Equation" r:id="rId20" imgW="23469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53" y="4905538"/>
                        <a:ext cx="224948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"/>
          <p:cNvGraphicFramePr>
            <a:graphicFrameLocks noChangeAspect="1"/>
          </p:cNvGraphicFramePr>
          <p:nvPr/>
        </p:nvGraphicFramePr>
        <p:xfrm>
          <a:off x="1044178" y="5797449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52800" imgH="3048000" progId="Equation.DSMT4">
                  <p:embed/>
                </p:oleObj>
              </mc:Choice>
              <mc:Fallback>
                <p:oleObj name="Equation" r:id="rId21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178" y="5797449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1.3.1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线性系统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(linear system)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4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532143"/>
            <a:ext cx="5040313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矩形 1"/>
          <p:cNvSpPr>
            <a:spLocks noChangeArrowheads="1"/>
          </p:cNvSpPr>
          <p:nvPr/>
        </p:nvSpPr>
        <p:spPr bwMode="auto">
          <a:xfrm>
            <a:off x="1043608" y="1124744"/>
            <a:ext cx="7272337" cy="57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780" indent="-2717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时不变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系统：系统的参数不随时间而变化。</a:t>
            </a: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1116868" y="5562600"/>
            <a:ext cx="8027131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1780" indent="-27178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先延时再通过系统等效于先通过系统再延时。</a:t>
            </a:r>
          </a:p>
        </p:txBody>
      </p:sp>
      <p:graphicFrame>
        <p:nvGraphicFramePr>
          <p:cNvPr id="6" name="对象 2"/>
          <p:cNvGraphicFramePr>
            <a:graphicFrameLocks noChangeAspect="1"/>
          </p:cNvGraphicFramePr>
          <p:nvPr/>
        </p:nvGraphicFramePr>
        <p:xfrm>
          <a:off x="3124200" y="1905000"/>
          <a:ext cx="2249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69600" imgH="4876800" progId="Equation.DSMT4">
                  <p:embed/>
                </p:oleObj>
              </mc:Choice>
              <mc:Fallback>
                <p:oleObj name="Equation" r:id="rId3" imgW="2346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905000"/>
                        <a:ext cx="2249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2"/>
          <p:cNvGraphicFramePr>
            <a:graphicFrameLocks noChangeAspect="1"/>
          </p:cNvGraphicFramePr>
          <p:nvPr/>
        </p:nvGraphicFramePr>
        <p:xfrm>
          <a:off x="2501900" y="2518012"/>
          <a:ext cx="35353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80800" imgH="5486400" progId="Equation.DSMT4">
                  <p:embed/>
                </p:oleObj>
              </mc:Choice>
              <mc:Fallback>
                <p:oleObj name="Equation" r:id="rId5" imgW="36880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518012"/>
                        <a:ext cx="35353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929763" y="2434077"/>
            <a:ext cx="545342" cy="5598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9625" y="2470754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1.3.2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(time-invariant)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04800" y="990802"/>
            <a:ext cx="8610600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1.7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                                                                   是否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为时不变系统。</a:t>
            </a:r>
          </a:p>
        </p:txBody>
      </p:sp>
      <p:graphicFrame>
        <p:nvGraphicFramePr>
          <p:cNvPr id="4" name="对象 2"/>
          <p:cNvGraphicFramePr>
            <a:graphicFrameLocks noChangeAspect="1"/>
          </p:cNvGraphicFramePr>
          <p:nvPr/>
        </p:nvGraphicFramePr>
        <p:xfrm>
          <a:off x="2101850" y="1085720"/>
          <a:ext cx="58991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569600" imgH="4876800" progId="Equation.DSMT4">
                  <p:embed/>
                </p:oleObj>
              </mc:Choice>
              <mc:Fallback>
                <p:oleObj name="Equation" r:id="rId2" imgW="6156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1085720"/>
                        <a:ext cx="58991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33866" y="2117264"/>
            <a:ext cx="906017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71600" y="4643438"/>
          <a:ext cx="1577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59200" imgH="4876800" progId="Equation.DSMT4">
                  <p:embed/>
                </p:oleObj>
              </mc:Choice>
              <mc:Fallback>
                <p:oleObj name="Equation" r:id="rId4" imgW="16459200" imgH="48768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71600" y="4643438"/>
                        <a:ext cx="15779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2"/>
          <p:cNvGraphicFramePr>
            <a:graphicFrameLocks noChangeAspect="1"/>
          </p:cNvGraphicFramePr>
          <p:nvPr/>
        </p:nvGraphicFramePr>
        <p:xfrm>
          <a:off x="2874963" y="4654550"/>
          <a:ext cx="44402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329600" imgH="4876800" progId="Equation.DSMT4">
                  <p:embed/>
                </p:oleObj>
              </mc:Choice>
              <mc:Fallback>
                <p:oleObj name="Equation" r:id="rId6" imgW="4632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4654550"/>
                        <a:ext cx="444023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2"/>
          <p:cNvGraphicFramePr>
            <a:graphicFrameLocks noChangeAspect="1"/>
          </p:cNvGraphicFramePr>
          <p:nvPr/>
        </p:nvGraphicFramePr>
        <p:xfrm>
          <a:off x="2330842" y="3330575"/>
          <a:ext cx="38846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538400" imgH="5486400" progId="Equation.DSMT4">
                  <p:embed/>
                </p:oleObj>
              </mc:Choice>
              <mc:Fallback>
                <p:oleObj name="Equation" r:id="rId8" imgW="405384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842" y="3330575"/>
                        <a:ext cx="38846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450975" y="2155825"/>
          <a:ext cx="24542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603200" imgH="10972800" progId="Equation.DSMT4">
                  <p:embed/>
                </p:oleObj>
              </mc:Choice>
              <mc:Fallback>
                <p:oleObj name="Equation" r:id="rId10" imgW="25603200" imgH="109728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50975" y="2155825"/>
                        <a:ext cx="2454275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2"/>
          <p:cNvGraphicFramePr>
            <a:graphicFrameLocks noChangeAspect="1"/>
          </p:cNvGraphicFramePr>
          <p:nvPr/>
        </p:nvGraphicFramePr>
        <p:xfrm>
          <a:off x="2316554" y="4021138"/>
          <a:ext cx="47323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377600" imgH="4876800" progId="Equation.DSMT4">
                  <p:embed/>
                </p:oleObj>
              </mc:Choice>
              <mc:Fallback>
                <p:oleObj name="Equation" r:id="rId12" imgW="49377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554" y="4021138"/>
                        <a:ext cx="47323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401763" y="5237163"/>
          <a:ext cx="9921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363200" imgH="5791200" progId="Equation.DSMT4">
                  <p:embed/>
                </p:oleObj>
              </mc:Choice>
              <mc:Fallback>
                <p:oleObj name="Equation" r:id="rId14" imgW="10363200" imgH="5791200" progId="Equation.DSMT4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1763" y="5237163"/>
                        <a:ext cx="992187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"/>
          <p:cNvGraphicFramePr>
            <a:graphicFrameLocks noChangeAspect="1"/>
          </p:cNvGraphicFramePr>
          <p:nvPr/>
        </p:nvGraphicFramePr>
        <p:xfrm>
          <a:off x="2519204" y="5366018"/>
          <a:ext cx="36036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52800" imgH="2743200" progId="Equation.DSMT4">
                  <p:embed/>
                </p:oleObj>
              </mc:Choice>
              <mc:Fallback>
                <p:oleObj name="Equation" r:id="rId16" imgW="3352800" imgH="274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204" y="5366018"/>
                        <a:ext cx="36036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0" y="5867602"/>
            <a:ext cx="198804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时不变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aphicFrame>
        <p:nvGraphicFramePr>
          <p:cNvPr id="20" name="对象 2"/>
          <p:cNvGraphicFramePr>
            <a:graphicFrameLocks noChangeAspect="1"/>
          </p:cNvGraphicFramePr>
          <p:nvPr/>
        </p:nvGraphicFramePr>
        <p:xfrm>
          <a:off x="1151253" y="6032500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52800" imgH="3048000" progId="Equation.DSMT4">
                  <p:embed/>
                </p:oleObj>
              </mc:Choice>
              <mc:Fallback>
                <p:oleObj name="Equation" r:id="rId18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253" y="6032500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971800" y="5257800"/>
          <a:ext cx="1285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411200" imgH="4876800" progId="Equation.DSMT4">
                  <p:embed/>
                </p:oleObj>
              </mc:Choice>
              <mc:Fallback>
                <p:oleObj name="Equation" r:id="rId20" imgW="13411200" imgH="487680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71800" y="5257800"/>
                        <a:ext cx="12858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1.3.2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(time-invariant)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5800" y="768141"/>
            <a:ext cx="7696200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下列系统中，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表示输出，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表示输入，试确定系统是否是线性系统？是否是时不变系统？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</a:t>
            </a:r>
          </a:p>
        </p:txBody>
      </p:sp>
      <p:sp>
        <p:nvSpPr>
          <p:cNvPr id="3" name="矩形 2"/>
          <p:cNvSpPr/>
          <p:nvPr/>
        </p:nvSpPr>
        <p:spPr>
          <a:xfrm>
            <a:off x="668518" y="244921"/>
            <a:ext cx="15343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2"/>
          <p:cNvGraphicFramePr>
            <a:graphicFrameLocks noChangeAspect="1"/>
          </p:cNvGraphicFramePr>
          <p:nvPr/>
        </p:nvGraphicFramePr>
        <p:xfrm>
          <a:off x="1435715" y="1761767"/>
          <a:ext cx="19573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21600" imgH="4876800" progId="Equation.DSMT4">
                  <p:embed/>
                </p:oleObj>
              </mc:Choice>
              <mc:Fallback>
                <p:oleObj name="Equation" r:id="rId2" imgW="20421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715" y="1761767"/>
                        <a:ext cx="19573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85800" y="233929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解：</a:t>
            </a:r>
            <a:endParaRPr lang="zh-CN" altLang="en-US" dirty="0"/>
          </a:p>
        </p:txBody>
      </p:sp>
      <p:graphicFrame>
        <p:nvGraphicFramePr>
          <p:cNvPr id="6" name="对象 1"/>
          <p:cNvGraphicFramePr>
            <a:graphicFrameLocks noChangeAspect="1"/>
          </p:cNvGraphicFramePr>
          <p:nvPr/>
        </p:nvGraphicFramePr>
        <p:xfrm>
          <a:off x="2316163" y="5366151"/>
          <a:ext cx="36036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52800" imgH="2743200" progId="Equation.DSMT4">
                  <p:embed/>
                </p:oleObj>
              </mc:Choice>
              <mc:Fallback>
                <p:oleObj name="Equation" r:id="rId4" imgW="3352800" imgH="274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5366151"/>
                        <a:ext cx="36036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828800" y="5943600"/>
            <a:ext cx="162736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aphicFrame>
        <p:nvGraphicFramePr>
          <p:cNvPr id="9" name="对象 2"/>
          <p:cNvGraphicFramePr>
            <a:graphicFrameLocks noChangeAspect="1"/>
          </p:cNvGraphicFramePr>
          <p:nvPr/>
        </p:nvGraphicFramePr>
        <p:xfrm>
          <a:off x="1450718" y="4038600"/>
          <a:ext cx="2249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69600" imgH="4876800" progId="Equation.DSMT4">
                  <p:embed/>
                </p:oleObj>
              </mc:Choice>
              <mc:Fallback>
                <p:oleObj name="Equation" r:id="rId6" imgW="2346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718" y="4038600"/>
                        <a:ext cx="2249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1431787" y="4578189"/>
          <a:ext cx="2249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469600" imgH="5486400" progId="Equation.DSMT4">
                  <p:embed/>
                </p:oleObj>
              </mc:Choice>
              <mc:Fallback>
                <p:oleObj name="Equation" r:id="rId8" imgW="23469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787" y="4578189"/>
                        <a:ext cx="224948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2"/>
          <p:cNvGraphicFramePr>
            <a:graphicFrameLocks noChangeAspect="1"/>
          </p:cNvGraphicFramePr>
          <p:nvPr/>
        </p:nvGraphicFramePr>
        <p:xfrm>
          <a:off x="3581400" y="4572000"/>
          <a:ext cx="29797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089600" imgH="5486400" progId="Equation.DSMT4">
                  <p:embed/>
                </p:oleObj>
              </mc:Choice>
              <mc:Fallback>
                <p:oleObj name="Equation" r:id="rId10" imgW="31089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572000"/>
                        <a:ext cx="29797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2"/>
          <p:cNvGraphicFramePr>
            <a:graphicFrameLocks noChangeAspect="1"/>
          </p:cNvGraphicFramePr>
          <p:nvPr/>
        </p:nvGraphicFramePr>
        <p:xfrm>
          <a:off x="1450718" y="3429000"/>
          <a:ext cx="33305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747200" imgH="5486400" progId="Equation.DSMT4">
                  <p:embed/>
                </p:oleObj>
              </mc:Choice>
              <mc:Fallback>
                <p:oleObj name="Equation" r:id="rId8" imgW="347472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718" y="3429000"/>
                        <a:ext cx="333057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2"/>
          <p:cNvGraphicFramePr>
            <a:graphicFrameLocks noChangeAspect="1"/>
          </p:cNvGraphicFramePr>
          <p:nvPr/>
        </p:nvGraphicFramePr>
        <p:xfrm>
          <a:off x="1461950" y="2339290"/>
          <a:ext cx="22193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164800" imgH="10972800" progId="Equation.DSMT4">
                  <p:embed/>
                </p:oleObj>
              </mc:Choice>
              <mc:Fallback>
                <p:oleObj name="Equation" r:id="rId13" imgW="23164800" imgH="10972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950" y="2339290"/>
                        <a:ext cx="221932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2"/>
          <p:cNvGraphicFramePr>
            <a:graphicFrameLocks noChangeAspect="1"/>
          </p:cNvGraphicFramePr>
          <p:nvPr/>
        </p:nvGraphicFramePr>
        <p:xfrm>
          <a:off x="1450718" y="5291238"/>
          <a:ext cx="7604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718" y="5291238"/>
                        <a:ext cx="7604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"/>
          <p:cNvGraphicFramePr>
            <a:graphicFrameLocks noChangeAspect="1"/>
          </p:cNvGraphicFramePr>
          <p:nvPr/>
        </p:nvGraphicFramePr>
        <p:xfrm>
          <a:off x="2782542" y="5252573"/>
          <a:ext cx="22494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469600" imgH="5486400" progId="Equation.DSMT4">
                  <p:embed/>
                </p:oleObj>
              </mc:Choice>
              <mc:Fallback>
                <p:oleObj name="Equation" r:id="rId8" imgW="23469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542" y="5252573"/>
                        <a:ext cx="224948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"/>
          <p:cNvGraphicFramePr>
            <a:graphicFrameLocks noChangeAspect="1"/>
          </p:cNvGraphicFramePr>
          <p:nvPr/>
        </p:nvGraphicFramePr>
        <p:xfrm>
          <a:off x="1475667" y="6102249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52800" imgH="3048000" progId="Equation.DSMT4">
                  <p:embed/>
                </p:oleObj>
              </mc:Choice>
              <mc:Fallback>
                <p:oleObj name="Equation" r:id="rId15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67" y="6102249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"/>
          <p:cNvGraphicFramePr>
            <a:graphicFrameLocks noChangeAspect="1"/>
          </p:cNvGraphicFramePr>
          <p:nvPr/>
        </p:nvGraphicFramePr>
        <p:xfrm>
          <a:off x="3695308" y="4000892"/>
          <a:ext cx="26876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041600" imgH="5486400" progId="Equation.DSMT4">
                  <p:embed/>
                </p:oleObj>
              </mc:Choice>
              <mc:Fallback>
                <p:oleObj name="Equation" r:id="rId18" imgW="280416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308" y="4000892"/>
                        <a:ext cx="26876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414462" y="2962275"/>
          <a:ext cx="1577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59200" imgH="4876800" progId="Equation.DSMT4">
                  <p:embed/>
                </p:oleObj>
              </mc:Choice>
              <mc:Fallback>
                <p:oleObj name="Equation" r:id="rId2" imgW="16459200" imgH="48768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14462" y="2962275"/>
                        <a:ext cx="15779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45933" y="2955974"/>
          <a:ext cx="22780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74400" imgH="4876800" progId="Equation.DSMT4">
                  <p:embed/>
                </p:oleObj>
              </mc:Choice>
              <mc:Fallback>
                <p:oleObj name="Equation" r:id="rId4" imgW="237744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933" y="2955974"/>
                        <a:ext cx="22780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2"/>
          <p:cNvGraphicFramePr>
            <a:graphicFrameLocks noChangeAspect="1"/>
          </p:cNvGraphicFramePr>
          <p:nvPr/>
        </p:nvGraphicFramePr>
        <p:xfrm>
          <a:off x="3945745" y="2257713"/>
          <a:ext cx="13430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20800" imgH="5486400" progId="Equation.DSMT4">
                  <p:embed/>
                </p:oleObj>
              </mc:Choice>
              <mc:Fallback>
                <p:oleObj name="Equation" r:id="rId6" imgW="14020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745" y="2257713"/>
                        <a:ext cx="13430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47800" y="1732251"/>
          <a:ext cx="24542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603200" imgH="10972800" progId="Equation.DSMT4">
                  <p:embed/>
                </p:oleObj>
              </mc:Choice>
              <mc:Fallback>
                <p:oleObj name="Equation" r:id="rId8" imgW="25603200" imgH="109728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47800" y="1732251"/>
                        <a:ext cx="2454275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2"/>
          <p:cNvGraphicFramePr>
            <a:graphicFrameLocks noChangeAspect="1"/>
          </p:cNvGraphicFramePr>
          <p:nvPr/>
        </p:nvGraphicFramePr>
        <p:xfrm>
          <a:off x="5288770" y="2257713"/>
          <a:ext cx="17526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0" imgH="4876800" progId="Equation.DSMT4">
                  <p:embed/>
                </p:oleObj>
              </mc:Choice>
              <mc:Fallback>
                <p:oleObj name="Equation" r:id="rId10" imgW="182880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770" y="2257713"/>
                        <a:ext cx="17526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444625" y="3560763"/>
          <a:ext cx="90257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363200" imgH="5791200" progId="Equation.DSMT4">
                  <p:embed/>
                </p:oleObj>
              </mc:Choice>
              <mc:Fallback>
                <p:oleObj name="Equation" r:id="rId2" imgW="10363200" imgH="5791200" progId="Equation.DSMT4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4625" y="3560763"/>
                        <a:ext cx="902579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"/>
          <p:cNvGraphicFramePr>
            <a:graphicFrameLocks noChangeAspect="1"/>
          </p:cNvGraphicFramePr>
          <p:nvPr/>
        </p:nvGraphicFramePr>
        <p:xfrm>
          <a:off x="2438400" y="3657600"/>
          <a:ext cx="3603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52800" imgH="3352800" progId="Equation.DSMT4">
                  <p:embed/>
                </p:oleObj>
              </mc:Choice>
              <mc:Fallback>
                <p:oleObj name="Equation" r:id="rId13" imgW="3352800" imgH="3352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0"/>
                        <a:ext cx="3603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676400" y="4343400"/>
            <a:ext cx="162736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时变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aphicFrame>
        <p:nvGraphicFramePr>
          <p:cNvPr id="16" name="对象 2"/>
          <p:cNvGraphicFramePr>
            <a:graphicFrameLocks noChangeAspect="1"/>
          </p:cNvGraphicFramePr>
          <p:nvPr/>
        </p:nvGraphicFramePr>
        <p:xfrm>
          <a:off x="1194115" y="4508298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800" imgH="3048000" progId="Equation.DSMT4">
                  <p:embed/>
                </p:oleObj>
              </mc:Choice>
              <mc:Fallback>
                <p:oleObj name="Equation" r:id="rId2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115" y="4508298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95600" y="3581400"/>
          <a:ext cx="1285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11200" imgH="4876800" progId="Equation.DSMT4">
                  <p:embed/>
                </p:oleObj>
              </mc:Choice>
              <mc:Fallback>
                <p:oleObj name="Equation" r:id="rId2" imgW="13411200" imgH="487680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95600" y="3581400"/>
                        <a:ext cx="12858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"/>
          <p:cNvGraphicFramePr>
            <a:graphicFrameLocks noChangeAspect="1"/>
          </p:cNvGraphicFramePr>
          <p:nvPr/>
        </p:nvGraphicFramePr>
        <p:xfrm>
          <a:off x="1482125" y="903468"/>
          <a:ext cx="19573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21600" imgH="4876800" progId="Equation.DSMT4">
                  <p:embed/>
                </p:oleObj>
              </mc:Choice>
              <mc:Fallback>
                <p:oleObj name="Equation" r:id="rId2" imgW="20421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125" y="903468"/>
                        <a:ext cx="19573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715951" y="869689"/>
            <a:ext cx="694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(5)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52600" y="304800"/>
            <a:ext cx="563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系统类型判断的直观方法总结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8600" y="1182231"/>
            <a:ext cx="8534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线性系统判别：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表征系统的等式中不能出现非线性运算。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只能出现输入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x(n)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和输出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y(n)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本身、及其它们的移序项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x(n-n0)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y(n-n0)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，这些均属于线性运算。否则系统为非线性系统。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228600" y="3962400"/>
            <a:ext cx="8458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时不变系统判别：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x(n)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和输出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y(n)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的系数中不能包含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的函数；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表达式中还不能出现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x(an)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y(an)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项，其中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为不为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的常数。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457200" y="838200"/>
            <a:ext cx="82089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30480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(linear time-invariant, LTI)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30480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同时满足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时不变性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304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304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线性时不变系统可以完全由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单位脉冲响应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1032"/>
          <p:cNvSpPr>
            <a:spLocks noChangeArrowheads="1"/>
          </p:cNvSpPr>
          <p:nvPr/>
        </p:nvSpPr>
        <p:spPr bwMode="auto">
          <a:xfrm>
            <a:off x="762000" y="238780"/>
            <a:ext cx="75651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3.3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线性时不变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linear time-invariant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LTI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58520" y="3217013"/>
            <a:ext cx="3804915" cy="876470"/>
            <a:chOff x="2041525" y="2204864"/>
            <a:chExt cx="3804915" cy="876470"/>
          </a:xfrm>
        </p:grpSpPr>
        <p:sp>
          <p:nvSpPr>
            <p:cNvPr id="14341" name="Rectangle 16"/>
            <p:cNvSpPr>
              <a:spLocks noChangeArrowheads="1"/>
            </p:cNvSpPr>
            <p:nvPr/>
          </p:nvSpPr>
          <p:spPr bwMode="auto">
            <a:xfrm>
              <a:off x="2955925" y="2205038"/>
              <a:ext cx="1976115" cy="8762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42" name="Line 17"/>
            <p:cNvSpPr>
              <a:spLocks noChangeShapeType="1"/>
            </p:cNvSpPr>
            <p:nvPr/>
          </p:nvSpPr>
          <p:spPr bwMode="auto">
            <a:xfrm>
              <a:off x="4932040" y="2636912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43" name="Line 18"/>
            <p:cNvSpPr>
              <a:spLocks noChangeShapeType="1"/>
            </p:cNvSpPr>
            <p:nvPr/>
          </p:nvSpPr>
          <p:spPr bwMode="auto">
            <a:xfrm>
              <a:off x="2041525" y="2636912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4344" name="Object 19"/>
            <p:cNvGraphicFramePr>
              <a:graphicFrameLocks noChangeAspect="1"/>
            </p:cNvGraphicFramePr>
            <p:nvPr/>
          </p:nvGraphicFramePr>
          <p:xfrm>
            <a:off x="2041525" y="2204864"/>
            <a:ext cx="792163" cy="487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30200" imgH="203200" progId="Equation.DSMT4">
                    <p:embed/>
                  </p:oleObj>
                </mc:Choice>
                <mc:Fallback>
                  <p:oleObj name="Equation" r:id="rId2" imgW="330200" imgH="203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525" y="2204864"/>
                          <a:ext cx="792163" cy="487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20"/>
            <p:cNvGraphicFramePr>
              <a:graphicFrameLocks noChangeAspect="1"/>
            </p:cNvGraphicFramePr>
            <p:nvPr/>
          </p:nvGraphicFramePr>
          <p:xfrm>
            <a:off x="5049838" y="2241789"/>
            <a:ext cx="762000" cy="487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500" imgH="203200" progId="Equation.DSMT4">
                    <p:embed/>
                  </p:oleObj>
                </mc:Choice>
                <mc:Fallback>
                  <p:oleObj name="Equation" r:id="rId4" imgW="317500" imgH="203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9838" y="2241789"/>
                          <a:ext cx="762000" cy="487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7" name="对象 2"/>
          <p:cNvGraphicFramePr>
            <a:graphicFrameLocks noChangeAspect="1"/>
          </p:cNvGraphicFramePr>
          <p:nvPr/>
        </p:nvGraphicFramePr>
        <p:xfrm>
          <a:off x="2921050" y="4511929"/>
          <a:ext cx="2000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5100" imgH="215900" progId="Equation.DSMT4">
                  <p:embed/>
                </p:oleObj>
              </mc:Choice>
              <mc:Fallback>
                <p:oleObj name="Equation" r:id="rId6" imgW="1435100" imgH="2159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50" y="4511929"/>
                        <a:ext cx="20002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595018" y="3433161"/>
          <a:ext cx="844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700" imgH="203200" progId="Equation.DSMT4">
                  <p:embed/>
                </p:oleObj>
              </mc:Choice>
              <mc:Fallback>
                <p:oleObj name="Equation" r:id="rId8" imgW="266700" imgH="203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018" y="3433161"/>
                        <a:ext cx="844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47233" y="5169154"/>
            <a:ext cx="810558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/>
              <a:t>单位脉冲响应</a:t>
            </a:r>
            <a:r>
              <a:rPr kumimoji="1" lang="en-US" altLang="zh-CN" b="1" i="1" dirty="0">
                <a:solidFill>
                  <a:srgbClr val="000000"/>
                </a:solidFill>
              </a:rPr>
              <a:t>h</a:t>
            </a:r>
            <a:r>
              <a:rPr kumimoji="1" lang="en-US" altLang="zh-CN" b="1" dirty="0">
                <a:solidFill>
                  <a:srgbClr val="000000"/>
                </a:solidFill>
              </a:rPr>
              <a:t>(</a:t>
            </a:r>
            <a:r>
              <a:rPr kumimoji="1" lang="en-US" altLang="zh-CN" b="1" i="1" dirty="0">
                <a:solidFill>
                  <a:srgbClr val="000000"/>
                </a:solidFill>
              </a:rPr>
              <a:t>n</a:t>
            </a:r>
            <a:r>
              <a:rPr kumimoji="1" lang="en-US" altLang="zh-CN" b="1" dirty="0">
                <a:solidFill>
                  <a:srgbClr val="000000"/>
                </a:solidFill>
              </a:rPr>
              <a:t>)</a:t>
            </a:r>
            <a:r>
              <a:rPr kumimoji="1" lang="zh-CN" altLang="en-US" b="1" dirty="0">
                <a:solidFill>
                  <a:srgbClr val="000000"/>
                </a:solidFill>
              </a:rPr>
              <a:t>是输入为单位脉冲序列         时的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pPr>
              <a:lnSpc>
                <a:spcPct val="125000"/>
              </a:lnSpc>
            </a:pPr>
            <a:r>
              <a:rPr kumimoji="1" lang="zh-CN" altLang="en-US" b="1" dirty="0">
                <a:solidFill>
                  <a:srgbClr val="000000"/>
                </a:solidFill>
              </a:rPr>
              <a:t>系统输出。</a:t>
            </a:r>
            <a:endParaRPr lang="zh-CN" altLang="en-US" b="1" dirty="0"/>
          </a:p>
        </p:txBody>
      </p:sp>
      <p:graphicFrame>
        <p:nvGraphicFramePr>
          <p:cNvPr id="13" name="对象 2"/>
          <p:cNvGraphicFramePr>
            <a:graphicFrameLocks noChangeAspect="1"/>
          </p:cNvGraphicFramePr>
          <p:nvPr/>
        </p:nvGraphicFramePr>
        <p:xfrm>
          <a:off x="7224233" y="5191150"/>
          <a:ext cx="822528" cy="487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29600" imgH="4876800" progId="Equation.DSMT4">
                  <p:embed/>
                </p:oleObj>
              </mc:Choice>
              <mc:Fallback>
                <p:oleObj name="Equation" r:id="rId10" imgW="8229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233" y="5191150"/>
                        <a:ext cx="822528" cy="487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对象 1"/>
          <p:cNvGraphicFramePr>
            <a:graphicFrameLocks noChangeAspect="1"/>
          </p:cNvGraphicFramePr>
          <p:nvPr/>
        </p:nvGraphicFramePr>
        <p:xfrm>
          <a:off x="1916113" y="1056107"/>
          <a:ext cx="3717792" cy="103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185600" imgH="10363200" progId="Equation.DSMT4">
                  <p:embed/>
                </p:oleObj>
              </mc:Choice>
              <mc:Fallback>
                <p:oleObj name="Equation" r:id="rId3" imgW="37185600" imgH="1036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056107"/>
                        <a:ext cx="3717792" cy="1035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253" name="直接箭头连接符 2"/>
          <p:cNvCxnSpPr/>
          <p:nvPr/>
        </p:nvCxnSpPr>
        <p:spPr bwMode="auto">
          <a:xfrm flipV="1">
            <a:off x="4157092" y="1083329"/>
            <a:ext cx="450627" cy="214354"/>
          </a:xfrm>
          <a:prstGeom prst="straightConnector1">
            <a:avLst/>
          </a:prstGeom>
          <a:noFill/>
          <a:ln w="25400" algn="ctr">
            <a:solidFill>
              <a:srgbClr val="00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4" name="文本框 4"/>
          <p:cNvSpPr txBox="1">
            <a:spLocks noChangeArrowheads="1"/>
          </p:cNvSpPr>
          <p:nvPr/>
        </p:nvSpPr>
        <p:spPr bwMode="auto">
          <a:xfrm>
            <a:off x="4607719" y="772180"/>
            <a:ext cx="4016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):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线性组合系数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3255" name="直接箭头连接符 11"/>
          <p:cNvCxnSpPr/>
          <p:nvPr/>
        </p:nvCxnSpPr>
        <p:spPr bwMode="auto">
          <a:xfrm flipV="1">
            <a:off x="5664995" y="1495172"/>
            <a:ext cx="545305" cy="77504"/>
          </a:xfrm>
          <a:prstGeom prst="straightConnector1">
            <a:avLst/>
          </a:prstGeom>
          <a:noFill/>
          <a:ln w="25400" algn="ctr">
            <a:solidFill>
              <a:srgbClr val="00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6" name="文本框 7"/>
          <p:cNvSpPr txBox="1">
            <a:spLocks noChangeArrowheads="1"/>
          </p:cNvSpPr>
          <p:nvPr/>
        </p:nvSpPr>
        <p:spPr bwMode="auto">
          <a:xfrm>
            <a:off x="6176035" y="1264339"/>
            <a:ext cx="20154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基本序列</a:t>
            </a:r>
          </a:p>
        </p:txBody>
      </p:sp>
      <p:graphicFrame>
        <p:nvGraphicFramePr>
          <p:cNvPr id="53251" name="Object 5"/>
          <p:cNvGraphicFramePr>
            <a:graphicFrameLocks noChangeAspect="1"/>
          </p:cNvGraphicFramePr>
          <p:nvPr/>
        </p:nvGraphicFramePr>
        <p:xfrm>
          <a:off x="2040382" y="2205072"/>
          <a:ext cx="3994848" cy="14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586400" imgH="15849600" progId="Equation.DSMT4">
                  <p:embed/>
                </p:oleObj>
              </mc:Choice>
              <mc:Fallback>
                <p:oleObj name="Equation" r:id="rId5" imgW="43586400" imgH="1584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382" y="2205072"/>
                        <a:ext cx="3994848" cy="145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文本框 2"/>
          <p:cNvSpPr txBox="1">
            <a:spLocks noChangeArrowheads="1"/>
          </p:cNvSpPr>
          <p:nvPr/>
        </p:nvSpPr>
        <p:spPr bwMode="auto">
          <a:xfrm>
            <a:off x="6031987" y="2854043"/>
            <a:ext cx="23881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（线性）</a:t>
            </a:r>
          </a:p>
        </p:txBody>
      </p:sp>
      <p:cxnSp>
        <p:nvCxnSpPr>
          <p:cNvPr id="53259" name="直接箭头连接符 2"/>
          <p:cNvCxnSpPr/>
          <p:nvPr/>
        </p:nvCxnSpPr>
        <p:spPr bwMode="auto">
          <a:xfrm flipH="1" flipV="1">
            <a:off x="1656834" y="1243669"/>
            <a:ext cx="305041" cy="261971"/>
          </a:xfrm>
          <a:prstGeom prst="straightConnector1">
            <a:avLst/>
          </a:prstGeom>
          <a:noFill/>
          <a:ln w="25400" algn="ctr">
            <a:solidFill>
              <a:srgbClr val="00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0" name="文本框 4"/>
          <p:cNvSpPr txBox="1">
            <a:spLocks noChangeArrowheads="1"/>
          </p:cNvSpPr>
          <p:nvPr/>
        </p:nvSpPr>
        <p:spPr bwMode="auto">
          <a:xfrm>
            <a:off x="457200" y="796643"/>
            <a:ext cx="224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任意序列</a:t>
            </a:r>
          </a:p>
        </p:txBody>
      </p:sp>
      <p:cxnSp>
        <p:nvCxnSpPr>
          <p:cNvPr id="17" name="直接箭头连接符 11"/>
          <p:cNvCxnSpPr/>
          <p:nvPr/>
        </p:nvCxnSpPr>
        <p:spPr bwMode="auto">
          <a:xfrm flipH="1">
            <a:off x="7924800" y="5478166"/>
            <a:ext cx="137074" cy="563502"/>
          </a:xfrm>
          <a:prstGeom prst="straightConnector1">
            <a:avLst/>
          </a:prstGeom>
          <a:noFill/>
          <a:ln w="25400" algn="ctr">
            <a:solidFill>
              <a:srgbClr val="00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文本框 7"/>
          <p:cNvSpPr txBox="1">
            <a:spLocks noChangeArrowheads="1"/>
          </p:cNvSpPr>
          <p:nvPr/>
        </p:nvSpPr>
        <p:spPr bwMode="auto">
          <a:xfrm>
            <a:off x="6259912" y="6041668"/>
            <a:ext cx="269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完全代表系统特性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81000" y="4760555"/>
            <a:ext cx="8207964" cy="1081088"/>
            <a:chOff x="402636" y="4760555"/>
            <a:chExt cx="8207964" cy="1081088"/>
          </a:xfrm>
        </p:grpSpPr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402636" y="4816475"/>
            <a:ext cx="8207964" cy="992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5648800" imgH="10363200" progId="Equation.DSMT4">
                    <p:embed/>
                  </p:oleObj>
                </mc:Choice>
                <mc:Fallback>
                  <p:oleObj name="Equation" r:id="rId7" imgW="85648800" imgH="10363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36" y="4816475"/>
                          <a:ext cx="8207964" cy="9927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rrowheads="1"/>
            </p:cNvSpPr>
            <p:nvPr/>
          </p:nvSpPr>
          <p:spPr bwMode="auto">
            <a:xfrm>
              <a:off x="402636" y="4760555"/>
              <a:ext cx="8207375" cy="1081088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sp>
        <p:nvSpPr>
          <p:cNvPr id="7" name="矩形 6"/>
          <p:cNvSpPr/>
          <p:nvPr/>
        </p:nvSpPr>
        <p:spPr>
          <a:xfrm>
            <a:off x="7531666" y="3810000"/>
            <a:ext cx="18409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离散卷积，线性卷积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6" name="直接箭头连接符 11"/>
          <p:cNvCxnSpPr/>
          <p:nvPr/>
        </p:nvCxnSpPr>
        <p:spPr bwMode="auto">
          <a:xfrm flipV="1">
            <a:off x="7820914" y="4617901"/>
            <a:ext cx="103886" cy="411299"/>
          </a:xfrm>
          <a:prstGeom prst="straightConnector1">
            <a:avLst/>
          </a:prstGeom>
          <a:noFill/>
          <a:ln w="25400" algn="ctr">
            <a:solidFill>
              <a:srgbClr val="00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2"/>
          <p:cNvSpPr txBox="1">
            <a:spLocks noChangeArrowheads="1"/>
          </p:cNvSpPr>
          <p:nvPr/>
        </p:nvSpPr>
        <p:spPr bwMode="auto">
          <a:xfrm>
            <a:off x="5159095" y="3869751"/>
            <a:ext cx="2468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（时不变性）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1981200" y="3657600"/>
          <a:ext cx="3407976" cy="949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185600" imgH="10363200" progId="Equation.DSMT4">
                  <p:embed/>
                </p:oleObj>
              </mc:Choice>
              <mc:Fallback>
                <p:oleObj name="Equation" r:id="rId9" imgW="37185600" imgH="1036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657600"/>
                        <a:ext cx="3407976" cy="949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/>
      <p:bldP spid="53256" grpId="0"/>
      <p:bldP spid="53258" grpId="0"/>
      <p:bldP spid="53260" grpId="0"/>
      <p:bldP spid="18" grpId="0"/>
      <p:bldP spid="7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sp>
        <p:nvSpPr>
          <p:cNvPr id="121" name="矩形 120"/>
          <p:cNvSpPr/>
          <p:nvPr/>
        </p:nvSpPr>
        <p:spPr>
          <a:xfrm>
            <a:off x="609600" y="1219200"/>
            <a:ext cx="81534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b="1" dirty="0">
                <a:solidFill>
                  <a:srgbClr val="FF0000"/>
                </a:solidFill>
              </a:rPr>
              <a:t>线性时不变</a:t>
            </a:r>
            <a:r>
              <a:rPr kumimoji="1" lang="zh-CN" altLang="en-US" b="1" dirty="0"/>
              <a:t>离散时间</a:t>
            </a:r>
            <a:r>
              <a:rPr kumimoji="1" lang="zh-CN" altLang="en-US" b="1" dirty="0">
                <a:solidFill>
                  <a:srgbClr val="FF0000"/>
                </a:solidFill>
              </a:rPr>
              <a:t>系统</a:t>
            </a:r>
            <a:r>
              <a:rPr lang="zh-CN" altLang="zh-CN" b="1" kern="100" dirty="0">
                <a:cs typeface="Times New Roman" panose="02020603050405020304" pitchFamily="18" charset="0"/>
              </a:rPr>
              <a:t>的输出序列等于输入序列和系统单位脉冲响应的线性卷积。 </a:t>
            </a:r>
            <a:endParaRPr lang="zh-CN" altLang="en-US" dirty="0"/>
          </a:p>
        </p:txBody>
      </p:sp>
      <p:cxnSp>
        <p:nvCxnSpPr>
          <p:cNvPr id="130" name="直接箭头连接符 5"/>
          <p:cNvCxnSpPr>
            <a:cxnSpLocks noChangeShapeType="1"/>
            <a:endCxn id="131" idx="1"/>
          </p:cNvCxnSpPr>
          <p:nvPr/>
        </p:nvCxnSpPr>
        <p:spPr bwMode="auto">
          <a:xfrm>
            <a:off x="1447801" y="3613777"/>
            <a:ext cx="1219199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1" name="矩形 6"/>
          <p:cNvSpPr>
            <a:spLocks noChangeArrowheads="1"/>
          </p:cNvSpPr>
          <p:nvPr/>
        </p:nvSpPr>
        <p:spPr bwMode="auto">
          <a:xfrm>
            <a:off x="2667000" y="3258177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2" name="直接箭头连接符 10"/>
          <p:cNvCxnSpPr>
            <a:cxnSpLocks noChangeShapeType="1"/>
            <a:stCxn id="131" idx="3"/>
          </p:cNvCxnSpPr>
          <p:nvPr/>
        </p:nvCxnSpPr>
        <p:spPr bwMode="auto">
          <a:xfrm flipV="1">
            <a:off x="4802683" y="3613777"/>
            <a:ext cx="1109168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33" name="对象 8"/>
          <p:cNvGraphicFramePr>
            <a:graphicFrameLocks noChangeAspect="1"/>
          </p:cNvGraphicFramePr>
          <p:nvPr/>
        </p:nvGraphicFramePr>
        <p:xfrm>
          <a:off x="1447801" y="3164514"/>
          <a:ext cx="788256" cy="46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29600" imgH="4876800" progId="Equation.DSMT4">
                  <p:embed/>
                </p:oleObj>
              </mc:Choice>
              <mc:Fallback>
                <p:oleObj name="Equation" r:id="rId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1" y="3164514"/>
                        <a:ext cx="788256" cy="466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3313113" y="3352633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500" imgH="203200" progId="Equation.DSMT4">
                  <p:embed/>
                </p:oleObj>
              </mc:Choice>
              <mc:Fallback>
                <p:oleObj name="Equation" r:id="rId4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3352633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矩形 135"/>
          <p:cNvSpPr/>
          <p:nvPr/>
        </p:nvSpPr>
        <p:spPr>
          <a:xfrm>
            <a:off x="2286001" y="4043671"/>
            <a:ext cx="2895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7" name="对象 3"/>
          <p:cNvGraphicFramePr>
            <a:graphicFrameLocks noChangeAspect="1"/>
          </p:cNvGraphicFramePr>
          <p:nvPr/>
        </p:nvGraphicFramePr>
        <p:xfrm>
          <a:off x="5181601" y="3124200"/>
          <a:ext cx="2715840" cy="46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46400" imgH="4876800" progId="Equation.DSMT4">
                  <p:embed/>
                </p:oleObj>
              </mc:Choice>
              <mc:Fallback>
                <p:oleObj name="Equation" r:id="rId6" imgW="28346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3124200"/>
                        <a:ext cx="2715840" cy="466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矩形 137"/>
          <p:cNvSpPr/>
          <p:nvPr/>
        </p:nvSpPr>
        <p:spPr>
          <a:xfrm>
            <a:off x="-30723" y="1243054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808" y="75976"/>
            <a:ext cx="4596782" cy="3863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73835"/>
            <a:ext cx="4477899" cy="117891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5105400"/>
            <a:ext cx="4398645" cy="1198730"/>
          </a:xfrm>
          <a:prstGeom prst="rect">
            <a:avLst/>
          </a:prstGeom>
        </p:spPr>
      </p:pic>
      <p:sp>
        <p:nvSpPr>
          <p:cNvPr id="10" name="Rectangle 3075"/>
          <p:cNvSpPr>
            <a:spLocks noChangeArrowheads="1"/>
          </p:cNvSpPr>
          <p:nvPr/>
        </p:nvSpPr>
        <p:spPr bwMode="auto">
          <a:xfrm>
            <a:off x="4545049" y="6354950"/>
            <a:ext cx="27761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 pitchFamily="18" charset="0"/>
              </a:rPr>
              <a:t>图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 pitchFamily="18" charset="0"/>
              </a:rPr>
              <a:t>1.11  </a:t>
            </a:r>
            <a:r>
              <a:rPr lang="zh-CN" altLang="en-US" sz="2800" b="1" dirty="0">
                <a:solidFill>
                  <a:srgbClr val="000000"/>
                </a:solidFill>
              </a:rPr>
              <a:t>离散卷积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359410" y="2854530"/>
          <a:ext cx="367665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5000" imgH="431800" progId="Equation.DSMT4">
                  <p:embed/>
                </p:oleObj>
              </mc:Choice>
              <mc:Fallback>
                <p:oleObj name="Equation" r:id="rId5" imgW="19050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" y="2854530"/>
                        <a:ext cx="367665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35560" y="4005468"/>
          <a:ext cx="43767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60600" imgH="431800" progId="Equation.DSMT4">
                  <p:embed/>
                </p:oleObj>
              </mc:Choice>
              <mc:Fallback>
                <p:oleObj name="Equation" r:id="rId7" imgW="2260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" y="4005468"/>
                        <a:ext cx="437673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59410" y="1815543"/>
          <a:ext cx="309816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185600" imgH="10363200" progId="Equation.DSMT4">
                  <p:embed/>
                </p:oleObj>
              </mc:Choice>
              <mc:Fallback>
                <p:oleObj name="Equation" r:id="rId9" imgW="37185600" imgH="1036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" y="1815543"/>
                        <a:ext cx="309816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152400" y="762000"/>
            <a:ext cx="439264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离散卷积运算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</a:p>
          <a:p>
            <a:pPr lvl="0"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翻转、移位、相乘、相加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3"/>
          <p:cNvGraphicFramePr>
            <a:graphicFrameLocks noChangeAspect="1"/>
          </p:cNvGraphicFramePr>
          <p:nvPr/>
        </p:nvGraphicFramePr>
        <p:xfrm>
          <a:off x="976312" y="797858"/>
          <a:ext cx="57292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302400" imgH="4876800" progId="Equation.DSMT4">
                  <p:embed/>
                </p:oleObj>
              </mc:Choice>
              <mc:Fallback>
                <p:oleObj name="Equation" r:id="rId2" imgW="57302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2" y="797858"/>
                        <a:ext cx="572928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95362" y="1295400"/>
          <a:ext cx="56086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6083200" imgH="4876800" progId="Equation.DSMT4">
                  <p:embed/>
                </p:oleObj>
              </mc:Choice>
              <mc:Fallback>
                <p:oleObj name="Equation" r:id="rId4" imgW="560832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2" y="1295400"/>
                        <a:ext cx="56086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14"/>
          <p:cNvGraphicFramePr>
            <a:graphicFrameLocks noChangeAspect="1"/>
          </p:cNvGraphicFramePr>
          <p:nvPr/>
        </p:nvGraphicFramePr>
        <p:xfrm>
          <a:off x="1569864" y="2393320"/>
          <a:ext cx="4660900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949600" imgH="37795200" progId="Equation.DSMT4">
                  <p:embed/>
                </p:oleObj>
              </mc:Choice>
              <mc:Fallback>
                <p:oleObj name="Equation" r:id="rId6" imgW="53949600" imgH="37795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864" y="2393320"/>
                        <a:ext cx="4660900" cy="325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3"/>
          <p:cNvGraphicFramePr>
            <a:graphicFrameLocks noChangeAspect="1"/>
          </p:cNvGraphicFramePr>
          <p:nvPr/>
        </p:nvGraphicFramePr>
        <p:xfrm>
          <a:off x="1676400" y="5844483"/>
          <a:ext cx="5699232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179200" imgH="4876800" progId="Equation.DSMT4">
                  <p:embed/>
                </p:oleObj>
              </mc:Choice>
              <mc:Fallback>
                <p:oleObj name="Equation" r:id="rId8" imgW="621792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844483"/>
                        <a:ext cx="5699232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3"/>
          <p:cNvGraphicFramePr>
            <a:graphicFrameLocks noChangeAspect="1"/>
          </p:cNvGraphicFramePr>
          <p:nvPr/>
        </p:nvGraphicFramePr>
        <p:xfrm>
          <a:off x="5791200" y="6309060"/>
          <a:ext cx="757411" cy="39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29600" imgH="4267200" progId="Equation.DSMT4">
                  <p:embed/>
                </p:oleObj>
              </mc:Choice>
              <mc:Fallback>
                <p:oleObj name="Equation" r:id="rId10" imgW="8229600" imgH="426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6309060"/>
                        <a:ext cx="757411" cy="392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"/>
          <p:cNvGraphicFramePr>
            <a:graphicFrameLocks noChangeAspect="1"/>
          </p:cNvGraphicFramePr>
          <p:nvPr/>
        </p:nvGraphicFramePr>
        <p:xfrm>
          <a:off x="6915006" y="6313369"/>
          <a:ext cx="757411" cy="39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29600" imgH="4267200" progId="Equation.DSMT4">
                  <p:embed/>
                </p:oleObj>
              </mc:Choice>
              <mc:Fallback>
                <p:oleObj name="Equation" r:id="rId12" imgW="8229600" imgH="426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006" y="6313369"/>
                        <a:ext cx="757411" cy="392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373062" y="779929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对象 3"/>
          <p:cNvGraphicFramePr>
            <a:graphicFrameLocks noChangeAspect="1"/>
          </p:cNvGraphicFramePr>
          <p:nvPr/>
        </p:nvGraphicFramePr>
        <p:xfrm>
          <a:off x="609600" y="5845198"/>
          <a:ext cx="10064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72800" imgH="4876800" progId="Equation.DSMT4">
                  <p:embed/>
                </p:oleObj>
              </mc:Choice>
              <mc:Fallback>
                <p:oleObj name="Equation" r:id="rId14" imgW="10972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845198"/>
                        <a:ext cx="10064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1371600" y="3298848"/>
            <a:ext cx="51895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/>
          <p:nvPr/>
        </p:nvCxnSpPr>
        <p:spPr bwMode="auto">
          <a:xfrm>
            <a:off x="1447800" y="5203848"/>
            <a:ext cx="51895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矩形 18"/>
          <p:cNvSpPr/>
          <p:nvPr/>
        </p:nvSpPr>
        <p:spPr>
          <a:xfrm>
            <a:off x="-76200" y="762000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4800" y="2308248"/>
            <a:ext cx="906017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3"/>
          <p:cNvGraphicFramePr>
            <a:graphicFrameLocks noChangeAspect="1"/>
          </p:cNvGraphicFramePr>
          <p:nvPr/>
        </p:nvGraphicFramePr>
        <p:xfrm>
          <a:off x="976312" y="1798637"/>
          <a:ext cx="33813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832800" imgH="4876800" progId="Equation.DSMT4">
                  <p:embed/>
                </p:oleObj>
              </mc:Choice>
              <mc:Fallback>
                <p:oleObj name="Equation" r:id="rId16" imgW="33832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2" y="1798637"/>
                        <a:ext cx="33813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97199" y="3276600"/>
          <a:ext cx="39719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52800" imgH="5486400" progId="Equation.DSMT4">
                  <p:embed/>
                </p:oleObj>
              </mc:Choice>
              <mc:Fallback>
                <p:oleObj name="Equation" r:id="rId2" imgW="41452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199" y="3276600"/>
                        <a:ext cx="39719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97199" y="3863725"/>
          <a:ext cx="30099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94400" imgH="5486400" progId="Equation.DSMT4">
                  <p:embed/>
                </p:oleObj>
              </mc:Choice>
              <mc:Fallback>
                <p:oleObj name="Equation" r:id="rId4" imgW="31394400" imgH="548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199" y="3863725"/>
                        <a:ext cx="30099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74712" y="4562475"/>
          <a:ext cx="2630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432000" imgH="4876800" progId="Equation.DSMT4">
                  <p:embed/>
                </p:oleObj>
              </mc:Choice>
              <mc:Fallback>
                <p:oleObj name="Equation" r:id="rId6" imgW="274320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2" y="4562475"/>
                        <a:ext cx="2630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3"/>
          <p:cNvGraphicFramePr>
            <a:graphicFrameLocks noChangeAspect="1"/>
          </p:cNvGraphicFramePr>
          <p:nvPr/>
        </p:nvGraphicFramePr>
        <p:xfrm>
          <a:off x="801688" y="5719763"/>
          <a:ext cx="684371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676000" imgH="4876800" progId="Equation.DSMT4">
                  <p:embed/>
                </p:oleObj>
              </mc:Choice>
              <mc:Fallback>
                <p:oleObj name="Equation" r:id="rId8" imgW="746760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5719763"/>
                        <a:ext cx="684371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3"/>
          <p:cNvGraphicFramePr>
            <a:graphicFrameLocks noChangeAspect="1"/>
          </p:cNvGraphicFramePr>
          <p:nvPr/>
        </p:nvGraphicFramePr>
        <p:xfrm>
          <a:off x="812910" y="955040"/>
          <a:ext cx="57292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302400" imgH="4876800" progId="Equation.DSMT4">
                  <p:embed/>
                </p:oleObj>
              </mc:Choice>
              <mc:Fallback>
                <p:oleObj name="Equation" r:id="rId10" imgW="57302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910" y="955040"/>
                        <a:ext cx="572928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31960" y="1542415"/>
          <a:ext cx="56086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6083200" imgH="4876800" progId="Equation.DSMT4">
                  <p:embed/>
                </p:oleObj>
              </mc:Choice>
              <mc:Fallback>
                <p:oleObj name="Equation" r:id="rId10" imgW="560832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960" y="1542415"/>
                        <a:ext cx="56086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3"/>
          <p:cNvGraphicFramePr>
            <a:graphicFrameLocks noChangeAspect="1"/>
          </p:cNvGraphicFramePr>
          <p:nvPr/>
        </p:nvGraphicFramePr>
        <p:xfrm>
          <a:off x="812910" y="2129790"/>
          <a:ext cx="33813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832800" imgH="4876800" progId="Equation.DSMT4">
                  <p:embed/>
                </p:oleObj>
              </mc:Choice>
              <mc:Fallback>
                <p:oleObj name="Equation" r:id="rId13" imgW="33832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910" y="2129790"/>
                        <a:ext cx="33813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2"/>
          <p:cNvSpPr>
            <a:spLocks noChangeArrowheads="1"/>
          </p:cNvSpPr>
          <p:nvPr/>
        </p:nvSpPr>
        <p:spPr bwMode="auto">
          <a:xfrm>
            <a:off x="152400" y="2677180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另一种方法</a:t>
            </a:r>
          </a:p>
        </p:txBody>
      </p:sp>
      <p:sp>
        <p:nvSpPr>
          <p:cNvPr id="17" name="圆角矩形 16"/>
          <p:cNvSpPr/>
          <p:nvPr/>
        </p:nvSpPr>
        <p:spPr bwMode="auto">
          <a:xfrm>
            <a:off x="797199" y="2089804"/>
            <a:ext cx="2784202" cy="599420"/>
          </a:xfrm>
          <a:prstGeom prst="roundRect">
            <a:avLst/>
          </a:prstGeom>
          <a:noFill/>
          <a:ln w="19050" cap="flat" cmpd="sng" algn="ctr">
            <a:solidFill>
              <a:srgbClr val="3333C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 bwMode="auto">
          <a:xfrm>
            <a:off x="785567" y="4471268"/>
            <a:ext cx="2784202" cy="599420"/>
          </a:xfrm>
          <a:prstGeom prst="roundRect">
            <a:avLst/>
          </a:prstGeom>
          <a:noFill/>
          <a:ln w="19050" cap="flat" cmpd="sng" algn="ctr">
            <a:solidFill>
              <a:srgbClr val="3333C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574703" y="5038263"/>
          <a:ext cx="6694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9799200" imgH="4876800" progId="Equation.DSMT4">
                  <p:embed/>
                </p:oleObj>
              </mc:Choice>
              <mc:Fallback>
                <p:oleObj name="Equation" r:id="rId15" imgW="69799200" imgH="4876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703" y="5038263"/>
                        <a:ext cx="6694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10681" y="2482828"/>
            <a:ext cx="3352800" cy="559985"/>
            <a:chOff x="854075" y="1948180"/>
            <a:chExt cx="3352800" cy="559985"/>
          </a:xfrm>
        </p:grpSpPr>
        <p:sp>
          <p:nvSpPr>
            <p:cNvPr id="4" name="Rectangle 19"/>
            <p:cNvSpPr>
              <a:spLocks noChangeArrowheads="1"/>
            </p:cNvSpPr>
            <p:nvPr/>
          </p:nvSpPr>
          <p:spPr bwMode="auto">
            <a:xfrm>
              <a:off x="1311275" y="1948180"/>
              <a:ext cx="9906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5" name="Line 20"/>
            <p:cNvSpPr>
              <a:spLocks noChangeShapeType="1"/>
            </p:cNvSpPr>
            <p:nvPr/>
          </p:nvSpPr>
          <p:spPr bwMode="auto">
            <a:xfrm>
              <a:off x="854075" y="221488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Rectangle 21"/>
            <p:cNvSpPr>
              <a:spLocks noChangeArrowheads="1"/>
            </p:cNvSpPr>
            <p:nvPr/>
          </p:nvSpPr>
          <p:spPr bwMode="auto">
            <a:xfrm>
              <a:off x="2759075" y="1948180"/>
              <a:ext cx="9906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7" name="Line 22"/>
            <p:cNvSpPr>
              <a:spLocks noChangeShapeType="1"/>
            </p:cNvSpPr>
            <p:nvPr/>
          </p:nvSpPr>
          <p:spPr bwMode="auto">
            <a:xfrm>
              <a:off x="2301875" y="221488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8" name="Line 23"/>
            <p:cNvSpPr>
              <a:spLocks noChangeShapeType="1"/>
            </p:cNvSpPr>
            <p:nvPr/>
          </p:nvSpPr>
          <p:spPr bwMode="auto">
            <a:xfrm>
              <a:off x="3749675" y="221488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graphicFrame>
          <p:nvGraphicFramePr>
            <p:cNvPr id="9" name="Object 24"/>
            <p:cNvGraphicFramePr>
              <a:graphicFrameLocks noChangeAspect="1"/>
            </p:cNvGraphicFramePr>
            <p:nvPr/>
          </p:nvGraphicFramePr>
          <p:xfrm>
            <a:off x="2871843" y="1998899"/>
            <a:ext cx="837936" cy="502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44000" imgH="5486400" progId="Equation.DSMT4">
                    <p:embed/>
                  </p:oleObj>
                </mc:Choice>
                <mc:Fallback>
                  <p:oleObj name="Equation" r:id="rId2" imgW="91440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1843" y="1998899"/>
                          <a:ext cx="837936" cy="5029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5"/>
            <p:cNvGraphicFramePr>
              <a:graphicFrameLocks noChangeAspect="1"/>
            </p:cNvGraphicFramePr>
            <p:nvPr/>
          </p:nvGraphicFramePr>
          <p:xfrm>
            <a:off x="1442236" y="2005245"/>
            <a:ext cx="810216" cy="502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839200" imgH="5486400" progId="Equation.DSMT4">
                    <p:embed/>
                  </p:oleObj>
                </mc:Choice>
                <mc:Fallback>
                  <p:oleObj name="Equation" r:id="rId4" imgW="88392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236" y="2005245"/>
                          <a:ext cx="810216" cy="5029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2847103" y="3400318"/>
            <a:ext cx="990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4294903" y="3400318"/>
            <a:ext cx="9906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3837703" y="366701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5285503" y="366701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>
            <a:off x="2389903" y="366701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graphicFrame>
        <p:nvGraphicFramePr>
          <p:cNvPr id="19" name="Object 28"/>
          <p:cNvGraphicFramePr>
            <a:graphicFrameLocks noChangeAspect="1"/>
          </p:cNvGraphicFramePr>
          <p:nvPr/>
        </p:nvGraphicFramePr>
        <p:xfrm>
          <a:off x="917750" y="3565418"/>
          <a:ext cx="252413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000" imgH="190500" progId="Equation.3">
                  <p:embed/>
                </p:oleObj>
              </mc:Choice>
              <mc:Fallback>
                <p:oleObj name="Equation" r:id="rId6" imgW="254000" imgH="1905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50" y="3565418"/>
                        <a:ext cx="252413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9"/>
          <p:cNvGrpSpPr/>
          <p:nvPr/>
        </p:nvGrpSpPr>
        <p:grpSpPr bwMode="auto">
          <a:xfrm>
            <a:off x="2832496" y="4327865"/>
            <a:ext cx="2473785" cy="576263"/>
            <a:chOff x="2112" y="1920"/>
            <a:chExt cx="1152" cy="336"/>
          </a:xfrm>
        </p:grpSpPr>
        <p:graphicFrame>
          <p:nvGraphicFramePr>
            <p:cNvPr id="27" name="Object 30"/>
            <p:cNvGraphicFramePr>
              <a:graphicFrameLocks noChangeAspect="1"/>
            </p:cNvGraphicFramePr>
            <p:nvPr/>
          </p:nvGraphicFramePr>
          <p:xfrm>
            <a:off x="2800" y="2100"/>
            <a:ext cx="159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54200" imgH="469900" progId="Equation.3">
                    <p:embed/>
                  </p:oleObj>
                </mc:Choice>
                <mc:Fallback>
                  <p:oleObj name="Equation" r:id="rId8" imgW="1854200" imgH="4699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0" y="2100"/>
                          <a:ext cx="159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31"/>
            <p:cNvSpPr>
              <a:spLocks noChangeArrowheads="1"/>
            </p:cNvSpPr>
            <p:nvPr/>
          </p:nvSpPr>
          <p:spPr bwMode="auto">
            <a:xfrm>
              <a:off x="2112" y="1920"/>
              <a:ext cx="1152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2375296" y="464748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5334818" y="4616437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graphicFrame>
        <p:nvGraphicFramePr>
          <p:cNvPr id="24" name="Object 28"/>
          <p:cNvGraphicFramePr>
            <a:graphicFrameLocks noChangeAspect="1"/>
          </p:cNvGraphicFramePr>
          <p:nvPr/>
        </p:nvGraphicFramePr>
        <p:xfrm>
          <a:off x="914400" y="4528544"/>
          <a:ext cx="252413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4000" imgH="190500" progId="Equation.DSMT4">
                  <p:embed/>
                </p:oleObj>
              </mc:Choice>
              <mc:Fallback>
                <p:oleObj name="Equation" r:id="rId10" imgW="254000" imgH="190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528544"/>
                        <a:ext cx="252413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8"/>
          <p:cNvGraphicFramePr>
            <a:graphicFrameLocks noChangeAspect="1"/>
          </p:cNvGraphicFramePr>
          <p:nvPr/>
        </p:nvGraphicFramePr>
        <p:xfrm>
          <a:off x="2510653" y="5524500"/>
          <a:ext cx="3111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870400" imgH="5486400" progId="Equation.DSMT4">
                  <p:embed/>
                </p:oleObj>
              </mc:Choice>
              <mc:Fallback>
                <p:oleObj name="Equation" r:id="rId11" imgW="298704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653" y="5524500"/>
                        <a:ext cx="3111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/>
          <p:cNvSpPr/>
          <p:nvPr/>
        </p:nvSpPr>
        <p:spPr>
          <a:xfrm>
            <a:off x="527768" y="950893"/>
            <a:ext cx="83114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b="1" kern="100" dirty="0">
                <a:cs typeface="Times New Roman" panose="02020603050405020304" pitchFamily="18" charset="0"/>
              </a:rPr>
              <a:t>单位脉冲响应分别为</a:t>
            </a:r>
            <a:r>
              <a:rPr lang="en-US" altLang="zh-CN" b="1" i="1" dirty="0"/>
              <a:t>h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</a:t>
            </a:r>
            <a:r>
              <a:rPr lang="zh-CN" altLang="en-US" b="1" dirty="0"/>
              <a:t>和</a:t>
            </a:r>
            <a:r>
              <a:rPr lang="en-US" altLang="zh-CN" b="1" i="1" dirty="0"/>
              <a:t>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</a:t>
            </a:r>
            <a:r>
              <a:rPr lang="zh-CN" altLang="zh-CN" b="1" dirty="0"/>
              <a:t>的两</a:t>
            </a:r>
            <a:r>
              <a:rPr lang="zh-CN" altLang="en-US" b="1" dirty="0"/>
              <a:t>个</a:t>
            </a:r>
            <a:r>
              <a:rPr lang="zh-CN" altLang="zh-CN" b="1" dirty="0"/>
              <a:t>线性</a:t>
            </a:r>
            <a:r>
              <a:rPr lang="zh-CN" altLang="en-US" b="1" dirty="0"/>
              <a:t>时不变</a:t>
            </a:r>
            <a:r>
              <a:rPr lang="zh-CN" altLang="zh-CN" b="1" dirty="0"/>
              <a:t>系统相</a:t>
            </a:r>
            <a:r>
              <a:rPr lang="zh-CN" altLang="en-US" b="1" dirty="0">
                <a:solidFill>
                  <a:srgbClr val="FF0000"/>
                </a:solidFill>
              </a:rPr>
              <a:t>级</a:t>
            </a:r>
            <a:r>
              <a:rPr lang="zh-CN" altLang="zh-CN" b="1" dirty="0">
                <a:solidFill>
                  <a:srgbClr val="FF0000"/>
                </a:solidFill>
              </a:rPr>
              <a:t>联</a:t>
            </a:r>
            <a:r>
              <a:rPr lang="zh-CN" altLang="zh-CN" b="1" dirty="0"/>
              <a:t>，其等效系统</a:t>
            </a:r>
            <a:r>
              <a:rPr lang="zh-CN" altLang="en-US" b="1" dirty="0"/>
              <a:t>的</a:t>
            </a:r>
            <a:r>
              <a:rPr lang="en-US" altLang="zh-CN" b="1" i="1" dirty="0"/>
              <a:t>h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)=                           </a:t>
            </a: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39" name="对象 8"/>
          <p:cNvGraphicFramePr>
            <a:graphicFrameLocks noChangeAspect="1"/>
          </p:cNvGraphicFramePr>
          <p:nvPr/>
        </p:nvGraphicFramePr>
        <p:xfrm>
          <a:off x="3194906" y="4386602"/>
          <a:ext cx="1787544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507200" imgH="5486400" progId="Equation.DSMT4">
                  <p:embed/>
                </p:oleObj>
              </mc:Choice>
              <mc:Fallback>
                <p:oleObj name="Equation" r:id="rId13" imgW="195072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906" y="4386602"/>
                        <a:ext cx="1787544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4"/>
          <p:cNvGraphicFramePr>
            <a:graphicFrameLocks noChangeAspect="1"/>
          </p:cNvGraphicFramePr>
          <p:nvPr/>
        </p:nvGraphicFramePr>
        <p:xfrm>
          <a:off x="2972610" y="3440125"/>
          <a:ext cx="837936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0" imgH="5486400" progId="Equation.DSMT4">
                  <p:embed/>
                </p:oleObj>
              </mc:Choice>
              <mc:Fallback>
                <p:oleObj name="Equation" r:id="rId15" imgW="9144000" imgH="54864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610" y="3440125"/>
                        <a:ext cx="837936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5"/>
          <p:cNvGraphicFramePr>
            <a:graphicFrameLocks noChangeAspect="1"/>
          </p:cNvGraphicFramePr>
          <p:nvPr/>
        </p:nvGraphicFramePr>
        <p:xfrm>
          <a:off x="4423940" y="3422870"/>
          <a:ext cx="810216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39200" imgH="5486400" progId="Equation.DSMT4">
                  <p:embed/>
                </p:oleObj>
              </mc:Choice>
              <mc:Fallback>
                <p:oleObj name="Equation" r:id="rId15" imgW="88392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940" y="3422870"/>
                        <a:ext cx="810216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8"/>
          <p:cNvGraphicFramePr>
            <a:graphicFrameLocks noChangeAspect="1"/>
          </p:cNvGraphicFramePr>
          <p:nvPr/>
        </p:nvGraphicFramePr>
        <p:xfrm>
          <a:off x="1572481" y="2508536"/>
          <a:ext cx="75398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29600" imgH="4876800" progId="Equation.DSMT4">
                  <p:embed/>
                </p:oleObj>
              </mc:Choice>
              <mc:Fallback>
                <p:oleObj name="Equation" r:id="rId15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481" y="2508536"/>
                        <a:ext cx="75398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3"/>
          <p:cNvGraphicFramePr>
            <a:graphicFrameLocks noChangeAspect="1"/>
          </p:cNvGraphicFramePr>
          <p:nvPr/>
        </p:nvGraphicFramePr>
        <p:xfrm>
          <a:off x="5870575" y="2490401"/>
          <a:ext cx="72626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924800" imgH="4876800" progId="Equation.DSMT4">
                  <p:embed/>
                </p:oleObj>
              </mc:Choice>
              <mc:Fallback>
                <p:oleObj name="Equation" r:id="rId17" imgW="7924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0575" y="2490401"/>
                        <a:ext cx="72626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8"/>
          <p:cNvGraphicFramePr>
            <a:graphicFrameLocks noChangeAspect="1"/>
          </p:cNvGraphicFramePr>
          <p:nvPr/>
        </p:nvGraphicFramePr>
        <p:xfrm>
          <a:off x="1572481" y="3395737"/>
          <a:ext cx="75398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29600" imgH="4876800" progId="Equation.DSMT4">
                  <p:embed/>
                </p:oleObj>
              </mc:Choice>
              <mc:Fallback>
                <p:oleObj name="Equation" r:id="rId15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481" y="3395737"/>
                        <a:ext cx="75398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3"/>
          <p:cNvGraphicFramePr>
            <a:graphicFrameLocks noChangeAspect="1"/>
          </p:cNvGraphicFramePr>
          <p:nvPr/>
        </p:nvGraphicFramePr>
        <p:xfrm>
          <a:off x="5867400" y="3377602"/>
          <a:ext cx="72626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377602"/>
                        <a:ext cx="72626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8"/>
          <p:cNvGraphicFramePr>
            <a:graphicFrameLocks noChangeAspect="1"/>
          </p:cNvGraphicFramePr>
          <p:nvPr/>
        </p:nvGraphicFramePr>
        <p:xfrm>
          <a:off x="1573944" y="4393779"/>
          <a:ext cx="75398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29600" imgH="4876800" progId="Equation.DSMT4">
                  <p:embed/>
                </p:oleObj>
              </mc:Choice>
              <mc:Fallback>
                <p:oleObj name="Equation" r:id="rId15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944" y="4393779"/>
                        <a:ext cx="75398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3"/>
          <p:cNvGraphicFramePr>
            <a:graphicFrameLocks noChangeAspect="1"/>
          </p:cNvGraphicFramePr>
          <p:nvPr/>
        </p:nvGraphicFramePr>
        <p:xfrm>
          <a:off x="5943600" y="4375644"/>
          <a:ext cx="72626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75644"/>
                        <a:ext cx="72626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/>
          <p:cNvSpPr/>
          <p:nvPr/>
        </p:nvSpPr>
        <p:spPr>
          <a:xfrm>
            <a:off x="-47267" y="950893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9" name="对象 8"/>
          <p:cNvGraphicFramePr>
            <a:graphicFrameLocks noChangeAspect="1"/>
          </p:cNvGraphicFramePr>
          <p:nvPr/>
        </p:nvGraphicFramePr>
        <p:xfrm>
          <a:off x="5867400" y="1589176"/>
          <a:ext cx="1787544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507200" imgH="5486400" progId="Equation.DSMT4">
                  <p:embed/>
                </p:oleObj>
              </mc:Choice>
              <mc:Fallback>
                <p:oleObj name="Equation" r:id="rId19" imgW="195072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589176"/>
                        <a:ext cx="1787544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/>
          <p:cNvCxnSpPr/>
          <p:nvPr/>
        </p:nvCxnSpPr>
        <p:spPr bwMode="auto">
          <a:xfrm flipV="1">
            <a:off x="5792018" y="2120444"/>
            <a:ext cx="2437582" cy="183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3.3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线性时不变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(LTI)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grpSp>
        <p:nvGrpSpPr>
          <p:cNvPr id="3" name="Group 5"/>
          <p:cNvGrpSpPr/>
          <p:nvPr/>
        </p:nvGrpSpPr>
        <p:grpSpPr bwMode="auto">
          <a:xfrm>
            <a:off x="2362200" y="2438400"/>
            <a:ext cx="2971800" cy="1295400"/>
            <a:chOff x="1488" y="1392"/>
            <a:chExt cx="1872" cy="816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2064" y="1392"/>
              <a:ext cx="624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5" name="Line 7"/>
            <p:cNvSpPr>
              <a:spLocks noChangeShapeType="1"/>
            </p:cNvSpPr>
            <p:nvPr/>
          </p:nvSpPr>
          <p:spPr bwMode="auto">
            <a:xfrm>
              <a:off x="1776" y="156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064" y="1872"/>
              <a:ext cx="624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1776" y="20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1776" y="156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488" y="18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1752" y="17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2688" y="20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688" y="15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2832" y="1712"/>
              <a:ext cx="192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2928" y="15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 flipV="1">
              <a:off x="2928" y="19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3024" y="18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2856" y="1728"/>
            <a:ext cx="16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6065" imgH="266065" progId="Equation.3">
                    <p:embed/>
                  </p:oleObj>
                </mc:Choice>
                <mc:Fallback>
                  <p:oleObj name="Equation" r:id="rId2" imgW="266065" imgH="26606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1728"/>
                          <a:ext cx="16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3959226" y="4575175"/>
          <a:ext cx="258763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200" imgH="469900" progId="Equation.3">
                  <p:embed/>
                </p:oleObj>
              </mc:Choice>
              <mc:Fallback>
                <p:oleObj name="Equation" r:id="rId4" imgW="1854200" imgH="469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6" y="4575175"/>
                        <a:ext cx="258763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2835276" y="4267200"/>
            <a:ext cx="1881188" cy="5762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2365376" y="4556125"/>
            <a:ext cx="469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4716463" y="4556125"/>
            <a:ext cx="469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3200" b="1"/>
          </a:p>
        </p:txBody>
      </p:sp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958850" y="4432300"/>
          <a:ext cx="2603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000" imgH="190500" progId="Equation.DSMT4">
                  <p:embed/>
                </p:oleObj>
              </mc:Choice>
              <mc:Fallback>
                <p:oleObj name="Equation" r:id="rId6" imgW="254000" imgH="190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432300"/>
                        <a:ext cx="260350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8"/>
          <p:cNvGraphicFramePr>
            <a:graphicFrameLocks noChangeAspect="1"/>
          </p:cNvGraphicFramePr>
          <p:nvPr/>
        </p:nvGraphicFramePr>
        <p:xfrm>
          <a:off x="2501457" y="5628676"/>
          <a:ext cx="3174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80000" imgH="5486400" progId="Equation.DSMT4">
                  <p:embed/>
                </p:oleObj>
              </mc:Choice>
              <mc:Fallback>
                <p:oleObj name="Equation" r:id="rId8" imgW="304800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457" y="5628676"/>
                        <a:ext cx="3174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490897" y="939248"/>
            <a:ext cx="83114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b="1" kern="100" dirty="0">
                <a:cs typeface="Times New Roman" panose="02020603050405020304" pitchFamily="18" charset="0"/>
              </a:rPr>
              <a:t>单位脉冲响应分别为</a:t>
            </a:r>
            <a:r>
              <a:rPr lang="en-US" altLang="zh-CN" b="1" i="1" dirty="0"/>
              <a:t>h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</a:t>
            </a:r>
            <a:r>
              <a:rPr lang="zh-CN" altLang="en-US" b="1" dirty="0"/>
              <a:t>和</a:t>
            </a:r>
            <a:r>
              <a:rPr lang="en-US" altLang="zh-CN" b="1" i="1" dirty="0"/>
              <a:t>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</a:t>
            </a:r>
            <a:r>
              <a:rPr lang="zh-CN" altLang="zh-CN" b="1" dirty="0"/>
              <a:t>的两</a:t>
            </a:r>
            <a:r>
              <a:rPr lang="zh-CN" altLang="en-US" b="1" dirty="0"/>
              <a:t>个</a:t>
            </a:r>
            <a:r>
              <a:rPr lang="zh-CN" altLang="zh-CN" b="1" dirty="0"/>
              <a:t>线性</a:t>
            </a:r>
            <a:r>
              <a:rPr lang="zh-CN" altLang="en-US" b="1" dirty="0"/>
              <a:t>时不变</a:t>
            </a:r>
            <a:r>
              <a:rPr lang="zh-CN" altLang="zh-CN" b="1" dirty="0"/>
              <a:t>系统相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并</a:t>
            </a:r>
            <a:r>
              <a:rPr lang="zh-CN" altLang="zh-CN" b="1" dirty="0">
                <a:solidFill>
                  <a:srgbClr val="FF0000"/>
                </a:solidFill>
              </a:rPr>
              <a:t>联</a:t>
            </a:r>
            <a:r>
              <a:rPr lang="zh-CN" altLang="zh-CN" b="1" dirty="0"/>
              <a:t>，其等效系统</a:t>
            </a:r>
            <a:r>
              <a:rPr lang="zh-CN" altLang="en-US" b="1" dirty="0"/>
              <a:t>的</a:t>
            </a:r>
            <a:r>
              <a:rPr lang="en-US" altLang="zh-CN" b="1" i="1" dirty="0"/>
              <a:t>h</a:t>
            </a:r>
            <a:r>
              <a:rPr lang="en-US" altLang="zh-CN" b="1" dirty="0"/>
              <a:t>(</a:t>
            </a:r>
            <a:r>
              <a:rPr lang="en-US" altLang="zh-CN" b="1" i="1" dirty="0"/>
              <a:t>n</a:t>
            </a:r>
            <a:r>
              <a:rPr lang="en-US" altLang="zh-CN" b="1" dirty="0"/>
              <a:t>)=</a:t>
            </a:r>
            <a:r>
              <a:rPr lang="zh-CN" altLang="en-US" b="1" dirty="0"/>
              <a:t>                             。</a:t>
            </a:r>
            <a:endParaRPr lang="zh-CN" altLang="en-US" dirty="0"/>
          </a:p>
        </p:txBody>
      </p:sp>
      <p:graphicFrame>
        <p:nvGraphicFramePr>
          <p:cNvPr id="32" name="对象 8"/>
          <p:cNvGraphicFramePr>
            <a:graphicFrameLocks noChangeAspect="1"/>
          </p:cNvGraphicFramePr>
          <p:nvPr/>
        </p:nvGraphicFramePr>
        <p:xfrm>
          <a:off x="2880624" y="4304701"/>
          <a:ext cx="1843776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16800" imgH="5486400" progId="Equation.DSMT4">
                  <p:embed/>
                </p:oleObj>
              </mc:Choice>
              <mc:Fallback>
                <p:oleObj name="Equation" r:id="rId10" imgW="20116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0624" y="4304701"/>
                        <a:ext cx="1843776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8"/>
          <p:cNvGraphicFramePr>
            <a:graphicFrameLocks noChangeAspect="1"/>
          </p:cNvGraphicFramePr>
          <p:nvPr/>
        </p:nvGraphicFramePr>
        <p:xfrm>
          <a:off x="1497744" y="4310430"/>
          <a:ext cx="75398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29600" imgH="4876800" progId="Equation.DSMT4">
                  <p:embed/>
                </p:oleObj>
              </mc:Choice>
              <mc:Fallback>
                <p:oleObj name="Equation" r:id="rId1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744" y="4310430"/>
                        <a:ext cx="75398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"/>
          <p:cNvGraphicFramePr>
            <a:graphicFrameLocks noChangeAspect="1"/>
          </p:cNvGraphicFramePr>
          <p:nvPr/>
        </p:nvGraphicFramePr>
        <p:xfrm>
          <a:off x="5415653" y="4294821"/>
          <a:ext cx="72626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24800" imgH="4876800" progId="Equation.DSMT4">
                  <p:embed/>
                </p:oleObj>
              </mc:Choice>
              <mc:Fallback>
                <p:oleObj name="Equation" r:id="rId12" imgW="7924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653" y="4294821"/>
                        <a:ext cx="72626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8"/>
          <p:cNvGraphicFramePr>
            <a:graphicFrameLocks noChangeAspect="1"/>
          </p:cNvGraphicFramePr>
          <p:nvPr/>
        </p:nvGraphicFramePr>
        <p:xfrm>
          <a:off x="1566904" y="2839472"/>
          <a:ext cx="75398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29600" imgH="4876800" progId="Equation.DSMT4">
                  <p:embed/>
                </p:oleObj>
              </mc:Choice>
              <mc:Fallback>
                <p:oleObj name="Equation" r:id="rId1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904" y="2839472"/>
                        <a:ext cx="75398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"/>
          <p:cNvGraphicFramePr>
            <a:graphicFrameLocks noChangeAspect="1"/>
          </p:cNvGraphicFramePr>
          <p:nvPr/>
        </p:nvGraphicFramePr>
        <p:xfrm>
          <a:off x="5456532" y="2842717"/>
          <a:ext cx="726264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24800" imgH="4876800" progId="Equation.DSMT4">
                  <p:embed/>
                </p:oleObj>
              </mc:Choice>
              <mc:Fallback>
                <p:oleObj name="Equation" r:id="rId12" imgW="79248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532" y="2842717"/>
                        <a:ext cx="726264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/>
          <p:cNvGraphicFramePr>
            <a:graphicFrameLocks noChangeAspect="1"/>
          </p:cNvGraphicFramePr>
          <p:nvPr/>
        </p:nvGraphicFramePr>
        <p:xfrm>
          <a:off x="3406099" y="3251200"/>
          <a:ext cx="837936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0" imgH="5486400" progId="Equation.DSMT4">
                  <p:embed/>
                </p:oleObj>
              </mc:Choice>
              <mc:Fallback>
                <p:oleObj name="Equation" r:id="rId12" imgW="9144000" imgH="54864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099" y="3251200"/>
                        <a:ext cx="837936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5"/>
          <p:cNvGraphicFramePr>
            <a:graphicFrameLocks noChangeAspect="1"/>
          </p:cNvGraphicFramePr>
          <p:nvPr/>
        </p:nvGraphicFramePr>
        <p:xfrm>
          <a:off x="3410915" y="2469675"/>
          <a:ext cx="810216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39200" imgH="5486400" progId="Equation.DSMT4">
                  <p:embed/>
                </p:oleObj>
              </mc:Choice>
              <mc:Fallback>
                <p:oleObj name="Equation" r:id="rId12" imgW="88392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915" y="2469675"/>
                        <a:ext cx="810216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-55858" y="958217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" name="对象 8"/>
          <p:cNvGraphicFramePr>
            <a:graphicFrameLocks noChangeAspect="1"/>
          </p:cNvGraphicFramePr>
          <p:nvPr/>
        </p:nvGraphicFramePr>
        <p:xfrm>
          <a:off x="5819664" y="1551378"/>
          <a:ext cx="2011392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116800" imgH="5486400" progId="Equation.DSMT4">
                  <p:embed/>
                </p:oleObj>
              </mc:Choice>
              <mc:Fallback>
                <p:oleObj name="Equation" r:id="rId17" imgW="20116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664" y="1551378"/>
                        <a:ext cx="2011392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/>
          <p:cNvCxnSpPr/>
          <p:nvPr/>
        </p:nvCxnSpPr>
        <p:spPr bwMode="auto">
          <a:xfrm flipV="1">
            <a:off x="5792018" y="2120444"/>
            <a:ext cx="2437582" cy="183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  <p:sp>
        <p:nvSpPr>
          <p:cNvPr id="5" name="矩形 4"/>
          <p:cNvSpPr/>
          <p:nvPr/>
        </p:nvSpPr>
        <p:spPr>
          <a:xfrm>
            <a:off x="990600" y="990600"/>
            <a:ext cx="7758855" cy="1708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稳定系统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(stable system)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只要输入序列是有界的，其输出必定是有界的，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这样的系统称为稳定系统。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33750" y="2903538"/>
          <a:ext cx="2336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00" imgH="6096000" progId="Equation.DSMT4">
                  <p:embed/>
                </p:oleObj>
              </mc:Choice>
              <mc:Fallback>
                <p:oleObj name="Equation" r:id="rId2" imgW="24384000" imgH="609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903538"/>
                        <a:ext cx="2336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6172200" y="2916566"/>
          <a:ext cx="22193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64800" imgH="6096000" progId="Equation.DSMT4">
                  <p:embed/>
                </p:oleObj>
              </mc:Choice>
              <mc:Fallback>
                <p:oleObj name="Equation" r:id="rId4" imgW="23164800" imgH="609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916566"/>
                        <a:ext cx="22193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07031" y="2934028"/>
            <a:ext cx="2339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只要输入满足</a:t>
            </a:r>
          </a:p>
        </p:txBody>
      </p:sp>
      <p:sp>
        <p:nvSpPr>
          <p:cNvPr id="8" name="矩形 7"/>
          <p:cNvSpPr/>
          <p:nvPr/>
        </p:nvSpPr>
        <p:spPr>
          <a:xfrm>
            <a:off x="5670550" y="2916566"/>
            <a:ext cx="622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sp>
        <p:nvSpPr>
          <p:cNvPr id="9" name="矩形 8"/>
          <p:cNvSpPr/>
          <p:nvPr/>
        </p:nvSpPr>
        <p:spPr>
          <a:xfrm>
            <a:off x="1007031" y="4013200"/>
            <a:ext cx="667682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是稳定系统的充要条件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其单位脉冲响应绝对可和，即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3479800" y="5212119"/>
          <a:ext cx="2044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6000" imgH="10363200" progId="Equation.DSMT4">
                  <p:embed/>
                </p:oleObj>
              </mc:Choice>
              <mc:Fallback>
                <p:oleObj name="Equation" r:id="rId6" imgW="213360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5212119"/>
                        <a:ext cx="20447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226072" y="989176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6072" y="4074755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990600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证明：充分条件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3378200" y="1625600"/>
          <a:ext cx="2336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00" imgH="6096000" progId="Equation.DSMT4">
                  <p:embed/>
                </p:oleObj>
              </mc:Choice>
              <mc:Fallback>
                <p:oleObj name="Equation" r:id="rId2" imgW="24384000" imgH="609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1625600"/>
                        <a:ext cx="2336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2179638" y="3048000"/>
          <a:ext cx="3967162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281600" imgH="37185600" progId="Equation.DSMT4">
                  <p:embed/>
                </p:oleObj>
              </mc:Choice>
              <mc:Fallback>
                <p:oleObj name="Equation" r:id="rId4" imgW="43281600" imgH="3718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3048000"/>
                        <a:ext cx="3967162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752600" y="1655485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输入有界</a:t>
            </a:r>
          </a:p>
        </p:txBody>
      </p:sp>
      <p:sp>
        <p:nvSpPr>
          <p:cNvPr id="12" name="矩形 11"/>
          <p:cNvSpPr/>
          <p:nvPr/>
        </p:nvSpPr>
        <p:spPr>
          <a:xfrm>
            <a:off x="1752600" y="3277800"/>
            <a:ext cx="622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2605164" y="2148354"/>
          <a:ext cx="20447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0" imgH="10363200" progId="Equation.DSMT4">
                  <p:embed/>
                </p:oleObj>
              </mc:Choice>
              <mc:Fallback>
                <p:oleObj name="Equation" r:id="rId2" imgW="213360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164" y="2148354"/>
                        <a:ext cx="20447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745314" y="2376923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12314" y="6029980"/>
            <a:ext cx="45554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即输出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有界，系统稳定 </a:t>
            </a:r>
          </a:p>
        </p:txBody>
      </p:sp>
      <p:sp>
        <p:nvSpPr>
          <p:cNvPr id="13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5800" y="990600"/>
            <a:ext cx="8458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因果系统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(causal system)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系统的输出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只取决于当前以及过去的输入，即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-1)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等。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2514600"/>
            <a:ext cx="8458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非因果系统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系统的输出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还取决于未来的输入，如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+1)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等。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_GB2312" pitchFamily="49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261" y="4114800"/>
            <a:ext cx="6676828" cy="576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是因果系统的充要条件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8"/>
          <p:cNvGraphicFramePr>
            <a:graphicFrameLocks noChangeAspect="1"/>
          </p:cNvGraphicFramePr>
          <p:nvPr/>
        </p:nvGraphicFramePr>
        <p:xfrm>
          <a:off x="3232150" y="4857750"/>
          <a:ext cx="2346624" cy="487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69600" imgH="4876800" progId="Equation.DSMT4">
                  <p:embed/>
                </p:oleObj>
              </mc:Choice>
              <mc:Fallback>
                <p:oleObj name="Equation" r:id="rId2" imgW="2346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4857750"/>
                        <a:ext cx="2346624" cy="487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-1571" y="1001126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4114800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43000" y="1600199"/>
          <a:ext cx="7185384" cy="2044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80800" imgH="21336000" progId="Equation.DSMT4">
                  <p:embed/>
                </p:oleObj>
              </mc:Choice>
              <mc:Fallback>
                <p:oleObj name="Equation" r:id="rId2" imgW="74980800" imgH="2133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199"/>
                        <a:ext cx="7185384" cy="2044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990600" y="1076980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8"/>
          <p:cNvGraphicFramePr>
            <a:graphicFrameLocks noChangeAspect="1"/>
          </p:cNvGraphicFramePr>
          <p:nvPr/>
        </p:nvGraphicFramePr>
        <p:xfrm>
          <a:off x="1839913" y="4111625"/>
          <a:ext cx="23352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4000" imgH="4876800" progId="Equation.DSMT4">
                  <p:embed/>
                </p:oleObj>
              </mc:Choice>
              <mc:Fallback>
                <p:oleObj name="Equation" r:id="rId4" imgW="243840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4111625"/>
                        <a:ext cx="23352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10856" y="4055386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10856" y="4543307"/>
            <a:ext cx="7317528" cy="109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就不会有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，就满足系统因果性定义。</a:t>
            </a:r>
          </a:p>
        </p:txBody>
      </p:sp>
      <p:sp>
        <p:nvSpPr>
          <p:cNvPr id="9" name="矩形 8"/>
          <p:cNvSpPr/>
          <p:nvPr/>
        </p:nvSpPr>
        <p:spPr>
          <a:xfrm>
            <a:off x="4189369" y="4055916"/>
            <a:ext cx="34339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是因果序列，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8200" y="114300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94618" y="1734235"/>
            <a:ext cx="7345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系统的单位脉冲响应为</a:t>
            </a:r>
          </a:p>
        </p:txBody>
      </p:sp>
      <p:sp>
        <p:nvSpPr>
          <p:cNvPr id="5" name="矩形 4"/>
          <p:cNvSpPr/>
          <p:nvPr/>
        </p:nvSpPr>
        <p:spPr>
          <a:xfrm>
            <a:off x="1383542" y="1143000"/>
            <a:ext cx="5476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系统的因果性与稳定性。</a:t>
            </a:r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5018088" y="1733550"/>
          <a:ext cx="254158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17600" imgH="5486400" progId="Equation.DSMT4">
                  <p:embed/>
                </p:oleObj>
              </mc:Choice>
              <mc:Fallback>
                <p:oleObj name="Equation" r:id="rId2" imgW="26517600" imgH="548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1733550"/>
                        <a:ext cx="254158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2438400"/>
            <a:ext cx="906017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247775" y="4221163"/>
          <a:ext cx="50831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035200" imgH="10363200" progId="Equation.DSMT4">
                  <p:embed/>
                </p:oleObj>
              </mc:Choice>
              <mc:Fallback>
                <p:oleObj name="Equation" r:id="rId4" imgW="530352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4221163"/>
                        <a:ext cx="50831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752600" y="5615165"/>
            <a:ext cx="162736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稳定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1334036" y="5767565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3048000" progId="Equation.DSMT4">
                  <p:embed/>
                </p:oleObj>
              </mc:Choice>
              <mc:Fallback>
                <p:oleObj name="Equation" r:id="rId6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036" y="5767565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8"/>
          <p:cNvGraphicFramePr>
            <a:graphicFrameLocks noChangeAspect="1"/>
          </p:cNvGraphicFramePr>
          <p:nvPr/>
        </p:nvGraphicFramePr>
        <p:xfrm>
          <a:off x="2131214" y="2512602"/>
          <a:ext cx="852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34400" imgH="4267200" progId="Equation.DSMT4">
                  <p:embed/>
                </p:oleObj>
              </mc:Choice>
              <mc:Fallback>
                <p:oleObj name="Equation" r:id="rId8" imgW="8534400" imgH="4267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214" y="2512602"/>
                        <a:ext cx="8524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1654329" y="2463717"/>
            <a:ext cx="23984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          时，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8"/>
          <p:cNvGraphicFramePr>
            <a:graphicFrameLocks noChangeAspect="1"/>
          </p:cNvGraphicFramePr>
          <p:nvPr/>
        </p:nvGraphicFramePr>
        <p:xfrm>
          <a:off x="3725862" y="2512602"/>
          <a:ext cx="13414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11200" imgH="4876800" progId="Equation.DSMT4">
                  <p:embed/>
                </p:oleObj>
              </mc:Choice>
              <mc:Fallback>
                <p:oleObj name="Equation" r:id="rId10" imgW="134112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2" y="2512602"/>
                        <a:ext cx="13414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752600" y="3259552"/>
            <a:ext cx="162736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因果系统</a:t>
            </a:r>
          </a:p>
        </p:txBody>
      </p:sp>
      <p:graphicFrame>
        <p:nvGraphicFramePr>
          <p:cNvPr id="18" name="对象 2"/>
          <p:cNvGraphicFramePr>
            <a:graphicFrameLocks noChangeAspect="1"/>
          </p:cNvGraphicFramePr>
          <p:nvPr/>
        </p:nvGraphicFramePr>
        <p:xfrm>
          <a:off x="1371600" y="3411952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3048000" progId="Equation.DSMT4">
                  <p:embed/>
                </p:oleObj>
              </mc:Choice>
              <mc:Fallback>
                <p:oleObj name="Equation" r:id="rId6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411952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8200" y="114300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94618" y="1734235"/>
            <a:ext cx="7345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系统的单位脉冲响应为</a:t>
            </a:r>
          </a:p>
        </p:txBody>
      </p:sp>
      <p:sp>
        <p:nvSpPr>
          <p:cNvPr id="5" name="矩形 4"/>
          <p:cNvSpPr/>
          <p:nvPr/>
        </p:nvSpPr>
        <p:spPr>
          <a:xfrm>
            <a:off x="1383542" y="1143000"/>
            <a:ext cx="5476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系统的因果性与稳定性。</a:t>
            </a:r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5018088" y="1731963"/>
          <a:ext cx="34163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61600" imgH="5486400" progId="Equation.DSMT4">
                  <p:embed/>
                </p:oleObj>
              </mc:Choice>
              <mc:Fallback>
                <p:oleObj name="Equation" r:id="rId2" imgW="35661600" imgH="548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1731963"/>
                        <a:ext cx="34163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2438400"/>
            <a:ext cx="906017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665288" y="4194175"/>
          <a:ext cx="30988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08800" imgH="10363200" progId="Equation.DSMT4">
                  <p:embed/>
                </p:oleObj>
              </mc:Choice>
              <mc:Fallback>
                <p:oleObj name="Equation" r:id="rId4" imgW="323088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4194175"/>
                        <a:ext cx="30988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752600" y="5615165"/>
            <a:ext cx="198804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系统不稳定</a:t>
            </a:r>
          </a:p>
        </p:txBody>
      </p:sp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1334036" y="5767565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3048000" progId="Equation.DSMT4">
                  <p:embed/>
                </p:oleObj>
              </mc:Choice>
              <mc:Fallback>
                <p:oleObj name="Equation" r:id="rId6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036" y="5767565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8"/>
          <p:cNvGraphicFramePr>
            <a:graphicFrameLocks noChangeAspect="1"/>
          </p:cNvGraphicFramePr>
          <p:nvPr/>
        </p:nvGraphicFramePr>
        <p:xfrm>
          <a:off x="2131214" y="2512602"/>
          <a:ext cx="852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34400" imgH="4267200" progId="Equation.DSMT4">
                  <p:embed/>
                </p:oleObj>
              </mc:Choice>
              <mc:Fallback>
                <p:oleObj name="Equation" r:id="rId6" imgW="8534400" imgH="4267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214" y="2512602"/>
                        <a:ext cx="8524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1654329" y="2463717"/>
            <a:ext cx="23984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          时，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8"/>
          <p:cNvGraphicFramePr>
            <a:graphicFrameLocks noChangeAspect="1"/>
          </p:cNvGraphicFramePr>
          <p:nvPr/>
        </p:nvGraphicFramePr>
        <p:xfrm>
          <a:off x="3725862" y="2512602"/>
          <a:ext cx="13414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11200" imgH="4876800" progId="Equation.DSMT4">
                  <p:embed/>
                </p:oleObj>
              </mc:Choice>
              <mc:Fallback>
                <p:oleObj name="Equation" r:id="rId9" imgW="134112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2" y="2512602"/>
                        <a:ext cx="13414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821955" y="3259552"/>
            <a:ext cx="198804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非因果系统</a:t>
            </a:r>
          </a:p>
        </p:txBody>
      </p:sp>
      <p:graphicFrame>
        <p:nvGraphicFramePr>
          <p:cNvPr id="18" name="对象 2"/>
          <p:cNvGraphicFramePr>
            <a:graphicFrameLocks noChangeAspect="1"/>
          </p:cNvGraphicFramePr>
          <p:nvPr/>
        </p:nvGraphicFramePr>
        <p:xfrm>
          <a:off x="1371600" y="3411952"/>
          <a:ext cx="3222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3048000" progId="Equation.DSMT4">
                  <p:embed/>
                </p:oleObj>
              </mc:Choice>
              <mc:Fallback>
                <p:oleObj name="Equation" r:id="rId6" imgW="3352800" imgH="304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411952"/>
                        <a:ext cx="3222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4662488" y="4189413"/>
          <a:ext cx="18097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897600" imgH="10363200" progId="Equation.DSMT4">
                  <p:embed/>
                </p:oleObj>
              </mc:Choice>
              <mc:Fallback>
                <p:oleObj name="Equation" r:id="rId11" imgW="188976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4189413"/>
                        <a:ext cx="18097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稳定系统和因果系统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1.3.5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系统的差分方程描述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14600" y="2913860"/>
          <a:ext cx="4001724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57600" imgH="10363200" progId="Equation.DSMT4">
                  <p:embed/>
                </p:oleObj>
              </mc:Choice>
              <mc:Fallback>
                <p:oleObj name="Equation" r:id="rId2" imgW="41757600" imgH="1036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13860"/>
                        <a:ext cx="4001724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990600" y="2362200"/>
            <a:ext cx="716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常系数差分方程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的一般形式：</a:t>
            </a:r>
          </a:p>
        </p:txBody>
      </p:sp>
      <p:sp>
        <p:nvSpPr>
          <p:cNvPr id="8" name="矩形 7"/>
          <p:cNvSpPr/>
          <p:nvPr/>
        </p:nvSpPr>
        <p:spPr>
          <a:xfrm>
            <a:off x="990600" y="4158091"/>
            <a:ext cx="3975768" cy="56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、  都是常数。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983864" y="4139623"/>
          <a:ext cx="35024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5486400" progId="Equation.DSMT4">
                  <p:embed/>
                </p:oleObj>
              </mc:Choice>
              <mc:Fallback>
                <p:oleObj name="Equation" r:id="rId4" imgW="36576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864" y="4139623"/>
                        <a:ext cx="350244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2628240" y="4185922"/>
          <a:ext cx="35024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57600" imgH="5486400" progId="Equation.DSMT4">
                  <p:embed/>
                </p:oleObj>
              </mc:Choice>
              <mc:Fallback>
                <p:oleObj name="Equation" r:id="rId6" imgW="36576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240" y="4185922"/>
                        <a:ext cx="350244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62000" y="990600"/>
            <a:ext cx="8153400" cy="111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有限维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离散时间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用线性常系数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差分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来反映其输入输出序列之间的运算关系。</a:t>
            </a:r>
          </a:p>
        </p:txBody>
      </p:sp>
      <p:sp>
        <p:nvSpPr>
          <p:cNvPr id="6" name="矩形 5"/>
          <p:cNvSpPr/>
          <p:nvPr/>
        </p:nvSpPr>
        <p:spPr>
          <a:xfrm>
            <a:off x="963386" y="4981336"/>
            <a:ext cx="7799614" cy="111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同一差分方程，只有附加必要的制约条件，才能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唯一地确定一个系统的输入输出关系。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1.3.5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系统的差分方程描述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304800" y="838200"/>
            <a:ext cx="632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例，一阶差分方程          </a:t>
            </a: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3705225" y="857250"/>
          <a:ext cx="31940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56800" imgH="4876800" progId="Equation.DSMT4">
                  <p:embed/>
                </p:oleObj>
              </mc:Choice>
              <mc:Fallback>
                <p:oleObj name="Equation" r:id="rId2" imgW="353568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857250"/>
                        <a:ext cx="31940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1033870" y="1828800"/>
          <a:ext cx="32543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400" imgH="469900" progId="Equation.DSMT4">
                  <p:embed/>
                </p:oleObj>
              </mc:Choice>
              <mc:Fallback>
                <p:oleObj name="Equation" r:id="rId4" imgW="1549400" imgH="469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870" y="1828800"/>
                        <a:ext cx="32543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909320" y="2819400"/>
            <a:ext cx="4328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假设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&lt;0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时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7200" y="2078636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kumimoji="1" lang="zh-CN" altLang="en-US" b="1" dirty="0">
                <a:solidFill>
                  <a:srgbClr val="000000"/>
                </a:solidFill>
              </a:rPr>
              <a:t>令</a:t>
            </a:r>
          </a:p>
        </p:txBody>
      </p:sp>
      <p:sp>
        <p:nvSpPr>
          <p:cNvPr id="9" name="矩形 8"/>
          <p:cNvSpPr/>
          <p:nvPr/>
        </p:nvSpPr>
        <p:spPr>
          <a:xfrm>
            <a:off x="914400" y="1371600"/>
            <a:ext cx="7035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可根据该差分方程引出不同的单位脉冲响应</a:t>
            </a:r>
            <a:endParaRPr lang="zh-CN" altLang="en-US" dirty="0"/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3021792" y="4036079"/>
          <a:ext cx="3226608" cy="42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80800" imgH="4876800" progId="Equation.DSMT4">
                  <p:embed/>
                </p:oleObj>
              </mc:Choice>
              <mc:Fallback>
                <p:oleObj name="Equation" r:id="rId6" imgW="36880800" imgH="487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792" y="4036079"/>
                        <a:ext cx="3226608" cy="426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3026554" y="4538663"/>
          <a:ext cx="304006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747200" imgH="4876800" progId="Equation.DSMT4">
                  <p:embed/>
                </p:oleObj>
              </mc:Choice>
              <mc:Fallback>
                <p:oleObj name="Equation" r:id="rId8" imgW="347472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6554" y="4538663"/>
                        <a:ext cx="304006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2112154" y="6193790"/>
          <a:ext cx="9318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8000" imgH="4876800" progId="Equation.DSMT4">
                  <p:embed/>
                </p:oleObj>
              </mc:Choice>
              <mc:Fallback>
                <p:oleObj name="Equation" r:id="rId10" imgW="106680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154" y="6193790"/>
                        <a:ext cx="9318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3277379" y="5597207"/>
          <a:ext cx="1587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" imgH="4267200" progId="Equation.DSMT4">
                  <p:embed/>
                </p:oleObj>
              </mc:Choice>
              <mc:Fallback>
                <p:oleObj name="Equation" r:id="rId12" imgW="1828800" imgH="426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379" y="5597207"/>
                        <a:ext cx="1587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/>
        </p:nvGraphicFramePr>
        <p:xfrm>
          <a:off x="3044017" y="6124576"/>
          <a:ext cx="18923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640800" imgH="5486400" progId="Equation.DSMT4">
                  <p:embed/>
                </p:oleObj>
              </mc:Choice>
              <mc:Fallback>
                <p:oleObj name="Equation" r:id="rId14" imgW="21640800" imgH="548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017" y="6124576"/>
                        <a:ext cx="18923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/>
        </p:nvGraphicFramePr>
        <p:xfrm>
          <a:off x="3001154" y="3471863"/>
          <a:ext cx="31940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356800" imgH="4876800" progId="Equation.DSMT4">
                  <p:embed/>
                </p:oleObj>
              </mc:Choice>
              <mc:Fallback>
                <p:oleObj name="Equation" r:id="rId16" imgW="353568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154" y="3471863"/>
                        <a:ext cx="31940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3011335" y="5009853"/>
          <a:ext cx="3173688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6271200" imgH="5486400" progId="Equation.DSMT4">
                  <p:embed/>
                </p:oleObj>
              </mc:Choice>
              <mc:Fallback>
                <p:oleObj name="Equation" r:id="rId18" imgW="362712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335" y="5009853"/>
                        <a:ext cx="3173688" cy="480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045354" y="3435706"/>
            <a:ext cx="20697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递推关系式 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7139821" y="608078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因果系统</a:t>
            </a:r>
          </a:p>
        </p:txBody>
      </p:sp>
      <p:sp>
        <p:nvSpPr>
          <p:cNvPr id="26" name="矩形 25"/>
          <p:cNvSpPr/>
          <p:nvPr/>
        </p:nvSpPr>
        <p:spPr>
          <a:xfrm>
            <a:off x="1045354" y="3939243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1.3.5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系统的差分方程描述</a:t>
            </a:r>
          </a:p>
        </p:txBody>
      </p:sp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762000" y="695980"/>
            <a:ext cx="4328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假设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&gt;0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时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)=0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2352040" y="1727640"/>
          <a:ext cx="32256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09600" imgH="9448800" progId="Equation.DSMT4">
                  <p:embed/>
                </p:oleObj>
              </mc:Choice>
              <mc:Fallback>
                <p:oleObj name="Equation" r:id="rId2" imgW="38709600" imgH="9448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040" y="1727640"/>
                        <a:ext cx="322560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2387600" y="1295400"/>
          <a:ext cx="29462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56800" imgH="4876800" progId="Equation.DSMT4">
                  <p:embed/>
                </p:oleObj>
              </mc:Choice>
              <mc:Fallback>
                <p:oleObj name="Equation" r:id="rId4" imgW="353568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295400"/>
                        <a:ext cx="294624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990600" y="264204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改写成</a:t>
            </a:r>
            <a:endParaRPr lang="zh-CN" altLang="en-US" b="1" dirty="0"/>
          </a:p>
        </p:txBody>
      </p: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2436812" y="3276600"/>
          <a:ext cx="317448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100000" imgH="9448800" progId="Equation.DSMT4">
                  <p:embed/>
                </p:oleObj>
              </mc:Choice>
              <mc:Fallback>
                <p:oleObj name="Equation" r:id="rId6" imgW="38100000" imgH="9448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2" y="3276600"/>
                        <a:ext cx="317448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/>
        </p:nvGraphicFramePr>
        <p:xfrm>
          <a:off x="2286000" y="4013640"/>
          <a:ext cx="383472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024800" imgH="9448800" progId="Equation.DSMT4">
                  <p:embed/>
                </p:oleObj>
              </mc:Choice>
              <mc:Fallback>
                <p:oleObj name="Equation" r:id="rId8" imgW="46024800" imgH="944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13640"/>
                        <a:ext cx="383472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2291480" y="4775640"/>
          <a:ext cx="41652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987200" imgH="9448800" progId="Equation.DSMT4">
                  <p:embed/>
                </p:oleObj>
              </mc:Choice>
              <mc:Fallback>
                <p:oleObj name="Equation" r:id="rId10" imgW="49987200" imgH="9448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480" y="4775640"/>
                        <a:ext cx="416520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2355850" y="6007100"/>
          <a:ext cx="29527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089600" imgH="5486400" progId="Equation.DSMT4">
                  <p:embed/>
                </p:oleObj>
              </mc:Choice>
              <mc:Fallback>
                <p:oleObj name="Equation" r:id="rId12" imgW="31089600" imgH="5486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6007100"/>
                        <a:ext cx="29527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/>
        </p:nvGraphicFramePr>
        <p:xfrm>
          <a:off x="1423987" y="6099175"/>
          <a:ext cx="9318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8000" imgH="4876800" progId="Equation.DSMT4">
                  <p:embed/>
                </p:oleObj>
              </mc:Choice>
              <mc:Fallback>
                <p:oleObj name="Equation" r:id="rId14" imgW="106680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7" y="6099175"/>
                        <a:ext cx="9318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3108325" y="5604192"/>
          <a:ext cx="1587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4267200" progId="Equation.DSMT4">
                  <p:embed/>
                </p:oleObj>
              </mc:Choice>
              <mc:Fallback>
                <p:oleObj name="Equation" r:id="rId14" imgW="1828800" imgH="426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5604192"/>
                        <a:ext cx="1587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010400" y="5963920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非因果系统 </a:t>
            </a:r>
          </a:p>
        </p:txBody>
      </p:sp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2387600" y="2489640"/>
          <a:ext cx="363168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586400" imgH="9448800" progId="Equation.DSMT4">
                  <p:embed/>
                </p:oleObj>
              </mc:Choice>
              <mc:Fallback>
                <p:oleObj name="Equation" r:id="rId17" imgW="43586400" imgH="9448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489640"/>
                        <a:ext cx="363168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1090612" y="3405515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73" y="5141771"/>
            <a:ext cx="4577804" cy="1778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1.3.5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系统的差分方程描述</a:t>
            </a:r>
          </a:p>
        </p:txBody>
      </p:sp>
      <p:sp>
        <p:nvSpPr>
          <p:cNvPr id="9" name="矩形 8"/>
          <p:cNvSpPr/>
          <p:nvPr/>
        </p:nvSpPr>
        <p:spPr>
          <a:xfrm>
            <a:off x="390977" y="935515"/>
            <a:ext cx="8524423" cy="1198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根据差分方程可得到系统的运算结构；</a:t>
            </a:r>
          </a:p>
          <a:p>
            <a:pPr marL="171450" marR="0" lvl="0" indent="-171450" algn="just" defTabSz="685800" rtl="0" eaLnBrk="1" fontAlgn="auto" latinLnBrk="0" hangingPunct="1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差分方程中三种基本运算：①加法，②乘法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延迟。</a:t>
            </a:r>
          </a:p>
        </p:txBody>
      </p:sp>
      <p:sp>
        <p:nvSpPr>
          <p:cNvPr id="10" name="标题 1"/>
          <p:cNvSpPr txBox="1"/>
          <p:nvPr/>
        </p:nvSpPr>
        <p:spPr>
          <a:xfrm>
            <a:off x="5370592" y="5460896"/>
            <a:ext cx="3773408" cy="1320904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6.1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数字滤波器的结构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会详细讨论 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1562011" y="4537339"/>
          <a:ext cx="33877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56800" imgH="4876800" progId="Equation.DSMT4">
                  <p:embed/>
                </p:oleObj>
              </mc:Choice>
              <mc:Fallback>
                <p:oleObj name="Equation" r:id="rId3" imgW="353568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011" y="4537339"/>
                        <a:ext cx="33877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 bwMode="auto">
          <a:xfrm>
            <a:off x="2527970" y="2493821"/>
            <a:ext cx="288032" cy="28803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590800" y="2550842"/>
          <a:ext cx="212725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52800" imgH="3352800" progId="Equation.DSMT4">
                  <p:embed/>
                </p:oleObj>
              </mc:Choice>
              <mc:Fallback>
                <p:oleObj name="Equation" r:id="rId5" imgW="3352800" imgH="3352800" progId="Equation.DSMT4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2550842"/>
                        <a:ext cx="212725" cy="21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>
            <a:stCxn id="12" idx="6"/>
          </p:cNvCxnSpPr>
          <p:nvPr/>
        </p:nvCxnSpPr>
        <p:spPr bwMode="auto">
          <a:xfrm>
            <a:off x="2816002" y="2637837"/>
            <a:ext cx="6038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1807890" y="2637837"/>
            <a:ext cx="72008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2671986" y="2781853"/>
            <a:ext cx="0" cy="43204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320" y="2415670"/>
            <a:ext cx="329629" cy="427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5377878" y="2637837"/>
            <a:ext cx="72008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6324600" y="2637837"/>
            <a:ext cx="6038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矩形 19"/>
          <p:cNvSpPr/>
          <p:nvPr/>
        </p:nvSpPr>
        <p:spPr bwMode="auto">
          <a:xfrm>
            <a:off x="2527970" y="3615583"/>
            <a:ext cx="360040" cy="3591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70613" y="3584800"/>
            <a:ext cx="415276" cy="34343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148752" y="3541464"/>
          <a:ext cx="1001781" cy="497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8000" imgH="3048000" progId="Equation.DSMT4">
                  <p:embed/>
                </p:oleObj>
              </mc:Choice>
              <mc:Fallback>
                <p:oleObj name="Equation" r:id="rId8" imgW="3048000" imgH="3048000" progId="Equation.DSMT4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48752" y="3541464"/>
                        <a:ext cx="1001781" cy="497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14"/>
          <p:cNvSpPr txBox="1"/>
          <p:nvPr/>
        </p:nvSpPr>
        <p:spPr>
          <a:xfrm>
            <a:off x="2528168" y="3605366"/>
            <a:ext cx="35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913438" y="3571875"/>
          <a:ext cx="3302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181600" imgH="4876800" progId="Equation.DSMT4">
                  <p:embed/>
                </p:oleObj>
              </mc:Choice>
              <mc:Fallback>
                <p:oleObj name="Equation" r:id="rId10" imgW="5181600" imgH="4876800" progId="Equation.DSMT4">
                  <p:embed/>
                  <p:pic>
                    <p:nvPicPr>
                      <p:cNvPr id="0" name="对象 2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13438" y="3571875"/>
                        <a:ext cx="330200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 bwMode="auto">
          <a:xfrm>
            <a:off x="2888010" y="3796410"/>
            <a:ext cx="6038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1807890" y="3790032"/>
            <a:ext cx="72008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7" name="直接连接符 26"/>
          <p:cNvCxnSpPr/>
          <p:nvPr/>
        </p:nvCxnSpPr>
        <p:spPr bwMode="auto">
          <a:xfrm>
            <a:off x="6285889" y="3750959"/>
            <a:ext cx="6038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5264273" y="3743780"/>
            <a:ext cx="606339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343025" y="2495550"/>
          <a:ext cx="482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29600" imgH="4876800" progId="Equation.DSMT4">
                  <p:embed/>
                </p:oleObj>
              </mc:Choice>
              <mc:Fallback>
                <p:oleObj name="Equation" r:id="rId12" imgW="8229600" imgH="4876800" progId="Equation.DSMT4">
                  <p:embed/>
                  <p:pic>
                    <p:nvPicPr>
                      <p:cNvPr id="0" name="对象 2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43025" y="2495550"/>
                        <a:ext cx="4826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430463" y="3214688"/>
          <a:ext cx="466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24800" imgH="4876800" progId="Equation.DSMT4">
                  <p:embed/>
                </p:oleObj>
              </mc:Choice>
              <mc:Fallback>
                <p:oleObj name="Equation" r:id="rId14" imgW="7924800" imgH="4876800" progId="Equation.DSMT4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3214688"/>
                        <a:ext cx="466725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392488" y="2493963"/>
          <a:ext cx="107473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0" imgH="4876800" progId="Equation.DSMT4">
                  <p:embed/>
                </p:oleObj>
              </mc:Choice>
              <mc:Fallback>
                <p:oleObj name="Equation" r:id="rId16" imgW="18288000" imgH="48768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2493963"/>
                        <a:ext cx="107473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913313" y="2486025"/>
          <a:ext cx="4841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29600" imgH="4876800" progId="Equation.DSMT4">
                  <p:embed/>
                </p:oleObj>
              </mc:Choice>
              <mc:Fallback>
                <p:oleObj name="Equation" r:id="rId18" imgW="8229600" imgH="48768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313" y="2486025"/>
                        <a:ext cx="48418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975475" y="2486025"/>
          <a:ext cx="5715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53600" imgH="4876800" progId="Equation.DSMT4">
                  <p:embed/>
                </p:oleObj>
              </mc:Choice>
              <mc:Fallback>
                <p:oleObj name="Equation" r:id="rId20" imgW="9753600" imgH="48768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2486025"/>
                        <a:ext cx="5715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055019" y="2818283"/>
          <a:ext cx="179388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48000" imgH="3352800" progId="Equation.DSMT4">
                  <p:embed/>
                </p:oleObj>
              </mc:Choice>
              <mc:Fallback>
                <p:oleObj name="Equation" r:id="rId22" imgW="3048000" imgH="33528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019" y="2818283"/>
                        <a:ext cx="179388" cy="19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1277938" y="3654425"/>
          <a:ext cx="482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229600" imgH="4876800" progId="Equation.DSMT4">
                  <p:embed/>
                </p:oleObj>
              </mc:Choice>
              <mc:Fallback>
                <p:oleObj name="Equation" r:id="rId24" imgW="8229600" imgH="48768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3654425"/>
                        <a:ext cx="482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478213" y="3646488"/>
          <a:ext cx="7683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106400" imgH="4876800" progId="Equation.DSMT4">
                  <p:embed/>
                </p:oleObj>
              </mc:Choice>
              <mc:Fallback>
                <p:oleObj name="Equation" r:id="rId26" imgW="13106400" imgH="48768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3646488"/>
                        <a:ext cx="7683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4778375" y="3619500"/>
          <a:ext cx="481013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229600" imgH="4876800" progId="Equation.DSMT4">
                  <p:embed/>
                </p:oleObj>
              </mc:Choice>
              <mc:Fallback>
                <p:oleObj name="Equation" r:id="rId28" imgW="8229600" imgH="48768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3619500"/>
                        <a:ext cx="481013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6900863" y="3624263"/>
          <a:ext cx="7683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106400" imgH="4876800" progId="Equation.DSMT4">
                  <p:embed/>
                </p:oleObj>
              </mc:Choice>
              <mc:Fallback>
                <p:oleObj name="Equation" r:id="rId30" imgW="13106400" imgH="487680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3" y="3624263"/>
                        <a:ext cx="7683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533400" y="449580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系统的频率响应及其系统函数</a:t>
            </a:r>
          </a:p>
        </p:txBody>
      </p:sp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839788" y="1295400"/>
            <a:ext cx="7237412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4.1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4.2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4.3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系统函数与差分方程的关系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4.4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4.5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最小相位系统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和全通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lvl="0" eaLnBrk="1" hangingPunct="1">
              <a:lnSpc>
                <a:spcPct val="145000"/>
              </a:lnSpc>
              <a:defRPr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1.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4.6   FIR 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系统和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IIR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系统</a:t>
            </a:r>
            <a:endParaRPr lang="zh-CN" altLang="en-US" sz="3200" b="1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</a:p>
        </p:txBody>
      </p:sp>
      <p:cxnSp>
        <p:nvCxnSpPr>
          <p:cNvPr id="20" name="直接箭头连接符 5"/>
          <p:cNvCxnSpPr>
            <a:cxnSpLocks noChangeShapeType="1"/>
            <a:endCxn id="25" idx="1"/>
          </p:cNvCxnSpPr>
          <p:nvPr/>
        </p:nvCxnSpPr>
        <p:spPr bwMode="auto">
          <a:xfrm>
            <a:off x="1600200" y="1516063"/>
            <a:ext cx="1219199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矩形 6"/>
          <p:cNvSpPr>
            <a:spLocks noChangeArrowheads="1"/>
          </p:cNvSpPr>
          <p:nvPr/>
        </p:nvSpPr>
        <p:spPr bwMode="auto">
          <a:xfrm>
            <a:off x="2819399" y="1160463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接箭头连接符 10"/>
          <p:cNvCxnSpPr>
            <a:cxnSpLocks noChangeShapeType="1"/>
            <a:stCxn id="25" idx="3"/>
          </p:cNvCxnSpPr>
          <p:nvPr/>
        </p:nvCxnSpPr>
        <p:spPr bwMode="auto">
          <a:xfrm flipV="1">
            <a:off x="4955082" y="1516063"/>
            <a:ext cx="1109168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8" name="对象 8"/>
          <p:cNvGraphicFramePr>
            <a:graphicFrameLocks noChangeAspect="1"/>
          </p:cNvGraphicFramePr>
          <p:nvPr/>
        </p:nvGraphicFramePr>
        <p:xfrm>
          <a:off x="1600200" y="10668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29600" imgH="4876800" progId="Equation.DSMT4">
                  <p:embed/>
                </p:oleObj>
              </mc:Choice>
              <mc:Fallback>
                <p:oleObj name="Equation" r:id="rId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9"/>
          <p:cNvGraphicFramePr>
            <a:graphicFrameLocks noChangeAspect="1"/>
          </p:cNvGraphicFramePr>
          <p:nvPr/>
        </p:nvGraphicFramePr>
        <p:xfrm>
          <a:off x="5392737" y="1066800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24800" imgH="4876800" progId="Equation.DSMT4">
                  <p:embed/>
                </p:oleObj>
              </mc:Choice>
              <mc:Fallback>
                <p:oleObj name="Equation" r:id="rId4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7" y="1066800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0"/>
          <p:cNvGraphicFramePr>
            <a:graphicFrameLocks noChangeAspect="1"/>
          </p:cNvGraphicFramePr>
          <p:nvPr/>
        </p:nvGraphicFramePr>
        <p:xfrm>
          <a:off x="3465512" y="1254919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500" imgH="203200" progId="Equation.DSMT4">
                  <p:embed/>
                </p:oleObj>
              </mc:Choice>
              <mc:Fallback>
                <p:oleObj name="Equation" r:id="rId6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512" y="1254919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38400" y="1945957"/>
            <a:ext cx="2895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" name="对象 3"/>
          <p:cNvGraphicFramePr>
            <a:graphicFrameLocks noChangeAspect="1"/>
          </p:cNvGraphicFramePr>
          <p:nvPr/>
        </p:nvGraphicFramePr>
        <p:xfrm>
          <a:off x="2408238" y="2989263"/>
          <a:ext cx="28336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46400" imgH="4876800" progId="Equation.DSMT4">
                  <p:embed/>
                </p:oleObj>
              </mc:Choice>
              <mc:Fallback>
                <p:oleObj name="Equation" r:id="rId8" imgW="28346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2989263"/>
                        <a:ext cx="28336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"/>
          <p:cNvGraphicFramePr>
            <a:graphicFrameLocks noChangeAspect="1"/>
          </p:cNvGraphicFramePr>
          <p:nvPr/>
        </p:nvGraphicFramePr>
        <p:xfrm>
          <a:off x="1905000" y="3870326"/>
          <a:ext cx="36925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271200" imgH="5486400" progId="Equation.DSMT4">
                  <p:embed/>
                </p:oleObj>
              </mc:Choice>
              <mc:Fallback>
                <p:oleObj name="Equation" r:id="rId10" imgW="36271200" imgH="5486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70326"/>
                        <a:ext cx="36925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4371975" y="3406141"/>
            <a:ext cx="0" cy="3603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4" name="Object 9"/>
          <p:cNvGraphicFramePr>
            <a:graphicFrameLocks noChangeAspect="1"/>
          </p:cNvGraphicFramePr>
          <p:nvPr/>
        </p:nvGraphicFramePr>
        <p:xfrm>
          <a:off x="6208712" y="3617913"/>
          <a:ext cx="27051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127200" imgH="10668000" progId="Equation.DSMT4">
                  <p:embed/>
                </p:oleObj>
              </mc:Choice>
              <mc:Fallback>
                <p:oleObj name="Equation" r:id="rId12" imgW="27127200" imgH="10668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2" y="3617913"/>
                        <a:ext cx="27051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1382395" y="4910316"/>
            <a:ext cx="76338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称为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系统的频率响应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，是单位脉冲响应的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DTFT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103683" y="5449411"/>
          <a:ext cx="3565728" cy="103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661600" imgH="10363200" progId="Equation.DSMT4">
                  <p:embed/>
                </p:oleObj>
              </mc:Choice>
              <mc:Fallback>
                <p:oleObj name="Equation" r:id="rId14" imgW="35661600" imgH="10363200" progId="Equation.DSMT4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03683" y="5449411"/>
                        <a:ext cx="3565728" cy="1035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/>
        </p:nvGraphicFramePr>
        <p:xfrm>
          <a:off x="228600" y="4895374"/>
          <a:ext cx="11842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87200" imgH="5486400" progId="Equation.DSMT4">
                  <p:embed/>
                </p:oleObj>
              </mc:Choice>
              <mc:Fallback>
                <p:oleObj name="Equation" r:id="rId16" imgW="11887200" imgH="548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95374"/>
                        <a:ext cx="11842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28600" y="3870326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22375" y="1752600"/>
          <a:ext cx="36623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0" imgH="6705600" progId="Equation.DSMT4">
                  <p:embed/>
                </p:oleObj>
              </mc:Choice>
              <mc:Fallback>
                <p:oleObj name="Equation" r:id="rId2" imgW="36576000" imgH="6705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1752600"/>
                        <a:ext cx="36623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632450" y="1909763"/>
          <a:ext cx="264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99200" imgH="5486400" progId="Equation.DSMT4">
                  <p:embed/>
                </p:oleObj>
              </mc:Choice>
              <mc:Fallback>
                <p:oleObj name="Equation" r:id="rId4" imgW="316992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1909763"/>
                        <a:ext cx="2641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141983" y="2734975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幅度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43410" y="2734975"/>
            <a:ext cx="90601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rgbClr val="0000CC"/>
                </a:solidFill>
              </a:rPr>
              <a:t>相位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箭头连接符 6"/>
          <p:cNvCxnSpPr>
            <a:endCxn id="6" idx="0"/>
          </p:cNvCxnSpPr>
          <p:nvPr/>
        </p:nvCxnSpPr>
        <p:spPr>
          <a:xfrm>
            <a:off x="4604089" y="2192503"/>
            <a:ext cx="192330" cy="542472"/>
          </a:xfrm>
          <a:prstGeom prst="straightConnector1">
            <a:avLst/>
          </a:prstGeom>
          <a:ln w="22225">
            <a:solidFill>
              <a:srgbClr val="0000CC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2648540" y="2422753"/>
            <a:ext cx="404333" cy="37796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4294551" y="1835150"/>
            <a:ext cx="590187" cy="247422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1258888" y="838200"/>
          <a:ext cx="118800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87200" imgH="5486400" progId="Equation.DSMT4">
                  <p:embed/>
                </p:oleObj>
              </mc:Choice>
              <mc:Fallback>
                <p:oleObj name="Equation" r:id="rId6" imgW="118872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838200"/>
                        <a:ext cx="118800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438400" y="881451"/>
            <a:ext cx="632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是     的周期函数，周期为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p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2895600" y="975114"/>
          <a:ext cx="3952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57600" imgH="3352800" progId="Equation.DSMT4">
                  <p:embed/>
                </p:oleObj>
              </mc:Choice>
              <mc:Fallback>
                <p:oleObj name="Equation" r:id="rId8" imgW="3657600" imgH="335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975114"/>
                        <a:ext cx="39528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/>
          <p:cNvGraphicFramePr>
            <a:graphicFrameLocks noChangeAspect="1"/>
          </p:cNvGraphicFramePr>
          <p:nvPr/>
        </p:nvGraphicFramePr>
        <p:xfrm>
          <a:off x="4021188" y="3895090"/>
          <a:ext cx="2832588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65600" imgH="5486400" progId="Equation.DSMT4">
                  <p:embed/>
                </p:oleObj>
              </mc:Choice>
              <mc:Fallback>
                <p:oleObj name="Equation" r:id="rId10" imgW="29565600" imgH="5486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88" y="3895090"/>
                        <a:ext cx="2832588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99153" y="3891955"/>
            <a:ext cx="4698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是实序列，则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3965723" y="5419090"/>
          <a:ext cx="2365596" cy="46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88800" imgH="4876800" progId="Equation.DSMT4">
                  <p:embed/>
                </p:oleObj>
              </mc:Choice>
              <mc:Fallback>
                <p:oleObj name="Equation" r:id="rId12" imgW="246888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723" y="5419090"/>
                        <a:ext cx="2365596" cy="466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3962400" y="4624162"/>
          <a:ext cx="2891376" cy="64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175200" imgH="6705600" progId="Equation.DSMT4">
                  <p:embed/>
                </p:oleObj>
              </mc:Choice>
              <mc:Fallback>
                <p:oleObj name="Equation" r:id="rId14" imgW="30175200" imgH="6705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624162"/>
                        <a:ext cx="2891376" cy="64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6879036" y="388620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共轭偶对称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75830" y="4648200"/>
            <a:ext cx="1734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幅度偶对称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77433" y="5410200"/>
            <a:ext cx="173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相位奇对称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 animBg="1"/>
      <p:bldP spid="2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5"/>
          <p:cNvCxnSpPr>
            <a:cxnSpLocks noChangeShapeType="1"/>
            <a:endCxn id="6" idx="1"/>
          </p:cNvCxnSpPr>
          <p:nvPr/>
        </p:nvCxnSpPr>
        <p:spPr bwMode="auto">
          <a:xfrm>
            <a:off x="2211881" y="1287463"/>
            <a:ext cx="1369518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6"/>
          <p:cNvSpPr>
            <a:spLocks noChangeArrowheads="1"/>
          </p:cNvSpPr>
          <p:nvPr/>
        </p:nvSpPr>
        <p:spPr bwMode="auto">
          <a:xfrm>
            <a:off x="3581399" y="931863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箭头连接符 10"/>
          <p:cNvCxnSpPr>
            <a:cxnSpLocks noChangeShapeType="1"/>
            <a:stCxn id="6" idx="3"/>
          </p:cNvCxnSpPr>
          <p:nvPr/>
        </p:nvCxnSpPr>
        <p:spPr bwMode="auto">
          <a:xfrm>
            <a:off x="5717082" y="1291432"/>
            <a:ext cx="1369518" cy="1722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" name="对象 8"/>
          <p:cNvGraphicFramePr>
            <a:graphicFrameLocks noChangeAspect="1"/>
          </p:cNvGraphicFramePr>
          <p:nvPr/>
        </p:nvGraphicFramePr>
        <p:xfrm>
          <a:off x="2590800" y="8636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29600" imgH="4876800" progId="Equation.DSMT4">
                  <p:embed/>
                </p:oleObj>
              </mc:Choice>
              <mc:Fallback>
                <p:oleObj name="Equation" r:id="rId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863600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9"/>
          <p:cNvGraphicFramePr>
            <a:graphicFrameLocks noChangeAspect="1"/>
          </p:cNvGraphicFramePr>
          <p:nvPr/>
        </p:nvGraphicFramePr>
        <p:xfrm>
          <a:off x="6019800" y="838200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24800" imgH="4876800" progId="Equation.DSMT4">
                  <p:embed/>
                </p:oleObj>
              </mc:Choice>
              <mc:Fallback>
                <p:oleObj name="Equation" r:id="rId2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838200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0"/>
          <p:cNvGraphicFramePr>
            <a:graphicFrameLocks noChangeAspect="1"/>
          </p:cNvGraphicFramePr>
          <p:nvPr/>
        </p:nvGraphicFramePr>
        <p:xfrm>
          <a:off x="4227512" y="1026319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500" imgH="203200" progId="Equation.DSMT4">
                  <p:embed/>
                </p:oleObj>
              </mc:Choice>
              <mc:Fallback>
                <p:oleObj name="Equation" r:id="rId5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2" y="1026319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429000" y="1639511"/>
            <a:ext cx="25166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对象 4"/>
          <p:cNvGraphicFramePr>
            <a:graphicFrameLocks noChangeAspect="1"/>
          </p:cNvGraphicFramePr>
          <p:nvPr/>
        </p:nvGraphicFramePr>
        <p:xfrm>
          <a:off x="2002331" y="2263775"/>
          <a:ext cx="1866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507200" imgH="5791200" progId="Equation.DSMT4">
                  <p:embed/>
                </p:oleObj>
              </mc:Choice>
              <mc:Fallback>
                <p:oleObj name="Equation" r:id="rId7" imgW="19507200" imgH="5791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331" y="2263775"/>
                        <a:ext cx="18669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9"/>
          <p:cNvGraphicFramePr>
            <a:graphicFrameLocks noChangeAspect="1"/>
          </p:cNvGraphicFramePr>
          <p:nvPr/>
        </p:nvGraphicFramePr>
        <p:xfrm>
          <a:off x="762000" y="3124200"/>
          <a:ext cx="1051560" cy="46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72800" imgH="4876800" progId="Equation.DSMT4">
                  <p:embed/>
                </p:oleObj>
              </mc:Choice>
              <mc:Fallback>
                <p:oleObj name="Equation" r:id="rId9" imgW="10972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1051560" cy="466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64081" y="228600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若输入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4295775" y="2908919"/>
          <a:ext cx="27146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346400" imgH="10363200" progId="Equation.DSMT4">
                  <p:embed/>
                </p:oleObj>
              </mc:Choice>
              <mc:Fallback>
                <p:oleObj name="Equation" r:id="rId11" imgW="283464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2908919"/>
                        <a:ext cx="27146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/>
        </p:nvGraphicFramePr>
        <p:xfrm>
          <a:off x="4648200" y="4224910"/>
          <a:ext cx="21320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250400" imgH="5791200" progId="Equation.DSMT4">
                  <p:embed/>
                </p:oleObj>
              </mc:Choice>
              <mc:Fallback>
                <p:oleObj name="Equation" r:id="rId13" imgW="222504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224910"/>
                        <a:ext cx="21320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8"/>
          <p:cNvGraphicFramePr>
            <a:graphicFrameLocks noChangeAspect="1"/>
          </p:cNvGraphicFramePr>
          <p:nvPr/>
        </p:nvGraphicFramePr>
        <p:xfrm>
          <a:off x="1802268" y="2895600"/>
          <a:ext cx="2541132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517600" imgH="10363200" progId="Equation.DSMT4">
                  <p:embed/>
                </p:oleObj>
              </mc:Choice>
              <mc:Fallback>
                <p:oleObj name="Equation" r:id="rId15" imgW="26517600" imgH="10363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268" y="2895600"/>
                        <a:ext cx="2541132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1372485" y="3973750"/>
          <a:ext cx="32718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137600" imgH="10363200" progId="Equation.DSMT4">
                  <p:embed/>
                </p:oleObj>
              </mc:Choice>
              <mc:Fallback>
                <p:oleObj name="Equation" r:id="rId17" imgW="341376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485" y="3973750"/>
                        <a:ext cx="327183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611681" y="100839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（补充）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" name="Object 2"/>
          <p:cNvGraphicFramePr>
            <a:graphicFrameLocks noChangeAspect="1"/>
          </p:cNvGraphicFramePr>
          <p:nvPr/>
        </p:nvGraphicFramePr>
        <p:xfrm>
          <a:off x="4919362" y="2338628"/>
          <a:ext cx="12858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411200" imgH="4876800" progId="Equation.DSMT4">
                  <p:embed/>
                </p:oleObj>
              </mc:Choice>
              <mc:Fallback>
                <p:oleObj name="Equation" r:id="rId19" imgW="13411200" imgH="487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362" y="2338628"/>
                        <a:ext cx="12858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4083495" y="230410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04800" y="5203825"/>
            <a:ext cx="877951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宋体" panose="02010600030101010101" pitchFamily="2" charset="-122"/>
                <a:cs typeface="+mn-cs"/>
              </a:rPr>
              <a:t>系统对输入      所产生的输出序列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宋体" panose="02010600030101010101" pitchFamily="2" charset="-122"/>
                <a:cs typeface="+mn-cs"/>
              </a:rPr>
              <a:t>依然是具有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YaHe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宋体" panose="02010600030101010101" pitchFamily="2" charset="-122"/>
                <a:cs typeface="+mn-cs"/>
              </a:rPr>
              <a:t>相同频率的复指数序列，只是乘了一个复数常数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" name="对象 4"/>
          <p:cNvGraphicFramePr>
            <a:graphicFrameLocks noChangeAspect="1"/>
          </p:cNvGraphicFramePr>
          <p:nvPr/>
        </p:nvGraphicFramePr>
        <p:xfrm>
          <a:off x="2229400" y="5243071"/>
          <a:ext cx="7000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315200" imgH="5181600" progId="Equation.DSMT4">
                  <p:embed/>
                </p:oleObj>
              </mc:Choice>
              <mc:Fallback>
                <p:oleObj name="Equation" r:id="rId21" imgW="7315200" imgH="5181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9400" y="5243071"/>
                        <a:ext cx="7000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"/>
          <p:cNvGraphicFramePr>
            <a:graphicFrameLocks noChangeAspect="1"/>
          </p:cNvGraphicFramePr>
          <p:nvPr/>
        </p:nvGraphicFramePr>
        <p:xfrm>
          <a:off x="7918450" y="5753374"/>
          <a:ext cx="12255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801600" imgH="5791200" progId="Equation.DSMT4">
                  <p:embed/>
                </p:oleObj>
              </mc:Choice>
              <mc:Fallback>
                <p:oleObj name="Equation" r:id="rId23" imgW="128016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0" y="5753374"/>
                        <a:ext cx="12255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8"/>
          <p:cNvSpPr txBox="1">
            <a:spLocks noChangeArrowheads="1"/>
          </p:cNvSpPr>
          <p:nvPr/>
        </p:nvSpPr>
        <p:spPr bwMode="auto">
          <a:xfrm>
            <a:off x="1349575" y="2490809"/>
            <a:ext cx="1236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8"/>
          <p:cNvSpPr txBox="1">
            <a:spLocks noChangeArrowheads="1"/>
          </p:cNvSpPr>
          <p:nvPr/>
        </p:nvSpPr>
        <p:spPr bwMode="auto">
          <a:xfrm>
            <a:off x="4897588" y="2490809"/>
            <a:ext cx="1238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64038" y="3296251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5765" imgH="203200" progId="Equation.DSMT4">
                  <p:embed/>
                </p:oleObj>
              </mc:Choice>
              <mc:Fallback>
                <p:oleObj name="Equation" r:id="rId2" imgW="405765" imgH="203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038" y="3296251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4"/>
          <p:cNvGraphicFramePr>
            <a:graphicFrameLocks noChangeAspect="1"/>
          </p:cNvGraphicFramePr>
          <p:nvPr/>
        </p:nvGraphicFramePr>
        <p:xfrm>
          <a:off x="879625" y="3146709"/>
          <a:ext cx="17510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0" imgH="5791200" progId="Equation.DSMT4">
                  <p:embed/>
                </p:oleObj>
              </mc:Choice>
              <mc:Fallback>
                <p:oleObj name="Equation" r:id="rId4" imgW="18288000" imgH="5791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25" y="3146709"/>
                        <a:ext cx="17510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154638" y="3207662"/>
          <a:ext cx="28622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870400" imgH="5791200" progId="Equation.DSMT4">
                  <p:embed/>
                </p:oleObj>
              </mc:Choice>
              <mc:Fallback>
                <p:oleObj name="Equation" r:id="rId6" imgW="298704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638" y="3207662"/>
                        <a:ext cx="28622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5"/>
          <p:cNvCxnSpPr>
            <a:cxnSpLocks noChangeShapeType="1"/>
            <a:endCxn id="21" idx="1"/>
          </p:cNvCxnSpPr>
          <p:nvPr/>
        </p:nvCxnSpPr>
        <p:spPr bwMode="auto">
          <a:xfrm>
            <a:off x="1335238" y="1614421"/>
            <a:ext cx="1369518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矩形 6"/>
          <p:cNvSpPr>
            <a:spLocks noChangeArrowheads="1"/>
          </p:cNvSpPr>
          <p:nvPr/>
        </p:nvSpPr>
        <p:spPr bwMode="auto">
          <a:xfrm>
            <a:off x="2704756" y="1258821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2" name="直接箭头连接符 10"/>
          <p:cNvCxnSpPr>
            <a:cxnSpLocks noChangeShapeType="1"/>
            <a:stCxn id="21" idx="3"/>
          </p:cNvCxnSpPr>
          <p:nvPr/>
        </p:nvCxnSpPr>
        <p:spPr bwMode="auto">
          <a:xfrm>
            <a:off x="4840439" y="1618390"/>
            <a:ext cx="1369518" cy="1722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3" name="对象 8"/>
          <p:cNvGraphicFramePr>
            <a:graphicFrameLocks noChangeAspect="1"/>
          </p:cNvGraphicFramePr>
          <p:nvPr/>
        </p:nvGraphicFramePr>
        <p:xfrm>
          <a:off x="1714157" y="1190558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29600" imgH="4876800" progId="Equation.DSMT4">
                  <p:embed/>
                </p:oleObj>
              </mc:Choice>
              <mc:Fallback>
                <p:oleObj name="Equation" r:id="rId8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157" y="1190558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9"/>
          <p:cNvGraphicFramePr>
            <a:graphicFrameLocks noChangeAspect="1"/>
          </p:cNvGraphicFramePr>
          <p:nvPr/>
        </p:nvGraphicFramePr>
        <p:xfrm>
          <a:off x="5143157" y="1165158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24800" imgH="4876800" progId="Equation.DSMT4">
                  <p:embed/>
                </p:oleObj>
              </mc:Choice>
              <mc:Fallback>
                <p:oleObj name="Equation" r:id="rId8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157" y="1165158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0"/>
          <p:cNvGraphicFramePr>
            <a:graphicFrameLocks noChangeAspect="1"/>
          </p:cNvGraphicFramePr>
          <p:nvPr/>
        </p:nvGraphicFramePr>
        <p:xfrm>
          <a:off x="3350869" y="1353277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500" imgH="203200" progId="Equation.DSMT4">
                  <p:embed/>
                </p:oleObj>
              </mc:Choice>
              <mc:Fallback>
                <p:oleObj name="Equation" r:id="rId11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0869" y="1353277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2552357" y="1966469"/>
            <a:ext cx="25166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4"/>
          <p:cNvGraphicFramePr>
            <a:graphicFrameLocks noChangeAspect="1"/>
          </p:cNvGraphicFramePr>
          <p:nvPr/>
        </p:nvGraphicFramePr>
        <p:xfrm>
          <a:off x="830086" y="4379136"/>
          <a:ext cx="1648152" cy="72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983200" imgH="7924800" progId="Equation.DSMT4">
                  <p:embed/>
                </p:oleObj>
              </mc:Choice>
              <mc:Fallback>
                <p:oleObj name="Equation" r:id="rId13" imgW="17983200" imgH="7924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086" y="4379136"/>
                        <a:ext cx="1648152" cy="726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4"/>
          <p:cNvGraphicFramePr>
            <a:graphicFrameLocks noChangeAspect="1"/>
          </p:cNvGraphicFramePr>
          <p:nvPr/>
        </p:nvGraphicFramePr>
        <p:xfrm>
          <a:off x="4092726" y="4287712"/>
          <a:ext cx="265271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956000" imgH="7924800" progId="Equation.DSMT4">
                  <p:embed/>
                </p:oleObj>
              </mc:Choice>
              <mc:Fallback>
                <p:oleObj name="Equation" r:id="rId15" imgW="28956000" imgH="7924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726" y="4287712"/>
                        <a:ext cx="2652712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164038" y="45466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5765" imgH="203200" progId="Equation.DSMT4">
                  <p:embed/>
                </p:oleObj>
              </mc:Choice>
              <mc:Fallback>
                <p:oleObj name="Equation" r:id="rId8" imgW="405765" imgH="2032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038" y="4546600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96850" y="2273300"/>
          <a:ext cx="3095892" cy="933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08800" imgH="9753600" progId="Equation.DSMT4">
                  <p:embed/>
                </p:oleObj>
              </mc:Choice>
              <mc:Fallback>
                <p:oleObj name="Equation" r:id="rId2" imgW="32308800" imgH="975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2273300"/>
                        <a:ext cx="3095892" cy="933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等号 3"/>
          <p:cNvSpPr>
            <a:spLocks noChangeAspect="1"/>
          </p:cNvSpPr>
          <p:nvPr/>
        </p:nvSpPr>
        <p:spPr>
          <a:xfrm rot="5400000" flipV="1">
            <a:off x="1433444" y="2100670"/>
            <a:ext cx="275886" cy="247173"/>
          </a:xfrm>
          <a:prstGeom prst="mathEqual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箭头连接符 5"/>
          <p:cNvCxnSpPr>
            <a:cxnSpLocks noChangeShapeType="1"/>
            <a:endCxn id="6" idx="1"/>
          </p:cNvCxnSpPr>
          <p:nvPr/>
        </p:nvCxnSpPr>
        <p:spPr bwMode="auto">
          <a:xfrm>
            <a:off x="1143000" y="1516063"/>
            <a:ext cx="2133599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6"/>
          <p:cNvSpPr>
            <a:spLocks noChangeArrowheads="1"/>
          </p:cNvSpPr>
          <p:nvPr/>
        </p:nvSpPr>
        <p:spPr bwMode="auto">
          <a:xfrm>
            <a:off x="3276599" y="1160463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箭头连接符 10"/>
          <p:cNvCxnSpPr>
            <a:cxnSpLocks noChangeShapeType="1"/>
            <a:stCxn id="6" idx="3"/>
          </p:cNvCxnSpPr>
          <p:nvPr/>
        </p:nvCxnSpPr>
        <p:spPr bwMode="auto">
          <a:xfrm flipV="1">
            <a:off x="5412282" y="1498600"/>
            <a:ext cx="3350718" cy="2143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" name="对象 8"/>
          <p:cNvGraphicFramePr>
            <a:graphicFrameLocks noChangeAspect="1"/>
          </p:cNvGraphicFramePr>
          <p:nvPr/>
        </p:nvGraphicFramePr>
        <p:xfrm>
          <a:off x="1219200" y="15494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29600" imgH="4876800" progId="Equation.DSMT4">
                  <p:embed/>
                </p:oleObj>
              </mc:Choice>
              <mc:Fallback>
                <p:oleObj name="Equation" r:id="rId4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49400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9"/>
          <p:cNvGraphicFramePr>
            <a:graphicFrameLocks noChangeAspect="1"/>
          </p:cNvGraphicFramePr>
          <p:nvPr/>
        </p:nvGraphicFramePr>
        <p:xfrm>
          <a:off x="6307137" y="1549400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24800" imgH="4876800" progId="Equation.DSMT4">
                  <p:embed/>
                </p:oleObj>
              </mc:Choice>
              <mc:Fallback>
                <p:oleObj name="Equation" r:id="rId4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7" y="1549400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3922712" y="1254919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7500" imgH="203200" progId="Equation.DSMT4">
                  <p:embed/>
                </p:oleObj>
              </mc:Choice>
              <mc:Fallback>
                <p:oleObj name="Equation" r:id="rId7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2" y="1254919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4701845" y="2362200"/>
          <a:ext cx="2103120" cy="905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45600" imgH="9448800" progId="Equation.DSMT4">
                  <p:embed/>
                </p:oleObj>
              </mc:Choice>
              <mc:Fallback>
                <p:oleObj name="Equation" r:id="rId9" imgW="21945600" imgH="9448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845" y="2362200"/>
                        <a:ext cx="2103120" cy="905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6760440" y="2564415"/>
          <a:ext cx="1694088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78400" imgH="5486400" progId="Equation.DSMT4">
                  <p:embed/>
                </p:oleObj>
              </mc:Choice>
              <mc:Fallback>
                <p:oleObj name="Equation" r:id="rId11" imgW="176784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440" y="2564415"/>
                        <a:ext cx="1694088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8360640" y="2630183"/>
          <a:ext cx="554760" cy="40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91200" imgH="4267200" progId="Equation.DSMT4">
                  <p:embed/>
                </p:oleObj>
              </mc:Choice>
              <mc:Fallback>
                <p:oleObj name="Equation" r:id="rId13" imgW="5791200" imgH="426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0640" y="2630183"/>
                        <a:ext cx="554760" cy="408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3086099" y="1872693"/>
            <a:ext cx="25166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等号 24"/>
          <p:cNvSpPr>
            <a:spLocks noChangeAspect="1"/>
          </p:cNvSpPr>
          <p:nvPr/>
        </p:nvSpPr>
        <p:spPr>
          <a:xfrm rot="5400000" flipV="1">
            <a:off x="6567657" y="2176870"/>
            <a:ext cx="275886" cy="247173"/>
          </a:xfrm>
          <a:prstGeom prst="mathEqual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4991100" y="3529013"/>
          <a:ext cx="30099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394400" imgH="9448800" progId="Equation.DSMT4">
                  <p:embed/>
                </p:oleObj>
              </mc:Choice>
              <mc:Fallback>
                <p:oleObj name="Equation" r:id="rId15" imgW="31394400" imgH="9448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529013"/>
                        <a:ext cx="30099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等号 26"/>
          <p:cNvSpPr>
            <a:spLocks noChangeAspect="1"/>
          </p:cNvSpPr>
          <p:nvPr/>
        </p:nvSpPr>
        <p:spPr>
          <a:xfrm rot="5400000" flipV="1">
            <a:off x="6597905" y="3281561"/>
            <a:ext cx="275886" cy="247173"/>
          </a:xfrm>
          <a:prstGeom prst="mathEqual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Object 8"/>
          <p:cNvGraphicFramePr>
            <a:graphicFrameLocks noChangeAspect="1"/>
          </p:cNvGraphicFramePr>
          <p:nvPr/>
        </p:nvGraphicFramePr>
        <p:xfrm>
          <a:off x="4958702" y="5105400"/>
          <a:ext cx="36925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271200" imgH="5486400" progId="Equation.DSMT4">
                  <p:embed/>
                </p:oleObj>
              </mc:Choice>
              <mc:Fallback>
                <p:oleObj name="Equation" r:id="rId17" imgW="36271200" imgH="5486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702" y="5105400"/>
                        <a:ext cx="36925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系统的频率响应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1.4.2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</a:t>
            </a:r>
          </a:p>
        </p:txBody>
      </p:sp>
      <p:cxnSp>
        <p:nvCxnSpPr>
          <p:cNvPr id="20" name="直接箭头连接符 5"/>
          <p:cNvCxnSpPr>
            <a:cxnSpLocks noChangeShapeType="1"/>
            <a:endCxn id="25" idx="1"/>
          </p:cNvCxnSpPr>
          <p:nvPr/>
        </p:nvCxnSpPr>
        <p:spPr bwMode="auto">
          <a:xfrm>
            <a:off x="1600200" y="1516063"/>
            <a:ext cx="1219199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矩形 6"/>
          <p:cNvSpPr>
            <a:spLocks noChangeArrowheads="1"/>
          </p:cNvSpPr>
          <p:nvPr/>
        </p:nvSpPr>
        <p:spPr bwMode="auto">
          <a:xfrm>
            <a:off x="2819399" y="1160463"/>
            <a:ext cx="2135683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接箭头连接符 10"/>
          <p:cNvCxnSpPr>
            <a:cxnSpLocks noChangeShapeType="1"/>
            <a:stCxn id="25" idx="3"/>
          </p:cNvCxnSpPr>
          <p:nvPr/>
        </p:nvCxnSpPr>
        <p:spPr bwMode="auto">
          <a:xfrm flipV="1">
            <a:off x="4955082" y="1516063"/>
            <a:ext cx="1109168" cy="396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8" name="对象 8"/>
          <p:cNvGraphicFramePr>
            <a:graphicFrameLocks noChangeAspect="1"/>
          </p:cNvGraphicFramePr>
          <p:nvPr/>
        </p:nvGraphicFramePr>
        <p:xfrm>
          <a:off x="1600200" y="10668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29600" imgH="4876800" progId="Equation.DSMT4">
                  <p:embed/>
                </p:oleObj>
              </mc:Choice>
              <mc:Fallback>
                <p:oleObj name="Equation" r:id="rId2" imgW="822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730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9"/>
          <p:cNvGraphicFramePr>
            <a:graphicFrameLocks noChangeAspect="1"/>
          </p:cNvGraphicFramePr>
          <p:nvPr/>
        </p:nvGraphicFramePr>
        <p:xfrm>
          <a:off x="5392737" y="1066800"/>
          <a:ext cx="703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24800" imgH="4876800" progId="Equation.DSMT4">
                  <p:embed/>
                </p:oleObj>
              </mc:Choice>
              <mc:Fallback>
                <p:oleObj name="Equation" r:id="rId2" imgW="7924800" imgH="48768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7" y="1066800"/>
                        <a:ext cx="703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0"/>
          <p:cNvGraphicFramePr>
            <a:graphicFrameLocks noChangeAspect="1"/>
          </p:cNvGraphicFramePr>
          <p:nvPr/>
        </p:nvGraphicFramePr>
        <p:xfrm>
          <a:off x="3465512" y="1254919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500" imgH="203200" progId="Equation.DSMT4">
                  <p:embed/>
                </p:oleObj>
              </mc:Choice>
              <mc:Fallback>
                <p:oleObj name="Equation" r:id="rId5" imgW="317500" imgH="203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512" y="1254919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38400" y="1945957"/>
            <a:ext cx="2895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" name="对象 3"/>
          <p:cNvGraphicFramePr>
            <a:graphicFrameLocks noChangeAspect="1"/>
          </p:cNvGraphicFramePr>
          <p:nvPr/>
        </p:nvGraphicFramePr>
        <p:xfrm>
          <a:off x="2408238" y="2667000"/>
          <a:ext cx="28336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346400" imgH="4876800" progId="Equation.DSMT4">
                  <p:embed/>
                </p:oleObj>
              </mc:Choice>
              <mc:Fallback>
                <p:oleObj name="Equation" r:id="rId7" imgW="28346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2667000"/>
                        <a:ext cx="28336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"/>
          <p:cNvGraphicFramePr>
            <a:graphicFrameLocks noChangeAspect="1"/>
          </p:cNvGraphicFramePr>
          <p:nvPr/>
        </p:nvGraphicFramePr>
        <p:xfrm>
          <a:off x="2465388" y="3578225"/>
          <a:ext cx="27924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432000" imgH="4876800" progId="Equation.DSMT4">
                  <p:embed/>
                </p:oleObj>
              </mc:Choice>
              <mc:Fallback>
                <p:oleObj name="Equation" r:id="rId9" imgW="27432000" imgH="487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3578225"/>
                        <a:ext cx="27924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4371975" y="3083878"/>
            <a:ext cx="0" cy="3603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1382395" y="4478337"/>
            <a:ext cx="6455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称为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系统函数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，是单位脉冲响应的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z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变换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376488" y="4876800"/>
          <a:ext cx="30178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175200" imgH="10363200" progId="Equation.DSMT4">
                  <p:embed/>
                </p:oleObj>
              </mc:Choice>
              <mc:Fallback>
                <p:oleObj name="Equation" r:id="rId11" imgW="30175200" imgH="10363200" progId="Equation.DSMT4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76488" y="4876800"/>
                        <a:ext cx="3017837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/>
        </p:nvGraphicFramePr>
        <p:xfrm>
          <a:off x="536575" y="4494034"/>
          <a:ext cx="9112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0" imgH="4876800" progId="Equation.DSMT4">
                  <p:embed/>
                </p:oleObj>
              </mc:Choice>
              <mc:Fallback>
                <p:oleObj name="Equation" r:id="rId13" imgW="91440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4494034"/>
                        <a:ext cx="9112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8"/>
          <p:cNvGraphicFramePr>
            <a:graphicFrameLocks noChangeAspect="1"/>
          </p:cNvGraphicFramePr>
          <p:nvPr/>
        </p:nvGraphicFramePr>
        <p:xfrm>
          <a:off x="6629400" y="3403917"/>
          <a:ext cx="1927860" cy="92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76300" imgH="419100" progId="Equation.DSMT4">
                  <p:embed/>
                </p:oleObj>
              </mc:Choice>
              <mc:Fallback>
                <p:oleObj name="Equation" r:id="rId15" imgW="876300" imgH="4191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403917"/>
                        <a:ext cx="1927860" cy="922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5392737" y="5867400"/>
          <a:ext cx="33337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0784800" imgH="7315200" progId="Equation.DSMT4">
                  <p:embed/>
                </p:oleObj>
              </mc:Choice>
              <mc:Fallback>
                <p:oleObj name="Equation" r:id="rId17" imgW="30784800" imgH="7315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7" y="5867400"/>
                        <a:ext cx="33337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515937" y="5973106"/>
            <a:ext cx="5171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的收敛域包含单位圆，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7200" y="3568044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1.4.3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系统函数与差分方程的关系</a:t>
            </a: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979488" y="965634"/>
            <a:ext cx="6107112" cy="55836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考虑一个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 pitchFamily="18" charset="0"/>
              </a:rPr>
              <a:t>线性常系数差分方程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609850" y="1524000"/>
          <a:ext cx="4001724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757600" imgH="10363200" progId="Equation.DSMT4">
                  <p:embed/>
                </p:oleObj>
              </mc:Choice>
              <mc:Fallback>
                <p:oleObj name="Equation" r:id="rId3" imgW="41757600" imgH="1036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1524000"/>
                        <a:ext cx="4001724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730499" y="3274428"/>
          <a:ext cx="3942936" cy="992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148000" imgH="10363200" progId="Equation.DSMT4">
                  <p:embed/>
                </p:oleObj>
              </mc:Choice>
              <mc:Fallback>
                <p:oleObj name="Equation" r:id="rId5" imgW="41148000" imgH="1036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499" y="3274428"/>
                        <a:ext cx="3942936" cy="992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90600" y="2667000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两边取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变换：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90600" y="449580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43476" y="4572000"/>
          <a:ext cx="3504924" cy="1927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576000" imgH="20116800" progId="Equation.DSMT4">
                  <p:embed/>
                </p:oleObj>
              </mc:Choice>
              <mc:Fallback>
                <p:oleObj name="Equation" r:id="rId7" imgW="36576000" imgH="2011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476" y="4572000"/>
                        <a:ext cx="3504924" cy="1927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252306" y="5191780"/>
            <a:ext cx="10534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(1.48)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828800" y="1225986"/>
          <a:ext cx="4964112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816000" imgH="20116800" progId="Equation.DSMT4">
                  <p:embed/>
                </p:oleObj>
              </mc:Choice>
              <mc:Fallback>
                <p:oleObj name="Equation" r:id="rId2" imgW="51816000" imgH="2011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25986"/>
                        <a:ext cx="4964112" cy="192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914400" y="3696087"/>
            <a:ext cx="7561262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式中    、   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平面上的零点和极点，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为比例常数。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除了比例常数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以外，整个系统函数可以由它的全部零、极点来唯一确定。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52600" y="3746009"/>
          <a:ext cx="35024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5486400" progId="Equation.DSMT4">
                  <p:embed/>
                </p:oleObj>
              </mc:Choice>
              <mc:Fallback>
                <p:oleObj name="Equation" r:id="rId4" imgW="3657600" imgH="5486400" progId="Equation.DSMT4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2600" y="3746009"/>
                        <a:ext cx="350244" cy="525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14600" y="3748793"/>
          <a:ext cx="350244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57600" imgH="5486400" progId="Equation.DSMT4">
                  <p:embed/>
                </p:oleObj>
              </mc:Choice>
              <mc:Fallback>
                <p:oleObj name="Equation" r:id="rId6" imgW="3657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48793"/>
                        <a:ext cx="350244" cy="52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752573" y="1219200"/>
            <a:ext cx="838200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系统的因果性、稳定性条件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2"/>
          <p:cNvGraphicFramePr/>
          <p:nvPr/>
        </p:nvGraphicFramePr>
        <p:xfrm>
          <a:off x="984348" y="1834092"/>
          <a:ext cx="7772400" cy="3605212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9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LTI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系统</a:t>
                      </a:r>
                    </a:p>
                  </a:txBody>
                  <a:tcPr marT="45738" marB="45738" anchor="ctr" anchorCtr="1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时域条件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z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域条件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的收敛域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4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+mn-ea"/>
                        </a:rPr>
                        <a:t>因果</a:t>
                      </a:r>
                    </a:p>
                  </a:txBody>
                  <a:tcPr marT="45738" marB="45738" anchor="ctr" anchorCtr="1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ROC</a:t>
                      </a:r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包含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1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+mn-lt"/>
                          <a:ea typeface="+mn-ea"/>
                        </a:rPr>
                        <a:t>稳定</a:t>
                      </a:r>
                    </a:p>
                  </a:txBody>
                  <a:tcPr marT="45738" marB="45738" anchor="ctr" anchorCtr="1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ROC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包含单位圆</a:t>
                      </a:r>
                    </a:p>
                  </a:txBody>
                  <a:tcPr marT="45738" marB="45738" anchor="ctr" anchorCtr="1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对象 8"/>
          <p:cNvGraphicFramePr>
            <a:graphicFrameLocks noChangeAspect="1"/>
          </p:cNvGraphicFramePr>
          <p:nvPr/>
        </p:nvGraphicFramePr>
        <p:xfrm>
          <a:off x="3114773" y="4267200"/>
          <a:ext cx="1899095" cy="949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2965" imgH="431800" progId="Equation.DSMT4">
                  <p:embed/>
                </p:oleObj>
              </mc:Choice>
              <mc:Fallback>
                <p:oleObj name="Equation" r:id="rId2" imgW="862965" imgH="431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773" y="4267200"/>
                        <a:ext cx="1899095" cy="949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8"/>
          <p:cNvGraphicFramePr>
            <a:graphicFrameLocks noChangeAspect="1"/>
          </p:cNvGraphicFramePr>
          <p:nvPr/>
        </p:nvGraphicFramePr>
        <p:xfrm>
          <a:off x="2962373" y="3276600"/>
          <a:ext cx="2151072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69600" imgH="4876800" progId="Equation.DSMT4">
                  <p:embed/>
                </p:oleObj>
              </mc:Choice>
              <mc:Fallback>
                <p:oleObj name="Equation" r:id="rId4" imgW="23469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373" y="3276600"/>
                        <a:ext cx="2151072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134198" y="3429000"/>
          <a:ext cx="23209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298400" imgH="7010400" progId="Equation.DSMT4">
                  <p:embed/>
                </p:oleObj>
              </mc:Choice>
              <mc:Fallback>
                <p:oleObj name="Equation" r:id="rId6" imgW="25298400" imgH="7010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98" y="3429000"/>
                        <a:ext cx="23209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991573" y="3110059"/>
          <a:ext cx="363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62400" imgH="3048000" progId="Equation.DSMT4">
                  <p:embed/>
                </p:oleObj>
              </mc:Choice>
              <mc:Fallback>
                <p:oleObj name="Equation" r:id="rId8" imgW="3962400" imgH="304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1573" y="3110059"/>
                        <a:ext cx="363538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6"/>
          <p:cNvSpPr>
            <a:spLocks noChangeArrowheads="1"/>
          </p:cNvSpPr>
          <p:nvPr/>
        </p:nvSpPr>
        <p:spPr bwMode="auto">
          <a:xfrm>
            <a:off x="952598" y="5565622"/>
            <a:ext cx="79819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因果稳定的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系统，所有极点均在单位圆内部。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67400" y="1177484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★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557338"/>
            <a:ext cx="8540750" cy="1143000"/>
          </a:xfrm>
        </p:spPr>
        <p:txBody>
          <a:bodyPr/>
          <a:lstStyle/>
          <a:p>
            <a:pPr algn="l" eaLnBrk="1" hangingPunct="1"/>
            <a:r>
              <a:rPr lang="zh-CN" altLang="en-US" sz="2800" b="0">
                <a:solidFill>
                  <a:schemeClr val="tx1"/>
                </a:solidFill>
                <a:ea typeface="黑体" panose="02010609060101010101" pitchFamily="49" charset="-122"/>
              </a:rPr>
              <a:t>因果稳定系统：</a:t>
            </a:r>
            <a:br>
              <a:rPr lang="zh-CN" altLang="en-US" sz="2800" b="0">
                <a:solidFill>
                  <a:schemeClr val="tx1"/>
                </a:solidFill>
                <a:ea typeface="黑体" panose="02010609060101010101" pitchFamily="49" charset="-122"/>
              </a:rPr>
            </a:br>
            <a:endParaRPr lang="zh-CN" altLang="en-US" sz="2000" b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304800" y="2514600"/>
            <a:ext cx="8686800" cy="29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kumimoji="1" lang="en-US" altLang="zh-CN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</a:t>
            </a:r>
            <a:r>
              <a:rPr kumimoji="1" lang="en-US" altLang="zh-CN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Rx- &lt;|Z|≤∞   </a:t>
            </a:r>
            <a:r>
              <a:rPr kumimoji="1" lang="zh-CN" altLang="en-US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 </a:t>
            </a:r>
            <a:r>
              <a:rPr kumimoji="1" lang="en-US" altLang="zh-CN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Rx- &lt;1</a:t>
            </a:r>
            <a:endParaRPr kumimoji="1" lang="en-US" altLang="zh-CN" sz="2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Clr>
                <a:srgbClr val="99CC00"/>
              </a:buClr>
              <a:buSzPct val="85000"/>
              <a:buFont typeface="Wingdings 2" panose="05020102010507070707" pitchFamily="18" charset="2"/>
              <a:buNone/>
            </a:pPr>
            <a:endParaRPr lang="en-US" altLang="zh-CN" sz="1800">
              <a:solidFill>
                <a:srgbClr val="99CC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99CC00"/>
              </a:buClr>
              <a:buSzPct val="85000"/>
              <a:buFont typeface="Wingdings 2" panose="05020102010507070707" pitchFamily="18" charset="2"/>
              <a:buNone/>
            </a:pPr>
            <a:r>
              <a:rPr kumimoji="1" lang="zh-CN" altLang="en-US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因果稳定系统</a:t>
            </a:r>
            <a:r>
              <a:rPr kumimoji="1" lang="en-US" altLang="zh-CN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H(z)</a:t>
            </a:r>
            <a:r>
              <a:rPr kumimoji="1" lang="zh-CN" altLang="en-US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全部极点必在单位圆以内。</a:t>
            </a:r>
          </a:p>
          <a:p>
            <a:pPr algn="ctr">
              <a:spcBef>
                <a:spcPct val="50000"/>
              </a:spcBef>
              <a:buFontTx/>
              <a:buNone/>
            </a:pPr>
            <a:endParaRPr kumimoji="1" lang="en-US" altLang="zh-CN" b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" y="1246187"/>
            <a:ext cx="5867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</a:b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已知线性时不变系统的系统函数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</a:b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338138" y="3035299"/>
            <a:ext cx="8231187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求系统的零点和极点；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求该系统可能的三种单位脉冲响应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，并判断每种情况下系统的因果性和稳定性；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为了使系统能正常工作，应该选择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中哪种系统？求系统的频率响应在频率           和           处的值。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写出差分方程。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2"/>
          <p:cNvGraphicFramePr>
            <a:graphicFrameLocks noChangeAspect="1"/>
          </p:cNvGraphicFramePr>
          <p:nvPr/>
        </p:nvGraphicFramePr>
        <p:xfrm>
          <a:off x="5246688" y="990600"/>
          <a:ext cx="3592512" cy="175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90400" imgH="18288000" progId="Equation.DSMT4">
                  <p:embed/>
                </p:oleObj>
              </mc:Choice>
              <mc:Fallback>
                <p:oleObj name="Equation" r:id="rId2" imgW="37490400" imgH="1828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990600"/>
                        <a:ext cx="3592512" cy="175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2"/>
          <p:cNvGraphicFramePr>
            <a:graphicFrameLocks noChangeAspect="1"/>
          </p:cNvGraphicFramePr>
          <p:nvPr/>
        </p:nvGraphicFramePr>
        <p:xfrm>
          <a:off x="5638800" y="4775708"/>
          <a:ext cx="8763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0" imgH="4267200" progId="Equation.DSMT4">
                  <p:embed/>
                </p:oleObj>
              </mc:Choice>
              <mc:Fallback>
                <p:oleObj name="Equation" r:id="rId4" imgW="9144000" imgH="426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775708"/>
                        <a:ext cx="8763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7017020" y="4860925"/>
          <a:ext cx="9334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53600" imgH="3352800" progId="Equation.DSMT4">
                  <p:embed/>
                </p:oleObj>
              </mc:Choice>
              <mc:Fallback>
                <p:oleObj name="Equation" r:id="rId6" imgW="9753600" imgH="3352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7020" y="4860925"/>
                        <a:ext cx="9334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52400" y="1027767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对象 5"/>
          <p:cNvGraphicFramePr>
            <a:graphicFrameLocks noChangeAspect="1"/>
          </p:cNvGraphicFramePr>
          <p:nvPr/>
        </p:nvGraphicFramePr>
        <p:xfrm>
          <a:off x="1036638" y="380868"/>
          <a:ext cx="7375896" cy="167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0467200" imgH="18288000" progId="Equation.DSMT4">
                  <p:embed/>
                </p:oleObj>
              </mc:Choice>
              <mc:Fallback>
                <p:oleObj name="Equation" r:id="rId2" imgW="80467200" imgH="182880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380868"/>
                        <a:ext cx="7375896" cy="1675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1" name="TextBox 7"/>
          <p:cNvSpPr txBox="1">
            <a:spLocks noChangeArrowheads="1"/>
          </p:cNvSpPr>
          <p:nvPr/>
        </p:nvSpPr>
        <p:spPr bwMode="auto">
          <a:xfrm>
            <a:off x="1119188" y="2538281"/>
            <a:ext cx="18716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零点</a:t>
            </a:r>
          </a:p>
        </p:txBody>
      </p:sp>
      <p:sp>
        <p:nvSpPr>
          <p:cNvPr id="68612" name="TextBox 8"/>
          <p:cNvSpPr txBox="1">
            <a:spLocks noChangeArrowheads="1"/>
          </p:cNvSpPr>
          <p:nvPr/>
        </p:nvSpPr>
        <p:spPr bwMode="auto">
          <a:xfrm>
            <a:off x="1119188" y="3279644"/>
            <a:ext cx="1871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极点</a:t>
            </a:r>
          </a:p>
        </p:txBody>
      </p:sp>
      <p:graphicFrame>
        <p:nvGraphicFramePr>
          <p:cNvPr id="68613" name="对象 9"/>
          <p:cNvGraphicFramePr>
            <a:graphicFrameLocks noChangeAspect="1"/>
          </p:cNvGraphicFramePr>
          <p:nvPr/>
        </p:nvGraphicFramePr>
        <p:xfrm>
          <a:off x="2163763" y="2328731"/>
          <a:ext cx="18700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265" imgH="393700" progId="Equation.DSMT4">
                  <p:embed/>
                </p:oleObj>
              </mc:Choice>
              <mc:Fallback>
                <p:oleObj name="Equation" r:id="rId4" imgW="850265" imgH="3937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328731"/>
                        <a:ext cx="187007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对象 10"/>
          <p:cNvGraphicFramePr>
            <a:graphicFrameLocks noChangeAspect="1"/>
          </p:cNvGraphicFramePr>
          <p:nvPr/>
        </p:nvGraphicFramePr>
        <p:xfrm>
          <a:off x="2163763" y="3127244"/>
          <a:ext cx="21796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89965" imgH="393700" progId="Equation.DSMT4">
                  <p:embed/>
                </p:oleObj>
              </mc:Choice>
              <mc:Fallback>
                <p:oleObj name="Equation" r:id="rId6" imgW="989965" imgH="3937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3127244"/>
                        <a:ext cx="217963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TextBox 8"/>
          <p:cNvSpPr txBox="1">
            <a:spLocks noChangeArrowheads="1"/>
          </p:cNvSpPr>
          <p:nvPr/>
        </p:nvSpPr>
        <p:spPr bwMode="auto">
          <a:xfrm>
            <a:off x="351934" y="880931"/>
            <a:ext cx="655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7569" y="22860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3"/>
          <p:cNvGraphicFramePr>
            <a:graphicFrameLocks noChangeAspect="1"/>
          </p:cNvGraphicFramePr>
          <p:nvPr/>
        </p:nvGraphicFramePr>
        <p:xfrm>
          <a:off x="1007572" y="4343952"/>
          <a:ext cx="7214364" cy="175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5285600" imgH="18288000" progId="Equation.DSMT4">
                  <p:embed/>
                </p:oleObj>
              </mc:Choice>
              <mc:Fallback>
                <p:oleObj name="Equation" r:id="rId8" imgW="75285600" imgH="1828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572" y="4343952"/>
                        <a:ext cx="7214364" cy="175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24783" y="4876800"/>
            <a:ext cx="68278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5" name="对象 4"/>
          <p:cNvGraphicFramePr>
            <a:graphicFrameLocks noChangeAspect="1"/>
          </p:cNvGraphicFramePr>
          <p:nvPr/>
        </p:nvGraphicFramePr>
        <p:xfrm>
          <a:off x="1076325" y="4474790"/>
          <a:ext cx="608171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494400" imgH="9448800" progId="Equation.DSMT4">
                  <p:embed/>
                </p:oleObj>
              </mc:Choice>
              <mc:Fallback>
                <p:oleObj name="Equation" r:id="rId2" imgW="69494400" imgH="9448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4474790"/>
                        <a:ext cx="608171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对象 5"/>
          <p:cNvGraphicFramePr>
            <a:graphicFrameLocks noChangeAspect="1"/>
          </p:cNvGraphicFramePr>
          <p:nvPr/>
        </p:nvGraphicFramePr>
        <p:xfrm>
          <a:off x="2953743" y="3827644"/>
          <a:ext cx="1173312" cy="53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11200" imgH="6096000" progId="Equation.DSMT4">
                  <p:embed/>
                </p:oleObj>
              </mc:Choice>
              <mc:Fallback>
                <p:oleObj name="Equation" r:id="rId4" imgW="13411200" imgH="60960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743" y="3827644"/>
                        <a:ext cx="1173312" cy="53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矩形 6"/>
          <p:cNvSpPr>
            <a:spLocks noChangeArrowheads="1"/>
          </p:cNvSpPr>
          <p:nvPr/>
        </p:nvSpPr>
        <p:spPr bwMode="auto">
          <a:xfrm>
            <a:off x="932750" y="3788697"/>
            <a:ext cx="20168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收敛域为</a:t>
            </a:r>
          </a:p>
        </p:txBody>
      </p:sp>
      <p:sp>
        <p:nvSpPr>
          <p:cNvPr id="69639" name="矩形 10"/>
          <p:cNvSpPr>
            <a:spLocks noChangeArrowheads="1"/>
          </p:cNvSpPr>
          <p:nvPr/>
        </p:nvSpPr>
        <p:spPr bwMode="auto">
          <a:xfrm>
            <a:off x="5408453" y="3733800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非因果、不稳定系统</a:t>
            </a:r>
          </a:p>
        </p:txBody>
      </p:sp>
      <p:graphicFrame>
        <p:nvGraphicFramePr>
          <p:cNvPr id="69640" name="对象 11"/>
          <p:cNvGraphicFramePr>
            <a:graphicFrameLocks noChangeAspect="1"/>
          </p:cNvGraphicFramePr>
          <p:nvPr/>
        </p:nvGraphicFramePr>
        <p:xfrm>
          <a:off x="1120775" y="2722190"/>
          <a:ext cx="52546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045600" imgH="9448800" progId="Equation.DSMT4">
                  <p:embed/>
                </p:oleObj>
              </mc:Choice>
              <mc:Fallback>
                <p:oleObj name="Equation" r:id="rId6" imgW="60045600" imgH="94488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722190"/>
                        <a:ext cx="52546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对象 12"/>
          <p:cNvGraphicFramePr>
            <a:graphicFrameLocks noChangeAspect="1"/>
          </p:cNvGraphicFramePr>
          <p:nvPr/>
        </p:nvGraphicFramePr>
        <p:xfrm>
          <a:off x="2942630" y="2079021"/>
          <a:ext cx="2026836" cy="53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64800" imgH="6096000" progId="Equation.DSMT4">
                  <p:embed/>
                </p:oleObj>
              </mc:Choice>
              <mc:Fallback>
                <p:oleObj name="Equation" r:id="rId8" imgW="23164800" imgH="60960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630" y="2079021"/>
                        <a:ext cx="2026836" cy="53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2" name="矩形 14"/>
          <p:cNvSpPr>
            <a:spLocks noChangeArrowheads="1"/>
          </p:cNvSpPr>
          <p:nvPr/>
        </p:nvSpPr>
        <p:spPr bwMode="auto">
          <a:xfrm>
            <a:off x="5408453" y="2039095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非因果、不稳定系统</a:t>
            </a:r>
          </a:p>
        </p:txBody>
      </p:sp>
      <p:sp>
        <p:nvSpPr>
          <p:cNvPr id="69646" name="矩形 19"/>
          <p:cNvSpPr>
            <a:spLocks noChangeArrowheads="1"/>
          </p:cNvSpPr>
          <p:nvPr/>
        </p:nvSpPr>
        <p:spPr bwMode="auto">
          <a:xfrm>
            <a:off x="963891" y="2028962"/>
            <a:ext cx="20377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收敛域为</a:t>
            </a:r>
          </a:p>
        </p:txBody>
      </p:sp>
      <p:graphicFrame>
        <p:nvGraphicFramePr>
          <p:cNvPr id="18" name="对象 15"/>
          <p:cNvGraphicFramePr>
            <a:graphicFrameLocks noChangeAspect="1"/>
          </p:cNvGraphicFramePr>
          <p:nvPr/>
        </p:nvGraphicFramePr>
        <p:xfrm>
          <a:off x="1160463" y="1002927"/>
          <a:ext cx="46148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730400" imgH="9448800" progId="Equation.DSMT4">
                  <p:embed/>
                </p:oleObj>
              </mc:Choice>
              <mc:Fallback>
                <p:oleObj name="Equation" r:id="rId10" imgW="52730400" imgH="94488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1002927"/>
                        <a:ext cx="46148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6"/>
          <p:cNvGraphicFramePr>
            <a:graphicFrameLocks noChangeAspect="1"/>
          </p:cNvGraphicFramePr>
          <p:nvPr/>
        </p:nvGraphicFramePr>
        <p:xfrm>
          <a:off x="3028950" y="329826"/>
          <a:ext cx="1173312" cy="53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11200" imgH="6096000" progId="Equation.DSMT4">
                  <p:embed/>
                </p:oleObj>
              </mc:Choice>
              <mc:Fallback>
                <p:oleObj name="Equation" r:id="rId12" imgW="13411200" imgH="60960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29826"/>
                        <a:ext cx="1173312" cy="53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8"/>
          <p:cNvSpPr>
            <a:spLocks noChangeArrowheads="1"/>
          </p:cNvSpPr>
          <p:nvPr/>
        </p:nvSpPr>
        <p:spPr bwMode="auto">
          <a:xfrm>
            <a:off x="5520204" y="304800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因果、稳定系统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990600" y="306149"/>
            <a:ext cx="20168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收敛域为</a:t>
            </a: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327025" y="5855414"/>
            <a:ext cx="1871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120775" y="5867400"/>
            <a:ext cx="6278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因果、稳定系统，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收敛域为</a:t>
            </a:r>
          </a:p>
        </p:txBody>
      </p:sp>
      <p:graphicFrame>
        <p:nvGraphicFramePr>
          <p:cNvPr id="25" name="对象 16"/>
          <p:cNvGraphicFramePr>
            <a:graphicFrameLocks noChangeAspect="1"/>
          </p:cNvGraphicFramePr>
          <p:nvPr/>
        </p:nvGraphicFramePr>
        <p:xfrm>
          <a:off x="5950514" y="5877234"/>
          <a:ext cx="1173312" cy="53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11200" imgH="6096000" progId="Equation.DSMT4">
                  <p:embed/>
                </p:oleObj>
              </mc:Choice>
              <mc:Fallback>
                <p:oleObj name="Equation" r:id="rId14" imgW="13411200" imgH="60960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0514" y="5877234"/>
                        <a:ext cx="1173312" cy="53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9" grpId="0"/>
      <p:bldP spid="69642" grpId="0"/>
      <p:bldP spid="20" grpId="0"/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63" name="对象 3"/>
          <p:cNvGraphicFramePr>
            <a:graphicFrameLocks noChangeAspect="1"/>
          </p:cNvGraphicFramePr>
          <p:nvPr/>
        </p:nvGraphicFramePr>
        <p:xfrm>
          <a:off x="1705769" y="47429"/>
          <a:ext cx="39751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762000" progId="Equation.DSMT4">
                  <p:embed/>
                </p:oleObj>
              </mc:Choice>
              <mc:Fallback>
                <p:oleObj name="Equation" r:id="rId2" imgW="2209800" imgH="762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769" y="47429"/>
                        <a:ext cx="39751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对象 3"/>
          <p:cNvGraphicFramePr>
            <a:graphicFrameLocks noChangeAspect="1"/>
          </p:cNvGraphicFramePr>
          <p:nvPr/>
        </p:nvGraphicFramePr>
        <p:xfrm>
          <a:off x="1705769" y="1464371"/>
          <a:ext cx="40671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254400" imgH="18288000" progId="Equation.DSMT4">
                  <p:embed/>
                </p:oleObj>
              </mc:Choice>
              <mc:Fallback>
                <p:oleObj name="Equation" r:id="rId4" imgW="54254400" imgH="1828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769" y="1464371"/>
                        <a:ext cx="40671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92175" y="3438525"/>
            <a:ext cx="70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4"/>
          <p:cNvGraphicFramePr>
            <a:graphicFrameLocks noChangeAspect="1"/>
          </p:cNvGraphicFramePr>
          <p:nvPr/>
        </p:nvGraphicFramePr>
        <p:xfrm>
          <a:off x="1676400" y="5661025"/>
          <a:ext cx="55594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655200" imgH="8229600" progId="Equation.DSMT4">
                  <p:embed/>
                </p:oleObj>
              </mc:Choice>
              <mc:Fallback>
                <p:oleObj name="Equation" r:id="rId6" imgW="60655200" imgH="8229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661025"/>
                        <a:ext cx="55594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47625" y="5776912"/>
            <a:ext cx="1628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差分方程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6"/>
          <p:cNvGraphicFramePr>
            <a:graphicFrameLocks noChangeAspect="1"/>
          </p:cNvGraphicFramePr>
          <p:nvPr/>
        </p:nvGraphicFramePr>
        <p:xfrm>
          <a:off x="2514600" y="2972280"/>
          <a:ext cx="4012560" cy="152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158400" imgH="18288000" progId="Equation.DSMT4">
                  <p:embed/>
                </p:oleObj>
              </mc:Choice>
              <mc:Fallback>
                <p:oleObj name="Equation" r:id="rId8" imgW="48158400" imgH="182880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72280"/>
                        <a:ext cx="4012560" cy="1523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7"/>
          <p:cNvGraphicFramePr>
            <a:graphicFrameLocks noChangeAspect="1"/>
          </p:cNvGraphicFramePr>
          <p:nvPr/>
        </p:nvGraphicFramePr>
        <p:xfrm>
          <a:off x="2260920" y="4623240"/>
          <a:ext cx="497808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740800" imgH="9448800" progId="Equation.DSMT4">
                  <p:embed/>
                </p:oleObj>
              </mc:Choice>
              <mc:Fallback>
                <p:oleObj name="Equation" r:id="rId10" imgW="59740800" imgH="9448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920" y="4623240"/>
                        <a:ext cx="497808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"/>
          <p:cNvGrpSpPr/>
          <p:nvPr/>
        </p:nvGrpSpPr>
        <p:grpSpPr bwMode="auto">
          <a:xfrm>
            <a:off x="709997" y="1371600"/>
            <a:ext cx="7925806" cy="4101994"/>
            <a:chOff x="692150" y="1626077"/>
            <a:chExt cx="7926388" cy="410162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2065338" y="1628775"/>
              <a:ext cx="6553200" cy="4098925"/>
              <a:chOff x="839" y="1026"/>
              <a:chExt cx="4128" cy="2582"/>
            </a:xfrm>
          </p:grpSpPr>
          <p:graphicFrame>
            <p:nvGraphicFramePr>
              <p:cNvPr id="13" name="Object 4"/>
              <p:cNvGraphicFramePr>
                <a:graphicFrameLocks noChangeAspect="1"/>
              </p:cNvGraphicFramePr>
              <p:nvPr/>
            </p:nvGraphicFramePr>
            <p:xfrm>
              <a:off x="2327" y="3163"/>
              <a:ext cx="762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469900" imgH="203200" progId="Equation.3">
                      <p:embed/>
                    </p:oleObj>
                  </mc:Choice>
                  <mc:Fallback>
                    <p:oleObj name="公式" r:id="rId2" imgW="469900" imgH="2032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7" y="3163"/>
                            <a:ext cx="762" cy="2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5"/>
              <p:cNvGraphicFramePr>
                <a:graphicFrameLocks noChangeAspect="1"/>
              </p:cNvGraphicFramePr>
              <p:nvPr/>
            </p:nvGraphicFramePr>
            <p:xfrm>
              <a:off x="3651" y="2946"/>
              <a:ext cx="817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508000" imgH="228600" progId="Equation.3">
                      <p:embed/>
                    </p:oleObj>
                  </mc:Choice>
                  <mc:Fallback>
                    <p:oleObj name="公式" r:id="rId4" imgW="508000" imgH="2286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1" y="2946"/>
                            <a:ext cx="817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6"/>
              <p:cNvGraphicFramePr>
                <a:graphicFrameLocks noChangeAspect="1"/>
              </p:cNvGraphicFramePr>
              <p:nvPr/>
            </p:nvGraphicFramePr>
            <p:xfrm>
              <a:off x="1036" y="2966"/>
              <a:ext cx="61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81000" imgH="203200" progId="Equation.DSMT4">
                      <p:embed/>
                    </p:oleObj>
                  </mc:Choice>
                  <mc:Fallback>
                    <p:oleObj name="Equation" r:id="rId6" imgW="381000" imgH="2032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6" y="2966"/>
                            <a:ext cx="619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7"/>
              <p:cNvGraphicFramePr>
                <a:graphicFrameLocks noChangeAspect="1"/>
              </p:cNvGraphicFramePr>
              <p:nvPr/>
            </p:nvGraphicFramePr>
            <p:xfrm>
              <a:off x="2315" y="1298"/>
              <a:ext cx="541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7924800" imgH="4876800" progId="Equation.DSMT4">
                      <p:embed/>
                    </p:oleObj>
                  </mc:Choice>
                  <mc:Fallback>
                    <p:oleObj name="Equation" r:id="rId8" imgW="7924800" imgH="48768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5" y="1298"/>
                            <a:ext cx="541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Line 8"/>
              <p:cNvSpPr>
                <a:spLocks noChangeShapeType="1"/>
              </p:cNvSpPr>
              <p:nvPr/>
            </p:nvSpPr>
            <p:spPr bwMode="auto">
              <a:xfrm>
                <a:off x="1927" y="3132"/>
                <a:ext cx="149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Line 9"/>
              <p:cNvSpPr>
                <a:spLocks noChangeShapeType="1"/>
              </p:cNvSpPr>
              <p:nvPr/>
            </p:nvSpPr>
            <p:spPr bwMode="auto">
              <a:xfrm flipV="1">
                <a:off x="1519" y="1616"/>
                <a:ext cx="771" cy="127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Line 10"/>
              <p:cNvSpPr>
                <a:spLocks noChangeShapeType="1"/>
              </p:cNvSpPr>
              <p:nvPr/>
            </p:nvSpPr>
            <p:spPr bwMode="auto">
              <a:xfrm>
                <a:off x="2925" y="1616"/>
                <a:ext cx="862" cy="127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 Box 11"/>
              <p:cNvSpPr txBox="1">
                <a:spLocks noChangeArrowheads="1"/>
              </p:cNvSpPr>
              <p:nvPr/>
            </p:nvSpPr>
            <p:spPr bwMode="auto">
              <a:xfrm>
                <a:off x="1973" y="1026"/>
                <a:ext cx="157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单位脉冲响应</a:t>
                </a:r>
              </a:p>
            </p:txBody>
          </p:sp>
          <p:sp>
            <p:nvSpPr>
              <p:cNvPr id="21" name="Text Box 12"/>
              <p:cNvSpPr txBox="1">
                <a:spLocks noChangeArrowheads="1"/>
              </p:cNvSpPr>
              <p:nvPr/>
            </p:nvSpPr>
            <p:spPr bwMode="auto">
              <a:xfrm>
                <a:off x="839" y="3249"/>
                <a:ext cx="136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系统函数</a:t>
                </a: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3606" y="3278"/>
                <a:ext cx="136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频率响应</a:t>
                </a:r>
              </a:p>
            </p:txBody>
          </p:sp>
          <p:sp>
            <p:nvSpPr>
              <p:cNvPr id="23" name="Text Box 14"/>
              <p:cNvSpPr txBox="1">
                <a:spLocks noChangeArrowheads="1"/>
              </p:cNvSpPr>
              <p:nvPr/>
            </p:nvSpPr>
            <p:spPr bwMode="auto">
              <a:xfrm rot="3141172">
                <a:off x="2878" y="2107"/>
                <a:ext cx="1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DTFT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变换对</a:t>
                </a:r>
              </a:p>
            </p:txBody>
          </p:sp>
          <p:sp>
            <p:nvSpPr>
              <p:cNvPr id="24" name="Text Box 15"/>
              <p:cNvSpPr txBox="1">
                <a:spLocks noChangeArrowheads="1"/>
              </p:cNvSpPr>
              <p:nvPr/>
            </p:nvSpPr>
            <p:spPr bwMode="auto">
              <a:xfrm rot="-3411586">
                <a:off x="1239" y="1835"/>
                <a:ext cx="127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变换对</a:t>
                </a:r>
              </a:p>
            </p:txBody>
          </p:sp>
        </p:grpSp>
        <p:sp>
          <p:nvSpPr>
            <p:cNvPr id="7" name="矩形 29"/>
            <p:cNvSpPr>
              <a:spLocks noChangeArrowheads="1"/>
            </p:cNvSpPr>
            <p:nvPr/>
          </p:nvSpPr>
          <p:spPr bwMode="auto">
            <a:xfrm>
              <a:off x="1741470" y="1626077"/>
              <a:ext cx="170431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差分方程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677829" y="2283243"/>
              <a:ext cx="0" cy="22778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692150" y="2854325"/>
            <a:ext cx="1752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76300" imgH="419100" progId="Equation.DSMT4">
                    <p:embed/>
                  </p:oleObj>
                </mc:Choice>
                <mc:Fallback>
                  <p:oleObj name="Equation" r:id="rId10" imgW="876300" imgH="419100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50" y="2854325"/>
                          <a:ext cx="17526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4143831" y="5374276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稳定系统</a:t>
            </a:r>
          </a:p>
        </p:txBody>
      </p:sp>
      <p:sp>
        <p:nvSpPr>
          <p:cNvPr id="26" name="矩形 25"/>
          <p:cNvSpPr/>
          <p:nvPr/>
        </p:nvSpPr>
        <p:spPr>
          <a:xfrm>
            <a:off x="4147860" y="5834341"/>
            <a:ext cx="2786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包含单位圆</a:t>
            </a:r>
          </a:p>
        </p:txBody>
      </p:sp>
      <p:sp>
        <p:nvSpPr>
          <p:cNvPr id="27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14400" y="914400"/>
            <a:ext cx="76962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30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02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用极点和零点表示系统函数的优点之一是，它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02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提供了一种有效的求系统频率响应的几何方法。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282700" y="2735263"/>
          <a:ext cx="6424613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104000" imgH="20116800" progId="Equation.DSMT4">
                  <p:embed/>
                </p:oleObj>
              </mc:Choice>
              <mc:Fallback>
                <p:oleObj name="Equation" r:id="rId2" imgW="70104000" imgH="2011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735263"/>
                        <a:ext cx="6424613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14400" y="2149475"/>
            <a:ext cx="4114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一稳定系统的系统函数 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14400" y="4648200"/>
            <a:ext cx="3581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系统的频率响应为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2106613" y="4875213"/>
          <a:ext cx="4778375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120800" imgH="20116800" progId="Equation.DSMT4">
                  <p:embed/>
                </p:oleObj>
              </mc:Choice>
              <mc:Fallback>
                <p:oleObj name="Equation" r:id="rId4" imgW="52120800" imgH="2011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4875213"/>
                        <a:ext cx="4778375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6765925" y="2514600"/>
            <a:ext cx="0" cy="411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918325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jIm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937125" y="4267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213725" y="4191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318125" y="3200400"/>
            <a:ext cx="2895600" cy="2895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Oval 12"/>
          <p:cNvSpPr>
            <a:spLocks noChangeAspect="1" noChangeArrowheads="1"/>
          </p:cNvSpPr>
          <p:nvPr/>
        </p:nvSpPr>
        <p:spPr bwMode="auto">
          <a:xfrm>
            <a:off x="6689725" y="4572000"/>
            <a:ext cx="144463" cy="144462"/>
          </a:xfrm>
          <a:prstGeom prst="ellipse">
            <a:avLst/>
          </a:prstGeom>
          <a:noFill/>
          <a:ln w="25400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Freeform 13"/>
          <p:cNvSpPr/>
          <p:nvPr/>
        </p:nvSpPr>
        <p:spPr bwMode="auto">
          <a:xfrm>
            <a:off x="7270750" y="3914775"/>
            <a:ext cx="757238" cy="161925"/>
          </a:xfrm>
          <a:custGeom>
            <a:avLst/>
            <a:gdLst>
              <a:gd name="T0" fmla="*/ 2147483646 w 912"/>
              <a:gd name="T1" fmla="*/ 0 h 1152"/>
              <a:gd name="T2" fmla="*/ 2147483646 w 912"/>
              <a:gd name="T3" fmla="*/ 2147483646 h 1152"/>
              <a:gd name="T4" fmla="*/ 0 w 912"/>
              <a:gd name="T5" fmla="*/ 2147483646 h 1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2" h="1152">
                <a:moveTo>
                  <a:pt x="912" y="0"/>
                </a:moveTo>
                <a:lnTo>
                  <a:pt x="483" y="504"/>
                </a:lnTo>
                <a:lnTo>
                  <a:pt x="0" y="1152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 bwMode="auto">
          <a:xfrm>
            <a:off x="7539038" y="4013200"/>
            <a:ext cx="57150" cy="88900"/>
          </a:xfrm>
          <a:custGeom>
            <a:avLst/>
            <a:gdLst>
              <a:gd name="T0" fmla="*/ 0 w 96"/>
              <a:gd name="T1" fmla="*/ 0 h 144"/>
              <a:gd name="T2" fmla="*/ 2147483646 w 96"/>
              <a:gd name="T3" fmla="*/ 2147483646 h 144"/>
              <a:gd name="T4" fmla="*/ 2147483646 w 96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44">
                <a:moveTo>
                  <a:pt x="0" y="0"/>
                </a:moveTo>
                <a:cubicBezTo>
                  <a:pt x="16" y="12"/>
                  <a:pt x="32" y="24"/>
                  <a:pt x="48" y="48"/>
                </a:cubicBezTo>
                <a:cubicBezTo>
                  <a:pt x="64" y="72"/>
                  <a:pt x="80" y="108"/>
                  <a:pt x="96" y="144"/>
                </a:cubicBezTo>
              </a:path>
            </a:pathLst>
          </a:custGeom>
          <a:noFill/>
          <a:ln w="25400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7310438" y="4102100"/>
            <a:ext cx="457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4757394" y="4652962"/>
            <a:ext cx="411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8229600" y="4652962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Re[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22"/>
          <p:cNvSpPr/>
          <p:nvPr/>
        </p:nvSpPr>
        <p:spPr bwMode="auto">
          <a:xfrm>
            <a:off x="6765925" y="3914775"/>
            <a:ext cx="1262063" cy="738187"/>
          </a:xfrm>
          <a:custGeom>
            <a:avLst/>
            <a:gdLst>
              <a:gd name="T0" fmla="*/ 2147483646 w 946"/>
              <a:gd name="T1" fmla="*/ 0 h 215"/>
              <a:gd name="T2" fmla="*/ 0 w 946"/>
              <a:gd name="T3" fmla="*/ 2147483646 h 2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46" h="215">
                <a:moveTo>
                  <a:pt x="946" y="0"/>
                </a:moveTo>
                <a:lnTo>
                  <a:pt x="0" y="215"/>
                </a:lnTo>
              </a:path>
            </a:pathLst>
          </a:cu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23"/>
          <p:cNvSpPr/>
          <p:nvPr/>
        </p:nvSpPr>
        <p:spPr bwMode="auto">
          <a:xfrm>
            <a:off x="6999288" y="4518025"/>
            <a:ext cx="73025" cy="134937"/>
          </a:xfrm>
          <a:custGeom>
            <a:avLst/>
            <a:gdLst>
              <a:gd name="T0" fmla="*/ 0 w 96"/>
              <a:gd name="T1" fmla="*/ 0 h 144"/>
              <a:gd name="T2" fmla="*/ 2147483646 w 96"/>
              <a:gd name="T3" fmla="*/ 2147483646 h 144"/>
              <a:gd name="T4" fmla="*/ 2147483646 w 96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44">
                <a:moveTo>
                  <a:pt x="0" y="0"/>
                </a:moveTo>
                <a:cubicBezTo>
                  <a:pt x="16" y="12"/>
                  <a:pt x="32" y="24"/>
                  <a:pt x="48" y="48"/>
                </a:cubicBezTo>
                <a:cubicBezTo>
                  <a:pt x="64" y="72"/>
                  <a:pt x="80" y="108"/>
                  <a:pt x="96" y="144"/>
                </a:cubicBezTo>
              </a:path>
            </a:pathLst>
          </a:custGeom>
          <a:noFill/>
          <a:ln w="25400">
            <a:solidFill>
              <a:schemeClr val="tx2">
                <a:lumMod val="40000"/>
                <a:lumOff val="6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7092950" y="49403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7089775" y="377348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172107" y="3600450"/>
          <a:ext cx="3921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86400" imgH="4876800" progId="Equation.DSMT4">
                  <p:embed/>
                </p:oleObj>
              </mc:Choice>
              <mc:Fallback>
                <p:oleObj name="Equation" r:id="rId2" imgW="5486400" imgH="48768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107" y="3600450"/>
                        <a:ext cx="3921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Freeform 13"/>
          <p:cNvSpPr/>
          <p:nvPr/>
        </p:nvSpPr>
        <p:spPr bwMode="auto">
          <a:xfrm>
            <a:off x="7270750" y="3914775"/>
            <a:ext cx="757238" cy="1314450"/>
          </a:xfrm>
          <a:custGeom>
            <a:avLst/>
            <a:gdLst>
              <a:gd name="T0" fmla="*/ 2147483646 w 912"/>
              <a:gd name="T1" fmla="*/ 0 h 1152"/>
              <a:gd name="T2" fmla="*/ 2147483646 w 912"/>
              <a:gd name="T3" fmla="*/ 2147483646 h 1152"/>
              <a:gd name="T4" fmla="*/ 0 w 912"/>
              <a:gd name="T5" fmla="*/ 2147483646 h 1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2" h="1152">
                <a:moveTo>
                  <a:pt x="912" y="0"/>
                </a:moveTo>
                <a:lnTo>
                  <a:pt x="483" y="504"/>
                </a:lnTo>
                <a:lnTo>
                  <a:pt x="0" y="1152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>
            <a:off x="7367588" y="5229225"/>
            <a:ext cx="457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reeform 14"/>
          <p:cNvSpPr/>
          <p:nvPr/>
        </p:nvSpPr>
        <p:spPr bwMode="auto">
          <a:xfrm>
            <a:off x="7451725" y="4940299"/>
            <a:ext cx="100013" cy="288925"/>
          </a:xfrm>
          <a:custGeom>
            <a:avLst/>
            <a:gdLst>
              <a:gd name="T0" fmla="*/ 0 w 96"/>
              <a:gd name="T1" fmla="*/ 0 h 144"/>
              <a:gd name="T2" fmla="*/ 2147483646 w 96"/>
              <a:gd name="T3" fmla="*/ 2147483646 h 144"/>
              <a:gd name="T4" fmla="*/ 2147483646 w 96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44">
                <a:moveTo>
                  <a:pt x="0" y="0"/>
                </a:moveTo>
                <a:cubicBezTo>
                  <a:pt x="16" y="12"/>
                  <a:pt x="32" y="24"/>
                  <a:pt x="48" y="48"/>
                </a:cubicBezTo>
                <a:cubicBezTo>
                  <a:pt x="64" y="72"/>
                  <a:pt x="80" y="108"/>
                  <a:pt x="96" y="144"/>
                </a:cubicBezTo>
              </a:path>
            </a:pathLst>
          </a:custGeom>
          <a:noFill/>
          <a:ln w="25400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/>
        </p:nvGraphicFramePr>
        <p:xfrm>
          <a:off x="6354761" y="4155440"/>
          <a:ext cx="3349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5486400" progId="Equation.DSMT4">
                  <p:embed/>
                </p:oleObj>
              </mc:Choice>
              <mc:Fallback>
                <p:oleObj name="Equation" r:id="rId4" imgW="36576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1" y="4155440"/>
                        <a:ext cx="3349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/>
        </p:nvGraphicFramePr>
        <p:xfrm>
          <a:off x="7096125" y="3478372"/>
          <a:ext cx="3635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62400" imgH="5486400" progId="Equation.DSMT4">
                  <p:embed/>
                </p:oleObj>
              </mc:Choice>
              <mc:Fallback>
                <p:oleObj name="Equation" r:id="rId6" imgW="39624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3478372"/>
                        <a:ext cx="3635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"/>
          <p:cNvGraphicFramePr>
            <a:graphicFrameLocks noChangeAspect="1"/>
          </p:cNvGraphicFramePr>
          <p:nvPr/>
        </p:nvGraphicFramePr>
        <p:xfrm>
          <a:off x="7113244" y="5308600"/>
          <a:ext cx="390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67200" imgH="5486400" progId="Equation.DSMT4">
                  <p:embed/>
                </p:oleObj>
              </mc:Choice>
              <mc:Fallback>
                <p:oleObj name="Equation" r:id="rId8" imgW="4267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244" y="5308600"/>
                        <a:ext cx="3905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"/>
          <p:cNvGraphicFramePr>
            <a:graphicFrameLocks noChangeAspect="1"/>
          </p:cNvGraphicFramePr>
          <p:nvPr/>
        </p:nvGraphicFramePr>
        <p:xfrm>
          <a:off x="2250423" y="1046005"/>
          <a:ext cx="106203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82400" imgH="5791200" progId="Equation.DSMT4">
                  <p:embed/>
                </p:oleObj>
              </mc:Choice>
              <mc:Fallback>
                <p:oleObj name="Equation" r:id="rId10" imgW="115824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423" y="1046005"/>
                        <a:ext cx="106203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/>
        </p:nvGraphicFramePr>
        <p:xfrm>
          <a:off x="4395153" y="1620956"/>
          <a:ext cx="10906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87200" imgH="5791200" progId="Equation.DSMT4">
                  <p:embed/>
                </p:oleObj>
              </mc:Choice>
              <mc:Fallback>
                <p:oleObj name="Equation" r:id="rId12" imgW="118872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153" y="1620956"/>
                        <a:ext cx="109061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3332798" y="1038196"/>
            <a:ext cx="54143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可用由零点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指向单位圆上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1000" y="1054597"/>
            <a:ext cx="1869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平面上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63709" y="1643390"/>
            <a:ext cx="42354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的向量     来表示，同样，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1572091" y="1671340"/>
          <a:ext cx="3651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400" imgH="228600" progId="Equation.DSMT4">
                  <p:embed/>
                </p:oleObj>
              </mc:Choice>
              <mc:Fallback>
                <p:oleObj name="Equation" r:id="rId14" imgW="1524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091" y="1671340"/>
                        <a:ext cx="3651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5506561" y="1598633"/>
            <a:ext cx="2951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可用由极点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8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指向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4556" y="2296180"/>
            <a:ext cx="2885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的向量     表示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4" name="Object 5"/>
          <p:cNvGraphicFramePr>
            <a:graphicFrameLocks noChangeAspect="1"/>
          </p:cNvGraphicFramePr>
          <p:nvPr/>
        </p:nvGraphicFramePr>
        <p:xfrm>
          <a:off x="1981200" y="2260927"/>
          <a:ext cx="3857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100" imgH="254000" progId="Equation.DSMT4">
                  <p:embed/>
                </p:oleObj>
              </mc:Choice>
              <mc:Fallback>
                <p:oleObj name="Equation" r:id="rId16" imgW="1651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60927"/>
                        <a:ext cx="38576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2"/>
          <p:cNvGraphicFramePr>
            <a:graphicFrameLocks noChangeAspect="1"/>
          </p:cNvGraphicFramePr>
          <p:nvPr/>
        </p:nvGraphicFramePr>
        <p:xfrm>
          <a:off x="379376" y="2903082"/>
          <a:ext cx="3799224" cy="1843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452800" imgH="20116800" progId="Equation.DSMT4">
                  <p:embed/>
                </p:oleObj>
              </mc:Choice>
              <mc:Fallback>
                <p:oleObj name="Equation" r:id="rId18" imgW="41452800" imgH="20116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376" y="2903082"/>
                        <a:ext cx="3799224" cy="1843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Line 12"/>
          <p:cNvSpPr>
            <a:spLocks noChangeShapeType="1"/>
          </p:cNvSpPr>
          <p:nvPr/>
        </p:nvSpPr>
        <p:spPr bwMode="auto">
          <a:xfrm>
            <a:off x="7848283" y="3428048"/>
            <a:ext cx="22066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" name="Object 2"/>
          <p:cNvGraphicFramePr>
            <a:graphicFrameLocks noChangeAspect="1"/>
          </p:cNvGraphicFramePr>
          <p:nvPr/>
        </p:nvGraphicFramePr>
        <p:xfrm>
          <a:off x="393434" y="4648200"/>
          <a:ext cx="3095892" cy="1927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308800" imgH="20116800" progId="Equation.DSMT4">
                  <p:embed/>
                </p:oleObj>
              </mc:Choice>
              <mc:Fallback>
                <p:oleObj name="Equation" r:id="rId20" imgW="32308800" imgH="2011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34" y="4648200"/>
                        <a:ext cx="3095892" cy="1927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6765925" y="2514600"/>
            <a:ext cx="0" cy="411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918325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jIm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937125" y="4267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213725" y="4191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318125" y="3200400"/>
            <a:ext cx="2895600" cy="2895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Oval 12"/>
          <p:cNvSpPr>
            <a:spLocks noChangeAspect="1" noChangeArrowheads="1"/>
          </p:cNvSpPr>
          <p:nvPr/>
        </p:nvSpPr>
        <p:spPr bwMode="auto">
          <a:xfrm>
            <a:off x="6689725" y="4572000"/>
            <a:ext cx="144463" cy="144462"/>
          </a:xfrm>
          <a:prstGeom prst="ellipse">
            <a:avLst/>
          </a:prstGeom>
          <a:noFill/>
          <a:ln w="25400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4757394" y="4652962"/>
            <a:ext cx="411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8229600" y="4652962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Re[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7092950" y="49403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7089775" y="377348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726998" y="3209925"/>
          <a:ext cx="3921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86400" imgH="4876800" progId="Equation.DSMT4">
                  <p:embed/>
                </p:oleObj>
              </mc:Choice>
              <mc:Fallback>
                <p:oleObj name="Equation" r:id="rId2" imgW="5486400" imgH="48768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6998" y="3209925"/>
                        <a:ext cx="3921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/>
        </p:nvGraphicFramePr>
        <p:xfrm>
          <a:off x="6354761" y="4155440"/>
          <a:ext cx="3349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5486400" progId="Equation.DSMT4">
                  <p:embed/>
                </p:oleObj>
              </mc:Choice>
              <mc:Fallback>
                <p:oleObj name="Equation" r:id="rId2" imgW="36576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1" y="4155440"/>
                        <a:ext cx="3349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/>
        </p:nvGraphicFramePr>
        <p:xfrm>
          <a:off x="7096125" y="3478372"/>
          <a:ext cx="3635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400" imgH="5486400" progId="Equation.DSMT4">
                  <p:embed/>
                </p:oleObj>
              </mc:Choice>
              <mc:Fallback>
                <p:oleObj name="Equation" r:id="rId2" imgW="39624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3478372"/>
                        <a:ext cx="3635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"/>
          <p:cNvGraphicFramePr>
            <a:graphicFrameLocks noChangeAspect="1"/>
          </p:cNvGraphicFramePr>
          <p:nvPr/>
        </p:nvGraphicFramePr>
        <p:xfrm>
          <a:off x="7113244" y="5308600"/>
          <a:ext cx="390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67200" imgH="5486400" progId="Equation.DSMT4">
                  <p:embed/>
                </p:oleObj>
              </mc:Choice>
              <mc:Fallback>
                <p:oleObj name="Equation" r:id="rId2" imgW="4267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244" y="5308600"/>
                        <a:ext cx="3905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"/>
          <p:cNvGraphicFramePr>
            <a:graphicFrameLocks noChangeAspect="1"/>
          </p:cNvGraphicFramePr>
          <p:nvPr/>
        </p:nvGraphicFramePr>
        <p:xfrm>
          <a:off x="1066800" y="891816"/>
          <a:ext cx="3095892" cy="1927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308800" imgH="20116800" progId="Equation.DSMT4">
                  <p:embed/>
                </p:oleObj>
              </mc:Choice>
              <mc:Fallback>
                <p:oleObj name="Equation" r:id="rId7" imgW="32308800" imgH="2011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891816"/>
                        <a:ext cx="3095892" cy="1927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146052" y="2539682"/>
            <a:ext cx="4735512" cy="405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jω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极点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附近时，频响可能出现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峰值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，且极点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越靠近单位圆，峰值越尖锐，当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处在单位圆上时，频响将出现∞。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零点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附近时</a:t>
            </a:r>
            <a:r>
              <a:rPr kumimoji="0" lang="zh-CN" altLang="en-US" sz="24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，频响出现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谷点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，且零点越接近单位圆，谷点越接近零，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零点处于单位圆上时，谷点为零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</a:p>
        </p:txBody>
      </p:sp>
      <p:sp>
        <p:nvSpPr>
          <p:cNvPr id="41" name="Line 25"/>
          <p:cNvSpPr>
            <a:spLocks noChangeShapeType="1"/>
          </p:cNvSpPr>
          <p:nvPr/>
        </p:nvSpPr>
        <p:spPr bwMode="auto">
          <a:xfrm flipH="1">
            <a:off x="7245972" y="3557587"/>
            <a:ext cx="469900" cy="5286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Line 26"/>
          <p:cNvSpPr>
            <a:spLocks noChangeShapeType="1"/>
          </p:cNvSpPr>
          <p:nvPr/>
        </p:nvSpPr>
        <p:spPr bwMode="auto">
          <a:xfrm flipH="1">
            <a:off x="6741147" y="4086225"/>
            <a:ext cx="504825" cy="568325"/>
          </a:xfrm>
          <a:prstGeom prst="line">
            <a:avLst/>
          </a:prstGeom>
          <a:noFill/>
          <a:ln w="38100">
            <a:solidFill>
              <a:srgbClr val="008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Line 25"/>
          <p:cNvSpPr>
            <a:spLocks noChangeShapeType="1"/>
          </p:cNvSpPr>
          <p:nvPr/>
        </p:nvSpPr>
        <p:spPr bwMode="auto">
          <a:xfrm flipH="1">
            <a:off x="7274875" y="3567113"/>
            <a:ext cx="458804" cy="1640523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946" y="3265170"/>
            <a:ext cx="3749040" cy="184023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8153400" cy="1371600"/>
          </a:xfrm>
        </p:spPr>
        <p:txBody>
          <a:bodyPr/>
          <a:lstStyle/>
          <a:p>
            <a:pPr algn="l" eaLnBrk="1" hangingPunct="1"/>
            <a:r>
              <a:rPr lang="zh-CN" altLang="en-US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1.11   </a:t>
            </a:r>
            <a:r>
              <a:rPr lang="zh-CN" altLang="en-US" sz="2800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求一阶因果稳定系统                                的频率响应特性。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410200" y="1061699"/>
          <a:ext cx="26828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56800" imgH="4876800" progId="Equation.DSMT4">
                  <p:embed/>
                </p:oleObj>
              </mc:Choice>
              <mc:Fallback>
                <p:oleObj name="Equation" r:id="rId3" imgW="35356800" imgH="48768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0200" y="1061699"/>
                        <a:ext cx="2682875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62000" y="213360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481137" y="2006600"/>
          <a:ext cx="46910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120800" imgH="9753600" progId="Equation.DSMT4">
                  <p:embed/>
                </p:oleObj>
              </mc:Choice>
              <mc:Fallback>
                <p:oleObj name="Equation" r:id="rId5" imgW="52120800" imgH="975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7" y="2006600"/>
                        <a:ext cx="469106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7073900" y="2439988"/>
          <a:ext cx="8509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448800" imgH="6096000" progId="Equation.DSMT4">
                  <p:embed/>
                </p:oleObj>
              </mc:Choice>
              <mc:Fallback>
                <p:oleObj name="Equation" r:id="rId7" imgW="9448800" imgH="609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2439988"/>
                        <a:ext cx="8509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723700" y="196453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系统稳定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055322" y="2932747"/>
          <a:ext cx="12350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0" imgH="4267200" progId="Equation.DSMT4">
                  <p:embed/>
                </p:oleObj>
              </mc:Choice>
              <mc:Fallback>
                <p:oleObj name="Equation" r:id="rId9" imgW="13716000" imgH="426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322" y="2932747"/>
                        <a:ext cx="12350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582413" y="2856875"/>
            <a:ext cx="21627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              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2727878" y="5050112"/>
            <a:ext cx="293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V="1">
            <a:off x="2016117" y="4542514"/>
            <a:ext cx="956400" cy="735899"/>
          </a:xfrm>
          <a:prstGeom prst="line">
            <a:avLst/>
          </a:prstGeom>
          <a:noFill/>
          <a:ln w="22225">
            <a:solidFill>
              <a:srgbClr val="0000CC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1614" y="3448026"/>
            <a:ext cx="3811598" cy="3346134"/>
            <a:chOff x="47591" y="3100386"/>
            <a:chExt cx="3811598" cy="3346134"/>
          </a:xfrm>
        </p:grpSpPr>
        <p:sp>
          <p:nvSpPr>
            <p:cNvPr id="28" name="Oval 8"/>
            <p:cNvSpPr>
              <a:spLocks noChangeArrowheads="1"/>
            </p:cNvSpPr>
            <p:nvPr/>
          </p:nvSpPr>
          <p:spPr bwMode="auto">
            <a:xfrm>
              <a:off x="676241" y="3786186"/>
              <a:ext cx="2344737" cy="2209800"/>
            </a:xfrm>
            <a:prstGeom prst="ellipse">
              <a:avLst/>
            </a:prstGeom>
            <a:noFill/>
            <a:ln w="9525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1801782" y="3100386"/>
              <a:ext cx="8723" cy="334613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47591" y="4929186"/>
              <a:ext cx="3811598" cy="15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1801783" y="4910160"/>
              <a:ext cx="250826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2539177" y="4910160"/>
              <a:ext cx="592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904545" y="5173389"/>
          <a:ext cx="197856" cy="2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62400" imgH="4267200" progId="Equation.DSMT4">
                  <p:embed/>
                </p:oleObj>
              </mc:Choice>
              <mc:Fallback>
                <p:oleObj name="Equation" r:id="rId11" imgW="3962400" imgH="4267200" progId="Equation.DSMT4">
                  <p:embed/>
                  <p:pic>
                    <p:nvPicPr>
                      <p:cNvPr id="0" name="对象 3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04545" y="5173389"/>
                        <a:ext cx="197856" cy="212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15"/>
          <p:cNvSpPr>
            <a:spLocks noChangeShapeType="1"/>
          </p:cNvSpPr>
          <p:nvPr/>
        </p:nvSpPr>
        <p:spPr bwMode="auto">
          <a:xfrm flipV="1">
            <a:off x="2878207" y="4548549"/>
            <a:ext cx="94310" cy="72224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12"/>
          <p:cNvSpPr>
            <a:spLocks noChangeShapeType="1"/>
          </p:cNvSpPr>
          <p:nvPr/>
        </p:nvSpPr>
        <p:spPr bwMode="auto">
          <a:xfrm>
            <a:off x="3033747" y="4313914"/>
            <a:ext cx="220663" cy="22860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064722" y="334262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jIm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3479562" y="5248549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Re[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5105400"/>
            <a:ext cx="3703320" cy="1623060"/>
          </a:xfrm>
          <a:prstGeom prst="rect">
            <a:avLst/>
          </a:prstGeom>
        </p:spPr>
      </p:pic>
      <p:sp>
        <p:nvSpPr>
          <p:cNvPr id="32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6" grpId="0" animBg="1"/>
      <p:bldP spid="3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" y="1127760"/>
            <a:ext cx="1263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1.12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837267" y="919920"/>
          <a:ext cx="3715272" cy="106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538400" imgH="11582400" progId="Equation.DSMT4">
                  <p:embed/>
                </p:oleObj>
              </mc:Choice>
              <mc:Fallback>
                <p:oleObj name="Equation" r:id="rId2" imgW="40538400" imgH="115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267" y="919920"/>
                        <a:ext cx="3715272" cy="1061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83848" y="2157699"/>
          <a:ext cx="12350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0" imgH="4267200" progId="Equation.DSMT4">
                  <p:embed/>
                </p:oleObj>
              </mc:Choice>
              <mc:Fallback>
                <p:oleObj name="Equation" r:id="rId4" imgW="13716000" imgH="426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848" y="2157699"/>
                        <a:ext cx="12350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506139" y="2081827"/>
            <a:ext cx="5769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              ，求其频率响应特性。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76753" y="1127760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有限长单位脉冲响应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4800" y="289560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476753" y="2705674"/>
          <a:ext cx="59261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5836800" imgH="10668000" progId="Equation.DSMT4">
                  <p:embed/>
                </p:oleObj>
              </mc:Choice>
              <mc:Fallback>
                <p:oleObj name="Equation" r:id="rId6" imgW="65836800" imgH="1066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53" y="2705674"/>
                        <a:ext cx="59261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62000" y="3635949"/>
            <a:ext cx="2024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分析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零点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33516" y="4174134"/>
          <a:ext cx="3813264" cy="452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586400" imgH="5181600" progId="Equation.DSMT4">
                  <p:embed/>
                </p:oleObj>
              </mc:Choice>
              <mc:Fallback>
                <p:oleObj name="Equation" r:id="rId8" imgW="43586400" imgH="5181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16" y="4174134"/>
                        <a:ext cx="3813264" cy="452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16475" y="4142086"/>
          <a:ext cx="3999996" cy="452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00" imgH="5181600" progId="Equation.DSMT4">
                  <p:embed/>
                </p:oleObj>
              </mc:Choice>
              <mc:Fallback>
                <p:oleObj name="Equation" r:id="rId10" imgW="45720000" imgH="51816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4142086"/>
                        <a:ext cx="3999996" cy="452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715132" y="4711687"/>
            <a:ext cx="10262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极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828800" y="4809999"/>
          <a:ext cx="746172" cy="372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34400" imgH="4267200" progId="Equation.DSMT4">
                  <p:embed/>
                </p:oleObj>
              </mc:Choice>
              <mc:Fallback>
                <p:oleObj name="Equation" r:id="rId12" imgW="8534400" imgH="4267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09999"/>
                        <a:ext cx="746172" cy="372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2532295" y="4733799"/>
            <a:ext cx="133241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(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M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-1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阶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)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246563" y="4842195"/>
          <a:ext cx="746172" cy="293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34400" imgH="3352800" progId="Equation.DSMT4">
                  <p:embed/>
                </p:oleObj>
              </mc:Choice>
              <mc:Fallback>
                <p:oleObj name="Equation" r:id="rId14" imgW="8534400" imgH="33528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4842195"/>
                        <a:ext cx="746172" cy="293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4958239" y="4677304"/>
            <a:ext cx="2560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(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零极点相抵消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)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11762" y="5402774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零点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70999" y="5420591"/>
          <a:ext cx="342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148000" imgH="5181600" progId="Equation.DSMT4">
                  <p:embed/>
                </p:oleObj>
              </mc:Choice>
              <mc:Fallback>
                <p:oleObj name="Equation" r:id="rId16" imgW="41148000" imgH="51816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999" y="5420591"/>
                        <a:ext cx="342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844756" y="6029980"/>
            <a:ext cx="10262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极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916194" y="6110143"/>
          <a:ext cx="7826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34400" imgH="4267200" progId="Equation.DSMT4">
                  <p:embed/>
                </p:oleObj>
              </mc:Choice>
              <mc:Fallback>
                <p:oleObj name="Equation" r:id="rId4" imgW="8534400" imgH="42672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94" y="6110143"/>
                        <a:ext cx="7826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619689" y="6033943"/>
            <a:ext cx="131478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(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M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-1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阶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)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" name="Object 5"/>
          <p:cNvGraphicFramePr>
            <a:graphicFrameLocks noChangeAspect="1"/>
          </p:cNvGraphicFramePr>
          <p:nvPr/>
        </p:nvGraphicFramePr>
        <p:xfrm>
          <a:off x="450196" y="5494838"/>
          <a:ext cx="3349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52800" imgH="3048000" progId="Equation.DSMT4">
                  <p:embed/>
                </p:oleObj>
              </mc:Choice>
              <mc:Fallback>
                <p:oleObj name="Equation" r:id="rId18" imgW="3352800" imgH="304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96" y="5494838"/>
                        <a:ext cx="334962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86200"/>
            <a:ext cx="6781800" cy="2390775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90600" y="990600"/>
          <a:ext cx="9604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8000" imgH="4267200" progId="Equation.DSMT4">
                  <p:embed/>
                </p:oleObj>
              </mc:Choice>
              <mc:Fallback>
                <p:oleObj name="Equation" r:id="rId3" imgW="10668000" imgH="426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990600"/>
                        <a:ext cx="9604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439" y="708660"/>
            <a:ext cx="5486400" cy="31775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96000" y="2056616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极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分布图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5410200" y="3829050"/>
          <a:ext cx="773388" cy="42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39200" imgH="4876800" progId="Equation.DSMT4">
                  <p:embed/>
                </p:oleObj>
              </mc:Choice>
              <mc:Fallback>
                <p:oleObj name="Equation" r:id="rId6" imgW="88392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29050"/>
                        <a:ext cx="773388" cy="426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447959" y="3804920"/>
          <a:ext cx="1146096" cy="5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106400" imgH="6705600" progId="Equation.DSMT4">
                  <p:embed/>
                </p:oleObj>
              </mc:Choice>
              <mc:Fallback>
                <p:oleObj name="Equation" r:id="rId8" imgW="13106400" imgH="6705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959" y="3804920"/>
                        <a:ext cx="1146096" cy="586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1.4.4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系统函数的零点与极点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1.4.5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最小相位系统和全通系统</a:t>
            </a:r>
          </a:p>
        </p:txBody>
      </p: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751840" y="1091786"/>
            <a:ext cx="7848600" cy="1651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因果稳定的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LTI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系统，其极点全部在单位圆内。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ct val="0"/>
              </a:spcBef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当系统的全部零点也都在单位圆内，称为最小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ct val="0"/>
              </a:spcBef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相位系统。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35915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lang="zh-CN" altLang="en-US" b="1" dirty="0">
                <a:solidFill>
                  <a:srgbClr val="993300"/>
                </a:solidFill>
                <a:ea typeface="楷体_GB2312" pitchFamily="49" charset="-122"/>
              </a:rPr>
              <a:t>全通系统</a:t>
            </a:r>
            <a:endParaRPr lang="en-US" altLang="zh-CN" b="1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787400" y="4180820"/>
            <a:ext cx="7848600" cy="57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系统的幅频特性满足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宋体" panose="02010600030101010101" pitchFamily="2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116387" y="4213225"/>
          <a:ext cx="15986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0" imgH="6705600" progId="Equation.DSMT4">
                  <p:embed/>
                </p:oleObj>
              </mc:Choice>
              <mc:Fallback>
                <p:oleObj name="Equation" r:id="rId2" imgW="18288000" imgH="6705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7" y="4213225"/>
                        <a:ext cx="15986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62000" y="188913"/>
            <a:ext cx="72374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1.4.6   FIR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系统和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IIR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系统</a:t>
            </a:r>
          </a:p>
        </p:txBody>
      </p:sp>
      <p:sp>
        <p:nvSpPr>
          <p:cNvPr id="4" name="Rectangle 7"/>
          <p:cNvSpPr/>
          <p:nvPr/>
        </p:nvSpPr>
        <p:spPr>
          <a:xfrm>
            <a:off x="457200" y="857447"/>
            <a:ext cx="59431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(finite impulse response 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Rectangle 9"/>
          <p:cNvSpPr/>
          <p:nvPr/>
        </p:nvSpPr>
        <p:spPr>
          <a:xfrm>
            <a:off x="6553200" y="842267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有限长</a:t>
            </a:r>
          </a:p>
        </p:txBody>
      </p:sp>
      <p:sp>
        <p:nvSpPr>
          <p:cNvPr id="6" name="矩形 5"/>
          <p:cNvSpPr/>
          <p:nvPr/>
        </p:nvSpPr>
        <p:spPr>
          <a:xfrm>
            <a:off x="877101" y="1295400"/>
            <a:ext cx="4152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有限长单位脉冲响应系统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381000" y="3367980"/>
            <a:ext cx="632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(infinite impulse response 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9"/>
          <p:cNvSpPr/>
          <p:nvPr/>
        </p:nvSpPr>
        <p:spPr>
          <a:xfrm>
            <a:off x="6477000" y="3352800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无限长</a:t>
            </a:r>
          </a:p>
        </p:txBody>
      </p:sp>
      <p:sp>
        <p:nvSpPr>
          <p:cNvPr id="9" name="矩形 8"/>
          <p:cNvSpPr/>
          <p:nvPr/>
        </p:nvSpPr>
        <p:spPr>
          <a:xfrm>
            <a:off x="799299" y="3789640"/>
            <a:ext cx="4153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无限长单位脉冲响应系统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10"/>
          <p:cNvGraphicFramePr>
            <a:graphicFrameLocks noGrp="1" noChangeAspect="1"/>
          </p:cNvGraphicFramePr>
          <p:nvPr/>
        </p:nvGraphicFramePr>
        <p:xfrm>
          <a:off x="1021807" y="4254688"/>
          <a:ext cx="2316024" cy="159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60800" imgH="20116800" progId="Equation.DSMT4">
                  <p:embed/>
                </p:oleObj>
              </mc:Choice>
              <mc:Fallback>
                <p:oleObj name="Equation" r:id="rId2" imgW="29260800" imgH="2011680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807" y="4254688"/>
                        <a:ext cx="2316024" cy="1592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/>
          <p:nvPr/>
        </p:nvSpPr>
        <p:spPr>
          <a:xfrm>
            <a:off x="4038600" y="4704040"/>
            <a:ext cx="32480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至少有一个    不为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Object 10"/>
          <p:cNvGraphicFramePr>
            <a:graphicFrameLocks noGrp="1" noChangeAspect="1"/>
          </p:cNvGraphicFramePr>
          <p:nvPr/>
        </p:nvGraphicFramePr>
        <p:xfrm>
          <a:off x="5932482" y="4794067"/>
          <a:ext cx="3349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5486400" progId="Equation.DSMT4">
                  <p:embed/>
                </p:oleObj>
              </mc:Choice>
              <mc:Fallback>
                <p:oleObj name="Equation" r:id="rId4" imgW="3657600" imgH="548640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482" y="4794067"/>
                        <a:ext cx="3349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Grp="1" noChangeAspect="1"/>
          </p:cNvGraphicFramePr>
          <p:nvPr/>
        </p:nvGraphicFramePr>
        <p:xfrm>
          <a:off x="1143000" y="1752600"/>
          <a:ext cx="1905624" cy="82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79200" imgH="10363200" progId="Equation.DSMT4">
                  <p:embed/>
                </p:oleObj>
              </mc:Choice>
              <mc:Fallback>
                <p:oleObj name="Equation" r:id="rId6" imgW="24079200" imgH="1036320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1905624" cy="820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Grp="1" noChangeAspect="1"/>
          </p:cNvGraphicFramePr>
          <p:nvPr/>
        </p:nvGraphicFramePr>
        <p:xfrm>
          <a:off x="1120775" y="2590800"/>
          <a:ext cx="2388528" cy="82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175200" imgH="10363200" progId="Equation.DSMT4">
                  <p:embed/>
                </p:oleObj>
              </mc:Choice>
              <mc:Fallback>
                <p:oleObj name="Equation" r:id="rId8" imgW="30175200" imgH="10363200" progId="Equation.DSMT4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590800"/>
                        <a:ext cx="2388528" cy="820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988619" y="5843588"/>
          <a:ext cx="392906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1816000" imgH="10363200" progId="Equation.DSMT4">
                  <p:embed/>
                </p:oleObj>
              </mc:Choice>
              <mc:Fallback>
                <p:oleObj name="Equation" r:id="rId10" imgW="51816000" imgH="10363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619" y="5843588"/>
                        <a:ext cx="392906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586700" y="592324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有反馈项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380064" y="3743980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3875" marR="0" lvl="0" indent="-1793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存在稳定性问题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14698" y="129540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稳定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9" grpId="0"/>
      <p:bldP spid="20" grpId="0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2"/>
          <p:cNvSpPr>
            <a:spLocks noChangeArrowheads="1"/>
          </p:cNvSpPr>
          <p:nvPr/>
        </p:nvSpPr>
        <p:spPr bwMode="auto">
          <a:xfrm>
            <a:off x="762000" y="228600"/>
            <a:ext cx="7239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1.5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本章小结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14400" y="1371600"/>
            <a:ext cx="7705725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离散信号的傅里叶变换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(DTFT)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变换定义、 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变换收敛域、逆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变换、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变换性质、常用序列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线性时不变系统输入、输出的关系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因果稳定系统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系统函数、系统频响及其几何确定方法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6284" y="0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284" y="1828800"/>
            <a:ext cx="46907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1.3 </a:t>
            </a:r>
            <a:r>
              <a:rPr lang="zh-CN" altLang="en-US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试画出如下序列的波形。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76284" y="569916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lvl="0" algn="l" eaLnBrk="1" hangingPunct="1"/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 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试画出</a:t>
            </a:r>
            <a:r>
              <a:rPr lang="zh-CN" altLang="en-US" sz="2800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正弦序列          的波形，它是不是</a:t>
            </a:r>
            <a:endParaRPr lang="en-US" altLang="zh-CN" sz="2800" kern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l" eaLnBrk="1" hangingPunct="1">
              <a:spcBef>
                <a:spcPts val="12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一个周期序列？若是，其周期长度是多少？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对象 1"/>
          <p:cNvGraphicFramePr>
            <a:graphicFrameLocks noChangeAspect="1"/>
          </p:cNvGraphicFramePr>
          <p:nvPr/>
        </p:nvGraphicFramePr>
        <p:xfrm>
          <a:off x="3704063" y="337458"/>
          <a:ext cx="1706138" cy="97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406400" progId="Equation.DSMT4">
                  <p:embed/>
                </p:oleObj>
              </mc:Choice>
              <mc:Fallback>
                <p:oleObj name="Equation" r:id="rId2" imgW="711200" imgH="40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063" y="337458"/>
                        <a:ext cx="1706138" cy="97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"/>
          <p:cNvGraphicFramePr>
            <a:graphicFrameLocks noChangeAspect="1"/>
          </p:cNvGraphicFramePr>
          <p:nvPr/>
        </p:nvGraphicFramePr>
        <p:xfrm>
          <a:off x="1089025" y="2386428"/>
          <a:ext cx="69881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456800" imgH="4876800" progId="Equation.DSMT4">
                  <p:embed/>
                </p:oleObj>
              </mc:Choice>
              <mc:Fallback>
                <p:oleObj name="Equation" r:id="rId4" imgW="734568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2386428"/>
                        <a:ext cx="69881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"/>
          <p:cNvGraphicFramePr>
            <a:graphicFrameLocks noChangeAspect="1"/>
          </p:cNvGraphicFramePr>
          <p:nvPr/>
        </p:nvGraphicFramePr>
        <p:xfrm>
          <a:off x="1103992" y="2921415"/>
          <a:ext cx="25209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17600" imgH="5791200" progId="Equation.DSMT4">
                  <p:embed/>
                </p:oleObj>
              </mc:Choice>
              <mc:Fallback>
                <p:oleObj name="Equation" r:id="rId6" imgW="26517600" imgH="5791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992" y="2921415"/>
                        <a:ext cx="25209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57200" y="2310267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" y="2911929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" y="3581400"/>
            <a:ext cx="80954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1.5 </a:t>
            </a: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求以下序列的</a:t>
            </a:r>
            <a:r>
              <a:rPr lang="en-US" altLang="zh-CN" b="1" dirty="0">
                <a:solidFill>
                  <a:prstClr val="black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变换、收敛域及零极点分布图。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8767" y="4085758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0140" y="4658380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66800" y="4619158"/>
          <a:ext cx="2346624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469600" imgH="5486400" progId="Equation.DSMT4">
                  <p:embed/>
                </p:oleObj>
              </mc:Choice>
              <mc:Fallback>
                <p:oleObj name="Equation" r:id="rId8" imgW="23469600" imgH="54864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619158"/>
                        <a:ext cx="2346624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066800" y="4106395"/>
          <a:ext cx="1401408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20800" imgH="5486400" progId="Equation.DSMT4">
                  <p:embed/>
                </p:oleObj>
              </mc:Choice>
              <mc:Fallback>
                <p:oleObj name="Equation" r:id="rId10" imgW="14020800" imgH="54864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06395"/>
                        <a:ext cx="1401408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443627" y="5257800"/>
            <a:ext cx="4499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求以下函数的逆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变换。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2147" y="5850592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"/>
          <p:cNvGraphicFramePr>
            <a:graphicFrameLocks noChangeAspect="1"/>
          </p:cNvGraphicFramePr>
          <p:nvPr/>
        </p:nvGraphicFramePr>
        <p:xfrm>
          <a:off x="1187450" y="5638800"/>
          <a:ext cx="452755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244000" imgH="10058400" progId="Equation.DSMT4">
                  <p:embed/>
                </p:oleObj>
              </mc:Choice>
              <mc:Fallback>
                <p:oleObj name="Equation" r:id="rId12" imgW="47244000" imgH="10058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638800"/>
                        <a:ext cx="452755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899160" y="1600200"/>
          <a:ext cx="25298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228600" progId="Equation.DSMT4">
                  <p:embed/>
                </p:oleObj>
              </mc:Choice>
              <mc:Fallback>
                <p:oleObj name="Equation" r:id="rId2" imgW="1054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" y="1600200"/>
                        <a:ext cx="25298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04800" y="1600200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lang="en-US" altLang="zh-CN" b="1" kern="0" dirty="0">
                <a:solidFill>
                  <a:prstClr val="black"/>
                </a:solidFill>
              </a:rPr>
              <a:t>(4)</a:t>
            </a:r>
          </a:p>
        </p:txBody>
      </p:sp>
      <p:sp>
        <p:nvSpPr>
          <p:cNvPr id="12" name="矩形 11"/>
          <p:cNvSpPr/>
          <p:nvPr/>
        </p:nvSpPr>
        <p:spPr>
          <a:xfrm>
            <a:off x="304800" y="76200"/>
            <a:ext cx="8229600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1.11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下列系统中，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表示输出，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表示输入，试确定系统是否是线性系统？是否是时不变系统？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09453" y="1066800"/>
          <a:ext cx="248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8000" imgH="4876800" progId="Equation.DSMT4">
                  <p:embed/>
                </p:oleObj>
              </mc:Choice>
              <mc:Fallback>
                <p:oleObj name="Equation" r:id="rId4" imgW="259080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53" y="1066800"/>
                        <a:ext cx="24828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03229" y="2438400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1.12 </a:t>
            </a:r>
            <a:r>
              <a:rPr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求下面两个序列的线性卷积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3"/>
          <p:cNvGraphicFramePr>
            <a:graphicFrameLocks noChangeAspect="1"/>
          </p:cNvGraphicFramePr>
          <p:nvPr/>
        </p:nvGraphicFramePr>
        <p:xfrm>
          <a:off x="5484829" y="2438400"/>
          <a:ext cx="28225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84800" imgH="5486400" progId="Equation.DSMT4">
                  <p:embed/>
                </p:oleObj>
              </mc:Choice>
              <mc:Fallback>
                <p:oleObj name="Equation" r:id="rId6" imgW="307848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29" y="2438400"/>
                        <a:ext cx="28225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"/>
          <p:cNvGraphicFramePr>
            <a:graphicFrameLocks noChangeAspect="1"/>
          </p:cNvGraphicFramePr>
          <p:nvPr/>
        </p:nvGraphicFramePr>
        <p:xfrm>
          <a:off x="909453" y="3351932"/>
          <a:ext cx="5588000" cy="53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40000" imgH="241300" progId="Equation.DSMT4">
                  <p:embed/>
                </p:oleObj>
              </mc:Choice>
              <mc:Fallback>
                <p:oleObj name="Equation" r:id="rId8" imgW="2540000" imgH="2413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53" y="3351932"/>
                        <a:ext cx="5588000" cy="530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437620" y="2829580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不用画卷积过程图</a:t>
            </a:r>
            <a:endParaRPr lang="en-US" altLang="zh-CN" b="1" kern="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94507" y="3351932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(3)</a:t>
            </a:r>
            <a:endParaRPr lang="en-US" altLang="zh-CN" b="1" kern="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4015" y="4311564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1.14 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确定下列系统的因果性与稳定性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52447" y="4648200"/>
            <a:ext cx="3967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备注：是</a:t>
            </a:r>
            <a:r>
              <a:rPr lang="en-US" altLang="zh-CN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LTI</a:t>
            </a:r>
            <a:r>
              <a:rPr lang="zh-CN" altLang="en-US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系统的</a:t>
            </a:r>
            <a:r>
              <a:rPr lang="en-US" altLang="zh-CN" b="1" i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h</a:t>
            </a:r>
            <a:r>
              <a:rPr lang="en-US" altLang="zh-CN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1" kern="0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" name="矩形 24"/>
          <p:cNvSpPr/>
          <p:nvPr/>
        </p:nvSpPr>
        <p:spPr>
          <a:xfrm>
            <a:off x="381000" y="6081713"/>
            <a:ext cx="694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(7) </a:t>
            </a:r>
            <a:endParaRPr lang="zh-CN" altLang="en-US" dirty="0"/>
          </a:p>
        </p:txBody>
      </p:sp>
      <p:graphicFrame>
        <p:nvGraphicFramePr>
          <p:cNvPr id="26" name="对象 8"/>
          <p:cNvGraphicFramePr>
            <a:graphicFrameLocks noChangeAspect="1"/>
          </p:cNvGraphicFramePr>
          <p:nvPr/>
        </p:nvGraphicFramePr>
        <p:xfrm>
          <a:off x="990600" y="6081713"/>
          <a:ext cx="21939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945600" imgH="5486400" progId="Equation.DSMT4">
                  <p:embed/>
                </p:oleObj>
              </mc:Choice>
              <mc:Fallback>
                <p:oleObj name="Equation" r:id="rId10" imgW="219456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6081713"/>
                        <a:ext cx="219392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8"/>
          <p:cNvGraphicFramePr>
            <a:graphicFrameLocks noChangeAspect="1"/>
          </p:cNvGraphicFramePr>
          <p:nvPr/>
        </p:nvGraphicFramePr>
        <p:xfrm>
          <a:off x="4876800" y="6069479"/>
          <a:ext cx="24066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079200" imgH="5486400" progId="Equation.DSMT4">
                  <p:embed/>
                </p:oleObj>
              </mc:Choice>
              <mc:Fallback>
                <p:oleObj name="Equation" r:id="rId12" imgW="240792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069479"/>
                        <a:ext cx="24066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4266415" y="6095163"/>
            <a:ext cx="694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(8) 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81000" y="5275427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lang="en-US" altLang="zh-CN" b="1" kern="0" dirty="0">
                <a:solidFill>
                  <a:prstClr val="black"/>
                </a:solidFill>
              </a:rPr>
              <a:t>(4)</a:t>
            </a:r>
          </a:p>
        </p:txBody>
      </p:sp>
      <p:sp>
        <p:nvSpPr>
          <p:cNvPr id="30" name="矩形 29"/>
          <p:cNvSpPr/>
          <p:nvPr/>
        </p:nvSpPr>
        <p:spPr>
          <a:xfrm>
            <a:off x="4262254" y="5324292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/>
            <a:r>
              <a:rPr lang="en-US" altLang="zh-CN" b="1" kern="0" dirty="0">
                <a:solidFill>
                  <a:prstClr val="black"/>
                </a:solidFill>
              </a:rPr>
              <a:t>(5)</a:t>
            </a:r>
          </a:p>
        </p:txBody>
      </p:sp>
      <p:graphicFrame>
        <p:nvGraphicFramePr>
          <p:cNvPr id="31" name="对象 8"/>
          <p:cNvGraphicFramePr>
            <a:graphicFrameLocks noChangeAspect="1"/>
          </p:cNvGraphicFramePr>
          <p:nvPr/>
        </p:nvGraphicFramePr>
        <p:xfrm>
          <a:off x="1023884" y="5279483"/>
          <a:ext cx="246856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688800" imgH="5486400" progId="Equation.DSMT4">
                  <p:embed/>
                </p:oleObj>
              </mc:Choice>
              <mc:Fallback>
                <p:oleObj name="Equation" r:id="rId14" imgW="24688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884" y="5279483"/>
                        <a:ext cx="2468563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8"/>
          <p:cNvGraphicFramePr>
            <a:graphicFrameLocks noChangeAspect="1"/>
          </p:cNvGraphicFramePr>
          <p:nvPr/>
        </p:nvGraphicFramePr>
        <p:xfrm>
          <a:off x="4876800" y="5076825"/>
          <a:ext cx="22542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555200" imgH="9448800" progId="Equation.DSMT4">
                  <p:embed/>
                </p:oleObj>
              </mc:Choice>
              <mc:Fallback>
                <p:oleObj name="Equation" r:id="rId16" imgW="22555200" imgH="9448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076825"/>
                        <a:ext cx="22542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1732" y="2590800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补充题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1143000" y="2590800"/>
            <a:ext cx="7772400" cy="57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一个具有下列系统函数的线性时不变因果系统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1141413" y="4382631"/>
            <a:ext cx="79263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画出零极点分布图，指出收敛区域；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求系统的单位脉冲响应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写出差分方程；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系统稳定吗？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" name="对象 2"/>
          <p:cNvGraphicFramePr>
            <a:graphicFrameLocks noChangeAspect="1"/>
          </p:cNvGraphicFramePr>
          <p:nvPr/>
        </p:nvGraphicFramePr>
        <p:xfrm>
          <a:off x="2774950" y="3048000"/>
          <a:ext cx="3300413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42400" imgH="14630400" progId="Equation.DSMT4">
                  <p:embed/>
                </p:oleObj>
              </mc:Choice>
              <mc:Fallback>
                <p:oleObj name="Equation" r:id="rId2" imgW="34442400" imgH="14630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3048000"/>
                        <a:ext cx="3300413" cy="140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228600" y="13236"/>
            <a:ext cx="838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一个具有下列系统函数的线性时不变因果系统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2"/>
          <p:cNvGraphicFramePr>
            <a:graphicFrameLocks noChangeAspect="1"/>
          </p:cNvGraphicFramePr>
          <p:nvPr/>
        </p:nvGraphicFramePr>
        <p:xfrm>
          <a:off x="1752600" y="457200"/>
          <a:ext cx="4147820" cy="9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400" imgH="431800" progId="Equation.DSMT4">
                  <p:embed/>
                </p:oleObj>
              </mc:Choice>
              <mc:Fallback>
                <p:oleObj name="Equation" r:id="rId4" imgW="1803400" imgH="431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57200"/>
                        <a:ext cx="4147820" cy="993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"/>
          <p:cNvSpPr>
            <a:spLocks noChangeArrowheads="1"/>
          </p:cNvSpPr>
          <p:nvPr/>
        </p:nvSpPr>
        <p:spPr bwMode="auto">
          <a:xfrm>
            <a:off x="243840" y="1371600"/>
            <a:ext cx="874776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对于什么样的</a:t>
            </a:r>
            <a:r>
              <a:rPr lang="en-US" altLang="zh-CN" i="1" dirty="0"/>
              <a:t>a</a:t>
            </a:r>
            <a:r>
              <a:rPr lang="zh-CN" altLang="en-US" dirty="0"/>
              <a:t>值范围，系统是稳定的？</a:t>
            </a:r>
            <a:endParaRPr lang="en-US" altLang="zh-CN" dirty="0"/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如果 </a:t>
            </a:r>
            <a:r>
              <a:rPr lang="en-US" altLang="zh-CN" dirty="0"/>
              <a:t>0&lt;</a:t>
            </a:r>
            <a:r>
              <a:rPr lang="en-US" altLang="zh-CN" i="1" dirty="0"/>
              <a:t>a</a:t>
            </a:r>
            <a:r>
              <a:rPr lang="en-US" altLang="zh-CN" dirty="0"/>
              <a:t>&lt;1</a:t>
            </a:r>
            <a:r>
              <a:rPr lang="zh-CN" altLang="en-US" dirty="0"/>
              <a:t>，画出零极点分布图，并标出收敛区域。</a:t>
            </a:r>
            <a:endParaRPr lang="en-US" altLang="zh-CN" dirty="0"/>
          </a:p>
        </p:txBody>
      </p:sp>
      <p:graphicFrame>
        <p:nvGraphicFramePr>
          <p:cNvPr id="13" name="对象 2"/>
          <p:cNvGraphicFramePr>
            <a:graphicFrameLocks noChangeAspect="1"/>
          </p:cNvGraphicFramePr>
          <p:nvPr/>
        </p:nvGraphicFramePr>
        <p:xfrm>
          <a:off x="6248400" y="729446"/>
          <a:ext cx="18700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07200" imgH="4572000" progId="Equation.DSMT4">
                  <p:embed/>
                </p:oleObj>
              </mc:Choice>
              <mc:Fallback>
                <p:oleObj name="Equation" r:id="rId6" imgW="19507200" imgH="4572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29446"/>
                        <a:ext cx="18700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M3MDY2Mzc5YmI5YmY5MzUwYmEwMjc2N2I4NTRjODQifQ=="/>
</p:tagLst>
</file>

<file path=ppt/theme/theme1.xml><?xml version="1.0" encoding="utf-8"?>
<a:theme xmlns:a="http://schemas.openxmlformats.org/drawingml/2006/main" name="DSP2024">
  <a:themeElements>
    <a:clrScheme name="自定义 1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BFDFFF"/>
      </a:hlink>
      <a:folHlink>
        <a:srgbClr val="99CCFF"/>
      </a:folHlink>
    </a:clrScheme>
    <a:fontScheme name="Global">
      <a:majorFont>
        <a:latin typeface="Times New Roman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Global">
  <a:themeElements>
    <a:clrScheme name="Global 4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BFDFFF"/>
      </a:hlink>
      <a:folHlink>
        <a:srgbClr val="99CCFF"/>
      </a:folHlink>
    </a:clrScheme>
    <a:fontScheme name="Global">
      <a:majorFont>
        <a:latin typeface="Times New Roman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infor</Template>
  <TotalTime>647</TotalTime>
  <Words>2274</Words>
  <Application>Microsoft Office PowerPoint</Application>
  <PresentationFormat>全屏显示(4:3)</PresentationFormat>
  <Paragraphs>361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MicrosoftYaHei</vt:lpstr>
      <vt:lpstr>等线</vt:lpstr>
      <vt:lpstr>等线 Light</vt:lpstr>
      <vt:lpstr>黑体</vt:lpstr>
      <vt:lpstr>楷体_GB2312</vt:lpstr>
      <vt:lpstr>宋体</vt:lpstr>
      <vt:lpstr>Arial</vt:lpstr>
      <vt:lpstr>Symbol</vt:lpstr>
      <vt:lpstr>Tahoma</vt:lpstr>
      <vt:lpstr>Times New Roman</vt:lpstr>
      <vt:lpstr>Wingdings</vt:lpstr>
      <vt:lpstr>Wingdings 2</vt:lpstr>
      <vt:lpstr>DSP2024</vt:lpstr>
      <vt:lpstr>自定义设计方案</vt:lpstr>
      <vt:lpstr>1_Global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因果稳定系统：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例1.11   求一阶因果稳定系统                                的频率响应特性。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克琴 周</cp:lastModifiedBy>
  <cp:revision>965</cp:revision>
  <cp:lastPrinted>2024-09-28T23:46:00Z</cp:lastPrinted>
  <dcterms:created xsi:type="dcterms:W3CDTF">2113-01-01T00:00:00Z</dcterms:created>
  <dcterms:modified xsi:type="dcterms:W3CDTF">2025-03-20T04:21:25Z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766EE4752F624D6589B8A91CDB51E2AC_12</vt:lpwstr>
  </property>
  <property fmtid="{D5CDD505-2E9C-101B-9397-08002B2CF9AE}" pid="4" name="KSOProductBuildVer">
    <vt:lpwstr>2052-12.1.0.16388</vt:lpwstr>
  </property>
</Properties>
</file>