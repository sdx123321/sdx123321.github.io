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9" r:id="rId1"/>
    <p:sldMasterId id="2147483899" r:id="rId2"/>
  </p:sldMasterIdLst>
  <p:notesMasterIdLst>
    <p:notesMasterId r:id="rId32"/>
  </p:notesMasterIdLst>
  <p:handoutMasterIdLst>
    <p:handoutMasterId r:id="rId33"/>
  </p:handoutMasterIdLst>
  <p:sldIdLst>
    <p:sldId id="256" r:id="rId3"/>
    <p:sldId id="400" r:id="rId4"/>
    <p:sldId id="401" r:id="rId5"/>
    <p:sldId id="399" r:id="rId6"/>
    <p:sldId id="349" r:id="rId7"/>
    <p:sldId id="428" r:id="rId8"/>
    <p:sldId id="429" r:id="rId9"/>
    <p:sldId id="383" r:id="rId10"/>
    <p:sldId id="403" r:id="rId11"/>
    <p:sldId id="405" r:id="rId12"/>
    <p:sldId id="404" r:id="rId13"/>
    <p:sldId id="406" r:id="rId14"/>
    <p:sldId id="407" r:id="rId15"/>
    <p:sldId id="409" r:id="rId16"/>
    <p:sldId id="423" r:id="rId17"/>
    <p:sldId id="391" r:id="rId18"/>
    <p:sldId id="411" r:id="rId19"/>
    <p:sldId id="414" r:id="rId20"/>
    <p:sldId id="427" r:id="rId21"/>
    <p:sldId id="412" r:id="rId22"/>
    <p:sldId id="416" r:id="rId23"/>
    <p:sldId id="415" r:id="rId24"/>
    <p:sldId id="417" r:id="rId25"/>
    <p:sldId id="418" r:id="rId26"/>
    <p:sldId id="377" r:id="rId27"/>
    <p:sldId id="419" r:id="rId28"/>
    <p:sldId id="421" r:id="rId29"/>
    <p:sldId id="422" r:id="rId30"/>
    <p:sldId id="346" r:id="rId31"/>
  </p:sldIdLst>
  <p:sldSz cx="9144000" cy="6858000" type="screen4x3"/>
  <p:notesSz cx="6858000" cy="9144000"/>
  <p:defaultTextStyle>
    <a:defPPr>
      <a:defRPr lang="zh-TW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CC"/>
    <a:srgbClr val="FF3300"/>
    <a:srgbClr val="00CC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81" autoAdjust="0"/>
    <p:restoredTop sz="94658" autoAdjust="0"/>
  </p:normalViewPr>
  <p:slideViewPr>
    <p:cSldViewPr>
      <p:cViewPr varScale="1">
        <p:scale>
          <a:sx n="82" d="100"/>
          <a:sy n="82" d="100"/>
        </p:scale>
        <p:origin x="132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9114"/>
    </p:cViewPr>
  </p:sorterViewPr>
  <p:notesViewPr>
    <p:cSldViewPr>
      <p:cViewPr varScale="1">
        <p:scale>
          <a:sx n="56" d="100"/>
          <a:sy n="56" d="100"/>
        </p:scale>
        <p:origin x="-1242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Arial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42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Arial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Arial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42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Arial" panose="020B0604020202020204" pitchFamily="34" charset="0"/>
                <a:ea typeface="PMingLiU" panose="02020500000000000000" pitchFamily="18" charset="-120"/>
              </a:defRPr>
            </a:lvl1pPr>
          </a:lstStyle>
          <a:p>
            <a:fld id="{056B376E-F8D8-461B-AD60-7A19F46C54D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Arial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131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Arial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1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31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Arial" charset="0"/>
                <a:ea typeface="PMingLiU" pitchFamily="18" charset="-12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1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Arial" panose="020B0604020202020204" pitchFamily="34" charset="0"/>
                <a:ea typeface="PMingLiU" panose="02020500000000000000" pitchFamily="18" charset="-120"/>
              </a:defRPr>
            </a:lvl1pPr>
          </a:lstStyle>
          <a:p>
            <a:fld id="{AF1A803D-D698-46AD-AF67-D7ECD8A4F95C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PMingLiU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PMingLiU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PMingLiU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PMingLiU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PMingLiU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2F07315-C387-40C8-BC61-E7C848644E48}" type="slidenum">
              <a:rPr lang="zh-CN" altLang="en-US" sz="1200">
                <a:latin typeface="Arial" panose="020B0604020202020204" pitchFamily="34" charset="0"/>
                <a:ea typeface="PMingLiU" panose="02020500000000000000" pitchFamily="18" charset="-120"/>
              </a:rPr>
              <a:pPr/>
              <a:t>8</a:t>
            </a:fld>
            <a:endParaRPr lang="en-US" altLang="zh-CN" sz="1200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E2F07315-C387-40C8-BC61-E7C848644E48}" type="slidenum">
              <a:rPr lang="zh-CN" altLang="en-US" sz="1200">
                <a:latin typeface="Arial" panose="020B0604020202020204" pitchFamily="34" charset="0"/>
                <a:ea typeface="PMingLiU" panose="02020500000000000000" pitchFamily="18" charset="-120"/>
              </a:rPr>
              <a:pPr/>
              <a:t>9</a:t>
            </a:fld>
            <a:endParaRPr lang="en-US" altLang="zh-CN" sz="1200">
              <a:latin typeface="Arial" panose="020B0604020202020204" pitchFamily="34" charset="0"/>
              <a:ea typeface="PMingLiU" panose="02020500000000000000" pitchFamily="18" charset="-12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17091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1A803D-D698-46AD-AF67-D7ECD8A4F95C}" type="slidenum">
              <a:rPr lang="zh-CN" altLang="en-US" smtClean="0"/>
              <a:pPr/>
              <a:t>18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04944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6F753C7-4A3B-43D9-B871-9C1362FD0B0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10783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BE2A29-F4F9-405E-817A-1D02132F0BD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181460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F840C6B-DE84-497A-951E-8E7F6C03EAE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536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5B846D-5FE5-4B41-900C-90CCD3DC2AC2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2829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AEEC329-6202-4A9E-9BDE-BACE037CDD7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4579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0EDB361-21E9-4AF8-8F24-6829C2CAE919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533031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B4250C-720C-470A-914C-9A7C63D41D7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1637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E7485D2-41B6-4AA5-9255-6B4C2762976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013978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0EF591C-927D-4051-950D-C4432282279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57916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7C6CF46-032D-42B8-BE69-C90E7096FAA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461530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432FD5-3FA2-486B-9B99-0F2F97952A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881542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-19050"/>
            <a:ext cx="9144000" cy="6877050"/>
            <a:chOff x="0" y="-12"/>
            <a:chExt cx="5760" cy="4332"/>
          </a:xfrm>
        </p:grpSpPr>
        <p:sp>
          <p:nvSpPr>
            <p:cNvPr id="5" name="Rectangle 3"/>
            <p:cNvSpPr>
              <a:spLocks noChangeArrowheads="1"/>
            </p:cNvSpPr>
            <p:nvPr/>
          </p:nvSpPr>
          <p:spPr bwMode="hidden">
            <a:xfrm>
              <a:off x="1104" y="1008"/>
              <a:ext cx="4656" cy="3312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50000">
                  <a:schemeClr val="bg1"/>
                </a:gs>
                <a:gs pos="100000">
                  <a:schemeClr val="bg2"/>
                </a:gs>
              </a:gsLst>
              <a:lin ang="27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grpSp>
          <p:nvGrpSpPr>
            <p:cNvPr id="6" name="Group 4"/>
            <p:cNvGrpSpPr>
              <a:grpSpLocks/>
            </p:cNvGrpSpPr>
            <p:nvPr/>
          </p:nvGrpSpPr>
          <p:grpSpPr bwMode="auto">
            <a:xfrm>
              <a:off x="0" y="-12"/>
              <a:ext cx="5760" cy="1045"/>
              <a:chOff x="0" y="-9"/>
              <a:chExt cx="5760" cy="1045"/>
            </a:xfrm>
          </p:grpSpPr>
          <p:sp>
            <p:nvSpPr>
              <p:cNvPr id="8" name="Freeform 5"/>
              <p:cNvSpPr>
                <a:spLocks/>
              </p:cNvSpPr>
              <p:nvPr/>
            </p:nvSpPr>
            <p:spPr bwMode="ltGray">
              <a:xfrm>
                <a:off x="0" y="4"/>
                <a:ext cx="5760" cy="1032"/>
              </a:xfrm>
              <a:custGeom>
                <a:avLst/>
                <a:gdLst>
                  <a:gd name="T0" fmla="*/ 9661 w 4848"/>
                  <a:gd name="T1" fmla="*/ 14068 h 432"/>
                  <a:gd name="T2" fmla="*/ 0 w 4848"/>
                  <a:gd name="T3" fmla="*/ 14068 h 432"/>
                  <a:gd name="T4" fmla="*/ 0 w 4848"/>
                  <a:gd name="T5" fmla="*/ 0 h 432"/>
                  <a:gd name="T6" fmla="*/ 9661 w 4848"/>
                  <a:gd name="T7" fmla="*/ 0 h 432"/>
                  <a:gd name="T8" fmla="*/ 9661 w 4848"/>
                  <a:gd name="T9" fmla="*/ 14068 h 4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48" h="432">
                    <a:moveTo>
                      <a:pt x="4848" y="432"/>
                    </a:moveTo>
                    <a:lnTo>
                      <a:pt x="0" y="432"/>
                    </a:lnTo>
                    <a:lnTo>
                      <a:pt x="0" y="0"/>
                    </a:lnTo>
                    <a:lnTo>
                      <a:pt x="4848" y="0"/>
                    </a:lnTo>
                    <a:lnTo>
                      <a:pt x="4848" y="432"/>
                    </a:lnTo>
                    <a:close/>
                  </a:path>
                </a:pathLst>
              </a:custGeom>
              <a:solidFill>
                <a:schemeClr val="hlink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bg2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pSp>
            <p:nvGrpSpPr>
              <p:cNvPr id="9" name="Group 6"/>
              <p:cNvGrpSpPr>
                <a:grpSpLocks/>
              </p:cNvGrpSpPr>
              <p:nvPr/>
            </p:nvGrpSpPr>
            <p:grpSpPr bwMode="auto">
              <a:xfrm>
                <a:off x="333" y="-9"/>
                <a:ext cx="5176" cy="1044"/>
                <a:chOff x="333" y="-9"/>
                <a:chExt cx="5176" cy="1044"/>
              </a:xfrm>
            </p:grpSpPr>
            <p:sp>
              <p:nvSpPr>
                <p:cNvPr id="38" name="Freeform 7"/>
                <p:cNvSpPr>
                  <a:spLocks/>
                </p:cNvSpPr>
                <p:nvPr/>
              </p:nvSpPr>
              <p:spPr bwMode="ltGray">
                <a:xfrm>
                  <a:off x="3230" y="949"/>
                  <a:ext cx="17" cy="20"/>
                </a:xfrm>
                <a:custGeom>
                  <a:avLst/>
                  <a:gdLst>
                    <a:gd name="T0" fmla="*/ 9 w 15"/>
                    <a:gd name="T1" fmla="*/ 7 h 23"/>
                    <a:gd name="T2" fmla="*/ 25 w 15"/>
                    <a:gd name="T3" fmla="*/ 3 h 23"/>
                    <a:gd name="T4" fmla="*/ 22 w 15"/>
                    <a:gd name="T5" fmla="*/ 10 h 23"/>
                    <a:gd name="T6" fmla="*/ 9 w 15"/>
                    <a:gd name="T7" fmla="*/ 7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15" h="23">
                      <a:moveTo>
                        <a:pt x="5" y="11"/>
                      </a:moveTo>
                      <a:cubicBezTo>
                        <a:pt x="2" y="1"/>
                        <a:pt x="7" y="0"/>
                        <a:pt x="15" y="5"/>
                      </a:cubicBezTo>
                      <a:cubicBezTo>
                        <a:pt x="14" y="9"/>
                        <a:pt x="15" y="13"/>
                        <a:pt x="13" y="17"/>
                      </a:cubicBezTo>
                      <a:cubicBezTo>
                        <a:pt x="9" y="23"/>
                        <a:pt x="0" y="16"/>
                        <a:pt x="5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9" name="Freeform 8"/>
                <p:cNvSpPr>
                  <a:spLocks/>
                </p:cNvSpPr>
                <p:nvPr/>
              </p:nvSpPr>
              <p:spPr bwMode="ltGray">
                <a:xfrm>
                  <a:off x="3406" y="1015"/>
                  <a:ext cx="21" cy="20"/>
                </a:xfrm>
                <a:custGeom>
                  <a:avLst/>
                  <a:gdLst>
                    <a:gd name="T0" fmla="*/ 3 w 20"/>
                    <a:gd name="T1" fmla="*/ 8 h 23"/>
                    <a:gd name="T2" fmla="*/ 15 w 20"/>
                    <a:gd name="T3" fmla="*/ 3 h 23"/>
                    <a:gd name="T4" fmla="*/ 7 w 20"/>
                    <a:gd name="T5" fmla="*/ 11 h 23"/>
                    <a:gd name="T6" fmla="*/ 3 w 20"/>
                    <a:gd name="T7" fmla="*/ 8 h 23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23">
                      <a:moveTo>
                        <a:pt x="3" y="13"/>
                      </a:moveTo>
                      <a:cubicBezTo>
                        <a:pt x="0" y="5"/>
                        <a:pt x="2" y="0"/>
                        <a:pt x="11" y="3"/>
                      </a:cubicBezTo>
                      <a:cubicBezTo>
                        <a:pt x="16" y="10"/>
                        <a:pt x="20" y="23"/>
                        <a:pt x="7" y="19"/>
                      </a:cubicBezTo>
                      <a:cubicBezTo>
                        <a:pt x="6" y="17"/>
                        <a:pt x="3" y="13"/>
                        <a:pt x="3" y="1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0" name="Freeform 9"/>
                <p:cNvSpPr>
                  <a:spLocks/>
                </p:cNvSpPr>
                <p:nvPr/>
              </p:nvSpPr>
              <p:spPr bwMode="ltGray">
                <a:xfrm>
                  <a:off x="2909" y="908"/>
                  <a:ext cx="31" cy="34"/>
                </a:xfrm>
                <a:custGeom>
                  <a:avLst/>
                  <a:gdLst>
                    <a:gd name="T0" fmla="*/ 20 w 30"/>
                    <a:gd name="T1" fmla="*/ 15 h 42"/>
                    <a:gd name="T2" fmla="*/ 8 w 30"/>
                    <a:gd name="T3" fmla="*/ 9 h 42"/>
                    <a:gd name="T4" fmla="*/ 0 w 30"/>
                    <a:gd name="T5" fmla="*/ 4 h 42"/>
                    <a:gd name="T6" fmla="*/ 20 w 30"/>
                    <a:gd name="T7" fmla="*/ 2 h 42"/>
                    <a:gd name="T8" fmla="*/ 34 w 30"/>
                    <a:gd name="T9" fmla="*/ 10 h 42"/>
                    <a:gd name="T10" fmla="*/ 32 w 30"/>
                    <a:gd name="T11" fmla="*/ 13 h 42"/>
                    <a:gd name="T12" fmla="*/ 20 w 30"/>
                    <a:gd name="T13" fmla="*/ 15 h 42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30" h="42">
                      <a:moveTo>
                        <a:pt x="16" y="33"/>
                      </a:moveTo>
                      <a:cubicBezTo>
                        <a:pt x="3" y="20"/>
                        <a:pt x="15" y="34"/>
                        <a:pt x="8" y="21"/>
                      </a:cubicBezTo>
                      <a:cubicBezTo>
                        <a:pt x="6" y="17"/>
                        <a:pt x="0" y="9"/>
                        <a:pt x="0" y="9"/>
                      </a:cubicBezTo>
                      <a:cubicBezTo>
                        <a:pt x="5" y="1"/>
                        <a:pt x="7" y="0"/>
                        <a:pt x="16" y="3"/>
                      </a:cubicBezTo>
                      <a:cubicBezTo>
                        <a:pt x="25" y="16"/>
                        <a:pt x="10" y="16"/>
                        <a:pt x="30" y="23"/>
                      </a:cubicBezTo>
                      <a:cubicBezTo>
                        <a:pt x="29" y="26"/>
                        <a:pt x="30" y="29"/>
                        <a:pt x="28" y="31"/>
                      </a:cubicBezTo>
                      <a:cubicBezTo>
                        <a:pt x="15" y="42"/>
                        <a:pt x="16" y="38"/>
                        <a:pt x="16" y="33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1" name="Freeform 10"/>
                <p:cNvSpPr>
                  <a:spLocks/>
                </p:cNvSpPr>
                <p:nvPr/>
              </p:nvSpPr>
              <p:spPr bwMode="ltGray">
                <a:xfrm>
                  <a:off x="2551" y="940"/>
                  <a:ext cx="25" cy="12"/>
                </a:xfrm>
                <a:custGeom>
                  <a:avLst/>
                  <a:gdLst>
                    <a:gd name="T0" fmla="*/ 15 w 25"/>
                    <a:gd name="T1" fmla="*/ 5 h 16"/>
                    <a:gd name="T2" fmla="*/ 3 w 25"/>
                    <a:gd name="T3" fmla="*/ 3 h 16"/>
                    <a:gd name="T4" fmla="*/ 15 w 25"/>
                    <a:gd name="T5" fmla="*/ 0 h 16"/>
                    <a:gd name="T6" fmla="*/ 15 w 25"/>
                    <a:gd name="T7" fmla="*/ 5 h 16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5" h="16">
                      <a:moveTo>
                        <a:pt x="15" y="16"/>
                      </a:moveTo>
                      <a:cubicBezTo>
                        <a:pt x="10" y="15"/>
                        <a:pt x="0" y="12"/>
                        <a:pt x="3" y="8"/>
                      </a:cubicBezTo>
                      <a:cubicBezTo>
                        <a:pt x="6" y="4"/>
                        <a:pt x="15" y="0"/>
                        <a:pt x="15" y="0"/>
                      </a:cubicBezTo>
                      <a:cubicBezTo>
                        <a:pt x="17" y="3"/>
                        <a:pt x="25" y="16"/>
                        <a:pt x="15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2" name="Freeform 11"/>
                <p:cNvSpPr>
                  <a:spLocks/>
                </p:cNvSpPr>
                <p:nvPr/>
              </p:nvSpPr>
              <p:spPr bwMode="ltGray">
                <a:xfrm>
                  <a:off x="2443" y="954"/>
                  <a:ext cx="65" cy="39"/>
                </a:xfrm>
                <a:custGeom>
                  <a:avLst/>
                  <a:gdLst>
                    <a:gd name="T0" fmla="*/ 14 w 65"/>
                    <a:gd name="T1" fmla="*/ 12 h 46"/>
                    <a:gd name="T2" fmla="*/ 30 w 65"/>
                    <a:gd name="T3" fmla="*/ 3 h 46"/>
                    <a:gd name="T4" fmla="*/ 42 w 65"/>
                    <a:gd name="T5" fmla="*/ 0 h 46"/>
                    <a:gd name="T6" fmla="*/ 58 w 65"/>
                    <a:gd name="T7" fmla="*/ 6 h 46"/>
                    <a:gd name="T8" fmla="*/ 32 w 65"/>
                    <a:gd name="T9" fmla="*/ 14 h 46"/>
                    <a:gd name="T10" fmla="*/ 12 w 65"/>
                    <a:gd name="T11" fmla="*/ 24 h 46"/>
                    <a:gd name="T12" fmla="*/ 8 w 65"/>
                    <a:gd name="T13" fmla="*/ 10 h 46"/>
                    <a:gd name="T14" fmla="*/ 12 w 65"/>
                    <a:gd name="T15" fmla="*/ 7 h 46"/>
                    <a:gd name="T16" fmla="*/ 14 w 65"/>
                    <a:gd name="T17" fmla="*/ 12 h 4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65" h="46">
                      <a:moveTo>
                        <a:pt x="14" y="24"/>
                      </a:moveTo>
                      <a:cubicBezTo>
                        <a:pt x="18" y="13"/>
                        <a:pt x="16" y="9"/>
                        <a:pt x="30" y="4"/>
                      </a:cubicBezTo>
                      <a:cubicBezTo>
                        <a:pt x="34" y="3"/>
                        <a:pt x="42" y="0"/>
                        <a:pt x="42" y="0"/>
                      </a:cubicBezTo>
                      <a:cubicBezTo>
                        <a:pt x="50" y="1"/>
                        <a:pt x="65" y="0"/>
                        <a:pt x="58" y="12"/>
                      </a:cubicBezTo>
                      <a:cubicBezTo>
                        <a:pt x="53" y="21"/>
                        <a:pt x="40" y="21"/>
                        <a:pt x="32" y="26"/>
                      </a:cubicBezTo>
                      <a:cubicBezTo>
                        <a:pt x="26" y="35"/>
                        <a:pt x="23" y="42"/>
                        <a:pt x="12" y="46"/>
                      </a:cubicBezTo>
                      <a:cubicBezTo>
                        <a:pt x="0" y="42"/>
                        <a:pt x="5" y="30"/>
                        <a:pt x="8" y="20"/>
                      </a:cubicBezTo>
                      <a:cubicBezTo>
                        <a:pt x="9" y="18"/>
                        <a:pt x="10" y="13"/>
                        <a:pt x="12" y="14"/>
                      </a:cubicBezTo>
                      <a:cubicBezTo>
                        <a:pt x="15" y="16"/>
                        <a:pt x="13" y="21"/>
                        <a:pt x="14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3" name="Freeform 12"/>
                <p:cNvSpPr>
                  <a:spLocks/>
                </p:cNvSpPr>
                <p:nvPr/>
              </p:nvSpPr>
              <p:spPr bwMode="ltGray">
                <a:xfrm>
                  <a:off x="2375" y="952"/>
                  <a:ext cx="68" cy="39"/>
                </a:xfrm>
                <a:custGeom>
                  <a:avLst/>
                  <a:gdLst>
                    <a:gd name="T0" fmla="*/ 0 w 69"/>
                    <a:gd name="T1" fmla="*/ 15 h 47"/>
                    <a:gd name="T2" fmla="*/ 18 w 69"/>
                    <a:gd name="T3" fmla="*/ 12 h 47"/>
                    <a:gd name="T4" fmla="*/ 48 w 69"/>
                    <a:gd name="T5" fmla="*/ 1 h 47"/>
                    <a:gd name="T6" fmla="*/ 60 w 69"/>
                    <a:gd name="T7" fmla="*/ 2 h 47"/>
                    <a:gd name="T8" fmla="*/ 46 w 69"/>
                    <a:gd name="T9" fmla="*/ 9 h 47"/>
                    <a:gd name="T10" fmla="*/ 28 w 69"/>
                    <a:gd name="T11" fmla="*/ 15 h 47"/>
                    <a:gd name="T12" fmla="*/ 22 w 69"/>
                    <a:gd name="T13" fmla="*/ 22 h 47"/>
                    <a:gd name="T14" fmla="*/ 16 w 69"/>
                    <a:gd name="T15" fmla="*/ 22 h 47"/>
                    <a:gd name="T16" fmla="*/ 12 w 69"/>
                    <a:gd name="T17" fmla="*/ 18 h 47"/>
                    <a:gd name="T18" fmla="*/ 0 w 69"/>
                    <a:gd name="T19" fmla="*/ 17 h 47"/>
                    <a:gd name="T20" fmla="*/ 0 w 69"/>
                    <a:gd name="T21" fmla="*/ 15 h 47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9" h="47">
                      <a:moveTo>
                        <a:pt x="0" y="31"/>
                      </a:moveTo>
                      <a:cubicBezTo>
                        <a:pt x="7" y="24"/>
                        <a:pt x="9" y="22"/>
                        <a:pt x="18" y="25"/>
                      </a:cubicBezTo>
                      <a:cubicBezTo>
                        <a:pt x="25" y="4"/>
                        <a:pt x="36" y="12"/>
                        <a:pt x="52" y="1"/>
                      </a:cubicBezTo>
                      <a:cubicBezTo>
                        <a:pt x="56" y="2"/>
                        <a:pt x="61" y="0"/>
                        <a:pt x="64" y="3"/>
                      </a:cubicBezTo>
                      <a:cubicBezTo>
                        <a:pt x="69" y="8"/>
                        <a:pt x="50" y="19"/>
                        <a:pt x="50" y="19"/>
                      </a:cubicBezTo>
                      <a:cubicBezTo>
                        <a:pt x="46" y="31"/>
                        <a:pt x="35" y="22"/>
                        <a:pt x="28" y="33"/>
                      </a:cubicBezTo>
                      <a:cubicBezTo>
                        <a:pt x="31" y="41"/>
                        <a:pt x="31" y="44"/>
                        <a:pt x="22" y="47"/>
                      </a:cubicBezTo>
                      <a:cubicBezTo>
                        <a:pt x="20" y="46"/>
                        <a:pt x="18" y="46"/>
                        <a:pt x="16" y="45"/>
                      </a:cubicBezTo>
                      <a:cubicBezTo>
                        <a:pt x="14" y="43"/>
                        <a:pt x="14" y="40"/>
                        <a:pt x="12" y="39"/>
                      </a:cubicBezTo>
                      <a:cubicBezTo>
                        <a:pt x="8" y="37"/>
                        <a:pt x="0" y="35"/>
                        <a:pt x="0" y="35"/>
                      </a:cubicBezTo>
                      <a:cubicBezTo>
                        <a:pt x="2" y="26"/>
                        <a:pt x="3" y="25"/>
                        <a:pt x="0" y="3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4" name="Freeform 13"/>
                <p:cNvSpPr>
                  <a:spLocks/>
                </p:cNvSpPr>
                <p:nvPr/>
              </p:nvSpPr>
              <p:spPr bwMode="ltGray">
                <a:xfrm>
                  <a:off x="2007" y="739"/>
                  <a:ext cx="354" cy="228"/>
                </a:xfrm>
                <a:custGeom>
                  <a:avLst/>
                  <a:gdLst>
                    <a:gd name="T0" fmla="*/ 10 w 355"/>
                    <a:gd name="T1" fmla="*/ 2 h 277"/>
                    <a:gd name="T2" fmla="*/ 36 w 355"/>
                    <a:gd name="T3" fmla="*/ 8 h 277"/>
                    <a:gd name="T4" fmla="*/ 46 w 355"/>
                    <a:gd name="T5" fmla="*/ 14 h 277"/>
                    <a:gd name="T6" fmla="*/ 76 w 355"/>
                    <a:gd name="T7" fmla="*/ 24 h 277"/>
                    <a:gd name="T8" fmla="*/ 92 w 355"/>
                    <a:gd name="T9" fmla="*/ 30 h 277"/>
                    <a:gd name="T10" fmla="*/ 122 w 355"/>
                    <a:gd name="T11" fmla="*/ 45 h 277"/>
                    <a:gd name="T12" fmla="*/ 136 w 355"/>
                    <a:gd name="T13" fmla="*/ 58 h 277"/>
                    <a:gd name="T14" fmla="*/ 148 w 355"/>
                    <a:gd name="T15" fmla="*/ 61 h 277"/>
                    <a:gd name="T16" fmla="*/ 154 w 355"/>
                    <a:gd name="T17" fmla="*/ 68 h 277"/>
                    <a:gd name="T18" fmla="*/ 176 w 355"/>
                    <a:gd name="T19" fmla="*/ 70 h 277"/>
                    <a:gd name="T20" fmla="*/ 170 w 355"/>
                    <a:gd name="T21" fmla="*/ 90 h 277"/>
                    <a:gd name="T22" fmla="*/ 177 w 355"/>
                    <a:gd name="T23" fmla="*/ 102 h 277"/>
                    <a:gd name="T24" fmla="*/ 194 w 355"/>
                    <a:gd name="T25" fmla="*/ 106 h 277"/>
                    <a:gd name="T26" fmla="*/ 212 w 355"/>
                    <a:gd name="T27" fmla="*/ 108 h 277"/>
                    <a:gd name="T28" fmla="*/ 232 w 355"/>
                    <a:gd name="T29" fmla="*/ 111 h 277"/>
                    <a:gd name="T30" fmla="*/ 250 w 355"/>
                    <a:gd name="T31" fmla="*/ 109 h 277"/>
                    <a:gd name="T32" fmla="*/ 268 w 355"/>
                    <a:gd name="T33" fmla="*/ 114 h 277"/>
                    <a:gd name="T34" fmla="*/ 292 w 355"/>
                    <a:gd name="T35" fmla="*/ 118 h 277"/>
                    <a:gd name="T36" fmla="*/ 310 w 355"/>
                    <a:gd name="T37" fmla="*/ 121 h 277"/>
                    <a:gd name="T38" fmla="*/ 348 w 355"/>
                    <a:gd name="T39" fmla="*/ 122 h 277"/>
                    <a:gd name="T40" fmla="*/ 338 w 355"/>
                    <a:gd name="T41" fmla="*/ 126 h 277"/>
                    <a:gd name="T42" fmla="*/ 318 w 355"/>
                    <a:gd name="T43" fmla="*/ 124 h 277"/>
                    <a:gd name="T44" fmla="*/ 296 w 355"/>
                    <a:gd name="T45" fmla="*/ 124 h 277"/>
                    <a:gd name="T46" fmla="*/ 284 w 355"/>
                    <a:gd name="T47" fmla="*/ 122 h 277"/>
                    <a:gd name="T48" fmla="*/ 248 w 355"/>
                    <a:gd name="T49" fmla="*/ 121 h 277"/>
                    <a:gd name="T50" fmla="*/ 230 w 355"/>
                    <a:gd name="T51" fmla="*/ 119 h 277"/>
                    <a:gd name="T52" fmla="*/ 172 w 355"/>
                    <a:gd name="T53" fmla="*/ 111 h 277"/>
                    <a:gd name="T54" fmla="*/ 160 w 355"/>
                    <a:gd name="T55" fmla="*/ 100 h 277"/>
                    <a:gd name="T56" fmla="*/ 126 w 355"/>
                    <a:gd name="T57" fmla="*/ 92 h 277"/>
                    <a:gd name="T58" fmla="*/ 108 w 355"/>
                    <a:gd name="T59" fmla="*/ 86 h 277"/>
                    <a:gd name="T60" fmla="*/ 94 w 355"/>
                    <a:gd name="T61" fmla="*/ 72 h 277"/>
                    <a:gd name="T62" fmla="*/ 68 w 355"/>
                    <a:gd name="T63" fmla="*/ 49 h 277"/>
                    <a:gd name="T64" fmla="*/ 64 w 355"/>
                    <a:gd name="T65" fmla="*/ 47 h 277"/>
                    <a:gd name="T66" fmla="*/ 58 w 355"/>
                    <a:gd name="T67" fmla="*/ 45 h 277"/>
                    <a:gd name="T68" fmla="*/ 54 w 355"/>
                    <a:gd name="T69" fmla="*/ 40 h 277"/>
                    <a:gd name="T70" fmla="*/ 38 w 355"/>
                    <a:gd name="T71" fmla="*/ 27 h 277"/>
                    <a:gd name="T72" fmla="*/ 20 w 355"/>
                    <a:gd name="T73" fmla="*/ 18 h 277"/>
                    <a:gd name="T74" fmla="*/ 4 w 355"/>
                    <a:gd name="T75" fmla="*/ 10 h 277"/>
                    <a:gd name="T76" fmla="*/ 10 w 355"/>
                    <a:gd name="T77" fmla="*/ 2 h 277"/>
                    <a:gd name="T78" fmla="*/ 10 w 355"/>
                    <a:gd name="T79" fmla="*/ 2 h 277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</a:gdLst>
                  <a:ahLst/>
                  <a:cxnLst>
                    <a:cxn ang="T80">
                      <a:pos x="T0" y="T1"/>
                    </a:cxn>
                    <a:cxn ang="T81">
                      <a:pos x="T2" y="T3"/>
                    </a:cxn>
                    <a:cxn ang="T82">
                      <a:pos x="T4" y="T5"/>
                    </a:cxn>
                    <a:cxn ang="T83">
                      <a:pos x="T6" y="T7"/>
                    </a:cxn>
                    <a:cxn ang="T84">
                      <a:pos x="T8" y="T9"/>
                    </a:cxn>
                    <a:cxn ang="T85">
                      <a:pos x="T10" y="T11"/>
                    </a:cxn>
                    <a:cxn ang="T86">
                      <a:pos x="T12" y="T13"/>
                    </a:cxn>
                    <a:cxn ang="T87">
                      <a:pos x="T14" y="T15"/>
                    </a:cxn>
                    <a:cxn ang="T88">
                      <a:pos x="T16" y="T17"/>
                    </a:cxn>
                    <a:cxn ang="T89">
                      <a:pos x="T18" y="T19"/>
                    </a:cxn>
                    <a:cxn ang="T90">
                      <a:pos x="T20" y="T21"/>
                    </a:cxn>
                    <a:cxn ang="T91">
                      <a:pos x="T22" y="T23"/>
                    </a:cxn>
                    <a:cxn ang="T92">
                      <a:pos x="T24" y="T25"/>
                    </a:cxn>
                    <a:cxn ang="T93">
                      <a:pos x="T26" y="T27"/>
                    </a:cxn>
                    <a:cxn ang="T94">
                      <a:pos x="T28" y="T29"/>
                    </a:cxn>
                    <a:cxn ang="T95">
                      <a:pos x="T30" y="T31"/>
                    </a:cxn>
                    <a:cxn ang="T96">
                      <a:pos x="T32" y="T33"/>
                    </a:cxn>
                    <a:cxn ang="T97">
                      <a:pos x="T34" y="T35"/>
                    </a:cxn>
                    <a:cxn ang="T98">
                      <a:pos x="T36" y="T37"/>
                    </a:cxn>
                    <a:cxn ang="T99">
                      <a:pos x="T38" y="T39"/>
                    </a:cxn>
                    <a:cxn ang="T100">
                      <a:pos x="T40" y="T41"/>
                    </a:cxn>
                    <a:cxn ang="T101">
                      <a:pos x="T42" y="T43"/>
                    </a:cxn>
                    <a:cxn ang="T102">
                      <a:pos x="T44" y="T45"/>
                    </a:cxn>
                    <a:cxn ang="T103">
                      <a:pos x="T46" y="T47"/>
                    </a:cxn>
                    <a:cxn ang="T104">
                      <a:pos x="T48" y="T49"/>
                    </a:cxn>
                    <a:cxn ang="T105">
                      <a:pos x="T50" y="T51"/>
                    </a:cxn>
                    <a:cxn ang="T106">
                      <a:pos x="T52" y="T53"/>
                    </a:cxn>
                    <a:cxn ang="T107">
                      <a:pos x="T54" y="T55"/>
                    </a:cxn>
                    <a:cxn ang="T108">
                      <a:pos x="T56" y="T57"/>
                    </a:cxn>
                    <a:cxn ang="T109">
                      <a:pos x="T58" y="T59"/>
                    </a:cxn>
                    <a:cxn ang="T110">
                      <a:pos x="T60" y="T61"/>
                    </a:cxn>
                    <a:cxn ang="T111">
                      <a:pos x="T62" y="T63"/>
                    </a:cxn>
                    <a:cxn ang="T112">
                      <a:pos x="T64" y="T65"/>
                    </a:cxn>
                    <a:cxn ang="T113">
                      <a:pos x="T66" y="T67"/>
                    </a:cxn>
                    <a:cxn ang="T114">
                      <a:pos x="T68" y="T69"/>
                    </a:cxn>
                    <a:cxn ang="T115">
                      <a:pos x="T70" y="T71"/>
                    </a:cxn>
                    <a:cxn ang="T116">
                      <a:pos x="T72" y="T73"/>
                    </a:cxn>
                    <a:cxn ang="T117">
                      <a:pos x="T74" y="T75"/>
                    </a:cxn>
                    <a:cxn ang="T118">
                      <a:pos x="T76" y="T77"/>
                    </a:cxn>
                    <a:cxn ang="T119">
                      <a:pos x="T78" y="T79"/>
                    </a:cxn>
                  </a:cxnLst>
                  <a:rect l="0" t="0" r="r" b="b"/>
                  <a:pathLst>
                    <a:path w="355" h="277">
                      <a:moveTo>
                        <a:pt x="10" y="4"/>
                      </a:moveTo>
                      <a:cubicBezTo>
                        <a:pt x="22" y="0"/>
                        <a:pt x="24" y="14"/>
                        <a:pt x="36" y="18"/>
                      </a:cubicBezTo>
                      <a:cubicBezTo>
                        <a:pt x="37" y="19"/>
                        <a:pt x="45" y="29"/>
                        <a:pt x="46" y="30"/>
                      </a:cubicBezTo>
                      <a:cubicBezTo>
                        <a:pt x="56" y="40"/>
                        <a:pt x="67" y="38"/>
                        <a:pt x="76" y="52"/>
                      </a:cubicBezTo>
                      <a:cubicBezTo>
                        <a:pt x="80" y="58"/>
                        <a:pt x="92" y="66"/>
                        <a:pt x="92" y="66"/>
                      </a:cubicBezTo>
                      <a:cubicBezTo>
                        <a:pt x="96" y="79"/>
                        <a:pt x="112" y="88"/>
                        <a:pt x="122" y="98"/>
                      </a:cubicBezTo>
                      <a:cubicBezTo>
                        <a:pt x="124" y="105"/>
                        <a:pt x="130" y="124"/>
                        <a:pt x="136" y="128"/>
                      </a:cubicBezTo>
                      <a:cubicBezTo>
                        <a:pt x="140" y="130"/>
                        <a:pt x="148" y="132"/>
                        <a:pt x="148" y="132"/>
                      </a:cubicBezTo>
                      <a:cubicBezTo>
                        <a:pt x="150" y="138"/>
                        <a:pt x="154" y="150"/>
                        <a:pt x="154" y="150"/>
                      </a:cubicBezTo>
                      <a:cubicBezTo>
                        <a:pt x="161" y="139"/>
                        <a:pt x="168" y="144"/>
                        <a:pt x="176" y="152"/>
                      </a:cubicBezTo>
                      <a:cubicBezTo>
                        <a:pt x="174" y="167"/>
                        <a:pt x="173" y="181"/>
                        <a:pt x="170" y="196"/>
                      </a:cubicBezTo>
                      <a:cubicBezTo>
                        <a:pt x="171" y="202"/>
                        <a:pt x="174" y="220"/>
                        <a:pt x="180" y="224"/>
                      </a:cubicBezTo>
                      <a:cubicBezTo>
                        <a:pt x="185" y="228"/>
                        <a:pt x="193" y="228"/>
                        <a:pt x="198" y="232"/>
                      </a:cubicBezTo>
                      <a:cubicBezTo>
                        <a:pt x="204" y="230"/>
                        <a:pt x="216" y="234"/>
                        <a:pt x="216" y="234"/>
                      </a:cubicBezTo>
                      <a:cubicBezTo>
                        <a:pt x="223" y="241"/>
                        <a:pt x="225" y="245"/>
                        <a:pt x="236" y="242"/>
                      </a:cubicBezTo>
                      <a:cubicBezTo>
                        <a:pt x="242" y="240"/>
                        <a:pt x="254" y="236"/>
                        <a:pt x="254" y="236"/>
                      </a:cubicBezTo>
                      <a:cubicBezTo>
                        <a:pt x="260" y="240"/>
                        <a:pt x="265" y="246"/>
                        <a:pt x="272" y="248"/>
                      </a:cubicBezTo>
                      <a:cubicBezTo>
                        <a:pt x="277" y="250"/>
                        <a:pt x="291" y="252"/>
                        <a:pt x="296" y="256"/>
                      </a:cubicBezTo>
                      <a:cubicBezTo>
                        <a:pt x="301" y="260"/>
                        <a:pt x="314" y="264"/>
                        <a:pt x="314" y="264"/>
                      </a:cubicBezTo>
                      <a:cubicBezTo>
                        <a:pt x="330" y="263"/>
                        <a:pt x="338" y="261"/>
                        <a:pt x="352" y="266"/>
                      </a:cubicBezTo>
                      <a:cubicBezTo>
                        <a:pt x="355" y="275"/>
                        <a:pt x="350" y="277"/>
                        <a:pt x="342" y="274"/>
                      </a:cubicBezTo>
                      <a:cubicBezTo>
                        <a:pt x="336" y="276"/>
                        <a:pt x="322" y="272"/>
                        <a:pt x="322" y="272"/>
                      </a:cubicBezTo>
                      <a:cubicBezTo>
                        <a:pt x="314" y="275"/>
                        <a:pt x="308" y="272"/>
                        <a:pt x="300" y="270"/>
                      </a:cubicBezTo>
                      <a:cubicBezTo>
                        <a:pt x="296" y="269"/>
                        <a:pt x="288" y="266"/>
                        <a:pt x="288" y="266"/>
                      </a:cubicBezTo>
                      <a:cubicBezTo>
                        <a:pt x="276" y="270"/>
                        <a:pt x="264" y="266"/>
                        <a:pt x="252" y="264"/>
                      </a:cubicBezTo>
                      <a:cubicBezTo>
                        <a:pt x="245" y="259"/>
                        <a:pt x="242" y="257"/>
                        <a:pt x="234" y="260"/>
                      </a:cubicBezTo>
                      <a:cubicBezTo>
                        <a:pt x="211" y="252"/>
                        <a:pt x="192" y="256"/>
                        <a:pt x="172" y="242"/>
                      </a:cubicBezTo>
                      <a:cubicBezTo>
                        <a:pt x="165" y="231"/>
                        <a:pt x="176" y="221"/>
                        <a:pt x="160" y="216"/>
                      </a:cubicBezTo>
                      <a:cubicBezTo>
                        <a:pt x="154" y="233"/>
                        <a:pt x="136" y="203"/>
                        <a:pt x="126" y="200"/>
                      </a:cubicBezTo>
                      <a:cubicBezTo>
                        <a:pt x="120" y="196"/>
                        <a:pt x="114" y="190"/>
                        <a:pt x="108" y="186"/>
                      </a:cubicBezTo>
                      <a:cubicBezTo>
                        <a:pt x="104" y="175"/>
                        <a:pt x="104" y="165"/>
                        <a:pt x="94" y="158"/>
                      </a:cubicBezTo>
                      <a:cubicBezTo>
                        <a:pt x="83" y="142"/>
                        <a:pt x="85" y="119"/>
                        <a:pt x="68" y="108"/>
                      </a:cubicBezTo>
                      <a:cubicBezTo>
                        <a:pt x="67" y="106"/>
                        <a:pt x="66" y="104"/>
                        <a:pt x="64" y="102"/>
                      </a:cubicBezTo>
                      <a:cubicBezTo>
                        <a:pt x="62" y="101"/>
                        <a:pt x="59" y="102"/>
                        <a:pt x="58" y="100"/>
                      </a:cubicBezTo>
                      <a:cubicBezTo>
                        <a:pt x="56" y="97"/>
                        <a:pt x="54" y="88"/>
                        <a:pt x="54" y="88"/>
                      </a:cubicBezTo>
                      <a:cubicBezTo>
                        <a:pt x="59" y="73"/>
                        <a:pt x="52" y="61"/>
                        <a:pt x="38" y="58"/>
                      </a:cubicBezTo>
                      <a:cubicBezTo>
                        <a:pt x="32" y="49"/>
                        <a:pt x="31" y="44"/>
                        <a:pt x="20" y="40"/>
                      </a:cubicBezTo>
                      <a:cubicBezTo>
                        <a:pt x="16" y="27"/>
                        <a:pt x="16" y="26"/>
                        <a:pt x="4" y="22"/>
                      </a:cubicBezTo>
                      <a:cubicBezTo>
                        <a:pt x="1" y="13"/>
                        <a:pt x="0" y="5"/>
                        <a:pt x="10" y="2"/>
                      </a:cubicBezTo>
                      <a:cubicBezTo>
                        <a:pt x="18" y="5"/>
                        <a:pt x="18" y="4"/>
                        <a:pt x="10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5" name="Freeform 14"/>
                <p:cNvSpPr>
                  <a:spLocks/>
                </p:cNvSpPr>
                <p:nvPr/>
              </p:nvSpPr>
              <p:spPr bwMode="ltGray">
                <a:xfrm>
                  <a:off x="2222" y="724"/>
                  <a:ext cx="157" cy="167"/>
                </a:xfrm>
                <a:custGeom>
                  <a:avLst/>
                  <a:gdLst>
                    <a:gd name="T0" fmla="*/ 54 w 156"/>
                    <a:gd name="T1" fmla="*/ 29 h 206"/>
                    <a:gd name="T2" fmla="*/ 66 w 156"/>
                    <a:gd name="T3" fmla="*/ 25 h 206"/>
                    <a:gd name="T4" fmla="*/ 68 w 156"/>
                    <a:gd name="T5" fmla="*/ 23 h 206"/>
                    <a:gd name="T6" fmla="*/ 84 w 156"/>
                    <a:gd name="T7" fmla="*/ 19 h 206"/>
                    <a:gd name="T8" fmla="*/ 110 w 156"/>
                    <a:gd name="T9" fmla="*/ 10 h 206"/>
                    <a:gd name="T10" fmla="*/ 116 w 156"/>
                    <a:gd name="T11" fmla="*/ 2 h 206"/>
                    <a:gd name="T12" fmla="*/ 128 w 156"/>
                    <a:gd name="T13" fmla="*/ 0 h 206"/>
                    <a:gd name="T14" fmla="*/ 154 w 156"/>
                    <a:gd name="T15" fmla="*/ 12 h 206"/>
                    <a:gd name="T16" fmla="*/ 150 w 156"/>
                    <a:gd name="T17" fmla="*/ 19 h 206"/>
                    <a:gd name="T18" fmla="*/ 130 w 156"/>
                    <a:gd name="T19" fmla="*/ 28 h 206"/>
                    <a:gd name="T20" fmla="*/ 136 w 156"/>
                    <a:gd name="T21" fmla="*/ 41 h 206"/>
                    <a:gd name="T22" fmla="*/ 146 w 156"/>
                    <a:gd name="T23" fmla="*/ 47 h 206"/>
                    <a:gd name="T24" fmla="*/ 150 w 156"/>
                    <a:gd name="T25" fmla="*/ 55 h 206"/>
                    <a:gd name="T26" fmla="*/ 132 w 156"/>
                    <a:gd name="T27" fmla="*/ 55 h 206"/>
                    <a:gd name="T28" fmla="*/ 120 w 156"/>
                    <a:gd name="T29" fmla="*/ 63 h 206"/>
                    <a:gd name="T30" fmla="*/ 108 w 156"/>
                    <a:gd name="T31" fmla="*/ 67 h 206"/>
                    <a:gd name="T32" fmla="*/ 104 w 156"/>
                    <a:gd name="T33" fmla="*/ 86 h 206"/>
                    <a:gd name="T34" fmla="*/ 92 w 156"/>
                    <a:gd name="T35" fmla="*/ 88 h 206"/>
                    <a:gd name="T36" fmla="*/ 86 w 156"/>
                    <a:gd name="T37" fmla="*/ 88 h 206"/>
                    <a:gd name="T38" fmla="*/ 76 w 156"/>
                    <a:gd name="T39" fmla="*/ 88 h 206"/>
                    <a:gd name="T40" fmla="*/ 72 w 156"/>
                    <a:gd name="T41" fmla="*/ 82 h 206"/>
                    <a:gd name="T42" fmla="*/ 60 w 156"/>
                    <a:gd name="T43" fmla="*/ 80 h 206"/>
                    <a:gd name="T44" fmla="*/ 42 w 156"/>
                    <a:gd name="T45" fmla="*/ 84 h 206"/>
                    <a:gd name="T46" fmla="*/ 28 w 156"/>
                    <a:gd name="T47" fmla="*/ 80 h 206"/>
                    <a:gd name="T48" fmla="*/ 10 w 156"/>
                    <a:gd name="T49" fmla="*/ 64 h 206"/>
                    <a:gd name="T50" fmla="*/ 4 w 156"/>
                    <a:gd name="T51" fmla="*/ 56 h 206"/>
                    <a:gd name="T52" fmla="*/ 0 w 156"/>
                    <a:gd name="T53" fmla="*/ 51 h 206"/>
                    <a:gd name="T54" fmla="*/ 20 w 156"/>
                    <a:gd name="T55" fmla="*/ 41 h 206"/>
                    <a:gd name="T56" fmla="*/ 32 w 156"/>
                    <a:gd name="T57" fmla="*/ 45 h 206"/>
                    <a:gd name="T58" fmla="*/ 34 w 156"/>
                    <a:gd name="T59" fmla="*/ 35 h 206"/>
                    <a:gd name="T60" fmla="*/ 52 w 156"/>
                    <a:gd name="T61" fmla="*/ 30 h 206"/>
                    <a:gd name="T62" fmla="*/ 54 w 156"/>
                    <a:gd name="T63" fmla="*/ 29 h 20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</a:gdLst>
                  <a:ahLst/>
                  <a:cxnLst>
                    <a:cxn ang="T64">
                      <a:pos x="T0" y="T1"/>
                    </a:cxn>
                    <a:cxn ang="T65">
                      <a:pos x="T2" y="T3"/>
                    </a:cxn>
                    <a:cxn ang="T66">
                      <a:pos x="T4" y="T5"/>
                    </a:cxn>
                    <a:cxn ang="T67">
                      <a:pos x="T6" y="T7"/>
                    </a:cxn>
                    <a:cxn ang="T68">
                      <a:pos x="T8" y="T9"/>
                    </a:cxn>
                    <a:cxn ang="T69">
                      <a:pos x="T10" y="T11"/>
                    </a:cxn>
                    <a:cxn ang="T70">
                      <a:pos x="T12" y="T13"/>
                    </a:cxn>
                    <a:cxn ang="T71">
                      <a:pos x="T14" y="T15"/>
                    </a:cxn>
                    <a:cxn ang="T72">
                      <a:pos x="T16" y="T17"/>
                    </a:cxn>
                    <a:cxn ang="T73">
                      <a:pos x="T18" y="T19"/>
                    </a:cxn>
                    <a:cxn ang="T74">
                      <a:pos x="T20" y="T21"/>
                    </a:cxn>
                    <a:cxn ang="T75">
                      <a:pos x="T22" y="T23"/>
                    </a:cxn>
                    <a:cxn ang="T76">
                      <a:pos x="T24" y="T25"/>
                    </a:cxn>
                    <a:cxn ang="T77">
                      <a:pos x="T26" y="T27"/>
                    </a:cxn>
                    <a:cxn ang="T78">
                      <a:pos x="T28" y="T29"/>
                    </a:cxn>
                    <a:cxn ang="T79">
                      <a:pos x="T30" y="T31"/>
                    </a:cxn>
                    <a:cxn ang="T80">
                      <a:pos x="T32" y="T33"/>
                    </a:cxn>
                    <a:cxn ang="T81">
                      <a:pos x="T34" y="T35"/>
                    </a:cxn>
                    <a:cxn ang="T82">
                      <a:pos x="T36" y="T37"/>
                    </a:cxn>
                    <a:cxn ang="T83">
                      <a:pos x="T38" y="T39"/>
                    </a:cxn>
                    <a:cxn ang="T84">
                      <a:pos x="T40" y="T41"/>
                    </a:cxn>
                    <a:cxn ang="T85">
                      <a:pos x="T42" y="T43"/>
                    </a:cxn>
                    <a:cxn ang="T86">
                      <a:pos x="T44" y="T45"/>
                    </a:cxn>
                    <a:cxn ang="T87">
                      <a:pos x="T46" y="T47"/>
                    </a:cxn>
                    <a:cxn ang="T88">
                      <a:pos x="T48" y="T49"/>
                    </a:cxn>
                    <a:cxn ang="T89">
                      <a:pos x="T50" y="T51"/>
                    </a:cxn>
                    <a:cxn ang="T90">
                      <a:pos x="T52" y="T53"/>
                    </a:cxn>
                    <a:cxn ang="T91">
                      <a:pos x="T54" y="T55"/>
                    </a:cxn>
                    <a:cxn ang="T92">
                      <a:pos x="T56" y="T57"/>
                    </a:cxn>
                    <a:cxn ang="T93">
                      <a:pos x="T58" y="T59"/>
                    </a:cxn>
                    <a:cxn ang="T94">
                      <a:pos x="T60" y="T61"/>
                    </a:cxn>
                    <a:cxn ang="T95">
                      <a:pos x="T62" y="T63"/>
                    </a:cxn>
                  </a:cxnLst>
                  <a:rect l="0" t="0" r="r" b="b"/>
                  <a:pathLst>
                    <a:path w="156" h="206">
                      <a:moveTo>
                        <a:pt x="54" y="66"/>
                      </a:moveTo>
                      <a:cubicBezTo>
                        <a:pt x="58" y="63"/>
                        <a:pt x="64" y="63"/>
                        <a:pt x="66" y="58"/>
                      </a:cubicBezTo>
                      <a:cubicBezTo>
                        <a:pt x="67" y="56"/>
                        <a:pt x="67" y="53"/>
                        <a:pt x="68" y="52"/>
                      </a:cubicBezTo>
                      <a:cubicBezTo>
                        <a:pt x="71" y="49"/>
                        <a:pt x="80" y="44"/>
                        <a:pt x="80" y="44"/>
                      </a:cubicBezTo>
                      <a:cubicBezTo>
                        <a:pt x="113" y="55"/>
                        <a:pt x="85" y="29"/>
                        <a:pt x="106" y="22"/>
                      </a:cubicBezTo>
                      <a:cubicBezTo>
                        <a:pt x="110" y="17"/>
                        <a:pt x="108" y="9"/>
                        <a:pt x="112" y="4"/>
                      </a:cubicBezTo>
                      <a:cubicBezTo>
                        <a:pt x="115" y="1"/>
                        <a:pt x="124" y="0"/>
                        <a:pt x="124" y="0"/>
                      </a:cubicBezTo>
                      <a:cubicBezTo>
                        <a:pt x="138" y="14"/>
                        <a:pt x="126" y="23"/>
                        <a:pt x="150" y="28"/>
                      </a:cubicBezTo>
                      <a:cubicBezTo>
                        <a:pt x="156" y="36"/>
                        <a:pt x="154" y="39"/>
                        <a:pt x="146" y="44"/>
                      </a:cubicBezTo>
                      <a:cubicBezTo>
                        <a:pt x="141" y="52"/>
                        <a:pt x="135" y="61"/>
                        <a:pt x="126" y="64"/>
                      </a:cubicBezTo>
                      <a:cubicBezTo>
                        <a:pt x="118" y="75"/>
                        <a:pt x="128" y="83"/>
                        <a:pt x="132" y="94"/>
                      </a:cubicBezTo>
                      <a:cubicBezTo>
                        <a:pt x="129" y="103"/>
                        <a:pt x="135" y="105"/>
                        <a:pt x="142" y="110"/>
                      </a:cubicBezTo>
                      <a:cubicBezTo>
                        <a:pt x="145" y="119"/>
                        <a:pt x="141" y="120"/>
                        <a:pt x="146" y="128"/>
                      </a:cubicBezTo>
                      <a:cubicBezTo>
                        <a:pt x="142" y="139"/>
                        <a:pt x="135" y="133"/>
                        <a:pt x="128" y="128"/>
                      </a:cubicBezTo>
                      <a:cubicBezTo>
                        <a:pt x="116" y="132"/>
                        <a:pt x="122" y="136"/>
                        <a:pt x="116" y="146"/>
                      </a:cubicBezTo>
                      <a:cubicBezTo>
                        <a:pt x="113" y="151"/>
                        <a:pt x="108" y="152"/>
                        <a:pt x="104" y="156"/>
                      </a:cubicBezTo>
                      <a:cubicBezTo>
                        <a:pt x="107" y="167"/>
                        <a:pt x="112" y="191"/>
                        <a:pt x="100" y="198"/>
                      </a:cubicBezTo>
                      <a:cubicBezTo>
                        <a:pt x="96" y="200"/>
                        <a:pt x="92" y="200"/>
                        <a:pt x="88" y="202"/>
                      </a:cubicBezTo>
                      <a:cubicBezTo>
                        <a:pt x="86" y="203"/>
                        <a:pt x="84" y="205"/>
                        <a:pt x="82" y="206"/>
                      </a:cubicBezTo>
                      <a:cubicBezTo>
                        <a:pt x="80" y="205"/>
                        <a:pt x="77" y="204"/>
                        <a:pt x="76" y="202"/>
                      </a:cubicBezTo>
                      <a:cubicBezTo>
                        <a:pt x="74" y="198"/>
                        <a:pt x="76" y="191"/>
                        <a:pt x="72" y="190"/>
                      </a:cubicBezTo>
                      <a:cubicBezTo>
                        <a:pt x="68" y="189"/>
                        <a:pt x="60" y="186"/>
                        <a:pt x="60" y="186"/>
                      </a:cubicBezTo>
                      <a:cubicBezTo>
                        <a:pt x="53" y="188"/>
                        <a:pt x="49" y="192"/>
                        <a:pt x="42" y="194"/>
                      </a:cubicBezTo>
                      <a:cubicBezTo>
                        <a:pt x="34" y="189"/>
                        <a:pt x="37" y="183"/>
                        <a:pt x="28" y="186"/>
                      </a:cubicBezTo>
                      <a:cubicBezTo>
                        <a:pt x="12" y="181"/>
                        <a:pt x="19" y="161"/>
                        <a:pt x="10" y="148"/>
                      </a:cubicBezTo>
                      <a:cubicBezTo>
                        <a:pt x="5" y="121"/>
                        <a:pt x="11" y="147"/>
                        <a:pt x="4" y="130"/>
                      </a:cubicBezTo>
                      <a:cubicBezTo>
                        <a:pt x="2" y="126"/>
                        <a:pt x="0" y="118"/>
                        <a:pt x="0" y="118"/>
                      </a:cubicBezTo>
                      <a:cubicBezTo>
                        <a:pt x="2" y="95"/>
                        <a:pt x="0" y="83"/>
                        <a:pt x="20" y="96"/>
                      </a:cubicBezTo>
                      <a:cubicBezTo>
                        <a:pt x="23" y="105"/>
                        <a:pt x="23" y="110"/>
                        <a:pt x="32" y="104"/>
                      </a:cubicBezTo>
                      <a:cubicBezTo>
                        <a:pt x="35" y="95"/>
                        <a:pt x="29" y="88"/>
                        <a:pt x="34" y="80"/>
                      </a:cubicBezTo>
                      <a:cubicBezTo>
                        <a:pt x="36" y="76"/>
                        <a:pt x="48" y="73"/>
                        <a:pt x="52" y="70"/>
                      </a:cubicBezTo>
                      <a:cubicBezTo>
                        <a:pt x="57" y="63"/>
                        <a:pt x="58" y="62"/>
                        <a:pt x="54" y="6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6" name="Freeform 15"/>
                <p:cNvSpPr>
                  <a:spLocks/>
                </p:cNvSpPr>
                <p:nvPr/>
              </p:nvSpPr>
              <p:spPr bwMode="ltGray">
                <a:xfrm>
                  <a:off x="2375" y="800"/>
                  <a:ext cx="110" cy="32"/>
                </a:xfrm>
                <a:custGeom>
                  <a:avLst/>
                  <a:gdLst>
                    <a:gd name="T0" fmla="*/ 4 w 109"/>
                    <a:gd name="T1" fmla="*/ 16 h 38"/>
                    <a:gd name="T2" fmla="*/ 18 w 109"/>
                    <a:gd name="T3" fmla="*/ 5 h 38"/>
                    <a:gd name="T4" fmla="*/ 46 w 109"/>
                    <a:gd name="T5" fmla="*/ 10 h 38"/>
                    <a:gd name="T6" fmla="*/ 76 w 109"/>
                    <a:gd name="T7" fmla="*/ 7 h 38"/>
                    <a:gd name="T8" fmla="*/ 94 w 109"/>
                    <a:gd name="T9" fmla="*/ 0 h 38"/>
                    <a:gd name="T10" fmla="*/ 80 w 109"/>
                    <a:gd name="T11" fmla="*/ 13 h 38"/>
                    <a:gd name="T12" fmla="*/ 64 w 109"/>
                    <a:gd name="T13" fmla="*/ 19 h 38"/>
                    <a:gd name="T14" fmla="*/ 42 w 109"/>
                    <a:gd name="T15" fmla="*/ 16 h 38"/>
                    <a:gd name="T16" fmla="*/ 14 w 109"/>
                    <a:gd name="T17" fmla="*/ 15 h 38"/>
                    <a:gd name="T18" fmla="*/ 4 w 109"/>
                    <a:gd name="T19" fmla="*/ 16 h 38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</a:gdLst>
                  <a:ahLst/>
                  <a:cxnLst>
                    <a:cxn ang="T20">
                      <a:pos x="T0" y="T1"/>
                    </a:cxn>
                    <a:cxn ang="T21">
                      <a:pos x="T2" y="T3"/>
                    </a:cxn>
                    <a:cxn ang="T22">
                      <a:pos x="T4" y="T5"/>
                    </a:cxn>
                    <a:cxn ang="T23">
                      <a:pos x="T6" y="T7"/>
                    </a:cxn>
                    <a:cxn ang="T24">
                      <a:pos x="T8" y="T9"/>
                    </a:cxn>
                    <a:cxn ang="T25">
                      <a:pos x="T10" y="T11"/>
                    </a:cxn>
                    <a:cxn ang="T26">
                      <a:pos x="T12" y="T13"/>
                    </a:cxn>
                    <a:cxn ang="T27">
                      <a:pos x="T14" y="T15"/>
                    </a:cxn>
                    <a:cxn ang="T28">
                      <a:pos x="T16" y="T17"/>
                    </a:cxn>
                    <a:cxn ang="T29">
                      <a:pos x="T18" y="T19"/>
                    </a:cxn>
                  </a:cxnLst>
                  <a:rect l="0" t="0" r="r" b="b"/>
                  <a:pathLst>
                    <a:path w="109" h="38">
                      <a:moveTo>
                        <a:pt x="4" y="32"/>
                      </a:moveTo>
                      <a:cubicBezTo>
                        <a:pt x="7" y="22"/>
                        <a:pt x="7" y="14"/>
                        <a:pt x="18" y="10"/>
                      </a:cubicBezTo>
                      <a:cubicBezTo>
                        <a:pt x="28" y="12"/>
                        <a:pt x="37" y="14"/>
                        <a:pt x="46" y="20"/>
                      </a:cubicBezTo>
                      <a:cubicBezTo>
                        <a:pt x="62" y="15"/>
                        <a:pt x="54" y="17"/>
                        <a:pt x="72" y="14"/>
                      </a:cubicBezTo>
                      <a:cubicBezTo>
                        <a:pt x="77" y="9"/>
                        <a:pt x="90" y="0"/>
                        <a:pt x="90" y="0"/>
                      </a:cubicBezTo>
                      <a:cubicBezTo>
                        <a:pt x="109" y="6"/>
                        <a:pt x="85" y="23"/>
                        <a:pt x="76" y="26"/>
                      </a:cubicBezTo>
                      <a:cubicBezTo>
                        <a:pt x="71" y="33"/>
                        <a:pt x="68" y="35"/>
                        <a:pt x="60" y="38"/>
                      </a:cubicBezTo>
                      <a:cubicBezTo>
                        <a:pt x="54" y="36"/>
                        <a:pt x="42" y="32"/>
                        <a:pt x="42" y="32"/>
                      </a:cubicBezTo>
                      <a:cubicBezTo>
                        <a:pt x="33" y="23"/>
                        <a:pt x="26" y="26"/>
                        <a:pt x="14" y="30"/>
                      </a:cubicBezTo>
                      <a:cubicBezTo>
                        <a:pt x="1" y="28"/>
                        <a:pt x="0" y="24"/>
                        <a:pt x="4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7" name="Freeform 16"/>
                <p:cNvSpPr>
                  <a:spLocks/>
                </p:cNvSpPr>
                <p:nvPr/>
              </p:nvSpPr>
              <p:spPr bwMode="ltGray">
                <a:xfrm>
                  <a:off x="2370" y="839"/>
                  <a:ext cx="75" cy="84"/>
                </a:xfrm>
                <a:custGeom>
                  <a:avLst/>
                  <a:gdLst>
                    <a:gd name="T0" fmla="*/ 8 w 76"/>
                    <a:gd name="T1" fmla="*/ 8 h 104"/>
                    <a:gd name="T2" fmla="*/ 18 w 76"/>
                    <a:gd name="T3" fmla="*/ 0 h 104"/>
                    <a:gd name="T4" fmla="*/ 34 w 76"/>
                    <a:gd name="T5" fmla="*/ 8 h 104"/>
                    <a:gd name="T6" fmla="*/ 58 w 76"/>
                    <a:gd name="T7" fmla="*/ 2 h 104"/>
                    <a:gd name="T8" fmla="*/ 42 w 76"/>
                    <a:gd name="T9" fmla="*/ 15 h 104"/>
                    <a:gd name="T10" fmla="*/ 50 w 76"/>
                    <a:gd name="T11" fmla="*/ 21 h 104"/>
                    <a:gd name="T12" fmla="*/ 54 w 76"/>
                    <a:gd name="T13" fmla="*/ 26 h 104"/>
                    <a:gd name="T14" fmla="*/ 42 w 76"/>
                    <a:gd name="T15" fmla="*/ 32 h 104"/>
                    <a:gd name="T16" fmla="*/ 34 w 76"/>
                    <a:gd name="T17" fmla="*/ 26 h 104"/>
                    <a:gd name="T18" fmla="*/ 22 w 76"/>
                    <a:gd name="T19" fmla="*/ 21 h 104"/>
                    <a:gd name="T20" fmla="*/ 28 w 76"/>
                    <a:gd name="T21" fmla="*/ 29 h 104"/>
                    <a:gd name="T22" fmla="*/ 30 w 76"/>
                    <a:gd name="T23" fmla="*/ 32 h 104"/>
                    <a:gd name="T24" fmla="*/ 20 w 76"/>
                    <a:gd name="T25" fmla="*/ 44 h 104"/>
                    <a:gd name="T26" fmla="*/ 12 w 76"/>
                    <a:gd name="T27" fmla="*/ 43 h 104"/>
                    <a:gd name="T28" fmla="*/ 8 w 76"/>
                    <a:gd name="T29" fmla="*/ 39 h 104"/>
                    <a:gd name="T30" fmla="*/ 0 w 76"/>
                    <a:gd name="T31" fmla="*/ 23 h 104"/>
                    <a:gd name="T32" fmla="*/ 2 w 76"/>
                    <a:gd name="T33" fmla="*/ 12 h 104"/>
                    <a:gd name="T34" fmla="*/ 8 w 76"/>
                    <a:gd name="T35" fmla="*/ 8 h 104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</a:gdLst>
                  <a:ahLst/>
                  <a:cxnLst>
                    <a:cxn ang="T36">
                      <a:pos x="T0" y="T1"/>
                    </a:cxn>
                    <a:cxn ang="T37">
                      <a:pos x="T2" y="T3"/>
                    </a:cxn>
                    <a:cxn ang="T38">
                      <a:pos x="T4" y="T5"/>
                    </a:cxn>
                    <a:cxn ang="T39">
                      <a:pos x="T6" y="T7"/>
                    </a:cxn>
                    <a:cxn ang="T40">
                      <a:pos x="T8" y="T9"/>
                    </a:cxn>
                    <a:cxn ang="T41">
                      <a:pos x="T10" y="T11"/>
                    </a:cxn>
                    <a:cxn ang="T42">
                      <a:pos x="T12" y="T13"/>
                    </a:cxn>
                    <a:cxn ang="T43">
                      <a:pos x="T14" y="T15"/>
                    </a:cxn>
                    <a:cxn ang="T44">
                      <a:pos x="T16" y="T17"/>
                    </a:cxn>
                    <a:cxn ang="T45">
                      <a:pos x="T18" y="T19"/>
                    </a:cxn>
                    <a:cxn ang="T46">
                      <a:pos x="T20" y="T21"/>
                    </a:cxn>
                    <a:cxn ang="T47">
                      <a:pos x="T22" y="T23"/>
                    </a:cxn>
                    <a:cxn ang="T48">
                      <a:pos x="T24" y="T25"/>
                    </a:cxn>
                    <a:cxn ang="T49">
                      <a:pos x="T26" y="T27"/>
                    </a:cxn>
                    <a:cxn ang="T50">
                      <a:pos x="T28" y="T29"/>
                    </a:cxn>
                    <a:cxn ang="T51">
                      <a:pos x="T30" y="T31"/>
                    </a:cxn>
                    <a:cxn ang="T52">
                      <a:pos x="T32" y="T33"/>
                    </a:cxn>
                    <a:cxn ang="T53">
                      <a:pos x="T34" y="T35"/>
                    </a:cxn>
                  </a:cxnLst>
                  <a:rect l="0" t="0" r="r" b="b"/>
                  <a:pathLst>
                    <a:path w="76" h="104">
                      <a:moveTo>
                        <a:pt x="8" y="18"/>
                      </a:moveTo>
                      <a:cubicBezTo>
                        <a:pt x="10" y="8"/>
                        <a:pt x="9" y="3"/>
                        <a:pt x="18" y="0"/>
                      </a:cubicBezTo>
                      <a:cubicBezTo>
                        <a:pt x="28" y="3"/>
                        <a:pt x="25" y="12"/>
                        <a:pt x="34" y="18"/>
                      </a:cubicBezTo>
                      <a:cubicBezTo>
                        <a:pt x="46" y="16"/>
                        <a:pt x="51" y="8"/>
                        <a:pt x="62" y="4"/>
                      </a:cubicBezTo>
                      <a:cubicBezTo>
                        <a:pt x="76" y="9"/>
                        <a:pt x="56" y="31"/>
                        <a:pt x="46" y="34"/>
                      </a:cubicBezTo>
                      <a:cubicBezTo>
                        <a:pt x="51" y="56"/>
                        <a:pt x="43" y="29"/>
                        <a:pt x="54" y="48"/>
                      </a:cubicBezTo>
                      <a:cubicBezTo>
                        <a:pt x="56" y="52"/>
                        <a:pt x="58" y="60"/>
                        <a:pt x="58" y="60"/>
                      </a:cubicBezTo>
                      <a:cubicBezTo>
                        <a:pt x="55" y="68"/>
                        <a:pt x="54" y="71"/>
                        <a:pt x="46" y="74"/>
                      </a:cubicBezTo>
                      <a:cubicBezTo>
                        <a:pt x="38" y="71"/>
                        <a:pt x="37" y="68"/>
                        <a:pt x="34" y="60"/>
                      </a:cubicBezTo>
                      <a:cubicBezTo>
                        <a:pt x="33" y="50"/>
                        <a:pt x="32" y="33"/>
                        <a:pt x="22" y="48"/>
                      </a:cubicBezTo>
                      <a:cubicBezTo>
                        <a:pt x="25" y="60"/>
                        <a:pt x="23" y="53"/>
                        <a:pt x="28" y="68"/>
                      </a:cubicBezTo>
                      <a:cubicBezTo>
                        <a:pt x="29" y="70"/>
                        <a:pt x="30" y="74"/>
                        <a:pt x="30" y="74"/>
                      </a:cubicBezTo>
                      <a:cubicBezTo>
                        <a:pt x="24" y="84"/>
                        <a:pt x="22" y="93"/>
                        <a:pt x="20" y="104"/>
                      </a:cubicBezTo>
                      <a:cubicBezTo>
                        <a:pt x="17" y="103"/>
                        <a:pt x="14" y="104"/>
                        <a:pt x="12" y="102"/>
                      </a:cubicBezTo>
                      <a:cubicBezTo>
                        <a:pt x="9" y="99"/>
                        <a:pt x="8" y="90"/>
                        <a:pt x="8" y="90"/>
                      </a:cubicBezTo>
                      <a:cubicBezTo>
                        <a:pt x="13" y="75"/>
                        <a:pt x="14" y="64"/>
                        <a:pt x="0" y="54"/>
                      </a:cubicBezTo>
                      <a:cubicBezTo>
                        <a:pt x="1" y="46"/>
                        <a:pt x="1" y="38"/>
                        <a:pt x="2" y="30"/>
                      </a:cubicBezTo>
                      <a:cubicBezTo>
                        <a:pt x="2" y="27"/>
                        <a:pt x="13" y="2"/>
                        <a:pt x="8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8" name="Freeform 17"/>
                <p:cNvSpPr>
                  <a:spLocks/>
                </p:cNvSpPr>
                <p:nvPr/>
              </p:nvSpPr>
              <p:spPr bwMode="ltGray">
                <a:xfrm>
                  <a:off x="2497" y="793"/>
                  <a:ext cx="37" cy="49"/>
                </a:xfrm>
                <a:custGeom>
                  <a:avLst/>
                  <a:gdLst>
                    <a:gd name="T0" fmla="*/ 3 w 37"/>
                    <a:gd name="T1" fmla="*/ 11 h 61"/>
                    <a:gd name="T2" fmla="*/ 13 w 37"/>
                    <a:gd name="T3" fmla="*/ 0 h 61"/>
                    <a:gd name="T4" fmla="*/ 15 w 37"/>
                    <a:gd name="T5" fmla="*/ 11 h 61"/>
                    <a:gd name="T6" fmla="*/ 37 w 37"/>
                    <a:gd name="T7" fmla="*/ 16 h 61"/>
                    <a:gd name="T8" fmla="*/ 19 w 37"/>
                    <a:gd name="T9" fmla="*/ 18 h 61"/>
                    <a:gd name="T10" fmla="*/ 5 w 37"/>
                    <a:gd name="T11" fmla="*/ 25 h 61"/>
                    <a:gd name="T12" fmla="*/ 1 w 37"/>
                    <a:gd name="T13" fmla="*/ 14 h 61"/>
                    <a:gd name="T14" fmla="*/ 3 w 37"/>
                    <a:gd name="T15" fmla="*/ 11 h 61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7" h="61">
                      <a:moveTo>
                        <a:pt x="3" y="28"/>
                      </a:moveTo>
                      <a:cubicBezTo>
                        <a:pt x="5" y="14"/>
                        <a:pt x="2" y="7"/>
                        <a:pt x="13" y="0"/>
                      </a:cubicBezTo>
                      <a:cubicBezTo>
                        <a:pt x="26" y="9"/>
                        <a:pt x="23" y="17"/>
                        <a:pt x="15" y="28"/>
                      </a:cubicBezTo>
                      <a:cubicBezTo>
                        <a:pt x="25" y="31"/>
                        <a:pt x="33" y="27"/>
                        <a:pt x="37" y="38"/>
                      </a:cubicBezTo>
                      <a:cubicBezTo>
                        <a:pt x="30" y="45"/>
                        <a:pt x="28" y="47"/>
                        <a:pt x="19" y="44"/>
                      </a:cubicBezTo>
                      <a:cubicBezTo>
                        <a:pt x="13" y="54"/>
                        <a:pt x="18" y="61"/>
                        <a:pt x="5" y="58"/>
                      </a:cubicBezTo>
                      <a:cubicBezTo>
                        <a:pt x="0" y="50"/>
                        <a:pt x="3" y="44"/>
                        <a:pt x="1" y="34"/>
                      </a:cubicBezTo>
                      <a:cubicBezTo>
                        <a:pt x="2" y="32"/>
                        <a:pt x="3" y="28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49" name="Freeform 18"/>
                <p:cNvSpPr>
                  <a:spLocks/>
                </p:cNvSpPr>
                <p:nvPr/>
              </p:nvSpPr>
              <p:spPr bwMode="ltGray">
                <a:xfrm>
                  <a:off x="2506" y="869"/>
                  <a:ext cx="47" cy="24"/>
                </a:xfrm>
                <a:custGeom>
                  <a:avLst/>
                  <a:gdLst>
                    <a:gd name="T0" fmla="*/ 7 w 49"/>
                    <a:gd name="T1" fmla="*/ 0 h 29"/>
                    <a:gd name="T2" fmla="*/ 25 w 49"/>
                    <a:gd name="T3" fmla="*/ 0 h 29"/>
                    <a:gd name="T4" fmla="*/ 41 w 49"/>
                    <a:gd name="T5" fmla="*/ 7 h 29"/>
                    <a:gd name="T6" fmla="*/ 31 w 49"/>
                    <a:gd name="T7" fmla="*/ 7 h 29"/>
                    <a:gd name="T8" fmla="*/ 3 w 49"/>
                    <a:gd name="T9" fmla="*/ 7 h 29"/>
                    <a:gd name="T10" fmla="*/ 7 w 49"/>
                    <a:gd name="T11" fmla="*/ 0 h 29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9" h="29">
                      <a:moveTo>
                        <a:pt x="7" y="0"/>
                      </a:moveTo>
                      <a:cubicBezTo>
                        <a:pt x="15" y="6"/>
                        <a:pt x="19" y="2"/>
                        <a:pt x="29" y="0"/>
                      </a:cubicBezTo>
                      <a:cubicBezTo>
                        <a:pt x="45" y="5"/>
                        <a:pt x="40" y="3"/>
                        <a:pt x="49" y="16"/>
                      </a:cubicBezTo>
                      <a:cubicBezTo>
                        <a:pt x="46" y="29"/>
                        <a:pt x="42" y="21"/>
                        <a:pt x="35" y="14"/>
                      </a:cubicBezTo>
                      <a:cubicBezTo>
                        <a:pt x="26" y="15"/>
                        <a:pt x="12" y="19"/>
                        <a:pt x="3" y="16"/>
                      </a:cubicBezTo>
                      <a:cubicBezTo>
                        <a:pt x="0" y="6"/>
                        <a:pt x="7" y="10"/>
                        <a:pt x="7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0" name="Freeform 19"/>
                <p:cNvSpPr>
                  <a:spLocks/>
                </p:cNvSpPr>
                <p:nvPr/>
              </p:nvSpPr>
              <p:spPr bwMode="ltGray">
                <a:xfrm>
                  <a:off x="2555" y="832"/>
                  <a:ext cx="61" cy="42"/>
                </a:xfrm>
                <a:custGeom>
                  <a:avLst/>
                  <a:gdLst>
                    <a:gd name="T0" fmla="*/ 21 w 61"/>
                    <a:gd name="T1" fmla="*/ 22 h 48"/>
                    <a:gd name="T2" fmla="*/ 15 w 61"/>
                    <a:gd name="T3" fmla="*/ 16 h 48"/>
                    <a:gd name="T4" fmla="*/ 3 w 61"/>
                    <a:gd name="T5" fmla="*/ 13 h 48"/>
                    <a:gd name="T6" fmla="*/ 13 w 61"/>
                    <a:gd name="T7" fmla="*/ 4 h 48"/>
                    <a:gd name="T8" fmla="*/ 25 w 61"/>
                    <a:gd name="T9" fmla="*/ 0 h 48"/>
                    <a:gd name="T10" fmla="*/ 49 w 61"/>
                    <a:gd name="T11" fmla="*/ 6 h 48"/>
                    <a:gd name="T12" fmla="*/ 53 w 61"/>
                    <a:gd name="T13" fmla="*/ 12 h 48"/>
                    <a:gd name="T14" fmla="*/ 61 w 61"/>
                    <a:gd name="T15" fmla="*/ 19 h 48"/>
                    <a:gd name="T16" fmla="*/ 41 w 61"/>
                    <a:gd name="T17" fmla="*/ 22 h 48"/>
                    <a:gd name="T18" fmla="*/ 23 w 61"/>
                    <a:gd name="T19" fmla="*/ 26 h 48"/>
                    <a:gd name="T20" fmla="*/ 21 w 61"/>
                    <a:gd name="T21" fmla="*/ 22 h 48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</a:gdLst>
                  <a:ahLst/>
                  <a:cxnLst>
                    <a:cxn ang="T22">
                      <a:pos x="T0" y="T1"/>
                    </a:cxn>
                    <a:cxn ang="T23">
                      <a:pos x="T2" y="T3"/>
                    </a:cxn>
                    <a:cxn ang="T24">
                      <a:pos x="T4" y="T5"/>
                    </a:cxn>
                    <a:cxn ang="T25">
                      <a:pos x="T6" y="T7"/>
                    </a:cxn>
                    <a:cxn ang="T26">
                      <a:pos x="T8" y="T9"/>
                    </a:cxn>
                    <a:cxn ang="T27">
                      <a:pos x="T10" y="T11"/>
                    </a:cxn>
                    <a:cxn ang="T28">
                      <a:pos x="T12" y="T13"/>
                    </a:cxn>
                    <a:cxn ang="T29">
                      <a:pos x="T14" y="T15"/>
                    </a:cxn>
                    <a:cxn ang="T30">
                      <a:pos x="T16" y="T17"/>
                    </a:cxn>
                    <a:cxn ang="T31">
                      <a:pos x="T18" y="T19"/>
                    </a:cxn>
                    <a:cxn ang="T32">
                      <a:pos x="T20" y="T21"/>
                    </a:cxn>
                  </a:cxnLst>
                  <a:rect l="0" t="0" r="r" b="b"/>
                  <a:pathLst>
                    <a:path w="61" h="48">
                      <a:moveTo>
                        <a:pt x="21" y="38"/>
                      </a:moveTo>
                      <a:cubicBezTo>
                        <a:pt x="19" y="34"/>
                        <a:pt x="19" y="29"/>
                        <a:pt x="15" y="26"/>
                      </a:cubicBezTo>
                      <a:cubicBezTo>
                        <a:pt x="12" y="24"/>
                        <a:pt x="3" y="22"/>
                        <a:pt x="3" y="22"/>
                      </a:cubicBezTo>
                      <a:cubicBezTo>
                        <a:pt x="0" y="12"/>
                        <a:pt x="5" y="12"/>
                        <a:pt x="13" y="8"/>
                      </a:cubicBezTo>
                      <a:cubicBezTo>
                        <a:pt x="17" y="6"/>
                        <a:pt x="25" y="0"/>
                        <a:pt x="25" y="0"/>
                      </a:cubicBezTo>
                      <a:cubicBezTo>
                        <a:pt x="37" y="2"/>
                        <a:pt x="41" y="2"/>
                        <a:pt x="49" y="10"/>
                      </a:cubicBezTo>
                      <a:cubicBezTo>
                        <a:pt x="45" y="21"/>
                        <a:pt x="46" y="12"/>
                        <a:pt x="53" y="20"/>
                      </a:cubicBezTo>
                      <a:cubicBezTo>
                        <a:pt x="56" y="24"/>
                        <a:pt x="61" y="32"/>
                        <a:pt x="61" y="32"/>
                      </a:cubicBezTo>
                      <a:cubicBezTo>
                        <a:pt x="56" y="47"/>
                        <a:pt x="53" y="42"/>
                        <a:pt x="41" y="38"/>
                      </a:cubicBezTo>
                      <a:cubicBezTo>
                        <a:pt x="27" y="47"/>
                        <a:pt x="34" y="48"/>
                        <a:pt x="23" y="44"/>
                      </a:cubicBezTo>
                      <a:cubicBezTo>
                        <a:pt x="22" y="42"/>
                        <a:pt x="21" y="38"/>
                        <a:pt x="21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1" name="Freeform 20"/>
                <p:cNvSpPr>
                  <a:spLocks/>
                </p:cNvSpPr>
                <p:nvPr/>
              </p:nvSpPr>
              <p:spPr bwMode="ltGray">
                <a:xfrm>
                  <a:off x="2572" y="852"/>
                  <a:ext cx="286" cy="149"/>
                </a:xfrm>
                <a:custGeom>
                  <a:avLst/>
                  <a:gdLst>
                    <a:gd name="T0" fmla="*/ 46 w 286"/>
                    <a:gd name="T1" fmla="*/ 13 h 182"/>
                    <a:gd name="T2" fmla="*/ 36 w 286"/>
                    <a:gd name="T3" fmla="*/ 6 h 182"/>
                    <a:gd name="T4" fmla="*/ 26 w 286"/>
                    <a:gd name="T5" fmla="*/ 13 h 182"/>
                    <a:gd name="T6" fmla="*/ 0 w 286"/>
                    <a:gd name="T7" fmla="*/ 11 h 182"/>
                    <a:gd name="T8" fmla="*/ 10 w 286"/>
                    <a:gd name="T9" fmla="*/ 19 h 182"/>
                    <a:gd name="T10" fmla="*/ 16 w 286"/>
                    <a:gd name="T11" fmla="*/ 28 h 182"/>
                    <a:gd name="T12" fmla="*/ 24 w 286"/>
                    <a:gd name="T13" fmla="*/ 21 h 182"/>
                    <a:gd name="T14" fmla="*/ 30 w 286"/>
                    <a:gd name="T15" fmla="*/ 20 h 182"/>
                    <a:gd name="T16" fmla="*/ 48 w 286"/>
                    <a:gd name="T17" fmla="*/ 25 h 182"/>
                    <a:gd name="T18" fmla="*/ 70 w 286"/>
                    <a:gd name="T19" fmla="*/ 28 h 182"/>
                    <a:gd name="T20" fmla="*/ 88 w 286"/>
                    <a:gd name="T21" fmla="*/ 32 h 182"/>
                    <a:gd name="T22" fmla="*/ 106 w 286"/>
                    <a:gd name="T23" fmla="*/ 46 h 182"/>
                    <a:gd name="T24" fmla="*/ 104 w 286"/>
                    <a:gd name="T25" fmla="*/ 55 h 182"/>
                    <a:gd name="T26" fmla="*/ 98 w 286"/>
                    <a:gd name="T27" fmla="*/ 61 h 182"/>
                    <a:gd name="T28" fmla="*/ 122 w 286"/>
                    <a:gd name="T29" fmla="*/ 57 h 182"/>
                    <a:gd name="T30" fmla="*/ 140 w 286"/>
                    <a:gd name="T31" fmla="*/ 63 h 182"/>
                    <a:gd name="T32" fmla="*/ 168 w 286"/>
                    <a:gd name="T33" fmla="*/ 66 h 182"/>
                    <a:gd name="T34" fmla="*/ 174 w 286"/>
                    <a:gd name="T35" fmla="*/ 65 h 182"/>
                    <a:gd name="T36" fmla="*/ 168 w 286"/>
                    <a:gd name="T37" fmla="*/ 61 h 182"/>
                    <a:gd name="T38" fmla="*/ 178 w 286"/>
                    <a:gd name="T39" fmla="*/ 61 h 182"/>
                    <a:gd name="T40" fmla="*/ 186 w 286"/>
                    <a:gd name="T41" fmla="*/ 53 h 182"/>
                    <a:gd name="T42" fmla="*/ 202 w 286"/>
                    <a:gd name="T43" fmla="*/ 55 h 182"/>
                    <a:gd name="T44" fmla="*/ 214 w 286"/>
                    <a:gd name="T45" fmla="*/ 58 h 182"/>
                    <a:gd name="T46" fmla="*/ 244 w 286"/>
                    <a:gd name="T47" fmla="*/ 76 h 182"/>
                    <a:gd name="T48" fmla="*/ 262 w 286"/>
                    <a:gd name="T49" fmla="*/ 80 h 182"/>
                    <a:gd name="T50" fmla="*/ 284 w 286"/>
                    <a:gd name="T51" fmla="*/ 76 h 182"/>
                    <a:gd name="T52" fmla="*/ 268 w 286"/>
                    <a:gd name="T53" fmla="*/ 72 h 182"/>
                    <a:gd name="T54" fmla="*/ 256 w 286"/>
                    <a:gd name="T55" fmla="*/ 62 h 182"/>
                    <a:gd name="T56" fmla="*/ 250 w 286"/>
                    <a:gd name="T57" fmla="*/ 59 h 182"/>
                    <a:gd name="T58" fmla="*/ 248 w 286"/>
                    <a:gd name="T59" fmla="*/ 55 h 182"/>
                    <a:gd name="T60" fmla="*/ 236 w 286"/>
                    <a:gd name="T61" fmla="*/ 52 h 182"/>
                    <a:gd name="T62" fmla="*/ 240 w 286"/>
                    <a:gd name="T63" fmla="*/ 43 h 182"/>
                    <a:gd name="T64" fmla="*/ 220 w 286"/>
                    <a:gd name="T65" fmla="*/ 38 h 182"/>
                    <a:gd name="T66" fmla="*/ 210 w 286"/>
                    <a:gd name="T67" fmla="*/ 31 h 182"/>
                    <a:gd name="T68" fmla="*/ 190 w 286"/>
                    <a:gd name="T69" fmla="*/ 24 h 182"/>
                    <a:gd name="T70" fmla="*/ 168 w 286"/>
                    <a:gd name="T71" fmla="*/ 16 h 182"/>
                    <a:gd name="T72" fmla="*/ 156 w 286"/>
                    <a:gd name="T73" fmla="*/ 16 h 182"/>
                    <a:gd name="T74" fmla="*/ 120 w 286"/>
                    <a:gd name="T75" fmla="*/ 7 h 182"/>
                    <a:gd name="T76" fmla="*/ 102 w 286"/>
                    <a:gd name="T77" fmla="*/ 2 h 182"/>
                    <a:gd name="T78" fmla="*/ 96 w 286"/>
                    <a:gd name="T79" fmla="*/ 0 h 182"/>
                    <a:gd name="T80" fmla="*/ 70 w 286"/>
                    <a:gd name="T81" fmla="*/ 5 h 182"/>
                    <a:gd name="T82" fmla="*/ 56 w 286"/>
                    <a:gd name="T83" fmla="*/ 14 h 182"/>
                    <a:gd name="T84" fmla="*/ 46 w 286"/>
                    <a:gd name="T85" fmla="*/ 13 h 182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</a:gdLst>
                  <a:ahLst/>
                  <a:cxnLst>
                    <a:cxn ang="T86">
                      <a:pos x="T0" y="T1"/>
                    </a:cxn>
                    <a:cxn ang="T87">
                      <a:pos x="T2" y="T3"/>
                    </a:cxn>
                    <a:cxn ang="T88">
                      <a:pos x="T4" y="T5"/>
                    </a:cxn>
                    <a:cxn ang="T89">
                      <a:pos x="T6" y="T7"/>
                    </a:cxn>
                    <a:cxn ang="T90">
                      <a:pos x="T8" y="T9"/>
                    </a:cxn>
                    <a:cxn ang="T91">
                      <a:pos x="T10" y="T11"/>
                    </a:cxn>
                    <a:cxn ang="T92">
                      <a:pos x="T12" y="T13"/>
                    </a:cxn>
                    <a:cxn ang="T93">
                      <a:pos x="T14" y="T15"/>
                    </a:cxn>
                    <a:cxn ang="T94">
                      <a:pos x="T16" y="T17"/>
                    </a:cxn>
                    <a:cxn ang="T95">
                      <a:pos x="T18" y="T19"/>
                    </a:cxn>
                    <a:cxn ang="T96">
                      <a:pos x="T20" y="T21"/>
                    </a:cxn>
                    <a:cxn ang="T97">
                      <a:pos x="T22" y="T23"/>
                    </a:cxn>
                    <a:cxn ang="T98">
                      <a:pos x="T24" y="T25"/>
                    </a:cxn>
                    <a:cxn ang="T99">
                      <a:pos x="T26" y="T27"/>
                    </a:cxn>
                    <a:cxn ang="T100">
                      <a:pos x="T28" y="T29"/>
                    </a:cxn>
                    <a:cxn ang="T101">
                      <a:pos x="T30" y="T31"/>
                    </a:cxn>
                    <a:cxn ang="T102">
                      <a:pos x="T32" y="T33"/>
                    </a:cxn>
                    <a:cxn ang="T103">
                      <a:pos x="T34" y="T35"/>
                    </a:cxn>
                    <a:cxn ang="T104">
                      <a:pos x="T36" y="T37"/>
                    </a:cxn>
                    <a:cxn ang="T105">
                      <a:pos x="T38" y="T39"/>
                    </a:cxn>
                    <a:cxn ang="T106">
                      <a:pos x="T40" y="T41"/>
                    </a:cxn>
                    <a:cxn ang="T107">
                      <a:pos x="T42" y="T43"/>
                    </a:cxn>
                    <a:cxn ang="T108">
                      <a:pos x="T44" y="T45"/>
                    </a:cxn>
                    <a:cxn ang="T109">
                      <a:pos x="T46" y="T47"/>
                    </a:cxn>
                    <a:cxn ang="T110">
                      <a:pos x="T48" y="T49"/>
                    </a:cxn>
                    <a:cxn ang="T111">
                      <a:pos x="T50" y="T51"/>
                    </a:cxn>
                    <a:cxn ang="T112">
                      <a:pos x="T52" y="T53"/>
                    </a:cxn>
                    <a:cxn ang="T113">
                      <a:pos x="T54" y="T55"/>
                    </a:cxn>
                    <a:cxn ang="T114">
                      <a:pos x="T56" y="T57"/>
                    </a:cxn>
                    <a:cxn ang="T115">
                      <a:pos x="T58" y="T59"/>
                    </a:cxn>
                    <a:cxn ang="T116">
                      <a:pos x="T60" y="T61"/>
                    </a:cxn>
                    <a:cxn ang="T117">
                      <a:pos x="T62" y="T63"/>
                    </a:cxn>
                    <a:cxn ang="T118">
                      <a:pos x="T64" y="T65"/>
                    </a:cxn>
                    <a:cxn ang="T119">
                      <a:pos x="T66" y="T67"/>
                    </a:cxn>
                    <a:cxn ang="T120">
                      <a:pos x="T68" y="T69"/>
                    </a:cxn>
                    <a:cxn ang="T121">
                      <a:pos x="T70" y="T71"/>
                    </a:cxn>
                    <a:cxn ang="T122">
                      <a:pos x="T72" y="T73"/>
                    </a:cxn>
                    <a:cxn ang="T123">
                      <a:pos x="T74" y="T75"/>
                    </a:cxn>
                    <a:cxn ang="T124">
                      <a:pos x="T76" y="T77"/>
                    </a:cxn>
                    <a:cxn ang="T125">
                      <a:pos x="T78" y="T79"/>
                    </a:cxn>
                    <a:cxn ang="T126">
                      <a:pos x="T80" y="T81"/>
                    </a:cxn>
                    <a:cxn ang="T127">
                      <a:pos x="T82" y="T83"/>
                    </a:cxn>
                    <a:cxn ang="T128">
                      <a:pos x="T84" y="T85"/>
                    </a:cxn>
                  </a:cxnLst>
                  <a:rect l="0" t="0" r="r" b="b"/>
                  <a:pathLst>
                    <a:path w="286" h="182">
                      <a:moveTo>
                        <a:pt x="46" y="28"/>
                      </a:moveTo>
                      <a:cubicBezTo>
                        <a:pt x="41" y="14"/>
                        <a:pt x="46" y="17"/>
                        <a:pt x="36" y="14"/>
                      </a:cubicBezTo>
                      <a:cubicBezTo>
                        <a:pt x="31" y="17"/>
                        <a:pt x="26" y="30"/>
                        <a:pt x="26" y="30"/>
                      </a:cubicBezTo>
                      <a:cubicBezTo>
                        <a:pt x="12" y="25"/>
                        <a:pt x="19" y="21"/>
                        <a:pt x="0" y="24"/>
                      </a:cubicBezTo>
                      <a:cubicBezTo>
                        <a:pt x="2" y="33"/>
                        <a:pt x="2" y="37"/>
                        <a:pt x="10" y="42"/>
                      </a:cubicBezTo>
                      <a:cubicBezTo>
                        <a:pt x="12" y="49"/>
                        <a:pt x="14" y="55"/>
                        <a:pt x="16" y="62"/>
                      </a:cubicBezTo>
                      <a:cubicBezTo>
                        <a:pt x="24" y="59"/>
                        <a:pt x="27" y="57"/>
                        <a:pt x="24" y="48"/>
                      </a:cubicBezTo>
                      <a:cubicBezTo>
                        <a:pt x="26" y="47"/>
                        <a:pt x="28" y="43"/>
                        <a:pt x="30" y="44"/>
                      </a:cubicBezTo>
                      <a:cubicBezTo>
                        <a:pt x="48" y="48"/>
                        <a:pt x="36" y="52"/>
                        <a:pt x="48" y="56"/>
                      </a:cubicBezTo>
                      <a:cubicBezTo>
                        <a:pt x="74" y="65"/>
                        <a:pt x="47" y="56"/>
                        <a:pt x="70" y="62"/>
                      </a:cubicBezTo>
                      <a:cubicBezTo>
                        <a:pt x="77" y="64"/>
                        <a:pt x="88" y="72"/>
                        <a:pt x="88" y="72"/>
                      </a:cubicBezTo>
                      <a:cubicBezTo>
                        <a:pt x="96" y="84"/>
                        <a:pt x="102" y="87"/>
                        <a:pt x="106" y="102"/>
                      </a:cubicBezTo>
                      <a:cubicBezTo>
                        <a:pt x="105" y="109"/>
                        <a:pt x="106" y="115"/>
                        <a:pt x="104" y="122"/>
                      </a:cubicBezTo>
                      <a:cubicBezTo>
                        <a:pt x="103" y="126"/>
                        <a:pt x="94" y="132"/>
                        <a:pt x="98" y="134"/>
                      </a:cubicBezTo>
                      <a:cubicBezTo>
                        <a:pt x="106" y="137"/>
                        <a:pt x="122" y="128"/>
                        <a:pt x="122" y="128"/>
                      </a:cubicBezTo>
                      <a:cubicBezTo>
                        <a:pt x="130" y="131"/>
                        <a:pt x="133" y="135"/>
                        <a:pt x="140" y="140"/>
                      </a:cubicBezTo>
                      <a:cubicBezTo>
                        <a:pt x="148" y="145"/>
                        <a:pt x="159" y="145"/>
                        <a:pt x="168" y="148"/>
                      </a:cubicBezTo>
                      <a:cubicBezTo>
                        <a:pt x="170" y="147"/>
                        <a:pt x="173" y="148"/>
                        <a:pt x="174" y="146"/>
                      </a:cubicBezTo>
                      <a:cubicBezTo>
                        <a:pt x="176" y="142"/>
                        <a:pt x="164" y="136"/>
                        <a:pt x="168" y="134"/>
                      </a:cubicBezTo>
                      <a:cubicBezTo>
                        <a:pt x="171" y="132"/>
                        <a:pt x="175" y="135"/>
                        <a:pt x="178" y="136"/>
                      </a:cubicBezTo>
                      <a:cubicBezTo>
                        <a:pt x="182" y="131"/>
                        <a:pt x="186" y="118"/>
                        <a:pt x="186" y="118"/>
                      </a:cubicBezTo>
                      <a:cubicBezTo>
                        <a:pt x="189" y="119"/>
                        <a:pt x="199" y="120"/>
                        <a:pt x="202" y="122"/>
                      </a:cubicBezTo>
                      <a:cubicBezTo>
                        <a:pt x="206" y="124"/>
                        <a:pt x="214" y="130"/>
                        <a:pt x="214" y="130"/>
                      </a:cubicBezTo>
                      <a:cubicBezTo>
                        <a:pt x="224" y="145"/>
                        <a:pt x="228" y="158"/>
                        <a:pt x="244" y="168"/>
                      </a:cubicBezTo>
                      <a:cubicBezTo>
                        <a:pt x="250" y="172"/>
                        <a:pt x="262" y="178"/>
                        <a:pt x="262" y="178"/>
                      </a:cubicBezTo>
                      <a:cubicBezTo>
                        <a:pt x="265" y="178"/>
                        <a:pt x="286" y="182"/>
                        <a:pt x="284" y="170"/>
                      </a:cubicBezTo>
                      <a:cubicBezTo>
                        <a:pt x="283" y="164"/>
                        <a:pt x="268" y="160"/>
                        <a:pt x="268" y="160"/>
                      </a:cubicBezTo>
                      <a:cubicBezTo>
                        <a:pt x="261" y="150"/>
                        <a:pt x="270" y="143"/>
                        <a:pt x="256" y="138"/>
                      </a:cubicBezTo>
                      <a:cubicBezTo>
                        <a:pt x="254" y="136"/>
                        <a:pt x="251" y="135"/>
                        <a:pt x="250" y="132"/>
                      </a:cubicBezTo>
                      <a:cubicBezTo>
                        <a:pt x="248" y="129"/>
                        <a:pt x="250" y="125"/>
                        <a:pt x="248" y="122"/>
                      </a:cubicBezTo>
                      <a:cubicBezTo>
                        <a:pt x="246" y="118"/>
                        <a:pt x="240" y="118"/>
                        <a:pt x="236" y="116"/>
                      </a:cubicBezTo>
                      <a:cubicBezTo>
                        <a:pt x="230" y="107"/>
                        <a:pt x="227" y="100"/>
                        <a:pt x="240" y="96"/>
                      </a:cubicBezTo>
                      <a:cubicBezTo>
                        <a:pt x="236" y="83"/>
                        <a:pt x="236" y="84"/>
                        <a:pt x="220" y="86"/>
                      </a:cubicBezTo>
                      <a:cubicBezTo>
                        <a:pt x="209" y="82"/>
                        <a:pt x="208" y="82"/>
                        <a:pt x="210" y="70"/>
                      </a:cubicBezTo>
                      <a:cubicBezTo>
                        <a:pt x="207" y="60"/>
                        <a:pt x="199" y="57"/>
                        <a:pt x="190" y="54"/>
                      </a:cubicBezTo>
                      <a:cubicBezTo>
                        <a:pt x="181" y="45"/>
                        <a:pt x="181" y="42"/>
                        <a:pt x="168" y="38"/>
                      </a:cubicBezTo>
                      <a:cubicBezTo>
                        <a:pt x="164" y="37"/>
                        <a:pt x="156" y="34"/>
                        <a:pt x="156" y="34"/>
                      </a:cubicBezTo>
                      <a:cubicBezTo>
                        <a:pt x="146" y="24"/>
                        <a:pt x="134" y="21"/>
                        <a:pt x="120" y="16"/>
                      </a:cubicBezTo>
                      <a:cubicBezTo>
                        <a:pt x="113" y="14"/>
                        <a:pt x="108" y="8"/>
                        <a:pt x="102" y="4"/>
                      </a:cubicBezTo>
                      <a:cubicBezTo>
                        <a:pt x="100" y="3"/>
                        <a:pt x="96" y="0"/>
                        <a:pt x="96" y="0"/>
                      </a:cubicBezTo>
                      <a:cubicBezTo>
                        <a:pt x="83" y="2"/>
                        <a:pt x="79" y="1"/>
                        <a:pt x="70" y="10"/>
                      </a:cubicBezTo>
                      <a:cubicBezTo>
                        <a:pt x="67" y="19"/>
                        <a:pt x="63" y="27"/>
                        <a:pt x="56" y="32"/>
                      </a:cubicBezTo>
                      <a:cubicBezTo>
                        <a:pt x="49" y="30"/>
                        <a:pt x="52" y="31"/>
                        <a:pt x="4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Freeform 21"/>
                <p:cNvSpPr>
                  <a:spLocks/>
                </p:cNvSpPr>
                <p:nvPr/>
              </p:nvSpPr>
              <p:spPr bwMode="ltGray">
                <a:xfrm>
                  <a:off x="2820" y="866"/>
                  <a:ext cx="78" cy="64"/>
                </a:xfrm>
                <a:custGeom>
                  <a:avLst/>
                  <a:gdLst>
                    <a:gd name="T0" fmla="*/ 1 w 78"/>
                    <a:gd name="T1" fmla="*/ 26 h 78"/>
                    <a:gd name="T2" fmla="*/ 27 w 78"/>
                    <a:gd name="T3" fmla="*/ 27 h 78"/>
                    <a:gd name="T4" fmla="*/ 45 w 78"/>
                    <a:gd name="T5" fmla="*/ 21 h 78"/>
                    <a:gd name="T6" fmla="*/ 57 w 78"/>
                    <a:gd name="T7" fmla="*/ 14 h 78"/>
                    <a:gd name="T8" fmla="*/ 43 w 78"/>
                    <a:gd name="T9" fmla="*/ 6 h 78"/>
                    <a:gd name="T10" fmla="*/ 43 w 78"/>
                    <a:gd name="T11" fmla="*/ 2 h 78"/>
                    <a:gd name="T12" fmla="*/ 71 w 78"/>
                    <a:gd name="T13" fmla="*/ 11 h 78"/>
                    <a:gd name="T14" fmla="*/ 67 w 78"/>
                    <a:gd name="T15" fmla="*/ 25 h 78"/>
                    <a:gd name="T16" fmla="*/ 33 w 78"/>
                    <a:gd name="T17" fmla="*/ 35 h 78"/>
                    <a:gd name="T18" fmla="*/ 9 w 78"/>
                    <a:gd name="T19" fmla="*/ 30 h 78"/>
                    <a:gd name="T20" fmla="*/ 3 w 78"/>
                    <a:gd name="T21" fmla="*/ 28 h 78"/>
                    <a:gd name="T22" fmla="*/ 1 w 78"/>
                    <a:gd name="T23" fmla="*/ 26 h 78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78" h="78">
                      <a:moveTo>
                        <a:pt x="1" y="58"/>
                      </a:moveTo>
                      <a:cubicBezTo>
                        <a:pt x="6" y="44"/>
                        <a:pt x="18" y="57"/>
                        <a:pt x="27" y="60"/>
                      </a:cubicBezTo>
                      <a:cubicBezTo>
                        <a:pt x="35" y="57"/>
                        <a:pt x="38" y="52"/>
                        <a:pt x="45" y="48"/>
                      </a:cubicBezTo>
                      <a:cubicBezTo>
                        <a:pt x="48" y="40"/>
                        <a:pt x="51" y="36"/>
                        <a:pt x="57" y="30"/>
                      </a:cubicBezTo>
                      <a:cubicBezTo>
                        <a:pt x="55" y="23"/>
                        <a:pt x="43" y="14"/>
                        <a:pt x="43" y="14"/>
                      </a:cubicBezTo>
                      <a:cubicBezTo>
                        <a:pt x="33" y="0"/>
                        <a:pt x="30" y="1"/>
                        <a:pt x="43" y="4"/>
                      </a:cubicBezTo>
                      <a:cubicBezTo>
                        <a:pt x="54" y="11"/>
                        <a:pt x="58" y="22"/>
                        <a:pt x="71" y="26"/>
                      </a:cubicBezTo>
                      <a:cubicBezTo>
                        <a:pt x="78" y="37"/>
                        <a:pt x="78" y="46"/>
                        <a:pt x="67" y="54"/>
                      </a:cubicBezTo>
                      <a:cubicBezTo>
                        <a:pt x="51" y="49"/>
                        <a:pt x="53" y="71"/>
                        <a:pt x="33" y="78"/>
                      </a:cubicBezTo>
                      <a:cubicBezTo>
                        <a:pt x="16" y="72"/>
                        <a:pt x="25" y="76"/>
                        <a:pt x="9" y="66"/>
                      </a:cubicBezTo>
                      <a:cubicBezTo>
                        <a:pt x="7" y="65"/>
                        <a:pt x="3" y="62"/>
                        <a:pt x="3" y="62"/>
                      </a:cubicBezTo>
                      <a:cubicBezTo>
                        <a:pt x="0" y="54"/>
                        <a:pt x="13" y="42"/>
                        <a:pt x="1" y="5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Freeform 22"/>
                <p:cNvSpPr>
                  <a:spLocks/>
                </p:cNvSpPr>
                <p:nvPr/>
              </p:nvSpPr>
              <p:spPr bwMode="ltGray">
                <a:xfrm>
                  <a:off x="2984" y="732"/>
                  <a:ext cx="19" cy="14"/>
                </a:xfrm>
                <a:custGeom>
                  <a:avLst/>
                  <a:gdLst>
                    <a:gd name="T0" fmla="*/ 3 w 17"/>
                    <a:gd name="T1" fmla="*/ 2 h 18"/>
                    <a:gd name="T2" fmla="*/ 3 w 17"/>
                    <a:gd name="T3" fmla="*/ 5 h 18"/>
                    <a:gd name="T4" fmla="*/ 3 w 17"/>
                    <a:gd name="T5" fmla="*/ 2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7" h="18">
                      <a:moveTo>
                        <a:pt x="3" y="4"/>
                      </a:moveTo>
                      <a:cubicBezTo>
                        <a:pt x="17" y="7"/>
                        <a:pt x="16" y="18"/>
                        <a:pt x="3" y="14"/>
                      </a:cubicBezTo>
                      <a:cubicBezTo>
                        <a:pt x="0" y="6"/>
                        <a:pt x="7" y="0"/>
                        <a:pt x="3" y="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Freeform 23"/>
                <p:cNvSpPr>
                  <a:spLocks/>
                </p:cNvSpPr>
                <p:nvPr/>
              </p:nvSpPr>
              <p:spPr bwMode="ltGray">
                <a:xfrm>
                  <a:off x="3083" y="830"/>
                  <a:ext cx="26" cy="19"/>
                </a:xfrm>
                <a:custGeom>
                  <a:avLst/>
                  <a:gdLst>
                    <a:gd name="T0" fmla="*/ 8 w 26"/>
                    <a:gd name="T1" fmla="*/ 8 h 22"/>
                    <a:gd name="T2" fmla="*/ 14 w 26"/>
                    <a:gd name="T3" fmla="*/ 0 h 22"/>
                    <a:gd name="T4" fmla="*/ 14 w 26"/>
                    <a:gd name="T5" fmla="*/ 12 h 22"/>
                    <a:gd name="T6" fmla="*/ 8 w 26"/>
                    <a:gd name="T7" fmla="*/ 8 h 2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6" h="22">
                      <a:moveTo>
                        <a:pt x="8" y="14"/>
                      </a:moveTo>
                      <a:cubicBezTo>
                        <a:pt x="5" y="6"/>
                        <a:pt x="5" y="3"/>
                        <a:pt x="14" y="0"/>
                      </a:cubicBezTo>
                      <a:cubicBezTo>
                        <a:pt x="26" y="4"/>
                        <a:pt x="23" y="16"/>
                        <a:pt x="14" y="22"/>
                      </a:cubicBezTo>
                      <a:cubicBezTo>
                        <a:pt x="0" y="17"/>
                        <a:pt x="13" y="3"/>
                        <a:pt x="8" y="1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Freeform 24"/>
                <p:cNvSpPr>
                  <a:spLocks/>
                </p:cNvSpPr>
                <p:nvPr/>
              </p:nvSpPr>
              <p:spPr bwMode="ltGray">
                <a:xfrm>
                  <a:off x="2766" y="610"/>
                  <a:ext cx="19" cy="12"/>
                </a:xfrm>
                <a:custGeom>
                  <a:avLst/>
                  <a:gdLst>
                    <a:gd name="T0" fmla="*/ 7 w 20"/>
                    <a:gd name="T1" fmla="*/ 5 h 15"/>
                    <a:gd name="T2" fmla="*/ 13 w 20"/>
                    <a:gd name="T3" fmla="*/ 2 h 15"/>
                    <a:gd name="T4" fmla="*/ 9 w 20"/>
                    <a:gd name="T5" fmla="*/ 5 h 15"/>
                    <a:gd name="T6" fmla="*/ 7 w 20"/>
                    <a:gd name="T7" fmla="*/ 5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1"/>
                        <a:pt x="6" y="0"/>
                        <a:pt x="17" y="2"/>
                      </a:cubicBezTo>
                      <a:cubicBezTo>
                        <a:pt x="20" y="10"/>
                        <a:pt x="18" y="15"/>
                        <a:pt x="9" y="12"/>
                      </a:cubicBezTo>
                      <a:cubicBezTo>
                        <a:pt x="4" y="4"/>
                        <a:pt x="4" y="4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Freeform 25"/>
                <p:cNvSpPr>
                  <a:spLocks/>
                </p:cNvSpPr>
                <p:nvPr/>
              </p:nvSpPr>
              <p:spPr bwMode="ltGray">
                <a:xfrm>
                  <a:off x="2600" y="712"/>
                  <a:ext cx="19" cy="12"/>
                </a:xfrm>
                <a:custGeom>
                  <a:avLst/>
                  <a:gdLst>
                    <a:gd name="T0" fmla="*/ 7 w 20"/>
                    <a:gd name="T1" fmla="*/ 5 h 15"/>
                    <a:gd name="T2" fmla="*/ 11 w 20"/>
                    <a:gd name="T3" fmla="*/ 2 h 15"/>
                    <a:gd name="T4" fmla="*/ 11 w 20"/>
                    <a:gd name="T5" fmla="*/ 6 h 15"/>
                    <a:gd name="T6" fmla="*/ 7 w 20"/>
                    <a:gd name="T7" fmla="*/ 5 h 15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0" h="15">
                      <a:moveTo>
                        <a:pt x="7" y="12"/>
                      </a:moveTo>
                      <a:cubicBezTo>
                        <a:pt x="0" y="2"/>
                        <a:pt x="3" y="0"/>
                        <a:pt x="15" y="2"/>
                      </a:cubicBezTo>
                      <a:cubicBezTo>
                        <a:pt x="16" y="4"/>
                        <a:pt x="20" y="12"/>
                        <a:pt x="15" y="14"/>
                      </a:cubicBezTo>
                      <a:cubicBezTo>
                        <a:pt x="12" y="15"/>
                        <a:pt x="7" y="12"/>
                        <a:pt x="7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Freeform 26"/>
                <p:cNvSpPr>
                  <a:spLocks/>
                </p:cNvSpPr>
                <p:nvPr/>
              </p:nvSpPr>
              <p:spPr bwMode="ltGray">
                <a:xfrm>
                  <a:off x="2417" y="680"/>
                  <a:ext cx="80" cy="66"/>
                </a:xfrm>
                <a:custGeom>
                  <a:avLst/>
                  <a:gdLst>
                    <a:gd name="T0" fmla="*/ 0 w 80"/>
                    <a:gd name="T1" fmla="*/ 23 h 80"/>
                    <a:gd name="T2" fmla="*/ 14 w 80"/>
                    <a:gd name="T3" fmla="*/ 12 h 80"/>
                    <a:gd name="T4" fmla="*/ 26 w 80"/>
                    <a:gd name="T5" fmla="*/ 10 h 80"/>
                    <a:gd name="T6" fmla="*/ 48 w 80"/>
                    <a:gd name="T7" fmla="*/ 8 h 80"/>
                    <a:gd name="T8" fmla="*/ 58 w 80"/>
                    <a:gd name="T9" fmla="*/ 0 h 80"/>
                    <a:gd name="T10" fmla="*/ 80 w 80"/>
                    <a:gd name="T11" fmla="*/ 18 h 80"/>
                    <a:gd name="T12" fmla="*/ 70 w 80"/>
                    <a:gd name="T13" fmla="*/ 26 h 80"/>
                    <a:gd name="T14" fmla="*/ 54 w 80"/>
                    <a:gd name="T15" fmla="*/ 29 h 80"/>
                    <a:gd name="T16" fmla="*/ 48 w 80"/>
                    <a:gd name="T17" fmla="*/ 37 h 80"/>
                    <a:gd name="T18" fmla="*/ 32 w 80"/>
                    <a:gd name="T19" fmla="*/ 31 h 80"/>
                    <a:gd name="T20" fmla="*/ 38 w 80"/>
                    <a:gd name="T21" fmla="*/ 24 h 80"/>
                    <a:gd name="T22" fmla="*/ 30 w 80"/>
                    <a:gd name="T23" fmla="*/ 13 h 80"/>
                    <a:gd name="T24" fmla="*/ 20 w 80"/>
                    <a:gd name="T25" fmla="*/ 22 h 80"/>
                    <a:gd name="T26" fmla="*/ 8 w 80"/>
                    <a:gd name="T27" fmla="*/ 26 h 80"/>
                    <a:gd name="T28" fmla="*/ 0 w 80"/>
                    <a:gd name="T29" fmla="*/ 23 h 80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0" t="0" r="r" b="b"/>
                  <a:pathLst>
                    <a:path w="80" h="80">
                      <a:moveTo>
                        <a:pt x="0" y="50"/>
                      </a:moveTo>
                      <a:cubicBezTo>
                        <a:pt x="1" y="47"/>
                        <a:pt x="12" y="25"/>
                        <a:pt x="14" y="24"/>
                      </a:cubicBezTo>
                      <a:cubicBezTo>
                        <a:pt x="17" y="22"/>
                        <a:pt x="26" y="20"/>
                        <a:pt x="26" y="20"/>
                      </a:cubicBezTo>
                      <a:cubicBezTo>
                        <a:pt x="34" y="23"/>
                        <a:pt x="40" y="21"/>
                        <a:pt x="48" y="18"/>
                      </a:cubicBezTo>
                      <a:cubicBezTo>
                        <a:pt x="52" y="12"/>
                        <a:pt x="54" y="6"/>
                        <a:pt x="58" y="0"/>
                      </a:cubicBezTo>
                      <a:cubicBezTo>
                        <a:pt x="70" y="4"/>
                        <a:pt x="76" y="28"/>
                        <a:pt x="80" y="40"/>
                      </a:cubicBezTo>
                      <a:cubicBezTo>
                        <a:pt x="75" y="54"/>
                        <a:pt x="80" y="50"/>
                        <a:pt x="70" y="56"/>
                      </a:cubicBezTo>
                      <a:cubicBezTo>
                        <a:pt x="61" y="53"/>
                        <a:pt x="59" y="54"/>
                        <a:pt x="54" y="62"/>
                      </a:cubicBezTo>
                      <a:cubicBezTo>
                        <a:pt x="57" y="71"/>
                        <a:pt x="56" y="75"/>
                        <a:pt x="48" y="80"/>
                      </a:cubicBezTo>
                      <a:cubicBezTo>
                        <a:pt x="40" y="77"/>
                        <a:pt x="39" y="72"/>
                        <a:pt x="32" y="68"/>
                      </a:cubicBezTo>
                      <a:cubicBezTo>
                        <a:pt x="26" y="59"/>
                        <a:pt x="30" y="57"/>
                        <a:pt x="38" y="52"/>
                      </a:cubicBezTo>
                      <a:cubicBezTo>
                        <a:pt x="41" y="42"/>
                        <a:pt x="39" y="34"/>
                        <a:pt x="30" y="28"/>
                      </a:cubicBezTo>
                      <a:cubicBezTo>
                        <a:pt x="20" y="31"/>
                        <a:pt x="30" y="40"/>
                        <a:pt x="20" y="48"/>
                      </a:cubicBezTo>
                      <a:cubicBezTo>
                        <a:pt x="16" y="51"/>
                        <a:pt x="8" y="56"/>
                        <a:pt x="8" y="56"/>
                      </a:cubicBezTo>
                      <a:cubicBezTo>
                        <a:pt x="2" y="50"/>
                        <a:pt x="5" y="50"/>
                        <a:pt x="0" y="5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Freeform 27"/>
                <p:cNvSpPr>
                  <a:spLocks/>
                </p:cNvSpPr>
                <p:nvPr/>
              </p:nvSpPr>
              <p:spPr bwMode="ltGray">
                <a:xfrm>
                  <a:off x="2391" y="541"/>
                  <a:ext cx="94" cy="142"/>
                </a:xfrm>
                <a:custGeom>
                  <a:avLst/>
                  <a:gdLst>
                    <a:gd name="T0" fmla="*/ 14 w 94"/>
                    <a:gd name="T1" fmla="*/ 42 h 174"/>
                    <a:gd name="T2" fmla="*/ 26 w 94"/>
                    <a:gd name="T3" fmla="*/ 56 h 174"/>
                    <a:gd name="T4" fmla="*/ 32 w 94"/>
                    <a:gd name="T5" fmla="*/ 48 h 174"/>
                    <a:gd name="T6" fmla="*/ 52 w 94"/>
                    <a:gd name="T7" fmla="*/ 45 h 174"/>
                    <a:gd name="T8" fmla="*/ 46 w 94"/>
                    <a:gd name="T9" fmla="*/ 55 h 174"/>
                    <a:gd name="T10" fmla="*/ 66 w 94"/>
                    <a:gd name="T11" fmla="*/ 56 h 174"/>
                    <a:gd name="T12" fmla="*/ 76 w 94"/>
                    <a:gd name="T13" fmla="*/ 64 h 174"/>
                    <a:gd name="T14" fmla="*/ 58 w 94"/>
                    <a:gd name="T15" fmla="*/ 66 h 174"/>
                    <a:gd name="T16" fmla="*/ 74 w 94"/>
                    <a:gd name="T17" fmla="*/ 78 h 174"/>
                    <a:gd name="T18" fmla="*/ 84 w 94"/>
                    <a:gd name="T19" fmla="*/ 69 h 174"/>
                    <a:gd name="T20" fmla="*/ 82 w 94"/>
                    <a:gd name="T21" fmla="*/ 49 h 174"/>
                    <a:gd name="T22" fmla="*/ 60 w 94"/>
                    <a:gd name="T23" fmla="*/ 47 h 174"/>
                    <a:gd name="T24" fmla="*/ 50 w 94"/>
                    <a:gd name="T25" fmla="*/ 37 h 174"/>
                    <a:gd name="T26" fmla="*/ 34 w 94"/>
                    <a:gd name="T27" fmla="*/ 37 h 174"/>
                    <a:gd name="T28" fmla="*/ 30 w 94"/>
                    <a:gd name="T29" fmla="*/ 31 h 174"/>
                    <a:gd name="T30" fmla="*/ 42 w 94"/>
                    <a:gd name="T31" fmla="*/ 19 h 174"/>
                    <a:gd name="T32" fmla="*/ 30 w 94"/>
                    <a:gd name="T33" fmla="*/ 0 h 174"/>
                    <a:gd name="T34" fmla="*/ 18 w 94"/>
                    <a:gd name="T35" fmla="*/ 10 h 174"/>
                    <a:gd name="T36" fmla="*/ 4 w 94"/>
                    <a:gd name="T37" fmla="*/ 20 h 174"/>
                    <a:gd name="T38" fmla="*/ 14 w 94"/>
                    <a:gd name="T39" fmla="*/ 34 h 174"/>
                    <a:gd name="T40" fmla="*/ 14 w 94"/>
                    <a:gd name="T41" fmla="*/ 42 h 174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</a:gdLst>
                  <a:ahLst/>
                  <a:cxnLst>
                    <a:cxn ang="T42">
                      <a:pos x="T0" y="T1"/>
                    </a:cxn>
                    <a:cxn ang="T43">
                      <a:pos x="T2" y="T3"/>
                    </a:cxn>
                    <a:cxn ang="T44">
                      <a:pos x="T4" y="T5"/>
                    </a:cxn>
                    <a:cxn ang="T45">
                      <a:pos x="T6" y="T7"/>
                    </a:cxn>
                    <a:cxn ang="T46">
                      <a:pos x="T8" y="T9"/>
                    </a:cxn>
                    <a:cxn ang="T47">
                      <a:pos x="T10" y="T11"/>
                    </a:cxn>
                    <a:cxn ang="T48">
                      <a:pos x="T12" y="T13"/>
                    </a:cxn>
                    <a:cxn ang="T49">
                      <a:pos x="T14" y="T15"/>
                    </a:cxn>
                    <a:cxn ang="T50">
                      <a:pos x="T16" y="T17"/>
                    </a:cxn>
                    <a:cxn ang="T51">
                      <a:pos x="T18" y="T19"/>
                    </a:cxn>
                    <a:cxn ang="T52">
                      <a:pos x="T20" y="T21"/>
                    </a:cxn>
                    <a:cxn ang="T53">
                      <a:pos x="T22" y="T23"/>
                    </a:cxn>
                    <a:cxn ang="T54">
                      <a:pos x="T24" y="T25"/>
                    </a:cxn>
                    <a:cxn ang="T55">
                      <a:pos x="T26" y="T27"/>
                    </a:cxn>
                    <a:cxn ang="T56">
                      <a:pos x="T28" y="T29"/>
                    </a:cxn>
                    <a:cxn ang="T57">
                      <a:pos x="T30" y="T31"/>
                    </a:cxn>
                    <a:cxn ang="T58">
                      <a:pos x="T32" y="T33"/>
                    </a:cxn>
                    <a:cxn ang="T59">
                      <a:pos x="T34" y="T35"/>
                    </a:cxn>
                    <a:cxn ang="T60">
                      <a:pos x="T36" y="T37"/>
                    </a:cxn>
                    <a:cxn ang="T61">
                      <a:pos x="T38" y="T39"/>
                    </a:cxn>
                    <a:cxn ang="T62">
                      <a:pos x="T40" y="T41"/>
                    </a:cxn>
                  </a:cxnLst>
                  <a:rect l="0" t="0" r="r" b="b"/>
                  <a:pathLst>
                    <a:path w="94" h="174">
                      <a:moveTo>
                        <a:pt x="14" y="96"/>
                      </a:moveTo>
                      <a:cubicBezTo>
                        <a:pt x="11" y="109"/>
                        <a:pt x="15" y="120"/>
                        <a:pt x="26" y="128"/>
                      </a:cubicBezTo>
                      <a:cubicBezTo>
                        <a:pt x="34" y="120"/>
                        <a:pt x="35" y="119"/>
                        <a:pt x="32" y="108"/>
                      </a:cubicBezTo>
                      <a:cubicBezTo>
                        <a:pt x="35" y="92"/>
                        <a:pt x="39" y="92"/>
                        <a:pt x="52" y="100"/>
                      </a:cubicBezTo>
                      <a:cubicBezTo>
                        <a:pt x="59" y="110"/>
                        <a:pt x="49" y="114"/>
                        <a:pt x="46" y="124"/>
                      </a:cubicBezTo>
                      <a:cubicBezTo>
                        <a:pt x="50" y="137"/>
                        <a:pt x="57" y="129"/>
                        <a:pt x="66" y="126"/>
                      </a:cubicBezTo>
                      <a:cubicBezTo>
                        <a:pt x="77" y="129"/>
                        <a:pt x="79" y="131"/>
                        <a:pt x="76" y="142"/>
                      </a:cubicBezTo>
                      <a:cubicBezTo>
                        <a:pt x="67" y="139"/>
                        <a:pt x="65" y="141"/>
                        <a:pt x="58" y="148"/>
                      </a:cubicBezTo>
                      <a:cubicBezTo>
                        <a:pt x="60" y="160"/>
                        <a:pt x="62" y="170"/>
                        <a:pt x="74" y="174"/>
                      </a:cubicBezTo>
                      <a:cubicBezTo>
                        <a:pt x="77" y="165"/>
                        <a:pt x="74" y="157"/>
                        <a:pt x="84" y="154"/>
                      </a:cubicBezTo>
                      <a:cubicBezTo>
                        <a:pt x="91" y="143"/>
                        <a:pt x="94" y="122"/>
                        <a:pt x="82" y="112"/>
                      </a:cubicBezTo>
                      <a:cubicBezTo>
                        <a:pt x="77" y="108"/>
                        <a:pt x="66" y="108"/>
                        <a:pt x="60" y="106"/>
                      </a:cubicBezTo>
                      <a:cubicBezTo>
                        <a:pt x="65" y="92"/>
                        <a:pt x="66" y="87"/>
                        <a:pt x="50" y="82"/>
                      </a:cubicBezTo>
                      <a:cubicBezTo>
                        <a:pt x="48" y="82"/>
                        <a:pt x="37" y="86"/>
                        <a:pt x="34" y="82"/>
                      </a:cubicBezTo>
                      <a:cubicBezTo>
                        <a:pt x="32" y="79"/>
                        <a:pt x="30" y="70"/>
                        <a:pt x="30" y="70"/>
                      </a:cubicBezTo>
                      <a:cubicBezTo>
                        <a:pt x="32" y="54"/>
                        <a:pt x="32" y="52"/>
                        <a:pt x="42" y="42"/>
                      </a:cubicBezTo>
                      <a:cubicBezTo>
                        <a:pt x="41" y="30"/>
                        <a:pt x="45" y="5"/>
                        <a:pt x="30" y="0"/>
                      </a:cubicBezTo>
                      <a:cubicBezTo>
                        <a:pt x="14" y="4"/>
                        <a:pt x="16" y="4"/>
                        <a:pt x="18" y="22"/>
                      </a:cubicBezTo>
                      <a:cubicBezTo>
                        <a:pt x="16" y="39"/>
                        <a:pt x="15" y="35"/>
                        <a:pt x="4" y="46"/>
                      </a:cubicBezTo>
                      <a:cubicBezTo>
                        <a:pt x="0" y="59"/>
                        <a:pt x="5" y="67"/>
                        <a:pt x="14" y="76"/>
                      </a:cubicBezTo>
                      <a:cubicBezTo>
                        <a:pt x="15" y="80"/>
                        <a:pt x="17" y="93"/>
                        <a:pt x="14" y="9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59" name="Freeform 28"/>
                <p:cNvSpPr>
                  <a:spLocks/>
                </p:cNvSpPr>
                <p:nvPr/>
              </p:nvSpPr>
              <p:spPr bwMode="ltGray">
                <a:xfrm>
                  <a:off x="2415" y="644"/>
                  <a:ext cx="32" cy="41"/>
                </a:xfrm>
                <a:custGeom>
                  <a:avLst/>
                  <a:gdLst>
                    <a:gd name="T0" fmla="*/ 6 w 32"/>
                    <a:gd name="T1" fmla="*/ 11 h 50"/>
                    <a:gd name="T2" fmla="*/ 12 w 32"/>
                    <a:gd name="T3" fmla="*/ 0 h 50"/>
                    <a:gd name="T4" fmla="*/ 20 w 32"/>
                    <a:gd name="T5" fmla="*/ 7 h 50"/>
                    <a:gd name="T6" fmla="*/ 22 w 32"/>
                    <a:gd name="T7" fmla="*/ 11 h 50"/>
                    <a:gd name="T8" fmla="*/ 28 w 32"/>
                    <a:gd name="T9" fmla="*/ 11 h 50"/>
                    <a:gd name="T10" fmla="*/ 32 w 32"/>
                    <a:gd name="T11" fmla="*/ 17 h 50"/>
                    <a:gd name="T12" fmla="*/ 18 w 32"/>
                    <a:gd name="T13" fmla="*/ 23 h 50"/>
                    <a:gd name="T14" fmla="*/ 6 w 32"/>
                    <a:gd name="T15" fmla="*/ 11 h 5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32" h="50">
                      <a:moveTo>
                        <a:pt x="6" y="24"/>
                      </a:moveTo>
                      <a:cubicBezTo>
                        <a:pt x="0" y="15"/>
                        <a:pt x="3" y="6"/>
                        <a:pt x="12" y="0"/>
                      </a:cubicBezTo>
                      <a:cubicBezTo>
                        <a:pt x="23" y="3"/>
                        <a:pt x="23" y="5"/>
                        <a:pt x="20" y="16"/>
                      </a:cubicBezTo>
                      <a:cubicBezTo>
                        <a:pt x="21" y="19"/>
                        <a:pt x="20" y="22"/>
                        <a:pt x="22" y="24"/>
                      </a:cubicBezTo>
                      <a:cubicBezTo>
                        <a:pt x="23" y="26"/>
                        <a:pt x="27" y="24"/>
                        <a:pt x="28" y="26"/>
                      </a:cubicBezTo>
                      <a:cubicBezTo>
                        <a:pt x="30" y="29"/>
                        <a:pt x="32" y="38"/>
                        <a:pt x="32" y="38"/>
                      </a:cubicBezTo>
                      <a:cubicBezTo>
                        <a:pt x="29" y="46"/>
                        <a:pt x="26" y="47"/>
                        <a:pt x="18" y="50"/>
                      </a:cubicBezTo>
                      <a:cubicBezTo>
                        <a:pt x="12" y="41"/>
                        <a:pt x="18" y="24"/>
                        <a:pt x="6" y="2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Freeform 29"/>
                <p:cNvSpPr>
                  <a:spLocks/>
                </p:cNvSpPr>
                <p:nvPr/>
              </p:nvSpPr>
              <p:spPr bwMode="ltGray">
                <a:xfrm>
                  <a:off x="2349" y="654"/>
                  <a:ext cx="45" cy="41"/>
                </a:xfrm>
                <a:custGeom>
                  <a:avLst/>
                  <a:gdLst>
                    <a:gd name="T0" fmla="*/ 0 w 43"/>
                    <a:gd name="T1" fmla="*/ 21 h 50"/>
                    <a:gd name="T2" fmla="*/ 26 w 43"/>
                    <a:gd name="T3" fmla="*/ 9 h 50"/>
                    <a:gd name="T4" fmla="*/ 44 w 43"/>
                    <a:gd name="T5" fmla="*/ 0 h 50"/>
                    <a:gd name="T6" fmla="*/ 28 w 43"/>
                    <a:gd name="T7" fmla="*/ 13 h 50"/>
                    <a:gd name="T8" fmla="*/ 2 w 43"/>
                    <a:gd name="T9" fmla="*/ 23 h 50"/>
                    <a:gd name="T10" fmla="*/ 0 w 43"/>
                    <a:gd name="T11" fmla="*/ 21 h 50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50">
                      <a:moveTo>
                        <a:pt x="0" y="44"/>
                      </a:moveTo>
                      <a:cubicBezTo>
                        <a:pt x="6" y="38"/>
                        <a:pt x="18" y="29"/>
                        <a:pt x="22" y="20"/>
                      </a:cubicBezTo>
                      <a:cubicBezTo>
                        <a:pt x="27" y="10"/>
                        <a:pt x="25" y="4"/>
                        <a:pt x="36" y="0"/>
                      </a:cubicBezTo>
                      <a:cubicBezTo>
                        <a:pt x="43" y="11"/>
                        <a:pt x="36" y="24"/>
                        <a:pt x="24" y="28"/>
                      </a:cubicBezTo>
                      <a:cubicBezTo>
                        <a:pt x="21" y="38"/>
                        <a:pt x="12" y="47"/>
                        <a:pt x="2" y="50"/>
                      </a:cubicBezTo>
                      <a:cubicBezTo>
                        <a:pt x="1" y="48"/>
                        <a:pt x="0" y="44"/>
                        <a:pt x="0" y="44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1" name="Freeform 30"/>
                <p:cNvSpPr>
                  <a:spLocks/>
                </p:cNvSpPr>
                <p:nvPr/>
              </p:nvSpPr>
              <p:spPr bwMode="ltGray">
                <a:xfrm>
                  <a:off x="4808" y="597"/>
                  <a:ext cx="701" cy="438"/>
                </a:xfrm>
                <a:custGeom>
                  <a:avLst/>
                  <a:gdLst>
                    <a:gd name="T0" fmla="*/ 101 w 471"/>
                    <a:gd name="T1" fmla="*/ 1652 h 281"/>
                    <a:gd name="T2" fmla="*/ 119 w 471"/>
                    <a:gd name="T3" fmla="*/ 1478 h 281"/>
                    <a:gd name="T4" fmla="*/ 109 w 471"/>
                    <a:gd name="T5" fmla="*/ 1445 h 281"/>
                    <a:gd name="T6" fmla="*/ 80 w 471"/>
                    <a:gd name="T7" fmla="*/ 1288 h 281"/>
                    <a:gd name="T8" fmla="*/ 19 w 471"/>
                    <a:gd name="T9" fmla="*/ 1269 h 281"/>
                    <a:gd name="T10" fmla="*/ 0 w 471"/>
                    <a:gd name="T11" fmla="*/ 1127 h 281"/>
                    <a:gd name="T12" fmla="*/ 60 w 471"/>
                    <a:gd name="T13" fmla="*/ 1065 h 281"/>
                    <a:gd name="T14" fmla="*/ 28 w 471"/>
                    <a:gd name="T15" fmla="*/ 974 h 281"/>
                    <a:gd name="T16" fmla="*/ 9 w 471"/>
                    <a:gd name="T17" fmla="*/ 943 h 281"/>
                    <a:gd name="T18" fmla="*/ 140 w 471"/>
                    <a:gd name="T19" fmla="*/ 708 h 281"/>
                    <a:gd name="T20" fmla="*/ 214 w 471"/>
                    <a:gd name="T21" fmla="*/ 569 h 281"/>
                    <a:gd name="T22" fmla="*/ 208 w 471"/>
                    <a:gd name="T23" fmla="*/ 413 h 281"/>
                    <a:gd name="T24" fmla="*/ 119 w 471"/>
                    <a:gd name="T25" fmla="*/ 253 h 281"/>
                    <a:gd name="T26" fmla="*/ 100 w 471"/>
                    <a:gd name="T27" fmla="*/ 190 h 281"/>
                    <a:gd name="T28" fmla="*/ 128 w 471"/>
                    <a:gd name="T29" fmla="*/ 212 h 281"/>
                    <a:gd name="T30" fmla="*/ 235 w 471"/>
                    <a:gd name="T31" fmla="*/ 209 h 281"/>
                    <a:gd name="T32" fmla="*/ 313 w 471"/>
                    <a:gd name="T33" fmla="*/ 64 h 281"/>
                    <a:gd name="T34" fmla="*/ 403 w 471"/>
                    <a:gd name="T35" fmla="*/ 0 h 281"/>
                    <a:gd name="T36" fmla="*/ 432 w 471"/>
                    <a:gd name="T37" fmla="*/ 12 h 281"/>
                    <a:gd name="T38" fmla="*/ 452 w 471"/>
                    <a:gd name="T39" fmla="*/ 53 h 281"/>
                    <a:gd name="T40" fmla="*/ 481 w 471"/>
                    <a:gd name="T41" fmla="*/ 30 h 281"/>
                    <a:gd name="T42" fmla="*/ 540 w 471"/>
                    <a:gd name="T43" fmla="*/ 47 h 281"/>
                    <a:gd name="T44" fmla="*/ 569 w 471"/>
                    <a:gd name="T45" fmla="*/ 53 h 281"/>
                    <a:gd name="T46" fmla="*/ 694 w 471"/>
                    <a:gd name="T47" fmla="*/ 83 h 281"/>
                    <a:gd name="T48" fmla="*/ 762 w 471"/>
                    <a:gd name="T49" fmla="*/ 140 h 281"/>
                    <a:gd name="T50" fmla="*/ 822 w 471"/>
                    <a:gd name="T51" fmla="*/ 100 h 281"/>
                    <a:gd name="T52" fmla="*/ 847 w 471"/>
                    <a:gd name="T53" fmla="*/ 83 h 281"/>
                    <a:gd name="T54" fmla="*/ 957 w 471"/>
                    <a:gd name="T55" fmla="*/ 83 h 281"/>
                    <a:gd name="T56" fmla="*/ 1034 w 471"/>
                    <a:gd name="T57" fmla="*/ 190 h 281"/>
                    <a:gd name="T58" fmla="*/ 1134 w 471"/>
                    <a:gd name="T59" fmla="*/ 348 h 281"/>
                    <a:gd name="T60" fmla="*/ 1203 w 471"/>
                    <a:gd name="T61" fmla="*/ 413 h 281"/>
                    <a:gd name="T62" fmla="*/ 1261 w 471"/>
                    <a:gd name="T63" fmla="*/ 401 h 281"/>
                    <a:gd name="T64" fmla="*/ 1325 w 471"/>
                    <a:gd name="T65" fmla="*/ 382 h 281"/>
                    <a:gd name="T66" fmla="*/ 1424 w 471"/>
                    <a:gd name="T67" fmla="*/ 421 h 281"/>
                    <a:gd name="T68" fmla="*/ 1470 w 471"/>
                    <a:gd name="T69" fmla="*/ 477 h 281"/>
                    <a:gd name="T70" fmla="*/ 1511 w 471"/>
                    <a:gd name="T71" fmla="*/ 530 h 281"/>
                    <a:gd name="T72" fmla="*/ 1560 w 471"/>
                    <a:gd name="T73" fmla="*/ 656 h 281"/>
                    <a:gd name="T74" fmla="*/ 1579 w 471"/>
                    <a:gd name="T75" fmla="*/ 708 h 281"/>
                    <a:gd name="T76" fmla="*/ 1588 w 471"/>
                    <a:gd name="T77" fmla="*/ 739 h 281"/>
                    <a:gd name="T78" fmla="*/ 1520 w 471"/>
                    <a:gd name="T79" fmla="*/ 835 h 281"/>
                    <a:gd name="T80" fmla="*/ 1579 w 471"/>
                    <a:gd name="T81" fmla="*/ 834 h 281"/>
                    <a:gd name="T82" fmla="*/ 1679 w 471"/>
                    <a:gd name="T83" fmla="*/ 917 h 281"/>
                    <a:gd name="T84" fmla="*/ 1787 w 471"/>
                    <a:gd name="T85" fmla="*/ 927 h 281"/>
                    <a:gd name="T86" fmla="*/ 1865 w 471"/>
                    <a:gd name="T87" fmla="*/ 991 h 281"/>
                    <a:gd name="T88" fmla="*/ 1877 w 471"/>
                    <a:gd name="T89" fmla="*/ 1016 h 281"/>
                    <a:gd name="T90" fmla="*/ 1877 w 471"/>
                    <a:gd name="T91" fmla="*/ 1038 h 281"/>
                    <a:gd name="T92" fmla="*/ 1932 w 471"/>
                    <a:gd name="T93" fmla="*/ 1016 h 281"/>
                    <a:gd name="T94" fmla="*/ 1963 w 471"/>
                    <a:gd name="T95" fmla="*/ 1010 h 281"/>
                    <a:gd name="T96" fmla="*/ 2154 w 471"/>
                    <a:gd name="T97" fmla="*/ 1091 h 281"/>
                    <a:gd name="T98" fmla="*/ 2192 w 471"/>
                    <a:gd name="T99" fmla="*/ 1174 h 281"/>
                    <a:gd name="T100" fmla="*/ 2282 w 471"/>
                    <a:gd name="T101" fmla="*/ 1186 h 281"/>
                    <a:gd name="T102" fmla="*/ 2310 w 471"/>
                    <a:gd name="T103" fmla="*/ 1269 h 281"/>
                    <a:gd name="T104" fmla="*/ 2213 w 471"/>
                    <a:gd name="T105" fmla="*/ 1523 h 281"/>
                    <a:gd name="T106" fmla="*/ 2133 w 471"/>
                    <a:gd name="T107" fmla="*/ 1660 h 281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</a:gdLst>
                  <a:ahLst/>
                  <a:cxnLst>
                    <a:cxn ang="T108">
                      <a:pos x="T0" y="T1"/>
                    </a:cxn>
                    <a:cxn ang="T109">
                      <a:pos x="T2" y="T3"/>
                    </a:cxn>
                    <a:cxn ang="T110">
                      <a:pos x="T4" y="T5"/>
                    </a:cxn>
                    <a:cxn ang="T111">
                      <a:pos x="T6" y="T7"/>
                    </a:cxn>
                    <a:cxn ang="T112">
                      <a:pos x="T8" y="T9"/>
                    </a:cxn>
                    <a:cxn ang="T113">
                      <a:pos x="T10" y="T11"/>
                    </a:cxn>
                    <a:cxn ang="T114">
                      <a:pos x="T12" y="T13"/>
                    </a:cxn>
                    <a:cxn ang="T115">
                      <a:pos x="T14" y="T15"/>
                    </a:cxn>
                    <a:cxn ang="T116">
                      <a:pos x="T16" y="T17"/>
                    </a:cxn>
                    <a:cxn ang="T117">
                      <a:pos x="T18" y="T19"/>
                    </a:cxn>
                    <a:cxn ang="T118">
                      <a:pos x="T20" y="T21"/>
                    </a:cxn>
                    <a:cxn ang="T119">
                      <a:pos x="T22" y="T23"/>
                    </a:cxn>
                    <a:cxn ang="T120">
                      <a:pos x="T24" y="T25"/>
                    </a:cxn>
                    <a:cxn ang="T121">
                      <a:pos x="T26" y="T27"/>
                    </a:cxn>
                    <a:cxn ang="T122">
                      <a:pos x="T28" y="T29"/>
                    </a:cxn>
                    <a:cxn ang="T123">
                      <a:pos x="T30" y="T31"/>
                    </a:cxn>
                    <a:cxn ang="T124">
                      <a:pos x="T32" y="T33"/>
                    </a:cxn>
                    <a:cxn ang="T125">
                      <a:pos x="T34" y="T35"/>
                    </a:cxn>
                    <a:cxn ang="T126">
                      <a:pos x="T36" y="T37"/>
                    </a:cxn>
                    <a:cxn ang="T127">
                      <a:pos x="T38" y="T39"/>
                    </a:cxn>
                    <a:cxn ang="T128">
                      <a:pos x="T40" y="T41"/>
                    </a:cxn>
                    <a:cxn ang="T129">
                      <a:pos x="T42" y="T43"/>
                    </a:cxn>
                    <a:cxn ang="T130">
                      <a:pos x="T44" y="T45"/>
                    </a:cxn>
                    <a:cxn ang="T131">
                      <a:pos x="T46" y="T47"/>
                    </a:cxn>
                    <a:cxn ang="T132">
                      <a:pos x="T48" y="T49"/>
                    </a:cxn>
                    <a:cxn ang="T133">
                      <a:pos x="T50" y="T51"/>
                    </a:cxn>
                    <a:cxn ang="T134">
                      <a:pos x="T52" y="T53"/>
                    </a:cxn>
                    <a:cxn ang="T135">
                      <a:pos x="T54" y="T55"/>
                    </a:cxn>
                    <a:cxn ang="T136">
                      <a:pos x="T56" y="T57"/>
                    </a:cxn>
                    <a:cxn ang="T137">
                      <a:pos x="T58" y="T59"/>
                    </a:cxn>
                    <a:cxn ang="T138">
                      <a:pos x="T60" y="T61"/>
                    </a:cxn>
                    <a:cxn ang="T139">
                      <a:pos x="T62" y="T63"/>
                    </a:cxn>
                    <a:cxn ang="T140">
                      <a:pos x="T64" y="T65"/>
                    </a:cxn>
                    <a:cxn ang="T141">
                      <a:pos x="T66" y="T67"/>
                    </a:cxn>
                    <a:cxn ang="T142">
                      <a:pos x="T68" y="T69"/>
                    </a:cxn>
                    <a:cxn ang="T143">
                      <a:pos x="T70" y="T71"/>
                    </a:cxn>
                    <a:cxn ang="T144">
                      <a:pos x="T72" y="T73"/>
                    </a:cxn>
                    <a:cxn ang="T145">
                      <a:pos x="T74" y="T75"/>
                    </a:cxn>
                    <a:cxn ang="T146">
                      <a:pos x="T76" y="T77"/>
                    </a:cxn>
                    <a:cxn ang="T147">
                      <a:pos x="T78" y="T79"/>
                    </a:cxn>
                    <a:cxn ang="T148">
                      <a:pos x="T80" y="T81"/>
                    </a:cxn>
                    <a:cxn ang="T149">
                      <a:pos x="T82" y="T83"/>
                    </a:cxn>
                    <a:cxn ang="T150">
                      <a:pos x="T84" y="T85"/>
                    </a:cxn>
                    <a:cxn ang="T151">
                      <a:pos x="T86" y="T87"/>
                    </a:cxn>
                    <a:cxn ang="T152">
                      <a:pos x="T88" y="T89"/>
                    </a:cxn>
                    <a:cxn ang="T153">
                      <a:pos x="T90" y="T91"/>
                    </a:cxn>
                    <a:cxn ang="T154">
                      <a:pos x="T92" y="T93"/>
                    </a:cxn>
                    <a:cxn ang="T155">
                      <a:pos x="T94" y="T95"/>
                    </a:cxn>
                    <a:cxn ang="T156">
                      <a:pos x="T96" y="T97"/>
                    </a:cxn>
                    <a:cxn ang="T157">
                      <a:pos x="T98" y="T99"/>
                    </a:cxn>
                    <a:cxn ang="T158">
                      <a:pos x="T100" y="T101"/>
                    </a:cxn>
                    <a:cxn ang="T159">
                      <a:pos x="T102" y="T103"/>
                    </a:cxn>
                    <a:cxn ang="T160">
                      <a:pos x="T104" y="T105"/>
                    </a:cxn>
                    <a:cxn ang="T161">
                      <a:pos x="T106" y="T107"/>
                    </a:cxn>
                  </a:cxnLst>
                  <a:rect l="0" t="0" r="r" b="b"/>
                  <a:pathLst>
                    <a:path w="471" h="281">
                      <a:moveTo>
                        <a:pt x="21" y="280"/>
                      </a:moveTo>
                      <a:cubicBezTo>
                        <a:pt x="32" y="281"/>
                        <a:pt x="25" y="253"/>
                        <a:pt x="24" y="250"/>
                      </a:cubicBezTo>
                      <a:cubicBezTo>
                        <a:pt x="23" y="248"/>
                        <a:pt x="22" y="245"/>
                        <a:pt x="22" y="245"/>
                      </a:cubicBezTo>
                      <a:cubicBezTo>
                        <a:pt x="21" y="243"/>
                        <a:pt x="20" y="221"/>
                        <a:pt x="16" y="218"/>
                      </a:cubicBezTo>
                      <a:cubicBezTo>
                        <a:pt x="13" y="216"/>
                        <a:pt x="4" y="215"/>
                        <a:pt x="4" y="215"/>
                      </a:cubicBezTo>
                      <a:cubicBezTo>
                        <a:pt x="0" y="207"/>
                        <a:pt x="3" y="200"/>
                        <a:pt x="0" y="191"/>
                      </a:cubicBezTo>
                      <a:cubicBezTo>
                        <a:pt x="2" y="185"/>
                        <a:pt x="7" y="186"/>
                        <a:pt x="12" y="180"/>
                      </a:cubicBezTo>
                      <a:cubicBezTo>
                        <a:pt x="14" y="172"/>
                        <a:pt x="14" y="169"/>
                        <a:pt x="6" y="165"/>
                      </a:cubicBezTo>
                      <a:cubicBezTo>
                        <a:pt x="4" y="163"/>
                        <a:pt x="2" y="162"/>
                        <a:pt x="2" y="160"/>
                      </a:cubicBezTo>
                      <a:cubicBezTo>
                        <a:pt x="2" y="150"/>
                        <a:pt x="16" y="123"/>
                        <a:pt x="28" y="120"/>
                      </a:cubicBezTo>
                      <a:cubicBezTo>
                        <a:pt x="32" y="111"/>
                        <a:pt x="40" y="105"/>
                        <a:pt x="44" y="96"/>
                      </a:cubicBezTo>
                      <a:cubicBezTo>
                        <a:pt x="39" y="83"/>
                        <a:pt x="38" y="85"/>
                        <a:pt x="42" y="70"/>
                      </a:cubicBezTo>
                      <a:cubicBezTo>
                        <a:pt x="38" y="60"/>
                        <a:pt x="34" y="48"/>
                        <a:pt x="24" y="43"/>
                      </a:cubicBezTo>
                      <a:cubicBezTo>
                        <a:pt x="18" y="36"/>
                        <a:pt x="10" y="37"/>
                        <a:pt x="20" y="32"/>
                      </a:cubicBezTo>
                      <a:cubicBezTo>
                        <a:pt x="27" y="34"/>
                        <a:pt x="26" y="32"/>
                        <a:pt x="26" y="36"/>
                      </a:cubicBezTo>
                      <a:cubicBezTo>
                        <a:pt x="34" y="41"/>
                        <a:pt x="39" y="39"/>
                        <a:pt x="48" y="35"/>
                      </a:cubicBezTo>
                      <a:cubicBezTo>
                        <a:pt x="45" y="22"/>
                        <a:pt x="48" y="14"/>
                        <a:pt x="64" y="11"/>
                      </a:cubicBezTo>
                      <a:cubicBezTo>
                        <a:pt x="71" y="8"/>
                        <a:pt x="75" y="3"/>
                        <a:pt x="82" y="0"/>
                      </a:cubicBezTo>
                      <a:cubicBezTo>
                        <a:pt x="84" y="1"/>
                        <a:pt x="88" y="0"/>
                        <a:pt x="88" y="2"/>
                      </a:cubicBezTo>
                      <a:cubicBezTo>
                        <a:pt x="90" y="12"/>
                        <a:pt x="75" y="13"/>
                        <a:pt x="92" y="9"/>
                      </a:cubicBezTo>
                      <a:cubicBezTo>
                        <a:pt x="94" y="8"/>
                        <a:pt x="96" y="5"/>
                        <a:pt x="98" y="5"/>
                      </a:cubicBezTo>
                      <a:cubicBezTo>
                        <a:pt x="102" y="4"/>
                        <a:pt x="106" y="7"/>
                        <a:pt x="110" y="8"/>
                      </a:cubicBezTo>
                      <a:cubicBezTo>
                        <a:pt x="112" y="8"/>
                        <a:pt x="116" y="9"/>
                        <a:pt x="116" y="9"/>
                      </a:cubicBezTo>
                      <a:cubicBezTo>
                        <a:pt x="122" y="16"/>
                        <a:pt x="129" y="13"/>
                        <a:pt x="141" y="14"/>
                      </a:cubicBezTo>
                      <a:cubicBezTo>
                        <a:pt x="143" y="21"/>
                        <a:pt x="147" y="22"/>
                        <a:pt x="155" y="24"/>
                      </a:cubicBezTo>
                      <a:cubicBezTo>
                        <a:pt x="159" y="22"/>
                        <a:pt x="163" y="20"/>
                        <a:pt x="167" y="17"/>
                      </a:cubicBezTo>
                      <a:cubicBezTo>
                        <a:pt x="169" y="16"/>
                        <a:pt x="173" y="14"/>
                        <a:pt x="173" y="14"/>
                      </a:cubicBezTo>
                      <a:cubicBezTo>
                        <a:pt x="195" y="26"/>
                        <a:pt x="175" y="20"/>
                        <a:pt x="195" y="14"/>
                      </a:cubicBezTo>
                      <a:cubicBezTo>
                        <a:pt x="207" y="17"/>
                        <a:pt x="201" y="26"/>
                        <a:pt x="211" y="32"/>
                      </a:cubicBezTo>
                      <a:cubicBezTo>
                        <a:pt x="214" y="38"/>
                        <a:pt x="224" y="55"/>
                        <a:pt x="231" y="59"/>
                      </a:cubicBezTo>
                      <a:cubicBezTo>
                        <a:pt x="241" y="70"/>
                        <a:pt x="235" y="67"/>
                        <a:pt x="245" y="70"/>
                      </a:cubicBezTo>
                      <a:cubicBezTo>
                        <a:pt x="249" y="69"/>
                        <a:pt x="253" y="69"/>
                        <a:pt x="257" y="68"/>
                      </a:cubicBezTo>
                      <a:cubicBezTo>
                        <a:pt x="261" y="67"/>
                        <a:pt x="270" y="65"/>
                        <a:pt x="270" y="65"/>
                      </a:cubicBezTo>
                      <a:cubicBezTo>
                        <a:pt x="278" y="66"/>
                        <a:pt x="283" y="67"/>
                        <a:pt x="290" y="71"/>
                      </a:cubicBezTo>
                      <a:cubicBezTo>
                        <a:pt x="304" y="88"/>
                        <a:pt x="282" y="62"/>
                        <a:pt x="300" y="81"/>
                      </a:cubicBezTo>
                      <a:cubicBezTo>
                        <a:pt x="302" y="84"/>
                        <a:pt x="308" y="90"/>
                        <a:pt x="308" y="90"/>
                      </a:cubicBezTo>
                      <a:cubicBezTo>
                        <a:pt x="311" y="98"/>
                        <a:pt x="315" y="103"/>
                        <a:pt x="318" y="111"/>
                      </a:cubicBezTo>
                      <a:cubicBezTo>
                        <a:pt x="319" y="114"/>
                        <a:pt x="321" y="117"/>
                        <a:pt x="322" y="120"/>
                      </a:cubicBezTo>
                      <a:cubicBezTo>
                        <a:pt x="323" y="122"/>
                        <a:pt x="324" y="125"/>
                        <a:pt x="324" y="125"/>
                      </a:cubicBezTo>
                      <a:cubicBezTo>
                        <a:pt x="321" y="132"/>
                        <a:pt x="313" y="134"/>
                        <a:pt x="310" y="142"/>
                      </a:cubicBezTo>
                      <a:cubicBezTo>
                        <a:pt x="313" y="151"/>
                        <a:pt x="317" y="146"/>
                        <a:pt x="322" y="141"/>
                      </a:cubicBezTo>
                      <a:cubicBezTo>
                        <a:pt x="341" y="143"/>
                        <a:pt x="339" y="142"/>
                        <a:pt x="342" y="155"/>
                      </a:cubicBezTo>
                      <a:cubicBezTo>
                        <a:pt x="351" y="150"/>
                        <a:pt x="355" y="152"/>
                        <a:pt x="364" y="157"/>
                      </a:cubicBezTo>
                      <a:cubicBezTo>
                        <a:pt x="369" y="162"/>
                        <a:pt x="372" y="166"/>
                        <a:pt x="380" y="168"/>
                      </a:cubicBezTo>
                      <a:cubicBezTo>
                        <a:pt x="381" y="169"/>
                        <a:pt x="383" y="171"/>
                        <a:pt x="382" y="172"/>
                      </a:cubicBezTo>
                      <a:cubicBezTo>
                        <a:pt x="380" y="176"/>
                        <a:pt x="368" y="172"/>
                        <a:pt x="382" y="176"/>
                      </a:cubicBezTo>
                      <a:cubicBezTo>
                        <a:pt x="386" y="175"/>
                        <a:pt x="390" y="173"/>
                        <a:pt x="394" y="172"/>
                      </a:cubicBezTo>
                      <a:cubicBezTo>
                        <a:pt x="396" y="172"/>
                        <a:pt x="400" y="171"/>
                        <a:pt x="400" y="171"/>
                      </a:cubicBezTo>
                      <a:cubicBezTo>
                        <a:pt x="413" y="177"/>
                        <a:pt x="427" y="179"/>
                        <a:pt x="439" y="185"/>
                      </a:cubicBezTo>
                      <a:cubicBezTo>
                        <a:pt x="441" y="190"/>
                        <a:pt x="445" y="194"/>
                        <a:pt x="447" y="199"/>
                      </a:cubicBezTo>
                      <a:cubicBezTo>
                        <a:pt x="453" y="198"/>
                        <a:pt x="460" y="195"/>
                        <a:pt x="465" y="201"/>
                      </a:cubicBezTo>
                      <a:cubicBezTo>
                        <a:pt x="468" y="205"/>
                        <a:pt x="471" y="215"/>
                        <a:pt x="471" y="215"/>
                      </a:cubicBezTo>
                      <a:cubicBezTo>
                        <a:pt x="468" y="231"/>
                        <a:pt x="469" y="248"/>
                        <a:pt x="451" y="258"/>
                      </a:cubicBezTo>
                      <a:cubicBezTo>
                        <a:pt x="447" y="262"/>
                        <a:pt x="437" y="275"/>
                        <a:pt x="435" y="281"/>
                      </a:cubicBezTo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Freeform 31"/>
                <p:cNvSpPr>
                  <a:spLocks/>
                </p:cNvSpPr>
                <p:nvPr/>
              </p:nvSpPr>
              <p:spPr bwMode="ltGray">
                <a:xfrm>
                  <a:off x="3880" y="-7"/>
                  <a:ext cx="984" cy="692"/>
                </a:xfrm>
                <a:custGeom>
                  <a:avLst/>
                  <a:gdLst>
                    <a:gd name="T0" fmla="*/ 406 w 984"/>
                    <a:gd name="T1" fmla="*/ 2 h 844"/>
                    <a:gd name="T2" fmla="*/ 502 w 984"/>
                    <a:gd name="T3" fmla="*/ 16 h 844"/>
                    <a:gd name="T4" fmla="*/ 550 w 984"/>
                    <a:gd name="T5" fmla="*/ 16 h 844"/>
                    <a:gd name="T6" fmla="*/ 578 w 984"/>
                    <a:gd name="T7" fmla="*/ 59 h 844"/>
                    <a:gd name="T8" fmla="*/ 586 w 984"/>
                    <a:gd name="T9" fmla="*/ 41 h 844"/>
                    <a:gd name="T10" fmla="*/ 606 w 984"/>
                    <a:gd name="T11" fmla="*/ 32 h 844"/>
                    <a:gd name="T12" fmla="*/ 642 w 984"/>
                    <a:gd name="T13" fmla="*/ 57 h 844"/>
                    <a:gd name="T14" fmla="*/ 682 w 984"/>
                    <a:gd name="T15" fmla="*/ 44 h 844"/>
                    <a:gd name="T16" fmla="*/ 706 w 984"/>
                    <a:gd name="T17" fmla="*/ 39 h 844"/>
                    <a:gd name="T18" fmla="*/ 762 w 984"/>
                    <a:gd name="T19" fmla="*/ 2 h 844"/>
                    <a:gd name="T20" fmla="*/ 798 w 984"/>
                    <a:gd name="T21" fmla="*/ 32 h 844"/>
                    <a:gd name="T22" fmla="*/ 798 w 984"/>
                    <a:gd name="T23" fmla="*/ 59 h 844"/>
                    <a:gd name="T24" fmla="*/ 790 w 984"/>
                    <a:gd name="T25" fmla="*/ 72 h 844"/>
                    <a:gd name="T26" fmla="*/ 766 w 984"/>
                    <a:gd name="T27" fmla="*/ 73 h 844"/>
                    <a:gd name="T28" fmla="*/ 762 w 984"/>
                    <a:gd name="T29" fmla="*/ 84 h 844"/>
                    <a:gd name="T30" fmla="*/ 802 w 984"/>
                    <a:gd name="T31" fmla="*/ 102 h 844"/>
                    <a:gd name="T32" fmla="*/ 786 w 984"/>
                    <a:gd name="T33" fmla="*/ 145 h 844"/>
                    <a:gd name="T34" fmla="*/ 830 w 984"/>
                    <a:gd name="T35" fmla="*/ 187 h 844"/>
                    <a:gd name="T36" fmla="*/ 854 w 984"/>
                    <a:gd name="T37" fmla="*/ 203 h 844"/>
                    <a:gd name="T38" fmla="*/ 830 w 984"/>
                    <a:gd name="T39" fmla="*/ 203 h 844"/>
                    <a:gd name="T40" fmla="*/ 746 w 984"/>
                    <a:gd name="T41" fmla="*/ 171 h 844"/>
                    <a:gd name="T42" fmla="*/ 678 w 984"/>
                    <a:gd name="T43" fmla="*/ 182 h 844"/>
                    <a:gd name="T44" fmla="*/ 590 w 984"/>
                    <a:gd name="T45" fmla="*/ 200 h 844"/>
                    <a:gd name="T46" fmla="*/ 642 w 984"/>
                    <a:gd name="T47" fmla="*/ 262 h 844"/>
                    <a:gd name="T48" fmla="*/ 710 w 984"/>
                    <a:gd name="T49" fmla="*/ 275 h 844"/>
                    <a:gd name="T50" fmla="*/ 738 w 984"/>
                    <a:gd name="T51" fmla="*/ 248 h 844"/>
                    <a:gd name="T52" fmla="*/ 774 w 984"/>
                    <a:gd name="T53" fmla="*/ 257 h 844"/>
                    <a:gd name="T54" fmla="*/ 766 w 984"/>
                    <a:gd name="T55" fmla="*/ 285 h 844"/>
                    <a:gd name="T56" fmla="*/ 802 w 984"/>
                    <a:gd name="T57" fmla="*/ 303 h 844"/>
                    <a:gd name="T58" fmla="*/ 838 w 984"/>
                    <a:gd name="T59" fmla="*/ 297 h 844"/>
                    <a:gd name="T60" fmla="*/ 922 w 984"/>
                    <a:gd name="T61" fmla="*/ 364 h 844"/>
                    <a:gd name="T62" fmla="*/ 942 w 984"/>
                    <a:gd name="T63" fmla="*/ 373 h 844"/>
                    <a:gd name="T64" fmla="*/ 874 w 984"/>
                    <a:gd name="T65" fmla="*/ 366 h 844"/>
                    <a:gd name="T66" fmla="*/ 830 w 984"/>
                    <a:gd name="T67" fmla="*/ 342 h 844"/>
                    <a:gd name="T68" fmla="*/ 778 w 984"/>
                    <a:gd name="T69" fmla="*/ 321 h 844"/>
                    <a:gd name="T70" fmla="*/ 702 w 984"/>
                    <a:gd name="T71" fmla="*/ 299 h 844"/>
                    <a:gd name="T72" fmla="*/ 614 w 984"/>
                    <a:gd name="T73" fmla="*/ 293 h 844"/>
                    <a:gd name="T74" fmla="*/ 506 w 984"/>
                    <a:gd name="T75" fmla="*/ 268 h 844"/>
                    <a:gd name="T76" fmla="*/ 462 w 984"/>
                    <a:gd name="T77" fmla="*/ 229 h 844"/>
                    <a:gd name="T78" fmla="*/ 430 w 984"/>
                    <a:gd name="T79" fmla="*/ 209 h 844"/>
                    <a:gd name="T80" fmla="*/ 382 w 984"/>
                    <a:gd name="T81" fmla="*/ 194 h 844"/>
                    <a:gd name="T82" fmla="*/ 342 w 984"/>
                    <a:gd name="T83" fmla="*/ 166 h 844"/>
                    <a:gd name="T84" fmla="*/ 354 w 984"/>
                    <a:gd name="T85" fmla="*/ 187 h 844"/>
                    <a:gd name="T86" fmla="*/ 418 w 984"/>
                    <a:gd name="T87" fmla="*/ 223 h 844"/>
                    <a:gd name="T88" fmla="*/ 422 w 984"/>
                    <a:gd name="T89" fmla="*/ 237 h 844"/>
                    <a:gd name="T90" fmla="*/ 394 w 984"/>
                    <a:gd name="T91" fmla="*/ 225 h 844"/>
                    <a:gd name="T92" fmla="*/ 354 w 984"/>
                    <a:gd name="T93" fmla="*/ 211 h 844"/>
                    <a:gd name="T94" fmla="*/ 314 w 984"/>
                    <a:gd name="T95" fmla="*/ 182 h 844"/>
                    <a:gd name="T96" fmla="*/ 266 w 984"/>
                    <a:gd name="T97" fmla="*/ 157 h 844"/>
                    <a:gd name="T98" fmla="*/ 210 w 984"/>
                    <a:gd name="T99" fmla="*/ 142 h 844"/>
                    <a:gd name="T100" fmla="*/ 154 w 984"/>
                    <a:gd name="T101" fmla="*/ 107 h 844"/>
                    <a:gd name="T102" fmla="*/ 66 w 984"/>
                    <a:gd name="T103" fmla="*/ 30 h 844"/>
                    <a:gd name="T104" fmla="*/ 34 w 984"/>
                    <a:gd name="T105" fmla="*/ 16 h 844"/>
                    <a:gd name="T106" fmla="*/ 46 w 984"/>
                    <a:gd name="T107" fmla="*/ 10 h 844"/>
                    <a:gd name="T108" fmla="*/ 102 w 984"/>
                    <a:gd name="T109" fmla="*/ 32 h 844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</a:gdLst>
                  <a:ahLst/>
                  <a:cxnLst>
                    <a:cxn ang="T110">
                      <a:pos x="T0" y="T1"/>
                    </a:cxn>
                    <a:cxn ang="T111">
                      <a:pos x="T2" y="T3"/>
                    </a:cxn>
                    <a:cxn ang="T112">
                      <a:pos x="T4" y="T5"/>
                    </a:cxn>
                    <a:cxn ang="T113">
                      <a:pos x="T6" y="T7"/>
                    </a:cxn>
                    <a:cxn ang="T114">
                      <a:pos x="T8" y="T9"/>
                    </a:cxn>
                    <a:cxn ang="T115">
                      <a:pos x="T10" y="T11"/>
                    </a:cxn>
                    <a:cxn ang="T116">
                      <a:pos x="T12" y="T13"/>
                    </a:cxn>
                    <a:cxn ang="T117">
                      <a:pos x="T14" y="T15"/>
                    </a:cxn>
                    <a:cxn ang="T118">
                      <a:pos x="T16" y="T17"/>
                    </a:cxn>
                    <a:cxn ang="T119">
                      <a:pos x="T18" y="T19"/>
                    </a:cxn>
                    <a:cxn ang="T120">
                      <a:pos x="T20" y="T21"/>
                    </a:cxn>
                    <a:cxn ang="T121">
                      <a:pos x="T22" y="T23"/>
                    </a:cxn>
                    <a:cxn ang="T122">
                      <a:pos x="T24" y="T25"/>
                    </a:cxn>
                    <a:cxn ang="T123">
                      <a:pos x="T26" y="T27"/>
                    </a:cxn>
                    <a:cxn ang="T124">
                      <a:pos x="T28" y="T29"/>
                    </a:cxn>
                    <a:cxn ang="T125">
                      <a:pos x="T30" y="T31"/>
                    </a:cxn>
                    <a:cxn ang="T126">
                      <a:pos x="T32" y="T33"/>
                    </a:cxn>
                    <a:cxn ang="T127">
                      <a:pos x="T34" y="T35"/>
                    </a:cxn>
                    <a:cxn ang="T128">
                      <a:pos x="T36" y="T37"/>
                    </a:cxn>
                    <a:cxn ang="T129">
                      <a:pos x="T38" y="T39"/>
                    </a:cxn>
                    <a:cxn ang="T130">
                      <a:pos x="T40" y="T41"/>
                    </a:cxn>
                    <a:cxn ang="T131">
                      <a:pos x="T42" y="T43"/>
                    </a:cxn>
                    <a:cxn ang="T132">
                      <a:pos x="T44" y="T45"/>
                    </a:cxn>
                    <a:cxn ang="T133">
                      <a:pos x="T46" y="T47"/>
                    </a:cxn>
                    <a:cxn ang="T134">
                      <a:pos x="T48" y="T49"/>
                    </a:cxn>
                    <a:cxn ang="T135">
                      <a:pos x="T50" y="T51"/>
                    </a:cxn>
                    <a:cxn ang="T136">
                      <a:pos x="T52" y="T53"/>
                    </a:cxn>
                    <a:cxn ang="T137">
                      <a:pos x="T54" y="T55"/>
                    </a:cxn>
                    <a:cxn ang="T138">
                      <a:pos x="T56" y="T57"/>
                    </a:cxn>
                    <a:cxn ang="T139">
                      <a:pos x="T58" y="T59"/>
                    </a:cxn>
                    <a:cxn ang="T140">
                      <a:pos x="T60" y="T61"/>
                    </a:cxn>
                    <a:cxn ang="T141">
                      <a:pos x="T62" y="T63"/>
                    </a:cxn>
                    <a:cxn ang="T142">
                      <a:pos x="T64" y="T65"/>
                    </a:cxn>
                    <a:cxn ang="T143">
                      <a:pos x="T66" y="T67"/>
                    </a:cxn>
                    <a:cxn ang="T144">
                      <a:pos x="T68" y="T69"/>
                    </a:cxn>
                    <a:cxn ang="T145">
                      <a:pos x="T70" y="T71"/>
                    </a:cxn>
                    <a:cxn ang="T146">
                      <a:pos x="T72" y="T73"/>
                    </a:cxn>
                    <a:cxn ang="T147">
                      <a:pos x="T74" y="T75"/>
                    </a:cxn>
                    <a:cxn ang="T148">
                      <a:pos x="T76" y="T77"/>
                    </a:cxn>
                    <a:cxn ang="T149">
                      <a:pos x="T78" y="T79"/>
                    </a:cxn>
                    <a:cxn ang="T150">
                      <a:pos x="T80" y="T81"/>
                    </a:cxn>
                    <a:cxn ang="T151">
                      <a:pos x="T82" y="T83"/>
                    </a:cxn>
                    <a:cxn ang="T152">
                      <a:pos x="T84" y="T85"/>
                    </a:cxn>
                    <a:cxn ang="T153">
                      <a:pos x="T86" y="T87"/>
                    </a:cxn>
                    <a:cxn ang="T154">
                      <a:pos x="T88" y="T89"/>
                    </a:cxn>
                    <a:cxn ang="T155">
                      <a:pos x="T90" y="T91"/>
                    </a:cxn>
                    <a:cxn ang="T156">
                      <a:pos x="T92" y="T93"/>
                    </a:cxn>
                    <a:cxn ang="T157">
                      <a:pos x="T94" y="T95"/>
                    </a:cxn>
                    <a:cxn ang="T158">
                      <a:pos x="T96" y="T97"/>
                    </a:cxn>
                    <a:cxn ang="T159">
                      <a:pos x="T98" y="T99"/>
                    </a:cxn>
                    <a:cxn ang="T160">
                      <a:pos x="T100" y="T101"/>
                    </a:cxn>
                    <a:cxn ang="T161">
                      <a:pos x="T102" y="T103"/>
                    </a:cxn>
                    <a:cxn ang="T162">
                      <a:pos x="T104" y="T105"/>
                    </a:cxn>
                    <a:cxn ang="T163">
                      <a:pos x="T106" y="T107"/>
                    </a:cxn>
                    <a:cxn ang="T164">
                      <a:pos x="T108" y="T109"/>
                    </a:cxn>
                  </a:cxnLst>
                  <a:rect l="0" t="0" r="r" b="b"/>
                  <a:pathLst>
                    <a:path w="984" h="844">
                      <a:moveTo>
                        <a:pt x="82" y="38"/>
                      </a:moveTo>
                      <a:lnTo>
                        <a:pt x="406" y="6"/>
                      </a:lnTo>
                      <a:cubicBezTo>
                        <a:pt x="497" y="22"/>
                        <a:pt x="465" y="0"/>
                        <a:pt x="474" y="54"/>
                      </a:cubicBezTo>
                      <a:cubicBezTo>
                        <a:pt x="492" y="48"/>
                        <a:pt x="484" y="40"/>
                        <a:pt x="502" y="34"/>
                      </a:cubicBezTo>
                      <a:cubicBezTo>
                        <a:pt x="510" y="37"/>
                        <a:pt x="517" y="46"/>
                        <a:pt x="526" y="46"/>
                      </a:cubicBezTo>
                      <a:cubicBezTo>
                        <a:pt x="534" y="46"/>
                        <a:pt x="550" y="38"/>
                        <a:pt x="550" y="38"/>
                      </a:cubicBezTo>
                      <a:cubicBezTo>
                        <a:pt x="556" y="55"/>
                        <a:pt x="552" y="60"/>
                        <a:pt x="542" y="74"/>
                      </a:cubicBezTo>
                      <a:cubicBezTo>
                        <a:pt x="555" y="114"/>
                        <a:pt x="550" y="102"/>
                        <a:pt x="578" y="130"/>
                      </a:cubicBezTo>
                      <a:cubicBezTo>
                        <a:pt x="584" y="148"/>
                        <a:pt x="590" y="148"/>
                        <a:pt x="606" y="138"/>
                      </a:cubicBezTo>
                      <a:cubicBezTo>
                        <a:pt x="600" y="119"/>
                        <a:pt x="594" y="107"/>
                        <a:pt x="586" y="90"/>
                      </a:cubicBezTo>
                      <a:cubicBezTo>
                        <a:pt x="583" y="82"/>
                        <a:pt x="578" y="66"/>
                        <a:pt x="578" y="66"/>
                      </a:cubicBezTo>
                      <a:cubicBezTo>
                        <a:pt x="585" y="44"/>
                        <a:pt x="597" y="56"/>
                        <a:pt x="606" y="70"/>
                      </a:cubicBezTo>
                      <a:cubicBezTo>
                        <a:pt x="609" y="86"/>
                        <a:pt x="608" y="117"/>
                        <a:pt x="626" y="90"/>
                      </a:cubicBezTo>
                      <a:cubicBezTo>
                        <a:pt x="648" y="97"/>
                        <a:pt x="646" y="104"/>
                        <a:pt x="642" y="126"/>
                      </a:cubicBezTo>
                      <a:cubicBezTo>
                        <a:pt x="650" y="150"/>
                        <a:pt x="665" y="141"/>
                        <a:pt x="682" y="130"/>
                      </a:cubicBezTo>
                      <a:cubicBezTo>
                        <a:pt x="689" y="108"/>
                        <a:pt x="673" y="124"/>
                        <a:pt x="682" y="98"/>
                      </a:cubicBezTo>
                      <a:cubicBezTo>
                        <a:pt x="683" y="94"/>
                        <a:pt x="690" y="96"/>
                        <a:pt x="694" y="94"/>
                      </a:cubicBezTo>
                      <a:cubicBezTo>
                        <a:pt x="698" y="92"/>
                        <a:pt x="702" y="89"/>
                        <a:pt x="706" y="86"/>
                      </a:cubicBezTo>
                      <a:cubicBezTo>
                        <a:pt x="717" y="54"/>
                        <a:pt x="688" y="54"/>
                        <a:pt x="742" y="46"/>
                      </a:cubicBezTo>
                      <a:cubicBezTo>
                        <a:pt x="748" y="27"/>
                        <a:pt x="741" y="9"/>
                        <a:pt x="762" y="2"/>
                      </a:cubicBezTo>
                      <a:cubicBezTo>
                        <a:pt x="788" y="11"/>
                        <a:pt x="777" y="38"/>
                        <a:pt x="802" y="46"/>
                      </a:cubicBezTo>
                      <a:cubicBezTo>
                        <a:pt x="831" y="36"/>
                        <a:pt x="805" y="63"/>
                        <a:pt x="798" y="70"/>
                      </a:cubicBezTo>
                      <a:cubicBezTo>
                        <a:pt x="789" y="96"/>
                        <a:pt x="787" y="96"/>
                        <a:pt x="802" y="118"/>
                      </a:cubicBezTo>
                      <a:cubicBezTo>
                        <a:pt x="801" y="122"/>
                        <a:pt x="801" y="127"/>
                        <a:pt x="798" y="130"/>
                      </a:cubicBezTo>
                      <a:cubicBezTo>
                        <a:pt x="794" y="133"/>
                        <a:pt x="784" y="129"/>
                        <a:pt x="782" y="134"/>
                      </a:cubicBezTo>
                      <a:cubicBezTo>
                        <a:pt x="780" y="142"/>
                        <a:pt x="790" y="158"/>
                        <a:pt x="790" y="158"/>
                      </a:cubicBezTo>
                      <a:cubicBezTo>
                        <a:pt x="786" y="161"/>
                        <a:pt x="783" y="165"/>
                        <a:pt x="778" y="166"/>
                      </a:cubicBezTo>
                      <a:cubicBezTo>
                        <a:pt x="774" y="167"/>
                        <a:pt x="769" y="159"/>
                        <a:pt x="766" y="162"/>
                      </a:cubicBezTo>
                      <a:cubicBezTo>
                        <a:pt x="758" y="170"/>
                        <a:pt x="794" y="182"/>
                        <a:pt x="794" y="182"/>
                      </a:cubicBezTo>
                      <a:cubicBezTo>
                        <a:pt x="804" y="211"/>
                        <a:pt x="775" y="190"/>
                        <a:pt x="762" y="186"/>
                      </a:cubicBezTo>
                      <a:cubicBezTo>
                        <a:pt x="767" y="194"/>
                        <a:pt x="773" y="202"/>
                        <a:pt x="778" y="210"/>
                      </a:cubicBezTo>
                      <a:cubicBezTo>
                        <a:pt x="783" y="218"/>
                        <a:pt x="802" y="226"/>
                        <a:pt x="802" y="226"/>
                      </a:cubicBezTo>
                      <a:cubicBezTo>
                        <a:pt x="813" y="242"/>
                        <a:pt x="804" y="245"/>
                        <a:pt x="810" y="262"/>
                      </a:cubicBezTo>
                      <a:cubicBezTo>
                        <a:pt x="803" y="282"/>
                        <a:pt x="793" y="301"/>
                        <a:pt x="786" y="322"/>
                      </a:cubicBezTo>
                      <a:cubicBezTo>
                        <a:pt x="783" y="330"/>
                        <a:pt x="778" y="346"/>
                        <a:pt x="778" y="346"/>
                      </a:cubicBezTo>
                      <a:cubicBezTo>
                        <a:pt x="785" y="366"/>
                        <a:pt x="817" y="394"/>
                        <a:pt x="830" y="414"/>
                      </a:cubicBezTo>
                      <a:cubicBezTo>
                        <a:pt x="835" y="422"/>
                        <a:pt x="841" y="430"/>
                        <a:pt x="846" y="438"/>
                      </a:cubicBezTo>
                      <a:cubicBezTo>
                        <a:pt x="849" y="442"/>
                        <a:pt x="854" y="450"/>
                        <a:pt x="854" y="450"/>
                      </a:cubicBezTo>
                      <a:cubicBezTo>
                        <a:pt x="853" y="457"/>
                        <a:pt x="855" y="466"/>
                        <a:pt x="850" y="470"/>
                      </a:cubicBezTo>
                      <a:cubicBezTo>
                        <a:pt x="844" y="475"/>
                        <a:pt x="831" y="451"/>
                        <a:pt x="830" y="450"/>
                      </a:cubicBezTo>
                      <a:cubicBezTo>
                        <a:pt x="811" y="431"/>
                        <a:pt x="789" y="421"/>
                        <a:pt x="774" y="398"/>
                      </a:cubicBezTo>
                      <a:cubicBezTo>
                        <a:pt x="769" y="379"/>
                        <a:pt x="766" y="371"/>
                        <a:pt x="746" y="378"/>
                      </a:cubicBezTo>
                      <a:cubicBezTo>
                        <a:pt x="717" y="368"/>
                        <a:pt x="730" y="368"/>
                        <a:pt x="706" y="374"/>
                      </a:cubicBezTo>
                      <a:cubicBezTo>
                        <a:pt x="688" y="402"/>
                        <a:pt x="699" y="395"/>
                        <a:pt x="678" y="402"/>
                      </a:cubicBezTo>
                      <a:cubicBezTo>
                        <a:pt x="654" y="386"/>
                        <a:pt x="650" y="390"/>
                        <a:pt x="618" y="394"/>
                      </a:cubicBezTo>
                      <a:cubicBezTo>
                        <a:pt x="607" y="411"/>
                        <a:pt x="601" y="426"/>
                        <a:pt x="590" y="442"/>
                      </a:cubicBezTo>
                      <a:cubicBezTo>
                        <a:pt x="600" y="471"/>
                        <a:pt x="593" y="459"/>
                        <a:pt x="606" y="478"/>
                      </a:cubicBezTo>
                      <a:cubicBezTo>
                        <a:pt x="593" y="518"/>
                        <a:pt x="622" y="548"/>
                        <a:pt x="642" y="578"/>
                      </a:cubicBezTo>
                      <a:cubicBezTo>
                        <a:pt x="651" y="591"/>
                        <a:pt x="651" y="601"/>
                        <a:pt x="666" y="606"/>
                      </a:cubicBezTo>
                      <a:cubicBezTo>
                        <a:pt x="680" y="627"/>
                        <a:pt x="691" y="623"/>
                        <a:pt x="710" y="610"/>
                      </a:cubicBezTo>
                      <a:cubicBezTo>
                        <a:pt x="729" y="616"/>
                        <a:pt x="729" y="606"/>
                        <a:pt x="734" y="590"/>
                      </a:cubicBezTo>
                      <a:cubicBezTo>
                        <a:pt x="735" y="577"/>
                        <a:pt x="731" y="562"/>
                        <a:pt x="738" y="550"/>
                      </a:cubicBezTo>
                      <a:cubicBezTo>
                        <a:pt x="742" y="543"/>
                        <a:pt x="762" y="542"/>
                        <a:pt x="762" y="542"/>
                      </a:cubicBezTo>
                      <a:cubicBezTo>
                        <a:pt x="783" y="547"/>
                        <a:pt x="786" y="552"/>
                        <a:pt x="774" y="570"/>
                      </a:cubicBezTo>
                      <a:cubicBezTo>
                        <a:pt x="779" y="590"/>
                        <a:pt x="790" y="605"/>
                        <a:pt x="770" y="618"/>
                      </a:cubicBezTo>
                      <a:cubicBezTo>
                        <a:pt x="769" y="622"/>
                        <a:pt x="764" y="626"/>
                        <a:pt x="766" y="630"/>
                      </a:cubicBezTo>
                      <a:cubicBezTo>
                        <a:pt x="768" y="634"/>
                        <a:pt x="775" y="634"/>
                        <a:pt x="778" y="638"/>
                      </a:cubicBezTo>
                      <a:cubicBezTo>
                        <a:pt x="788" y="651"/>
                        <a:pt x="786" y="660"/>
                        <a:pt x="802" y="670"/>
                      </a:cubicBezTo>
                      <a:cubicBezTo>
                        <a:pt x="810" y="667"/>
                        <a:pt x="818" y="665"/>
                        <a:pt x="826" y="662"/>
                      </a:cubicBezTo>
                      <a:cubicBezTo>
                        <a:pt x="830" y="661"/>
                        <a:pt x="838" y="658"/>
                        <a:pt x="838" y="658"/>
                      </a:cubicBezTo>
                      <a:cubicBezTo>
                        <a:pt x="857" y="664"/>
                        <a:pt x="864" y="680"/>
                        <a:pt x="870" y="698"/>
                      </a:cubicBezTo>
                      <a:cubicBezTo>
                        <a:pt x="859" y="731"/>
                        <a:pt x="887" y="794"/>
                        <a:pt x="922" y="806"/>
                      </a:cubicBezTo>
                      <a:cubicBezTo>
                        <a:pt x="938" y="801"/>
                        <a:pt x="941" y="792"/>
                        <a:pt x="958" y="798"/>
                      </a:cubicBezTo>
                      <a:cubicBezTo>
                        <a:pt x="984" y="837"/>
                        <a:pt x="928" y="784"/>
                        <a:pt x="942" y="826"/>
                      </a:cubicBezTo>
                      <a:cubicBezTo>
                        <a:pt x="936" y="844"/>
                        <a:pt x="930" y="844"/>
                        <a:pt x="914" y="834"/>
                      </a:cubicBezTo>
                      <a:cubicBezTo>
                        <a:pt x="903" y="817"/>
                        <a:pt x="890" y="821"/>
                        <a:pt x="874" y="810"/>
                      </a:cubicBezTo>
                      <a:cubicBezTo>
                        <a:pt x="851" y="776"/>
                        <a:pt x="882" y="816"/>
                        <a:pt x="854" y="794"/>
                      </a:cubicBezTo>
                      <a:cubicBezTo>
                        <a:pt x="843" y="785"/>
                        <a:pt x="840" y="768"/>
                        <a:pt x="830" y="758"/>
                      </a:cubicBezTo>
                      <a:cubicBezTo>
                        <a:pt x="824" y="739"/>
                        <a:pt x="817" y="724"/>
                        <a:pt x="798" y="718"/>
                      </a:cubicBezTo>
                      <a:cubicBezTo>
                        <a:pt x="791" y="696"/>
                        <a:pt x="800" y="712"/>
                        <a:pt x="778" y="710"/>
                      </a:cubicBezTo>
                      <a:cubicBezTo>
                        <a:pt x="767" y="709"/>
                        <a:pt x="746" y="702"/>
                        <a:pt x="746" y="702"/>
                      </a:cubicBezTo>
                      <a:cubicBezTo>
                        <a:pt x="729" y="691"/>
                        <a:pt x="720" y="674"/>
                        <a:pt x="702" y="662"/>
                      </a:cubicBezTo>
                      <a:cubicBezTo>
                        <a:pt x="694" y="665"/>
                        <a:pt x="687" y="673"/>
                        <a:pt x="678" y="674"/>
                      </a:cubicBezTo>
                      <a:cubicBezTo>
                        <a:pt x="657" y="677"/>
                        <a:pt x="630" y="657"/>
                        <a:pt x="614" y="646"/>
                      </a:cubicBezTo>
                      <a:cubicBezTo>
                        <a:pt x="600" y="637"/>
                        <a:pt x="580" y="639"/>
                        <a:pt x="566" y="630"/>
                      </a:cubicBezTo>
                      <a:cubicBezTo>
                        <a:pt x="546" y="617"/>
                        <a:pt x="525" y="607"/>
                        <a:pt x="506" y="594"/>
                      </a:cubicBezTo>
                      <a:cubicBezTo>
                        <a:pt x="513" y="572"/>
                        <a:pt x="509" y="551"/>
                        <a:pt x="490" y="538"/>
                      </a:cubicBezTo>
                      <a:cubicBezTo>
                        <a:pt x="485" y="522"/>
                        <a:pt x="476" y="515"/>
                        <a:pt x="462" y="506"/>
                      </a:cubicBezTo>
                      <a:cubicBezTo>
                        <a:pt x="441" y="474"/>
                        <a:pt x="469" y="513"/>
                        <a:pt x="442" y="486"/>
                      </a:cubicBezTo>
                      <a:cubicBezTo>
                        <a:pt x="436" y="480"/>
                        <a:pt x="436" y="468"/>
                        <a:pt x="430" y="462"/>
                      </a:cubicBezTo>
                      <a:cubicBezTo>
                        <a:pt x="427" y="459"/>
                        <a:pt x="422" y="459"/>
                        <a:pt x="418" y="458"/>
                      </a:cubicBezTo>
                      <a:cubicBezTo>
                        <a:pt x="407" y="447"/>
                        <a:pt x="382" y="430"/>
                        <a:pt x="382" y="430"/>
                      </a:cubicBezTo>
                      <a:cubicBezTo>
                        <a:pt x="371" y="413"/>
                        <a:pt x="358" y="399"/>
                        <a:pt x="346" y="382"/>
                      </a:cubicBezTo>
                      <a:cubicBezTo>
                        <a:pt x="344" y="378"/>
                        <a:pt x="345" y="373"/>
                        <a:pt x="342" y="370"/>
                      </a:cubicBezTo>
                      <a:cubicBezTo>
                        <a:pt x="339" y="367"/>
                        <a:pt x="334" y="367"/>
                        <a:pt x="330" y="366"/>
                      </a:cubicBezTo>
                      <a:cubicBezTo>
                        <a:pt x="322" y="390"/>
                        <a:pt x="342" y="398"/>
                        <a:pt x="354" y="414"/>
                      </a:cubicBezTo>
                      <a:cubicBezTo>
                        <a:pt x="368" y="432"/>
                        <a:pt x="372" y="446"/>
                        <a:pt x="390" y="458"/>
                      </a:cubicBezTo>
                      <a:cubicBezTo>
                        <a:pt x="409" y="487"/>
                        <a:pt x="399" y="475"/>
                        <a:pt x="418" y="494"/>
                      </a:cubicBezTo>
                      <a:cubicBezTo>
                        <a:pt x="423" y="510"/>
                        <a:pt x="428" y="517"/>
                        <a:pt x="442" y="526"/>
                      </a:cubicBezTo>
                      <a:cubicBezTo>
                        <a:pt x="450" y="550"/>
                        <a:pt x="432" y="533"/>
                        <a:pt x="422" y="526"/>
                      </a:cubicBezTo>
                      <a:cubicBezTo>
                        <a:pt x="399" y="492"/>
                        <a:pt x="430" y="532"/>
                        <a:pt x="402" y="510"/>
                      </a:cubicBezTo>
                      <a:cubicBezTo>
                        <a:pt x="398" y="507"/>
                        <a:pt x="397" y="501"/>
                        <a:pt x="394" y="498"/>
                      </a:cubicBezTo>
                      <a:cubicBezTo>
                        <a:pt x="391" y="495"/>
                        <a:pt x="386" y="493"/>
                        <a:pt x="382" y="490"/>
                      </a:cubicBezTo>
                      <a:cubicBezTo>
                        <a:pt x="377" y="474"/>
                        <a:pt x="370" y="471"/>
                        <a:pt x="354" y="466"/>
                      </a:cubicBezTo>
                      <a:cubicBezTo>
                        <a:pt x="344" y="452"/>
                        <a:pt x="340" y="447"/>
                        <a:pt x="346" y="430"/>
                      </a:cubicBezTo>
                      <a:cubicBezTo>
                        <a:pt x="338" y="418"/>
                        <a:pt x="314" y="402"/>
                        <a:pt x="314" y="402"/>
                      </a:cubicBezTo>
                      <a:cubicBezTo>
                        <a:pt x="306" y="390"/>
                        <a:pt x="298" y="378"/>
                        <a:pt x="290" y="366"/>
                      </a:cubicBezTo>
                      <a:cubicBezTo>
                        <a:pt x="284" y="357"/>
                        <a:pt x="273" y="354"/>
                        <a:pt x="266" y="346"/>
                      </a:cubicBezTo>
                      <a:cubicBezTo>
                        <a:pt x="263" y="342"/>
                        <a:pt x="262" y="337"/>
                        <a:pt x="258" y="334"/>
                      </a:cubicBezTo>
                      <a:cubicBezTo>
                        <a:pt x="243" y="324"/>
                        <a:pt x="225" y="324"/>
                        <a:pt x="210" y="314"/>
                      </a:cubicBezTo>
                      <a:cubicBezTo>
                        <a:pt x="201" y="300"/>
                        <a:pt x="194" y="291"/>
                        <a:pt x="178" y="286"/>
                      </a:cubicBezTo>
                      <a:cubicBezTo>
                        <a:pt x="160" y="260"/>
                        <a:pt x="192" y="247"/>
                        <a:pt x="154" y="238"/>
                      </a:cubicBezTo>
                      <a:cubicBezTo>
                        <a:pt x="111" y="209"/>
                        <a:pt x="106" y="149"/>
                        <a:pt x="90" y="102"/>
                      </a:cubicBezTo>
                      <a:cubicBezTo>
                        <a:pt x="86" y="90"/>
                        <a:pt x="76" y="73"/>
                        <a:pt x="66" y="66"/>
                      </a:cubicBezTo>
                      <a:cubicBezTo>
                        <a:pt x="58" y="60"/>
                        <a:pt x="42" y="50"/>
                        <a:pt x="42" y="50"/>
                      </a:cubicBezTo>
                      <a:cubicBezTo>
                        <a:pt x="39" y="46"/>
                        <a:pt x="38" y="41"/>
                        <a:pt x="34" y="38"/>
                      </a:cubicBezTo>
                      <a:cubicBezTo>
                        <a:pt x="27" y="34"/>
                        <a:pt x="10" y="30"/>
                        <a:pt x="10" y="30"/>
                      </a:cubicBezTo>
                      <a:cubicBezTo>
                        <a:pt x="0" y="1"/>
                        <a:pt x="31" y="17"/>
                        <a:pt x="46" y="22"/>
                      </a:cubicBezTo>
                      <a:cubicBezTo>
                        <a:pt x="65" y="51"/>
                        <a:pt x="61" y="41"/>
                        <a:pt x="86" y="58"/>
                      </a:cubicBezTo>
                      <a:cubicBezTo>
                        <a:pt x="94" y="70"/>
                        <a:pt x="94" y="93"/>
                        <a:pt x="102" y="70"/>
                      </a:cubicBezTo>
                      <a:cubicBezTo>
                        <a:pt x="95" y="49"/>
                        <a:pt x="82" y="62"/>
                        <a:pt x="82" y="3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Freeform 32"/>
                <p:cNvSpPr>
                  <a:spLocks/>
                </p:cNvSpPr>
                <p:nvPr/>
              </p:nvSpPr>
              <p:spPr bwMode="ltGray">
                <a:xfrm>
                  <a:off x="3577" y="490"/>
                  <a:ext cx="36" cy="39"/>
                </a:xfrm>
                <a:custGeom>
                  <a:avLst/>
                  <a:gdLst>
                    <a:gd name="T0" fmla="*/ 6 w 36"/>
                    <a:gd name="T1" fmla="*/ 12 h 48"/>
                    <a:gd name="T2" fmla="*/ 10 w 36"/>
                    <a:gd name="T3" fmla="*/ 21 h 48"/>
                    <a:gd name="T4" fmla="*/ 6 w 36"/>
                    <a:gd name="T5" fmla="*/ 12 h 4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6" h="48">
                      <a:moveTo>
                        <a:pt x="6" y="28"/>
                      </a:moveTo>
                      <a:cubicBezTo>
                        <a:pt x="25" y="0"/>
                        <a:pt x="36" y="31"/>
                        <a:pt x="10" y="48"/>
                      </a:cubicBezTo>
                      <a:cubicBezTo>
                        <a:pt x="0" y="34"/>
                        <a:pt x="0" y="40"/>
                        <a:pt x="6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Freeform 33"/>
                <p:cNvSpPr>
                  <a:spLocks/>
                </p:cNvSpPr>
                <p:nvPr/>
              </p:nvSpPr>
              <p:spPr bwMode="ltGray">
                <a:xfrm>
                  <a:off x="3549" y="475"/>
                  <a:ext cx="38" cy="29"/>
                </a:xfrm>
                <a:custGeom>
                  <a:avLst/>
                  <a:gdLst>
                    <a:gd name="T0" fmla="*/ 0 w 36"/>
                    <a:gd name="T1" fmla="*/ 2 h 37"/>
                    <a:gd name="T2" fmla="*/ 16 w 36"/>
                    <a:gd name="T3" fmla="*/ 1 h 37"/>
                    <a:gd name="T4" fmla="*/ 44 w 36"/>
                    <a:gd name="T5" fmla="*/ 6 h 37"/>
                    <a:gd name="T6" fmla="*/ 8 w 36"/>
                    <a:gd name="T7" fmla="*/ 6 h 37"/>
                    <a:gd name="T8" fmla="*/ 0 w 36"/>
                    <a:gd name="T9" fmla="*/ 2 h 3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6" h="37">
                      <a:moveTo>
                        <a:pt x="0" y="5"/>
                      </a:moveTo>
                      <a:cubicBezTo>
                        <a:pt x="4" y="4"/>
                        <a:pt x="8" y="0"/>
                        <a:pt x="12" y="1"/>
                      </a:cubicBezTo>
                      <a:cubicBezTo>
                        <a:pt x="21" y="4"/>
                        <a:pt x="36" y="17"/>
                        <a:pt x="36" y="17"/>
                      </a:cubicBezTo>
                      <a:cubicBezTo>
                        <a:pt x="29" y="37"/>
                        <a:pt x="22" y="26"/>
                        <a:pt x="8" y="17"/>
                      </a:cubicBezTo>
                      <a:cubicBezTo>
                        <a:pt x="5" y="13"/>
                        <a:pt x="0" y="5"/>
                        <a:pt x="0" y="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5" name="Freeform 34"/>
                <p:cNvSpPr>
                  <a:spLocks/>
                </p:cNvSpPr>
                <p:nvPr/>
              </p:nvSpPr>
              <p:spPr bwMode="ltGray">
                <a:xfrm>
                  <a:off x="4686" y="394"/>
                  <a:ext cx="171" cy="81"/>
                </a:xfrm>
                <a:custGeom>
                  <a:avLst/>
                  <a:gdLst>
                    <a:gd name="T0" fmla="*/ 0 w 170"/>
                    <a:gd name="T1" fmla="*/ 25 h 96"/>
                    <a:gd name="T2" fmla="*/ 28 w 170"/>
                    <a:gd name="T3" fmla="*/ 13 h 96"/>
                    <a:gd name="T4" fmla="*/ 56 w 170"/>
                    <a:gd name="T5" fmla="*/ 11 h 96"/>
                    <a:gd name="T6" fmla="*/ 80 w 170"/>
                    <a:gd name="T7" fmla="*/ 5 h 96"/>
                    <a:gd name="T8" fmla="*/ 64 w 170"/>
                    <a:gd name="T9" fmla="*/ 13 h 96"/>
                    <a:gd name="T10" fmla="*/ 128 w 170"/>
                    <a:gd name="T11" fmla="*/ 25 h 96"/>
                    <a:gd name="T12" fmla="*/ 164 w 170"/>
                    <a:gd name="T13" fmla="*/ 33 h 96"/>
                    <a:gd name="T14" fmla="*/ 120 w 170"/>
                    <a:gd name="T15" fmla="*/ 39 h 96"/>
                    <a:gd name="T16" fmla="*/ 92 w 170"/>
                    <a:gd name="T17" fmla="*/ 30 h 96"/>
                    <a:gd name="T18" fmla="*/ 76 w 170"/>
                    <a:gd name="T19" fmla="*/ 27 h 96"/>
                    <a:gd name="T20" fmla="*/ 24 w 170"/>
                    <a:gd name="T21" fmla="*/ 21 h 96"/>
                    <a:gd name="T22" fmla="*/ 0 w 170"/>
                    <a:gd name="T23" fmla="*/ 25 h 96"/>
                    <a:gd name="T24" fmla="*/ 0 60000 65536"/>
                    <a:gd name="T25" fmla="*/ 0 60000 65536"/>
                    <a:gd name="T26" fmla="*/ 0 60000 65536"/>
                    <a:gd name="T27" fmla="*/ 0 60000 65536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</a:gdLst>
                  <a:ahLst/>
                  <a:cxnLst>
                    <a:cxn ang="T24">
                      <a:pos x="T0" y="T1"/>
                    </a:cxn>
                    <a:cxn ang="T25">
                      <a:pos x="T2" y="T3"/>
                    </a:cxn>
                    <a:cxn ang="T26">
                      <a:pos x="T4" y="T5"/>
                    </a:cxn>
                    <a:cxn ang="T27">
                      <a:pos x="T6" y="T7"/>
                    </a:cxn>
                    <a:cxn ang="T28">
                      <a:pos x="T8" y="T9"/>
                    </a:cxn>
                    <a:cxn ang="T29">
                      <a:pos x="T10" y="T11"/>
                    </a:cxn>
                    <a:cxn ang="T30">
                      <a:pos x="T12" y="T13"/>
                    </a:cxn>
                    <a:cxn ang="T31">
                      <a:pos x="T14" y="T15"/>
                    </a:cxn>
                    <a:cxn ang="T32">
                      <a:pos x="T16" y="T17"/>
                    </a:cxn>
                    <a:cxn ang="T33">
                      <a:pos x="T18" y="T19"/>
                    </a:cxn>
                    <a:cxn ang="T34">
                      <a:pos x="T20" y="T21"/>
                    </a:cxn>
                    <a:cxn ang="T35">
                      <a:pos x="T22" y="T23"/>
                    </a:cxn>
                  </a:cxnLst>
                  <a:rect l="0" t="0" r="r" b="b"/>
                  <a:pathLst>
                    <a:path w="170" h="96">
                      <a:moveTo>
                        <a:pt x="0" y="49"/>
                      </a:moveTo>
                      <a:cubicBezTo>
                        <a:pt x="5" y="33"/>
                        <a:pt x="12" y="30"/>
                        <a:pt x="28" y="25"/>
                      </a:cubicBezTo>
                      <a:cubicBezTo>
                        <a:pt x="20" y="0"/>
                        <a:pt x="42" y="16"/>
                        <a:pt x="56" y="21"/>
                      </a:cubicBezTo>
                      <a:cubicBezTo>
                        <a:pt x="56" y="21"/>
                        <a:pt x="77" y="6"/>
                        <a:pt x="80" y="9"/>
                      </a:cubicBezTo>
                      <a:cubicBezTo>
                        <a:pt x="85" y="14"/>
                        <a:pt x="71" y="23"/>
                        <a:pt x="64" y="25"/>
                      </a:cubicBezTo>
                      <a:cubicBezTo>
                        <a:pt x="82" y="37"/>
                        <a:pt x="103" y="42"/>
                        <a:pt x="124" y="49"/>
                      </a:cubicBezTo>
                      <a:cubicBezTo>
                        <a:pt x="136" y="53"/>
                        <a:pt x="160" y="65"/>
                        <a:pt x="160" y="65"/>
                      </a:cubicBezTo>
                      <a:cubicBezTo>
                        <a:pt x="170" y="96"/>
                        <a:pt x="134" y="83"/>
                        <a:pt x="116" y="77"/>
                      </a:cubicBezTo>
                      <a:cubicBezTo>
                        <a:pt x="109" y="57"/>
                        <a:pt x="116" y="66"/>
                        <a:pt x="88" y="57"/>
                      </a:cubicBezTo>
                      <a:cubicBezTo>
                        <a:pt x="84" y="56"/>
                        <a:pt x="76" y="53"/>
                        <a:pt x="76" y="53"/>
                      </a:cubicBezTo>
                      <a:cubicBezTo>
                        <a:pt x="57" y="34"/>
                        <a:pt x="53" y="37"/>
                        <a:pt x="24" y="41"/>
                      </a:cubicBezTo>
                      <a:cubicBezTo>
                        <a:pt x="9" y="51"/>
                        <a:pt x="17" y="49"/>
                        <a:pt x="0" y="4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6" name="Freeform 35"/>
                <p:cNvSpPr>
                  <a:spLocks/>
                </p:cNvSpPr>
                <p:nvPr/>
              </p:nvSpPr>
              <p:spPr bwMode="ltGray">
                <a:xfrm>
                  <a:off x="4867" y="460"/>
                  <a:ext cx="138" cy="37"/>
                </a:xfrm>
                <a:custGeom>
                  <a:avLst/>
                  <a:gdLst>
                    <a:gd name="T0" fmla="*/ 0 w 138"/>
                    <a:gd name="T1" fmla="*/ 0 h 44"/>
                    <a:gd name="T2" fmla="*/ 52 w 138"/>
                    <a:gd name="T3" fmla="*/ 3 h 44"/>
                    <a:gd name="T4" fmla="*/ 88 w 138"/>
                    <a:gd name="T5" fmla="*/ 12 h 44"/>
                    <a:gd name="T6" fmla="*/ 112 w 138"/>
                    <a:gd name="T7" fmla="*/ 10 h 44"/>
                    <a:gd name="T8" fmla="*/ 108 w 138"/>
                    <a:gd name="T9" fmla="*/ 22 h 44"/>
                    <a:gd name="T10" fmla="*/ 64 w 138"/>
                    <a:gd name="T11" fmla="*/ 20 h 44"/>
                    <a:gd name="T12" fmla="*/ 0 w 138"/>
                    <a:gd name="T13" fmla="*/ 18 h 44"/>
                    <a:gd name="T14" fmla="*/ 28 w 138"/>
                    <a:gd name="T15" fmla="*/ 10 h 44"/>
                    <a:gd name="T16" fmla="*/ 0 w 138"/>
                    <a:gd name="T17" fmla="*/ 0 h 44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0" t="0" r="r" b="b"/>
                  <a:pathLst>
                    <a:path w="138" h="44">
                      <a:moveTo>
                        <a:pt x="0" y="0"/>
                      </a:moveTo>
                      <a:cubicBezTo>
                        <a:pt x="19" y="3"/>
                        <a:pt x="35" y="10"/>
                        <a:pt x="52" y="4"/>
                      </a:cubicBezTo>
                      <a:cubicBezTo>
                        <a:pt x="87" y="11"/>
                        <a:pt x="61" y="15"/>
                        <a:pt x="88" y="24"/>
                      </a:cubicBezTo>
                      <a:cubicBezTo>
                        <a:pt x="96" y="23"/>
                        <a:pt x="104" y="19"/>
                        <a:pt x="112" y="20"/>
                      </a:cubicBezTo>
                      <a:cubicBezTo>
                        <a:pt x="138" y="23"/>
                        <a:pt x="118" y="41"/>
                        <a:pt x="108" y="44"/>
                      </a:cubicBezTo>
                      <a:cubicBezTo>
                        <a:pt x="78" y="34"/>
                        <a:pt x="92" y="34"/>
                        <a:pt x="64" y="40"/>
                      </a:cubicBezTo>
                      <a:cubicBezTo>
                        <a:pt x="41" y="37"/>
                        <a:pt x="22" y="41"/>
                        <a:pt x="0" y="36"/>
                      </a:cubicBezTo>
                      <a:cubicBezTo>
                        <a:pt x="6" y="11"/>
                        <a:pt x="7" y="27"/>
                        <a:pt x="28" y="20"/>
                      </a:cubicBezTo>
                      <a:cubicBezTo>
                        <a:pt x="17" y="13"/>
                        <a:pt x="0" y="13"/>
                        <a:pt x="0" y="0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7" name="Freeform 36"/>
                <p:cNvSpPr>
                  <a:spLocks/>
                </p:cNvSpPr>
                <p:nvPr/>
              </p:nvSpPr>
              <p:spPr bwMode="ltGray">
                <a:xfrm>
                  <a:off x="4794" y="480"/>
                  <a:ext cx="56" cy="34"/>
                </a:xfrm>
                <a:custGeom>
                  <a:avLst/>
                  <a:gdLst>
                    <a:gd name="T0" fmla="*/ 17 w 57"/>
                    <a:gd name="T1" fmla="*/ 11 h 42"/>
                    <a:gd name="T2" fmla="*/ 33 w 57"/>
                    <a:gd name="T3" fmla="*/ 6 h 42"/>
                    <a:gd name="T4" fmla="*/ 17 w 57"/>
                    <a:gd name="T5" fmla="*/ 11 h 4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57" h="42">
                      <a:moveTo>
                        <a:pt x="17" y="25"/>
                      </a:moveTo>
                      <a:cubicBezTo>
                        <a:pt x="0" y="0"/>
                        <a:pt x="21" y="9"/>
                        <a:pt x="37" y="13"/>
                      </a:cubicBezTo>
                      <a:cubicBezTo>
                        <a:pt x="57" y="42"/>
                        <a:pt x="30" y="25"/>
                        <a:pt x="1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8" name="Freeform 37"/>
                <p:cNvSpPr>
                  <a:spLocks/>
                </p:cNvSpPr>
                <p:nvPr/>
              </p:nvSpPr>
              <p:spPr bwMode="ltGray">
                <a:xfrm>
                  <a:off x="4757" y="375"/>
                  <a:ext cx="37" cy="44"/>
                </a:xfrm>
                <a:custGeom>
                  <a:avLst/>
                  <a:gdLst>
                    <a:gd name="T0" fmla="*/ 15 w 39"/>
                    <a:gd name="T1" fmla="*/ 16 h 52"/>
                    <a:gd name="T2" fmla="*/ 15 w 39"/>
                    <a:gd name="T3" fmla="*/ 0 h 52"/>
                    <a:gd name="T4" fmla="*/ 15 w 39"/>
                    <a:gd name="T5" fmla="*/ 16 h 52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9" h="52">
                      <a:moveTo>
                        <a:pt x="19" y="32"/>
                      </a:moveTo>
                      <a:cubicBezTo>
                        <a:pt x="13" y="14"/>
                        <a:pt x="0" y="13"/>
                        <a:pt x="19" y="0"/>
                      </a:cubicBezTo>
                      <a:cubicBezTo>
                        <a:pt x="23" y="5"/>
                        <a:pt x="39" y="52"/>
                        <a:pt x="19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69" name="Freeform 38"/>
                <p:cNvSpPr>
                  <a:spLocks/>
                </p:cNvSpPr>
                <p:nvPr/>
              </p:nvSpPr>
              <p:spPr bwMode="ltGray">
                <a:xfrm>
                  <a:off x="5054" y="507"/>
                  <a:ext cx="45" cy="66"/>
                </a:xfrm>
                <a:custGeom>
                  <a:avLst/>
                  <a:gdLst>
                    <a:gd name="T0" fmla="*/ 4 w 44"/>
                    <a:gd name="T1" fmla="*/ 4 h 80"/>
                    <a:gd name="T2" fmla="*/ 20 w 44"/>
                    <a:gd name="T3" fmla="*/ 15 h 80"/>
                    <a:gd name="T4" fmla="*/ 28 w 44"/>
                    <a:gd name="T5" fmla="*/ 22 h 80"/>
                    <a:gd name="T6" fmla="*/ 40 w 44"/>
                    <a:gd name="T7" fmla="*/ 25 h 80"/>
                    <a:gd name="T8" fmla="*/ 28 w 44"/>
                    <a:gd name="T9" fmla="*/ 34 h 80"/>
                    <a:gd name="T10" fmla="*/ 0 w 44"/>
                    <a:gd name="T11" fmla="*/ 10 h 80"/>
                    <a:gd name="T12" fmla="*/ 4 w 44"/>
                    <a:gd name="T13" fmla="*/ 4 h 8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0" t="0" r="r" b="b"/>
                  <a:pathLst>
                    <a:path w="44" h="80">
                      <a:moveTo>
                        <a:pt x="4" y="9"/>
                      </a:moveTo>
                      <a:cubicBezTo>
                        <a:pt x="9" y="17"/>
                        <a:pt x="18" y="24"/>
                        <a:pt x="20" y="33"/>
                      </a:cubicBezTo>
                      <a:cubicBezTo>
                        <a:pt x="21" y="38"/>
                        <a:pt x="21" y="45"/>
                        <a:pt x="24" y="49"/>
                      </a:cubicBezTo>
                      <a:cubicBezTo>
                        <a:pt x="27" y="52"/>
                        <a:pt x="32" y="52"/>
                        <a:pt x="36" y="53"/>
                      </a:cubicBezTo>
                      <a:cubicBezTo>
                        <a:pt x="41" y="68"/>
                        <a:pt x="44" y="80"/>
                        <a:pt x="24" y="73"/>
                      </a:cubicBezTo>
                      <a:cubicBezTo>
                        <a:pt x="19" y="55"/>
                        <a:pt x="11" y="37"/>
                        <a:pt x="0" y="21"/>
                      </a:cubicBezTo>
                      <a:cubicBezTo>
                        <a:pt x="4" y="4"/>
                        <a:pt x="4" y="0"/>
                        <a:pt x="4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0" name="Freeform 39"/>
                <p:cNvSpPr>
                  <a:spLocks/>
                </p:cNvSpPr>
                <p:nvPr/>
              </p:nvSpPr>
              <p:spPr bwMode="ltGray">
                <a:xfrm>
                  <a:off x="4260" y="6"/>
                  <a:ext cx="480" cy="100"/>
                </a:xfrm>
                <a:custGeom>
                  <a:avLst/>
                  <a:gdLst>
                    <a:gd name="T0" fmla="*/ 1073 w 323"/>
                    <a:gd name="T1" fmla="*/ 8 h 64"/>
                    <a:gd name="T2" fmla="*/ 1126 w 323"/>
                    <a:gd name="T3" fmla="*/ 48 h 64"/>
                    <a:gd name="T4" fmla="*/ 1146 w 323"/>
                    <a:gd name="T5" fmla="*/ 0 h 64"/>
                    <a:gd name="T6" fmla="*/ 1294 w 323"/>
                    <a:gd name="T7" fmla="*/ 0 h 64"/>
                    <a:gd name="T8" fmla="*/ 1403 w 323"/>
                    <a:gd name="T9" fmla="*/ 103 h 64"/>
                    <a:gd name="T10" fmla="*/ 1554 w 323"/>
                    <a:gd name="T11" fmla="*/ 61 h 64"/>
                    <a:gd name="T12" fmla="*/ 1532 w 323"/>
                    <a:gd name="T13" fmla="*/ 170 h 64"/>
                    <a:gd name="T14" fmla="*/ 1453 w 323"/>
                    <a:gd name="T15" fmla="*/ 277 h 64"/>
                    <a:gd name="T16" fmla="*/ 1437 w 323"/>
                    <a:gd name="T17" fmla="*/ 170 h 64"/>
                    <a:gd name="T18" fmla="*/ 1403 w 323"/>
                    <a:gd name="T19" fmla="*/ 183 h 64"/>
                    <a:gd name="T20" fmla="*/ 1363 w 323"/>
                    <a:gd name="T21" fmla="*/ 170 h 64"/>
                    <a:gd name="T22" fmla="*/ 1282 w 323"/>
                    <a:gd name="T23" fmla="*/ 127 h 64"/>
                    <a:gd name="T24" fmla="*/ 1113 w 323"/>
                    <a:gd name="T25" fmla="*/ 225 h 64"/>
                    <a:gd name="T26" fmla="*/ 981 w 323"/>
                    <a:gd name="T27" fmla="*/ 264 h 64"/>
                    <a:gd name="T28" fmla="*/ 1033 w 323"/>
                    <a:gd name="T29" fmla="*/ 339 h 64"/>
                    <a:gd name="T30" fmla="*/ 917 w 323"/>
                    <a:gd name="T31" fmla="*/ 373 h 64"/>
                    <a:gd name="T32" fmla="*/ 823 w 323"/>
                    <a:gd name="T33" fmla="*/ 361 h 64"/>
                    <a:gd name="T34" fmla="*/ 863 w 323"/>
                    <a:gd name="T35" fmla="*/ 339 h 64"/>
                    <a:gd name="T36" fmla="*/ 832 w 323"/>
                    <a:gd name="T37" fmla="*/ 239 h 64"/>
                    <a:gd name="T38" fmla="*/ 823 w 323"/>
                    <a:gd name="T39" fmla="*/ 183 h 64"/>
                    <a:gd name="T40" fmla="*/ 771 w 323"/>
                    <a:gd name="T41" fmla="*/ 138 h 64"/>
                    <a:gd name="T42" fmla="*/ 694 w 323"/>
                    <a:gd name="T43" fmla="*/ 161 h 64"/>
                    <a:gd name="T44" fmla="*/ 654 w 323"/>
                    <a:gd name="T45" fmla="*/ 161 h 64"/>
                    <a:gd name="T46" fmla="*/ 600 w 323"/>
                    <a:gd name="T47" fmla="*/ 148 h 64"/>
                    <a:gd name="T48" fmla="*/ 404 w 323"/>
                    <a:gd name="T49" fmla="*/ 13 h 64"/>
                    <a:gd name="T50" fmla="*/ 290 w 323"/>
                    <a:gd name="T51" fmla="*/ 83 h 64"/>
                    <a:gd name="T52" fmla="*/ 1 w 323"/>
                    <a:gd name="T53" fmla="*/ 0 h 64"/>
                    <a:gd name="T54" fmla="*/ 1073 w 323"/>
                    <a:gd name="T55" fmla="*/ 8 h 64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</a:gdLst>
                  <a:ahLst/>
                  <a:cxnLst>
                    <a:cxn ang="T56">
                      <a:pos x="T0" y="T1"/>
                    </a:cxn>
                    <a:cxn ang="T57">
                      <a:pos x="T2" y="T3"/>
                    </a:cxn>
                    <a:cxn ang="T58">
                      <a:pos x="T4" y="T5"/>
                    </a:cxn>
                    <a:cxn ang="T59">
                      <a:pos x="T6" y="T7"/>
                    </a:cxn>
                    <a:cxn ang="T60">
                      <a:pos x="T8" y="T9"/>
                    </a:cxn>
                    <a:cxn ang="T61">
                      <a:pos x="T10" y="T11"/>
                    </a:cxn>
                    <a:cxn ang="T62">
                      <a:pos x="T12" y="T13"/>
                    </a:cxn>
                    <a:cxn ang="T63">
                      <a:pos x="T14" y="T15"/>
                    </a:cxn>
                    <a:cxn ang="T64">
                      <a:pos x="T16" y="T17"/>
                    </a:cxn>
                    <a:cxn ang="T65">
                      <a:pos x="T18" y="T19"/>
                    </a:cxn>
                    <a:cxn ang="T66">
                      <a:pos x="T20" y="T21"/>
                    </a:cxn>
                    <a:cxn ang="T67">
                      <a:pos x="T22" y="T23"/>
                    </a:cxn>
                    <a:cxn ang="T68">
                      <a:pos x="T24" y="T25"/>
                    </a:cxn>
                    <a:cxn ang="T69">
                      <a:pos x="T26" y="T27"/>
                    </a:cxn>
                    <a:cxn ang="T70">
                      <a:pos x="T28" y="T29"/>
                    </a:cxn>
                    <a:cxn ang="T71">
                      <a:pos x="T30" y="T31"/>
                    </a:cxn>
                    <a:cxn ang="T72">
                      <a:pos x="T32" y="T33"/>
                    </a:cxn>
                    <a:cxn ang="T73">
                      <a:pos x="T34" y="T35"/>
                    </a:cxn>
                    <a:cxn ang="T74">
                      <a:pos x="T36" y="T37"/>
                    </a:cxn>
                    <a:cxn ang="T75">
                      <a:pos x="T38" y="T39"/>
                    </a:cxn>
                    <a:cxn ang="T76">
                      <a:pos x="T40" y="T41"/>
                    </a:cxn>
                    <a:cxn ang="T77">
                      <a:pos x="T42" y="T43"/>
                    </a:cxn>
                    <a:cxn ang="T78">
                      <a:pos x="T44" y="T45"/>
                    </a:cxn>
                    <a:cxn ang="T79">
                      <a:pos x="T46" y="T47"/>
                    </a:cxn>
                    <a:cxn ang="T80">
                      <a:pos x="T48" y="T49"/>
                    </a:cxn>
                    <a:cxn ang="T81">
                      <a:pos x="T50" y="T51"/>
                    </a:cxn>
                    <a:cxn ang="T82">
                      <a:pos x="T52" y="T53"/>
                    </a:cxn>
                    <a:cxn ang="T83">
                      <a:pos x="T54" y="T55"/>
                    </a:cxn>
                  </a:cxnLst>
                  <a:rect l="0" t="0" r="r" b="b"/>
                  <a:pathLst>
                    <a:path w="323" h="64">
                      <a:moveTo>
                        <a:pt x="220" y="1"/>
                      </a:moveTo>
                      <a:cubicBezTo>
                        <a:pt x="215" y="12"/>
                        <a:pt x="225" y="17"/>
                        <a:pt x="231" y="8"/>
                      </a:cubicBezTo>
                      <a:cubicBezTo>
                        <a:pt x="235" y="0"/>
                        <a:pt x="229" y="7"/>
                        <a:pt x="235" y="0"/>
                      </a:cubicBezTo>
                      <a:lnTo>
                        <a:pt x="265" y="0"/>
                      </a:lnTo>
                      <a:cubicBezTo>
                        <a:pt x="277" y="6"/>
                        <a:pt x="276" y="11"/>
                        <a:pt x="287" y="17"/>
                      </a:cubicBezTo>
                      <a:cubicBezTo>
                        <a:pt x="308" y="11"/>
                        <a:pt x="293" y="7"/>
                        <a:pt x="319" y="10"/>
                      </a:cubicBezTo>
                      <a:cubicBezTo>
                        <a:pt x="323" y="19"/>
                        <a:pt x="321" y="22"/>
                        <a:pt x="314" y="29"/>
                      </a:cubicBezTo>
                      <a:cubicBezTo>
                        <a:pt x="312" y="39"/>
                        <a:pt x="313" y="50"/>
                        <a:pt x="298" y="46"/>
                      </a:cubicBezTo>
                      <a:cubicBezTo>
                        <a:pt x="297" y="40"/>
                        <a:pt x="298" y="34"/>
                        <a:pt x="295" y="29"/>
                      </a:cubicBezTo>
                      <a:cubicBezTo>
                        <a:pt x="294" y="27"/>
                        <a:pt x="290" y="31"/>
                        <a:pt x="287" y="31"/>
                      </a:cubicBezTo>
                      <a:cubicBezTo>
                        <a:pt x="284" y="31"/>
                        <a:pt x="282" y="30"/>
                        <a:pt x="279" y="29"/>
                      </a:cubicBezTo>
                      <a:cubicBezTo>
                        <a:pt x="274" y="27"/>
                        <a:pt x="263" y="21"/>
                        <a:pt x="263" y="21"/>
                      </a:cubicBezTo>
                      <a:cubicBezTo>
                        <a:pt x="249" y="23"/>
                        <a:pt x="241" y="31"/>
                        <a:pt x="228" y="38"/>
                      </a:cubicBezTo>
                      <a:cubicBezTo>
                        <a:pt x="220" y="41"/>
                        <a:pt x="209" y="42"/>
                        <a:pt x="201" y="44"/>
                      </a:cubicBezTo>
                      <a:cubicBezTo>
                        <a:pt x="193" y="54"/>
                        <a:pt x="200" y="53"/>
                        <a:pt x="212" y="57"/>
                      </a:cubicBezTo>
                      <a:cubicBezTo>
                        <a:pt x="200" y="62"/>
                        <a:pt x="199" y="57"/>
                        <a:pt x="188" y="63"/>
                      </a:cubicBezTo>
                      <a:cubicBezTo>
                        <a:pt x="181" y="62"/>
                        <a:pt x="174" y="64"/>
                        <a:pt x="169" y="61"/>
                      </a:cubicBezTo>
                      <a:cubicBezTo>
                        <a:pt x="166" y="59"/>
                        <a:pt x="175" y="59"/>
                        <a:pt x="177" y="57"/>
                      </a:cubicBezTo>
                      <a:cubicBezTo>
                        <a:pt x="181" y="48"/>
                        <a:pt x="149" y="28"/>
                        <a:pt x="171" y="40"/>
                      </a:cubicBezTo>
                      <a:cubicBezTo>
                        <a:pt x="184" y="55"/>
                        <a:pt x="184" y="36"/>
                        <a:pt x="169" y="31"/>
                      </a:cubicBezTo>
                      <a:cubicBezTo>
                        <a:pt x="167" y="27"/>
                        <a:pt x="167" y="22"/>
                        <a:pt x="158" y="23"/>
                      </a:cubicBezTo>
                      <a:cubicBezTo>
                        <a:pt x="153" y="23"/>
                        <a:pt x="142" y="27"/>
                        <a:pt x="142" y="27"/>
                      </a:cubicBezTo>
                      <a:cubicBezTo>
                        <a:pt x="136" y="39"/>
                        <a:pt x="143" y="31"/>
                        <a:pt x="134" y="27"/>
                      </a:cubicBezTo>
                      <a:cubicBezTo>
                        <a:pt x="130" y="25"/>
                        <a:pt x="126" y="25"/>
                        <a:pt x="123" y="25"/>
                      </a:cubicBezTo>
                      <a:cubicBezTo>
                        <a:pt x="117" y="11"/>
                        <a:pt x="100" y="6"/>
                        <a:pt x="83" y="2"/>
                      </a:cubicBezTo>
                      <a:cubicBezTo>
                        <a:pt x="70" y="4"/>
                        <a:pt x="69" y="9"/>
                        <a:pt x="59" y="14"/>
                      </a:cubicBezTo>
                      <a:cubicBezTo>
                        <a:pt x="45" y="14"/>
                        <a:pt x="0" y="12"/>
                        <a:pt x="1" y="0"/>
                      </a:cubicBezTo>
                      <a:lnTo>
                        <a:pt x="220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1" name="Freeform 40"/>
                <p:cNvSpPr>
                  <a:spLocks/>
                </p:cNvSpPr>
                <p:nvPr/>
              </p:nvSpPr>
              <p:spPr bwMode="ltGray">
                <a:xfrm>
                  <a:off x="3835" y="3"/>
                  <a:ext cx="446" cy="49"/>
                </a:xfrm>
                <a:custGeom>
                  <a:avLst/>
                  <a:gdLst>
                    <a:gd name="T0" fmla="*/ 513 w 300"/>
                    <a:gd name="T1" fmla="*/ 193 h 31"/>
                    <a:gd name="T2" fmla="*/ 149 w 300"/>
                    <a:gd name="T3" fmla="*/ 8 h 31"/>
                    <a:gd name="T4" fmla="*/ 1393 w 300"/>
                    <a:gd name="T5" fmla="*/ 0 h 31"/>
                    <a:gd name="T6" fmla="*/ 1445 w 300"/>
                    <a:gd name="T7" fmla="*/ 87 h 31"/>
                    <a:gd name="T8" fmla="*/ 1289 w 300"/>
                    <a:gd name="T9" fmla="*/ 100 h 31"/>
                    <a:gd name="T10" fmla="*/ 513 w 300"/>
                    <a:gd name="T11" fmla="*/ 193 h 31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300" h="31">
                      <a:moveTo>
                        <a:pt x="105" y="31"/>
                      </a:moveTo>
                      <a:cubicBezTo>
                        <a:pt x="83" y="19"/>
                        <a:pt x="0" y="6"/>
                        <a:pt x="30" y="1"/>
                      </a:cubicBezTo>
                      <a:lnTo>
                        <a:pt x="285" y="0"/>
                      </a:lnTo>
                      <a:cubicBezTo>
                        <a:pt x="296" y="4"/>
                        <a:pt x="300" y="5"/>
                        <a:pt x="296" y="14"/>
                      </a:cubicBezTo>
                      <a:cubicBezTo>
                        <a:pt x="285" y="11"/>
                        <a:pt x="276" y="16"/>
                        <a:pt x="264" y="16"/>
                      </a:cubicBezTo>
                      <a:lnTo>
                        <a:pt x="105" y="3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2" name="Freeform 41"/>
                <p:cNvSpPr>
                  <a:spLocks/>
                </p:cNvSpPr>
                <p:nvPr/>
              </p:nvSpPr>
              <p:spPr bwMode="ltGray">
                <a:xfrm>
                  <a:off x="2853" y="74"/>
                  <a:ext cx="42" cy="25"/>
                </a:xfrm>
                <a:custGeom>
                  <a:avLst/>
                  <a:gdLst>
                    <a:gd name="T0" fmla="*/ 0 w 41"/>
                    <a:gd name="T1" fmla="*/ 14 h 29"/>
                    <a:gd name="T2" fmla="*/ 12 w 41"/>
                    <a:gd name="T3" fmla="*/ 16 h 29"/>
                    <a:gd name="T4" fmla="*/ 0 w 41"/>
                    <a:gd name="T5" fmla="*/ 14 h 29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1" h="29">
                      <a:moveTo>
                        <a:pt x="0" y="25"/>
                      </a:moveTo>
                      <a:cubicBezTo>
                        <a:pt x="10" y="11"/>
                        <a:pt x="41" y="0"/>
                        <a:pt x="12" y="29"/>
                      </a:cubicBezTo>
                      <a:cubicBezTo>
                        <a:pt x="8" y="28"/>
                        <a:pt x="0" y="25"/>
                        <a:pt x="0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3" name="Freeform 42"/>
                <p:cNvSpPr>
                  <a:spLocks/>
                </p:cNvSpPr>
                <p:nvPr/>
              </p:nvSpPr>
              <p:spPr bwMode="ltGray">
                <a:xfrm>
                  <a:off x="1704" y="3"/>
                  <a:ext cx="1022" cy="372"/>
                </a:xfrm>
                <a:custGeom>
                  <a:avLst/>
                  <a:gdLst>
                    <a:gd name="T0" fmla="*/ 2203 w 436"/>
                    <a:gd name="T1" fmla="*/ 29 h 152"/>
                    <a:gd name="T2" fmla="*/ 13164 w 436"/>
                    <a:gd name="T3" fmla="*/ 0 h 152"/>
                    <a:gd name="T4" fmla="*/ 12555 w 436"/>
                    <a:gd name="T5" fmla="*/ 1936 h 152"/>
                    <a:gd name="T6" fmla="*/ 11990 w 436"/>
                    <a:gd name="T7" fmla="*/ 2433 h 152"/>
                    <a:gd name="T8" fmla="*/ 11835 w 436"/>
                    <a:gd name="T9" fmla="*/ 2509 h 152"/>
                    <a:gd name="T10" fmla="*/ 11319 w 436"/>
                    <a:gd name="T11" fmla="*/ 2624 h 152"/>
                    <a:gd name="T12" fmla="*/ 10895 w 436"/>
                    <a:gd name="T13" fmla="*/ 3150 h 152"/>
                    <a:gd name="T14" fmla="*/ 10935 w 436"/>
                    <a:gd name="T15" fmla="*/ 3546 h 152"/>
                    <a:gd name="T16" fmla="*/ 10984 w 436"/>
                    <a:gd name="T17" fmla="*/ 3840 h 152"/>
                    <a:gd name="T18" fmla="*/ 11050 w 436"/>
                    <a:gd name="T19" fmla="*/ 4060 h 152"/>
                    <a:gd name="T20" fmla="*/ 10935 w 436"/>
                    <a:gd name="T21" fmla="*/ 4383 h 152"/>
                    <a:gd name="T22" fmla="*/ 10600 w 436"/>
                    <a:gd name="T23" fmla="*/ 4312 h 152"/>
                    <a:gd name="T24" fmla="*/ 10330 w 436"/>
                    <a:gd name="T25" fmla="*/ 4630 h 152"/>
                    <a:gd name="T26" fmla="*/ 10473 w 436"/>
                    <a:gd name="T27" fmla="*/ 3766 h 152"/>
                    <a:gd name="T28" fmla="*/ 10199 w 436"/>
                    <a:gd name="T29" fmla="*/ 3593 h 152"/>
                    <a:gd name="T30" fmla="*/ 10379 w 436"/>
                    <a:gd name="T31" fmla="*/ 3343 h 152"/>
                    <a:gd name="T32" fmla="*/ 10330 w 436"/>
                    <a:gd name="T33" fmla="*/ 3199 h 152"/>
                    <a:gd name="T34" fmla="*/ 9660 w 436"/>
                    <a:gd name="T35" fmla="*/ 3372 h 152"/>
                    <a:gd name="T36" fmla="*/ 9571 w 436"/>
                    <a:gd name="T37" fmla="*/ 3049 h 152"/>
                    <a:gd name="T38" fmla="*/ 8961 w 436"/>
                    <a:gd name="T39" fmla="*/ 3372 h 152"/>
                    <a:gd name="T40" fmla="*/ 9660 w 436"/>
                    <a:gd name="T41" fmla="*/ 3696 h 152"/>
                    <a:gd name="T42" fmla="*/ 9210 w 436"/>
                    <a:gd name="T43" fmla="*/ 4192 h 152"/>
                    <a:gd name="T44" fmla="*/ 9390 w 436"/>
                    <a:gd name="T45" fmla="*/ 4515 h 152"/>
                    <a:gd name="T46" fmla="*/ 9505 w 436"/>
                    <a:gd name="T47" fmla="*/ 4953 h 152"/>
                    <a:gd name="T48" fmla="*/ 9325 w 436"/>
                    <a:gd name="T49" fmla="*/ 4983 h 152"/>
                    <a:gd name="T50" fmla="*/ 9477 w 436"/>
                    <a:gd name="T51" fmla="*/ 5157 h 152"/>
                    <a:gd name="T52" fmla="*/ 9275 w 436"/>
                    <a:gd name="T53" fmla="*/ 5450 h 152"/>
                    <a:gd name="T54" fmla="*/ 0 w 436"/>
                    <a:gd name="T55" fmla="*/ 5350 h 152"/>
                    <a:gd name="T56" fmla="*/ 2203 w 436"/>
                    <a:gd name="T57" fmla="*/ 29 h 152"/>
                    <a:gd name="T58" fmla="*/ 0 60000 65536"/>
                    <a:gd name="T59" fmla="*/ 0 60000 65536"/>
                    <a:gd name="T60" fmla="*/ 0 60000 65536"/>
                    <a:gd name="T61" fmla="*/ 0 60000 65536"/>
                    <a:gd name="T62" fmla="*/ 0 60000 65536"/>
                    <a:gd name="T63" fmla="*/ 0 60000 65536"/>
                    <a:gd name="T64" fmla="*/ 0 60000 65536"/>
                    <a:gd name="T65" fmla="*/ 0 60000 6553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</a:gdLst>
                  <a:ahLst/>
                  <a:cxnLst>
                    <a:cxn ang="T58">
                      <a:pos x="T0" y="T1"/>
                    </a:cxn>
                    <a:cxn ang="T59">
                      <a:pos x="T2" y="T3"/>
                    </a:cxn>
                    <a:cxn ang="T60">
                      <a:pos x="T4" y="T5"/>
                    </a:cxn>
                    <a:cxn ang="T61">
                      <a:pos x="T6" y="T7"/>
                    </a:cxn>
                    <a:cxn ang="T62">
                      <a:pos x="T8" y="T9"/>
                    </a:cxn>
                    <a:cxn ang="T63">
                      <a:pos x="T10" y="T11"/>
                    </a:cxn>
                    <a:cxn ang="T64">
                      <a:pos x="T12" y="T13"/>
                    </a:cxn>
                    <a:cxn ang="T65">
                      <a:pos x="T14" y="T15"/>
                    </a:cxn>
                    <a:cxn ang="T66">
                      <a:pos x="T16" y="T17"/>
                    </a:cxn>
                    <a:cxn ang="T67">
                      <a:pos x="T18" y="T19"/>
                    </a:cxn>
                    <a:cxn ang="T68">
                      <a:pos x="T20" y="T21"/>
                    </a:cxn>
                    <a:cxn ang="T69">
                      <a:pos x="T22" y="T23"/>
                    </a:cxn>
                    <a:cxn ang="T70">
                      <a:pos x="T24" y="T25"/>
                    </a:cxn>
                    <a:cxn ang="T71">
                      <a:pos x="T26" y="T27"/>
                    </a:cxn>
                    <a:cxn ang="T72">
                      <a:pos x="T28" y="T29"/>
                    </a:cxn>
                    <a:cxn ang="T73">
                      <a:pos x="T30" y="T31"/>
                    </a:cxn>
                    <a:cxn ang="T74">
                      <a:pos x="T32" y="T33"/>
                    </a:cxn>
                    <a:cxn ang="T75">
                      <a:pos x="T34" y="T35"/>
                    </a:cxn>
                    <a:cxn ang="T76">
                      <a:pos x="T36" y="T37"/>
                    </a:cxn>
                    <a:cxn ang="T77">
                      <a:pos x="T38" y="T39"/>
                    </a:cxn>
                    <a:cxn ang="T78">
                      <a:pos x="T40" y="T41"/>
                    </a:cxn>
                    <a:cxn ang="T79">
                      <a:pos x="T42" y="T43"/>
                    </a:cxn>
                    <a:cxn ang="T80">
                      <a:pos x="T44" y="T45"/>
                    </a:cxn>
                    <a:cxn ang="T81">
                      <a:pos x="T46" y="T47"/>
                    </a:cxn>
                    <a:cxn ang="T82">
                      <a:pos x="T48" y="T49"/>
                    </a:cxn>
                    <a:cxn ang="T83">
                      <a:pos x="T50" y="T51"/>
                    </a:cxn>
                    <a:cxn ang="T84">
                      <a:pos x="T52" y="T53"/>
                    </a:cxn>
                    <a:cxn ang="T85">
                      <a:pos x="T54" y="T55"/>
                    </a:cxn>
                    <a:cxn ang="T86">
                      <a:pos x="T56" y="T57"/>
                    </a:cxn>
                  </a:cxnLst>
                  <a:rect l="0" t="0" r="r" b="b"/>
                  <a:pathLst>
                    <a:path w="436" h="152">
                      <a:moveTo>
                        <a:pt x="73" y="1"/>
                      </a:moveTo>
                      <a:lnTo>
                        <a:pt x="436" y="0"/>
                      </a:lnTo>
                      <a:cubicBezTo>
                        <a:pt x="430" y="15"/>
                        <a:pt x="429" y="42"/>
                        <a:pt x="416" y="54"/>
                      </a:cubicBezTo>
                      <a:cubicBezTo>
                        <a:pt x="410" y="60"/>
                        <a:pt x="405" y="63"/>
                        <a:pt x="397" y="68"/>
                      </a:cubicBezTo>
                      <a:cubicBezTo>
                        <a:pt x="396" y="69"/>
                        <a:pt x="392" y="70"/>
                        <a:pt x="392" y="70"/>
                      </a:cubicBezTo>
                      <a:cubicBezTo>
                        <a:pt x="377" y="63"/>
                        <a:pt x="385" y="68"/>
                        <a:pt x="375" y="73"/>
                      </a:cubicBezTo>
                      <a:cubicBezTo>
                        <a:pt x="371" y="82"/>
                        <a:pt x="371" y="83"/>
                        <a:pt x="361" y="88"/>
                      </a:cubicBezTo>
                      <a:cubicBezTo>
                        <a:pt x="359" y="92"/>
                        <a:pt x="364" y="93"/>
                        <a:pt x="362" y="99"/>
                      </a:cubicBezTo>
                      <a:cubicBezTo>
                        <a:pt x="363" y="102"/>
                        <a:pt x="364" y="105"/>
                        <a:pt x="364" y="107"/>
                      </a:cubicBezTo>
                      <a:cubicBezTo>
                        <a:pt x="365" y="109"/>
                        <a:pt x="366" y="111"/>
                        <a:pt x="366" y="113"/>
                      </a:cubicBezTo>
                      <a:cubicBezTo>
                        <a:pt x="365" y="115"/>
                        <a:pt x="364" y="120"/>
                        <a:pt x="362" y="122"/>
                      </a:cubicBezTo>
                      <a:cubicBezTo>
                        <a:pt x="359" y="123"/>
                        <a:pt x="354" y="119"/>
                        <a:pt x="351" y="120"/>
                      </a:cubicBezTo>
                      <a:cubicBezTo>
                        <a:pt x="347" y="129"/>
                        <a:pt x="352" y="127"/>
                        <a:pt x="342" y="129"/>
                      </a:cubicBezTo>
                      <a:cubicBezTo>
                        <a:pt x="340" y="123"/>
                        <a:pt x="345" y="111"/>
                        <a:pt x="347" y="105"/>
                      </a:cubicBezTo>
                      <a:cubicBezTo>
                        <a:pt x="347" y="100"/>
                        <a:pt x="338" y="102"/>
                        <a:pt x="338" y="100"/>
                      </a:cubicBezTo>
                      <a:cubicBezTo>
                        <a:pt x="338" y="98"/>
                        <a:pt x="344" y="95"/>
                        <a:pt x="344" y="93"/>
                      </a:cubicBezTo>
                      <a:cubicBezTo>
                        <a:pt x="344" y="92"/>
                        <a:pt x="344" y="89"/>
                        <a:pt x="342" y="89"/>
                      </a:cubicBezTo>
                      <a:cubicBezTo>
                        <a:pt x="339" y="89"/>
                        <a:pt x="324" y="94"/>
                        <a:pt x="320" y="94"/>
                      </a:cubicBezTo>
                      <a:cubicBezTo>
                        <a:pt x="317" y="86"/>
                        <a:pt x="328" y="88"/>
                        <a:pt x="317" y="85"/>
                      </a:cubicBezTo>
                      <a:cubicBezTo>
                        <a:pt x="311" y="91"/>
                        <a:pt x="306" y="93"/>
                        <a:pt x="297" y="94"/>
                      </a:cubicBezTo>
                      <a:cubicBezTo>
                        <a:pt x="300" y="104"/>
                        <a:pt x="307" y="101"/>
                        <a:pt x="320" y="103"/>
                      </a:cubicBezTo>
                      <a:cubicBezTo>
                        <a:pt x="318" y="109"/>
                        <a:pt x="311" y="111"/>
                        <a:pt x="305" y="117"/>
                      </a:cubicBezTo>
                      <a:lnTo>
                        <a:pt x="311" y="126"/>
                      </a:lnTo>
                      <a:lnTo>
                        <a:pt x="315" y="138"/>
                      </a:lnTo>
                      <a:lnTo>
                        <a:pt x="309" y="139"/>
                      </a:lnTo>
                      <a:lnTo>
                        <a:pt x="314" y="144"/>
                      </a:lnTo>
                      <a:lnTo>
                        <a:pt x="307" y="152"/>
                      </a:lnTo>
                      <a:lnTo>
                        <a:pt x="0" y="149"/>
                      </a:lnTo>
                      <a:lnTo>
                        <a:pt x="73" y="1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4" name="Freeform 43"/>
                <p:cNvSpPr>
                  <a:spLocks/>
                </p:cNvSpPr>
                <p:nvPr/>
              </p:nvSpPr>
              <p:spPr bwMode="ltGray">
                <a:xfrm>
                  <a:off x="2729" y="-9"/>
                  <a:ext cx="47" cy="134"/>
                </a:xfrm>
                <a:custGeom>
                  <a:avLst/>
                  <a:gdLst>
                    <a:gd name="T0" fmla="*/ 5 w 47"/>
                    <a:gd name="T1" fmla="*/ 68 h 165"/>
                    <a:gd name="T2" fmla="*/ 15 w 47"/>
                    <a:gd name="T3" fmla="*/ 47 h 165"/>
                    <a:gd name="T4" fmla="*/ 17 w 47"/>
                    <a:gd name="T5" fmla="*/ 30 h 165"/>
                    <a:gd name="T6" fmla="*/ 11 w 47"/>
                    <a:gd name="T7" fmla="*/ 17 h 165"/>
                    <a:gd name="T8" fmla="*/ 17 w 47"/>
                    <a:gd name="T9" fmla="*/ 5 h 165"/>
                    <a:gd name="T10" fmla="*/ 21 w 47"/>
                    <a:gd name="T11" fmla="*/ 0 h 165"/>
                    <a:gd name="T12" fmla="*/ 31 w 47"/>
                    <a:gd name="T13" fmla="*/ 12 h 165"/>
                    <a:gd name="T14" fmla="*/ 47 w 47"/>
                    <a:gd name="T15" fmla="*/ 43 h 165"/>
                    <a:gd name="T16" fmla="*/ 31 w 47"/>
                    <a:gd name="T17" fmla="*/ 47 h 165"/>
                    <a:gd name="T18" fmla="*/ 23 w 47"/>
                    <a:gd name="T19" fmla="*/ 54 h 165"/>
                    <a:gd name="T20" fmla="*/ 21 w 47"/>
                    <a:gd name="T21" fmla="*/ 58 h 165"/>
                    <a:gd name="T22" fmla="*/ 27 w 47"/>
                    <a:gd name="T23" fmla="*/ 58 h 165"/>
                    <a:gd name="T24" fmla="*/ 31 w 47"/>
                    <a:gd name="T25" fmla="*/ 64 h 165"/>
                    <a:gd name="T26" fmla="*/ 13 w 47"/>
                    <a:gd name="T27" fmla="*/ 64 h 165"/>
                    <a:gd name="T28" fmla="*/ 7 w 47"/>
                    <a:gd name="T29" fmla="*/ 70 h 165"/>
                    <a:gd name="T30" fmla="*/ 3 w 47"/>
                    <a:gd name="T31" fmla="*/ 67 h 165"/>
                    <a:gd name="T32" fmla="*/ 5 w 47"/>
                    <a:gd name="T33" fmla="*/ 68 h 165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</a:gdLst>
                  <a:ahLst/>
                  <a:cxnLst>
                    <a:cxn ang="T34">
                      <a:pos x="T0" y="T1"/>
                    </a:cxn>
                    <a:cxn ang="T35">
                      <a:pos x="T2" y="T3"/>
                    </a:cxn>
                    <a:cxn ang="T36">
                      <a:pos x="T4" y="T5"/>
                    </a:cxn>
                    <a:cxn ang="T37">
                      <a:pos x="T6" y="T7"/>
                    </a:cxn>
                    <a:cxn ang="T38">
                      <a:pos x="T8" y="T9"/>
                    </a:cxn>
                    <a:cxn ang="T39">
                      <a:pos x="T10" y="T11"/>
                    </a:cxn>
                    <a:cxn ang="T40">
                      <a:pos x="T12" y="T13"/>
                    </a:cxn>
                    <a:cxn ang="T41">
                      <a:pos x="T14" y="T15"/>
                    </a:cxn>
                    <a:cxn ang="T42">
                      <a:pos x="T16" y="T17"/>
                    </a:cxn>
                    <a:cxn ang="T43">
                      <a:pos x="T18" y="T19"/>
                    </a:cxn>
                    <a:cxn ang="T44">
                      <a:pos x="T20" y="T21"/>
                    </a:cxn>
                    <a:cxn ang="T45">
                      <a:pos x="T22" y="T23"/>
                    </a:cxn>
                    <a:cxn ang="T46">
                      <a:pos x="T24" y="T25"/>
                    </a:cxn>
                    <a:cxn ang="T47">
                      <a:pos x="T26" y="T27"/>
                    </a:cxn>
                    <a:cxn ang="T48">
                      <a:pos x="T28" y="T29"/>
                    </a:cxn>
                    <a:cxn ang="T49">
                      <a:pos x="T30" y="T31"/>
                    </a:cxn>
                    <a:cxn ang="T50">
                      <a:pos x="T32" y="T33"/>
                    </a:cxn>
                  </a:cxnLst>
                  <a:rect l="0" t="0" r="r" b="b"/>
                  <a:pathLst>
                    <a:path w="47" h="165">
                      <a:moveTo>
                        <a:pt x="5" y="156"/>
                      </a:moveTo>
                      <a:cubicBezTo>
                        <a:pt x="0" y="141"/>
                        <a:pt x="1" y="118"/>
                        <a:pt x="15" y="108"/>
                      </a:cubicBezTo>
                      <a:cubicBezTo>
                        <a:pt x="16" y="95"/>
                        <a:pt x="17" y="81"/>
                        <a:pt x="17" y="68"/>
                      </a:cubicBezTo>
                      <a:cubicBezTo>
                        <a:pt x="17" y="58"/>
                        <a:pt x="11" y="40"/>
                        <a:pt x="11" y="40"/>
                      </a:cubicBezTo>
                      <a:cubicBezTo>
                        <a:pt x="14" y="20"/>
                        <a:pt x="11" y="29"/>
                        <a:pt x="17" y="12"/>
                      </a:cubicBezTo>
                      <a:cubicBezTo>
                        <a:pt x="18" y="8"/>
                        <a:pt x="21" y="0"/>
                        <a:pt x="21" y="0"/>
                      </a:cubicBezTo>
                      <a:cubicBezTo>
                        <a:pt x="38" y="6"/>
                        <a:pt x="33" y="7"/>
                        <a:pt x="31" y="30"/>
                      </a:cubicBezTo>
                      <a:cubicBezTo>
                        <a:pt x="38" y="52"/>
                        <a:pt x="40" y="76"/>
                        <a:pt x="47" y="98"/>
                      </a:cubicBezTo>
                      <a:cubicBezTo>
                        <a:pt x="44" y="116"/>
                        <a:pt x="45" y="113"/>
                        <a:pt x="31" y="108"/>
                      </a:cubicBezTo>
                      <a:cubicBezTo>
                        <a:pt x="25" y="118"/>
                        <a:pt x="28" y="112"/>
                        <a:pt x="23" y="126"/>
                      </a:cubicBezTo>
                      <a:cubicBezTo>
                        <a:pt x="22" y="128"/>
                        <a:pt x="21" y="132"/>
                        <a:pt x="21" y="132"/>
                      </a:cubicBezTo>
                      <a:cubicBezTo>
                        <a:pt x="23" y="133"/>
                        <a:pt x="26" y="132"/>
                        <a:pt x="27" y="134"/>
                      </a:cubicBezTo>
                      <a:cubicBezTo>
                        <a:pt x="29" y="137"/>
                        <a:pt x="31" y="146"/>
                        <a:pt x="31" y="146"/>
                      </a:cubicBezTo>
                      <a:cubicBezTo>
                        <a:pt x="27" y="165"/>
                        <a:pt x="23" y="155"/>
                        <a:pt x="13" y="148"/>
                      </a:cubicBezTo>
                      <a:cubicBezTo>
                        <a:pt x="11" y="152"/>
                        <a:pt x="11" y="160"/>
                        <a:pt x="7" y="160"/>
                      </a:cubicBezTo>
                      <a:cubicBezTo>
                        <a:pt x="5" y="160"/>
                        <a:pt x="4" y="156"/>
                        <a:pt x="3" y="154"/>
                      </a:cubicBezTo>
                      <a:cubicBezTo>
                        <a:pt x="3" y="153"/>
                        <a:pt x="4" y="155"/>
                        <a:pt x="5" y="15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5" name="Freeform 44"/>
                <p:cNvSpPr>
                  <a:spLocks/>
                </p:cNvSpPr>
                <p:nvPr/>
              </p:nvSpPr>
              <p:spPr bwMode="ltGray">
                <a:xfrm>
                  <a:off x="2701" y="103"/>
                  <a:ext cx="138" cy="84"/>
                </a:xfrm>
                <a:custGeom>
                  <a:avLst/>
                  <a:gdLst>
                    <a:gd name="T0" fmla="*/ 26 w 138"/>
                    <a:gd name="T1" fmla="*/ 27 h 103"/>
                    <a:gd name="T2" fmla="*/ 30 w 138"/>
                    <a:gd name="T3" fmla="*/ 20 h 103"/>
                    <a:gd name="T4" fmla="*/ 50 w 138"/>
                    <a:gd name="T5" fmla="*/ 15 h 103"/>
                    <a:gd name="T6" fmla="*/ 54 w 138"/>
                    <a:gd name="T7" fmla="*/ 20 h 103"/>
                    <a:gd name="T8" fmla="*/ 66 w 138"/>
                    <a:gd name="T9" fmla="*/ 22 h 103"/>
                    <a:gd name="T10" fmla="*/ 80 w 138"/>
                    <a:gd name="T11" fmla="*/ 24 h 103"/>
                    <a:gd name="T12" fmla="*/ 116 w 138"/>
                    <a:gd name="T13" fmla="*/ 15 h 103"/>
                    <a:gd name="T14" fmla="*/ 130 w 138"/>
                    <a:gd name="T15" fmla="*/ 7 h 103"/>
                    <a:gd name="T16" fmla="*/ 138 w 138"/>
                    <a:gd name="T17" fmla="*/ 5 h 103"/>
                    <a:gd name="T18" fmla="*/ 106 w 138"/>
                    <a:gd name="T19" fmla="*/ 22 h 103"/>
                    <a:gd name="T20" fmla="*/ 84 w 138"/>
                    <a:gd name="T21" fmla="*/ 30 h 103"/>
                    <a:gd name="T22" fmla="*/ 66 w 138"/>
                    <a:gd name="T23" fmla="*/ 36 h 103"/>
                    <a:gd name="T24" fmla="*/ 48 w 138"/>
                    <a:gd name="T25" fmla="*/ 46 h 103"/>
                    <a:gd name="T26" fmla="*/ 26 w 138"/>
                    <a:gd name="T27" fmla="*/ 40 h 103"/>
                    <a:gd name="T28" fmla="*/ 20 w 138"/>
                    <a:gd name="T29" fmla="*/ 38 h 103"/>
                    <a:gd name="T30" fmla="*/ 22 w 138"/>
                    <a:gd name="T31" fmla="*/ 42 h 103"/>
                    <a:gd name="T32" fmla="*/ 0 w 138"/>
                    <a:gd name="T33" fmla="*/ 42 h 103"/>
                    <a:gd name="T34" fmla="*/ 10 w 138"/>
                    <a:gd name="T35" fmla="*/ 34 h 103"/>
                    <a:gd name="T36" fmla="*/ 26 w 138"/>
                    <a:gd name="T37" fmla="*/ 27 h 103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</a:gdLst>
                  <a:ahLst/>
                  <a:cxnLst>
                    <a:cxn ang="T38">
                      <a:pos x="T0" y="T1"/>
                    </a:cxn>
                    <a:cxn ang="T39">
                      <a:pos x="T2" y="T3"/>
                    </a:cxn>
                    <a:cxn ang="T40">
                      <a:pos x="T4" y="T5"/>
                    </a:cxn>
                    <a:cxn ang="T41">
                      <a:pos x="T6" y="T7"/>
                    </a:cxn>
                    <a:cxn ang="T42">
                      <a:pos x="T8" y="T9"/>
                    </a:cxn>
                    <a:cxn ang="T43">
                      <a:pos x="T10" y="T11"/>
                    </a:cxn>
                    <a:cxn ang="T44">
                      <a:pos x="T12" y="T13"/>
                    </a:cxn>
                    <a:cxn ang="T45">
                      <a:pos x="T14" y="T15"/>
                    </a:cxn>
                    <a:cxn ang="T46">
                      <a:pos x="T16" y="T17"/>
                    </a:cxn>
                    <a:cxn ang="T47">
                      <a:pos x="T18" y="T19"/>
                    </a:cxn>
                    <a:cxn ang="T48">
                      <a:pos x="T20" y="T21"/>
                    </a:cxn>
                    <a:cxn ang="T49">
                      <a:pos x="T22" y="T23"/>
                    </a:cxn>
                    <a:cxn ang="T50">
                      <a:pos x="T24" y="T25"/>
                    </a:cxn>
                    <a:cxn ang="T51">
                      <a:pos x="T26" y="T27"/>
                    </a:cxn>
                    <a:cxn ang="T52">
                      <a:pos x="T28" y="T29"/>
                    </a:cxn>
                    <a:cxn ang="T53">
                      <a:pos x="T30" y="T31"/>
                    </a:cxn>
                    <a:cxn ang="T54">
                      <a:pos x="T32" y="T33"/>
                    </a:cxn>
                    <a:cxn ang="T55">
                      <a:pos x="T34" y="T35"/>
                    </a:cxn>
                    <a:cxn ang="T56">
                      <a:pos x="T36" y="T37"/>
                    </a:cxn>
                  </a:cxnLst>
                  <a:rect l="0" t="0" r="r" b="b"/>
                  <a:pathLst>
                    <a:path w="138" h="103">
                      <a:moveTo>
                        <a:pt x="26" y="61"/>
                      </a:moveTo>
                      <a:cubicBezTo>
                        <a:pt x="29" y="53"/>
                        <a:pt x="33" y="51"/>
                        <a:pt x="30" y="43"/>
                      </a:cubicBezTo>
                      <a:cubicBezTo>
                        <a:pt x="33" y="27"/>
                        <a:pt x="37" y="24"/>
                        <a:pt x="50" y="33"/>
                      </a:cubicBezTo>
                      <a:cubicBezTo>
                        <a:pt x="51" y="37"/>
                        <a:pt x="53" y="41"/>
                        <a:pt x="54" y="45"/>
                      </a:cubicBezTo>
                      <a:cubicBezTo>
                        <a:pt x="55" y="49"/>
                        <a:pt x="66" y="49"/>
                        <a:pt x="66" y="49"/>
                      </a:cubicBezTo>
                      <a:cubicBezTo>
                        <a:pt x="75" y="43"/>
                        <a:pt x="77" y="45"/>
                        <a:pt x="80" y="55"/>
                      </a:cubicBezTo>
                      <a:cubicBezTo>
                        <a:pt x="92" y="47"/>
                        <a:pt x="101" y="37"/>
                        <a:pt x="116" y="33"/>
                      </a:cubicBezTo>
                      <a:cubicBezTo>
                        <a:pt x="125" y="19"/>
                        <a:pt x="120" y="24"/>
                        <a:pt x="130" y="17"/>
                      </a:cubicBezTo>
                      <a:cubicBezTo>
                        <a:pt x="134" y="11"/>
                        <a:pt x="134" y="0"/>
                        <a:pt x="138" y="11"/>
                      </a:cubicBezTo>
                      <a:cubicBezTo>
                        <a:pt x="135" y="31"/>
                        <a:pt x="126" y="45"/>
                        <a:pt x="106" y="49"/>
                      </a:cubicBezTo>
                      <a:cubicBezTo>
                        <a:pt x="97" y="55"/>
                        <a:pt x="93" y="61"/>
                        <a:pt x="84" y="67"/>
                      </a:cubicBezTo>
                      <a:cubicBezTo>
                        <a:pt x="80" y="79"/>
                        <a:pt x="79" y="79"/>
                        <a:pt x="66" y="81"/>
                      </a:cubicBezTo>
                      <a:cubicBezTo>
                        <a:pt x="60" y="90"/>
                        <a:pt x="57" y="97"/>
                        <a:pt x="48" y="103"/>
                      </a:cubicBezTo>
                      <a:cubicBezTo>
                        <a:pt x="42" y="94"/>
                        <a:pt x="37" y="93"/>
                        <a:pt x="26" y="89"/>
                      </a:cubicBezTo>
                      <a:cubicBezTo>
                        <a:pt x="24" y="88"/>
                        <a:pt x="20" y="87"/>
                        <a:pt x="20" y="87"/>
                      </a:cubicBezTo>
                      <a:cubicBezTo>
                        <a:pt x="10" y="90"/>
                        <a:pt x="14" y="94"/>
                        <a:pt x="22" y="97"/>
                      </a:cubicBezTo>
                      <a:cubicBezTo>
                        <a:pt x="14" y="103"/>
                        <a:pt x="9" y="100"/>
                        <a:pt x="0" y="97"/>
                      </a:cubicBezTo>
                      <a:cubicBezTo>
                        <a:pt x="2" y="87"/>
                        <a:pt x="1" y="82"/>
                        <a:pt x="10" y="79"/>
                      </a:cubicBezTo>
                      <a:cubicBezTo>
                        <a:pt x="15" y="63"/>
                        <a:pt x="14" y="69"/>
                        <a:pt x="26" y="6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6" name="Freeform 45"/>
                <p:cNvSpPr>
                  <a:spLocks/>
                </p:cNvSpPr>
                <p:nvPr/>
              </p:nvSpPr>
              <p:spPr bwMode="ltGray">
                <a:xfrm>
                  <a:off x="2553" y="182"/>
                  <a:ext cx="187" cy="176"/>
                </a:xfrm>
                <a:custGeom>
                  <a:avLst/>
                  <a:gdLst>
                    <a:gd name="T0" fmla="*/ 154 w 188"/>
                    <a:gd name="T1" fmla="*/ 11 h 214"/>
                    <a:gd name="T2" fmla="*/ 156 w 188"/>
                    <a:gd name="T3" fmla="*/ 2 h 214"/>
                    <a:gd name="T4" fmla="*/ 166 w 188"/>
                    <a:gd name="T5" fmla="*/ 0 h 214"/>
                    <a:gd name="T6" fmla="*/ 178 w 188"/>
                    <a:gd name="T7" fmla="*/ 11 h 214"/>
                    <a:gd name="T8" fmla="*/ 184 w 188"/>
                    <a:gd name="T9" fmla="*/ 20 h 214"/>
                    <a:gd name="T10" fmla="*/ 174 w 188"/>
                    <a:gd name="T11" fmla="*/ 26 h 214"/>
                    <a:gd name="T12" fmla="*/ 166 w 188"/>
                    <a:gd name="T13" fmla="*/ 35 h 214"/>
                    <a:gd name="T14" fmla="*/ 158 w 188"/>
                    <a:gd name="T15" fmla="*/ 58 h 214"/>
                    <a:gd name="T16" fmla="*/ 140 w 188"/>
                    <a:gd name="T17" fmla="*/ 63 h 214"/>
                    <a:gd name="T18" fmla="*/ 116 w 188"/>
                    <a:gd name="T19" fmla="*/ 63 h 214"/>
                    <a:gd name="T20" fmla="*/ 108 w 188"/>
                    <a:gd name="T21" fmla="*/ 57 h 214"/>
                    <a:gd name="T22" fmla="*/ 98 w 188"/>
                    <a:gd name="T23" fmla="*/ 67 h 214"/>
                    <a:gd name="T24" fmla="*/ 90 w 188"/>
                    <a:gd name="T25" fmla="*/ 68 h 214"/>
                    <a:gd name="T26" fmla="*/ 80 w 188"/>
                    <a:gd name="T27" fmla="*/ 61 h 214"/>
                    <a:gd name="T28" fmla="*/ 58 w 188"/>
                    <a:gd name="T29" fmla="*/ 66 h 214"/>
                    <a:gd name="T30" fmla="*/ 76 w 188"/>
                    <a:gd name="T31" fmla="*/ 65 h 214"/>
                    <a:gd name="T32" fmla="*/ 78 w 188"/>
                    <a:gd name="T33" fmla="*/ 74 h 214"/>
                    <a:gd name="T34" fmla="*/ 58 w 188"/>
                    <a:gd name="T35" fmla="*/ 76 h 214"/>
                    <a:gd name="T36" fmla="*/ 34 w 188"/>
                    <a:gd name="T37" fmla="*/ 76 h 214"/>
                    <a:gd name="T38" fmla="*/ 36 w 188"/>
                    <a:gd name="T39" fmla="*/ 71 h 214"/>
                    <a:gd name="T40" fmla="*/ 46 w 188"/>
                    <a:gd name="T41" fmla="*/ 66 h 214"/>
                    <a:gd name="T42" fmla="*/ 34 w 188"/>
                    <a:gd name="T43" fmla="*/ 67 h 214"/>
                    <a:gd name="T44" fmla="*/ 26 w 188"/>
                    <a:gd name="T45" fmla="*/ 76 h 214"/>
                    <a:gd name="T46" fmla="*/ 30 w 188"/>
                    <a:gd name="T47" fmla="*/ 86 h 214"/>
                    <a:gd name="T48" fmla="*/ 14 w 188"/>
                    <a:gd name="T49" fmla="*/ 91 h 214"/>
                    <a:gd name="T50" fmla="*/ 0 w 188"/>
                    <a:gd name="T51" fmla="*/ 98 h 214"/>
                    <a:gd name="T52" fmla="*/ 8 w 188"/>
                    <a:gd name="T53" fmla="*/ 86 h 214"/>
                    <a:gd name="T54" fmla="*/ 0 w 188"/>
                    <a:gd name="T55" fmla="*/ 75 h 214"/>
                    <a:gd name="T56" fmla="*/ 14 w 188"/>
                    <a:gd name="T57" fmla="*/ 70 h 214"/>
                    <a:gd name="T58" fmla="*/ 32 w 188"/>
                    <a:gd name="T59" fmla="*/ 61 h 214"/>
                    <a:gd name="T60" fmla="*/ 44 w 188"/>
                    <a:gd name="T61" fmla="*/ 54 h 214"/>
                    <a:gd name="T62" fmla="*/ 72 w 188"/>
                    <a:gd name="T63" fmla="*/ 53 h 214"/>
                    <a:gd name="T64" fmla="*/ 84 w 188"/>
                    <a:gd name="T65" fmla="*/ 52 h 214"/>
                    <a:gd name="T66" fmla="*/ 110 w 188"/>
                    <a:gd name="T67" fmla="*/ 36 h 214"/>
                    <a:gd name="T68" fmla="*/ 116 w 188"/>
                    <a:gd name="T69" fmla="*/ 43 h 214"/>
                    <a:gd name="T70" fmla="*/ 128 w 188"/>
                    <a:gd name="T71" fmla="*/ 35 h 214"/>
                    <a:gd name="T72" fmla="*/ 146 w 188"/>
                    <a:gd name="T73" fmla="*/ 25 h 214"/>
                    <a:gd name="T74" fmla="*/ 150 w 188"/>
                    <a:gd name="T75" fmla="*/ 20 h 214"/>
                    <a:gd name="T76" fmla="*/ 144 w 188"/>
                    <a:gd name="T77" fmla="*/ 17 h 214"/>
                    <a:gd name="T78" fmla="*/ 148 w 188"/>
                    <a:gd name="T79" fmla="*/ 14 h 214"/>
                    <a:gd name="T80" fmla="*/ 154 w 188"/>
                    <a:gd name="T81" fmla="*/ 11 h 214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</a:gdLst>
                  <a:ahLst/>
                  <a:cxnLst>
                    <a:cxn ang="T82">
                      <a:pos x="T0" y="T1"/>
                    </a:cxn>
                    <a:cxn ang="T83">
                      <a:pos x="T2" y="T3"/>
                    </a:cxn>
                    <a:cxn ang="T84">
                      <a:pos x="T4" y="T5"/>
                    </a:cxn>
                    <a:cxn ang="T85">
                      <a:pos x="T6" y="T7"/>
                    </a:cxn>
                    <a:cxn ang="T86">
                      <a:pos x="T8" y="T9"/>
                    </a:cxn>
                    <a:cxn ang="T87">
                      <a:pos x="T10" y="T11"/>
                    </a:cxn>
                    <a:cxn ang="T88">
                      <a:pos x="T12" y="T13"/>
                    </a:cxn>
                    <a:cxn ang="T89">
                      <a:pos x="T14" y="T15"/>
                    </a:cxn>
                    <a:cxn ang="T90">
                      <a:pos x="T16" y="T17"/>
                    </a:cxn>
                    <a:cxn ang="T91">
                      <a:pos x="T18" y="T19"/>
                    </a:cxn>
                    <a:cxn ang="T92">
                      <a:pos x="T20" y="T21"/>
                    </a:cxn>
                    <a:cxn ang="T93">
                      <a:pos x="T22" y="T23"/>
                    </a:cxn>
                    <a:cxn ang="T94">
                      <a:pos x="T24" y="T25"/>
                    </a:cxn>
                    <a:cxn ang="T95">
                      <a:pos x="T26" y="T27"/>
                    </a:cxn>
                    <a:cxn ang="T96">
                      <a:pos x="T28" y="T29"/>
                    </a:cxn>
                    <a:cxn ang="T97">
                      <a:pos x="T30" y="T31"/>
                    </a:cxn>
                    <a:cxn ang="T98">
                      <a:pos x="T32" y="T33"/>
                    </a:cxn>
                    <a:cxn ang="T99">
                      <a:pos x="T34" y="T35"/>
                    </a:cxn>
                    <a:cxn ang="T100">
                      <a:pos x="T36" y="T37"/>
                    </a:cxn>
                    <a:cxn ang="T101">
                      <a:pos x="T38" y="T39"/>
                    </a:cxn>
                    <a:cxn ang="T102">
                      <a:pos x="T40" y="T41"/>
                    </a:cxn>
                    <a:cxn ang="T103">
                      <a:pos x="T42" y="T43"/>
                    </a:cxn>
                    <a:cxn ang="T104">
                      <a:pos x="T44" y="T45"/>
                    </a:cxn>
                    <a:cxn ang="T105">
                      <a:pos x="T46" y="T47"/>
                    </a:cxn>
                    <a:cxn ang="T106">
                      <a:pos x="T48" y="T49"/>
                    </a:cxn>
                    <a:cxn ang="T107">
                      <a:pos x="T50" y="T51"/>
                    </a:cxn>
                    <a:cxn ang="T108">
                      <a:pos x="T52" y="T53"/>
                    </a:cxn>
                    <a:cxn ang="T109">
                      <a:pos x="T54" y="T55"/>
                    </a:cxn>
                    <a:cxn ang="T110">
                      <a:pos x="T56" y="T57"/>
                    </a:cxn>
                    <a:cxn ang="T111">
                      <a:pos x="T58" y="T59"/>
                    </a:cxn>
                    <a:cxn ang="T112">
                      <a:pos x="T60" y="T61"/>
                    </a:cxn>
                    <a:cxn ang="T113">
                      <a:pos x="T62" y="T63"/>
                    </a:cxn>
                    <a:cxn ang="T114">
                      <a:pos x="T64" y="T65"/>
                    </a:cxn>
                    <a:cxn ang="T115">
                      <a:pos x="T66" y="T67"/>
                    </a:cxn>
                    <a:cxn ang="T116">
                      <a:pos x="T68" y="T69"/>
                    </a:cxn>
                    <a:cxn ang="T117">
                      <a:pos x="T70" y="T71"/>
                    </a:cxn>
                    <a:cxn ang="T118">
                      <a:pos x="T72" y="T73"/>
                    </a:cxn>
                    <a:cxn ang="T119">
                      <a:pos x="T74" y="T75"/>
                    </a:cxn>
                    <a:cxn ang="T120">
                      <a:pos x="T76" y="T77"/>
                    </a:cxn>
                    <a:cxn ang="T121">
                      <a:pos x="T78" y="T79"/>
                    </a:cxn>
                    <a:cxn ang="T122">
                      <a:pos x="T80" y="T81"/>
                    </a:cxn>
                  </a:cxnLst>
                  <a:rect l="0" t="0" r="r" b="b"/>
                  <a:pathLst>
                    <a:path w="188" h="214">
                      <a:moveTo>
                        <a:pt x="158" y="24"/>
                      </a:moveTo>
                      <a:cubicBezTo>
                        <a:pt x="156" y="18"/>
                        <a:pt x="160" y="6"/>
                        <a:pt x="160" y="6"/>
                      </a:cubicBezTo>
                      <a:cubicBezTo>
                        <a:pt x="167" y="16"/>
                        <a:pt x="167" y="8"/>
                        <a:pt x="170" y="0"/>
                      </a:cubicBezTo>
                      <a:cubicBezTo>
                        <a:pt x="181" y="4"/>
                        <a:pt x="179" y="14"/>
                        <a:pt x="182" y="24"/>
                      </a:cubicBezTo>
                      <a:cubicBezTo>
                        <a:pt x="184" y="30"/>
                        <a:pt x="188" y="42"/>
                        <a:pt x="188" y="42"/>
                      </a:cubicBezTo>
                      <a:cubicBezTo>
                        <a:pt x="183" y="56"/>
                        <a:pt x="188" y="52"/>
                        <a:pt x="178" y="58"/>
                      </a:cubicBezTo>
                      <a:cubicBezTo>
                        <a:pt x="174" y="63"/>
                        <a:pt x="170" y="76"/>
                        <a:pt x="170" y="76"/>
                      </a:cubicBezTo>
                      <a:cubicBezTo>
                        <a:pt x="169" y="100"/>
                        <a:pt x="173" y="110"/>
                        <a:pt x="162" y="126"/>
                      </a:cubicBezTo>
                      <a:cubicBezTo>
                        <a:pt x="150" y="118"/>
                        <a:pt x="155" y="132"/>
                        <a:pt x="144" y="136"/>
                      </a:cubicBezTo>
                      <a:cubicBezTo>
                        <a:pt x="135" y="134"/>
                        <a:pt x="129" y="135"/>
                        <a:pt x="120" y="138"/>
                      </a:cubicBezTo>
                      <a:cubicBezTo>
                        <a:pt x="114" y="129"/>
                        <a:pt x="122" y="127"/>
                        <a:pt x="112" y="124"/>
                      </a:cubicBezTo>
                      <a:cubicBezTo>
                        <a:pt x="108" y="130"/>
                        <a:pt x="108" y="142"/>
                        <a:pt x="102" y="146"/>
                      </a:cubicBezTo>
                      <a:cubicBezTo>
                        <a:pt x="98" y="148"/>
                        <a:pt x="90" y="150"/>
                        <a:pt x="90" y="150"/>
                      </a:cubicBezTo>
                      <a:cubicBezTo>
                        <a:pt x="87" y="141"/>
                        <a:pt x="89" y="135"/>
                        <a:pt x="80" y="132"/>
                      </a:cubicBezTo>
                      <a:cubicBezTo>
                        <a:pt x="68" y="134"/>
                        <a:pt x="65" y="134"/>
                        <a:pt x="58" y="144"/>
                      </a:cubicBezTo>
                      <a:cubicBezTo>
                        <a:pt x="66" y="150"/>
                        <a:pt x="68" y="147"/>
                        <a:pt x="76" y="142"/>
                      </a:cubicBezTo>
                      <a:cubicBezTo>
                        <a:pt x="81" y="146"/>
                        <a:pt x="85" y="155"/>
                        <a:pt x="78" y="160"/>
                      </a:cubicBezTo>
                      <a:cubicBezTo>
                        <a:pt x="75" y="162"/>
                        <a:pt x="62" y="165"/>
                        <a:pt x="58" y="166"/>
                      </a:cubicBezTo>
                      <a:cubicBezTo>
                        <a:pt x="48" y="173"/>
                        <a:pt x="44" y="173"/>
                        <a:pt x="34" y="166"/>
                      </a:cubicBezTo>
                      <a:cubicBezTo>
                        <a:pt x="35" y="162"/>
                        <a:pt x="34" y="158"/>
                        <a:pt x="36" y="154"/>
                      </a:cubicBezTo>
                      <a:cubicBezTo>
                        <a:pt x="38" y="150"/>
                        <a:pt x="55" y="146"/>
                        <a:pt x="46" y="144"/>
                      </a:cubicBezTo>
                      <a:cubicBezTo>
                        <a:pt x="42" y="143"/>
                        <a:pt x="34" y="148"/>
                        <a:pt x="34" y="148"/>
                      </a:cubicBezTo>
                      <a:cubicBezTo>
                        <a:pt x="32" y="155"/>
                        <a:pt x="28" y="159"/>
                        <a:pt x="26" y="166"/>
                      </a:cubicBezTo>
                      <a:cubicBezTo>
                        <a:pt x="36" y="182"/>
                        <a:pt x="36" y="173"/>
                        <a:pt x="30" y="190"/>
                      </a:cubicBezTo>
                      <a:cubicBezTo>
                        <a:pt x="28" y="196"/>
                        <a:pt x="14" y="200"/>
                        <a:pt x="14" y="200"/>
                      </a:cubicBezTo>
                      <a:cubicBezTo>
                        <a:pt x="5" y="214"/>
                        <a:pt x="11" y="210"/>
                        <a:pt x="0" y="214"/>
                      </a:cubicBezTo>
                      <a:cubicBezTo>
                        <a:pt x="2" y="202"/>
                        <a:pt x="5" y="198"/>
                        <a:pt x="8" y="188"/>
                      </a:cubicBezTo>
                      <a:cubicBezTo>
                        <a:pt x="6" y="178"/>
                        <a:pt x="3" y="173"/>
                        <a:pt x="0" y="164"/>
                      </a:cubicBezTo>
                      <a:cubicBezTo>
                        <a:pt x="3" y="156"/>
                        <a:pt x="7" y="157"/>
                        <a:pt x="14" y="152"/>
                      </a:cubicBezTo>
                      <a:cubicBezTo>
                        <a:pt x="18" y="141"/>
                        <a:pt x="23" y="140"/>
                        <a:pt x="32" y="134"/>
                      </a:cubicBezTo>
                      <a:cubicBezTo>
                        <a:pt x="37" y="127"/>
                        <a:pt x="37" y="123"/>
                        <a:pt x="44" y="118"/>
                      </a:cubicBezTo>
                      <a:cubicBezTo>
                        <a:pt x="64" y="121"/>
                        <a:pt x="55" y="122"/>
                        <a:pt x="72" y="116"/>
                      </a:cubicBezTo>
                      <a:cubicBezTo>
                        <a:pt x="76" y="115"/>
                        <a:pt x="84" y="112"/>
                        <a:pt x="84" y="112"/>
                      </a:cubicBezTo>
                      <a:cubicBezTo>
                        <a:pt x="105" y="119"/>
                        <a:pt x="97" y="84"/>
                        <a:pt x="114" y="78"/>
                      </a:cubicBezTo>
                      <a:cubicBezTo>
                        <a:pt x="117" y="87"/>
                        <a:pt x="110" y="89"/>
                        <a:pt x="120" y="92"/>
                      </a:cubicBezTo>
                      <a:cubicBezTo>
                        <a:pt x="125" y="85"/>
                        <a:pt x="125" y="81"/>
                        <a:pt x="132" y="76"/>
                      </a:cubicBezTo>
                      <a:cubicBezTo>
                        <a:pt x="138" y="68"/>
                        <a:pt x="146" y="65"/>
                        <a:pt x="150" y="54"/>
                      </a:cubicBezTo>
                      <a:cubicBezTo>
                        <a:pt x="151" y="50"/>
                        <a:pt x="154" y="42"/>
                        <a:pt x="154" y="42"/>
                      </a:cubicBezTo>
                      <a:cubicBezTo>
                        <a:pt x="152" y="41"/>
                        <a:pt x="148" y="40"/>
                        <a:pt x="148" y="38"/>
                      </a:cubicBezTo>
                      <a:cubicBezTo>
                        <a:pt x="148" y="36"/>
                        <a:pt x="161" y="33"/>
                        <a:pt x="152" y="32"/>
                      </a:cubicBezTo>
                      <a:lnTo>
                        <a:pt x="158" y="2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7" name="Freeform 46"/>
                <p:cNvSpPr>
                  <a:spLocks/>
                </p:cNvSpPr>
                <p:nvPr/>
              </p:nvSpPr>
              <p:spPr bwMode="ltGray">
                <a:xfrm>
                  <a:off x="2677" y="233"/>
                  <a:ext cx="14" cy="10"/>
                </a:xfrm>
                <a:custGeom>
                  <a:avLst/>
                  <a:gdLst>
                    <a:gd name="T0" fmla="*/ 0 w 13"/>
                    <a:gd name="T1" fmla="*/ 3 h 13"/>
                    <a:gd name="T2" fmla="*/ 4 w 13"/>
                    <a:gd name="T3" fmla="*/ 5 h 13"/>
                    <a:gd name="T4" fmla="*/ 0 w 13"/>
                    <a:gd name="T5" fmla="*/ 3 h 13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3" h="13">
                      <a:moveTo>
                        <a:pt x="0" y="9"/>
                      </a:moveTo>
                      <a:cubicBezTo>
                        <a:pt x="6" y="0"/>
                        <a:pt x="13" y="7"/>
                        <a:pt x="4" y="13"/>
                      </a:cubicBezTo>
                      <a:cubicBezTo>
                        <a:pt x="0" y="6"/>
                        <a:pt x="0" y="5"/>
                        <a:pt x="0" y="9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8" name="Freeform 47"/>
                <p:cNvSpPr>
                  <a:spLocks/>
                </p:cNvSpPr>
                <p:nvPr/>
              </p:nvSpPr>
              <p:spPr bwMode="ltGray">
                <a:xfrm>
                  <a:off x="1627" y="353"/>
                  <a:ext cx="813" cy="462"/>
                </a:xfrm>
                <a:custGeom>
                  <a:avLst/>
                  <a:gdLst>
                    <a:gd name="T0" fmla="*/ 816 w 812"/>
                    <a:gd name="T1" fmla="*/ 11 h 564"/>
                    <a:gd name="T2" fmla="*/ 782 w 812"/>
                    <a:gd name="T3" fmla="*/ 35 h 564"/>
                    <a:gd name="T4" fmla="*/ 752 w 812"/>
                    <a:gd name="T5" fmla="*/ 55 h 564"/>
                    <a:gd name="T6" fmla="*/ 726 w 812"/>
                    <a:gd name="T7" fmla="*/ 64 h 564"/>
                    <a:gd name="T8" fmla="*/ 638 w 812"/>
                    <a:gd name="T9" fmla="*/ 80 h 564"/>
                    <a:gd name="T10" fmla="*/ 636 w 812"/>
                    <a:gd name="T11" fmla="*/ 95 h 564"/>
                    <a:gd name="T12" fmla="*/ 608 w 812"/>
                    <a:gd name="T13" fmla="*/ 103 h 564"/>
                    <a:gd name="T14" fmla="*/ 624 w 812"/>
                    <a:gd name="T15" fmla="*/ 80 h 564"/>
                    <a:gd name="T16" fmla="*/ 580 w 812"/>
                    <a:gd name="T17" fmla="*/ 84 h 564"/>
                    <a:gd name="T18" fmla="*/ 560 w 812"/>
                    <a:gd name="T19" fmla="*/ 98 h 564"/>
                    <a:gd name="T20" fmla="*/ 600 w 812"/>
                    <a:gd name="T21" fmla="*/ 126 h 564"/>
                    <a:gd name="T22" fmla="*/ 598 w 812"/>
                    <a:gd name="T23" fmla="*/ 165 h 564"/>
                    <a:gd name="T24" fmla="*/ 546 w 812"/>
                    <a:gd name="T25" fmla="*/ 183 h 564"/>
                    <a:gd name="T26" fmla="*/ 526 w 812"/>
                    <a:gd name="T27" fmla="*/ 174 h 564"/>
                    <a:gd name="T28" fmla="*/ 486 w 812"/>
                    <a:gd name="T29" fmla="*/ 156 h 564"/>
                    <a:gd name="T30" fmla="*/ 466 w 812"/>
                    <a:gd name="T31" fmla="*/ 156 h 564"/>
                    <a:gd name="T32" fmla="*/ 454 w 812"/>
                    <a:gd name="T33" fmla="*/ 178 h 564"/>
                    <a:gd name="T34" fmla="*/ 504 w 812"/>
                    <a:gd name="T35" fmla="*/ 209 h 564"/>
                    <a:gd name="T36" fmla="*/ 514 w 812"/>
                    <a:gd name="T37" fmla="*/ 236 h 564"/>
                    <a:gd name="T38" fmla="*/ 530 w 812"/>
                    <a:gd name="T39" fmla="*/ 252 h 564"/>
                    <a:gd name="T40" fmla="*/ 496 w 812"/>
                    <a:gd name="T41" fmla="*/ 245 h 564"/>
                    <a:gd name="T42" fmla="*/ 474 w 812"/>
                    <a:gd name="T43" fmla="*/ 233 h 564"/>
                    <a:gd name="T44" fmla="*/ 426 w 812"/>
                    <a:gd name="T45" fmla="*/ 191 h 564"/>
                    <a:gd name="T46" fmla="*/ 430 w 812"/>
                    <a:gd name="T47" fmla="*/ 139 h 564"/>
                    <a:gd name="T48" fmla="*/ 426 w 812"/>
                    <a:gd name="T49" fmla="*/ 120 h 564"/>
                    <a:gd name="T50" fmla="*/ 416 w 812"/>
                    <a:gd name="T51" fmla="*/ 125 h 564"/>
                    <a:gd name="T52" fmla="*/ 386 w 812"/>
                    <a:gd name="T53" fmla="*/ 120 h 564"/>
                    <a:gd name="T54" fmla="*/ 360 w 812"/>
                    <a:gd name="T55" fmla="*/ 76 h 564"/>
                    <a:gd name="T56" fmla="*/ 330 w 812"/>
                    <a:gd name="T57" fmla="*/ 75 h 564"/>
                    <a:gd name="T58" fmla="*/ 288 w 812"/>
                    <a:gd name="T59" fmla="*/ 78 h 564"/>
                    <a:gd name="T60" fmla="*/ 242 w 812"/>
                    <a:gd name="T61" fmla="*/ 105 h 564"/>
                    <a:gd name="T62" fmla="*/ 196 w 812"/>
                    <a:gd name="T63" fmla="*/ 120 h 564"/>
                    <a:gd name="T64" fmla="*/ 184 w 812"/>
                    <a:gd name="T65" fmla="*/ 123 h 564"/>
                    <a:gd name="T66" fmla="*/ 160 w 812"/>
                    <a:gd name="T67" fmla="*/ 147 h 564"/>
                    <a:gd name="T68" fmla="*/ 152 w 812"/>
                    <a:gd name="T69" fmla="*/ 160 h 564"/>
                    <a:gd name="T70" fmla="*/ 128 w 812"/>
                    <a:gd name="T71" fmla="*/ 182 h 564"/>
                    <a:gd name="T72" fmla="*/ 94 w 812"/>
                    <a:gd name="T73" fmla="*/ 176 h 564"/>
                    <a:gd name="T74" fmla="*/ 66 w 812"/>
                    <a:gd name="T75" fmla="*/ 116 h 564"/>
                    <a:gd name="T76" fmla="*/ 72 w 812"/>
                    <a:gd name="T77" fmla="*/ 70 h 564"/>
                    <a:gd name="T78" fmla="*/ 44 w 812"/>
                    <a:gd name="T79" fmla="*/ 80 h 564"/>
                    <a:gd name="T80" fmla="*/ 20 w 812"/>
                    <a:gd name="T81" fmla="*/ 68 h 564"/>
                    <a:gd name="T82" fmla="*/ 24 w 812"/>
                    <a:gd name="T83" fmla="*/ 62 h 564"/>
                    <a:gd name="T84" fmla="*/ 0 w 812"/>
                    <a:gd name="T85" fmla="*/ 41 h 564"/>
                    <a:gd name="T86" fmla="*/ 802 w 812"/>
                    <a:gd name="T87" fmla="*/ 2 h 564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</a:gdLst>
                  <a:ahLst/>
                  <a:cxnLst>
                    <a:cxn ang="T88">
                      <a:pos x="T0" y="T1"/>
                    </a:cxn>
                    <a:cxn ang="T89">
                      <a:pos x="T2" y="T3"/>
                    </a:cxn>
                    <a:cxn ang="T90">
                      <a:pos x="T4" y="T5"/>
                    </a:cxn>
                    <a:cxn ang="T91">
                      <a:pos x="T6" y="T7"/>
                    </a:cxn>
                    <a:cxn ang="T92">
                      <a:pos x="T8" y="T9"/>
                    </a:cxn>
                    <a:cxn ang="T93">
                      <a:pos x="T10" y="T11"/>
                    </a:cxn>
                    <a:cxn ang="T94">
                      <a:pos x="T12" y="T13"/>
                    </a:cxn>
                    <a:cxn ang="T95">
                      <a:pos x="T14" y="T15"/>
                    </a:cxn>
                    <a:cxn ang="T96">
                      <a:pos x="T16" y="T17"/>
                    </a:cxn>
                    <a:cxn ang="T97">
                      <a:pos x="T18" y="T19"/>
                    </a:cxn>
                    <a:cxn ang="T98">
                      <a:pos x="T20" y="T21"/>
                    </a:cxn>
                    <a:cxn ang="T99">
                      <a:pos x="T22" y="T23"/>
                    </a:cxn>
                    <a:cxn ang="T100">
                      <a:pos x="T24" y="T25"/>
                    </a:cxn>
                    <a:cxn ang="T101">
                      <a:pos x="T26" y="T27"/>
                    </a:cxn>
                    <a:cxn ang="T102">
                      <a:pos x="T28" y="T29"/>
                    </a:cxn>
                    <a:cxn ang="T103">
                      <a:pos x="T30" y="T31"/>
                    </a:cxn>
                    <a:cxn ang="T104">
                      <a:pos x="T32" y="T33"/>
                    </a:cxn>
                    <a:cxn ang="T105">
                      <a:pos x="T34" y="T35"/>
                    </a:cxn>
                    <a:cxn ang="T106">
                      <a:pos x="T36" y="T37"/>
                    </a:cxn>
                    <a:cxn ang="T107">
                      <a:pos x="T38" y="T39"/>
                    </a:cxn>
                    <a:cxn ang="T108">
                      <a:pos x="T40" y="T41"/>
                    </a:cxn>
                    <a:cxn ang="T109">
                      <a:pos x="T42" y="T43"/>
                    </a:cxn>
                    <a:cxn ang="T110">
                      <a:pos x="T44" y="T45"/>
                    </a:cxn>
                    <a:cxn ang="T111">
                      <a:pos x="T46" y="T47"/>
                    </a:cxn>
                    <a:cxn ang="T112">
                      <a:pos x="T48" y="T49"/>
                    </a:cxn>
                    <a:cxn ang="T113">
                      <a:pos x="T50" y="T51"/>
                    </a:cxn>
                    <a:cxn ang="T114">
                      <a:pos x="T52" y="T53"/>
                    </a:cxn>
                    <a:cxn ang="T115">
                      <a:pos x="T54" y="T55"/>
                    </a:cxn>
                    <a:cxn ang="T116">
                      <a:pos x="T56" y="T57"/>
                    </a:cxn>
                    <a:cxn ang="T117">
                      <a:pos x="T58" y="T59"/>
                    </a:cxn>
                    <a:cxn ang="T118">
                      <a:pos x="T60" y="T61"/>
                    </a:cxn>
                    <a:cxn ang="T119">
                      <a:pos x="T62" y="T63"/>
                    </a:cxn>
                    <a:cxn ang="T120">
                      <a:pos x="T64" y="T65"/>
                    </a:cxn>
                    <a:cxn ang="T121">
                      <a:pos x="T66" y="T67"/>
                    </a:cxn>
                    <a:cxn ang="T122">
                      <a:pos x="T68" y="T69"/>
                    </a:cxn>
                    <a:cxn ang="T123">
                      <a:pos x="T70" y="T71"/>
                    </a:cxn>
                    <a:cxn ang="T124">
                      <a:pos x="T72" y="T73"/>
                    </a:cxn>
                    <a:cxn ang="T125">
                      <a:pos x="T74" y="T75"/>
                    </a:cxn>
                    <a:cxn ang="T126">
                      <a:pos x="T76" y="T77"/>
                    </a:cxn>
                    <a:cxn ang="T127">
                      <a:pos x="T78" y="T79"/>
                    </a:cxn>
                    <a:cxn ang="T128">
                      <a:pos x="T80" y="T81"/>
                    </a:cxn>
                    <a:cxn ang="T129">
                      <a:pos x="T82" y="T83"/>
                    </a:cxn>
                    <a:cxn ang="T130">
                      <a:pos x="T84" y="T85"/>
                    </a:cxn>
                    <a:cxn ang="T131">
                      <a:pos x="T86" y="T87"/>
                    </a:cxn>
                  </a:cxnLst>
                  <a:rect l="0" t="0" r="r" b="b"/>
                  <a:pathLst>
                    <a:path w="812" h="564">
                      <a:moveTo>
                        <a:pt x="798" y="6"/>
                      </a:moveTo>
                      <a:cubicBezTo>
                        <a:pt x="801" y="15"/>
                        <a:pt x="809" y="16"/>
                        <a:pt x="812" y="26"/>
                      </a:cubicBezTo>
                      <a:cubicBezTo>
                        <a:pt x="809" y="36"/>
                        <a:pt x="801" y="41"/>
                        <a:pt x="796" y="50"/>
                      </a:cubicBezTo>
                      <a:cubicBezTo>
                        <a:pt x="791" y="61"/>
                        <a:pt x="788" y="71"/>
                        <a:pt x="778" y="78"/>
                      </a:cubicBezTo>
                      <a:cubicBezTo>
                        <a:pt x="773" y="85"/>
                        <a:pt x="771" y="88"/>
                        <a:pt x="774" y="96"/>
                      </a:cubicBezTo>
                      <a:cubicBezTo>
                        <a:pt x="767" y="107"/>
                        <a:pt x="758" y="114"/>
                        <a:pt x="748" y="122"/>
                      </a:cubicBezTo>
                      <a:cubicBezTo>
                        <a:pt x="744" y="125"/>
                        <a:pt x="736" y="130"/>
                        <a:pt x="736" y="130"/>
                      </a:cubicBezTo>
                      <a:cubicBezTo>
                        <a:pt x="740" y="141"/>
                        <a:pt x="731" y="140"/>
                        <a:pt x="722" y="142"/>
                      </a:cubicBezTo>
                      <a:cubicBezTo>
                        <a:pt x="716" y="148"/>
                        <a:pt x="712" y="151"/>
                        <a:pt x="704" y="154"/>
                      </a:cubicBezTo>
                      <a:cubicBezTo>
                        <a:pt x="686" y="150"/>
                        <a:pt x="650" y="169"/>
                        <a:pt x="634" y="180"/>
                      </a:cubicBezTo>
                      <a:cubicBezTo>
                        <a:pt x="636" y="189"/>
                        <a:pt x="631" y="193"/>
                        <a:pt x="640" y="196"/>
                      </a:cubicBezTo>
                      <a:cubicBezTo>
                        <a:pt x="643" y="205"/>
                        <a:pt x="640" y="207"/>
                        <a:pt x="632" y="210"/>
                      </a:cubicBezTo>
                      <a:cubicBezTo>
                        <a:pt x="626" y="219"/>
                        <a:pt x="623" y="226"/>
                        <a:pt x="614" y="232"/>
                      </a:cubicBezTo>
                      <a:cubicBezTo>
                        <a:pt x="611" y="231"/>
                        <a:pt x="606" y="233"/>
                        <a:pt x="604" y="230"/>
                      </a:cubicBezTo>
                      <a:cubicBezTo>
                        <a:pt x="599" y="220"/>
                        <a:pt x="610" y="199"/>
                        <a:pt x="620" y="196"/>
                      </a:cubicBezTo>
                      <a:cubicBezTo>
                        <a:pt x="623" y="187"/>
                        <a:pt x="617" y="187"/>
                        <a:pt x="620" y="178"/>
                      </a:cubicBezTo>
                      <a:cubicBezTo>
                        <a:pt x="617" y="164"/>
                        <a:pt x="609" y="168"/>
                        <a:pt x="598" y="172"/>
                      </a:cubicBezTo>
                      <a:cubicBezTo>
                        <a:pt x="592" y="180"/>
                        <a:pt x="585" y="185"/>
                        <a:pt x="576" y="188"/>
                      </a:cubicBezTo>
                      <a:cubicBezTo>
                        <a:pt x="572" y="194"/>
                        <a:pt x="568" y="200"/>
                        <a:pt x="564" y="206"/>
                      </a:cubicBezTo>
                      <a:cubicBezTo>
                        <a:pt x="561" y="210"/>
                        <a:pt x="556" y="218"/>
                        <a:pt x="556" y="218"/>
                      </a:cubicBezTo>
                      <a:cubicBezTo>
                        <a:pt x="558" y="234"/>
                        <a:pt x="559" y="243"/>
                        <a:pt x="572" y="252"/>
                      </a:cubicBezTo>
                      <a:cubicBezTo>
                        <a:pt x="579" y="262"/>
                        <a:pt x="586" y="273"/>
                        <a:pt x="596" y="280"/>
                      </a:cubicBezTo>
                      <a:cubicBezTo>
                        <a:pt x="598" y="286"/>
                        <a:pt x="602" y="298"/>
                        <a:pt x="602" y="298"/>
                      </a:cubicBezTo>
                      <a:cubicBezTo>
                        <a:pt x="601" y="308"/>
                        <a:pt x="599" y="361"/>
                        <a:pt x="594" y="368"/>
                      </a:cubicBezTo>
                      <a:cubicBezTo>
                        <a:pt x="590" y="374"/>
                        <a:pt x="576" y="378"/>
                        <a:pt x="570" y="382"/>
                      </a:cubicBezTo>
                      <a:cubicBezTo>
                        <a:pt x="563" y="393"/>
                        <a:pt x="550" y="396"/>
                        <a:pt x="542" y="406"/>
                      </a:cubicBezTo>
                      <a:cubicBezTo>
                        <a:pt x="536" y="413"/>
                        <a:pt x="539" y="417"/>
                        <a:pt x="530" y="420"/>
                      </a:cubicBezTo>
                      <a:cubicBezTo>
                        <a:pt x="526" y="408"/>
                        <a:pt x="538" y="391"/>
                        <a:pt x="522" y="386"/>
                      </a:cubicBezTo>
                      <a:cubicBezTo>
                        <a:pt x="516" y="377"/>
                        <a:pt x="510" y="364"/>
                        <a:pt x="502" y="356"/>
                      </a:cubicBezTo>
                      <a:cubicBezTo>
                        <a:pt x="497" y="341"/>
                        <a:pt x="505" y="360"/>
                        <a:pt x="482" y="348"/>
                      </a:cubicBezTo>
                      <a:cubicBezTo>
                        <a:pt x="478" y="346"/>
                        <a:pt x="478" y="339"/>
                        <a:pt x="474" y="336"/>
                      </a:cubicBezTo>
                      <a:cubicBezTo>
                        <a:pt x="470" y="323"/>
                        <a:pt x="466" y="342"/>
                        <a:pt x="462" y="348"/>
                      </a:cubicBezTo>
                      <a:cubicBezTo>
                        <a:pt x="460" y="358"/>
                        <a:pt x="456" y="363"/>
                        <a:pt x="454" y="374"/>
                      </a:cubicBezTo>
                      <a:cubicBezTo>
                        <a:pt x="457" y="383"/>
                        <a:pt x="455" y="387"/>
                        <a:pt x="450" y="394"/>
                      </a:cubicBezTo>
                      <a:cubicBezTo>
                        <a:pt x="454" y="399"/>
                        <a:pt x="464" y="411"/>
                        <a:pt x="466" y="418"/>
                      </a:cubicBezTo>
                      <a:cubicBezTo>
                        <a:pt x="474" y="443"/>
                        <a:pt x="472" y="458"/>
                        <a:pt x="500" y="464"/>
                      </a:cubicBezTo>
                      <a:cubicBezTo>
                        <a:pt x="507" y="469"/>
                        <a:pt x="510" y="474"/>
                        <a:pt x="516" y="480"/>
                      </a:cubicBezTo>
                      <a:cubicBezTo>
                        <a:pt x="511" y="494"/>
                        <a:pt x="513" y="509"/>
                        <a:pt x="510" y="524"/>
                      </a:cubicBezTo>
                      <a:cubicBezTo>
                        <a:pt x="512" y="537"/>
                        <a:pt x="511" y="541"/>
                        <a:pt x="522" y="548"/>
                      </a:cubicBezTo>
                      <a:cubicBezTo>
                        <a:pt x="523" y="552"/>
                        <a:pt x="525" y="556"/>
                        <a:pt x="526" y="560"/>
                      </a:cubicBezTo>
                      <a:cubicBezTo>
                        <a:pt x="527" y="564"/>
                        <a:pt x="514" y="556"/>
                        <a:pt x="514" y="556"/>
                      </a:cubicBezTo>
                      <a:cubicBezTo>
                        <a:pt x="502" y="564"/>
                        <a:pt x="501" y="551"/>
                        <a:pt x="492" y="544"/>
                      </a:cubicBezTo>
                      <a:cubicBezTo>
                        <a:pt x="488" y="541"/>
                        <a:pt x="480" y="536"/>
                        <a:pt x="480" y="536"/>
                      </a:cubicBezTo>
                      <a:cubicBezTo>
                        <a:pt x="471" y="522"/>
                        <a:pt x="474" y="529"/>
                        <a:pt x="470" y="518"/>
                      </a:cubicBezTo>
                      <a:cubicBezTo>
                        <a:pt x="467" y="491"/>
                        <a:pt x="461" y="446"/>
                        <a:pt x="436" y="430"/>
                      </a:cubicBezTo>
                      <a:cubicBezTo>
                        <a:pt x="428" y="433"/>
                        <a:pt x="425" y="433"/>
                        <a:pt x="422" y="424"/>
                      </a:cubicBezTo>
                      <a:cubicBezTo>
                        <a:pt x="427" y="404"/>
                        <a:pt x="432" y="383"/>
                        <a:pt x="438" y="364"/>
                      </a:cubicBezTo>
                      <a:cubicBezTo>
                        <a:pt x="436" y="343"/>
                        <a:pt x="431" y="330"/>
                        <a:pt x="426" y="310"/>
                      </a:cubicBezTo>
                      <a:cubicBezTo>
                        <a:pt x="429" y="302"/>
                        <a:pt x="425" y="300"/>
                        <a:pt x="422" y="292"/>
                      </a:cubicBezTo>
                      <a:cubicBezTo>
                        <a:pt x="424" y="282"/>
                        <a:pt x="428" y="277"/>
                        <a:pt x="422" y="268"/>
                      </a:cubicBezTo>
                      <a:cubicBezTo>
                        <a:pt x="420" y="269"/>
                        <a:pt x="418" y="269"/>
                        <a:pt x="416" y="270"/>
                      </a:cubicBezTo>
                      <a:cubicBezTo>
                        <a:pt x="414" y="272"/>
                        <a:pt x="414" y="275"/>
                        <a:pt x="412" y="276"/>
                      </a:cubicBezTo>
                      <a:cubicBezTo>
                        <a:pt x="408" y="278"/>
                        <a:pt x="400" y="280"/>
                        <a:pt x="400" y="280"/>
                      </a:cubicBezTo>
                      <a:cubicBezTo>
                        <a:pt x="394" y="274"/>
                        <a:pt x="389" y="274"/>
                        <a:pt x="386" y="266"/>
                      </a:cubicBezTo>
                      <a:cubicBezTo>
                        <a:pt x="391" y="251"/>
                        <a:pt x="379" y="206"/>
                        <a:pt x="364" y="196"/>
                      </a:cubicBezTo>
                      <a:cubicBezTo>
                        <a:pt x="357" y="186"/>
                        <a:pt x="358" y="182"/>
                        <a:pt x="360" y="170"/>
                      </a:cubicBezTo>
                      <a:cubicBezTo>
                        <a:pt x="358" y="160"/>
                        <a:pt x="356" y="147"/>
                        <a:pt x="346" y="144"/>
                      </a:cubicBezTo>
                      <a:cubicBezTo>
                        <a:pt x="343" y="154"/>
                        <a:pt x="338" y="160"/>
                        <a:pt x="330" y="166"/>
                      </a:cubicBezTo>
                      <a:cubicBezTo>
                        <a:pt x="323" y="164"/>
                        <a:pt x="308" y="160"/>
                        <a:pt x="308" y="160"/>
                      </a:cubicBezTo>
                      <a:cubicBezTo>
                        <a:pt x="296" y="162"/>
                        <a:pt x="297" y="166"/>
                        <a:pt x="288" y="172"/>
                      </a:cubicBezTo>
                      <a:cubicBezTo>
                        <a:pt x="284" y="185"/>
                        <a:pt x="282" y="191"/>
                        <a:pt x="268" y="196"/>
                      </a:cubicBezTo>
                      <a:cubicBezTo>
                        <a:pt x="264" y="200"/>
                        <a:pt x="243" y="231"/>
                        <a:pt x="242" y="232"/>
                      </a:cubicBezTo>
                      <a:cubicBezTo>
                        <a:pt x="231" y="239"/>
                        <a:pt x="215" y="247"/>
                        <a:pt x="206" y="256"/>
                      </a:cubicBezTo>
                      <a:cubicBezTo>
                        <a:pt x="202" y="260"/>
                        <a:pt x="200" y="265"/>
                        <a:pt x="196" y="268"/>
                      </a:cubicBezTo>
                      <a:cubicBezTo>
                        <a:pt x="194" y="269"/>
                        <a:pt x="192" y="269"/>
                        <a:pt x="190" y="270"/>
                      </a:cubicBezTo>
                      <a:cubicBezTo>
                        <a:pt x="188" y="271"/>
                        <a:pt x="186" y="272"/>
                        <a:pt x="184" y="274"/>
                      </a:cubicBezTo>
                      <a:cubicBezTo>
                        <a:pt x="180" y="278"/>
                        <a:pt x="172" y="286"/>
                        <a:pt x="172" y="286"/>
                      </a:cubicBezTo>
                      <a:cubicBezTo>
                        <a:pt x="167" y="300"/>
                        <a:pt x="165" y="314"/>
                        <a:pt x="160" y="328"/>
                      </a:cubicBezTo>
                      <a:cubicBezTo>
                        <a:pt x="158" y="335"/>
                        <a:pt x="156" y="341"/>
                        <a:pt x="154" y="348"/>
                      </a:cubicBezTo>
                      <a:cubicBezTo>
                        <a:pt x="153" y="350"/>
                        <a:pt x="152" y="354"/>
                        <a:pt x="152" y="354"/>
                      </a:cubicBezTo>
                      <a:cubicBezTo>
                        <a:pt x="152" y="359"/>
                        <a:pt x="156" y="384"/>
                        <a:pt x="146" y="392"/>
                      </a:cubicBezTo>
                      <a:cubicBezTo>
                        <a:pt x="141" y="397"/>
                        <a:pt x="128" y="404"/>
                        <a:pt x="128" y="404"/>
                      </a:cubicBezTo>
                      <a:cubicBezTo>
                        <a:pt x="125" y="412"/>
                        <a:pt x="122" y="421"/>
                        <a:pt x="114" y="424"/>
                      </a:cubicBezTo>
                      <a:cubicBezTo>
                        <a:pt x="100" y="419"/>
                        <a:pt x="97" y="405"/>
                        <a:pt x="94" y="392"/>
                      </a:cubicBezTo>
                      <a:cubicBezTo>
                        <a:pt x="86" y="362"/>
                        <a:pt x="82" y="332"/>
                        <a:pt x="72" y="302"/>
                      </a:cubicBezTo>
                      <a:cubicBezTo>
                        <a:pt x="71" y="281"/>
                        <a:pt x="70" y="275"/>
                        <a:pt x="66" y="258"/>
                      </a:cubicBezTo>
                      <a:cubicBezTo>
                        <a:pt x="66" y="251"/>
                        <a:pt x="68" y="219"/>
                        <a:pt x="64" y="208"/>
                      </a:cubicBezTo>
                      <a:cubicBezTo>
                        <a:pt x="70" y="191"/>
                        <a:pt x="66" y="173"/>
                        <a:pt x="72" y="156"/>
                      </a:cubicBezTo>
                      <a:cubicBezTo>
                        <a:pt x="66" y="139"/>
                        <a:pt x="60" y="168"/>
                        <a:pt x="56" y="172"/>
                      </a:cubicBezTo>
                      <a:cubicBezTo>
                        <a:pt x="53" y="175"/>
                        <a:pt x="44" y="180"/>
                        <a:pt x="44" y="180"/>
                      </a:cubicBezTo>
                      <a:cubicBezTo>
                        <a:pt x="35" y="177"/>
                        <a:pt x="28" y="173"/>
                        <a:pt x="24" y="162"/>
                      </a:cubicBezTo>
                      <a:cubicBezTo>
                        <a:pt x="23" y="158"/>
                        <a:pt x="20" y="150"/>
                        <a:pt x="20" y="150"/>
                      </a:cubicBezTo>
                      <a:cubicBezTo>
                        <a:pt x="30" y="148"/>
                        <a:pt x="30" y="143"/>
                        <a:pt x="38" y="138"/>
                      </a:cubicBezTo>
                      <a:cubicBezTo>
                        <a:pt x="35" y="128"/>
                        <a:pt x="31" y="133"/>
                        <a:pt x="24" y="138"/>
                      </a:cubicBezTo>
                      <a:cubicBezTo>
                        <a:pt x="15" y="135"/>
                        <a:pt x="15" y="132"/>
                        <a:pt x="18" y="124"/>
                      </a:cubicBezTo>
                      <a:cubicBezTo>
                        <a:pt x="11" y="114"/>
                        <a:pt x="9" y="101"/>
                        <a:pt x="0" y="92"/>
                      </a:cubicBezTo>
                      <a:lnTo>
                        <a:pt x="76" y="0"/>
                      </a:lnTo>
                      <a:lnTo>
                        <a:pt x="798" y="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79" name="Freeform 48"/>
                <p:cNvSpPr>
                  <a:spLocks/>
                </p:cNvSpPr>
                <p:nvPr/>
              </p:nvSpPr>
              <p:spPr bwMode="ltGray">
                <a:xfrm>
                  <a:off x="1770" y="671"/>
                  <a:ext cx="45" cy="71"/>
                </a:xfrm>
                <a:custGeom>
                  <a:avLst/>
                  <a:gdLst>
                    <a:gd name="T0" fmla="*/ 7 w 43"/>
                    <a:gd name="T1" fmla="*/ 6 h 85"/>
                    <a:gd name="T2" fmla="*/ 21 w 43"/>
                    <a:gd name="T3" fmla="*/ 3 h 85"/>
                    <a:gd name="T4" fmla="*/ 45 w 43"/>
                    <a:gd name="T5" fmla="*/ 16 h 85"/>
                    <a:gd name="T6" fmla="*/ 23 w 43"/>
                    <a:gd name="T7" fmla="*/ 41 h 85"/>
                    <a:gd name="T8" fmla="*/ 1 w 43"/>
                    <a:gd name="T9" fmla="*/ 33 h 85"/>
                    <a:gd name="T10" fmla="*/ 7 w 43"/>
                    <a:gd name="T11" fmla="*/ 6 h 85"/>
                    <a:gd name="T12" fmla="*/ 0 60000 65536"/>
                    <a:gd name="T13" fmla="*/ 0 60000 65536"/>
                    <a:gd name="T14" fmla="*/ 0 60000 65536"/>
                    <a:gd name="T15" fmla="*/ 0 60000 65536"/>
                    <a:gd name="T16" fmla="*/ 0 60000 65536"/>
                    <a:gd name="T17" fmla="*/ 0 60000 65536"/>
                  </a:gdLst>
                  <a:ahLst/>
                  <a:cxnLst>
                    <a:cxn ang="T12">
                      <a:pos x="T0" y="T1"/>
                    </a:cxn>
                    <a:cxn ang="T13">
                      <a:pos x="T2" y="T3"/>
                    </a:cxn>
                    <a:cxn ang="T14">
                      <a:pos x="T4" y="T5"/>
                    </a:cxn>
                    <a:cxn ang="T15">
                      <a:pos x="T6" y="T7"/>
                    </a:cxn>
                    <a:cxn ang="T16">
                      <a:pos x="T8" y="T9"/>
                    </a:cxn>
                    <a:cxn ang="T17">
                      <a:pos x="T10" y="T11"/>
                    </a:cxn>
                  </a:cxnLst>
                  <a:rect l="0" t="0" r="r" b="b"/>
                  <a:pathLst>
                    <a:path w="43" h="85">
                      <a:moveTo>
                        <a:pt x="7" y="11"/>
                      </a:moveTo>
                      <a:cubicBezTo>
                        <a:pt x="4" y="2"/>
                        <a:pt x="9" y="0"/>
                        <a:pt x="17" y="3"/>
                      </a:cubicBezTo>
                      <a:cubicBezTo>
                        <a:pt x="24" y="13"/>
                        <a:pt x="28" y="24"/>
                        <a:pt x="37" y="33"/>
                      </a:cubicBezTo>
                      <a:cubicBezTo>
                        <a:pt x="43" y="52"/>
                        <a:pt x="40" y="78"/>
                        <a:pt x="19" y="85"/>
                      </a:cubicBezTo>
                      <a:cubicBezTo>
                        <a:pt x="6" y="81"/>
                        <a:pt x="5" y="81"/>
                        <a:pt x="1" y="69"/>
                      </a:cubicBezTo>
                      <a:cubicBezTo>
                        <a:pt x="2" y="66"/>
                        <a:pt x="0" y="4"/>
                        <a:pt x="7" y="1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0" name="Freeform 49"/>
                <p:cNvSpPr>
                  <a:spLocks/>
                </p:cNvSpPr>
                <p:nvPr/>
              </p:nvSpPr>
              <p:spPr bwMode="ltGray">
                <a:xfrm>
                  <a:off x="2394" y="431"/>
                  <a:ext cx="42" cy="59"/>
                </a:xfrm>
                <a:custGeom>
                  <a:avLst/>
                  <a:gdLst>
                    <a:gd name="T0" fmla="*/ 11 w 44"/>
                    <a:gd name="T1" fmla="*/ 11 h 74"/>
                    <a:gd name="T2" fmla="*/ 25 w 44"/>
                    <a:gd name="T3" fmla="*/ 2 h 74"/>
                    <a:gd name="T4" fmla="*/ 35 w 44"/>
                    <a:gd name="T5" fmla="*/ 2 h 74"/>
                    <a:gd name="T6" fmla="*/ 32 w 44"/>
                    <a:gd name="T7" fmla="*/ 11 h 74"/>
                    <a:gd name="T8" fmla="*/ 11 w 44"/>
                    <a:gd name="T9" fmla="*/ 30 h 74"/>
                    <a:gd name="T10" fmla="*/ 7 w 44"/>
                    <a:gd name="T11" fmla="*/ 24 h 74"/>
                    <a:gd name="T12" fmla="*/ 3 w 44"/>
                    <a:gd name="T13" fmla="*/ 14 h 74"/>
                    <a:gd name="T14" fmla="*/ 11 w 44"/>
                    <a:gd name="T15" fmla="*/ 11 h 74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0" t="0" r="r" b="b"/>
                  <a:pathLst>
                    <a:path w="44" h="74">
                      <a:moveTo>
                        <a:pt x="13" y="28"/>
                      </a:moveTo>
                      <a:cubicBezTo>
                        <a:pt x="15" y="13"/>
                        <a:pt x="14" y="7"/>
                        <a:pt x="29" y="2"/>
                      </a:cubicBezTo>
                      <a:cubicBezTo>
                        <a:pt x="34" y="3"/>
                        <a:pt x="40" y="0"/>
                        <a:pt x="43" y="4"/>
                      </a:cubicBezTo>
                      <a:cubicBezTo>
                        <a:pt x="44" y="6"/>
                        <a:pt x="41" y="21"/>
                        <a:pt x="39" y="26"/>
                      </a:cubicBezTo>
                      <a:cubicBezTo>
                        <a:pt x="31" y="43"/>
                        <a:pt x="30" y="63"/>
                        <a:pt x="13" y="74"/>
                      </a:cubicBezTo>
                      <a:cubicBezTo>
                        <a:pt x="4" y="71"/>
                        <a:pt x="4" y="68"/>
                        <a:pt x="7" y="60"/>
                      </a:cubicBezTo>
                      <a:cubicBezTo>
                        <a:pt x="5" y="50"/>
                        <a:pt x="0" y="46"/>
                        <a:pt x="3" y="36"/>
                      </a:cubicBezTo>
                      <a:cubicBezTo>
                        <a:pt x="4" y="32"/>
                        <a:pt x="8" y="23"/>
                        <a:pt x="1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1" name="Freeform 50"/>
                <p:cNvSpPr>
                  <a:spLocks/>
                </p:cNvSpPr>
                <p:nvPr/>
              </p:nvSpPr>
              <p:spPr bwMode="ltGray">
                <a:xfrm>
                  <a:off x="2513" y="402"/>
                  <a:ext cx="21" cy="24"/>
                </a:xfrm>
                <a:custGeom>
                  <a:avLst/>
                  <a:gdLst>
                    <a:gd name="T0" fmla="*/ 7 w 20"/>
                    <a:gd name="T1" fmla="*/ 6 h 30"/>
                    <a:gd name="T2" fmla="*/ 5 w 20"/>
                    <a:gd name="T3" fmla="*/ 12 h 30"/>
                    <a:gd name="T4" fmla="*/ 7 w 20"/>
                    <a:gd name="T5" fmla="*/ 6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20" h="30">
                      <a:moveTo>
                        <a:pt x="7" y="16"/>
                      </a:moveTo>
                      <a:cubicBezTo>
                        <a:pt x="18" y="0"/>
                        <a:pt x="20" y="20"/>
                        <a:pt x="5" y="30"/>
                      </a:cubicBezTo>
                      <a:cubicBezTo>
                        <a:pt x="0" y="23"/>
                        <a:pt x="1" y="22"/>
                        <a:pt x="7" y="16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2" name="Freeform 51"/>
                <p:cNvSpPr>
                  <a:spLocks/>
                </p:cNvSpPr>
                <p:nvPr/>
              </p:nvSpPr>
              <p:spPr bwMode="ltGray">
                <a:xfrm>
                  <a:off x="333" y="169"/>
                  <a:ext cx="1015" cy="866"/>
                </a:xfrm>
                <a:custGeom>
                  <a:avLst/>
                  <a:gdLst>
                    <a:gd name="T0" fmla="*/ 2360 w 682"/>
                    <a:gd name="T1" fmla="*/ 2710 h 557"/>
                    <a:gd name="T2" fmla="*/ 2383 w 682"/>
                    <a:gd name="T3" fmla="*/ 2635 h 557"/>
                    <a:gd name="T4" fmla="*/ 2453 w 682"/>
                    <a:gd name="T5" fmla="*/ 2413 h 557"/>
                    <a:gd name="T6" fmla="*/ 1517 w 682"/>
                    <a:gd name="T7" fmla="*/ 1674 h 557"/>
                    <a:gd name="T8" fmla="*/ 1384 w 682"/>
                    <a:gd name="T9" fmla="*/ 2021 h 557"/>
                    <a:gd name="T10" fmla="*/ 1487 w 682"/>
                    <a:gd name="T11" fmla="*/ 3246 h 557"/>
                    <a:gd name="T12" fmla="*/ 1384 w 682"/>
                    <a:gd name="T13" fmla="*/ 2886 h 557"/>
                    <a:gd name="T14" fmla="*/ 1188 w 682"/>
                    <a:gd name="T15" fmla="*/ 2567 h 557"/>
                    <a:gd name="T16" fmla="*/ 1203 w 682"/>
                    <a:gd name="T17" fmla="*/ 2413 h 557"/>
                    <a:gd name="T18" fmla="*/ 1214 w 682"/>
                    <a:gd name="T19" fmla="*/ 2304 h 557"/>
                    <a:gd name="T20" fmla="*/ 1079 w 682"/>
                    <a:gd name="T21" fmla="*/ 2191 h 557"/>
                    <a:gd name="T22" fmla="*/ 952 w 682"/>
                    <a:gd name="T23" fmla="*/ 2021 h 557"/>
                    <a:gd name="T24" fmla="*/ 725 w 682"/>
                    <a:gd name="T25" fmla="*/ 2066 h 557"/>
                    <a:gd name="T26" fmla="*/ 621 w 682"/>
                    <a:gd name="T27" fmla="*/ 2132 h 557"/>
                    <a:gd name="T28" fmla="*/ 382 w 682"/>
                    <a:gd name="T29" fmla="*/ 2132 h 557"/>
                    <a:gd name="T30" fmla="*/ 109 w 682"/>
                    <a:gd name="T31" fmla="*/ 1822 h 557"/>
                    <a:gd name="T32" fmla="*/ 54 w 682"/>
                    <a:gd name="T33" fmla="*/ 1726 h 557"/>
                    <a:gd name="T34" fmla="*/ 0 w 682"/>
                    <a:gd name="T35" fmla="*/ 1539 h 557"/>
                    <a:gd name="T36" fmla="*/ 119 w 682"/>
                    <a:gd name="T37" fmla="*/ 1245 h 557"/>
                    <a:gd name="T38" fmla="*/ 158 w 682"/>
                    <a:gd name="T39" fmla="*/ 1056 h 557"/>
                    <a:gd name="T40" fmla="*/ 250 w 682"/>
                    <a:gd name="T41" fmla="*/ 833 h 557"/>
                    <a:gd name="T42" fmla="*/ 399 w 682"/>
                    <a:gd name="T43" fmla="*/ 676 h 557"/>
                    <a:gd name="T44" fmla="*/ 822 w 682"/>
                    <a:gd name="T45" fmla="*/ 392 h 557"/>
                    <a:gd name="T46" fmla="*/ 1079 w 682"/>
                    <a:gd name="T47" fmla="*/ 176 h 557"/>
                    <a:gd name="T48" fmla="*/ 1265 w 682"/>
                    <a:gd name="T49" fmla="*/ 34 h 557"/>
                    <a:gd name="T50" fmla="*/ 1781 w 682"/>
                    <a:gd name="T51" fmla="*/ 12 h 557"/>
                    <a:gd name="T52" fmla="*/ 1951 w 682"/>
                    <a:gd name="T53" fmla="*/ 0 h 557"/>
                    <a:gd name="T54" fmla="*/ 1883 w 682"/>
                    <a:gd name="T55" fmla="*/ 197 h 557"/>
                    <a:gd name="T56" fmla="*/ 2173 w 682"/>
                    <a:gd name="T57" fmla="*/ 493 h 557"/>
                    <a:gd name="T58" fmla="*/ 2439 w 682"/>
                    <a:gd name="T59" fmla="*/ 432 h 557"/>
                    <a:gd name="T60" fmla="*/ 2594 w 682"/>
                    <a:gd name="T61" fmla="*/ 476 h 557"/>
                    <a:gd name="T62" fmla="*/ 2741 w 682"/>
                    <a:gd name="T63" fmla="*/ 567 h 557"/>
                    <a:gd name="T64" fmla="*/ 2807 w 682"/>
                    <a:gd name="T65" fmla="*/ 1098 h 557"/>
                    <a:gd name="T66" fmla="*/ 2807 w 682"/>
                    <a:gd name="T67" fmla="*/ 1402 h 557"/>
                    <a:gd name="T68" fmla="*/ 2936 w 682"/>
                    <a:gd name="T69" fmla="*/ 1653 h 557"/>
                    <a:gd name="T70" fmla="*/ 3166 w 682"/>
                    <a:gd name="T71" fmla="*/ 1752 h 557"/>
                    <a:gd name="T72" fmla="*/ 3335 w 682"/>
                    <a:gd name="T73" fmla="*/ 1726 h 557"/>
                    <a:gd name="T74" fmla="*/ 3256 w 682"/>
                    <a:gd name="T75" fmla="*/ 1987 h 557"/>
                    <a:gd name="T76" fmla="*/ 2936 w 682"/>
                    <a:gd name="T77" fmla="*/ 2379 h 557"/>
                    <a:gd name="T78" fmla="*/ 2689 w 682"/>
                    <a:gd name="T79" fmla="*/ 2833 h 557"/>
                    <a:gd name="T80" fmla="*/ 2727 w 682"/>
                    <a:gd name="T81" fmla="*/ 2968 h 557"/>
                    <a:gd name="T82" fmla="*/ 2133 w 682"/>
                    <a:gd name="T83" fmla="*/ 3246 h 557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682" h="557">
                      <a:moveTo>
                        <a:pt x="435" y="556"/>
                      </a:moveTo>
                      <a:lnTo>
                        <a:pt x="481" y="464"/>
                      </a:lnTo>
                      <a:lnTo>
                        <a:pt x="473" y="449"/>
                      </a:lnTo>
                      <a:lnTo>
                        <a:pt x="486" y="451"/>
                      </a:lnTo>
                      <a:lnTo>
                        <a:pt x="495" y="441"/>
                      </a:lnTo>
                      <a:lnTo>
                        <a:pt x="500" y="413"/>
                      </a:lnTo>
                      <a:lnTo>
                        <a:pt x="500" y="371"/>
                      </a:lnTo>
                      <a:lnTo>
                        <a:pt x="309" y="287"/>
                      </a:lnTo>
                      <a:lnTo>
                        <a:pt x="296" y="308"/>
                      </a:lnTo>
                      <a:lnTo>
                        <a:pt x="282" y="346"/>
                      </a:lnTo>
                      <a:lnTo>
                        <a:pt x="396" y="557"/>
                      </a:lnTo>
                      <a:lnTo>
                        <a:pt x="303" y="556"/>
                      </a:lnTo>
                      <a:lnTo>
                        <a:pt x="304" y="536"/>
                      </a:lnTo>
                      <a:cubicBezTo>
                        <a:pt x="284" y="520"/>
                        <a:pt x="296" y="510"/>
                        <a:pt x="282" y="494"/>
                      </a:cubicBezTo>
                      <a:cubicBezTo>
                        <a:pt x="276" y="475"/>
                        <a:pt x="267" y="468"/>
                        <a:pt x="253" y="451"/>
                      </a:cubicBezTo>
                      <a:cubicBezTo>
                        <a:pt x="249" y="447"/>
                        <a:pt x="245" y="443"/>
                        <a:pt x="242" y="439"/>
                      </a:cubicBezTo>
                      <a:lnTo>
                        <a:pt x="237" y="432"/>
                      </a:lnTo>
                      <a:cubicBezTo>
                        <a:pt x="237" y="432"/>
                        <a:pt x="245" y="413"/>
                        <a:pt x="245" y="413"/>
                      </a:cubicBezTo>
                      <a:cubicBezTo>
                        <a:pt x="247" y="409"/>
                        <a:pt x="250" y="401"/>
                        <a:pt x="250" y="401"/>
                      </a:cubicBezTo>
                      <a:cubicBezTo>
                        <a:pt x="249" y="399"/>
                        <a:pt x="247" y="397"/>
                        <a:pt x="247" y="394"/>
                      </a:cubicBezTo>
                      <a:cubicBezTo>
                        <a:pt x="248" y="390"/>
                        <a:pt x="253" y="382"/>
                        <a:pt x="253" y="382"/>
                      </a:cubicBezTo>
                      <a:cubicBezTo>
                        <a:pt x="243" y="370"/>
                        <a:pt x="237" y="371"/>
                        <a:pt x="220" y="375"/>
                      </a:cubicBezTo>
                      <a:cubicBezTo>
                        <a:pt x="217" y="371"/>
                        <a:pt x="210" y="369"/>
                        <a:pt x="207" y="365"/>
                      </a:cubicBezTo>
                      <a:cubicBezTo>
                        <a:pt x="185" y="337"/>
                        <a:pt x="216" y="363"/>
                        <a:pt x="194" y="346"/>
                      </a:cubicBezTo>
                      <a:cubicBezTo>
                        <a:pt x="167" y="349"/>
                        <a:pt x="179" y="346"/>
                        <a:pt x="156" y="352"/>
                      </a:cubicBezTo>
                      <a:cubicBezTo>
                        <a:pt x="153" y="353"/>
                        <a:pt x="148" y="354"/>
                        <a:pt x="148" y="354"/>
                      </a:cubicBezTo>
                      <a:cubicBezTo>
                        <a:pt x="146" y="356"/>
                        <a:pt x="145" y="359"/>
                        <a:pt x="142" y="361"/>
                      </a:cubicBezTo>
                      <a:cubicBezTo>
                        <a:pt x="138" y="363"/>
                        <a:pt x="126" y="365"/>
                        <a:pt x="126" y="365"/>
                      </a:cubicBezTo>
                      <a:cubicBezTo>
                        <a:pt x="105" y="354"/>
                        <a:pt x="116" y="355"/>
                        <a:pt x="94" y="361"/>
                      </a:cubicBezTo>
                      <a:cubicBezTo>
                        <a:pt x="89" y="362"/>
                        <a:pt x="78" y="365"/>
                        <a:pt x="78" y="365"/>
                      </a:cubicBezTo>
                      <a:cubicBezTo>
                        <a:pt x="62" y="383"/>
                        <a:pt x="46" y="346"/>
                        <a:pt x="35" y="337"/>
                      </a:cubicBezTo>
                      <a:cubicBezTo>
                        <a:pt x="32" y="330"/>
                        <a:pt x="24" y="320"/>
                        <a:pt x="22" y="312"/>
                      </a:cubicBezTo>
                      <a:cubicBezTo>
                        <a:pt x="20" y="308"/>
                        <a:pt x="22" y="303"/>
                        <a:pt x="19" y="300"/>
                      </a:cubicBezTo>
                      <a:cubicBezTo>
                        <a:pt x="17" y="297"/>
                        <a:pt x="13" y="297"/>
                        <a:pt x="11" y="295"/>
                      </a:cubicBezTo>
                      <a:cubicBezTo>
                        <a:pt x="3" y="277"/>
                        <a:pt x="15" y="306"/>
                        <a:pt x="5" y="276"/>
                      </a:cubicBezTo>
                      <a:cubicBezTo>
                        <a:pt x="4" y="272"/>
                        <a:pt x="0" y="264"/>
                        <a:pt x="0" y="264"/>
                      </a:cubicBezTo>
                      <a:cubicBezTo>
                        <a:pt x="3" y="253"/>
                        <a:pt x="2" y="248"/>
                        <a:pt x="13" y="243"/>
                      </a:cubicBezTo>
                      <a:cubicBezTo>
                        <a:pt x="20" y="221"/>
                        <a:pt x="17" y="231"/>
                        <a:pt x="24" y="213"/>
                      </a:cubicBezTo>
                      <a:cubicBezTo>
                        <a:pt x="26" y="209"/>
                        <a:pt x="30" y="200"/>
                        <a:pt x="30" y="200"/>
                      </a:cubicBezTo>
                      <a:cubicBezTo>
                        <a:pt x="26" y="192"/>
                        <a:pt x="24" y="191"/>
                        <a:pt x="32" y="181"/>
                      </a:cubicBezTo>
                      <a:cubicBezTo>
                        <a:pt x="36" y="177"/>
                        <a:pt x="43" y="169"/>
                        <a:pt x="43" y="169"/>
                      </a:cubicBezTo>
                      <a:cubicBezTo>
                        <a:pt x="37" y="155"/>
                        <a:pt x="36" y="153"/>
                        <a:pt x="51" y="143"/>
                      </a:cubicBezTo>
                      <a:cubicBezTo>
                        <a:pt x="56" y="140"/>
                        <a:pt x="67" y="135"/>
                        <a:pt x="67" y="135"/>
                      </a:cubicBezTo>
                      <a:cubicBezTo>
                        <a:pt x="73" y="129"/>
                        <a:pt x="75" y="122"/>
                        <a:pt x="81" y="116"/>
                      </a:cubicBezTo>
                      <a:cubicBezTo>
                        <a:pt x="89" y="107"/>
                        <a:pt x="102" y="105"/>
                        <a:pt x="113" y="99"/>
                      </a:cubicBezTo>
                      <a:cubicBezTo>
                        <a:pt x="125" y="85"/>
                        <a:pt x="149" y="76"/>
                        <a:pt x="167" y="67"/>
                      </a:cubicBezTo>
                      <a:cubicBezTo>
                        <a:pt x="174" y="59"/>
                        <a:pt x="175" y="50"/>
                        <a:pt x="188" y="46"/>
                      </a:cubicBezTo>
                      <a:cubicBezTo>
                        <a:pt x="198" y="39"/>
                        <a:pt x="208" y="36"/>
                        <a:pt x="220" y="30"/>
                      </a:cubicBezTo>
                      <a:cubicBezTo>
                        <a:pt x="223" y="28"/>
                        <a:pt x="228" y="25"/>
                        <a:pt x="228" y="25"/>
                      </a:cubicBezTo>
                      <a:cubicBezTo>
                        <a:pt x="237" y="16"/>
                        <a:pt x="245" y="10"/>
                        <a:pt x="258" y="6"/>
                      </a:cubicBezTo>
                      <a:cubicBezTo>
                        <a:pt x="269" y="31"/>
                        <a:pt x="301" y="6"/>
                        <a:pt x="320" y="4"/>
                      </a:cubicBezTo>
                      <a:cubicBezTo>
                        <a:pt x="334" y="3"/>
                        <a:pt x="349" y="3"/>
                        <a:pt x="363" y="2"/>
                      </a:cubicBezTo>
                      <a:cubicBezTo>
                        <a:pt x="369" y="3"/>
                        <a:pt x="376" y="5"/>
                        <a:pt x="382" y="4"/>
                      </a:cubicBezTo>
                      <a:cubicBezTo>
                        <a:pt x="387" y="4"/>
                        <a:pt x="398" y="0"/>
                        <a:pt x="398" y="0"/>
                      </a:cubicBezTo>
                      <a:cubicBezTo>
                        <a:pt x="415" y="8"/>
                        <a:pt x="406" y="16"/>
                        <a:pt x="400" y="30"/>
                      </a:cubicBezTo>
                      <a:cubicBezTo>
                        <a:pt x="398" y="34"/>
                        <a:pt x="384" y="34"/>
                        <a:pt x="384" y="34"/>
                      </a:cubicBezTo>
                      <a:cubicBezTo>
                        <a:pt x="379" y="47"/>
                        <a:pt x="398" y="51"/>
                        <a:pt x="411" y="55"/>
                      </a:cubicBezTo>
                      <a:cubicBezTo>
                        <a:pt x="419" y="72"/>
                        <a:pt x="421" y="79"/>
                        <a:pt x="443" y="84"/>
                      </a:cubicBezTo>
                      <a:cubicBezTo>
                        <a:pt x="461" y="71"/>
                        <a:pt x="435" y="65"/>
                        <a:pt x="468" y="57"/>
                      </a:cubicBezTo>
                      <a:cubicBezTo>
                        <a:pt x="482" y="61"/>
                        <a:pt x="485" y="70"/>
                        <a:pt x="497" y="74"/>
                      </a:cubicBezTo>
                      <a:cubicBezTo>
                        <a:pt x="505" y="76"/>
                        <a:pt x="513" y="78"/>
                        <a:pt x="521" y="80"/>
                      </a:cubicBezTo>
                      <a:cubicBezTo>
                        <a:pt x="524" y="81"/>
                        <a:pt x="529" y="82"/>
                        <a:pt x="529" y="82"/>
                      </a:cubicBezTo>
                      <a:cubicBezTo>
                        <a:pt x="547" y="78"/>
                        <a:pt x="547" y="76"/>
                        <a:pt x="562" y="84"/>
                      </a:cubicBezTo>
                      <a:cubicBezTo>
                        <a:pt x="566" y="95"/>
                        <a:pt x="565" y="86"/>
                        <a:pt x="559" y="97"/>
                      </a:cubicBezTo>
                      <a:cubicBezTo>
                        <a:pt x="557" y="101"/>
                        <a:pt x="554" y="110"/>
                        <a:pt x="554" y="110"/>
                      </a:cubicBezTo>
                      <a:cubicBezTo>
                        <a:pt x="556" y="132"/>
                        <a:pt x="556" y="168"/>
                        <a:pt x="572" y="188"/>
                      </a:cubicBezTo>
                      <a:cubicBezTo>
                        <a:pt x="568" y="198"/>
                        <a:pt x="564" y="208"/>
                        <a:pt x="562" y="219"/>
                      </a:cubicBezTo>
                      <a:cubicBezTo>
                        <a:pt x="564" y="227"/>
                        <a:pt x="569" y="233"/>
                        <a:pt x="572" y="240"/>
                      </a:cubicBezTo>
                      <a:cubicBezTo>
                        <a:pt x="573" y="247"/>
                        <a:pt x="572" y="254"/>
                        <a:pt x="575" y="259"/>
                      </a:cubicBezTo>
                      <a:cubicBezTo>
                        <a:pt x="577" y="263"/>
                        <a:pt x="595" y="272"/>
                        <a:pt x="599" y="283"/>
                      </a:cubicBezTo>
                      <a:cubicBezTo>
                        <a:pt x="594" y="295"/>
                        <a:pt x="603" y="306"/>
                        <a:pt x="618" y="310"/>
                      </a:cubicBezTo>
                      <a:cubicBezTo>
                        <a:pt x="630" y="307"/>
                        <a:pt x="638" y="308"/>
                        <a:pt x="645" y="300"/>
                      </a:cubicBezTo>
                      <a:cubicBezTo>
                        <a:pt x="660" y="302"/>
                        <a:pt x="663" y="303"/>
                        <a:pt x="672" y="293"/>
                      </a:cubicBezTo>
                      <a:cubicBezTo>
                        <a:pt x="675" y="294"/>
                        <a:pt x="679" y="293"/>
                        <a:pt x="680" y="295"/>
                      </a:cubicBezTo>
                      <a:cubicBezTo>
                        <a:pt x="682" y="301"/>
                        <a:pt x="674" y="321"/>
                        <a:pt x="672" y="327"/>
                      </a:cubicBezTo>
                      <a:cubicBezTo>
                        <a:pt x="668" y="340"/>
                        <a:pt x="671" y="326"/>
                        <a:pt x="664" y="340"/>
                      </a:cubicBezTo>
                      <a:cubicBezTo>
                        <a:pt x="652" y="360"/>
                        <a:pt x="646" y="381"/>
                        <a:pt x="621" y="394"/>
                      </a:cubicBezTo>
                      <a:cubicBezTo>
                        <a:pt x="614" y="402"/>
                        <a:pt x="609" y="402"/>
                        <a:pt x="599" y="407"/>
                      </a:cubicBezTo>
                      <a:cubicBezTo>
                        <a:pt x="590" y="418"/>
                        <a:pt x="579" y="429"/>
                        <a:pt x="567" y="439"/>
                      </a:cubicBezTo>
                      <a:cubicBezTo>
                        <a:pt x="560" y="454"/>
                        <a:pt x="555" y="470"/>
                        <a:pt x="548" y="485"/>
                      </a:cubicBezTo>
                      <a:cubicBezTo>
                        <a:pt x="549" y="489"/>
                        <a:pt x="550" y="492"/>
                        <a:pt x="551" y="496"/>
                      </a:cubicBezTo>
                      <a:cubicBezTo>
                        <a:pt x="552" y="500"/>
                        <a:pt x="556" y="508"/>
                        <a:pt x="556" y="508"/>
                      </a:cubicBezTo>
                      <a:cubicBezTo>
                        <a:pt x="559" y="524"/>
                        <a:pt x="562" y="546"/>
                        <a:pt x="576" y="557"/>
                      </a:cubicBezTo>
                      <a:lnTo>
                        <a:pt x="435" y="556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3" name="Freeform 52"/>
                <p:cNvSpPr>
                  <a:spLocks/>
                </p:cNvSpPr>
                <p:nvPr/>
              </p:nvSpPr>
              <p:spPr bwMode="ltGray">
                <a:xfrm>
                  <a:off x="727" y="495"/>
                  <a:ext cx="382" cy="540"/>
                </a:xfrm>
                <a:custGeom>
                  <a:avLst/>
                  <a:gdLst>
                    <a:gd name="T0" fmla="*/ 1186 w 257"/>
                    <a:gd name="T1" fmla="*/ 2034 h 347"/>
                    <a:gd name="T2" fmla="*/ 1136 w 257"/>
                    <a:gd name="T3" fmla="*/ 1763 h 347"/>
                    <a:gd name="T4" fmla="*/ 1060 w 257"/>
                    <a:gd name="T5" fmla="*/ 1688 h 347"/>
                    <a:gd name="T6" fmla="*/ 1052 w 257"/>
                    <a:gd name="T7" fmla="*/ 1580 h 347"/>
                    <a:gd name="T8" fmla="*/ 1021 w 257"/>
                    <a:gd name="T9" fmla="*/ 1489 h 347"/>
                    <a:gd name="T10" fmla="*/ 1021 w 257"/>
                    <a:gd name="T11" fmla="*/ 1341 h 347"/>
                    <a:gd name="T12" fmla="*/ 1012 w 257"/>
                    <a:gd name="T13" fmla="*/ 1254 h 347"/>
                    <a:gd name="T14" fmla="*/ 1113 w 257"/>
                    <a:gd name="T15" fmla="*/ 1184 h 347"/>
                    <a:gd name="T16" fmla="*/ 1255 w 257"/>
                    <a:gd name="T17" fmla="*/ 1158 h 347"/>
                    <a:gd name="T18" fmla="*/ 1255 w 257"/>
                    <a:gd name="T19" fmla="*/ 800 h 347"/>
                    <a:gd name="T20" fmla="*/ 263 w 257"/>
                    <a:gd name="T21" fmla="*/ 562 h 347"/>
                    <a:gd name="T22" fmla="*/ 158 w 257"/>
                    <a:gd name="T23" fmla="*/ 576 h 347"/>
                    <a:gd name="T24" fmla="*/ 80 w 257"/>
                    <a:gd name="T25" fmla="*/ 598 h 347"/>
                    <a:gd name="T26" fmla="*/ 0 w 257"/>
                    <a:gd name="T27" fmla="*/ 875 h 347"/>
                    <a:gd name="T28" fmla="*/ 453 w 257"/>
                    <a:gd name="T29" fmla="*/ 2028 h 347"/>
                    <a:gd name="T30" fmla="*/ 1186 w 257"/>
                    <a:gd name="T31" fmla="*/ 2034 h 347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</a:gdLst>
                  <a:ahLst/>
                  <a:cxnLst>
                    <a:cxn ang="T32">
                      <a:pos x="T0" y="T1"/>
                    </a:cxn>
                    <a:cxn ang="T33">
                      <a:pos x="T2" y="T3"/>
                    </a:cxn>
                    <a:cxn ang="T34">
                      <a:pos x="T4" y="T5"/>
                    </a:cxn>
                    <a:cxn ang="T35">
                      <a:pos x="T6" y="T7"/>
                    </a:cxn>
                    <a:cxn ang="T36">
                      <a:pos x="T8" y="T9"/>
                    </a:cxn>
                    <a:cxn ang="T37">
                      <a:pos x="T10" y="T11"/>
                    </a:cxn>
                    <a:cxn ang="T38">
                      <a:pos x="T12" y="T13"/>
                    </a:cxn>
                    <a:cxn ang="T39">
                      <a:pos x="T14" y="T15"/>
                    </a:cxn>
                    <a:cxn ang="T40">
                      <a:pos x="T16" y="T17"/>
                    </a:cxn>
                    <a:cxn ang="T41">
                      <a:pos x="T18" y="T19"/>
                    </a:cxn>
                    <a:cxn ang="T42">
                      <a:pos x="T20" y="T21"/>
                    </a:cxn>
                    <a:cxn ang="T43">
                      <a:pos x="T22" y="T23"/>
                    </a:cxn>
                    <a:cxn ang="T44">
                      <a:pos x="T24" y="T25"/>
                    </a:cxn>
                    <a:cxn ang="T45">
                      <a:pos x="T26" y="T27"/>
                    </a:cxn>
                    <a:cxn ang="T46">
                      <a:pos x="T28" y="T29"/>
                    </a:cxn>
                    <a:cxn ang="T47">
                      <a:pos x="T30" y="T31"/>
                    </a:cxn>
                  </a:cxnLst>
                  <a:rect l="0" t="0" r="r" b="b"/>
                  <a:pathLst>
                    <a:path w="257" h="347">
                      <a:moveTo>
                        <a:pt x="243" y="347"/>
                      </a:moveTo>
                      <a:lnTo>
                        <a:pt x="233" y="301"/>
                      </a:lnTo>
                      <a:lnTo>
                        <a:pt x="217" y="288"/>
                      </a:lnTo>
                      <a:lnTo>
                        <a:pt x="215" y="269"/>
                      </a:lnTo>
                      <a:lnTo>
                        <a:pt x="209" y="254"/>
                      </a:lnTo>
                      <a:lnTo>
                        <a:pt x="209" y="229"/>
                      </a:lnTo>
                      <a:lnTo>
                        <a:pt x="207" y="214"/>
                      </a:lnTo>
                      <a:lnTo>
                        <a:pt x="228" y="202"/>
                      </a:lnTo>
                      <a:lnTo>
                        <a:pt x="257" y="197"/>
                      </a:lnTo>
                      <a:lnTo>
                        <a:pt x="257" y="136"/>
                      </a:lnTo>
                      <a:cubicBezTo>
                        <a:pt x="209" y="119"/>
                        <a:pt x="13" y="0"/>
                        <a:pt x="54" y="96"/>
                      </a:cubicBezTo>
                      <a:cubicBezTo>
                        <a:pt x="36" y="106"/>
                        <a:pt x="57" y="97"/>
                        <a:pt x="32" y="98"/>
                      </a:cubicBezTo>
                      <a:cubicBezTo>
                        <a:pt x="27" y="99"/>
                        <a:pt x="16" y="102"/>
                        <a:pt x="16" y="102"/>
                      </a:cubicBezTo>
                      <a:lnTo>
                        <a:pt x="0" y="149"/>
                      </a:lnTo>
                      <a:lnTo>
                        <a:pt x="93" y="346"/>
                      </a:lnTo>
                      <a:lnTo>
                        <a:pt x="243" y="347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hlink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4" name="Freeform 53"/>
                <p:cNvSpPr>
                  <a:spLocks/>
                </p:cNvSpPr>
                <p:nvPr/>
              </p:nvSpPr>
              <p:spPr bwMode="ltGray">
                <a:xfrm>
                  <a:off x="1400" y="896"/>
                  <a:ext cx="16" cy="29"/>
                </a:xfrm>
                <a:custGeom>
                  <a:avLst/>
                  <a:gdLst>
                    <a:gd name="T0" fmla="*/ 3 w 19"/>
                    <a:gd name="T1" fmla="*/ 10 h 37"/>
                    <a:gd name="T2" fmla="*/ 9 w 19"/>
                    <a:gd name="T3" fmla="*/ 8 h 37"/>
                    <a:gd name="T4" fmla="*/ 3 w 19"/>
                    <a:gd name="T5" fmla="*/ 10 h 37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19" h="37">
                      <a:moveTo>
                        <a:pt x="7" y="25"/>
                      </a:moveTo>
                      <a:cubicBezTo>
                        <a:pt x="0" y="4"/>
                        <a:pt x="12" y="0"/>
                        <a:pt x="19" y="21"/>
                      </a:cubicBezTo>
                      <a:cubicBezTo>
                        <a:pt x="14" y="37"/>
                        <a:pt x="18" y="36"/>
                        <a:pt x="7" y="25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5" name="Freeform 54"/>
                <p:cNvSpPr>
                  <a:spLocks/>
                </p:cNvSpPr>
                <p:nvPr/>
              </p:nvSpPr>
              <p:spPr bwMode="ltGray">
                <a:xfrm>
                  <a:off x="1379" y="617"/>
                  <a:ext cx="21" cy="17"/>
                </a:xfrm>
                <a:custGeom>
                  <a:avLst/>
                  <a:gdLst>
                    <a:gd name="T0" fmla="*/ 11 w 22"/>
                    <a:gd name="T1" fmla="*/ 7 h 20"/>
                    <a:gd name="T2" fmla="*/ 12 w 22"/>
                    <a:gd name="T3" fmla="*/ 0 h 20"/>
                    <a:gd name="T4" fmla="*/ 16 w 22"/>
                    <a:gd name="T5" fmla="*/ 7 h 20"/>
                    <a:gd name="T6" fmla="*/ 8 w 22"/>
                    <a:gd name="T7" fmla="*/ 10 h 20"/>
                    <a:gd name="T8" fmla="*/ 11 w 22"/>
                    <a:gd name="T9" fmla="*/ 7 h 2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2" h="20">
                      <a:moveTo>
                        <a:pt x="12" y="12"/>
                      </a:moveTo>
                      <a:cubicBezTo>
                        <a:pt x="13" y="8"/>
                        <a:pt x="12" y="0"/>
                        <a:pt x="16" y="0"/>
                      </a:cubicBezTo>
                      <a:cubicBezTo>
                        <a:pt x="20" y="0"/>
                        <a:pt x="22" y="8"/>
                        <a:pt x="20" y="12"/>
                      </a:cubicBezTo>
                      <a:cubicBezTo>
                        <a:pt x="18" y="16"/>
                        <a:pt x="12" y="17"/>
                        <a:pt x="8" y="20"/>
                      </a:cubicBezTo>
                      <a:cubicBezTo>
                        <a:pt x="3" y="5"/>
                        <a:pt x="0" y="6"/>
                        <a:pt x="12" y="1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6" name="Freeform 55"/>
                <p:cNvSpPr>
                  <a:spLocks/>
                </p:cNvSpPr>
                <p:nvPr/>
              </p:nvSpPr>
              <p:spPr bwMode="ltGray">
                <a:xfrm>
                  <a:off x="453" y="275"/>
                  <a:ext cx="58" cy="24"/>
                </a:xfrm>
                <a:custGeom>
                  <a:avLst/>
                  <a:gdLst>
                    <a:gd name="T0" fmla="*/ 24 w 57"/>
                    <a:gd name="T1" fmla="*/ 7 h 30"/>
                    <a:gd name="T2" fmla="*/ 36 w 57"/>
                    <a:gd name="T3" fmla="*/ 2 h 30"/>
                    <a:gd name="T4" fmla="*/ 40 w 57"/>
                    <a:gd name="T5" fmla="*/ 12 h 30"/>
                    <a:gd name="T6" fmla="*/ 24 w 57"/>
                    <a:gd name="T7" fmla="*/ 7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57" h="30">
                      <a:moveTo>
                        <a:pt x="24" y="18"/>
                      </a:moveTo>
                      <a:cubicBezTo>
                        <a:pt x="0" y="10"/>
                        <a:pt x="9" y="0"/>
                        <a:pt x="32" y="6"/>
                      </a:cubicBezTo>
                      <a:cubicBezTo>
                        <a:pt x="46" y="15"/>
                        <a:pt x="57" y="23"/>
                        <a:pt x="36" y="30"/>
                      </a:cubicBezTo>
                      <a:cubicBezTo>
                        <a:pt x="21" y="25"/>
                        <a:pt x="24" y="30"/>
                        <a:pt x="24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7" name="Freeform 56"/>
                <p:cNvSpPr>
                  <a:spLocks/>
                </p:cNvSpPr>
                <p:nvPr/>
              </p:nvSpPr>
              <p:spPr bwMode="ltGray">
                <a:xfrm>
                  <a:off x="1161" y="50"/>
                  <a:ext cx="691" cy="569"/>
                </a:xfrm>
                <a:custGeom>
                  <a:avLst/>
                  <a:gdLst>
                    <a:gd name="T0" fmla="*/ 469 w 693"/>
                    <a:gd name="T1" fmla="*/ 207 h 696"/>
                    <a:gd name="T2" fmla="*/ 389 w 693"/>
                    <a:gd name="T3" fmla="*/ 202 h 696"/>
                    <a:gd name="T4" fmla="*/ 321 w 693"/>
                    <a:gd name="T5" fmla="*/ 185 h 696"/>
                    <a:gd name="T6" fmla="*/ 261 w 693"/>
                    <a:gd name="T7" fmla="*/ 178 h 696"/>
                    <a:gd name="T8" fmla="*/ 233 w 693"/>
                    <a:gd name="T9" fmla="*/ 186 h 696"/>
                    <a:gd name="T10" fmla="*/ 257 w 693"/>
                    <a:gd name="T11" fmla="*/ 191 h 696"/>
                    <a:gd name="T12" fmla="*/ 289 w 693"/>
                    <a:gd name="T13" fmla="*/ 209 h 696"/>
                    <a:gd name="T14" fmla="*/ 317 w 693"/>
                    <a:gd name="T15" fmla="*/ 213 h 696"/>
                    <a:gd name="T16" fmla="*/ 329 w 693"/>
                    <a:gd name="T17" fmla="*/ 240 h 696"/>
                    <a:gd name="T18" fmla="*/ 309 w 693"/>
                    <a:gd name="T19" fmla="*/ 247 h 696"/>
                    <a:gd name="T20" fmla="*/ 257 w 693"/>
                    <a:gd name="T21" fmla="*/ 276 h 696"/>
                    <a:gd name="T22" fmla="*/ 221 w 693"/>
                    <a:gd name="T23" fmla="*/ 280 h 696"/>
                    <a:gd name="T24" fmla="*/ 97 w 693"/>
                    <a:gd name="T25" fmla="*/ 311 h 696"/>
                    <a:gd name="T26" fmla="*/ 77 w 693"/>
                    <a:gd name="T27" fmla="*/ 276 h 696"/>
                    <a:gd name="T28" fmla="*/ 45 w 693"/>
                    <a:gd name="T29" fmla="*/ 234 h 696"/>
                    <a:gd name="T30" fmla="*/ 33 w 693"/>
                    <a:gd name="T31" fmla="*/ 199 h 696"/>
                    <a:gd name="T32" fmla="*/ 53 w 693"/>
                    <a:gd name="T33" fmla="*/ 154 h 696"/>
                    <a:gd name="T34" fmla="*/ 17 w 693"/>
                    <a:gd name="T35" fmla="*/ 175 h 696"/>
                    <a:gd name="T36" fmla="*/ 81 w 693"/>
                    <a:gd name="T37" fmla="*/ 125 h 696"/>
                    <a:gd name="T38" fmla="*/ 113 w 693"/>
                    <a:gd name="T39" fmla="*/ 92 h 696"/>
                    <a:gd name="T40" fmla="*/ 37 w 693"/>
                    <a:gd name="T41" fmla="*/ 92 h 696"/>
                    <a:gd name="T42" fmla="*/ 1 w 693"/>
                    <a:gd name="T43" fmla="*/ 87 h 696"/>
                    <a:gd name="T44" fmla="*/ 25 w 693"/>
                    <a:gd name="T45" fmla="*/ 62 h 696"/>
                    <a:gd name="T46" fmla="*/ 97 w 693"/>
                    <a:gd name="T47" fmla="*/ 50 h 696"/>
                    <a:gd name="T48" fmla="*/ 217 w 693"/>
                    <a:gd name="T49" fmla="*/ 56 h 696"/>
                    <a:gd name="T50" fmla="*/ 225 w 693"/>
                    <a:gd name="T51" fmla="*/ 29 h 696"/>
                    <a:gd name="T52" fmla="*/ 257 w 693"/>
                    <a:gd name="T53" fmla="*/ 0 h 696"/>
                    <a:gd name="T54" fmla="*/ 353 w 693"/>
                    <a:gd name="T55" fmla="*/ 20 h 696"/>
                    <a:gd name="T56" fmla="*/ 325 w 693"/>
                    <a:gd name="T57" fmla="*/ 39 h 696"/>
                    <a:gd name="T58" fmla="*/ 297 w 693"/>
                    <a:gd name="T59" fmla="*/ 78 h 696"/>
                    <a:gd name="T60" fmla="*/ 357 w 693"/>
                    <a:gd name="T61" fmla="*/ 86 h 696"/>
                    <a:gd name="T62" fmla="*/ 369 w 693"/>
                    <a:gd name="T63" fmla="*/ 60 h 696"/>
                    <a:gd name="T64" fmla="*/ 413 w 693"/>
                    <a:gd name="T65" fmla="*/ 41 h 696"/>
                    <a:gd name="T66" fmla="*/ 493 w 693"/>
                    <a:gd name="T67" fmla="*/ 39 h 696"/>
                    <a:gd name="T68" fmla="*/ 521 w 693"/>
                    <a:gd name="T69" fmla="*/ 24 h 696"/>
                    <a:gd name="T70" fmla="*/ 533 w 693"/>
                    <a:gd name="T71" fmla="*/ 205 h 69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693" h="696">
                      <a:moveTo>
                        <a:pt x="541" y="460"/>
                      </a:moveTo>
                      <a:lnTo>
                        <a:pt x="473" y="464"/>
                      </a:lnTo>
                      <a:lnTo>
                        <a:pt x="441" y="452"/>
                      </a:lnTo>
                      <a:lnTo>
                        <a:pt x="393" y="452"/>
                      </a:lnTo>
                      <a:cubicBezTo>
                        <a:pt x="365" y="448"/>
                        <a:pt x="360" y="444"/>
                        <a:pt x="337" y="436"/>
                      </a:cubicBezTo>
                      <a:cubicBezTo>
                        <a:pt x="336" y="432"/>
                        <a:pt x="330" y="413"/>
                        <a:pt x="325" y="412"/>
                      </a:cubicBezTo>
                      <a:cubicBezTo>
                        <a:pt x="317" y="411"/>
                        <a:pt x="301" y="420"/>
                        <a:pt x="301" y="420"/>
                      </a:cubicBezTo>
                      <a:cubicBezTo>
                        <a:pt x="289" y="412"/>
                        <a:pt x="277" y="408"/>
                        <a:pt x="265" y="400"/>
                      </a:cubicBezTo>
                      <a:cubicBezTo>
                        <a:pt x="252" y="380"/>
                        <a:pt x="256" y="356"/>
                        <a:pt x="233" y="348"/>
                      </a:cubicBezTo>
                      <a:cubicBezTo>
                        <a:pt x="217" y="372"/>
                        <a:pt x="221" y="392"/>
                        <a:pt x="237" y="416"/>
                      </a:cubicBezTo>
                      <a:cubicBezTo>
                        <a:pt x="234" y="428"/>
                        <a:pt x="228" y="445"/>
                        <a:pt x="237" y="444"/>
                      </a:cubicBezTo>
                      <a:cubicBezTo>
                        <a:pt x="247" y="443"/>
                        <a:pt x="261" y="428"/>
                        <a:pt x="261" y="428"/>
                      </a:cubicBezTo>
                      <a:cubicBezTo>
                        <a:pt x="258" y="450"/>
                        <a:pt x="243" y="475"/>
                        <a:pt x="269" y="484"/>
                      </a:cubicBezTo>
                      <a:cubicBezTo>
                        <a:pt x="277" y="479"/>
                        <a:pt x="288" y="476"/>
                        <a:pt x="293" y="468"/>
                      </a:cubicBezTo>
                      <a:cubicBezTo>
                        <a:pt x="302" y="454"/>
                        <a:pt x="303" y="446"/>
                        <a:pt x="317" y="436"/>
                      </a:cubicBezTo>
                      <a:cubicBezTo>
                        <a:pt x="315" y="448"/>
                        <a:pt x="306" y="467"/>
                        <a:pt x="321" y="476"/>
                      </a:cubicBezTo>
                      <a:cubicBezTo>
                        <a:pt x="328" y="480"/>
                        <a:pt x="345" y="484"/>
                        <a:pt x="345" y="484"/>
                      </a:cubicBezTo>
                      <a:cubicBezTo>
                        <a:pt x="382" y="472"/>
                        <a:pt x="347" y="527"/>
                        <a:pt x="333" y="536"/>
                      </a:cubicBezTo>
                      <a:cubicBezTo>
                        <a:pt x="330" y="540"/>
                        <a:pt x="329" y="545"/>
                        <a:pt x="325" y="548"/>
                      </a:cubicBezTo>
                      <a:cubicBezTo>
                        <a:pt x="322" y="551"/>
                        <a:pt x="316" y="549"/>
                        <a:pt x="313" y="552"/>
                      </a:cubicBezTo>
                      <a:cubicBezTo>
                        <a:pt x="300" y="565"/>
                        <a:pt x="320" y="575"/>
                        <a:pt x="293" y="584"/>
                      </a:cubicBezTo>
                      <a:cubicBezTo>
                        <a:pt x="286" y="595"/>
                        <a:pt x="272" y="610"/>
                        <a:pt x="261" y="616"/>
                      </a:cubicBezTo>
                      <a:cubicBezTo>
                        <a:pt x="254" y="620"/>
                        <a:pt x="245" y="621"/>
                        <a:pt x="237" y="624"/>
                      </a:cubicBezTo>
                      <a:cubicBezTo>
                        <a:pt x="233" y="625"/>
                        <a:pt x="225" y="628"/>
                        <a:pt x="225" y="628"/>
                      </a:cubicBezTo>
                      <a:cubicBezTo>
                        <a:pt x="215" y="659"/>
                        <a:pt x="212" y="652"/>
                        <a:pt x="173" y="656"/>
                      </a:cubicBezTo>
                      <a:cubicBezTo>
                        <a:pt x="140" y="667"/>
                        <a:pt x="132" y="687"/>
                        <a:pt x="97" y="696"/>
                      </a:cubicBezTo>
                      <a:cubicBezTo>
                        <a:pt x="77" y="691"/>
                        <a:pt x="75" y="687"/>
                        <a:pt x="81" y="668"/>
                      </a:cubicBezTo>
                      <a:cubicBezTo>
                        <a:pt x="77" y="646"/>
                        <a:pt x="72" y="639"/>
                        <a:pt x="77" y="616"/>
                      </a:cubicBezTo>
                      <a:cubicBezTo>
                        <a:pt x="73" y="598"/>
                        <a:pt x="71" y="587"/>
                        <a:pt x="61" y="572"/>
                      </a:cubicBezTo>
                      <a:cubicBezTo>
                        <a:pt x="58" y="551"/>
                        <a:pt x="51" y="543"/>
                        <a:pt x="45" y="524"/>
                      </a:cubicBezTo>
                      <a:cubicBezTo>
                        <a:pt x="52" y="502"/>
                        <a:pt x="58" y="496"/>
                        <a:pt x="49" y="472"/>
                      </a:cubicBezTo>
                      <a:cubicBezTo>
                        <a:pt x="46" y="463"/>
                        <a:pt x="33" y="448"/>
                        <a:pt x="33" y="448"/>
                      </a:cubicBezTo>
                      <a:cubicBezTo>
                        <a:pt x="42" y="422"/>
                        <a:pt x="42" y="408"/>
                        <a:pt x="33" y="380"/>
                      </a:cubicBezTo>
                      <a:cubicBezTo>
                        <a:pt x="49" y="369"/>
                        <a:pt x="48" y="362"/>
                        <a:pt x="53" y="344"/>
                      </a:cubicBezTo>
                      <a:cubicBezTo>
                        <a:pt x="47" y="327"/>
                        <a:pt x="49" y="308"/>
                        <a:pt x="33" y="332"/>
                      </a:cubicBezTo>
                      <a:cubicBezTo>
                        <a:pt x="40" y="353"/>
                        <a:pt x="29" y="374"/>
                        <a:pt x="17" y="392"/>
                      </a:cubicBezTo>
                      <a:cubicBezTo>
                        <a:pt x="6" y="360"/>
                        <a:pt x="10" y="340"/>
                        <a:pt x="13" y="304"/>
                      </a:cubicBezTo>
                      <a:cubicBezTo>
                        <a:pt x="44" y="314"/>
                        <a:pt x="54" y="289"/>
                        <a:pt x="81" y="280"/>
                      </a:cubicBezTo>
                      <a:cubicBezTo>
                        <a:pt x="94" y="261"/>
                        <a:pt x="85" y="242"/>
                        <a:pt x="105" y="228"/>
                      </a:cubicBezTo>
                      <a:cubicBezTo>
                        <a:pt x="108" y="220"/>
                        <a:pt x="110" y="212"/>
                        <a:pt x="113" y="204"/>
                      </a:cubicBezTo>
                      <a:cubicBezTo>
                        <a:pt x="116" y="196"/>
                        <a:pt x="89" y="196"/>
                        <a:pt x="89" y="196"/>
                      </a:cubicBezTo>
                      <a:cubicBezTo>
                        <a:pt x="81" y="221"/>
                        <a:pt x="58" y="211"/>
                        <a:pt x="37" y="204"/>
                      </a:cubicBezTo>
                      <a:cubicBezTo>
                        <a:pt x="33" y="207"/>
                        <a:pt x="30" y="213"/>
                        <a:pt x="25" y="212"/>
                      </a:cubicBezTo>
                      <a:cubicBezTo>
                        <a:pt x="16" y="210"/>
                        <a:pt x="1" y="196"/>
                        <a:pt x="1" y="196"/>
                      </a:cubicBezTo>
                      <a:cubicBezTo>
                        <a:pt x="4" y="186"/>
                        <a:pt x="4" y="174"/>
                        <a:pt x="9" y="164"/>
                      </a:cubicBezTo>
                      <a:cubicBezTo>
                        <a:pt x="13" y="155"/>
                        <a:pt x="25" y="140"/>
                        <a:pt x="25" y="140"/>
                      </a:cubicBezTo>
                      <a:cubicBezTo>
                        <a:pt x="0" y="132"/>
                        <a:pt x="25" y="128"/>
                        <a:pt x="37" y="124"/>
                      </a:cubicBezTo>
                      <a:cubicBezTo>
                        <a:pt x="58" y="131"/>
                        <a:pt x="75" y="116"/>
                        <a:pt x="97" y="112"/>
                      </a:cubicBezTo>
                      <a:cubicBezTo>
                        <a:pt x="135" y="87"/>
                        <a:pt x="159" y="122"/>
                        <a:pt x="197" y="132"/>
                      </a:cubicBezTo>
                      <a:cubicBezTo>
                        <a:pt x="205" y="129"/>
                        <a:pt x="213" y="127"/>
                        <a:pt x="221" y="124"/>
                      </a:cubicBezTo>
                      <a:cubicBezTo>
                        <a:pt x="225" y="123"/>
                        <a:pt x="226" y="147"/>
                        <a:pt x="233" y="120"/>
                      </a:cubicBezTo>
                      <a:lnTo>
                        <a:pt x="229" y="64"/>
                      </a:lnTo>
                      <a:lnTo>
                        <a:pt x="209" y="40"/>
                      </a:lnTo>
                      <a:cubicBezTo>
                        <a:pt x="243" y="21"/>
                        <a:pt x="240" y="21"/>
                        <a:pt x="261" y="0"/>
                      </a:cubicBezTo>
                      <a:cubicBezTo>
                        <a:pt x="297" y="16"/>
                        <a:pt x="333" y="32"/>
                        <a:pt x="369" y="48"/>
                      </a:cubicBezTo>
                      <a:cubicBezTo>
                        <a:pt x="373" y="50"/>
                        <a:pt x="361" y="44"/>
                        <a:pt x="357" y="44"/>
                      </a:cubicBezTo>
                      <a:cubicBezTo>
                        <a:pt x="349" y="45"/>
                        <a:pt x="333" y="52"/>
                        <a:pt x="333" y="52"/>
                      </a:cubicBezTo>
                      <a:cubicBezTo>
                        <a:pt x="322" y="68"/>
                        <a:pt x="318" y="71"/>
                        <a:pt x="329" y="88"/>
                      </a:cubicBezTo>
                      <a:cubicBezTo>
                        <a:pt x="308" y="119"/>
                        <a:pt x="323" y="118"/>
                        <a:pt x="333" y="148"/>
                      </a:cubicBezTo>
                      <a:cubicBezTo>
                        <a:pt x="320" y="157"/>
                        <a:pt x="314" y="167"/>
                        <a:pt x="301" y="176"/>
                      </a:cubicBezTo>
                      <a:cubicBezTo>
                        <a:pt x="306" y="213"/>
                        <a:pt x="303" y="213"/>
                        <a:pt x="337" y="220"/>
                      </a:cubicBezTo>
                      <a:cubicBezTo>
                        <a:pt x="358" y="216"/>
                        <a:pt x="368" y="214"/>
                        <a:pt x="361" y="192"/>
                      </a:cubicBezTo>
                      <a:cubicBezTo>
                        <a:pt x="362" y="177"/>
                        <a:pt x="362" y="162"/>
                        <a:pt x="365" y="148"/>
                      </a:cubicBezTo>
                      <a:cubicBezTo>
                        <a:pt x="366" y="143"/>
                        <a:pt x="369" y="133"/>
                        <a:pt x="373" y="136"/>
                      </a:cubicBezTo>
                      <a:cubicBezTo>
                        <a:pt x="379" y="140"/>
                        <a:pt x="376" y="149"/>
                        <a:pt x="377" y="156"/>
                      </a:cubicBezTo>
                      <a:cubicBezTo>
                        <a:pt x="404" y="147"/>
                        <a:pt x="409" y="116"/>
                        <a:pt x="417" y="92"/>
                      </a:cubicBezTo>
                      <a:cubicBezTo>
                        <a:pt x="422" y="76"/>
                        <a:pt x="453" y="74"/>
                        <a:pt x="465" y="72"/>
                      </a:cubicBezTo>
                      <a:cubicBezTo>
                        <a:pt x="472" y="92"/>
                        <a:pt x="477" y="93"/>
                        <a:pt x="497" y="88"/>
                      </a:cubicBezTo>
                      <a:cubicBezTo>
                        <a:pt x="512" y="78"/>
                        <a:pt x="515" y="74"/>
                        <a:pt x="509" y="56"/>
                      </a:cubicBezTo>
                      <a:cubicBezTo>
                        <a:pt x="523" y="46"/>
                        <a:pt x="517" y="46"/>
                        <a:pt x="529" y="52"/>
                      </a:cubicBezTo>
                      <a:lnTo>
                        <a:pt x="693" y="72"/>
                      </a:lnTo>
                      <a:lnTo>
                        <a:pt x="541" y="460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8" name="Freeform 57"/>
                <p:cNvSpPr>
                  <a:spLocks/>
                </p:cNvSpPr>
                <p:nvPr/>
              </p:nvSpPr>
              <p:spPr bwMode="ltGray">
                <a:xfrm>
                  <a:off x="689" y="6"/>
                  <a:ext cx="1386" cy="232"/>
                </a:xfrm>
                <a:custGeom>
                  <a:avLst/>
                  <a:gdLst>
                    <a:gd name="T0" fmla="*/ 4051 w 931"/>
                    <a:gd name="T1" fmla="*/ 0 h 149"/>
                    <a:gd name="T2" fmla="*/ 703 w 931"/>
                    <a:gd name="T3" fmla="*/ 170 h 149"/>
                    <a:gd name="T4" fmla="*/ 445 w 931"/>
                    <a:gd name="T5" fmla="*/ 244 h 149"/>
                    <a:gd name="T6" fmla="*/ 304 w 931"/>
                    <a:gd name="T7" fmla="*/ 244 h 149"/>
                    <a:gd name="T8" fmla="*/ 109 w 931"/>
                    <a:gd name="T9" fmla="*/ 453 h 149"/>
                    <a:gd name="T10" fmla="*/ 0 w 931"/>
                    <a:gd name="T11" fmla="*/ 615 h 149"/>
                    <a:gd name="T12" fmla="*/ 290 w 931"/>
                    <a:gd name="T13" fmla="*/ 676 h 149"/>
                    <a:gd name="T14" fmla="*/ 475 w 931"/>
                    <a:gd name="T15" fmla="*/ 562 h 149"/>
                    <a:gd name="T16" fmla="*/ 531 w 931"/>
                    <a:gd name="T17" fmla="*/ 495 h 149"/>
                    <a:gd name="T18" fmla="*/ 822 w 931"/>
                    <a:gd name="T19" fmla="*/ 305 h 149"/>
                    <a:gd name="T20" fmla="*/ 1056 w 931"/>
                    <a:gd name="T21" fmla="*/ 271 h 149"/>
                    <a:gd name="T22" fmla="*/ 1166 w 931"/>
                    <a:gd name="T23" fmla="*/ 550 h 149"/>
                    <a:gd name="T24" fmla="*/ 924 w 931"/>
                    <a:gd name="T25" fmla="*/ 643 h 149"/>
                    <a:gd name="T26" fmla="*/ 1134 w 931"/>
                    <a:gd name="T27" fmla="*/ 665 h 149"/>
                    <a:gd name="T28" fmla="*/ 1228 w 931"/>
                    <a:gd name="T29" fmla="*/ 528 h 149"/>
                    <a:gd name="T30" fmla="*/ 1307 w 931"/>
                    <a:gd name="T31" fmla="*/ 540 h 149"/>
                    <a:gd name="T32" fmla="*/ 1243 w 931"/>
                    <a:gd name="T33" fmla="*/ 318 h 149"/>
                    <a:gd name="T34" fmla="*/ 1307 w 931"/>
                    <a:gd name="T35" fmla="*/ 260 h 149"/>
                    <a:gd name="T36" fmla="*/ 1359 w 931"/>
                    <a:gd name="T37" fmla="*/ 517 h 149"/>
                    <a:gd name="T38" fmla="*/ 1307 w 931"/>
                    <a:gd name="T39" fmla="*/ 665 h 149"/>
                    <a:gd name="T40" fmla="*/ 1456 w 931"/>
                    <a:gd name="T41" fmla="*/ 763 h 149"/>
                    <a:gd name="T42" fmla="*/ 1468 w 931"/>
                    <a:gd name="T43" fmla="*/ 540 h 149"/>
                    <a:gd name="T44" fmla="*/ 1627 w 931"/>
                    <a:gd name="T45" fmla="*/ 604 h 149"/>
                    <a:gd name="T46" fmla="*/ 1877 w 931"/>
                    <a:gd name="T47" fmla="*/ 431 h 149"/>
                    <a:gd name="T48" fmla="*/ 2010 w 931"/>
                    <a:gd name="T49" fmla="*/ 293 h 149"/>
                    <a:gd name="T50" fmla="*/ 2159 w 931"/>
                    <a:gd name="T51" fmla="*/ 327 h 149"/>
                    <a:gd name="T52" fmla="*/ 2235 w 931"/>
                    <a:gd name="T53" fmla="*/ 293 h 149"/>
                    <a:gd name="T54" fmla="*/ 2118 w 931"/>
                    <a:gd name="T55" fmla="*/ 260 h 149"/>
                    <a:gd name="T56" fmla="*/ 2330 w 931"/>
                    <a:gd name="T57" fmla="*/ 204 h 149"/>
                    <a:gd name="T58" fmla="*/ 2672 w 931"/>
                    <a:gd name="T59" fmla="*/ 318 h 149"/>
                    <a:gd name="T60" fmla="*/ 2854 w 931"/>
                    <a:gd name="T61" fmla="*/ 244 h 149"/>
                    <a:gd name="T62" fmla="*/ 2867 w 931"/>
                    <a:gd name="T63" fmla="*/ 371 h 149"/>
                    <a:gd name="T64" fmla="*/ 2790 w 931"/>
                    <a:gd name="T65" fmla="*/ 592 h 149"/>
                    <a:gd name="T66" fmla="*/ 3003 w 931"/>
                    <a:gd name="T67" fmla="*/ 517 h 149"/>
                    <a:gd name="T68" fmla="*/ 3065 w 931"/>
                    <a:gd name="T69" fmla="*/ 473 h 149"/>
                    <a:gd name="T70" fmla="*/ 3184 w 931"/>
                    <a:gd name="T71" fmla="*/ 358 h 149"/>
                    <a:gd name="T72" fmla="*/ 3900 w 931"/>
                    <a:gd name="T73" fmla="*/ 495 h 149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</a:gdLst>
                  <a:ahLst/>
                  <a:cxnLst>
                    <a:cxn ang="T74">
                      <a:pos x="T0" y="T1"/>
                    </a:cxn>
                    <a:cxn ang="T75">
                      <a:pos x="T2" y="T3"/>
                    </a:cxn>
                    <a:cxn ang="T76">
                      <a:pos x="T4" y="T5"/>
                    </a:cxn>
                    <a:cxn ang="T77">
                      <a:pos x="T6" y="T7"/>
                    </a:cxn>
                    <a:cxn ang="T78">
                      <a:pos x="T8" y="T9"/>
                    </a:cxn>
                    <a:cxn ang="T79">
                      <a:pos x="T10" y="T11"/>
                    </a:cxn>
                    <a:cxn ang="T80">
                      <a:pos x="T12" y="T13"/>
                    </a:cxn>
                    <a:cxn ang="T81">
                      <a:pos x="T14" y="T15"/>
                    </a:cxn>
                    <a:cxn ang="T82">
                      <a:pos x="T16" y="T17"/>
                    </a:cxn>
                    <a:cxn ang="T83">
                      <a:pos x="T18" y="T19"/>
                    </a:cxn>
                    <a:cxn ang="T84">
                      <a:pos x="T20" y="T21"/>
                    </a:cxn>
                    <a:cxn ang="T85">
                      <a:pos x="T22" y="T23"/>
                    </a:cxn>
                    <a:cxn ang="T86">
                      <a:pos x="T24" y="T25"/>
                    </a:cxn>
                    <a:cxn ang="T87">
                      <a:pos x="T26" y="T27"/>
                    </a:cxn>
                    <a:cxn ang="T88">
                      <a:pos x="T28" y="T29"/>
                    </a:cxn>
                    <a:cxn ang="T89">
                      <a:pos x="T30" y="T31"/>
                    </a:cxn>
                    <a:cxn ang="T90">
                      <a:pos x="T32" y="T33"/>
                    </a:cxn>
                    <a:cxn ang="T91">
                      <a:pos x="T34" y="T35"/>
                    </a:cxn>
                    <a:cxn ang="T92">
                      <a:pos x="T36" y="T37"/>
                    </a:cxn>
                    <a:cxn ang="T93">
                      <a:pos x="T38" y="T39"/>
                    </a:cxn>
                    <a:cxn ang="T94">
                      <a:pos x="T40" y="T41"/>
                    </a:cxn>
                    <a:cxn ang="T95">
                      <a:pos x="T42" y="T43"/>
                    </a:cxn>
                    <a:cxn ang="T96">
                      <a:pos x="T44" y="T45"/>
                    </a:cxn>
                    <a:cxn ang="T97">
                      <a:pos x="T46" y="T47"/>
                    </a:cxn>
                    <a:cxn ang="T98">
                      <a:pos x="T48" y="T49"/>
                    </a:cxn>
                    <a:cxn ang="T99">
                      <a:pos x="T50" y="T51"/>
                    </a:cxn>
                    <a:cxn ang="T100">
                      <a:pos x="T52" y="T53"/>
                    </a:cxn>
                    <a:cxn ang="T101">
                      <a:pos x="T54" y="T55"/>
                    </a:cxn>
                    <a:cxn ang="T102">
                      <a:pos x="T56" y="T57"/>
                    </a:cxn>
                    <a:cxn ang="T103">
                      <a:pos x="T58" y="T59"/>
                    </a:cxn>
                    <a:cxn ang="T104">
                      <a:pos x="T60" y="T61"/>
                    </a:cxn>
                    <a:cxn ang="T105">
                      <a:pos x="T62" y="T63"/>
                    </a:cxn>
                    <a:cxn ang="T106">
                      <a:pos x="T64" y="T65"/>
                    </a:cxn>
                    <a:cxn ang="T107">
                      <a:pos x="T66" y="T67"/>
                    </a:cxn>
                    <a:cxn ang="T108">
                      <a:pos x="T68" y="T69"/>
                    </a:cxn>
                    <a:cxn ang="T109">
                      <a:pos x="T70" y="T71"/>
                    </a:cxn>
                    <a:cxn ang="T110">
                      <a:pos x="T72" y="T73"/>
                    </a:cxn>
                  </a:cxnLst>
                  <a:rect l="0" t="0" r="r" b="b"/>
                  <a:pathLst>
                    <a:path w="931" h="149">
                      <a:moveTo>
                        <a:pt x="794" y="84"/>
                      </a:moveTo>
                      <a:cubicBezTo>
                        <a:pt x="813" y="72"/>
                        <a:pt x="931" y="14"/>
                        <a:pt x="825" y="0"/>
                      </a:cubicBezTo>
                      <a:lnTo>
                        <a:pt x="159" y="0"/>
                      </a:lnTo>
                      <a:cubicBezTo>
                        <a:pt x="149" y="12"/>
                        <a:pt x="162" y="18"/>
                        <a:pt x="143" y="29"/>
                      </a:cubicBezTo>
                      <a:cubicBezTo>
                        <a:pt x="130" y="44"/>
                        <a:pt x="133" y="39"/>
                        <a:pt x="116" y="48"/>
                      </a:cubicBezTo>
                      <a:cubicBezTo>
                        <a:pt x="108" y="46"/>
                        <a:pt x="100" y="44"/>
                        <a:pt x="91" y="42"/>
                      </a:cubicBezTo>
                      <a:cubicBezTo>
                        <a:pt x="89" y="41"/>
                        <a:pt x="83" y="40"/>
                        <a:pt x="83" y="40"/>
                      </a:cubicBezTo>
                      <a:cubicBezTo>
                        <a:pt x="76" y="40"/>
                        <a:pt x="68" y="39"/>
                        <a:pt x="62" y="42"/>
                      </a:cubicBezTo>
                      <a:cubicBezTo>
                        <a:pt x="54" y="45"/>
                        <a:pt x="46" y="61"/>
                        <a:pt x="38" y="67"/>
                      </a:cubicBezTo>
                      <a:cubicBezTo>
                        <a:pt x="32" y="71"/>
                        <a:pt x="27" y="74"/>
                        <a:pt x="22" y="77"/>
                      </a:cubicBezTo>
                      <a:cubicBezTo>
                        <a:pt x="16" y="81"/>
                        <a:pt x="5" y="86"/>
                        <a:pt x="5" y="86"/>
                      </a:cubicBezTo>
                      <a:cubicBezTo>
                        <a:pt x="9" y="95"/>
                        <a:pt x="7" y="97"/>
                        <a:pt x="0" y="105"/>
                      </a:cubicBezTo>
                      <a:cubicBezTo>
                        <a:pt x="17" y="107"/>
                        <a:pt x="22" y="107"/>
                        <a:pt x="16" y="120"/>
                      </a:cubicBezTo>
                      <a:cubicBezTo>
                        <a:pt x="27" y="122"/>
                        <a:pt x="48" y="116"/>
                        <a:pt x="59" y="115"/>
                      </a:cubicBezTo>
                      <a:cubicBezTo>
                        <a:pt x="71" y="112"/>
                        <a:pt x="73" y="117"/>
                        <a:pt x="83" y="111"/>
                      </a:cubicBezTo>
                      <a:cubicBezTo>
                        <a:pt x="89" y="96"/>
                        <a:pt x="83" y="100"/>
                        <a:pt x="97" y="96"/>
                      </a:cubicBezTo>
                      <a:cubicBezTo>
                        <a:pt x="100" y="94"/>
                        <a:pt x="103" y="93"/>
                        <a:pt x="105" y="90"/>
                      </a:cubicBezTo>
                      <a:cubicBezTo>
                        <a:pt x="106" y="88"/>
                        <a:pt x="106" y="85"/>
                        <a:pt x="108" y="84"/>
                      </a:cubicBezTo>
                      <a:cubicBezTo>
                        <a:pt x="112" y="80"/>
                        <a:pt x="140" y="69"/>
                        <a:pt x="148" y="67"/>
                      </a:cubicBezTo>
                      <a:cubicBezTo>
                        <a:pt x="160" y="52"/>
                        <a:pt x="153" y="56"/>
                        <a:pt x="167" y="52"/>
                      </a:cubicBezTo>
                      <a:cubicBezTo>
                        <a:pt x="178" y="55"/>
                        <a:pt x="179" y="62"/>
                        <a:pt x="191" y="58"/>
                      </a:cubicBezTo>
                      <a:cubicBezTo>
                        <a:pt x="199" y="52"/>
                        <a:pt x="206" y="51"/>
                        <a:pt x="215" y="46"/>
                      </a:cubicBezTo>
                      <a:cubicBezTo>
                        <a:pt x="226" y="58"/>
                        <a:pt x="217" y="46"/>
                        <a:pt x="223" y="69"/>
                      </a:cubicBezTo>
                      <a:cubicBezTo>
                        <a:pt x="226" y="79"/>
                        <a:pt x="233" y="85"/>
                        <a:pt x="237" y="94"/>
                      </a:cubicBezTo>
                      <a:cubicBezTo>
                        <a:pt x="227" y="100"/>
                        <a:pt x="229" y="104"/>
                        <a:pt x="218" y="107"/>
                      </a:cubicBezTo>
                      <a:cubicBezTo>
                        <a:pt x="207" y="120"/>
                        <a:pt x="203" y="113"/>
                        <a:pt x="188" y="109"/>
                      </a:cubicBezTo>
                      <a:cubicBezTo>
                        <a:pt x="191" y="117"/>
                        <a:pt x="200" y="127"/>
                        <a:pt x="210" y="132"/>
                      </a:cubicBezTo>
                      <a:cubicBezTo>
                        <a:pt x="218" y="114"/>
                        <a:pt x="211" y="122"/>
                        <a:pt x="231" y="113"/>
                      </a:cubicBezTo>
                      <a:cubicBezTo>
                        <a:pt x="237" y="111"/>
                        <a:pt x="248" y="105"/>
                        <a:pt x="248" y="105"/>
                      </a:cubicBezTo>
                      <a:cubicBezTo>
                        <a:pt x="248" y="100"/>
                        <a:pt x="246" y="94"/>
                        <a:pt x="250" y="90"/>
                      </a:cubicBezTo>
                      <a:cubicBezTo>
                        <a:pt x="253" y="88"/>
                        <a:pt x="254" y="96"/>
                        <a:pt x="258" y="96"/>
                      </a:cubicBezTo>
                      <a:cubicBezTo>
                        <a:pt x="262" y="97"/>
                        <a:pt x="264" y="94"/>
                        <a:pt x="266" y="92"/>
                      </a:cubicBezTo>
                      <a:cubicBezTo>
                        <a:pt x="262" y="82"/>
                        <a:pt x="252" y="77"/>
                        <a:pt x="248" y="67"/>
                      </a:cubicBezTo>
                      <a:cubicBezTo>
                        <a:pt x="250" y="63"/>
                        <a:pt x="255" y="58"/>
                        <a:pt x="253" y="54"/>
                      </a:cubicBezTo>
                      <a:cubicBezTo>
                        <a:pt x="251" y="50"/>
                        <a:pt x="248" y="42"/>
                        <a:pt x="248" y="42"/>
                      </a:cubicBezTo>
                      <a:cubicBezTo>
                        <a:pt x="256" y="32"/>
                        <a:pt x="259" y="35"/>
                        <a:pt x="266" y="44"/>
                      </a:cubicBezTo>
                      <a:cubicBezTo>
                        <a:pt x="270" y="56"/>
                        <a:pt x="276" y="61"/>
                        <a:pt x="285" y="71"/>
                      </a:cubicBezTo>
                      <a:cubicBezTo>
                        <a:pt x="281" y="81"/>
                        <a:pt x="289" y="82"/>
                        <a:pt x="277" y="88"/>
                      </a:cubicBezTo>
                      <a:cubicBezTo>
                        <a:pt x="262" y="106"/>
                        <a:pt x="278" y="83"/>
                        <a:pt x="274" y="101"/>
                      </a:cubicBezTo>
                      <a:cubicBezTo>
                        <a:pt x="274" y="105"/>
                        <a:pt x="268" y="109"/>
                        <a:pt x="266" y="113"/>
                      </a:cubicBezTo>
                      <a:cubicBezTo>
                        <a:pt x="270" y="122"/>
                        <a:pt x="268" y="125"/>
                        <a:pt x="261" y="132"/>
                      </a:cubicBezTo>
                      <a:cubicBezTo>
                        <a:pt x="268" y="149"/>
                        <a:pt x="282" y="134"/>
                        <a:pt x="296" y="130"/>
                      </a:cubicBezTo>
                      <a:cubicBezTo>
                        <a:pt x="299" y="122"/>
                        <a:pt x="295" y="119"/>
                        <a:pt x="299" y="111"/>
                      </a:cubicBezTo>
                      <a:cubicBezTo>
                        <a:pt x="296" y="105"/>
                        <a:pt x="288" y="97"/>
                        <a:pt x="299" y="92"/>
                      </a:cubicBezTo>
                      <a:cubicBezTo>
                        <a:pt x="303" y="90"/>
                        <a:pt x="315" y="88"/>
                        <a:pt x="315" y="88"/>
                      </a:cubicBezTo>
                      <a:cubicBezTo>
                        <a:pt x="326" y="91"/>
                        <a:pt x="325" y="95"/>
                        <a:pt x="331" y="103"/>
                      </a:cubicBezTo>
                      <a:cubicBezTo>
                        <a:pt x="339" y="84"/>
                        <a:pt x="331" y="90"/>
                        <a:pt x="361" y="92"/>
                      </a:cubicBezTo>
                      <a:cubicBezTo>
                        <a:pt x="355" y="76"/>
                        <a:pt x="365" y="76"/>
                        <a:pt x="382" y="73"/>
                      </a:cubicBezTo>
                      <a:cubicBezTo>
                        <a:pt x="383" y="71"/>
                        <a:pt x="387" y="57"/>
                        <a:pt x="393" y="54"/>
                      </a:cubicBezTo>
                      <a:cubicBezTo>
                        <a:pt x="398" y="52"/>
                        <a:pt x="409" y="50"/>
                        <a:pt x="409" y="50"/>
                      </a:cubicBezTo>
                      <a:cubicBezTo>
                        <a:pt x="430" y="54"/>
                        <a:pt x="413" y="58"/>
                        <a:pt x="431" y="63"/>
                      </a:cubicBezTo>
                      <a:cubicBezTo>
                        <a:pt x="433" y="61"/>
                        <a:pt x="435" y="57"/>
                        <a:pt x="439" y="56"/>
                      </a:cubicBezTo>
                      <a:cubicBezTo>
                        <a:pt x="445" y="55"/>
                        <a:pt x="452" y="61"/>
                        <a:pt x="457" y="58"/>
                      </a:cubicBezTo>
                      <a:cubicBezTo>
                        <a:pt x="461" y="57"/>
                        <a:pt x="457" y="52"/>
                        <a:pt x="455" y="50"/>
                      </a:cubicBezTo>
                      <a:cubicBezTo>
                        <a:pt x="451" y="47"/>
                        <a:pt x="444" y="47"/>
                        <a:pt x="439" y="46"/>
                      </a:cubicBezTo>
                      <a:cubicBezTo>
                        <a:pt x="436" y="45"/>
                        <a:pt x="431" y="44"/>
                        <a:pt x="431" y="44"/>
                      </a:cubicBezTo>
                      <a:cubicBezTo>
                        <a:pt x="440" y="38"/>
                        <a:pt x="443" y="36"/>
                        <a:pt x="455" y="40"/>
                      </a:cubicBezTo>
                      <a:cubicBezTo>
                        <a:pt x="461" y="38"/>
                        <a:pt x="467" y="35"/>
                        <a:pt x="474" y="35"/>
                      </a:cubicBezTo>
                      <a:cubicBezTo>
                        <a:pt x="483" y="36"/>
                        <a:pt x="511" y="43"/>
                        <a:pt x="519" y="46"/>
                      </a:cubicBezTo>
                      <a:cubicBezTo>
                        <a:pt x="527" y="49"/>
                        <a:pt x="544" y="54"/>
                        <a:pt x="544" y="54"/>
                      </a:cubicBezTo>
                      <a:cubicBezTo>
                        <a:pt x="548" y="54"/>
                        <a:pt x="560" y="52"/>
                        <a:pt x="565" y="50"/>
                      </a:cubicBezTo>
                      <a:cubicBezTo>
                        <a:pt x="570" y="47"/>
                        <a:pt x="581" y="42"/>
                        <a:pt x="581" y="42"/>
                      </a:cubicBezTo>
                      <a:cubicBezTo>
                        <a:pt x="585" y="42"/>
                        <a:pt x="598" y="44"/>
                        <a:pt x="600" y="48"/>
                      </a:cubicBezTo>
                      <a:cubicBezTo>
                        <a:pt x="603" y="55"/>
                        <a:pt x="589" y="61"/>
                        <a:pt x="584" y="63"/>
                      </a:cubicBezTo>
                      <a:cubicBezTo>
                        <a:pt x="576" y="69"/>
                        <a:pt x="568" y="69"/>
                        <a:pt x="565" y="77"/>
                      </a:cubicBezTo>
                      <a:cubicBezTo>
                        <a:pt x="568" y="86"/>
                        <a:pt x="564" y="92"/>
                        <a:pt x="568" y="101"/>
                      </a:cubicBezTo>
                      <a:cubicBezTo>
                        <a:pt x="574" y="93"/>
                        <a:pt x="577" y="91"/>
                        <a:pt x="589" y="94"/>
                      </a:cubicBezTo>
                      <a:cubicBezTo>
                        <a:pt x="595" y="108"/>
                        <a:pt x="602" y="93"/>
                        <a:pt x="611" y="88"/>
                      </a:cubicBezTo>
                      <a:cubicBezTo>
                        <a:pt x="613" y="86"/>
                        <a:pt x="613" y="83"/>
                        <a:pt x="616" y="82"/>
                      </a:cubicBezTo>
                      <a:cubicBezTo>
                        <a:pt x="618" y="80"/>
                        <a:pt x="622" y="81"/>
                        <a:pt x="624" y="80"/>
                      </a:cubicBezTo>
                      <a:cubicBezTo>
                        <a:pt x="626" y="78"/>
                        <a:pt x="626" y="75"/>
                        <a:pt x="627" y="73"/>
                      </a:cubicBezTo>
                      <a:cubicBezTo>
                        <a:pt x="632" y="65"/>
                        <a:pt x="638" y="63"/>
                        <a:pt x="648" y="61"/>
                      </a:cubicBezTo>
                      <a:cubicBezTo>
                        <a:pt x="664" y="62"/>
                        <a:pt x="684" y="69"/>
                        <a:pt x="700" y="69"/>
                      </a:cubicBezTo>
                      <a:lnTo>
                        <a:pt x="794" y="84"/>
                      </a:ln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89" name="Freeform 58"/>
                <p:cNvSpPr>
                  <a:spLocks/>
                </p:cNvSpPr>
                <p:nvPr/>
              </p:nvSpPr>
              <p:spPr bwMode="ltGray">
                <a:xfrm>
                  <a:off x="971" y="91"/>
                  <a:ext cx="30" cy="25"/>
                </a:xfrm>
                <a:custGeom>
                  <a:avLst/>
                  <a:gdLst>
                    <a:gd name="T0" fmla="*/ 3 w 31"/>
                    <a:gd name="T1" fmla="*/ 13 h 30"/>
                    <a:gd name="T2" fmla="*/ 27 w 31"/>
                    <a:gd name="T3" fmla="*/ 0 h 30"/>
                    <a:gd name="T4" fmla="*/ 15 w 31"/>
                    <a:gd name="T5" fmla="*/ 12 h 30"/>
                    <a:gd name="T6" fmla="*/ 3 w 31"/>
                    <a:gd name="T7" fmla="*/ 13 h 30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31" h="30">
                      <a:moveTo>
                        <a:pt x="3" y="28"/>
                      </a:moveTo>
                      <a:cubicBezTo>
                        <a:pt x="8" y="8"/>
                        <a:pt x="12" y="6"/>
                        <a:pt x="31" y="0"/>
                      </a:cubicBezTo>
                      <a:cubicBezTo>
                        <a:pt x="29" y="5"/>
                        <a:pt x="25" y="22"/>
                        <a:pt x="19" y="24"/>
                      </a:cubicBezTo>
                      <a:cubicBezTo>
                        <a:pt x="0" y="30"/>
                        <a:pt x="3" y="9"/>
                        <a:pt x="3" y="2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0" name="Freeform 59"/>
                <p:cNvSpPr>
                  <a:spLocks/>
                </p:cNvSpPr>
                <p:nvPr/>
              </p:nvSpPr>
              <p:spPr bwMode="ltGray">
                <a:xfrm>
                  <a:off x="935" y="125"/>
                  <a:ext cx="45" cy="27"/>
                </a:xfrm>
                <a:custGeom>
                  <a:avLst/>
                  <a:gdLst>
                    <a:gd name="T0" fmla="*/ 6 w 44"/>
                    <a:gd name="T1" fmla="*/ 16 h 32"/>
                    <a:gd name="T2" fmla="*/ 26 w 44"/>
                    <a:gd name="T3" fmla="*/ 0 h 32"/>
                    <a:gd name="T4" fmla="*/ 42 w 44"/>
                    <a:gd name="T5" fmla="*/ 3 h 32"/>
                    <a:gd name="T6" fmla="*/ 6 w 44"/>
                    <a:gd name="T7" fmla="*/ 16 h 32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44" h="32">
                      <a:moveTo>
                        <a:pt x="6" y="32"/>
                      </a:moveTo>
                      <a:cubicBezTo>
                        <a:pt x="0" y="14"/>
                        <a:pt x="7" y="10"/>
                        <a:pt x="22" y="0"/>
                      </a:cubicBezTo>
                      <a:cubicBezTo>
                        <a:pt x="27" y="1"/>
                        <a:pt x="35" y="0"/>
                        <a:pt x="38" y="4"/>
                      </a:cubicBezTo>
                      <a:cubicBezTo>
                        <a:pt x="44" y="13"/>
                        <a:pt x="16" y="32"/>
                        <a:pt x="6" y="3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1" name="Freeform 60"/>
                <p:cNvSpPr>
                  <a:spLocks/>
                </p:cNvSpPr>
                <p:nvPr/>
              </p:nvSpPr>
              <p:spPr bwMode="ltGray">
                <a:xfrm>
                  <a:off x="1081" y="226"/>
                  <a:ext cx="75" cy="14"/>
                </a:xfrm>
                <a:custGeom>
                  <a:avLst/>
                  <a:gdLst>
                    <a:gd name="T0" fmla="*/ 37 w 76"/>
                    <a:gd name="T1" fmla="*/ 7 h 18"/>
                    <a:gd name="T2" fmla="*/ 25 w 76"/>
                    <a:gd name="T3" fmla="*/ 2 h 18"/>
                    <a:gd name="T4" fmla="*/ 37 w 76"/>
                    <a:gd name="T5" fmla="*/ 7 h 18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76" h="18">
                      <a:moveTo>
                        <a:pt x="37" y="18"/>
                      </a:moveTo>
                      <a:cubicBezTo>
                        <a:pt x="25" y="14"/>
                        <a:pt x="0" y="10"/>
                        <a:pt x="25" y="2"/>
                      </a:cubicBezTo>
                      <a:cubicBezTo>
                        <a:pt x="76" y="9"/>
                        <a:pt x="46" y="0"/>
                        <a:pt x="37" y="18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2" name="Freeform 61"/>
                <p:cNvSpPr>
                  <a:spLocks/>
                </p:cNvSpPr>
                <p:nvPr/>
              </p:nvSpPr>
              <p:spPr bwMode="ltGray">
                <a:xfrm>
                  <a:off x="1210" y="223"/>
                  <a:ext cx="42" cy="37"/>
                </a:xfrm>
                <a:custGeom>
                  <a:avLst/>
                  <a:gdLst>
                    <a:gd name="T0" fmla="*/ 0 w 42"/>
                    <a:gd name="T1" fmla="*/ 11 h 44"/>
                    <a:gd name="T2" fmla="*/ 12 w 42"/>
                    <a:gd name="T3" fmla="*/ 5 h 44"/>
                    <a:gd name="T4" fmla="*/ 0 w 42"/>
                    <a:gd name="T5" fmla="*/ 11 h 44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42" h="44">
                      <a:moveTo>
                        <a:pt x="0" y="21"/>
                      </a:moveTo>
                      <a:cubicBezTo>
                        <a:pt x="4" y="17"/>
                        <a:pt x="7" y="11"/>
                        <a:pt x="12" y="9"/>
                      </a:cubicBezTo>
                      <a:cubicBezTo>
                        <a:pt x="42" y="0"/>
                        <a:pt x="23" y="44"/>
                        <a:pt x="0" y="21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93" name="Freeform 62"/>
                <p:cNvSpPr>
                  <a:spLocks/>
                </p:cNvSpPr>
                <p:nvPr/>
              </p:nvSpPr>
              <p:spPr bwMode="ltGray">
                <a:xfrm>
                  <a:off x="865" y="123"/>
                  <a:ext cx="33" cy="24"/>
                </a:xfrm>
                <a:custGeom>
                  <a:avLst/>
                  <a:gdLst>
                    <a:gd name="T0" fmla="*/ 7 w 31"/>
                    <a:gd name="T1" fmla="*/ 9 h 30"/>
                    <a:gd name="T2" fmla="*/ 39 w 31"/>
                    <a:gd name="T3" fmla="*/ 4 h 30"/>
                    <a:gd name="T4" fmla="*/ 7 w 31"/>
                    <a:gd name="T5" fmla="*/ 9 h 30"/>
                    <a:gd name="T6" fmla="*/ 0 60000 65536"/>
                    <a:gd name="T7" fmla="*/ 0 60000 65536"/>
                    <a:gd name="T8" fmla="*/ 0 60000 65536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0" t="0" r="r" b="b"/>
                  <a:pathLst>
                    <a:path w="31" h="30">
                      <a:moveTo>
                        <a:pt x="7" y="22"/>
                      </a:moveTo>
                      <a:cubicBezTo>
                        <a:pt x="0" y="0"/>
                        <a:pt x="15" y="6"/>
                        <a:pt x="31" y="10"/>
                      </a:cubicBezTo>
                      <a:cubicBezTo>
                        <a:pt x="14" y="16"/>
                        <a:pt x="15" y="30"/>
                        <a:pt x="7" y="22"/>
                      </a:cubicBezTo>
                      <a:close/>
                    </a:path>
                  </a:pathLst>
                </a:custGeom>
                <a:solidFill>
                  <a:schemeClr val="folHlink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0" name="Group 63"/>
              <p:cNvGrpSpPr>
                <a:grpSpLocks/>
              </p:cNvGrpSpPr>
              <p:nvPr/>
            </p:nvGrpSpPr>
            <p:grpSpPr bwMode="auto">
              <a:xfrm>
                <a:off x="7" y="6"/>
                <a:ext cx="5739" cy="1022"/>
                <a:chOff x="1056" y="111"/>
                <a:chExt cx="2448" cy="418"/>
              </a:xfrm>
            </p:grpSpPr>
            <p:sp>
              <p:nvSpPr>
                <p:cNvPr id="27" name="Line 64"/>
                <p:cNvSpPr>
                  <a:spLocks noChangeShapeType="1"/>
                </p:cNvSpPr>
                <p:nvPr/>
              </p:nvSpPr>
              <p:spPr bwMode="white">
                <a:xfrm>
                  <a:off x="1056" y="332"/>
                  <a:ext cx="2448" cy="0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8" name="Line 65"/>
                <p:cNvSpPr>
                  <a:spLocks noChangeShapeType="1"/>
                </p:cNvSpPr>
                <p:nvPr/>
              </p:nvSpPr>
              <p:spPr bwMode="white">
                <a:xfrm>
                  <a:off x="125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9" name="Line 66"/>
                <p:cNvSpPr>
                  <a:spLocks noChangeShapeType="1"/>
                </p:cNvSpPr>
                <p:nvPr/>
              </p:nvSpPr>
              <p:spPr bwMode="white">
                <a:xfrm>
                  <a:off x="148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0" name="Line 67"/>
                <p:cNvSpPr>
                  <a:spLocks noChangeShapeType="1"/>
                </p:cNvSpPr>
                <p:nvPr/>
              </p:nvSpPr>
              <p:spPr bwMode="white">
                <a:xfrm>
                  <a:off x="171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1" name="Line 68"/>
                <p:cNvSpPr>
                  <a:spLocks noChangeShapeType="1"/>
                </p:cNvSpPr>
                <p:nvPr/>
              </p:nvSpPr>
              <p:spPr bwMode="white">
                <a:xfrm>
                  <a:off x="193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2" name="Line 69"/>
                <p:cNvSpPr>
                  <a:spLocks noChangeShapeType="1"/>
                </p:cNvSpPr>
                <p:nvPr/>
              </p:nvSpPr>
              <p:spPr bwMode="white">
                <a:xfrm>
                  <a:off x="216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3" name="Line 70"/>
                <p:cNvSpPr>
                  <a:spLocks noChangeShapeType="1"/>
                </p:cNvSpPr>
                <p:nvPr/>
              </p:nvSpPr>
              <p:spPr bwMode="white">
                <a:xfrm>
                  <a:off x="2394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4" name="Line 71"/>
                <p:cNvSpPr>
                  <a:spLocks noChangeShapeType="1"/>
                </p:cNvSpPr>
                <p:nvPr/>
              </p:nvSpPr>
              <p:spPr bwMode="white">
                <a:xfrm>
                  <a:off x="2622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5" name="Line 72"/>
                <p:cNvSpPr>
                  <a:spLocks noChangeShapeType="1"/>
                </p:cNvSpPr>
                <p:nvPr/>
              </p:nvSpPr>
              <p:spPr bwMode="white">
                <a:xfrm>
                  <a:off x="2850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6" name="Line 73"/>
                <p:cNvSpPr>
                  <a:spLocks noChangeShapeType="1"/>
                </p:cNvSpPr>
                <p:nvPr/>
              </p:nvSpPr>
              <p:spPr bwMode="white">
                <a:xfrm>
                  <a:off x="3078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37" name="Line 74"/>
                <p:cNvSpPr>
                  <a:spLocks noChangeShapeType="1"/>
                </p:cNvSpPr>
                <p:nvPr/>
              </p:nvSpPr>
              <p:spPr bwMode="white">
                <a:xfrm>
                  <a:off x="3306" y="111"/>
                  <a:ext cx="0" cy="418"/>
                </a:xfrm>
                <a:prstGeom prst="line">
                  <a:avLst/>
                </a:prstGeom>
                <a:noFill/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11" name="Group 75"/>
              <p:cNvGrpSpPr>
                <a:grpSpLocks/>
              </p:cNvGrpSpPr>
              <p:nvPr/>
            </p:nvGrpSpPr>
            <p:grpSpPr bwMode="auto">
              <a:xfrm>
                <a:off x="363" y="1"/>
                <a:ext cx="4919" cy="1034"/>
                <a:chOff x="1208" y="109"/>
                <a:chExt cx="2098" cy="423"/>
              </a:xfrm>
            </p:grpSpPr>
            <p:sp>
              <p:nvSpPr>
                <p:cNvPr id="12" name="Line 76"/>
                <p:cNvSpPr>
                  <a:spLocks noChangeShapeType="1"/>
                </p:cNvSpPr>
                <p:nvPr/>
              </p:nvSpPr>
              <p:spPr bwMode="ltGray">
                <a:xfrm>
                  <a:off x="2850" y="110"/>
                  <a:ext cx="0" cy="14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3" name="Line 77"/>
                <p:cNvSpPr>
                  <a:spLocks noChangeShapeType="1"/>
                </p:cNvSpPr>
                <p:nvPr/>
              </p:nvSpPr>
              <p:spPr bwMode="ltGray">
                <a:xfrm>
                  <a:off x="2972" y="332"/>
                  <a:ext cx="7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4" name="Line 78"/>
                <p:cNvSpPr>
                  <a:spLocks noChangeShapeType="1"/>
                </p:cNvSpPr>
                <p:nvPr/>
              </p:nvSpPr>
              <p:spPr bwMode="ltGray">
                <a:xfrm>
                  <a:off x="3078" y="350"/>
                  <a:ext cx="0" cy="2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5" name="Line 79"/>
                <p:cNvSpPr>
                  <a:spLocks noChangeShapeType="1"/>
                </p:cNvSpPr>
                <p:nvPr/>
              </p:nvSpPr>
              <p:spPr bwMode="ltGray">
                <a:xfrm>
                  <a:off x="3306" y="450"/>
                  <a:ext cx="0" cy="79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6" name="Line 80"/>
                <p:cNvSpPr>
                  <a:spLocks noChangeShapeType="1"/>
                </p:cNvSpPr>
                <p:nvPr/>
              </p:nvSpPr>
              <p:spPr bwMode="ltGray">
                <a:xfrm>
                  <a:off x="2166" y="114"/>
                  <a:ext cx="0" cy="6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7" name="Line 81"/>
                <p:cNvSpPr>
                  <a:spLocks noChangeShapeType="1"/>
                </p:cNvSpPr>
                <p:nvPr/>
              </p:nvSpPr>
              <p:spPr bwMode="ltGray">
                <a:xfrm>
                  <a:off x="1938" y="111"/>
                  <a:ext cx="0" cy="33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8" name="Line 82"/>
                <p:cNvSpPr>
                  <a:spLocks noChangeShapeType="1"/>
                </p:cNvSpPr>
                <p:nvPr/>
              </p:nvSpPr>
              <p:spPr bwMode="ltGray">
                <a:xfrm flipH="1">
                  <a:off x="1912" y="332"/>
                  <a:ext cx="6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19" name="Line 83"/>
                <p:cNvSpPr>
                  <a:spLocks noChangeShapeType="1"/>
                </p:cNvSpPr>
                <p:nvPr/>
              </p:nvSpPr>
              <p:spPr bwMode="ltGray">
                <a:xfrm>
                  <a:off x="1778" y="332"/>
                  <a:ext cx="60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0" name="Line 84"/>
                <p:cNvSpPr>
                  <a:spLocks noChangeShapeType="1"/>
                </p:cNvSpPr>
                <p:nvPr/>
              </p:nvSpPr>
              <p:spPr bwMode="ltGray">
                <a:xfrm flipH="1">
                  <a:off x="1578" y="332"/>
                  <a:ext cx="82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1" name="Line 85"/>
                <p:cNvSpPr>
                  <a:spLocks noChangeShapeType="1"/>
                </p:cNvSpPr>
                <p:nvPr/>
              </p:nvSpPr>
              <p:spPr bwMode="ltGray">
                <a:xfrm>
                  <a:off x="1208" y="332"/>
                  <a:ext cx="348" cy="0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2" name="Line 86"/>
                <p:cNvSpPr>
                  <a:spLocks noChangeShapeType="1"/>
                </p:cNvSpPr>
                <p:nvPr/>
              </p:nvSpPr>
              <p:spPr bwMode="ltGray">
                <a:xfrm>
                  <a:off x="1480" y="234"/>
                  <a:ext cx="0" cy="298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3" name="Line 87"/>
                <p:cNvSpPr>
                  <a:spLocks noChangeShapeType="1"/>
                </p:cNvSpPr>
                <p:nvPr/>
              </p:nvSpPr>
              <p:spPr bwMode="ltGray">
                <a:xfrm>
                  <a:off x="1254" y="252"/>
                  <a:ext cx="0" cy="15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4" name="Line 88"/>
                <p:cNvSpPr>
                  <a:spLocks noChangeShapeType="1"/>
                </p:cNvSpPr>
                <p:nvPr/>
              </p:nvSpPr>
              <p:spPr bwMode="ltGray">
                <a:xfrm flipH="1" flipV="1">
                  <a:off x="1482" y="109"/>
                  <a:ext cx="0" cy="27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5" name="Line 89"/>
                <p:cNvSpPr>
                  <a:spLocks noChangeShapeType="1"/>
                </p:cNvSpPr>
                <p:nvPr/>
              </p:nvSpPr>
              <p:spPr bwMode="ltGray">
                <a:xfrm>
                  <a:off x="1710" y="180"/>
                  <a:ext cx="0" cy="96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sp>
              <p:nvSpPr>
                <p:cNvPr id="26" name="Line 90"/>
                <p:cNvSpPr>
                  <a:spLocks noChangeShapeType="1"/>
                </p:cNvSpPr>
                <p:nvPr/>
              </p:nvSpPr>
              <p:spPr bwMode="ltGray">
                <a:xfrm flipV="1">
                  <a:off x="1710" y="111"/>
                  <a:ext cx="0" cy="22"/>
                </a:xfrm>
                <a:prstGeom prst="line">
                  <a:avLst/>
                </a:prstGeom>
                <a:noFill/>
                <a:ln w="9525">
                  <a:solidFill>
                    <a:schemeClr val="hlink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</p:grpSp>
        </p:grpSp>
        <p:pic>
          <p:nvPicPr>
            <p:cNvPr id="7" name="Picture 91" descr="earth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gray">
            <a:xfrm>
              <a:off x="336" y="1566"/>
              <a:ext cx="690" cy="64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88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1828800" y="1828800"/>
            <a:ext cx="6934200" cy="2362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288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1828800" y="4572000"/>
            <a:ext cx="6934200" cy="12954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zh-CN" altLang="en-US" noProof="0"/>
              <a:t>单击以编辑母版副标题样式</a:t>
            </a:r>
          </a:p>
        </p:txBody>
      </p:sp>
      <p:sp>
        <p:nvSpPr>
          <p:cNvPr id="94" name="Rectangle 94"/>
          <p:cNvSpPr>
            <a:spLocks noGrp="1" noChangeArrowheads="1"/>
          </p:cNvSpPr>
          <p:nvPr>
            <p:ph type="dt" sz="half" idx="10"/>
          </p:nvPr>
        </p:nvSpPr>
        <p:spPr>
          <a:xfrm>
            <a:off x="533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5" name="Rectangle 95"/>
          <p:cNvSpPr>
            <a:spLocks noGrp="1" noChangeArrowheads="1"/>
          </p:cNvSpPr>
          <p:nvPr>
            <p:ph type="ftr" sz="quarter" idx="11"/>
          </p:nvPr>
        </p:nvSpPr>
        <p:spPr>
          <a:xfrm>
            <a:off x="3200400" y="63246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6" name="Rectangle 9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3D560C14-3457-4639-B4A6-06450F1014CC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70204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  <a:ln/>
        </p:spPr>
        <p:txBody>
          <a:bodyPr/>
          <a:lstStyle>
            <a:lvl1pPr>
              <a:defRPr/>
            </a:lvl1pPr>
          </a:lstStyle>
          <a:p>
            <a:fld id="{DD52D04A-09BD-4FAD-BA4D-50A1A7F4055B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3650329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64D0C3-AF63-42B8-9F73-8E1AD717B210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144524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0966C1C-5A2C-46D7-98A6-E3C2E6B4237E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38664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9E7832E-F2DB-438C-93F6-3F76589AD4CC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08522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26018AE-15F8-4701-98AA-465F916F5A05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896905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F641760-81F2-4D0D-BFA7-298521A2EF36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4007159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B57CCA-5EEA-4926-A941-76E15E10B6AC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474393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7166F5A-8B78-4E09-A98E-5EC6D3BCFA19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9522053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8B28B4-687E-4094-B0A0-891B7A9A4060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417062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05563" y="930275"/>
            <a:ext cx="2052637" cy="53324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246063" y="930275"/>
            <a:ext cx="6007100" cy="5332413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575F92-DB5B-4BB2-950E-3A1C4FE4D69E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420448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2147888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281488"/>
            <a:ext cx="3810000" cy="19812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575F92-DB5B-4BB2-950E-3A1C4FE4D69E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20797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6063" y="930275"/>
            <a:ext cx="77724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214788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2147888"/>
            <a:ext cx="3810000" cy="411480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575F92-DB5B-4BB2-950E-3A1C4FE4D69E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132015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246063" y="930275"/>
            <a:ext cx="8212137" cy="533241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575F92-DB5B-4BB2-950E-3A1C4FE4D69E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7335330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575F92-DB5B-4BB2-950E-3A1C4FE4D69E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620012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>
  <p:cSld name="标题和四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7575F92-DB5B-4BB2-950E-3A1C4FE4D69E}" type="slidenum">
              <a:rPr lang="zh-CN" altLang="en-US" smtClean="0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09657587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8552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7990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99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+mn-lt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799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latin typeface="Arial" panose="020B0604020202020204" pitchFamily="34" charset="0"/>
              </a:defRPr>
            </a:lvl1pPr>
          </a:lstStyle>
          <a:p>
            <a:fld id="{D52270B5-FFE4-4D72-9EE0-8147E655092E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黑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黑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黑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黑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黑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黑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黑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 b="1">
          <a:solidFill>
            <a:schemeClr val="tx2"/>
          </a:solidFill>
          <a:latin typeface="Arial" charset="0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6063" y="930275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2147888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8774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0" sz="14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774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kumimoji="0" sz="1400" i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8775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i="0"/>
            </a:lvl1pPr>
          </a:lstStyle>
          <a:p>
            <a:fld id="{F7575F92-DB5B-4BB2-950E-3A1C4FE4D69E}" type="slidenum">
              <a:rPr lang="zh-CN" altLang="en-US" smtClean="0"/>
              <a:pPr/>
              <a:t>‹#›</a:t>
            </a:fld>
            <a:endParaRPr lang="en-US" altLang="zh-CN"/>
          </a:p>
        </p:txBody>
      </p:sp>
      <p:grpSp>
        <p:nvGrpSpPr>
          <p:cNvPr id="160" name="组合 159">
            <a:extLst>
              <a:ext uri="{FF2B5EF4-FFF2-40B4-BE49-F238E27FC236}">
                <a16:creationId xmlns:a16="http://schemas.microsoft.com/office/drawing/2014/main" id="{937589C9-23BE-4DE8-920D-E692843CF80C}"/>
              </a:ext>
            </a:extLst>
          </p:cNvPr>
          <p:cNvGrpSpPr/>
          <p:nvPr userDrawn="1"/>
        </p:nvGrpSpPr>
        <p:grpSpPr>
          <a:xfrm>
            <a:off x="142282" y="288798"/>
            <a:ext cx="533400" cy="426720"/>
            <a:chOff x="0" y="288798"/>
            <a:chExt cx="533400" cy="426720"/>
          </a:xfrm>
        </p:grpSpPr>
        <p:sp>
          <p:nvSpPr>
            <p:cNvPr id="161" name="矩形 160">
              <a:extLst>
                <a:ext uri="{FF2B5EF4-FFF2-40B4-BE49-F238E27FC236}">
                  <a16:creationId xmlns:a16="http://schemas.microsoft.com/office/drawing/2014/main" id="{3215382F-CB53-4992-8055-3E63AA884941}"/>
                </a:ext>
              </a:extLst>
            </p:cNvPr>
            <p:cNvSpPr/>
            <p:nvPr/>
          </p:nvSpPr>
          <p:spPr>
            <a:xfrm>
              <a:off x="0" y="288798"/>
              <a:ext cx="419100" cy="426720"/>
            </a:xfrm>
            <a:prstGeom prst="rect">
              <a:avLst/>
            </a:prstGeom>
            <a:solidFill>
              <a:srgbClr val="2A53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2" name="矩形 161">
              <a:extLst>
                <a:ext uri="{FF2B5EF4-FFF2-40B4-BE49-F238E27FC236}">
                  <a16:creationId xmlns:a16="http://schemas.microsoft.com/office/drawing/2014/main" id="{A7E7A35D-3572-4410-AC23-B3AE01DE596B}"/>
                </a:ext>
              </a:extLst>
            </p:cNvPr>
            <p:cNvSpPr/>
            <p:nvPr/>
          </p:nvSpPr>
          <p:spPr>
            <a:xfrm>
              <a:off x="457200" y="288798"/>
              <a:ext cx="76200" cy="426720"/>
            </a:xfrm>
            <a:prstGeom prst="rect">
              <a:avLst/>
            </a:prstGeom>
            <a:solidFill>
              <a:srgbClr val="2A53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63" name="图片 162">
            <a:extLst>
              <a:ext uri="{FF2B5EF4-FFF2-40B4-BE49-F238E27FC236}">
                <a16:creationId xmlns:a16="http://schemas.microsoft.com/office/drawing/2014/main" id="{F5DD1D46-E9B6-412B-A870-F555EA614AC5}"/>
              </a:ext>
            </a:extLst>
          </p:cNvPr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2805" y="244642"/>
            <a:ext cx="492595" cy="505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60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0" r:id="rId1"/>
    <p:sldLayoutId id="2147483901" r:id="rId2"/>
    <p:sldLayoutId id="2147483902" r:id="rId3"/>
    <p:sldLayoutId id="2147483903" r:id="rId4"/>
    <p:sldLayoutId id="2147483904" r:id="rId5"/>
    <p:sldLayoutId id="2147483905" r:id="rId6"/>
    <p:sldLayoutId id="2147483906" r:id="rId7"/>
    <p:sldLayoutId id="2147483907" r:id="rId8"/>
    <p:sldLayoutId id="2147483908" r:id="rId9"/>
    <p:sldLayoutId id="2147483909" r:id="rId10"/>
    <p:sldLayoutId id="2147483910" r:id="rId11"/>
    <p:sldLayoutId id="2147483911" r:id="rId12"/>
    <p:sldLayoutId id="2147483912" r:id="rId13"/>
    <p:sldLayoutId id="2147483913" r:id="rId14"/>
    <p:sldLayoutId id="2147483914" r:id="rId15"/>
    <p:sldLayoutId id="2147483915" r:id="rId16"/>
    <p:sldLayoutId id="2147483916" r:id="rId17"/>
  </p:sldLayoutIdLst>
  <p:hf sldNum="0"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 i="1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 i="1">
          <a:solidFill>
            <a:schemeClr val="tx2"/>
          </a:solidFill>
          <a:latin typeface="Times New Roman" panose="02020603050405020304" pitchFamily="18" charset="0"/>
          <a:ea typeface="宋体" panose="02010600030101010101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20"/>
        </a:buBlip>
        <a:defRPr kumimoji="1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SzPct val="75000"/>
        <a:buBlip>
          <a:blip r:embed="rId21"/>
        </a:buBlip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chemeClr val="tx2"/>
        </a:buClr>
        <a:buChar char="–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microsoft.com/office/2007/relationships/media" Target="../media/media3.wav"/><Relationship Id="rId7" Type="http://schemas.openxmlformats.org/officeDocument/2006/relationships/image" Target="../media/image21.jpeg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6" Type="http://schemas.openxmlformats.org/officeDocument/2006/relationships/image" Target="../media/image20.jpeg"/><Relationship Id="rId5" Type="http://schemas.openxmlformats.org/officeDocument/2006/relationships/slideLayout" Target="../slideLayouts/slideLayout7.xml"/><Relationship Id="rId4" Type="http://schemas.openxmlformats.org/officeDocument/2006/relationships/audio" Target="../media/media3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600200" y="1657350"/>
            <a:ext cx="7543800" cy="2914650"/>
          </a:xfrm>
        </p:spPr>
        <p:txBody>
          <a:bodyPr/>
          <a:lstStyle/>
          <a:p>
            <a:pPr eaLnBrk="1" hangingPunct="1">
              <a:defRPr/>
            </a:pPr>
            <a:r>
              <a:rPr kumimoji="1" lang="zh-CN" altLang="en-US" sz="4000" b="1" i="0" dirty="0">
                <a:solidFill>
                  <a:schemeClr val="tx1"/>
                </a:solidFill>
                <a:ea typeface="+mn-ea"/>
              </a:rPr>
              <a:t>数字信号处理</a:t>
            </a:r>
            <a:br>
              <a:rPr kumimoji="1" lang="zh-CN" altLang="en-US" sz="4000" b="1" i="0" dirty="0">
                <a:solidFill>
                  <a:schemeClr val="tx1"/>
                </a:solidFill>
                <a:ea typeface="+mn-ea"/>
              </a:rPr>
            </a:br>
            <a:r>
              <a:rPr lang="en-US" altLang="zh-CN" sz="4000" b="1" i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+mn-ea"/>
              </a:rPr>
              <a:t>Digital Signal Processing</a:t>
            </a:r>
            <a:r>
              <a:rPr kumimoji="1" lang="zh-CN" altLang="en-US" sz="4000" b="1" i="0" dirty="0">
                <a:solidFill>
                  <a:schemeClr val="tx1"/>
                </a:solidFill>
                <a:ea typeface="+mn-ea"/>
              </a:rPr>
              <a:t> </a:t>
            </a:r>
            <a:endParaRPr lang="zh-CN" altLang="en-US" sz="4000" b="1" i="0" dirty="0"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762000" y="228600"/>
            <a:ext cx="3276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i="0" dirty="0">
                <a:solidFill>
                  <a:srgbClr val="993300"/>
                </a:solidFill>
                <a:ea typeface="楷体_GB2312" pitchFamily="49" charset="-122"/>
              </a:rPr>
              <a:t>数字信号处理</a:t>
            </a:r>
            <a:r>
              <a:rPr lang="en-US" altLang="zh-CN" sz="3200" b="1" i="0" dirty="0">
                <a:solidFill>
                  <a:srgbClr val="993300"/>
                </a:solidFill>
                <a:ea typeface="楷体_GB2312" pitchFamily="49" charset="-122"/>
              </a:rPr>
              <a:t>A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  <p:sp>
        <p:nvSpPr>
          <p:cNvPr id="6" name="内容占位符 2"/>
          <p:cNvSpPr>
            <a:spLocks noGrp="1"/>
          </p:cNvSpPr>
          <p:nvPr>
            <p:ph idx="4294967295"/>
          </p:nvPr>
        </p:nvSpPr>
        <p:spPr>
          <a:xfrm>
            <a:off x="474351" y="1354734"/>
            <a:ext cx="8260080" cy="4525962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25000"/>
              </a:lnSpc>
              <a:spcBef>
                <a:spcPct val="0"/>
              </a:spcBef>
            </a:pPr>
            <a:endParaRPr lang="en-US" altLang="zh-CN" sz="3200" b="1" dirty="0"/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zh-CN" altLang="en-US" sz="3200" b="1" dirty="0"/>
              <a:t> 任课教师</a:t>
            </a:r>
            <a:r>
              <a:rPr lang="zh-CN" altLang="en-US" sz="3200" b="1" dirty="0">
                <a:latin typeface="SimSun" panose="02010600030101010101" pitchFamily="2" charset="-122"/>
                <a:ea typeface="SimSun" panose="02010600030101010101" pitchFamily="2" charset="-122"/>
              </a:rPr>
              <a:t>：周克琴</a:t>
            </a:r>
            <a:endParaRPr lang="en-US" altLang="zh-CN" sz="3200" b="1" dirty="0"/>
          </a:p>
          <a:p>
            <a:pPr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sz="3200" dirty="0"/>
              <a:t>     EMAIL:   zhoukq@njupt.edu.cn</a:t>
            </a:r>
            <a:r>
              <a:rPr lang="en-US" altLang="zh-CN" sz="2400" dirty="0"/>
              <a:t>   </a:t>
            </a:r>
            <a:endParaRPr lang="en-US" altLang="zh-CN" sz="3200" b="1" dirty="0">
              <a:latin typeface="Times New Roman" panose="02020503050405090304" pitchFamily="18" charset="0"/>
            </a:endParaRPr>
          </a:p>
          <a:p>
            <a:pPr>
              <a:lnSpc>
                <a:spcPct val="135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kumimoji="1" lang="en-US" altLang="zh-CN" sz="1800" b="1" kern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</a:t>
            </a:r>
            <a:r>
              <a:rPr lang="en-US" altLang="zh-CN" dirty="0"/>
              <a:t>QQ</a:t>
            </a:r>
            <a:r>
              <a:rPr lang="zh-CN" altLang="zh-CN" dirty="0"/>
              <a:t>学习答疑群</a:t>
            </a:r>
            <a:r>
              <a:rPr lang="en-US" altLang="zh-CN" dirty="0"/>
              <a:t>:             1031621880</a:t>
            </a:r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sz="3200" b="1" dirty="0"/>
              <a:t>     </a:t>
            </a:r>
            <a:endParaRPr lang="en-US" altLang="zh-CN" b="1" dirty="0"/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endParaRPr lang="en-US" altLang="zh-CN" sz="3200" b="1" dirty="0"/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3200" b="1" dirty="0"/>
              <a:t>通信与信息工程学院</a:t>
            </a:r>
            <a:endParaRPr lang="en-US" altLang="zh-CN" sz="3200" b="1" dirty="0"/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3000" b="1" dirty="0"/>
              <a:t>        </a:t>
            </a:r>
            <a:endParaRPr lang="en-US" altLang="zh-CN" sz="3000" b="1" dirty="0"/>
          </a:p>
        </p:txBody>
      </p:sp>
    </p:spTree>
    <p:extLst>
      <p:ext uri="{BB962C8B-B14F-4D97-AF65-F5344CB8AC3E}">
        <p14:creationId xmlns:p14="http://schemas.microsoft.com/office/powerpoint/2010/main" val="11333234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62000" y="228600"/>
            <a:ext cx="32766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i="0" dirty="0">
                <a:solidFill>
                  <a:srgbClr val="993300"/>
                </a:solidFill>
                <a:ea typeface="楷体_GB2312" pitchFamily="49" charset="-122"/>
              </a:rPr>
              <a:t>数字信号处理</a:t>
            </a:r>
            <a:r>
              <a:rPr lang="en-US" altLang="zh-CN" sz="3200" b="1" i="0" dirty="0">
                <a:solidFill>
                  <a:srgbClr val="993300"/>
                </a:solidFill>
                <a:ea typeface="楷体_GB2312" pitchFamily="49" charset="-122"/>
              </a:rPr>
              <a:t>A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  <p:sp>
        <p:nvSpPr>
          <p:cNvPr id="5" name="内容占位符 2"/>
          <p:cNvSpPr>
            <a:spLocks noGrp="1"/>
          </p:cNvSpPr>
          <p:nvPr>
            <p:ph idx="4294967295"/>
          </p:nvPr>
        </p:nvSpPr>
        <p:spPr>
          <a:xfrm>
            <a:off x="533400" y="813375"/>
            <a:ext cx="8260080" cy="5501322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ct val="0"/>
              </a:spcBef>
            </a:pPr>
            <a:endParaRPr lang="en-US" altLang="zh-CN" sz="3200" b="1" dirty="0">
              <a:latin typeface="+mj-lt"/>
              <a:ea typeface="SimSun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zh-CN" altLang="en-US" sz="3200" b="1" dirty="0">
                <a:latin typeface="+mj-lt"/>
                <a:ea typeface="SimSun" panose="02010600030101010101" pitchFamily="2" charset="-122"/>
              </a:rPr>
              <a:t>课程：</a:t>
            </a:r>
            <a:r>
              <a:rPr lang="en-US" altLang="zh-CN" sz="3200" b="1" dirty="0">
                <a:latin typeface="+mj-lt"/>
                <a:ea typeface="SimSun" panose="02010600030101010101" pitchFamily="2" charset="-122"/>
              </a:rPr>
              <a:t>48</a:t>
            </a:r>
            <a:r>
              <a:rPr lang="zh-CN" altLang="en-US" sz="3200" b="1" dirty="0">
                <a:latin typeface="+mj-lt"/>
                <a:ea typeface="SimSun" panose="02010600030101010101" pitchFamily="2" charset="-122"/>
              </a:rPr>
              <a:t>学时，</a:t>
            </a:r>
            <a:r>
              <a:rPr lang="en-US" altLang="zh-CN" sz="3200" b="1" dirty="0">
                <a:latin typeface="+mj-lt"/>
                <a:ea typeface="SimSun" panose="02010600030101010101" pitchFamily="2" charset="-122"/>
              </a:rPr>
              <a:t>3</a:t>
            </a:r>
            <a:r>
              <a:rPr lang="zh-CN" altLang="en-US" sz="3200" b="1" dirty="0">
                <a:latin typeface="+mj-lt"/>
                <a:ea typeface="SimSun" panose="02010600030101010101" pitchFamily="2" charset="-122"/>
              </a:rPr>
              <a:t>学分</a:t>
            </a:r>
            <a:endParaRPr lang="en-US" altLang="zh-CN" sz="3200" b="1" dirty="0">
              <a:latin typeface="+mj-lt"/>
              <a:ea typeface="SimSun" panose="02010600030101010101" pitchFamily="2" charset="-122"/>
            </a:endParaRP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zh-CN" altLang="en-US" sz="3200" b="1" dirty="0">
                <a:latin typeface="+mj-lt"/>
                <a:ea typeface="SimSun" panose="02010600030101010101" pitchFamily="2" charset="-122"/>
              </a:rPr>
              <a:t>上课时间地点：</a:t>
            </a:r>
            <a:endParaRPr lang="en-US" altLang="zh-CN" sz="3200" b="1" dirty="0">
              <a:latin typeface="+mj-lt"/>
              <a:ea typeface="SimSun" panose="02010600030101010101" pitchFamily="2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+mj-lt"/>
                <a:ea typeface="SimSun" panose="02010600030101010101" pitchFamily="2" charset="-122"/>
              </a:rPr>
              <a:t> </a:t>
            </a:r>
            <a:r>
              <a:rPr lang="zh-CN" altLang="en-US" sz="3200" b="1" kern="0" dirty="0">
                <a:solidFill>
                  <a:srgbClr val="000000"/>
                </a:solidFill>
                <a:latin typeface="+mj-lt"/>
                <a:ea typeface="SimSun"/>
              </a:rPr>
              <a:t>   周一    </a:t>
            </a:r>
            <a:r>
              <a:rPr lang="en-US" altLang="zh-CN" sz="3200" b="1" kern="0" dirty="0">
                <a:solidFill>
                  <a:srgbClr val="000000"/>
                </a:solidFill>
                <a:latin typeface="+mj-lt"/>
                <a:ea typeface="SimSun"/>
              </a:rPr>
              <a:t>1-2</a:t>
            </a:r>
            <a:r>
              <a:rPr lang="zh-CN" altLang="en-US" sz="3200" b="1" kern="0" dirty="0">
                <a:solidFill>
                  <a:srgbClr val="000000"/>
                </a:solidFill>
                <a:latin typeface="+mj-lt"/>
                <a:ea typeface="SimSun"/>
              </a:rPr>
              <a:t>节    </a:t>
            </a:r>
            <a:r>
              <a:rPr lang="zh-CN" altLang="en-US" b="1" kern="0" dirty="0">
                <a:solidFill>
                  <a:srgbClr val="000000"/>
                </a:solidFill>
                <a:latin typeface="+mj-lt"/>
              </a:rPr>
              <a:t>教</a:t>
            </a:r>
            <a:r>
              <a:rPr lang="en-US" altLang="zh-CN" b="1" kern="0" dirty="0">
                <a:solidFill>
                  <a:srgbClr val="000000"/>
                </a:solidFill>
                <a:latin typeface="+mj-lt"/>
              </a:rPr>
              <a:t>4-405  </a:t>
            </a:r>
            <a:r>
              <a:rPr lang="zh-CN" altLang="en-US" b="1" kern="0" dirty="0">
                <a:solidFill>
                  <a:srgbClr val="000000"/>
                </a:solidFill>
                <a:latin typeface="+mj-lt"/>
              </a:rPr>
              <a:t>（单周）</a:t>
            </a:r>
            <a:endParaRPr lang="en-US" altLang="zh-CN" b="1" kern="0" dirty="0">
              <a:solidFill>
                <a:srgbClr val="000000"/>
              </a:solidFill>
              <a:latin typeface="+mj-lt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3200" b="1" dirty="0">
                <a:latin typeface="+mj-lt"/>
                <a:ea typeface="SimSun" panose="02010600030101010101" pitchFamily="2" charset="-122"/>
              </a:rPr>
              <a:t>    周四    </a:t>
            </a:r>
            <a:r>
              <a:rPr lang="en-US" altLang="zh-CN" b="1" kern="0" dirty="0">
                <a:solidFill>
                  <a:srgbClr val="000000"/>
                </a:solidFill>
                <a:latin typeface="+mj-lt"/>
                <a:sym typeface="+mn-ea"/>
              </a:rPr>
              <a:t>6-7</a:t>
            </a:r>
            <a:r>
              <a:rPr lang="zh-CN" altLang="en-US" b="1" kern="0" dirty="0">
                <a:solidFill>
                  <a:srgbClr val="000000"/>
                </a:solidFill>
                <a:latin typeface="+mj-lt"/>
                <a:sym typeface="+mn-ea"/>
              </a:rPr>
              <a:t>节    教</a:t>
            </a:r>
            <a:r>
              <a:rPr lang="en-US" altLang="zh-CN" b="1" kern="0" dirty="0">
                <a:solidFill>
                  <a:srgbClr val="000000"/>
                </a:solidFill>
                <a:latin typeface="+mj-lt"/>
              </a:rPr>
              <a:t>4-405</a:t>
            </a:r>
            <a:endParaRPr lang="en-US" altLang="zh-CN" b="1" kern="0" dirty="0">
              <a:solidFill>
                <a:srgbClr val="000000"/>
              </a:solidFill>
              <a:latin typeface="+mj-lt"/>
              <a:sym typeface="+mn-ea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endParaRPr lang="en-US" altLang="zh-CN" sz="3200" b="1" dirty="0">
              <a:latin typeface="+mj-lt"/>
              <a:ea typeface="SimSun" panose="02010600030101010101" pitchFamily="2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en-US" altLang="zh-CN" b="1" dirty="0">
                <a:latin typeface="+mj-lt"/>
                <a:ea typeface="SimSun" panose="02010600030101010101" pitchFamily="2" charset="-122"/>
              </a:rPr>
              <a:t>   </a:t>
            </a:r>
            <a:r>
              <a:rPr lang="zh-CN" altLang="en-US" sz="3200" b="1" dirty="0">
                <a:latin typeface="+mj-lt"/>
                <a:ea typeface="SimSun" panose="02010600030101010101" pitchFamily="2" charset="-122"/>
              </a:rPr>
              <a:t>答疑时间地点：</a:t>
            </a:r>
            <a:endParaRPr lang="en-US" altLang="zh-CN" sz="3200" b="1" dirty="0">
              <a:latin typeface="+mj-lt"/>
              <a:ea typeface="SimSun" panose="02010600030101010101" pitchFamily="2" charset="-122"/>
            </a:endParaRPr>
          </a:p>
          <a:p>
            <a:pPr marL="0" indent="0">
              <a:lnSpc>
                <a:spcPct val="125000"/>
              </a:lnSpc>
              <a:spcBef>
                <a:spcPct val="0"/>
              </a:spcBef>
              <a:buNone/>
            </a:pPr>
            <a:r>
              <a:rPr lang="zh-CN" altLang="en-US" sz="3200" b="1" kern="0" dirty="0">
                <a:solidFill>
                  <a:srgbClr val="000000"/>
                </a:solidFill>
                <a:latin typeface="+mj-lt"/>
                <a:ea typeface="SimSun"/>
              </a:rPr>
              <a:t>   周</a:t>
            </a:r>
            <a:r>
              <a:rPr lang="zh-CN" altLang="en-US" sz="3200" b="1" kern="0" dirty="0">
                <a:solidFill>
                  <a:srgbClr val="000000"/>
                </a:solidFill>
                <a:latin typeface="+mj-lt"/>
                <a:ea typeface="SimSun" panose="02010600030101010101" pitchFamily="2" charset="-122"/>
              </a:rPr>
              <a:t>四</a:t>
            </a:r>
            <a:r>
              <a:rPr lang="zh-CN" altLang="en-US" sz="3200" b="1" dirty="0">
                <a:latin typeface="+mj-lt"/>
                <a:ea typeface="SimSun" panose="02010600030101010101" pitchFamily="2" charset="-122"/>
              </a:rPr>
              <a:t>     </a:t>
            </a:r>
            <a:r>
              <a:rPr lang="en-US" altLang="zh-CN" b="1" dirty="0">
                <a:latin typeface="+mj-lt"/>
                <a:ea typeface="SimSun" panose="02010600030101010101" pitchFamily="2" charset="-122"/>
              </a:rPr>
              <a:t>12:30 - 13:30   </a:t>
            </a:r>
            <a:r>
              <a:rPr lang="zh-CN" altLang="en-US" b="1" dirty="0">
                <a:latin typeface="+mj-lt"/>
                <a:ea typeface="SimSun" panose="02010600030101010101" pitchFamily="2" charset="-122"/>
              </a:rPr>
              <a:t>教</a:t>
            </a:r>
            <a:r>
              <a:rPr lang="en-US" altLang="zh-CN" b="1" dirty="0">
                <a:latin typeface="+mj-lt"/>
                <a:ea typeface="SimSun" panose="02010600030101010101" pitchFamily="2" charset="-122"/>
              </a:rPr>
              <a:t>4-405</a:t>
            </a:r>
            <a:endParaRPr lang="en-US" altLang="zh-CN" sz="3200" b="1" dirty="0">
              <a:latin typeface="+mj-lt"/>
              <a:ea typeface="SimSun" panose="02010600030101010101" pitchFamily="2" charset="-122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latin typeface="+mj-lt"/>
              </a:rPr>
              <a:t>  </a:t>
            </a:r>
            <a:endParaRPr lang="en-US" altLang="zh-CN" sz="3200" b="1" dirty="0">
              <a:latin typeface="+mj-lt"/>
            </a:endParaRPr>
          </a:p>
          <a:p>
            <a:pPr marL="0" indent="0">
              <a:lnSpc>
                <a:spcPct val="130000"/>
              </a:lnSpc>
              <a:spcBef>
                <a:spcPts val="0"/>
              </a:spcBef>
              <a:buNone/>
            </a:pPr>
            <a:r>
              <a:rPr lang="zh-CN" altLang="en-US" b="1" dirty="0">
                <a:latin typeface="+mj-lt"/>
              </a:rPr>
              <a:t>  </a:t>
            </a:r>
            <a:r>
              <a:rPr lang="zh-CN" altLang="en-US" sz="3200" b="1" dirty="0">
                <a:latin typeface="+mj-lt"/>
              </a:rPr>
              <a:t>其他时间有问题，可以在</a:t>
            </a:r>
            <a:r>
              <a:rPr lang="en-US" altLang="zh-CN" sz="3200" b="1" dirty="0">
                <a:latin typeface="+mj-lt"/>
              </a:rPr>
              <a:t>QQ</a:t>
            </a:r>
            <a:r>
              <a:rPr lang="zh-CN" altLang="en-US" sz="3200" b="1" dirty="0">
                <a:latin typeface="+mj-lt"/>
              </a:rPr>
              <a:t>上及时答疑讨论</a:t>
            </a:r>
            <a:endParaRPr lang="en-US" altLang="zh-CN" sz="3200" b="1" dirty="0">
              <a:latin typeface="+mj-lt"/>
            </a:endParaRPr>
          </a:p>
          <a:p>
            <a:pPr marL="0" indent="0">
              <a:lnSpc>
                <a:spcPct val="90000"/>
              </a:lnSpc>
              <a:spcBef>
                <a:spcPts val="0"/>
              </a:spcBef>
              <a:buNone/>
            </a:pPr>
            <a:r>
              <a:rPr lang="zh-CN" altLang="en-US" sz="3200" b="1" dirty="0">
                <a:latin typeface="+mj-lt"/>
              </a:rPr>
              <a:t>  </a:t>
            </a:r>
            <a:endParaRPr lang="zh-CN" altLang="zh-CN" sz="3200" b="1" dirty="0">
              <a:solidFill>
                <a:srgbClr val="152957"/>
              </a:solidFill>
              <a:latin typeface="+mj-lt"/>
              <a:ea typeface="SimSun" panose="02010600030101010101" pitchFamily="2" charset="-122"/>
              <a:cs typeface="Times New Roman" panose="02020503050405090304" pitchFamily="18" charset="0"/>
            </a:endParaRPr>
          </a:p>
          <a:p>
            <a:pPr>
              <a:lnSpc>
                <a:spcPct val="125000"/>
              </a:lnSpc>
              <a:spcBef>
                <a:spcPct val="0"/>
              </a:spcBef>
            </a:pPr>
            <a:r>
              <a:rPr lang="zh-CN" altLang="en-US" sz="3200" b="1" dirty="0">
                <a:latin typeface="+mj-lt"/>
                <a:ea typeface="SimSun" panose="02010600030101010101" pitchFamily="2" charset="-122"/>
              </a:rPr>
              <a:t>先修课程</a:t>
            </a:r>
            <a:r>
              <a:rPr lang="en-US" altLang="zh-CN" sz="3200" b="1" dirty="0">
                <a:latin typeface="+mj-lt"/>
                <a:ea typeface="SimSun" panose="02010600030101010101" pitchFamily="2" charset="-122"/>
              </a:rPr>
              <a:t>: </a:t>
            </a:r>
            <a:r>
              <a:rPr lang="zh-CN" altLang="en-US" sz="3200" b="1" dirty="0">
                <a:latin typeface="+mj-lt"/>
                <a:ea typeface="SimSun" panose="02010600030101010101" pitchFamily="2" charset="-122"/>
              </a:rPr>
              <a:t>信号与系统</a:t>
            </a:r>
          </a:p>
        </p:txBody>
      </p:sp>
    </p:spTree>
    <p:extLst>
      <p:ext uri="{BB962C8B-B14F-4D97-AF65-F5344CB8AC3E}">
        <p14:creationId xmlns:p14="http://schemas.microsoft.com/office/powerpoint/2010/main" val="430740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 </a:t>
            </a:r>
          </a:p>
        </p:txBody>
      </p:sp>
      <p:sp>
        <p:nvSpPr>
          <p:cNvPr id="7172" name="AutoShape 6" descr="data:image/jpeg;base64,/9j/4AAQSkZJRgABAQAAAQABAAD/2wBDAAoHBwgHBgoICAgLCgoLDhgQDg0NDh0VFhEYIx8lJCIfIiEmKzcvJik0KSEiMEExNDk7Pj4+JS5ESUM8SDc9Pjv/2wBDAQoLCw4NDhwQEBw7KCIoOzs7Ozs7Ozs7Ozs7Ozs7Ozs7Ozs7Ozs7Ozs7Ozs7Ozs7Ozs7Ozs7Ozs7Ozs7Ozs7Ozv/wAARCAFVAQQDASIAAhEBAxEB/8QAGwAAAgMBAQEAAAAAAAAAAAAAAwQAAQIFBgf/xABHEAABAwIDBAMLCgUEAgMBAAABAAIDBBEFEiETMUFRImFxBhQVMjRTcoGRsdEjM0JjkqGissHhJFJzgvAHVGJkQ8KVw/HT/8QAGQEAAwEBAQAAAAAAAAAAAAAAAAECAwQF/8QAJhEBAQACAgIBBAIDAQAAAAAAAAECERIhAzFRBBMyQRQiM1Jhcf/aAAwDAQACEQMRAD8A+lUzGOiGaNpPMgJkQRG3yTPshBpB8k3Xgm2jdqt9TRgw08RmnBiaQHC2g06IRxTQeZj+yFmD5+o9MflCOoOB97QeZj+yFO94PMx/ZCIoSjRhd7weZj+yFO94PMx/ZC3dVdGiY2EPmY/shTYQ+Zj+yFq6lynomdhD5mP7IU73g8yz7IWrlWCjQZFPB5mP7IVing8xH9kLYWgkA+9oPMR/ZCvvaDzEf2QiKJGH3tT+Yj+wFRpoPMR/ZCKqKAEaeDzEf2QqNPD5mP7IRSVgpyExsIfMx/ZCmwh8xH9kLSl1WgxsYfMx/ZCrYw+Zj+yFtVdGoTOxh8zH9kKbCHzMf2QtXVp6hxnYQ+Zj+yFfe8PmY/shaV3U6imNhB5mP7IWTBD5mP7IRCVklGoYRhh80z7IWTFF5tn2QiErJVSRLn1bWtlAa0AZeAUV1vzw9H9SosMvZG6VvyLdOCaaNAgUvk7OxMDcFrvoBw/P1HpD8oTCXiIbNUuO4OafwheWx3uqEFS2licz5Swc918kTTxNrE6G+XhZZ55zD20xwuV1HsM7ToHNPrUK8PLjgozSuZie3dUQ7QGaDZNfqW6OGrTZtukCOa9Lg+KtxCG5uHXILXWDmkb2kdW6/FLHyS3R5YWTbpKirKpas1FRXZQBBKVhXZXbrRsIFpVZWka1FFEjUqK0qIQTBVFaI61RHWqJn1KiDyVntVetUSlSv1qetAUrCnrVgdaDix2K7qKikqIT1LJPUrKwU4VUT1LBKsrJVESrDeUej+pUVVfzo9FRc2XsH6Ufw7OxMAaINLfvaP0UfgtDAteSoF7dJuv9oXzLHY3DuhkdNZzZKh9763GY25fRy8eO8L6hGLzVAPEt9wXIxnuchxJzZW5WTty3ucoeRuIdrZ3qPC4NgRh5cLl6beLPhXi8Xw+Knwwv71ljNgGGSJ4DRe9mlz7ezN6t67vcM+Z8bnyE5SWtBuQHEAjlY6ZF0q3AKmuwsUD8kPQaw1EmQloD8xIDWi5O7eAurhuFUuGQMhpWOa1jbXcdXnmf85KcfHee1ZeSXDiLVxzmCQ08jto4tsNLNFxe27hdbJcHgFkjuBc3KB277oqorp05ydEypey9YXNka+7crrAjQ2PYbj1LEsdZ4TdLG55hyZA3MMu697X56J5RGicqKHFnQvjleQ9z75tpuFtw38UYU9W6eKcl4LovlGbTosdblffftCf1WkaDjw0OJtoRG+Z5lzNdcyknRm4nT6QHVb1p11NV7dr2T2aIcha4k2PPtvx//U4FaWjcyPD6xkYYakE2HS5HKB2cDyUbh9Xtoy6SPZtiyuGYk5tNQeXV2da6aiNG5TsLq3U8sXfVi5+Zjg43AsdCe0/co3DalssLhPZkYZduckuLQRrzvcHtC6qyUaS5MGE1EMbWd9OFntecryRcA3GvC5+4J+nj2FLFCSXGNgaSTe57SilUqkClStUVQUooogLAWlQVoOLVK1R7EjZKyT1LR7FgqoTJ7Fk9i0VRvzTSRrPnR6P6lRSs+dHo/qVFzZflTP0pPe8fYjg6etL0nk7OxMDd61obEXlE/a33I6DH5RP/AG+5GCDUI2N1axoPUFFaiAiqwVqepMlWCmitT1JErRXoorQalaiiDRRRRIIskKyVkuTSoqiVRd1qAOdu3c1QUoAXbgt5Wt36lQyICtnzKuzR1obpFgyJ6tTyHzAblW0S5kVbTnuVcC5GDIOamdAc8Zb3vfdorzdG/UlxVsbOpmB3gIAcruUcT2KQw8FgxN4FZzKZ0tAjXNyzAf8AH9SopXOzTNP/AB/UqLDL2DtJ5OzsTA4dqWpfJ4+xM8PWtIbMflE39vuRggx+Uz/2+4owQaKKKICKKFZQTXrU9ayqQG1F5TFe6JkNbXwsxaB0JgexsQ6MkEwFrAga3PsKzhXdC2SakacUhMUVKDLEbmSZ4b0i4kaZQCd+pVcMtbRzm9PXKLxeEd0FbSUlGyrw+unmqM7mHM20tyXaEnQAFdTEe6KRr6OHCW09RLVSvjzSv6DMoudR2/ci42XRzOa29Bv3LBevGYnW4nitJ3vJieB09nh7ZIatwcCNyZixXGHPEbK/ufc95AttnkuPtT4Fzj07nrBLiLgE30C4OG45U1MwpKyOFtSKqSnvDfI7IBci+v0rJNtXW1WP4pV4fPS7KnDKbNVSObGANSRb/kOKNC5Tp65sVhmkN+rkrdIvH1ZxWqrqWsfimBRS0ocGhlS4B4dvDhfUJlmKYpEM8tbgT6eEZ5RDJJI8MG8gAk7ktfujm9GXFxsASsESHc0+xeUxjFo62gw6d889JQTVLhK9riwkBvRuRqLrnCowm2uKD/5KY/8A1q5Otpt7095sZDvBUDAN6+d1tXhsdBO6mxaXvkAbARVsry51xpYtHC/FepwrFXz1de2qlDYqV5zOP0QBqT96LsSx2JxkjB3aoLQ54JA0G88l4ynxCuc2txOLvGQVjn1jYZ5HiUxsu0WDdLAA6JnE8ZM0+C1sdNI4sEjpIYdXNDoWOJHOwddXNzpNsvb1ZAy5m236WN7oguW7uHJIYLUB+Hwk1DagEXjmB6MreY5HmOC49YK+LHIoDjmIthmjfKWjJmbZ4aANLW1+5Tva/T04vbcjW03LwDsQM0dbNVd0FVFUtlnAjZWbMMy/NgMtrc6aEIPf5jw+mqIO6CrfWEwnZmuz5nFwztMdtANeJTstKZyPohaENzNNFzsKxB9ZUV0bhYQVL4225AkBdAuURoSq7iUX5fqorrDeVvo/qVFz5fkD1J5MzsR+A7UvSeTM7ExwHarhsx+Uzf2+5GCDH5RN/b7kZUa1LqKBIIqVqkEpTTios3QHkMetUMq3YrUQRUsIfsaeKQOc5+5rpDvvcizRu4odPQCVveO3kNLK2OOeGKZsm1dYdNljma298wI3BY7pKXDqXFYquNlBUStLtrQWtJK8/SOW9+wgBJtc2mqnVj6dmCzQxZYBJFqQ7R8gyizpLGzW6a7+K2m+PTDrl22Htbg2HPJIfHSVTpeohuzH32C6dLTQUnc9SRx1FJSzEF0TqnKbXFnEB3MaFcapiLjXz1TDR09a4EEHO6l6WfLK0asD9Dcbl3K7D31tNBBA2mdNE0NaZImSWBsdCeB0KnKdqxvTmz7GgoKioBwOslYBs4WtjGmuY6ak7tO1LvpqYzw1VLNh9RJZr2zVEzIGRnfpC2xuP+R9qxHDCypcJsYwhrYJLTMNHGDodQAWXO7gpDTGaWnho4KeF1ZPLM0TUsb3Nh0DPGBsLh1gnvU/Za3l+naocOfPDNWPxyKqq2RujZNGGuELnbzlbYXPNK4fRR0IxbD4WxyMZKxoFULxOIbe8h4cSOuy6VF3O1cFQx0tYzZNdm2UMLImuPMhgFz2rmYowvpe6RuRzgK6EuAGpaLX0Rj8Hl8r72f/ALfuWH96qWJzKKrJiwYNMDgfB2s2vLq59V0g40DppS2ahZEXnZtbhriQ3gDdu+y0zvQ1NMaUMfLHHUullipTC0N2RtfQcbp3dTOrt2DWVsMTWUeIRU1Myn2mzdRZwwNbd13X1uQfalsPxuurKKOom7o8KpHyXOxfTtLmjhfVdbA7z4FC4+M6O18t7i2unHsXmZp6LaOtir6a51jnwxrC32NKJ69Kynft2W4hWveGQ91mFSSHxGNpmZnHkOlvXJdiVFNh8lKTMCZs1a6GjMRqWgkmMAGwN7Ak2uEEGkqGCHvltXG2Vk1RVd6CJlNEzU2dlBLjoLLoYLiMNLg8mI1kEkvfdS/YQRszPlc4khot70v3Cnq7c57IoRNhETXNq5X7KkNtO9ZSHk+oAg+kUWjqxLWwVtI7KwzVrqZ1tzWQNaw+wBBqJjUYuZJ6zY4q1pDY4mCSmpmW+ZeRvuCbkbvcyA+I0rJcIqKaGnZO3NQDvmJ20ZluCDcWtexune/RTc9tUFQaCmGINhky1eR76OKPoNlzDM9h+i0tvcc1rEZqxmNMrpsUDY2UckocaIExxh46OS+pvbW/BdXBK2hbTQ4dkq/km6y1NK6JnrJ0C5+IyVuKY7GaWnhoo3wmjacSDbyXdcubFvdu0uLHilP+qutdFBT1kGH1WWjp6qJzZ5ROyojG0Y8XzFpGa7RqACFhtNVz4XSMdR09PCWQPMr6mPosbY5g0DNcjrK1XVNNPDUhuIY1KXxOytvK1r323ZMtg0nhe1lijqIKempbV2MsdExmeLaThgcN7bBtsvDQ7lXeto/enb7lJ21Ta6sjDhFU1MkkeYWOUuJGi75K5GBySB1RHMYtoX5yImlrQHdIaHUaEaFdQlLH03L1JvIPR/VRVPq8dii5s/yodCl8mZ2JgcECl8mZ2I3D1qjZi8om/t9yOgR+Uzf2+5GTC1FFEGtUVaooDJWHGy04oD3p6JxsVwmorJ3OgrHUrJPnNi0Mc/tcNT7Um3uf7xoe96Co2bs2cOcwPLHWsXNJGh6wu7I9LvfdORO3Gw7ufjw1rpGTyGqffPMTcvvvzX3+tM4fQy0csss1Q+eSU3LnHUpwuTmHQbSQzOHRZu6yq6hbtJVWA1VQBIamMyHX5SBjy3sJF1eGYC2hq5K2onfU1UnjSPNyu29yC43NkpDrQu89S52IYMK2siqTVTROhByGN5aW337l0wMoshOdmOm4fenrY9OI7AqouLm41iDRwHfL/igz9zUlSwxVOK1s0R8aOSdzmu7QSu+SskqpjDAp6aOmpm07PFaLJCpwmoleXQ4pVwg/REpsPUuoVm6rUDgS9y76xzfCGI1NUxrswjkkJbfs3Lqy4eHYc6ip5XwNc3LdhsbJzI7Lmtpa/qVhGoi1zcH7nqPCodlDEHOO8kXJVVXc3Q1LzKI3Rv8A5mGx+5M4sAaJkZkezaShuVj3NdJoTYFrXOG6+g3BcBja1z3sMuITS0ga0ls84dJdoLh83oSbb7W4c1G/0WzcvcfSSWEk08jb3LXSFwv2JkdymGNl27os0gGjidQg09dU1c+J0rnvbFSyZGyROdtBa3Ft3E8/WgE1mtqittz29V//ACU7/wCL3oafucM0pe3Eaxl/otndb3oJ7l3g2GKVoP8AXd8VqLEK8Q4k6sdFG6nAAyyGzQC3UuOu7ebc9FnaVdRiUFK+YSRSQZ2SU2IvZEbmR1y5relcNI5dHrT6+BctHcKwWHCS8se975Ddznm5J6yn3Feew7FXVOMx0sT3CAUrHiNzi9zM1zq46uuCDc232XfPJXj6AM3jDsUUm8Ydn6qLlz/Km6VL5OzsRh+qWppCIGDZPdpvFre9G2p0+Rk9g+KZpH5TP/b7kZKRSnvmf5GT6PAcu1H2p8zJ93xTAqtC2p8zJ7B8VYlPmZPu+KZiKiVjbHzMvsHxQ3zHzMn3fFEFW92iWkepLOfMyfd8UpJUHzMn3fFXEWtPegk3WHTHzUn3fFY2xv8ANSfd8VSRmtL3BrRcuNgu4yNsELYm7mj2lcrC7vmdNsZLRiw3b/aug+Z/mJPa34qbd1UW9yqNumYoZe9zrbCT2t+K2ZXNbfYSWHW34phJX/RB1O/qWOCFtHm7jBJc9bfiptH+Yk9rfiqiWyVSyZH+Yf7W/FZMj7/MP9rfiqio0VG2DgXC44oZkff5iT2t+KraP8xJ7W/FANgD53M7tI61kWJ0FhdBBkDfmX88t239602R+/YSe1vxSnSaUx14joA5zInta7M4Ph2rt2mQaDN1n715ls+G0FM54gZtKyz8tTC+R0fRs65aNDmuQALdi9mc0gs6meR1lvxVGljeQX0ZNueX4qL/AOiR5TC6uR0NfUxskjDnMaySoicS9jWBpJDXA5ja+/ik31MBzOc6S/G0dUP/ALl7nJCxpb3s4A6nVvxUcynLSDSaW18X4qel6eQw2ooGU07aeOWGnDo3ybRjiZMrg54aCSdSNLnidUjXYrhzqZ9Oap0kUr26U1PIJgA4ubbMABq919dRoN917c0sD2kMgOvC7fil34Y1hzd4ZrcRlv71c18lZt57B3Uhx6WeFxlmqGB0z2sc1gfus0OAIFgNNbbrr0pKC1jGPzNpHNdzGW/vWto/zD/a34q8ZpO1TeMOz9VFUhJLbsLNNxt+ii5M/wAqp06XyZnYjhBpvJ4+xFTUHF5TP2t9yNdAi8pn7W+5GunA3dS6zdQlMI51ggyP0WnuS0j1UIOVyVeblFe66CVciKQr8QbQvja5rXbQE3dIG7radpv9yXrMabSAjvSV7gI3HkA7frbWwBOm+xTdXhtLWyNfUsMmTxQbdE8Duvf126ll+CUtdJDDNtHiwYQ05LjUXOUDg47kXYPtxuDDY208rY2OJZmMkwZq8E8eQHVuXXceIN0lNgdK8kulqCS0NuXAmwFuW/r369iadoLDhoFGO1NMG9yxM65DfWUUCzQEvfM5zuZsFc9i+k3qK1StCLJW7bhxWSBr1I2qMcVGuyvBIuAdys23qg3M4MG8pmKMttp0rnr1uiMj+kdOrkpHG1o3bvpFAqKjLdrb77FRO7qFldd0WapZFpvPJKOq5HuF9G31AQiAXAEkl2t1QDc2tyB43WtZhjIwuVtGke0tHSLydRfh1I0utO7xtw39oQiWOAIeXOJuN3R6kaSxicM1yQPes7+muLnOFitxVk8NrPzNHB2oUe1tzrbLvQiG2za2vu4rbq+022H++aepb0xkk/zil2va5xaDqPvS5aBYXNyLjqUa0ZtHEFvFTMJPR8rRpvGb2fqVFUjs+QkEHLx7VFw5/lWkdOm8nj9FGQKbyePsRk1BxeUz9rfcjb0CLymo9JvuRkwtZJUN1hxKqExI7rSkj0WS+qVkvdXCrJfdZJCohQBWlE1hrc1aD/K0lL2T+FNGaV/IAf57EsvRz2ck3oNruARX8lhou8dSmejakNmEjkgBuVoHUjS2yG536IdtOu6cFZyq8pV2uApbpE81W0K3cu1YOnAa/et20WXC9upCoweVvVxVBwY7OQNOIWiOlfghPaHFsTnZQ470zGlqwYbx3BdxKT1OhHG9r6pgxvcchyCPLYsDhoL8OtLuDWyF17gk2I4qsNfpnms3vew0430C3FDtLucWsZ9JxO/sWWxOMLn/AEbjVZAa8taXWA3kq736Zzq9nHNpowAGE8gSR60Rz27MksBAG5LuaA7ObA7gAbkhGePknaDdz61hZ6bygltNKSBeNx57krPC6E2c27L3BBVyjVagqP8AxS6tOgvwWslnabqly69iQLjcqa6zrgC533RKiEwyZeB3FCbvV9WM/VMTPD8hAt0dfaVFh4sG9ii87yflW89OpTeTx+ijcEKl8nZ6KMqigIvKaj0m/lCNYoUPlNT6TfyhGzWTDJDkGQkcEZz9EtLJvVQgnxzPF2C47Us+lqr+KPtBNxyXYCiZr8UcrD47c00tV/IPtBYMc7dHD71072Ss3jXSvlsOYSlw2U8PvXRw1wiikEmhcRbjokWu13pmJyX3Ll0v7chx88YN827qQhW07HEued2nRKDLpdc+oDrE3slcsvUP7eLsOqIpWDI64BvuU2jS4G5SOHkGn37k41gAzP6I6+K2jK4xppBvb3KPc1lmuNjvQ5ZOgQ0ZWpYuI6fPejZcYc2rCQb7upUSNdd6Aw3Wg7W3sWWfkuPo5I3a4tdClgc+QOBBAAWr6rWbrWf8jI7iHs5chjOXLw01QnRuYBGbZib6FOsAILiQA3U30usBkW3vlHAg3K6PF5Mr3YyyxgdW7IyOBu5ouUuwZnAEgA8U9MyN0xzNF+soYjiNug3drqVtMtRFxvJTm2AcQNNACb3CNJ8042G4KmtaSCBqNN6K5rSw3HtKztaSObKgFPvjisSWDdzWHRQgu+TGhA3lazOJuJNznO1c4k9ZVs3p6OGHK8iNvtWGxw20YPFvv4o5xPGgSfR7FFupDQ9oaLDL+qi4c/yrWenRpjanj9EIheQhU4+Qj9EIhYrigIpD3xU+k38oWjIUOJn8TU+m38oRDGbq5oBukdbelpXm29NOi60vLFpvVQqzC75Ia80Zr0mXGKw5KbU3uCssvaoeDgeNuSXmG8+1U2UOChdm0J6XAnj1FZ1cLF1nJmFxLhbVc+oeY32tbtW6KaR145DctN2u4OCeE3V7dOXK2xJuVz6gTTPMUEZc924Deum2Ayx5nEMjG9xXMxPEpI43U2GN2QcLPqDvPZyV5ZSQp36MULIcPLoJZ2z1e90bTcM7U0yOWpkzP1t7Grj9z2EuoA+oqnFgmNxnPTkPZyXafUF3QYMkY4Dj2qsbudM6koZG1wac3MpDP3vKcwzRvFteCbc75M9qXkaJGFp4qr0SREtNj6lpztSgUsgZM2OcEhp16wt4mXUjxsx8nILtfz6ljl2i0Zj8w6xvC5eK90tFhM4ge180trubHbocr34pDEsekpIdjTa1BFi+18g59q8hMS9xc5xLibkk6k9a87yeWY5axb+PDlN16qXu9pGxWfSVJaDu6KCO7+gY4ONFU2bqNW/FeOkI3JZzcztToOC2x+r8uhfDi97J/qJh07xI3D6tvbl+Kwf9QsNicM1FVG+8Atv714Rz8rbjjdZptZx0S++tlX8vyyex9jC19GZ3e0MkdzQ1YJ3CzRp7Vt/+oWHGMtFDV/h+K8Gczb31coRpqbrH+X5Ws8GD2b+7mheM3edTYaa5fihHu8oQ4u70qr8+j8V48jRBe0LSfW+Ur9Pg9qP9SMLip5IhQ1mYnf0fihN/1Fw0Nv3jV25dH4rw8kLXuzG4I4jihPaNABYALWfV+RnfBi+t4NjkGP0RqqeKWJkbzHllte4APDtUXF/09IOATW/3TvytUVcrl3WVmrp9ApwdhHp9EIvLRLwSEQsH/EIhkNgt5AzB5TVem38oRrDklIHu74qdfpt/KEfM7mnoNOAS0oajkm3NAkJtuKcJz6yMsY2VurToeopNs2U5TuO5dY2czK8dBwsQuHXRuppSw7t7TzCiqMtmLXI4la9mYG/Bcbvg/SduRqad5fZgLgTqBwUWHKaqJWvbkkbx0k4jq7EyymFDFG+rlZtHG7ImG57VzXw1zqsPLWiAixB5c7c0WClbSYlH3xMBG4XbKRe45do4KphZNq5O1tH4izLawG5jdyBVvp8OaHCNs9QPFB8RnxKbZKzI5lO0sYd5+k7rK5OIt+TPUo8lvHpeE3dVy8Prpqjugc+oldI97SLnh1DkvR36S8XTS7LH4et1l7G+qr6a7wHlmstNk/JHtQwVd/k3doS5mLniOFpe/q4LaxiI6SmYJO+L3LegRqQexciqxFz3MoZanZG147i7WO4ZlMXrfBuaKEGevLcziBdsDf5jzPuXGo8OqsSDZI9RK47SR2uXmTzXlfVefj/WXtfjw5d309JRVxnzU0rdlVQ6SRX07W8wuR3QYMKtrqmmaG1IHSbwk/ddaXCmGkgjgldHPTC0U51PYeYKJMyzBnIvuJGgJ6l4vLV3G+Nm3yuYWJB0O434II1Nr8V7DH8Djqi6pgu2cavbwePivJ7FhNun6wvS8Xkxzx2dllDLgdBY27VezJ3gADdqUeOC3i6g7rI4p3M3+OeYHR/dVcoqYsRFreiADJvNhoP3WyXdV+xW2mYBd1vVouhhkFJVRzUcrg2V9jE8/Rte/b2LDLKTtrI5pcbXuPYhPc7U6HnouvQ0kUdTNSV7WbdtiwFpAc3mNUzJRsjBko9kyWxBDmkteDvabnin9yS6HHbh1lHNRhj5dm6ORuYPbq0+tIV1JPFCyZ0bmwybufr5LsxTup7ROYZqMyDNAQS6CThfmPeuw6iEzHCUB4cLOaeIVfduHsuGzH+nl/AE1/8AdO/K1RdDuWw8YbhssTXFzHzue2+8CwFvuUXpYXljLHnZzWVj1MQOybodwWjfrWIj8k3sWiV3SdEDE87ep9MflCNtHDigRfP1Ppt/KEQp6AhldbegySO5rV0KQFLoUzDAJIWufqDwSmLUPfFPZoAe3Vp6+S6dI29HF2fqla+vipwYY2beod0Q3gD1qLoPEPkLSQ7Qg2IKcNQ5tKBTxvZETYyFvjHtXS7wnqJjUUmzie7ozyOAcWEfydfWmqakZTuczwjJNUEEDayZrHnlus6Nh4a1zYGwVZySO1ia49IjrCYdStq4nUsmhvdjv5XLjTUk0NVs5pD31I7PT1V9Hu/kI4cgutQ1gxKjFTGMs0Zyys/lKvDKX+p/9EonPBMMwyyx6O60HEW/JuXQmZ31EKqMWmj0eB9IJStGemElx076BRnj/WtsMu3hKyTY4vA++gkC9wZWtaHudYELwuLQunrmshu6RrtGtFyTyXuMNw6WWKKWsF5MovHwb2/BZfR3+tlX9TNWVcUctaxwbeOIkdLn8VqoqqbC5Y6Jl2zzAkEi+7mefUke6juoiwNhoaItkxBw1O8QDmRz5D1rl4VOMQwmOGue6QvvaVx6QN+fNY/W/VXDHjg58cd911ammFRq05KhmrJbatPXzB5JLCrd8F9KQxhvtoSbAEcQmKeeSmlbRVbruPzU3CTqPWh1tFJHN39R3bK3V7B9JeFN3qt58CN7oaVwPyT7jfqs1L4sQhyyOyRuN4ZRvif/ACu9a508ArWd80gIkveSEc+Y+CuAV0J6FPLIDpIxzSWvH+cU7jJ3FahHGK2tjAop4skrR8o7eHjgR1bv83cUiM3aGHXjfUf58V6GuFfOYonQzBrSRCHtu+3K9tdEi6mrNuIjHLtrXa3Kc3aFphnJNNpNkYmMjb82dpxI+j+61s25WjLa3jEbz/mv3J9uHVwN+9pwTxyG6HJBOwOc5kjRGcriQegeR5I+5KuSFX7Ms6MYDrb+CC4MztysIAN736XaD7F0u8q5wDhBO4HUENOqwaCuN/4WfXf0DqiZq6Elq4arB45qlpbJDMGNmb4wNvG92iM7FIYYP4qF+1FrObYiRvBw9mqfwSgcaCeOrheM79zwQbW4Ln1VC7Dnmnqc0lHKTs5gekw9v+XUyy3SOXemGYpQTVGZkJhlcMgme0EDkDqiuikErqylj/iGgd8UxN8zf5mpCtw2Wie1zn7SOQXZM29ndXUUemxWSGAB5cZYR8i8HUf8TzC0s63D7vceg7nKs1tBLMRlG2Ia3kLBRV3NyGagmlcGtMk7nENFhuCi9jw/4487y/nXpIvm26cOS2RuVQsdsm9HhyWix2mi75ekF4h/EVGv0x+UItutCiadvU6fTH5Qtm4VBeVYc2/BXqsnNwKQafNOYWU0LgwAdJw8ZXSYe2CQSyfRBIHE6K2ZKZraiRxB3taN7k1HM2eJs7dx3jlzCyvsy1ZMKfDS+NgY3xcreAO9eExKi7wlsyV2UkvjkserjzX0B4jMbqeYAxuGh5hcmq7nKSqpu95qk7MOzsOgLT2rOhzpZn1vcuyaR15BqH7tQbX/AFSsFfNhvdHJUAtMcpBmZmtcOAJ9YJNljFayLYHDoGhsFN86dwFtzQeZ+JXmZ6t885ldeSaQ33byp/fSo+rwTxNdt43tER1BJ0ISlTAazbClOza8WudwXF7nqCrkjjdWOcGt8SK+4H3e9epvDSxAyOaxo0A4BdOt+yl1enLw/AoMPu9o6TvGld4x7OQW6zFHSUj4cIkj2jrtE51azrH8x+5eX7se6CU1r8L2oZGW6tjN8wO4uI9y5EWMVkbWxxVdmNAAIGjeqy8rzeTPC5Tx/tvlOUlyvYVR3O1sFS/b1TZJHHM6Q3JeTxuuzhlNIyGOlFnOG8jdvSRr6ipgMclUcu8OsbtK58WPYgyn2UM+yBPSIF3O9a4LM/J1S0926ljkhbFNmlaNdeaNsyWkXdqLDVeYoMdqaq0b6gNkA5Gzl0PCE0URlmnytHtcepZcLLqiYnqaigwylMsrjmPjO5nkESiiqZ5DVSudFF/44hx6yubTmsrpW1VW+0Y+aiI09aelrKobpwOuyeePRzG2uPU1FVUZdrO52R12EaFpXRp5W4vE2KZxjrIelHM0WPb8QlnRAtvZo9qqFz6d5kiLWPtbS9yFz5Tp0cdzp2KSpke809S3JUsGoG545hXPRsmlEt8rrZXi1xI3kR+vBc18882R0krS5hu07iFHV1b5+3q/ZZ6T9u/p1IoWU8LYYm5WMFgLrdiuG/EK4AnvgGx3W3/cs+EK3/ci3o/slwH28nctdcvuhjzYfGPrB7ilhiVcRfb+rKL+5ZnqKipjDJpQ4A3Fxax9i2wx1dnPHZdlKOobFG6kqmbSlk3ji08x1pOvoRSTmNsolY4ZmOHEdfWnHQC18wHUboD4ujfMD1a6LpjX1dx2u5cZcLePrj7goidzzcmHvFwflTu7AovY8P8AjjzfL+desgv3uz0R7lbrqU/k8foj3LZC7JUEoh/EVOn0x+UIuS/BVC35ep/qD8oRrFVKADHqps0XVUbpgnNA5xuAT6lVI40spzF2zf4wyHQ810QwGIE+9AkijsbkD+5ZX2YkjOiR4zTrYi4XKraeLJrA4kG4BL8t+wLq074yNlnabeL0r6clcsTHDUga78yzsN4jGMNqcWZGYXZZGHLshGWs149vXvTOGdz8OGsGW89Qd8hYfuHBeiFIwyXYQNRc593+aprIwDKywF/5tSr8fzU1wxX+D3GmDHS1LjcgNNm8rn4Lz/dd3XnB4jSRObNicreI0pweJHPkPb1t93HdTTYA0UdE4SYq5vjA5hA3m7r32HrXyZznySukle+SR5zPc43LjzKeXk+DnRyCV0khkc8ue4kucdSSupC82AsQFxqY5naXsNwC6gNrXJ13acFweSNMa6bJRG0tabgcea5TZOtNNsYi9pdZo6XEtXLaSCLg6HVY4Y+12urHLZzSCQRuIO5eiwmWPEapvfb7vYOhHawcV5ena+VwbGxz3cgF6PC8He9zXzzZBe4azV3t4KM8ZsSvV5bhBnZoEzEHZbOOa24nf61mZui588V40m6LRYEXUmyy7VbYr8FxZ9OnEu2LTcqfFpuTwisNyp0d1lyX05ToljYLouh13LJh6lUyGiAh1WtinNlqrEWq1wpVz3w9SA6AkHRdZ0PUhOhBC6cUWjYKzJROH1h9wUR6BmSAj/kVF7Hh/wAced5Pzr0VN5PH6IW3LFN5NH6IWyuuJLQ/P1X9Ufkai360KD5+r/qj8jURVAouPNTXmooqC9bWzGyw9pI3n2ogUI0SBRzCDcEgjrQnvm86/wC0m3NQHsTmk0DayjTaPt2lcPui7qXYTG+mpZs1cYy4XNxEOZ6+QXSrqsU4fHEQZmszEW3N4ntXz6op3xYjNHP03yB3yjienfW9+K5PP9TMbwx9qww33Xk5nySzvlmkfLJI4ue97iXOJ5lCu5pzX1B33umZgxrnAgXvzS7nsby7EpdwxYpQJC4ixPAaBOh7n6OJtbWx3pKGJspuwDN/KSn2NDWNa4Am3NRlpUHp5n073PjFwR0mA3zDq/ULUFG0Fm0OdoOuV3HrWoom3uW8RbpAXPx96YgDISXhtw65czTpf8gOB5hcuWWvTQWgh2EznhziSbDW1ua9VQG9gLgcFxKSKB2UxjMCNCHA3Xfo2tZawXPct5G7EXihVNrZHpI7PjLrFjwfbyQ6qIxPA+idWlXnjeOxKwG3C21gCpguAjsavL8rqwvSgxR0aMGqy1cxciZj13LJjTZYqyBVFTMoI+paEaY2asMW+AuZUxdSrYC25O7NWIepd3jxZ3IpGzI2yiNM3K4DqUXr+Oawjiz/ACrq0w/ho/RCIRuWabyaP0QiEXsumJJwfP1X9UfkajFYp2fL1f8AWH5GopaqgDPYqB6kTIVWRUEHYrVgLQakAy24QnsTWVU5nUlsnPfGP5R22QHRM3GNpA3Xaui+NAfGnJCpB1PTnxqeE9sYWDRUZ30dOe2JvwTjo1gtV6iSveVGN1FTa/VN+CjqOjcbmjpyeZib8EzlCrL1o1Bss6ipCLGjpyP6TfghOoaTNfvOnuDe+ybv57k6R1rOUI44/A3SYoaZujKWBut+jGAtCBgJsxvqCZICzZPjj8DdCGe1g425XVuL32D3F1t1zdbI7FRCfHH4LdY1G42V5njc53tV2VEKb48L+oN35XtJP53e1TaSecf9pUol9rD/AFh7qzI/+d3tWTJJ5x3tUKyUvteP/WDd+UMsnnHe1YM0w3Sv9qsrJCc8eHxBuqNRP55/2lYqKi/z0n2lMl1pkeu5Pjj8HumGOe5t3uLjzKi2W5QB1KLmz/Kqdin8nj9Ee5FvuQqcfw8foj3IvJUZemPy9X/WH5GJhAph8tV/1v8A0ajgJyhVleVXZWE9hQYrDVoK0thmyhC0okAi26G9l0wQslqqUib40Exp9zEJzOpXKmwkWLJamnR9SGWKtloAtVFiMWLJbbgmQWQc1WTVEsqsgBlgWCzrRSslMg9n1qsiISsk9SZMZOtVk61vMOSrMOSDZydayY+tEv1KxbkkAdl1rQhujADkiNaOSNnoAU6Kyn1R2tHJEaOpTs5KWqWZHtH/ABCi3X/PN9AKLly9rdGm8nj9AI3JCp/Jo/QHuRRwVmXpvnqv+sPyNTFkCm+eq/6//o1MICWUsrUQFKworsgKUe4MYXm9gLmwufYpZRAAhmfJVSNNwwNHQdvB/wDzt9Spz5u/2RZ8rHNLgAL3toRf1j2Lfezdo2QuLi03N+J4FbEdptpf6OUi29BFX1MhrXMYRs2hrbb7uJ//AEb94RKuQxRkhrt41FlbqNj5Hvc913WItoWkX+K3UQCop3QucQHCxNt6rZATytibGHavlNmADef0WJn7IMJYekbEcQmpoBM1rXOcADrlNrrMlKyVwMhJa1tg2/3pygrIQ2AzZdLX01WW9PN0SMptrx0TTqZpYGXOQbm/5yUEDWFxaD0jc3JKqUtFDGsFidMawWdSey0TLCsGMpws6lks6lWy0TMZVbIpvZ9SvZHkjY0S2RViE8k6IepaEKWzkJCErQgKcEQWhGls9FWwHkiCApgNWgEgAIiryEFGKyUHsjiAtO30AorxLyhvoD9VFz5ezP03k8foD3Iw4INN5PH6I9yOOCuGBTfPVf8AWH5GphL0w+Wq/wCt/wCjUwgIrUUQEsoorQFK7KKICWUsrVoJmymXqWlEgzlCmULSiAxkCrZhEUsnsBGMLOyHJGURs9AGIclRjHJHsqIVci0Bs+pVkRyAqyhPkWgcqlkXKFLNRsBWVItmqiGp7ASl0QhqqzUbAZJWSSiENVFrUwRxH59noD9VFMSt3w238g/VRc+Xs1x4gY2Nbs72FvGRBitv/Df+79lFEt0Mx4ls3yu2N9o/N427QDl1Lfhf6j8f7KKJ7oX4X+o/H+ynhf6j8f7KKI3Qnhf6j8f7KeF/qPx/sooluhPC/wBR+P8AZX4Y/wCv+P8AZRRG6E8Mj/b/AI/2U8M/9f8AH+yiiN0J4Z+o/H+ynhj6j8f7KKI3Qrwx9R+P9lfhj6j8f7KKI3Qnhn6j8f7KeGf+v+P9lFEboTwz/wBf8f7KeGP+v+P9lFEboTwx9R+P9lXhj6j8f7KKI3Qnhf6j8f7KvC31H4/2UUT3Qnhb6j8f7KvCv1H4v2UURyoV4U+p/F+yrwn9T+L9lFEcqE8JfVfi/ZV4R+q/F+yiifPIK8IfVfi/ZTv/AOq/EoojnkAKifbvDsuWzbWvdRRRSH//2Q=="/>
          <p:cNvSpPr>
            <a:spLocks noChangeAspect="1" noChangeArrowheads="1"/>
          </p:cNvSpPr>
          <p:nvPr/>
        </p:nvSpPr>
        <p:spPr bwMode="auto">
          <a:xfrm>
            <a:off x="180975" y="-212725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endParaRPr lang="zh-CN" altLang="en-US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62000" y="228600"/>
            <a:ext cx="3962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教材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>
          <a:xfrm>
            <a:off x="357908" y="1280318"/>
            <a:ext cx="8382000" cy="2072481"/>
          </a:xfrm>
        </p:spPr>
        <p:txBody>
          <a:bodyPr/>
          <a:lstStyle/>
          <a:p>
            <a:pPr lvl="0" defTabSz="68580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ea typeface="SimSun" panose="02010600030101010101" pitchFamily="2" charset="-122"/>
                <a:cs typeface="Times New Roman" panose="02020503050405090304" pitchFamily="18" charset="0"/>
              </a:rPr>
              <a:t>吴镇扬，张毅锋，戚晨皓，韩宁．</a:t>
            </a:r>
            <a:endParaRPr lang="en-US" altLang="zh-CN" b="1" dirty="0">
              <a:solidFill>
                <a:prstClr val="black"/>
              </a:solidFill>
              <a:latin typeface="Times New Roman" panose="02020503050405090304" pitchFamily="18" charset="0"/>
              <a:ea typeface="SimSun" panose="02010600030101010101" pitchFamily="2" charset="-122"/>
              <a:cs typeface="Times New Roman" panose="02020503050405090304" pitchFamily="18" charset="0"/>
            </a:endParaRPr>
          </a:p>
          <a:p>
            <a:pPr marL="0" lvl="0" indent="0" defTabSz="68580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>
                <a:solidFill>
                  <a:prstClr val="black"/>
                </a:solidFill>
                <a:latin typeface="Times New Roman" panose="02020503050405090304" pitchFamily="18" charset="0"/>
                <a:ea typeface="SimSun" panose="02010600030101010101" pitchFamily="2" charset="-122"/>
                <a:cs typeface="Times New Roman" panose="02020503050405090304" pitchFamily="18" charset="0"/>
              </a:rPr>
              <a:t>   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ea typeface="SimSun" panose="02010600030101010101" pitchFamily="2" charset="-122"/>
                <a:cs typeface="Times New Roman" panose="02020503050405090304" pitchFamily="18" charset="0"/>
              </a:rPr>
              <a:t>数字信号处理（第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503050405090304" pitchFamily="18" charset="0"/>
                <a:ea typeface="SimSun" panose="02010600030101010101" pitchFamily="2" charset="-122"/>
                <a:cs typeface="Times New Roman" panose="02020503050405090304" pitchFamily="18" charset="0"/>
              </a:rPr>
              <a:t>4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ea typeface="SimSun" panose="02010600030101010101" pitchFamily="2" charset="-122"/>
                <a:cs typeface="Times New Roman" panose="02020503050405090304" pitchFamily="18" charset="0"/>
              </a:rPr>
              <a:t>版）．北京：高等教育</a:t>
            </a:r>
            <a:endParaRPr lang="en-US" altLang="zh-CN" b="1" dirty="0">
              <a:solidFill>
                <a:prstClr val="black"/>
              </a:solidFill>
              <a:latin typeface="Times New Roman" panose="02020503050405090304" pitchFamily="18" charset="0"/>
              <a:ea typeface="SimSun" panose="02010600030101010101" pitchFamily="2" charset="-122"/>
              <a:cs typeface="Times New Roman" panose="02020503050405090304" pitchFamily="18" charset="0"/>
            </a:endParaRPr>
          </a:p>
          <a:p>
            <a:pPr marL="0" lvl="0" indent="0" defTabSz="685800" fontAlgn="auto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b="1" dirty="0">
                <a:solidFill>
                  <a:prstClr val="black"/>
                </a:solidFill>
                <a:latin typeface="Times New Roman" panose="02020503050405090304" pitchFamily="18" charset="0"/>
                <a:ea typeface="SimSun" panose="02010600030101010101" pitchFamily="2" charset="-122"/>
                <a:cs typeface="Times New Roman" panose="02020503050405090304" pitchFamily="18" charset="0"/>
              </a:rPr>
              <a:t>    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ea typeface="SimSun" panose="02010600030101010101" pitchFamily="2" charset="-122"/>
                <a:cs typeface="Times New Roman" panose="02020503050405090304" pitchFamily="18" charset="0"/>
              </a:rPr>
              <a:t>出版社，</a:t>
            </a:r>
            <a:r>
              <a:rPr lang="en-US" altLang="zh-CN" b="1" dirty="0">
                <a:solidFill>
                  <a:prstClr val="black"/>
                </a:solidFill>
                <a:latin typeface="Times New Roman" panose="02020503050405090304" pitchFamily="18" charset="0"/>
                <a:ea typeface="SimSun" panose="02010600030101010101" pitchFamily="2" charset="-122"/>
                <a:cs typeface="Times New Roman" panose="02020503050405090304" pitchFamily="18" charset="0"/>
              </a:rPr>
              <a:t>2024</a:t>
            </a:r>
            <a:r>
              <a:rPr lang="zh-CN" altLang="en-US" b="1" dirty="0">
                <a:solidFill>
                  <a:prstClr val="black"/>
                </a:solidFill>
                <a:latin typeface="Times New Roman" panose="02020503050405090304" pitchFamily="18" charset="0"/>
                <a:ea typeface="SimSun" panose="02010600030101010101" pitchFamily="2" charset="-122"/>
                <a:cs typeface="Times New Roman" panose="02020503050405090304" pitchFamily="18" charset="0"/>
              </a:rPr>
              <a:t>．</a:t>
            </a:r>
            <a:endParaRPr lang="zh-CN" altLang="en-US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81600" y="2851771"/>
            <a:ext cx="2667000" cy="36728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4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990600"/>
            <a:ext cx="8229600" cy="5410200"/>
          </a:xfrm>
        </p:spPr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zh-CN" sz="2800" b="1" dirty="0">
                <a:latin typeface="+mj-lt"/>
              </a:rPr>
              <a:t>陈后金，薛健，胡健，李艳凤．数字信号处理（第</a:t>
            </a:r>
            <a:r>
              <a:rPr lang="en-US" altLang="zh-CN" sz="2800" b="1" dirty="0">
                <a:latin typeface="+mj-lt"/>
              </a:rPr>
              <a:t>3</a:t>
            </a:r>
            <a:r>
              <a:rPr lang="zh-CN" altLang="zh-CN" sz="2800" b="1" dirty="0">
                <a:latin typeface="+mj-lt"/>
              </a:rPr>
              <a:t>版）．北京：高等教育出版社，</a:t>
            </a:r>
            <a:r>
              <a:rPr lang="en-US" altLang="zh-CN" sz="2800" b="1" dirty="0">
                <a:latin typeface="+mj-lt"/>
              </a:rPr>
              <a:t>2018.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en-US" sz="2800" b="1" dirty="0">
                <a:latin typeface="+mj-lt"/>
              </a:rPr>
              <a:t>高西全，丁玉美．数字信号处理（第五版）．</a:t>
            </a:r>
            <a:endParaRPr lang="en-US" altLang="zh-CN" sz="2800" b="1" dirty="0">
              <a:latin typeface="+mj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latin typeface="+mj-lt"/>
              </a:rPr>
              <a:t>    </a:t>
            </a:r>
            <a:r>
              <a:rPr lang="zh-CN" altLang="en-US" sz="2800" b="1" dirty="0">
                <a:latin typeface="+mj-lt"/>
              </a:rPr>
              <a:t>西安：西安电子科技大学出版社，</a:t>
            </a:r>
            <a:r>
              <a:rPr lang="en-US" altLang="zh-CN" sz="2800" b="1" dirty="0">
                <a:latin typeface="+mj-lt"/>
              </a:rPr>
              <a:t>2022.</a:t>
            </a:r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zh-CN" altLang="zh-CN" sz="2800" b="1" dirty="0">
                <a:latin typeface="+mj-lt"/>
              </a:rPr>
              <a:t>奥本海姆</a:t>
            </a:r>
            <a:r>
              <a:rPr lang="en-US" altLang="zh-CN" sz="2800" b="1" dirty="0">
                <a:latin typeface="+mj-lt"/>
              </a:rPr>
              <a:t>(Oppenheim</a:t>
            </a:r>
            <a:r>
              <a:rPr lang="zh-CN" altLang="zh-CN" sz="2800" b="1" dirty="0">
                <a:latin typeface="+mj-lt"/>
              </a:rPr>
              <a:t>，</a:t>
            </a:r>
            <a:r>
              <a:rPr lang="en-US" altLang="zh-CN" sz="2800" b="1" dirty="0">
                <a:latin typeface="+mj-lt"/>
              </a:rPr>
              <a:t>A.V.)</a:t>
            </a:r>
            <a:r>
              <a:rPr lang="zh-CN" altLang="zh-CN" sz="2800" b="1" dirty="0">
                <a:latin typeface="+mj-lt"/>
              </a:rPr>
              <a:t>等著．离散时间信号处理（第三版）．黄建国，刘树棠，张国梅译．</a:t>
            </a:r>
            <a:endParaRPr lang="en-US" altLang="zh-CN" sz="2800" b="1" dirty="0">
              <a:latin typeface="+mj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800" b="1" dirty="0">
                <a:latin typeface="+mj-lt"/>
              </a:rPr>
              <a:t>    </a:t>
            </a:r>
            <a:r>
              <a:rPr lang="zh-CN" altLang="zh-CN" sz="2800" b="1" dirty="0">
                <a:latin typeface="+mj-lt"/>
              </a:rPr>
              <a:t>北京：电子工业出版社，</a:t>
            </a:r>
            <a:r>
              <a:rPr lang="en-US" altLang="zh-CN" sz="2800" b="1" dirty="0">
                <a:latin typeface="+mj-lt"/>
              </a:rPr>
              <a:t>2015</a:t>
            </a:r>
            <a:r>
              <a:rPr lang="zh-CN" altLang="zh-CN" sz="2800" b="1" dirty="0">
                <a:latin typeface="+mj-lt"/>
              </a:rPr>
              <a:t>．</a:t>
            </a:r>
            <a:endParaRPr lang="zh-CN" altLang="en-US" sz="2800" b="1" dirty="0">
              <a:latin typeface="+mj-lt"/>
            </a:endParaRP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endParaRPr lang="zh-CN" altLang="en-US" sz="2800" b="1" dirty="0">
              <a:latin typeface="+mj-lt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62000" y="228600"/>
            <a:ext cx="39624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参考书</a:t>
            </a:r>
            <a:endParaRPr lang="zh-CN" altLang="en-US" sz="3200" b="1" i="0" dirty="0">
              <a:solidFill>
                <a:srgbClr val="993300"/>
              </a:solidFill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04800" y="1219200"/>
            <a:ext cx="8686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/>
              <a:t>https://www.icourse163.org/course/NJUPT-1002144009</a:t>
            </a:r>
          </a:p>
        </p:txBody>
      </p:sp>
      <p:sp>
        <p:nvSpPr>
          <p:cNvPr id="5" name="矩形 4"/>
          <p:cNvSpPr/>
          <p:nvPr/>
        </p:nvSpPr>
        <p:spPr>
          <a:xfrm>
            <a:off x="381000" y="2667000"/>
            <a:ext cx="2776722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rgbClr val="2A53B2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中国大学</a:t>
            </a:r>
            <a:r>
              <a:rPr lang="en-US" altLang="zh-CN" sz="2800" b="1" dirty="0">
                <a:solidFill>
                  <a:srgbClr val="2A53B2"/>
                </a:solidFill>
                <a:latin typeface="Times New Roman" panose="02020503050405090304" pitchFamily="18" charset="0"/>
                <a:ea typeface="微软雅黑" panose="020B0503020204020204" pitchFamily="34" charset="-122"/>
                <a:cs typeface="Times New Roman" panose="02020503050405090304" pitchFamily="18" charset="0"/>
              </a:rPr>
              <a:t>MOOC</a:t>
            </a:r>
          </a:p>
          <a:p>
            <a:pPr algn="ctr"/>
            <a:r>
              <a:rPr lang="zh-CN" altLang="en-US" sz="2800" b="1" dirty="0"/>
              <a:t>移动端</a:t>
            </a:r>
            <a:r>
              <a:rPr lang="en-US" altLang="zh-CN" sz="2800" b="1" dirty="0"/>
              <a:t>app</a:t>
            </a:r>
            <a:endParaRPr lang="zh-CN" altLang="en-US" sz="2800" b="1" dirty="0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686584" y="196863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MOOC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课程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290C695-28B1-F527-5AE4-C23969E374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1254" y="2514599"/>
            <a:ext cx="4576945" cy="1988175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9958014-A337-7702-0C78-520055A38B14}"/>
              </a:ext>
            </a:extLst>
          </p:cNvPr>
          <p:cNvSpPr txBox="1"/>
          <p:nvPr/>
        </p:nvSpPr>
        <p:spPr>
          <a:xfrm>
            <a:off x="457200" y="490568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800" b="1" dirty="0">
                <a:latin typeface="Times New Roman" panose="02020503050405090304" pitchFamily="18" charset="0"/>
              </a:rPr>
              <a:t>QQ</a:t>
            </a:r>
            <a:r>
              <a:rPr lang="zh-CN" altLang="en-US" sz="2800" b="1" dirty="0">
                <a:latin typeface="Times New Roman" panose="02020503050405090304" pitchFamily="18" charset="0"/>
              </a:rPr>
              <a:t>学习答疑群</a:t>
            </a:r>
            <a:r>
              <a:rPr lang="en-US" altLang="zh-CN" sz="2800" b="1" dirty="0">
                <a:latin typeface="Times New Roman" panose="02020503050405090304" pitchFamily="18" charset="0"/>
              </a:rPr>
              <a:t>: </a:t>
            </a:r>
            <a:r>
              <a:rPr lang="en-US" altLang="zh-CN" b="0" i="0" dirty="0">
                <a:effectLst/>
                <a:latin typeface="Color Emoji"/>
              </a:rPr>
              <a:t>1031621880</a:t>
            </a:r>
            <a:r>
              <a:rPr lang="en-US" altLang="zh-CN" sz="2800" b="1" dirty="0">
                <a:latin typeface="Times New Roman" panose="02020503050405090304" pitchFamily="18" charset="0"/>
              </a:rPr>
              <a:t>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78171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560389" y="1057276"/>
            <a:ext cx="7669212" cy="2286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zh-CN" altLang="en-US" b="1" dirty="0">
                <a:latin typeface="+mn-ea"/>
                <a:ea typeface="+mn-ea"/>
              </a:rPr>
              <a:t>从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模拟</a:t>
            </a:r>
            <a:r>
              <a:rPr lang="zh-CN" altLang="en-US" b="1" dirty="0">
                <a:latin typeface="+mn-ea"/>
                <a:ea typeface="+mn-ea"/>
              </a:rPr>
              <a:t>到</a:t>
            </a: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数字</a:t>
            </a:r>
            <a:r>
              <a:rPr lang="zh-CN" altLang="en-US" b="1" dirty="0">
                <a:latin typeface="+mn-ea"/>
                <a:ea typeface="+mn-ea"/>
              </a:rPr>
              <a:t>是信息技术革命的主要特征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  <a:defRPr/>
            </a:pPr>
            <a:endParaRPr lang="zh-CN" altLang="en-US" b="1" dirty="0">
              <a:solidFill>
                <a:srgbClr val="FF0000"/>
              </a:solidFill>
              <a:ea typeface="楷体_GB2312" pitchFamily="49" charset="-122"/>
            </a:endParaRP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  <a:defRPr/>
            </a:pPr>
            <a:r>
              <a:rPr lang="zh-CN" altLang="en-US" b="1" dirty="0">
                <a:latin typeface="+mn-ea"/>
                <a:ea typeface="+mn-ea"/>
              </a:rPr>
              <a:t>信息化的基础是数字化，数字化的核心技术就是数字信号处理，数字信号处理是数字化大厦的基石。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  <a:defRPr/>
            </a:pPr>
            <a:endParaRPr lang="zh-CN" altLang="en-US" sz="2400" dirty="0"/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  <a:defRPr/>
            </a:pPr>
            <a:endParaRPr lang="zh-CN" altLang="en-US" sz="2400" dirty="0"/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  <a:defRPr/>
            </a:pPr>
            <a:endParaRPr lang="zh-CN" altLang="en-US" sz="2000" dirty="0"/>
          </a:p>
        </p:txBody>
      </p:sp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685800" y="228600"/>
            <a:ext cx="43037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 dirty="0">
                <a:latin typeface="楷体" panose="02010609060101010101" pitchFamily="49" charset="-122"/>
                <a:ea typeface="楷体_GB2312"/>
              </a:rPr>
              <a:t>数字信号处理的重要性</a:t>
            </a:r>
          </a:p>
        </p:txBody>
      </p:sp>
      <p:sp>
        <p:nvSpPr>
          <p:cNvPr id="6" name="矩形 5"/>
          <p:cNvSpPr/>
          <p:nvPr/>
        </p:nvSpPr>
        <p:spPr>
          <a:xfrm>
            <a:off x="914400" y="3962400"/>
            <a:ext cx="7453312" cy="523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en-US" altLang="zh-CN" b="1" dirty="0" err="1">
                <a:solidFill>
                  <a:srgbClr val="FF0000"/>
                </a:solidFill>
              </a:rPr>
              <a:t>Digtal</a:t>
            </a:r>
            <a:r>
              <a:rPr lang="en-US" altLang="zh-CN" b="1" dirty="0">
                <a:solidFill>
                  <a:srgbClr val="FF0000"/>
                </a:solidFill>
              </a:rPr>
              <a:t>  Signal Processing -- DSP</a:t>
            </a:r>
            <a:r>
              <a:rPr lang="en-US" altLang="zh-CN" sz="2400" b="1" dirty="0">
                <a:latin typeface="+mn-ea"/>
                <a:ea typeface="+mn-ea"/>
              </a:rPr>
              <a:t>(</a:t>
            </a:r>
            <a:r>
              <a:rPr lang="zh-CN" altLang="en-US" sz="2400" b="1" dirty="0">
                <a:latin typeface="+mn-ea"/>
                <a:ea typeface="+mn-ea"/>
              </a:rPr>
              <a:t>本课程</a:t>
            </a:r>
            <a:r>
              <a:rPr lang="en-US" altLang="zh-CN" sz="2400" b="1" dirty="0">
                <a:latin typeface="+mn-ea"/>
                <a:ea typeface="+mn-ea"/>
              </a:rPr>
              <a:t>)</a:t>
            </a:r>
          </a:p>
        </p:txBody>
      </p:sp>
      <p:sp>
        <p:nvSpPr>
          <p:cNvPr id="7" name="矩形 3"/>
          <p:cNvSpPr>
            <a:spLocks noChangeArrowheads="1"/>
          </p:cNvSpPr>
          <p:nvPr/>
        </p:nvSpPr>
        <p:spPr bwMode="auto">
          <a:xfrm>
            <a:off x="914400" y="4897438"/>
            <a:ext cx="594360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dirty="0" err="1">
                <a:solidFill>
                  <a:srgbClr val="FF0000"/>
                </a:solidFill>
              </a:rPr>
              <a:t>Digtal</a:t>
            </a:r>
            <a:r>
              <a:rPr lang="en-US" altLang="zh-CN" b="1" dirty="0">
                <a:solidFill>
                  <a:srgbClr val="FF0000"/>
                </a:solidFill>
              </a:rPr>
              <a:t>  Signal Processor -- DSP</a:t>
            </a:r>
          </a:p>
        </p:txBody>
      </p:sp>
      <p:pic>
        <p:nvPicPr>
          <p:cNvPr id="8" name="Picture 4" descr="dsp芯片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9312" y="4648200"/>
            <a:ext cx="15240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8641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绪论</a:t>
            </a:r>
          </a:p>
        </p:txBody>
      </p:sp>
      <p:sp>
        <p:nvSpPr>
          <p:cNvPr id="4" name="矩形 3"/>
          <p:cNvSpPr/>
          <p:nvPr/>
        </p:nvSpPr>
        <p:spPr>
          <a:xfrm>
            <a:off x="609600" y="1618595"/>
            <a:ext cx="82296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b="1" dirty="0">
                <a:solidFill>
                  <a:srgbClr val="FF0000"/>
                </a:solidFill>
                <a:latin typeface="+mn-ea"/>
                <a:ea typeface="+mn-ea"/>
              </a:rPr>
              <a:t>数字信号处理</a:t>
            </a:r>
            <a:r>
              <a:rPr lang="zh-CN" altLang="en-US" b="1" dirty="0">
                <a:latin typeface="+mn-ea"/>
                <a:ea typeface="+mn-ea"/>
              </a:rPr>
              <a:t>是利用计算机或通用（专用）的信号处理设备，采用数值计算的方法对信号进行处理的一门学科，包括滤波、变换、压缩、增强、复原、估计、识别、分析、综合等加工处理，以达到提取有用信息、便于应用的目的。</a:t>
            </a:r>
            <a:endParaRPr lang="en-US" altLang="zh-CN" b="1" dirty="0">
              <a:latin typeface="+mn-ea"/>
              <a:ea typeface="+mn-ea"/>
            </a:endParaRPr>
          </a:p>
          <a:p>
            <a:pPr algn="just">
              <a:lnSpc>
                <a:spcPct val="80000"/>
              </a:lnSpc>
            </a:pPr>
            <a:endParaRPr lang="en-US" altLang="zh-CN" b="1" dirty="0">
              <a:latin typeface="+mn-ea"/>
              <a:ea typeface="+mn-ea"/>
            </a:endParaRPr>
          </a:p>
          <a:p>
            <a:pPr algn="just">
              <a:lnSpc>
                <a:spcPct val="120000"/>
              </a:lnSpc>
            </a:pPr>
            <a:r>
              <a:rPr lang="zh-CN" altLang="en-US" b="1" dirty="0">
                <a:latin typeface="+mn-ea"/>
                <a:ea typeface="+mn-ea"/>
              </a:rPr>
              <a:t>过去半个世纪里，数字信号处理（</a:t>
            </a:r>
            <a:r>
              <a:rPr lang="en-US" altLang="zh-CN" b="1" dirty="0">
                <a:latin typeface="+mn-ea"/>
                <a:ea typeface="+mn-ea"/>
              </a:rPr>
              <a:t>DSP</a:t>
            </a:r>
            <a:r>
              <a:rPr lang="zh-CN" altLang="en-US" b="1" dirty="0">
                <a:latin typeface="+mn-ea"/>
                <a:ea typeface="+mn-ea"/>
              </a:rPr>
              <a:t>），无论是研究还是应用都得到爆发式的增长。</a:t>
            </a:r>
            <a:endParaRPr lang="en-US" altLang="zh-CN" b="1" dirty="0">
              <a:latin typeface="+mn-ea"/>
              <a:ea typeface="+mn-ea"/>
            </a:endParaRPr>
          </a:p>
          <a:p>
            <a:pPr algn="just">
              <a:lnSpc>
                <a:spcPct val="80000"/>
              </a:lnSpc>
            </a:pPr>
            <a:endParaRPr lang="en-US" altLang="zh-CN" b="1" dirty="0"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5" descr="xinsrc_5621001201136631155623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272087" y="3802037"/>
            <a:ext cx="2957513" cy="2391728"/>
          </a:xfrm>
          <a:prstGeom prst="rect">
            <a:avLst/>
          </a:prstGeom>
          <a:noFill/>
        </p:spPr>
      </p:pic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838200" y="990600"/>
            <a:ext cx="30480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从模拟到数字</a:t>
            </a:r>
          </a:p>
        </p:txBody>
      </p:sp>
      <p:sp>
        <p:nvSpPr>
          <p:cNvPr id="8" name="矩形 7"/>
          <p:cNvSpPr/>
          <p:nvPr/>
        </p:nvSpPr>
        <p:spPr>
          <a:xfrm>
            <a:off x="838200" y="2289862"/>
            <a:ext cx="7239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</a:rPr>
              <a:t>留声机→电唱机→钢丝录音机→磁带录音机</a:t>
            </a:r>
          </a:p>
        </p:txBody>
      </p:sp>
      <p:sp>
        <p:nvSpPr>
          <p:cNvPr id="10" name="矩形 9"/>
          <p:cNvSpPr/>
          <p:nvPr/>
        </p:nvSpPr>
        <p:spPr>
          <a:xfrm>
            <a:off x="838200" y="2998113"/>
            <a:ext cx="73914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  <a:latin typeface="+mj-lt"/>
              </a:rPr>
              <a:t>1982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年问世的</a:t>
            </a:r>
            <a:r>
              <a:rPr lang="en-US" altLang="zh-CN" b="1" dirty="0">
                <a:solidFill>
                  <a:srgbClr val="000000"/>
                </a:solidFill>
                <a:latin typeface="+mj-lt"/>
              </a:rPr>
              <a:t>CD</a:t>
            </a:r>
            <a:r>
              <a:rPr lang="zh-CN" altLang="en-US" b="1" dirty="0">
                <a:solidFill>
                  <a:srgbClr val="000000"/>
                </a:solidFill>
                <a:latin typeface="+mj-lt"/>
              </a:rPr>
              <a:t>唱盘，是数字技术取代模拟技术的典型产品。 </a:t>
            </a:r>
            <a:endParaRPr lang="zh-CN" altLang="en-US" dirty="0">
              <a:latin typeface="+mj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853440" y="1828800"/>
            <a:ext cx="126348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00"/>
                </a:solidFill>
              </a:rPr>
              <a:t>1877</a:t>
            </a:r>
            <a:r>
              <a:rPr lang="zh-CN" altLang="en-US" b="1" dirty="0">
                <a:solidFill>
                  <a:srgbClr val="000000"/>
                </a:solidFill>
              </a:rPr>
              <a:t>年</a:t>
            </a:r>
            <a:endParaRPr lang="zh-CN" altLang="en-US" dirty="0"/>
          </a:p>
        </p:txBody>
      </p:sp>
      <p:sp>
        <p:nvSpPr>
          <p:cNvPr id="9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绪论</a:t>
            </a:r>
          </a:p>
        </p:txBody>
      </p:sp>
    </p:spTree>
    <p:extLst>
      <p:ext uri="{BB962C8B-B14F-4D97-AF65-F5344CB8AC3E}">
        <p14:creationId xmlns:p14="http://schemas.microsoft.com/office/powerpoint/2010/main" val="11659922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>
          <a:xfrm>
            <a:off x="2914155" y="956529"/>
            <a:ext cx="2989263" cy="750888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b="1" dirty="0">
                <a:solidFill>
                  <a:srgbClr val="3333FF"/>
                </a:solidFill>
              </a:rPr>
              <a:t>消费类电子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5" y="1558320"/>
            <a:ext cx="1857375" cy="193357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787" y="1552575"/>
            <a:ext cx="3362325" cy="21812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6350" y="4343400"/>
            <a:ext cx="1924050" cy="12001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3500" y="4038600"/>
            <a:ext cx="1638300" cy="1876425"/>
          </a:xfrm>
          <a:prstGeom prst="rect">
            <a:avLst/>
          </a:prstGeom>
        </p:spPr>
      </p:pic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绪论</a:t>
            </a:r>
          </a:p>
        </p:txBody>
      </p:sp>
    </p:spTree>
    <p:extLst>
      <p:ext uri="{BB962C8B-B14F-4D97-AF65-F5344CB8AC3E}">
        <p14:creationId xmlns:p14="http://schemas.microsoft.com/office/powerpoint/2010/main" val="30596956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143000" y="1219200"/>
            <a:ext cx="4875053" cy="27113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1.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信号的分类和特征</a:t>
            </a:r>
            <a:endParaRPr lang="en-US" altLang="zh-CN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2.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信号处理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3.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为什么要采用数字信号处理</a:t>
            </a:r>
            <a:endParaRPr lang="en-US" altLang="zh-CN" b="1" dirty="0">
              <a:solidFill>
                <a:srgbClr val="000000"/>
              </a:solidFill>
              <a:latin typeface="+mn-ea"/>
              <a:ea typeface="+mn-ea"/>
            </a:endParaRP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4.</a:t>
            </a:r>
            <a:r>
              <a:rPr lang="zh-CN" altLang="en-US" b="1" dirty="0">
                <a:solidFill>
                  <a:srgbClr val="000000"/>
                </a:solidFill>
                <a:latin typeface="+mn-ea"/>
              </a:rPr>
              <a:t>数字信号处理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的发展与应用</a:t>
            </a:r>
          </a:p>
          <a:p>
            <a:pPr>
              <a:lnSpc>
                <a:spcPct val="125000"/>
              </a:lnSpc>
            </a:pPr>
            <a:r>
              <a:rPr lang="en-US" altLang="zh-CN" b="1" dirty="0">
                <a:solidFill>
                  <a:srgbClr val="000000"/>
                </a:solidFill>
                <a:latin typeface="+mn-ea"/>
                <a:ea typeface="+mn-ea"/>
              </a:rPr>
              <a:t>5.</a:t>
            </a:r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</a:rPr>
              <a:t>本书的主要内容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绪论</a:t>
            </a:r>
          </a:p>
        </p:txBody>
      </p:sp>
    </p:spTree>
    <p:extLst>
      <p:ext uri="{BB962C8B-B14F-4D97-AF65-F5344CB8AC3E}">
        <p14:creationId xmlns:p14="http://schemas.microsoft.com/office/powerpoint/2010/main" val="1660409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1.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信号的分类和特征</a:t>
            </a:r>
          </a:p>
        </p:txBody>
      </p:sp>
      <p:sp>
        <p:nvSpPr>
          <p:cNvPr id="7" name="矩形 6"/>
          <p:cNvSpPr/>
          <p:nvPr/>
        </p:nvSpPr>
        <p:spPr>
          <a:xfrm>
            <a:off x="228600" y="1097577"/>
            <a:ext cx="11448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3200" b="1" dirty="0">
                <a:solidFill>
                  <a:srgbClr val="000000"/>
                </a:solidFill>
                <a:latin typeface="+mn-ea"/>
                <a:ea typeface="+mn-ea"/>
              </a:rPr>
              <a:t>信号</a:t>
            </a:r>
            <a:r>
              <a:rPr lang="en-US" altLang="zh-CN" sz="3200" b="1" dirty="0">
                <a:solidFill>
                  <a:srgbClr val="000000"/>
                </a:solidFill>
                <a:latin typeface="+mj-lt"/>
                <a:ea typeface="+mn-ea"/>
              </a:rPr>
              <a:t>:</a:t>
            </a:r>
          </a:p>
        </p:txBody>
      </p:sp>
      <p:sp>
        <p:nvSpPr>
          <p:cNvPr id="8" name="矩形 7"/>
          <p:cNvSpPr/>
          <p:nvPr/>
        </p:nvSpPr>
        <p:spPr>
          <a:xfrm>
            <a:off x="228600" y="1724324"/>
            <a:ext cx="9220200" cy="6309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FontTx/>
              <a:buNone/>
            </a:pPr>
            <a:r>
              <a:rPr lang="zh-CN" altLang="en-US" b="1" dirty="0"/>
              <a:t>信号是独立变量的函数。变量</a:t>
            </a:r>
            <a:r>
              <a:rPr lang="zh-CN" altLang="en-US" b="1" dirty="0">
                <a:cs typeface="Arial" panose="020B0604020202020204" pitchFamily="34" charset="0"/>
              </a:rPr>
              <a:t>可以是</a:t>
            </a:r>
            <a:r>
              <a:rPr lang="zh-CN" altLang="en-US" b="1" dirty="0"/>
              <a:t>时间、空间位置等。</a:t>
            </a:r>
          </a:p>
        </p:txBody>
      </p:sp>
      <p:pic>
        <p:nvPicPr>
          <p:cNvPr id="9" name="Picture 2" descr="fig1x2a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5460000">
            <a:off x="1406440" y="3137886"/>
            <a:ext cx="2369820" cy="36156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矩形 1"/>
          <p:cNvSpPr>
            <a:spLocks noChangeArrowheads="1"/>
          </p:cNvSpPr>
          <p:nvPr/>
        </p:nvSpPr>
        <p:spPr bwMode="auto">
          <a:xfrm>
            <a:off x="1274762" y="3220814"/>
            <a:ext cx="16208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 dirty="0"/>
              <a:t>语音信号</a:t>
            </a:r>
          </a:p>
        </p:txBody>
      </p:sp>
      <p:pic>
        <p:nvPicPr>
          <p:cNvPr id="11" name="away3190.wav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464204"/>
            <a:ext cx="488950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矩形 11"/>
          <p:cNvSpPr/>
          <p:nvPr/>
        </p:nvSpPr>
        <p:spPr>
          <a:xfrm>
            <a:off x="411480" y="2667000"/>
            <a:ext cx="100175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b="1" dirty="0"/>
              <a:t>例如</a:t>
            </a:r>
            <a:endParaRPr lang="zh-CN" altLang="en-US" dirty="0"/>
          </a:p>
        </p:txBody>
      </p:sp>
      <p:sp>
        <p:nvSpPr>
          <p:cNvPr id="14" name="矩形 13"/>
          <p:cNvSpPr/>
          <p:nvPr/>
        </p:nvSpPr>
        <p:spPr>
          <a:xfrm>
            <a:off x="5562600" y="3160645"/>
            <a:ext cx="162095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/>
              <a:t>黑白图像</a:t>
            </a:r>
          </a:p>
        </p:txBody>
      </p:sp>
      <p:pic>
        <p:nvPicPr>
          <p:cNvPr id="15" name="Picture 4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162" y="3693161"/>
            <a:ext cx="2700338" cy="24336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13732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2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11"/>
                </p:tgtEl>
              </p:cMediaNode>
            </p:audio>
          </p:childTnLst>
        </p:cTn>
      </p:par>
    </p:tnLst>
    <p:bldLst>
      <p:bldP spid="10" grpId="0"/>
      <p:bldP spid="12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533400" y="990600"/>
            <a:ext cx="8229600" cy="47244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zh-CN" altLang="en-US" b="1" dirty="0">
                <a:latin typeface="+mj-lt"/>
              </a:rPr>
              <a:t>信号的分类</a:t>
            </a:r>
            <a:endParaRPr lang="en-US" altLang="zh-CN" b="1" dirty="0">
              <a:latin typeface="+mj-lt"/>
            </a:endParaRPr>
          </a:p>
          <a:p>
            <a:pPr marL="0" indent="0">
              <a:buNone/>
              <a:defRPr/>
            </a:pPr>
            <a:r>
              <a:rPr lang="en-US" altLang="zh-CN" b="1" dirty="0">
                <a:latin typeface="+mj-lt"/>
              </a:rPr>
              <a:t>(1)</a:t>
            </a:r>
            <a:r>
              <a:rPr lang="zh-CN" altLang="en-US" b="1" dirty="0">
                <a:latin typeface="+mj-lt"/>
              </a:rPr>
              <a:t>按独立变量个数</a:t>
            </a:r>
            <a:endParaRPr lang="en-US" altLang="zh-CN" b="1" dirty="0">
              <a:latin typeface="+mj-lt"/>
            </a:endParaRPr>
          </a:p>
          <a:p>
            <a:pPr marL="514350" indent="-514350">
              <a:spcBef>
                <a:spcPts val="0"/>
              </a:spcBef>
              <a:buFontTx/>
              <a:buAutoNum type="arabicParenBoth"/>
              <a:defRPr/>
            </a:pPr>
            <a:endParaRPr lang="en-US" altLang="zh-CN" b="1" dirty="0">
              <a:latin typeface="+mj-lt"/>
            </a:endParaRPr>
          </a:p>
          <a:p>
            <a:pPr>
              <a:lnSpc>
                <a:spcPct val="80000"/>
              </a:lnSpc>
              <a:defRPr/>
            </a:pPr>
            <a:r>
              <a:rPr lang="zh-CN" altLang="en-US" sz="2800" b="1" dirty="0">
                <a:latin typeface="+mj-lt"/>
              </a:rPr>
              <a:t>一维信号</a:t>
            </a:r>
            <a:r>
              <a:rPr lang="en-US" altLang="zh-CN" sz="2800" b="1" dirty="0">
                <a:latin typeface="+mj-lt"/>
              </a:rPr>
              <a:t>: </a:t>
            </a:r>
            <a:r>
              <a:rPr lang="zh-CN" altLang="en-US" sz="2800" b="1" dirty="0">
                <a:latin typeface="+mj-lt"/>
              </a:rPr>
              <a:t>一个独立自变量的函数，如语音信号。</a:t>
            </a:r>
            <a:endParaRPr lang="en-US" altLang="zh-CN" sz="2800" b="1" dirty="0">
              <a:latin typeface="+mj-lt"/>
              <a:cs typeface="Times New Roman" panose="02020603050405020304" pitchFamily="18" charset="0"/>
            </a:endParaRPr>
          </a:p>
          <a:p>
            <a:pPr algn="ctr">
              <a:defRPr/>
            </a:pPr>
            <a:endParaRPr lang="zh-CN" altLang="en-US" sz="2800" b="1" dirty="0">
              <a:latin typeface="+mj-lt"/>
            </a:endParaRPr>
          </a:p>
          <a:p>
            <a:pPr>
              <a:lnSpc>
                <a:spcPct val="80000"/>
              </a:lnSpc>
              <a:defRPr/>
            </a:pPr>
            <a:r>
              <a:rPr lang="zh-CN" altLang="en-US" sz="2800" b="1" dirty="0">
                <a:latin typeface="+mj-lt"/>
              </a:rPr>
              <a:t>二维信号</a:t>
            </a:r>
            <a:r>
              <a:rPr lang="en-US" altLang="zh-CN" sz="2800" b="1" dirty="0">
                <a:latin typeface="+mj-lt"/>
              </a:rPr>
              <a:t>: </a:t>
            </a:r>
            <a:r>
              <a:rPr lang="zh-CN" altLang="en-US" sz="2800" b="1" dirty="0">
                <a:latin typeface="+mj-lt"/>
              </a:rPr>
              <a:t>两个独立自变量的函数，如图像信号。</a:t>
            </a:r>
            <a:endParaRPr lang="en-US" altLang="zh-CN" sz="2800" b="1" dirty="0">
              <a:latin typeface="+mj-lt"/>
            </a:endParaRPr>
          </a:p>
          <a:p>
            <a:pPr>
              <a:lnSpc>
                <a:spcPct val="80000"/>
              </a:lnSpc>
              <a:defRPr/>
            </a:pPr>
            <a:endParaRPr lang="zh-CN" altLang="en-US" sz="2800" b="1" dirty="0">
              <a:latin typeface="+mj-lt"/>
            </a:endParaRPr>
          </a:p>
          <a:p>
            <a:pPr>
              <a:lnSpc>
                <a:spcPct val="80000"/>
              </a:lnSpc>
              <a:defRPr/>
            </a:pPr>
            <a:r>
              <a:rPr lang="zh-CN" altLang="en-US" sz="2800" b="1" dirty="0">
                <a:latin typeface="+mj-lt"/>
              </a:rPr>
              <a:t>多维信号</a:t>
            </a:r>
            <a:r>
              <a:rPr lang="en-US" altLang="zh-CN" sz="2800" b="1" dirty="0">
                <a:latin typeface="+mj-lt"/>
              </a:rPr>
              <a:t>: </a:t>
            </a:r>
            <a:r>
              <a:rPr lang="zh-CN" altLang="en-US" sz="2800" b="1" dirty="0">
                <a:latin typeface="+mj-lt"/>
              </a:rPr>
              <a:t>多个独立自变量的函数，如视频信号。</a:t>
            </a:r>
          </a:p>
          <a:p>
            <a:pPr>
              <a:buFontTx/>
              <a:buNone/>
              <a:defRPr/>
            </a:pPr>
            <a:endParaRPr lang="zh-CN" altLang="en-US" sz="2800" b="1" dirty="0">
              <a:latin typeface="+mj-lt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1.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信号的分类和特征</a:t>
            </a:r>
          </a:p>
        </p:txBody>
      </p:sp>
    </p:spTree>
    <p:extLst>
      <p:ext uri="{BB962C8B-B14F-4D97-AF65-F5344CB8AC3E}">
        <p14:creationId xmlns:p14="http://schemas.microsoft.com/office/powerpoint/2010/main" val="14352154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457200" y="990600"/>
            <a:ext cx="8610600" cy="38100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zh-CN" altLang="en-US" b="1" dirty="0">
                <a:latin typeface="+mj-lt"/>
              </a:rPr>
              <a:t>信号的分类</a:t>
            </a:r>
            <a:endParaRPr lang="en-US" altLang="zh-CN" b="1" dirty="0">
              <a:latin typeface="+mj-lt"/>
            </a:endParaRPr>
          </a:p>
          <a:p>
            <a:pPr marL="0" indent="0">
              <a:buNone/>
              <a:defRPr/>
            </a:pPr>
            <a:r>
              <a:rPr lang="en-US" altLang="zh-CN" b="1" dirty="0">
                <a:latin typeface="+mj-lt"/>
              </a:rPr>
              <a:t>(2)</a:t>
            </a:r>
            <a:r>
              <a:rPr lang="zh-CN" altLang="en-US" b="1" dirty="0">
                <a:latin typeface="+mj-lt"/>
              </a:rPr>
              <a:t>按信号源个数</a:t>
            </a:r>
            <a:endParaRPr lang="en-US" altLang="zh-CN" b="1" dirty="0">
              <a:latin typeface="+mj-lt"/>
            </a:endParaRPr>
          </a:p>
          <a:p>
            <a:pPr marL="514350" indent="-514350">
              <a:spcBef>
                <a:spcPts val="0"/>
              </a:spcBef>
              <a:buFontTx/>
              <a:buAutoNum type="arabicParenBoth"/>
              <a:defRPr/>
            </a:pPr>
            <a:endParaRPr lang="en-US" altLang="zh-CN" b="1" dirty="0">
              <a:latin typeface="+mj-lt"/>
            </a:endParaRPr>
          </a:p>
          <a:p>
            <a:pPr>
              <a:lnSpc>
                <a:spcPct val="80000"/>
              </a:lnSpc>
              <a:defRPr/>
            </a:pPr>
            <a:r>
              <a:rPr lang="zh-CN" altLang="en-US" sz="2800" b="1" dirty="0">
                <a:latin typeface="+mj-lt"/>
              </a:rPr>
              <a:t>标量信号</a:t>
            </a:r>
            <a:r>
              <a:rPr lang="en-US" altLang="zh-CN" sz="2800" b="1" dirty="0">
                <a:latin typeface="+mj-lt"/>
              </a:rPr>
              <a:t>(Scalar signal): </a:t>
            </a:r>
            <a:r>
              <a:rPr lang="zh-CN" altLang="en-US" sz="2800" b="1" dirty="0">
                <a:latin typeface="+mj-lt"/>
              </a:rPr>
              <a:t>由单个信号源产生的信号。</a:t>
            </a:r>
            <a:endParaRPr lang="en-US" altLang="zh-CN" sz="2800" b="1" dirty="0">
              <a:latin typeface="+mj-lt"/>
              <a:cs typeface="Times New Roman" panose="02020603050405020304" pitchFamily="18" charset="0"/>
            </a:endParaRPr>
          </a:p>
          <a:p>
            <a:pPr algn="ctr">
              <a:defRPr/>
            </a:pPr>
            <a:endParaRPr lang="zh-CN" altLang="en-US" sz="2800" b="1" dirty="0">
              <a:latin typeface="+mj-lt"/>
            </a:endParaRPr>
          </a:p>
          <a:p>
            <a:pPr>
              <a:lnSpc>
                <a:spcPct val="125000"/>
              </a:lnSpc>
              <a:defRPr/>
            </a:pPr>
            <a:r>
              <a:rPr lang="zh-CN" altLang="en-US" sz="2800" b="1" dirty="0">
                <a:latin typeface="+mj-lt"/>
              </a:rPr>
              <a:t>多通道信号</a:t>
            </a:r>
            <a:r>
              <a:rPr lang="en-US" altLang="zh-CN" sz="2800" b="1" dirty="0">
                <a:latin typeface="+mj-lt"/>
              </a:rPr>
              <a:t>(Multichannel signal):</a:t>
            </a:r>
            <a:r>
              <a:rPr lang="zh-CN" altLang="en-US" sz="2800" b="1" dirty="0">
                <a:latin typeface="+mj-lt"/>
              </a:rPr>
              <a:t>由多个信号源产生的信号。例如，立体声信号是一种双通道信号。</a:t>
            </a:r>
            <a:endParaRPr lang="en-US" altLang="zh-CN" sz="2800" b="1" dirty="0">
              <a:latin typeface="+mj-lt"/>
            </a:endParaRPr>
          </a:p>
          <a:p>
            <a:pPr>
              <a:lnSpc>
                <a:spcPct val="80000"/>
              </a:lnSpc>
              <a:defRPr/>
            </a:pPr>
            <a:endParaRPr lang="zh-CN" altLang="en-US" sz="2800" b="1" dirty="0">
              <a:latin typeface="+mj-lt"/>
            </a:endParaRPr>
          </a:p>
          <a:p>
            <a:pPr>
              <a:buFontTx/>
              <a:buNone/>
              <a:defRPr/>
            </a:pPr>
            <a:endParaRPr lang="zh-CN" altLang="en-US" sz="2800" b="1" dirty="0">
              <a:latin typeface="+mj-lt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1.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信号的分类和特征</a:t>
            </a:r>
          </a:p>
        </p:txBody>
      </p:sp>
    </p:spTree>
    <p:extLst>
      <p:ext uri="{BB962C8B-B14F-4D97-AF65-F5344CB8AC3E}">
        <p14:creationId xmlns:p14="http://schemas.microsoft.com/office/powerpoint/2010/main" val="903722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381000" y="990600"/>
            <a:ext cx="8610600" cy="47244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zh-CN" altLang="en-US" b="1" dirty="0">
                <a:latin typeface="+mj-lt"/>
              </a:rPr>
              <a:t>信号的分类</a:t>
            </a:r>
            <a:endParaRPr lang="en-US" altLang="zh-CN" b="1" dirty="0">
              <a:latin typeface="+mj-lt"/>
            </a:endParaRPr>
          </a:p>
          <a:p>
            <a:pPr marL="0" indent="0">
              <a:buNone/>
              <a:defRPr/>
            </a:pPr>
            <a:r>
              <a:rPr lang="en-US" altLang="zh-CN" b="1" dirty="0">
                <a:latin typeface="+mj-lt"/>
              </a:rPr>
              <a:t>(3)</a:t>
            </a:r>
            <a:r>
              <a:rPr lang="zh-CN" altLang="en-US" b="1" dirty="0">
                <a:latin typeface="+mj-lt"/>
              </a:rPr>
              <a:t>按自变量因变量的连续性分</a:t>
            </a:r>
            <a:r>
              <a:rPr lang="zh-CN" altLang="en-US" b="1" dirty="0">
                <a:solidFill>
                  <a:srgbClr val="FF0000"/>
                </a:solidFill>
                <a:latin typeface="+mj-lt"/>
              </a:rPr>
              <a:t>★</a:t>
            </a:r>
            <a:r>
              <a:rPr lang="zh-CN" altLang="en-US" b="1" dirty="0">
                <a:latin typeface="+mj-lt"/>
              </a:rPr>
              <a:t>：</a:t>
            </a:r>
            <a:endParaRPr lang="en-US" altLang="zh-CN" b="1" dirty="0">
              <a:latin typeface="+mj-lt"/>
            </a:endParaRPr>
          </a:p>
          <a:p>
            <a:pPr>
              <a:lnSpc>
                <a:spcPct val="110000"/>
              </a:lnSpc>
              <a:spcBef>
                <a:spcPts val="1800"/>
              </a:spcBef>
              <a:defRPr/>
            </a:pPr>
            <a:r>
              <a:rPr lang="zh-CN" altLang="en-US" sz="2800" b="1" dirty="0">
                <a:solidFill>
                  <a:schemeClr val="tx2">
                    <a:lumMod val="40000"/>
                    <a:lumOff val="60000"/>
                  </a:schemeClr>
                </a:solidFill>
                <a:latin typeface="+mj-lt"/>
              </a:rPr>
              <a:t>连续时间信号</a:t>
            </a:r>
            <a:r>
              <a:rPr lang="en-US" altLang="zh-CN" sz="2800" b="1" dirty="0">
                <a:latin typeface="+mj-lt"/>
              </a:rPr>
              <a:t>(continue time signal): </a:t>
            </a:r>
          </a:p>
          <a:p>
            <a:pPr marL="0" indent="0">
              <a:lnSpc>
                <a:spcPct val="110000"/>
              </a:lnSpc>
              <a:buNone/>
              <a:defRPr/>
            </a:pPr>
            <a:r>
              <a:rPr lang="zh-CN" altLang="en-US" sz="28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+mj-lt"/>
                <a:cs typeface="Times New Roman" panose="02020603050405020304" pitchFamily="18" charset="0"/>
              </a:rPr>
              <a:t>    模拟信号</a:t>
            </a:r>
            <a:r>
              <a:rPr lang="en-US" altLang="zh-CN" sz="2800" b="1" dirty="0">
                <a:latin typeface="+mj-lt"/>
                <a:cs typeface="Times New Roman" panose="02020603050405020304" pitchFamily="18" charset="0"/>
              </a:rPr>
              <a:t>:</a:t>
            </a:r>
            <a:r>
              <a:rPr lang="zh-CN" altLang="en-US" sz="2800" b="1" dirty="0">
                <a:latin typeface="+mj-lt"/>
                <a:cs typeface="Times New Roman" panose="02020603050405020304" pitchFamily="18" charset="0"/>
              </a:rPr>
              <a:t>连续时间信号的特例，时间和幅值均连续</a:t>
            </a:r>
            <a:endParaRPr lang="zh-CN" altLang="en-US" sz="2800" b="1" dirty="0">
              <a:latin typeface="+mj-lt"/>
            </a:endParaRPr>
          </a:p>
          <a:p>
            <a:pPr>
              <a:lnSpc>
                <a:spcPct val="110000"/>
              </a:lnSpc>
              <a:spcBef>
                <a:spcPts val="2400"/>
              </a:spcBef>
              <a:defRPr/>
            </a:pPr>
            <a:r>
              <a:rPr lang="zh-CN" altLang="en-US" sz="2800" b="1" dirty="0">
                <a:solidFill>
                  <a:srgbClr val="C00000"/>
                </a:solidFill>
                <a:latin typeface="+mj-lt"/>
              </a:rPr>
              <a:t>离散时间信号</a:t>
            </a:r>
            <a:r>
              <a:rPr lang="en-US" altLang="zh-CN" sz="2800" b="1" dirty="0">
                <a:latin typeface="+mj-lt"/>
              </a:rPr>
              <a:t>(discrete time signal) :</a:t>
            </a:r>
            <a:r>
              <a:rPr lang="zh-CN" altLang="en-US" sz="2800" b="1" dirty="0"/>
              <a:t>时间离散</a:t>
            </a:r>
            <a:endParaRPr lang="en-US" altLang="zh-CN" sz="2800" b="1" dirty="0">
              <a:latin typeface="+mj-lt"/>
            </a:endParaRPr>
          </a:p>
          <a:p>
            <a:pPr>
              <a:lnSpc>
                <a:spcPct val="70000"/>
              </a:lnSpc>
              <a:spcBef>
                <a:spcPts val="0"/>
              </a:spcBef>
              <a:defRPr/>
            </a:pPr>
            <a:endParaRPr lang="zh-CN" altLang="en-US" sz="2800" b="1" dirty="0">
              <a:latin typeface="+mj-lt"/>
            </a:endParaRPr>
          </a:p>
          <a:p>
            <a:pPr marL="0" indent="0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zh-CN" altLang="en-US" sz="2800" b="1" dirty="0">
                <a:latin typeface="+mj-lt"/>
              </a:rPr>
              <a:t>   当离散时间信号的</a:t>
            </a:r>
            <a:r>
              <a:rPr lang="zh-CN" altLang="en-US" sz="2800" b="1" dirty="0"/>
              <a:t>幅</a:t>
            </a:r>
            <a:r>
              <a:rPr lang="zh-CN" altLang="en-US" sz="2800" b="1" dirty="0">
                <a:cs typeface="Times New Roman" panose="02020603050405020304" pitchFamily="18" charset="0"/>
              </a:rPr>
              <a:t>值也为</a:t>
            </a:r>
            <a:r>
              <a:rPr lang="zh-CN" altLang="en-US" sz="2800" b="1" dirty="0"/>
              <a:t>量化值时，称为</a:t>
            </a:r>
            <a:endParaRPr lang="en-US" altLang="zh-CN" sz="2800" b="1" dirty="0"/>
          </a:p>
          <a:p>
            <a:pPr marL="0" indent="0">
              <a:lnSpc>
                <a:spcPct val="125000"/>
              </a:lnSpc>
              <a:buNone/>
              <a:defRPr/>
            </a:pPr>
            <a:r>
              <a:rPr lang="zh-CN" altLang="en-US" sz="2800" b="1" dirty="0">
                <a:solidFill>
                  <a:srgbClr val="FF0000"/>
                </a:solidFill>
                <a:latin typeface="+mj-lt"/>
              </a:rPr>
              <a:t>   数字信号</a:t>
            </a:r>
            <a:r>
              <a:rPr lang="en-US" altLang="zh-CN" sz="2800" b="1" dirty="0">
                <a:latin typeface="+mj-lt"/>
              </a:rPr>
              <a:t>(digital signal)</a:t>
            </a:r>
            <a:r>
              <a:rPr lang="zh-CN" altLang="en-US" sz="2800" b="1" dirty="0">
                <a:latin typeface="+mj-lt"/>
              </a:rPr>
              <a:t>，</a:t>
            </a:r>
            <a:r>
              <a:rPr lang="en-US" altLang="zh-CN" sz="2800" b="1" dirty="0">
                <a:latin typeface="+mj-lt"/>
              </a:rPr>
              <a:t> </a:t>
            </a:r>
            <a:r>
              <a:rPr lang="zh-CN" altLang="en-US" sz="2800" b="1" dirty="0">
                <a:latin typeface="+mj-lt"/>
              </a:rPr>
              <a:t>其</a:t>
            </a:r>
            <a:r>
              <a:rPr lang="zh-CN" altLang="en-US" sz="2800" b="1" dirty="0"/>
              <a:t>时间和幅值均离散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1.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信号的分类和特征</a:t>
            </a:r>
          </a:p>
        </p:txBody>
      </p:sp>
    </p:spTree>
    <p:extLst>
      <p:ext uri="{BB962C8B-B14F-4D97-AF65-F5344CB8AC3E}">
        <p14:creationId xmlns:p14="http://schemas.microsoft.com/office/powerpoint/2010/main" val="4070121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0" name="Picture 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138" y="76200"/>
            <a:ext cx="4411662" cy="2593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1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711575"/>
            <a:ext cx="4479925" cy="299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588" y="228600"/>
            <a:ext cx="4262437" cy="2846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2533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3733800"/>
            <a:ext cx="4365625" cy="300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矩形 4"/>
          <p:cNvSpPr/>
          <p:nvPr/>
        </p:nvSpPr>
        <p:spPr>
          <a:xfrm>
            <a:off x="1600200" y="2828925"/>
            <a:ext cx="1620838" cy="5238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模拟信号</a:t>
            </a:r>
          </a:p>
        </p:txBody>
      </p:sp>
      <p:sp>
        <p:nvSpPr>
          <p:cNvPr id="11" name="矩形 10"/>
          <p:cNvSpPr/>
          <p:nvPr/>
        </p:nvSpPr>
        <p:spPr>
          <a:xfrm>
            <a:off x="6297613" y="2895600"/>
            <a:ext cx="1627187" cy="5222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b="1" dirty="0">
                <a:latin typeface="宋体" panose="02010600030101010101" pitchFamily="2" charset="-122"/>
              </a:rPr>
              <a:t>数字信号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 txBox="1">
            <a:spLocks noChangeArrowheads="1"/>
          </p:cNvSpPr>
          <p:nvPr/>
        </p:nvSpPr>
        <p:spPr>
          <a:xfrm>
            <a:off x="533400" y="990600"/>
            <a:ext cx="8229600" cy="4724400"/>
          </a:xfrm>
          <a:prstGeom prst="rect">
            <a:avLst/>
          </a:prstGeom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Blip>
                <a:blip r:embed="rId2"/>
              </a:buBlip>
              <a:defRPr kumimoji="1"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SzPct val="75000"/>
              <a:buBlip>
                <a:blip r:embed="rId3"/>
              </a:buBlip>
              <a:defRPr kumimoji="1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Tx/>
              <a:buNone/>
              <a:defRPr/>
            </a:pPr>
            <a:r>
              <a:rPr lang="zh-CN" altLang="en-US" b="1" dirty="0">
                <a:latin typeface="+mj-lt"/>
              </a:rPr>
              <a:t>信号的分类</a:t>
            </a:r>
            <a:endParaRPr lang="en-US" altLang="zh-CN" b="1" dirty="0">
              <a:latin typeface="+mj-lt"/>
            </a:endParaRPr>
          </a:p>
          <a:p>
            <a:pPr marL="0" indent="0">
              <a:buNone/>
              <a:defRPr/>
            </a:pPr>
            <a:r>
              <a:rPr lang="en-US" altLang="zh-CN" b="1" dirty="0">
                <a:latin typeface="+mj-lt"/>
              </a:rPr>
              <a:t>(4)</a:t>
            </a:r>
            <a:r>
              <a:rPr lang="zh-CN" altLang="en-US" b="1" dirty="0">
                <a:latin typeface="+mj-lt"/>
              </a:rPr>
              <a:t>确定信号和随机信号</a:t>
            </a:r>
            <a:endParaRPr lang="en-US" altLang="zh-CN" b="1" dirty="0">
              <a:latin typeface="+mj-lt"/>
            </a:endParaRPr>
          </a:p>
          <a:p>
            <a:pPr marL="0" indent="0">
              <a:buNone/>
              <a:defRPr/>
            </a:pPr>
            <a:endParaRPr lang="en-US" altLang="zh-CN" b="1" dirty="0">
              <a:latin typeface="+mj-lt"/>
            </a:endParaRPr>
          </a:p>
          <a:p>
            <a:pPr>
              <a:lnSpc>
                <a:spcPct val="110000"/>
              </a:lnSpc>
              <a:spcBef>
                <a:spcPts val="0"/>
              </a:spcBef>
              <a:defRPr/>
            </a:pPr>
            <a:r>
              <a:rPr lang="zh-CN" altLang="en-US" sz="2800" b="1" dirty="0">
                <a:latin typeface="+mj-lt"/>
              </a:rPr>
              <a:t>确定信号</a:t>
            </a:r>
            <a:r>
              <a:rPr lang="en-US" altLang="zh-CN" sz="2800" b="1" dirty="0">
                <a:latin typeface="+mj-lt"/>
              </a:rPr>
              <a:t>(deterministic signal):</a:t>
            </a:r>
            <a:r>
              <a:rPr lang="zh-CN" altLang="en-US" sz="2800" b="1" dirty="0">
                <a:latin typeface="+mj-lt"/>
              </a:rPr>
              <a:t>可以用一个定义好的过程（如数学表达式、规则或表）来唯一确定的信号。</a:t>
            </a:r>
            <a:endParaRPr lang="en-US" altLang="zh-CN" sz="2800" b="1" dirty="0">
              <a:latin typeface="+mj-lt"/>
              <a:cs typeface="Times New Roman" panose="02020603050405020304" pitchFamily="18" charset="0"/>
            </a:endParaRPr>
          </a:p>
          <a:p>
            <a:pPr algn="ctr">
              <a:defRPr/>
            </a:pPr>
            <a:endParaRPr lang="zh-CN" altLang="en-US" sz="2800" b="1" dirty="0">
              <a:latin typeface="+mj-lt"/>
            </a:endParaRPr>
          </a:p>
          <a:p>
            <a:pPr>
              <a:lnSpc>
                <a:spcPct val="110000"/>
              </a:lnSpc>
              <a:defRPr/>
            </a:pPr>
            <a:r>
              <a:rPr lang="zh-CN" altLang="en-US" sz="2800" b="1" dirty="0">
                <a:latin typeface="+mj-lt"/>
              </a:rPr>
              <a:t>随机信号</a:t>
            </a:r>
            <a:r>
              <a:rPr lang="en-US" altLang="zh-CN" sz="2800" b="1" dirty="0">
                <a:latin typeface="+mj-lt"/>
              </a:rPr>
              <a:t>(random signal):</a:t>
            </a:r>
            <a:r>
              <a:rPr lang="zh-CN" altLang="en-US" sz="2800" b="1" dirty="0"/>
              <a:t>随机产生，无法预测的信号，一般用统计的方法进行分析。如白噪声。</a:t>
            </a:r>
            <a:endParaRPr lang="en-US" altLang="zh-CN" sz="2800" b="1" dirty="0">
              <a:latin typeface="+mj-lt"/>
            </a:endParaRPr>
          </a:p>
          <a:p>
            <a:pPr>
              <a:buFontTx/>
              <a:buNone/>
              <a:defRPr/>
            </a:pPr>
            <a:endParaRPr lang="zh-CN" altLang="en-US" sz="2800" b="1" dirty="0">
              <a:latin typeface="+mj-lt"/>
            </a:endParaRP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1.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信号的分类和特征</a:t>
            </a:r>
          </a:p>
        </p:txBody>
      </p:sp>
    </p:spTree>
    <p:extLst>
      <p:ext uri="{BB962C8B-B14F-4D97-AF65-F5344CB8AC3E}">
        <p14:creationId xmlns:p14="http://schemas.microsoft.com/office/powerpoint/2010/main" val="35980072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2.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信号处理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609600" y="1090404"/>
            <a:ext cx="8077200" cy="3625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25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信号处理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就是对信号做某种加工。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70000"/>
              </a:lnSpc>
              <a:spcBef>
                <a:spcPct val="0"/>
              </a:spcBef>
            </a:pP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信号处理的</a:t>
            </a:r>
            <a:r>
              <a:rPr lang="zh-CN" altLang="en-US" sz="2800" b="1" dirty="0">
                <a:solidFill>
                  <a:srgbClr val="3333CC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种类划分</a:t>
            </a: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可以根据预期目标和所处理信号的属性进行。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信号处理的预期目标有滤波、分析、变换、调制解调、参数估计、识别和压缩等。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  <a:spcBef>
                <a:spcPct val="0"/>
              </a:spcBef>
            </a:pPr>
            <a:r>
              <a:rPr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处理信号的属性有音频、视频、生物电、机械等。</a:t>
            </a:r>
            <a:endParaRPr lang="en-US" altLang="zh-CN" sz="2800" b="1" dirty="0">
              <a:solidFill>
                <a:srgbClr val="000000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09600" y="5257800"/>
            <a:ext cx="234872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1" hangingPunct="1">
              <a:defRPr/>
            </a:pPr>
            <a:r>
              <a:rPr lang="zh-CN" altLang="en-US" b="1" dirty="0">
                <a:solidFill>
                  <a:srgbClr val="000000"/>
                </a:solidFill>
              </a:rPr>
              <a:t>信号处理系统</a:t>
            </a:r>
            <a:endParaRPr lang="zh-CN" altLang="en-US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3478031" y="487680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1" hangingPunct="1">
              <a:defRPr/>
            </a:pPr>
            <a:r>
              <a:rPr lang="zh-CN" altLang="en-US" b="1" dirty="0">
                <a:solidFill>
                  <a:schemeClr val="tx2"/>
                </a:solidFill>
                <a:latin typeface="+mn-ea"/>
              </a:rPr>
              <a:t>模拟系统</a:t>
            </a:r>
          </a:p>
        </p:txBody>
      </p:sp>
      <p:sp>
        <p:nvSpPr>
          <p:cNvPr id="6" name="矩形 5"/>
          <p:cNvSpPr/>
          <p:nvPr/>
        </p:nvSpPr>
        <p:spPr>
          <a:xfrm>
            <a:off x="3505200" y="5648980"/>
            <a:ext cx="162736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eaLnBrk="1" hangingPunct="1">
              <a:defRPr/>
            </a:pPr>
            <a:r>
              <a:rPr lang="zh-CN" altLang="en-US" b="1" dirty="0">
                <a:solidFill>
                  <a:srgbClr val="FF0000"/>
                </a:solidFill>
                <a:latin typeface="+mn-ea"/>
              </a:rPr>
              <a:t>数字系统</a:t>
            </a:r>
          </a:p>
        </p:txBody>
      </p:sp>
      <p:sp>
        <p:nvSpPr>
          <p:cNvPr id="7" name="左大括号 6"/>
          <p:cNvSpPr/>
          <p:nvPr/>
        </p:nvSpPr>
        <p:spPr bwMode="auto">
          <a:xfrm>
            <a:off x="3049760" y="5105400"/>
            <a:ext cx="379240" cy="817221"/>
          </a:xfrm>
          <a:prstGeom prst="leftBrace">
            <a:avLst/>
          </a:prstGeom>
          <a:noFill/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zh-CN" altLang="en-US" sz="3200" b="0" i="1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10651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h9fig2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7610" y="381000"/>
            <a:ext cx="6705600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3" descr="ch9fig29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410" y="3305502"/>
            <a:ext cx="6858000" cy="299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nois830.wav">
            <a:hlinkClick r:id="" action="ppaction://media"/>
          </p:cNvPr>
          <p:cNvPicPr>
            <a:picLocks noChangeAspect="1" noChangeArrowheads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101424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filt830.wav">
            <a:hlinkClick r:id="" action="ppaction://media"/>
          </p:cNvPr>
          <p:cNvPicPr>
            <a:picLocks noChangeAspect="1" noChangeArrowheads="1"/>
          </p:cNvPicPr>
          <p:nvPr>
            <a:audi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986043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83438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0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1" fill="hold">
                      <p:stCondLst>
                        <p:cond delay="0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372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9" dur="3726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audio>
              <p:cMediaNode>
                <p:cTn id="20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  <p:audio>
              <p:cMediaNode>
                <p:cTn id="21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3.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为什么要采用数字信号处理</a:t>
            </a:r>
          </a:p>
        </p:txBody>
      </p:sp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33400" y="1472148"/>
            <a:ext cx="8077200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1pPr>
            <a:lvl2pPr marL="742950" indent="-285750" eaLnBrk="0" hangingPunct="0"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2pPr>
            <a:lvl3pPr marL="1143000" indent="-228600" eaLnBrk="0" hangingPunct="0"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3pPr>
            <a:lvl4pPr marL="1600200" indent="-228600" eaLnBrk="0" hangingPunct="0"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4pPr>
            <a:lvl5pPr marL="2057400" indent="-228600" eaLnBrk="0" hangingPunct="0"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kumimoji="1" sz="3200">
                <a:solidFill>
                  <a:schemeClr val="tx1"/>
                </a:solidFill>
                <a:latin typeface="华文中宋" panose="02010600040101010101" pitchFamily="2" charset="-122"/>
                <a:ea typeface="华文中宋" panose="02010600040101010101" pitchFamily="2" charset="-122"/>
              </a:defRPr>
            </a:lvl9pPr>
          </a:lstStyle>
          <a:p>
            <a:pPr algn="just">
              <a:lnSpc>
                <a:spcPct val="125000"/>
              </a:lnSpc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数字信号处理采用数字系统完成信号处理的任务，它具有数字系统的一些共同优点，例如抗干扰、可靠性强，便于大规模集成等。</a:t>
            </a:r>
            <a:endParaRPr lang="en-US" altLang="zh-CN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  <a:spcBef>
                <a:spcPct val="0"/>
              </a:spcBef>
            </a:pPr>
            <a:endParaRPr lang="en-US" altLang="zh-CN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just">
              <a:lnSpc>
                <a:spcPct val="125000"/>
              </a:lnSpc>
              <a:spcBef>
                <a:spcPct val="0"/>
              </a:spcBef>
            </a:pPr>
            <a:r>
              <a:rPr lang="zh-CN" altLang="en-US" b="1" dirty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除此而外，与传统的模拟信号处理方法相比较，它还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具有以下一些明显的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优点</a:t>
            </a:r>
            <a:r>
              <a:rPr lang="zh-CN" altLang="en-US" b="1" dirty="0">
                <a:solidFill>
                  <a:srgbClr val="000000"/>
                </a:solidFill>
                <a:latin typeface="Times New Roman" panose="02020603050405020304" pitchFamily="18" charset="0"/>
                <a:ea typeface="宋体" panose="02010600030101010101" pitchFamily="2" charset="-122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30121858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1"/>
          <p:cNvSpPr>
            <a:spLocks noChangeArrowheads="1"/>
          </p:cNvSpPr>
          <p:nvPr/>
        </p:nvSpPr>
        <p:spPr bwMode="auto">
          <a:xfrm>
            <a:off x="914400" y="1143000"/>
            <a:ext cx="62912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 dirty="0">
                <a:latin typeface="+mn-ea"/>
                <a:ea typeface="+mn-ea"/>
              </a:rPr>
              <a:t>数字信号处理的主要优点</a:t>
            </a:r>
            <a:endParaRPr lang="zh-CN" altLang="en-US" sz="3200" b="1" dirty="0">
              <a:latin typeface="+mn-ea"/>
              <a:ea typeface="+mn-ea"/>
            </a:endParaRPr>
          </a:p>
        </p:txBody>
      </p:sp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914400" y="19050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990033"/>
                </a:solidFill>
                <a:latin typeface="黑体" panose="02010609060101010101" pitchFamily="49" charset="-122"/>
                <a:ea typeface="楷体_GB2312" pitchFamily="49" charset="-122"/>
              </a:rPr>
              <a:t>(1)</a:t>
            </a:r>
            <a:r>
              <a:rPr lang="zh-CN" altLang="en-US" sz="3200" b="1" dirty="0">
                <a:solidFill>
                  <a:srgbClr val="990033"/>
                </a:solidFill>
                <a:latin typeface="黑体" panose="02010609060101010101" pitchFamily="49" charset="-122"/>
                <a:ea typeface="楷体_GB2312" pitchFamily="49" charset="-122"/>
              </a:rPr>
              <a:t>精度高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914400" y="2706688"/>
            <a:ext cx="7620000" cy="32369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125000"/>
              </a:lnSpc>
              <a:buNone/>
              <a:defRPr/>
            </a:pPr>
            <a:r>
              <a:rPr lang="zh-CN" altLang="en-US" sz="2800" kern="0" dirty="0">
                <a:latin typeface="+mj-lt"/>
              </a:rPr>
              <a:t>在模拟系统中，它的精度是由元件决定，模拟元器件的精度要达到10</a:t>
            </a:r>
            <a:r>
              <a:rPr lang="zh-CN" altLang="en-US" sz="2800" kern="0" baseline="30000" dirty="0">
                <a:latin typeface="+mj-lt"/>
              </a:rPr>
              <a:t>-3</a:t>
            </a:r>
            <a:r>
              <a:rPr lang="zh-CN" altLang="en-US" sz="2800" kern="0" dirty="0">
                <a:latin typeface="+mj-lt"/>
              </a:rPr>
              <a:t>以上已经不容易了，而数字系统中，17位字长就可达10</a:t>
            </a:r>
            <a:r>
              <a:rPr lang="zh-CN" altLang="en-US" sz="2800" kern="0" baseline="30000" dirty="0">
                <a:latin typeface="+mj-lt"/>
              </a:rPr>
              <a:t>-5</a:t>
            </a:r>
            <a:r>
              <a:rPr lang="zh-CN" altLang="en-US" sz="2800" kern="0" dirty="0">
                <a:latin typeface="+mj-lt"/>
              </a:rPr>
              <a:t>精度。 </a:t>
            </a:r>
            <a:endParaRPr lang="en-US" altLang="zh-CN" sz="2800" kern="0" dirty="0">
              <a:latin typeface="+mj-lt"/>
            </a:endParaRPr>
          </a:p>
          <a:p>
            <a:pPr marL="0" indent="0" algn="just">
              <a:lnSpc>
                <a:spcPct val="125000"/>
              </a:lnSpc>
              <a:buNone/>
              <a:defRPr/>
            </a:pPr>
            <a:r>
              <a:rPr lang="zh-CN" altLang="en-US" sz="2800" dirty="0">
                <a:solidFill>
                  <a:srgbClr val="000000"/>
                </a:solidFill>
                <a:latin typeface="+mj-lt"/>
                <a:ea typeface="宋体" panose="02010600030101010101" pitchFamily="2" charset="-122"/>
              </a:rPr>
              <a:t>又如，基于离散傅里叶变换的数字式频谱分析仪，其幅值精度和频率分辨率均远远高于模拟频谱分析仪。</a:t>
            </a:r>
            <a:endParaRPr lang="zh-CN" altLang="en-US" kern="0" dirty="0">
              <a:latin typeface="+mj-lt"/>
            </a:endParaRPr>
          </a:p>
          <a:p>
            <a:pPr>
              <a:buFontTx/>
              <a:buNone/>
              <a:defRPr/>
            </a:pPr>
            <a:r>
              <a:rPr lang="zh-CN" altLang="en-US" kern="0" dirty="0">
                <a:latin typeface="+mj-lt"/>
              </a:rPr>
              <a:t>                                                </a:t>
            </a:r>
            <a:r>
              <a:rPr lang="en-US" altLang="zh-CN" kern="0" dirty="0">
                <a:latin typeface="+mj-lt"/>
                <a:hlinkClick r:id="" action="ppaction://noaction"/>
              </a:rPr>
              <a:t>                            </a:t>
            </a:r>
            <a:endParaRPr lang="en-US" altLang="zh-CN" kern="0" dirty="0">
              <a:latin typeface="+mj-lt"/>
            </a:endParaRPr>
          </a:p>
          <a:p>
            <a:pPr>
              <a:defRPr/>
            </a:pPr>
            <a:endParaRPr lang="zh-CN" altLang="en-US" kern="0" dirty="0">
              <a:latin typeface="+mj-lt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3.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为什么要采用数字信号处理</a:t>
            </a:r>
          </a:p>
        </p:txBody>
      </p:sp>
    </p:spTree>
    <p:extLst>
      <p:ext uri="{BB962C8B-B14F-4D97-AF65-F5344CB8AC3E}">
        <p14:creationId xmlns:p14="http://schemas.microsoft.com/office/powerpoint/2010/main" val="1239075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914400" y="1143000"/>
            <a:ext cx="62912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 dirty="0">
                <a:latin typeface="+mn-ea"/>
                <a:ea typeface="+mn-ea"/>
              </a:rPr>
              <a:t>数字信号处理的主要优点</a:t>
            </a:r>
            <a:endParaRPr lang="zh-CN" altLang="en-US" sz="3200" b="1" dirty="0">
              <a:latin typeface="+mn-ea"/>
              <a:ea typeface="+mn-ea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914400" y="19050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990033"/>
                </a:solidFill>
                <a:latin typeface="黑体" panose="02010609060101010101" pitchFamily="49" charset="-122"/>
                <a:ea typeface="楷体_GB2312" pitchFamily="49" charset="-122"/>
              </a:rPr>
              <a:t>(2)</a:t>
            </a:r>
            <a:r>
              <a:rPr lang="zh-CN" altLang="en-US" sz="3200" b="1" dirty="0">
                <a:solidFill>
                  <a:srgbClr val="990033"/>
                </a:solidFill>
                <a:latin typeface="黑体" panose="02010609060101010101" pitchFamily="49" charset="-122"/>
                <a:ea typeface="楷体_GB2312" pitchFamily="49" charset="-122"/>
              </a:rPr>
              <a:t>灵活性强</a:t>
            </a:r>
          </a:p>
          <a:p>
            <a:endParaRPr lang="zh-CN" altLang="en-US" sz="3200" b="1" dirty="0">
              <a:solidFill>
                <a:srgbClr val="990033"/>
              </a:solidFill>
              <a:latin typeface="黑体" panose="02010609060101010101" pitchFamily="49" charset="-122"/>
              <a:ea typeface="楷体_GB2312" pitchFamily="49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914400" y="2706688"/>
            <a:ext cx="7620000" cy="32369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125000"/>
              </a:lnSpc>
              <a:buNone/>
              <a:defRPr/>
            </a:pPr>
            <a:r>
              <a:rPr lang="zh-CN" altLang="en-US" sz="2800" kern="0" dirty="0">
                <a:latin typeface="+mj-lt"/>
              </a:rPr>
              <a:t>数字信号处理采用了专用或通用的数字系统，其性能取决于运算程序和乘法器的各系数，这些均存储在数字系统中，只要改变运算程序或系数，即可改变系统的特性参数，比改变模拟系统方便得多。</a:t>
            </a:r>
          </a:p>
          <a:p>
            <a:pPr>
              <a:buFontTx/>
              <a:buNone/>
              <a:defRPr/>
            </a:pPr>
            <a:r>
              <a:rPr lang="zh-CN" altLang="en-US" kern="0" dirty="0">
                <a:latin typeface="+mj-lt"/>
              </a:rPr>
              <a:t>                                                </a:t>
            </a:r>
            <a:r>
              <a:rPr lang="en-US" altLang="zh-CN" kern="0" dirty="0">
                <a:latin typeface="+mj-lt"/>
                <a:hlinkClick r:id="" action="ppaction://noaction"/>
              </a:rPr>
              <a:t>                            </a:t>
            </a:r>
            <a:endParaRPr lang="en-US" altLang="zh-CN" kern="0" dirty="0">
              <a:latin typeface="+mj-lt"/>
            </a:endParaRPr>
          </a:p>
          <a:p>
            <a:pPr>
              <a:defRPr/>
            </a:pPr>
            <a:endParaRPr lang="zh-CN" altLang="en-US" kern="0" dirty="0">
              <a:latin typeface="+mj-lt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3.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为什么要采用数字信号处理</a:t>
            </a:r>
          </a:p>
        </p:txBody>
      </p:sp>
    </p:spTree>
    <p:extLst>
      <p:ext uri="{BB962C8B-B14F-4D97-AF65-F5344CB8AC3E}">
        <p14:creationId xmlns:p14="http://schemas.microsoft.com/office/powerpoint/2010/main" val="3910959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914400" y="1066800"/>
            <a:ext cx="62912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 dirty="0">
                <a:latin typeface="+mn-ea"/>
                <a:ea typeface="+mn-ea"/>
              </a:rPr>
              <a:t>数字信号处理的主要优点</a:t>
            </a:r>
            <a:endParaRPr lang="zh-CN" altLang="en-US" sz="3200" b="1" dirty="0">
              <a:latin typeface="+mn-ea"/>
              <a:ea typeface="+mn-ea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914400" y="18288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990033"/>
                </a:solidFill>
                <a:latin typeface="黑体" panose="02010609060101010101" pitchFamily="49" charset="-122"/>
                <a:ea typeface="楷体_GB2312" pitchFamily="49" charset="-122"/>
              </a:rPr>
              <a:t>(3)</a:t>
            </a:r>
            <a:r>
              <a:rPr lang="zh-CN" altLang="en-US" sz="3200" b="1" dirty="0">
                <a:solidFill>
                  <a:srgbClr val="990033"/>
                </a:solidFill>
                <a:latin typeface="黑体" panose="02010609060101010101" pitchFamily="49" charset="-122"/>
                <a:ea typeface="楷体_GB2312" pitchFamily="49" charset="-122"/>
              </a:rPr>
              <a:t>可以实现模拟系统很难达到的指标或特性</a:t>
            </a:r>
          </a:p>
          <a:p>
            <a:endParaRPr lang="zh-CN" altLang="en-US" sz="3200" b="1" dirty="0">
              <a:solidFill>
                <a:srgbClr val="990033"/>
              </a:solidFill>
              <a:latin typeface="黑体" panose="02010609060101010101" pitchFamily="49" charset="-122"/>
              <a:ea typeface="楷体_GB2312" pitchFamily="49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914400" y="2630488"/>
            <a:ext cx="7315200" cy="39989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zh-CN" altLang="en-US" sz="2800" kern="0" dirty="0">
                <a:latin typeface="+mj-lt"/>
              </a:rPr>
              <a:t>例如：有限长单位脉冲响应数字滤波器可以实现严格的线性相位；</a:t>
            </a:r>
            <a:endParaRPr lang="en-US" altLang="zh-CN" sz="2800" kern="0" dirty="0">
              <a:latin typeface="+mj-lt"/>
            </a:endParaRPr>
          </a:p>
          <a:p>
            <a:pPr marL="0" indent="0" algn="just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zh-CN" altLang="en-US" sz="2800" kern="0" dirty="0">
                <a:latin typeface="+mj-lt"/>
              </a:rPr>
              <a:t>在数字信号处理中可以将信号存储起来，用延迟的方法实现非因果系统，从而提高了系统的性能指标；</a:t>
            </a:r>
          </a:p>
          <a:p>
            <a:pPr marL="0" indent="0" algn="just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zh-CN" altLang="en-US" sz="2800" kern="0" dirty="0">
                <a:latin typeface="+mj-lt"/>
              </a:rPr>
              <a:t>数据压缩方法可以大大减少信息传输所需的信道容量。</a:t>
            </a:r>
          </a:p>
          <a:p>
            <a:pPr>
              <a:buFontTx/>
              <a:buNone/>
              <a:defRPr/>
            </a:pPr>
            <a:r>
              <a:rPr lang="zh-CN" altLang="en-US" kern="0" dirty="0">
                <a:latin typeface="+mj-lt"/>
              </a:rPr>
              <a:t>                                                </a:t>
            </a:r>
            <a:r>
              <a:rPr lang="en-US" altLang="zh-CN" kern="0" dirty="0">
                <a:latin typeface="+mj-lt"/>
                <a:hlinkClick r:id="" action="ppaction://noaction"/>
              </a:rPr>
              <a:t>                            </a:t>
            </a:r>
            <a:endParaRPr lang="en-US" altLang="zh-CN" kern="0" dirty="0">
              <a:latin typeface="+mj-lt"/>
            </a:endParaRPr>
          </a:p>
          <a:p>
            <a:pPr>
              <a:defRPr/>
            </a:pPr>
            <a:endParaRPr lang="zh-CN" altLang="en-US" kern="0" dirty="0">
              <a:latin typeface="+mj-lt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3.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为什么要采用数字信号处理</a:t>
            </a:r>
          </a:p>
        </p:txBody>
      </p:sp>
    </p:spTree>
    <p:extLst>
      <p:ext uri="{BB962C8B-B14F-4D97-AF65-F5344CB8AC3E}">
        <p14:creationId xmlns:p14="http://schemas.microsoft.com/office/powerpoint/2010/main" val="2468397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"/>
          <p:cNvSpPr>
            <a:spLocks noChangeArrowheads="1"/>
          </p:cNvSpPr>
          <p:nvPr/>
        </p:nvSpPr>
        <p:spPr bwMode="auto">
          <a:xfrm>
            <a:off x="914400" y="1066800"/>
            <a:ext cx="629126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 dirty="0">
                <a:latin typeface="+mn-ea"/>
                <a:ea typeface="+mn-ea"/>
              </a:rPr>
              <a:t>数字信号处理的主要优点</a:t>
            </a:r>
            <a:endParaRPr lang="zh-CN" altLang="en-US" sz="3200" b="1" dirty="0">
              <a:latin typeface="+mn-ea"/>
              <a:ea typeface="+mn-ea"/>
            </a:endParaRPr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914400" y="1828800"/>
            <a:ext cx="82296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3200" b="1" dirty="0">
                <a:solidFill>
                  <a:srgbClr val="990033"/>
                </a:solidFill>
                <a:latin typeface="黑体" panose="02010609060101010101" pitchFamily="49" charset="-122"/>
                <a:ea typeface="楷体_GB2312" pitchFamily="49" charset="-122"/>
              </a:rPr>
              <a:t>(4)</a:t>
            </a:r>
            <a:r>
              <a:rPr lang="zh-CN" altLang="en-US" sz="3200" b="1" dirty="0">
                <a:solidFill>
                  <a:srgbClr val="990033"/>
                </a:solidFill>
                <a:latin typeface="黑体" panose="02010609060101010101" pitchFamily="49" charset="-122"/>
                <a:ea typeface="楷体_GB2312" pitchFamily="49" charset="-122"/>
              </a:rPr>
              <a:t>可以实现多维信号处理</a:t>
            </a:r>
          </a:p>
          <a:p>
            <a:endParaRPr lang="zh-CN" altLang="en-US" sz="3200" b="1" dirty="0">
              <a:solidFill>
                <a:srgbClr val="990033"/>
              </a:solidFill>
              <a:latin typeface="黑体" panose="02010609060101010101" pitchFamily="49" charset="-122"/>
              <a:ea typeface="楷体_GB2312" pitchFamily="49" charset="-122"/>
            </a:endParaRPr>
          </a:p>
          <a:p>
            <a:endParaRPr lang="zh-CN" altLang="en-US" sz="3200" b="1" dirty="0">
              <a:solidFill>
                <a:srgbClr val="990033"/>
              </a:solidFill>
              <a:latin typeface="黑体" panose="02010609060101010101" pitchFamily="49" charset="-122"/>
              <a:ea typeface="楷体_GB2312" pitchFamily="49" charset="-122"/>
            </a:endParaRPr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>
          <a:xfrm>
            <a:off x="914400" y="2630488"/>
            <a:ext cx="7620000" cy="3998912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1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algn="just">
              <a:lnSpc>
                <a:spcPct val="125000"/>
              </a:lnSpc>
              <a:spcBef>
                <a:spcPts val="0"/>
              </a:spcBef>
              <a:buNone/>
              <a:defRPr/>
            </a:pPr>
            <a:r>
              <a:rPr lang="zh-CN" altLang="en-US" sz="2800" kern="0" dirty="0">
                <a:latin typeface="+mj-lt"/>
              </a:rPr>
              <a:t>利用庞大的存储单元，可以存储二维的图像信号或多维的阵列信号，实现二维或多维的滤波及谱分析等。</a:t>
            </a:r>
          </a:p>
          <a:p>
            <a:pPr>
              <a:buFontTx/>
              <a:buNone/>
              <a:defRPr/>
            </a:pPr>
            <a:r>
              <a:rPr lang="zh-CN" altLang="en-US" kern="0" dirty="0">
                <a:latin typeface="+mj-lt"/>
              </a:rPr>
              <a:t>                                                </a:t>
            </a:r>
            <a:r>
              <a:rPr lang="en-US" altLang="zh-CN" kern="0" dirty="0">
                <a:latin typeface="+mj-lt"/>
                <a:hlinkClick r:id="" action="ppaction://noaction"/>
              </a:rPr>
              <a:t>                            </a:t>
            </a:r>
            <a:endParaRPr lang="en-US" altLang="zh-CN" kern="0" dirty="0">
              <a:latin typeface="+mj-lt"/>
            </a:endParaRPr>
          </a:p>
          <a:p>
            <a:pPr>
              <a:defRPr/>
            </a:pPr>
            <a:endParaRPr lang="zh-CN" altLang="en-US" kern="0" dirty="0">
              <a:latin typeface="+mj-lt"/>
            </a:endParaRPr>
          </a:p>
        </p:txBody>
      </p:sp>
      <p:sp>
        <p:nvSpPr>
          <p:cNvPr id="8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3.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为什么要采用数字信号处理</a:t>
            </a:r>
          </a:p>
        </p:txBody>
      </p:sp>
    </p:spTree>
    <p:extLst>
      <p:ext uri="{BB962C8B-B14F-4D97-AF65-F5344CB8AC3E}">
        <p14:creationId xmlns:p14="http://schemas.microsoft.com/office/powerpoint/2010/main" val="37393893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852488" y="1879600"/>
            <a:ext cx="7605712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5000"/>
              </a:lnSpc>
            </a:pPr>
            <a:r>
              <a:rPr kumimoji="1" lang="en-US" altLang="zh-CN" sz="3200" b="1" dirty="0">
                <a:latin typeface="+mn-ea"/>
                <a:ea typeface="+mn-ea"/>
              </a:rPr>
              <a:t>(1)</a:t>
            </a:r>
            <a:r>
              <a:rPr kumimoji="1" lang="zh-CN" altLang="en-US" sz="3200" b="1" dirty="0">
                <a:latin typeface="+mn-ea"/>
                <a:ea typeface="+mn-ea"/>
              </a:rPr>
              <a:t>增加了系统的复杂性</a:t>
            </a:r>
          </a:p>
          <a:p>
            <a:pPr algn="just">
              <a:lnSpc>
                <a:spcPct val="125000"/>
              </a:lnSpc>
            </a:pPr>
            <a:r>
              <a:rPr kumimoji="1" lang="en-US" altLang="zh-CN" sz="3200" b="1" dirty="0">
                <a:latin typeface="+mn-ea"/>
                <a:ea typeface="+mn-ea"/>
              </a:rPr>
              <a:t>(2)</a:t>
            </a:r>
            <a:r>
              <a:rPr kumimoji="1" lang="zh-CN" altLang="en-US" sz="3200" b="1" dirty="0">
                <a:latin typeface="+mn-ea"/>
                <a:ea typeface="+mn-ea"/>
              </a:rPr>
              <a:t>应用的频率范围受到限制</a:t>
            </a:r>
          </a:p>
          <a:p>
            <a:pPr algn="just">
              <a:lnSpc>
                <a:spcPct val="125000"/>
              </a:lnSpc>
            </a:pPr>
            <a:r>
              <a:rPr kumimoji="1" lang="en-US" altLang="zh-CN" sz="3200" b="1" dirty="0">
                <a:latin typeface="+mn-ea"/>
                <a:ea typeface="+mn-ea"/>
              </a:rPr>
              <a:t>(3)</a:t>
            </a:r>
            <a:r>
              <a:rPr kumimoji="1" lang="zh-CN" altLang="en-US" sz="3200" b="1" dirty="0">
                <a:latin typeface="+mn-ea"/>
                <a:ea typeface="+mn-ea"/>
              </a:rPr>
              <a:t>系统的功率消耗比较大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838200" y="1066800"/>
            <a:ext cx="79248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 dirty="0">
                <a:latin typeface="+mn-ea"/>
              </a:rPr>
              <a:t>数字信号处理系统的</a:t>
            </a:r>
            <a:r>
              <a:rPr kumimoji="1" lang="zh-CN" altLang="en-US" sz="3200" b="1" dirty="0">
                <a:latin typeface="+mn-ea"/>
                <a:ea typeface="+mn-ea"/>
              </a:rPr>
              <a:t>缺点</a:t>
            </a:r>
            <a:endParaRPr lang="zh-CN" altLang="en-US" sz="3200" b="1" dirty="0">
              <a:latin typeface="+mn-ea"/>
              <a:ea typeface="+mn-ea"/>
            </a:endParaRPr>
          </a:p>
        </p:txBody>
      </p:sp>
      <p:pic>
        <p:nvPicPr>
          <p:cNvPr id="25" name="Picture 4" descr="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343400"/>
            <a:ext cx="7691437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" name="Text Box 5"/>
          <p:cNvSpPr txBox="1">
            <a:spLocks noChangeArrowheads="1"/>
          </p:cNvSpPr>
          <p:nvPr/>
        </p:nvSpPr>
        <p:spPr bwMode="auto">
          <a:xfrm>
            <a:off x="2151061" y="6036314"/>
            <a:ext cx="524033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zh-CN" altLang="en-US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图</a:t>
            </a:r>
            <a:r>
              <a:rPr lang="en-US" altLang="zh-CN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2.1 </a:t>
            </a:r>
            <a:r>
              <a:rPr lang="zh-CN" altLang="en-US" sz="2400" b="1" dirty="0">
                <a:solidFill>
                  <a:srgbClr val="000000"/>
                </a:solidFill>
                <a:latin typeface="+mj-lt"/>
                <a:ea typeface="新宋体" panose="02010609030101010101" pitchFamily="49" charset="-122"/>
              </a:rPr>
              <a:t>数字信号处理系统的简单框图</a:t>
            </a: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3.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为什么要采用数字信号处理</a:t>
            </a:r>
          </a:p>
        </p:txBody>
      </p:sp>
    </p:spTree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数字信号处理的发展与应用</a:t>
            </a:r>
          </a:p>
        </p:txBody>
      </p:sp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990600" y="2819400"/>
            <a:ext cx="76962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1" lang="zh-CN" altLang="en-US" sz="3200" b="1" dirty="0">
                <a:latin typeface="+mn-ea"/>
              </a:rPr>
              <a:t>数字信号处理的发展表现为：</a:t>
            </a:r>
            <a:endParaRPr lang="zh-CN" altLang="en-US" sz="3200" b="1" dirty="0">
              <a:latin typeface="+mn-ea"/>
              <a:ea typeface="+mn-ea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832983" y="3634901"/>
            <a:ext cx="7775008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25000"/>
              </a:lnSpc>
            </a:pPr>
            <a:r>
              <a:rPr kumimoji="1" lang="en-US" altLang="zh-CN" sz="3200" b="1" dirty="0">
                <a:latin typeface="+mn-ea"/>
                <a:ea typeface="+mn-ea"/>
              </a:rPr>
              <a:t>(1)</a:t>
            </a:r>
            <a:r>
              <a:rPr kumimoji="1" lang="zh-CN" altLang="en-US" sz="3200" b="1" dirty="0">
                <a:latin typeface="+mn-ea"/>
                <a:ea typeface="+mn-ea"/>
              </a:rPr>
              <a:t>由简单的运算走向复杂的运算</a:t>
            </a:r>
            <a:endParaRPr kumimoji="1" lang="en-US" altLang="zh-CN" sz="3200" b="1" dirty="0">
              <a:latin typeface="+mn-ea"/>
              <a:ea typeface="+mn-ea"/>
            </a:endParaRPr>
          </a:p>
          <a:p>
            <a:pPr algn="just">
              <a:lnSpc>
                <a:spcPct val="125000"/>
              </a:lnSpc>
            </a:pPr>
            <a:r>
              <a:rPr kumimoji="1" lang="en-US" altLang="zh-CN" sz="3200" b="1" dirty="0">
                <a:latin typeface="+mn-ea"/>
                <a:ea typeface="+mn-ea"/>
              </a:rPr>
              <a:t>(2)</a:t>
            </a:r>
            <a:r>
              <a:rPr kumimoji="1" lang="zh-CN" altLang="en-US" sz="3200" b="1" dirty="0">
                <a:latin typeface="+mn-ea"/>
              </a:rPr>
              <a:t>由低频走向高频</a:t>
            </a:r>
            <a:endParaRPr kumimoji="1" lang="en-US" altLang="zh-CN" sz="3200" b="1" dirty="0">
              <a:latin typeface="+mn-ea"/>
              <a:ea typeface="+mn-ea"/>
            </a:endParaRPr>
          </a:p>
          <a:p>
            <a:pPr algn="just">
              <a:lnSpc>
                <a:spcPct val="125000"/>
              </a:lnSpc>
            </a:pPr>
            <a:r>
              <a:rPr kumimoji="1" lang="en-US" altLang="zh-CN" sz="3200" b="1" dirty="0">
                <a:latin typeface="+mn-ea"/>
                <a:ea typeface="+mn-ea"/>
              </a:rPr>
              <a:t>(3)</a:t>
            </a:r>
            <a:r>
              <a:rPr kumimoji="1" lang="zh-CN" altLang="en-US" sz="3200" b="1" dirty="0">
                <a:latin typeface="+mn-ea"/>
              </a:rPr>
              <a:t>由一维走向多维</a:t>
            </a:r>
            <a:endParaRPr kumimoji="1" lang="en-US" altLang="zh-CN" sz="3200" b="1" dirty="0">
              <a:latin typeface="+mn-ea"/>
              <a:ea typeface="+mn-ea"/>
            </a:endParaRPr>
          </a:p>
          <a:p>
            <a:pPr algn="just">
              <a:lnSpc>
                <a:spcPct val="125000"/>
              </a:lnSpc>
            </a:pPr>
            <a:r>
              <a:rPr kumimoji="1" lang="en-US" altLang="zh-CN" sz="3200" b="1" dirty="0">
                <a:latin typeface="+mn-ea"/>
                <a:ea typeface="+mn-ea"/>
              </a:rPr>
              <a:t>(4)</a:t>
            </a:r>
            <a:r>
              <a:rPr kumimoji="1" lang="zh-CN" altLang="en-US" sz="3200" b="1" dirty="0">
                <a:latin typeface="+mn-ea"/>
              </a:rPr>
              <a:t>各种数字信号处理系统均几经更新换代</a:t>
            </a:r>
          </a:p>
        </p:txBody>
      </p:sp>
      <p:sp>
        <p:nvSpPr>
          <p:cNvPr id="9" name="矩形 8"/>
          <p:cNvSpPr/>
          <p:nvPr/>
        </p:nvSpPr>
        <p:spPr>
          <a:xfrm>
            <a:off x="1012371" y="924519"/>
            <a:ext cx="7788277" cy="1708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latin typeface="+mj-lt"/>
                <a:ea typeface="+mn-ea"/>
              </a:rPr>
              <a:t>1965</a:t>
            </a:r>
            <a:r>
              <a:rPr lang="zh-CN" altLang="en-US" b="1" dirty="0">
                <a:latin typeface="+mj-lt"/>
                <a:ea typeface="+mn-ea"/>
              </a:rPr>
              <a:t>年 </a:t>
            </a:r>
            <a:r>
              <a:rPr lang="en-US" altLang="zh-CN" b="1" dirty="0">
                <a:latin typeface="+mj-lt"/>
                <a:ea typeface="+mn-ea"/>
              </a:rPr>
              <a:t>Cooley</a:t>
            </a:r>
            <a:r>
              <a:rPr lang="zh-CN" altLang="en-US" b="1" dirty="0">
                <a:latin typeface="+mj-lt"/>
                <a:ea typeface="+mn-ea"/>
              </a:rPr>
              <a:t>和</a:t>
            </a:r>
            <a:r>
              <a:rPr lang="en-US" altLang="zh-CN" b="1" dirty="0">
                <a:latin typeface="+mj-lt"/>
                <a:ea typeface="+mn-ea"/>
              </a:rPr>
              <a:t>Tukey</a:t>
            </a:r>
            <a:r>
              <a:rPr lang="zh-CN" altLang="en-US" b="1" dirty="0">
                <a:latin typeface="+mj-lt"/>
                <a:ea typeface="+mn-ea"/>
              </a:rPr>
              <a:t>提出了</a:t>
            </a:r>
            <a:r>
              <a:rPr lang="en-US" altLang="zh-CN" b="1" dirty="0">
                <a:solidFill>
                  <a:srgbClr val="FF0000"/>
                </a:solidFill>
                <a:latin typeface="+mj-lt"/>
                <a:ea typeface="+mn-ea"/>
              </a:rPr>
              <a:t>FFT</a:t>
            </a:r>
            <a:r>
              <a:rPr lang="zh-CN" altLang="en-US" b="1" dirty="0">
                <a:latin typeface="+mj-lt"/>
                <a:ea typeface="+mn-ea"/>
              </a:rPr>
              <a:t>算法</a:t>
            </a:r>
            <a:endParaRPr lang="en-US" altLang="zh-CN" b="1" dirty="0">
              <a:latin typeface="+mj-lt"/>
              <a:ea typeface="+mn-ea"/>
            </a:endParaRPr>
          </a:p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latin typeface="+mj-lt"/>
                <a:ea typeface="+mn-ea"/>
              </a:rPr>
              <a:t>("An algorithm for the machine calculation of</a:t>
            </a:r>
          </a:p>
          <a:p>
            <a:pPr eaLnBrk="1" hangingPunct="1">
              <a:lnSpc>
                <a:spcPct val="125000"/>
              </a:lnSpc>
            </a:pPr>
            <a:r>
              <a:rPr lang="en-US" altLang="zh-CN" b="1" dirty="0">
                <a:latin typeface="+mj-lt"/>
                <a:ea typeface="+mn-ea"/>
              </a:rPr>
              <a:t> complex Fourier series")</a:t>
            </a:r>
          </a:p>
        </p:txBody>
      </p:sp>
    </p:spTree>
    <p:extLst>
      <p:ext uri="{BB962C8B-B14F-4D97-AF65-F5344CB8AC3E}">
        <p14:creationId xmlns:p14="http://schemas.microsoft.com/office/powerpoint/2010/main" val="78851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A66E0095-BCC3-4A3E-9BBA-4806B0473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295400"/>
            <a:ext cx="8748518" cy="4596782"/>
          </a:xfrm>
          <a:prstGeom prst="rect">
            <a:avLst/>
          </a:prstGeom>
        </p:spPr>
      </p:pic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4.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数字信号处理的发展与应用</a:t>
            </a:r>
          </a:p>
        </p:txBody>
      </p:sp>
    </p:spTree>
    <p:extLst>
      <p:ext uri="{BB962C8B-B14F-4D97-AF65-F5344CB8AC3E}">
        <p14:creationId xmlns:p14="http://schemas.microsoft.com/office/powerpoint/2010/main" val="333947953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rgbClr val="993300"/>
                </a:solidFill>
                <a:ea typeface="楷体_GB2312" pitchFamily="49" charset="-122"/>
              </a:rPr>
              <a:t>5.</a:t>
            </a:r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本书的主要内容</a:t>
            </a:r>
          </a:p>
        </p:txBody>
      </p:sp>
      <p:sp>
        <p:nvSpPr>
          <p:cNvPr id="4" name="矩形 3"/>
          <p:cNvSpPr/>
          <p:nvPr/>
        </p:nvSpPr>
        <p:spPr>
          <a:xfrm>
            <a:off x="533400" y="1371600"/>
            <a:ext cx="8153400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b="1" dirty="0">
                <a:latin typeface="+mj-lt"/>
                <a:ea typeface="+mn-ea"/>
              </a:rPr>
              <a:t>第</a:t>
            </a:r>
            <a:r>
              <a:rPr lang="en-US" altLang="zh-CN" b="1" dirty="0">
                <a:latin typeface="+mj-lt"/>
                <a:ea typeface="+mn-ea"/>
              </a:rPr>
              <a:t>1</a:t>
            </a:r>
            <a:r>
              <a:rPr lang="zh-CN" altLang="en-US" b="1" dirty="0">
                <a:latin typeface="+mj-lt"/>
                <a:ea typeface="+mn-ea"/>
              </a:rPr>
              <a:t>章 离散时间信号与系统</a:t>
            </a:r>
            <a:endParaRPr lang="en-US" altLang="zh-CN" b="1" dirty="0">
              <a:latin typeface="+mj-lt"/>
              <a:ea typeface="+mn-ea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b="1" dirty="0"/>
              <a:t>第</a:t>
            </a:r>
            <a:r>
              <a:rPr lang="en-US" altLang="zh-CN" b="1" dirty="0"/>
              <a:t>2</a:t>
            </a:r>
            <a:r>
              <a:rPr lang="zh-CN" altLang="en-US" b="1" dirty="0"/>
              <a:t>章 </a:t>
            </a:r>
            <a:r>
              <a:rPr lang="zh-CN" altLang="en-US" b="1" dirty="0">
                <a:latin typeface="+mj-lt"/>
                <a:ea typeface="+mn-ea"/>
              </a:rPr>
              <a:t>信号的采样与重建</a:t>
            </a:r>
            <a:endParaRPr lang="en-US" altLang="zh-CN" dirty="0">
              <a:latin typeface="+mj-lt"/>
              <a:ea typeface="+mn-ea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b="1" dirty="0"/>
              <a:t>第</a:t>
            </a:r>
            <a:r>
              <a:rPr lang="en-US" altLang="zh-CN" b="1" dirty="0"/>
              <a:t>3</a:t>
            </a:r>
            <a:r>
              <a:rPr lang="zh-CN" altLang="en-US" b="1" dirty="0"/>
              <a:t>章 </a:t>
            </a:r>
            <a:r>
              <a:rPr lang="zh-CN" altLang="en-US" b="1" dirty="0">
                <a:latin typeface="+mj-lt"/>
                <a:ea typeface="+mn-ea"/>
              </a:rPr>
              <a:t>离散傅里叶变换及其快速算法</a:t>
            </a:r>
            <a:endParaRPr lang="en-US" altLang="zh-CN" dirty="0">
              <a:latin typeface="+mj-lt"/>
              <a:ea typeface="+mn-ea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b="1" dirty="0"/>
              <a:t>第</a:t>
            </a:r>
            <a:r>
              <a:rPr lang="en-US" altLang="zh-CN" b="1" dirty="0"/>
              <a:t>4</a:t>
            </a:r>
            <a:r>
              <a:rPr lang="zh-CN" altLang="en-US" b="1" dirty="0"/>
              <a:t>章 </a:t>
            </a:r>
            <a:r>
              <a:rPr lang="zh-CN" altLang="en-US" b="1" dirty="0">
                <a:latin typeface="+mj-lt"/>
                <a:ea typeface="+mn-ea"/>
              </a:rPr>
              <a:t>无限长单位脉冲响应</a:t>
            </a:r>
            <a:r>
              <a:rPr lang="en-US" altLang="zh-CN" b="1" dirty="0">
                <a:latin typeface="+mj-lt"/>
                <a:ea typeface="+mn-ea"/>
              </a:rPr>
              <a:t>(IIR)</a:t>
            </a:r>
            <a:r>
              <a:rPr lang="zh-CN" altLang="en-US" b="1" dirty="0">
                <a:latin typeface="+mj-lt"/>
                <a:ea typeface="+mn-ea"/>
              </a:rPr>
              <a:t>滤波器的设计方法</a:t>
            </a:r>
            <a:br>
              <a:rPr lang="en-US" altLang="zh-CN" b="1" dirty="0">
                <a:latin typeface="+mj-lt"/>
                <a:ea typeface="+mn-ea"/>
              </a:rPr>
            </a:br>
            <a:r>
              <a:rPr lang="zh-CN" altLang="en-US" b="1" dirty="0"/>
              <a:t>第</a:t>
            </a:r>
            <a:r>
              <a:rPr lang="en-US" altLang="zh-CN" b="1" dirty="0"/>
              <a:t>5</a:t>
            </a:r>
            <a:r>
              <a:rPr lang="zh-CN" altLang="en-US" b="1" dirty="0"/>
              <a:t>章 有限长单位脉冲响应</a:t>
            </a:r>
            <a:r>
              <a:rPr lang="en-US" altLang="zh-CN" b="1" dirty="0"/>
              <a:t>(FIR)</a:t>
            </a:r>
            <a:r>
              <a:rPr lang="zh-CN" altLang="en-US" b="1" dirty="0"/>
              <a:t>滤波器的设计方法</a:t>
            </a:r>
            <a:br>
              <a:rPr lang="en-US" altLang="zh-CN" b="1" dirty="0"/>
            </a:br>
            <a:r>
              <a:rPr lang="zh-CN" altLang="en-US" b="1" dirty="0"/>
              <a:t>第</a:t>
            </a:r>
            <a:r>
              <a:rPr lang="en-US" altLang="zh-CN" b="1" dirty="0"/>
              <a:t>6</a:t>
            </a:r>
            <a:r>
              <a:rPr lang="zh-CN" altLang="en-US" b="1" dirty="0"/>
              <a:t>章 </a:t>
            </a:r>
            <a:r>
              <a:rPr lang="zh-CN" altLang="en-US" b="1" dirty="0">
                <a:latin typeface="+mj-lt"/>
                <a:ea typeface="+mn-ea"/>
              </a:rPr>
              <a:t>数字信号处理系统的实现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</a:rPr>
              <a:t>第</a:t>
            </a:r>
            <a:r>
              <a:rPr lang="en-US" altLang="zh-CN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</a:rPr>
              <a:t>7</a:t>
            </a:r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  <a:ea typeface="+mn-ea"/>
              </a:rPr>
              <a:t>章 多采样率信号处理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36270631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762000" y="228600"/>
            <a:ext cx="609600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rgbClr val="993300"/>
                </a:solidFill>
                <a:ea typeface="楷体_GB2312" pitchFamily="49" charset="-122"/>
              </a:rPr>
              <a:t>绪论要点</a:t>
            </a:r>
          </a:p>
        </p:txBody>
      </p:sp>
      <p:sp>
        <p:nvSpPr>
          <p:cNvPr id="2" name="矩形 1"/>
          <p:cNvSpPr/>
          <p:nvPr/>
        </p:nvSpPr>
        <p:spPr>
          <a:xfrm>
            <a:off x="990600" y="1447800"/>
            <a:ext cx="70104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3200" b="1" dirty="0"/>
              <a:t>掌握模拟信号、数字信号的特点</a:t>
            </a:r>
            <a:br>
              <a:rPr lang="zh-CN" altLang="en-US" sz="3200" b="1" dirty="0"/>
            </a:br>
            <a:endParaRPr lang="zh-CN" altLang="en-US" sz="3200" b="1" dirty="0"/>
          </a:p>
        </p:txBody>
      </p:sp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352606"/>
              </p:ext>
            </p:extLst>
          </p:nvPr>
        </p:nvGraphicFramePr>
        <p:xfrm>
          <a:off x="515938" y="2437378"/>
          <a:ext cx="7408862" cy="3353822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50800" dir="5400000" algn="ctr" rotWithShape="0">
                    <a:sysClr val="window" lastClr="FFFFFF"/>
                  </a:outerShdw>
                </a:effectLst>
              </a:tblPr>
              <a:tblGrid>
                <a:gridCol w="2808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801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9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34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endParaRPr lang="zh-CN" altLang="en-US" sz="2800" dirty="0">
                        <a:solidFill>
                          <a:schemeClr val="tx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T="45737" marB="4573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2800" dirty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时间</a:t>
                      </a:r>
                    </a:p>
                  </a:txBody>
                  <a:tcPr marT="45737" marB="4573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2800" dirty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幅值</a:t>
                      </a:r>
                    </a:p>
                  </a:txBody>
                  <a:tcPr marT="45737" marB="4573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381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51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2800" b="1" dirty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模拟信号</a:t>
                      </a:r>
                    </a:p>
                  </a:txBody>
                  <a:tcPr marT="45737" marB="4573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2800" b="1" dirty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连续</a:t>
                      </a:r>
                    </a:p>
                  </a:txBody>
                  <a:tcPr marT="45737" marB="4573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2800" b="1" dirty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连续</a:t>
                      </a:r>
                    </a:p>
                  </a:txBody>
                  <a:tcPr marT="45737" marB="4573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38100" cmpd="sng">
                      <a:solidFill>
                        <a:sysClr val="window" lastClr="FFFFFF"/>
                      </a:solidFill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4521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2800" b="1" dirty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数字信号</a:t>
                      </a:r>
                    </a:p>
                  </a:txBody>
                  <a:tcPr marT="45737" marB="4573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2800" b="1" dirty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离散</a:t>
                      </a:r>
                    </a:p>
                  </a:txBody>
                  <a:tcPr marT="45737" marB="4573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r>
                        <a:rPr lang="zh-CN" altLang="en-US" sz="2800" b="1" dirty="0">
                          <a:solidFill>
                            <a:schemeClr val="tx1"/>
                          </a:solidFill>
                          <a:latin typeface="Times New Roman" panose="02020503050405090304" pitchFamily="18" charset="0"/>
                          <a:cs typeface="Times New Roman" panose="02020503050405090304" pitchFamily="18" charset="0"/>
                        </a:rPr>
                        <a:t>离散</a:t>
                      </a:r>
                    </a:p>
                  </a:txBody>
                  <a:tcPr marT="45737" marB="45737">
                    <a:lnL w="12700" cmpd="sng">
                      <a:solidFill>
                        <a:sysClr val="window" lastClr="FFFFFF"/>
                      </a:solidFill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mpd="sng">
                      <a:solidFill>
                        <a:sysClr val="window" lastClr="FFFFFF"/>
                      </a:solidFill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451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T="45737" marB="45737">
                    <a:lnL w="12700" cmpd="sng">
                      <a:solidFill>
                        <a:sysClr val="window" lastClr="FFFFFF"/>
                      </a:solidFill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algn="ctr"/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T="45737" marB="45737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Times New Roman"/>
                          <a:ea typeface="宋体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2800" b="1" dirty="0">
                        <a:solidFill>
                          <a:schemeClr val="tx1"/>
                        </a:solidFill>
                        <a:latin typeface="Times New Roman" panose="02020503050405090304" pitchFamily="18" charset="0"/>
                        <a:cs typeface="Times New Roman" panose="02020503050405090304" pitchFamily="18" charset="0"/>
                      </a:endParaRPr>
                    </a:p>
                  </a:txBody>
                  <a:tcPr marT="45737" marB="45737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" lastClr="FFFFFF"/>
                      </a:solidFill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" lastClr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10" name="直接连接符 9"/>
          <p:cNvCxnSpPr/>
          <p:nvPr/>
        </p:nvCxnSpPr>
        <p:spPr>
          <a:xfrm>
            <a:off x="990600" y="2926329"/>
            <a:ext cx="6629400" cy="0"/>
          </a:xfrm>
          <a:prstGeom prst="line">
            <a:avLst/>
          </a:prstGeom>
          <a:noFill/>
          <a:ln w="317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  <p:cxnSp>
        <p:nvCxnSpPr>
          <p:cNvPr id="11" name="直接连接符 10"/>
          <p:cNvCxnSpPr/>
          <p:nvPr/>
        </p:nvCxnSpPr>
        <p:spPr>
          <a:xfrm>
            <a:off x="3200400" y="2437378"/>
            <a:ext cx="0" cy="2234249"/>
          </a:xfrm>
          <a:prstGeom prst="line">
            <a:avLst/>
          </a:prstGeom>
          <a:noFill/>
          <a:ln w="31750" cap="flat" cmpd="sng" algn="ctr">
            <a:solidFill>
              <a:srgbClr val="4472C4"/>
            </a:solidFill>
            <a:prstDash val="solid"/>
            <a:miter lim="800000"/>
          </a:ln>
          <a:effectLst/>
        </p:spPr>
      </p:cxnSp>
    </p:spTree>
  </p:cSld>
  <p:clrMapOvr>
    <a:masterClrMapping/>
  </p:clrMapOvr>
  <p:transition/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DSP2024">
  <a:themeElements>
    <a:clrScheme name="自定义 1">
      <a:dk1>
        <a:srgbClr val="000000"/>
      </a:dk1>
      <a:lt1>
        <a:srgbClr val="FFFFFF"/>
      </a:lt1>
      <a:dk2>
        <a:srgbClr val="000066"/>
      </a:dk2>
      <a:lt2>
        <a:srgbClr val="FFFFFF"/>
      </a:lt2>
      <a:accent1>
        <a:srgbClr val="FFFFCC"/>
      </a:accent1>
      <a:accent2>
        <a:srgbClr val="B5E0E3"/>
      </a:accent2>
      <a:accent3>
        <a:srgbClr val="FFFFFF"/>
      </a:accent3>
      <a:accent4>
        <a:srgbClr val="000000"/>
      </a:accent4>
      <a:accent5>
        <a:srgbClr val="FFFFE2"/>
      </a:accent5>
      <a:accent6>
        <a:srgbClr val="A4CBCE"/>
      </a:accent6>
      <a:hlink>
        <a:srgbClr val="BFDFFF"/>
      </a:hlink>
      <a:folHlink>
        <a:srgbClr val="99CCFF"/>
      </a:folHlink>
    </a:clrScheme>
    <a:fontScheme name="Global">
      <a:majorFont>
        <a:latin typeface="Times New Roman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en-US" altLang="zh-CN" sz="32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DSP2024" id="{2ABF3796-3E41-4290-A31C-6A48D2618A1B}" vid="{6234E74D-6E6B-44C7-B4DA-E202DD9AB676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infor</Template>
  <TotalTime>7622</TotalTime>
  <Words>1325</Words>
  <Application>Microsoft Office PowerPoint</Application>
  <PresentationFormat>全屏显示(4:3)</PresentationFormat>
  <Paragraphs>174</Paragraphs>
  <Slides>29</Slides>
  <Notes>3</Notes>
  <HiddenSlides>0</HiddenSlides>
  <MMClips>3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29</vt:i4>
      </vt:variant>
    </vt:vector>
  </HeadingPairs>
  <TitlesOfParts>
    <vt:vector size="41" baseType="lpstr">
      <vt:lpstr>Color Emoji</vt:lpstr>
      <vt:lpstr>黑体</vt:lpstr>
      <vt:lpstr>楷体</vt:lpstr>
      <vt:lpstr>楷体_GB2312</vt:lpstr>
      <vt:lpstr>宋体</vt:lpstr>
      <vt:lpstr>宋体</vt:lpstr>
      <vt:lpstr>Arial</vt:lpstr>
      <vt:lpstr>Tahoma</vt:lpstr>
      <vt:lpstr>Times New Roman</vt:lpstr>
      <vt:lpstr>Wingdings</vt:lpstr>
      <vt:lpstr>默认设计模板</vt:lpstr>
      <vt:lpstr>DSP2024</vt:lpstr>
      <vt:lpstr>数字信号处理 Digital Signal Processing </vt:lpstr>
      <vt:lpstr>PowerPoint 演示文稿</vt:lpstr>
      <vt:lpstr>PowerPoint 演示文稿</vt:lpstr>
      <vt:lpstr>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克琴 周</cp:lastModifiedBy>
  <cp:revision>724</cp:revision>
  <cp:lastPrinted>2024-09-19T12:04:01Z</cp:lastPrinted>
  <dcterms:created xsi:type="dcterms:W3CDTF">1601-01-01T00:00:00Z</dcterms:created>
  <dcterms:modified xsi:type="dcterms:W3CDTF">2025-02-16T16:50:39Z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