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 id="2147483800" r:id="rId2"/>
  </p:sldMasterIdLst>
  <p:notesMasterIdLst>
    <p:notesMasterId r:id="rId73"/>
  </p:notesMasterIdLst>
  <p:sldIdLst>
    <p:sldId id="505" r:id="rId3"/>
    <p:sldId id="570" r:id="rId4"/>
    <p:sldId id="571" r:id="rId5"/>
    <p:sldId id="471" r:id="rId6"/>
    <p:sldId id="575" r:id="rId7"/>
    <p:sldId id="476" r:id="rId8"/>
    <p:sldId id="577" r:id="rId9"/>
    <p:sldId id="578" r:id="rId10"/>
    <p:sldId id="579" r:id="rId11"/>
    <p:sldId id="580" r:id="rId12"/>
    <p:sldId id="593" r:id="rId13"/>
    <p:sldId id="581" r:id="rId14"/>
    <p:sldId id="589" r:id="rId15"/>
    <p:sldId id="594" r:id="rId16"/>
    <p:sldId id="590" r:id="rId17"/>
    <p:sldId id="595" r:id="rId18"/>
    <p:sldId id="596" r:id="rId19"/>
    <p:sldId id="597" r:id="rId20"/>
    <p:sldId id="592" r:id="rId21"/>
    <p:sldId id="582" r:id="rId22"/>
    <p:sldId id="583" r:id="rId23"/>
    <p:sldId id="584" r:id="rId24"/>
    <p:sldId id="585" r:id="rId25"/>
    <p:sldId id="598" r:id="rId26"/>
    <p:sldId id="599" r:id="rId27"/>
    <p:sldId id="600" r:id="rId28"/>
    <p:sldId id="601" r:id="rId29"/>
    <p:sldId id="602" r:id="rId30"/>
    <p:sldId id="604" r:id="rId31"/>
    <p:sldId id="605" r:id="rId32"/>
    <p:sldId id="606" r:id="rId33"/>
    <p:sldId id="607" r:id="rId34"/>
    <p:sldId id="608" r:id="rId35"/>
    <p:sldId id="609" r:id="rId36"/>
    <p:sldId id="610" r:id="rId37"/>
    <p:sldId id="616" r:id="rId38"/>
    <p:sldId id="611" r:id="rId39"/>
    <p:sldId id="612" r:id="rId40"/>
    <p:sldId id="613" r:id="rId41"/>
    <p:sldId id="614" r:id="rId42"/>
    <p:sldId id="615" r:id="rId43"/>
    <p:sldId id="617" r:id="rId44"/>
    <p:sldId id="618" r:id="rId45"/>
    <p:sldId id="619" r:id="rId46"/>
    <p:sldId id="629" r:id="rId47"/>
    <p:sldId id="620" r:id="rId48"/>
    <p:sldId id="621" r:id="rId49"/>
    <p:sldId id="632" r:id="rId50"/>
    <p:sldId id="633" r:id="rId51"/>
    <p:sldId id="625" r:id="rId52"/>
    <p:sldId id="630" r:id="rId53"/>
    <p:sldId id="631" r:id="rId54"/>
    <p:sldId id="634" r:id="rId55"/>
    <p:sldId id="638" r:id="rId56"/>
    <p:sldId id="639" r:id="rId57"/>
    <p:sldId id="640" r:id="rId58"/>
    <p:sldId id="641" r:id="rId59"/>
    <p:sldId id="642" r:id="rId60"/>
    <p:sldId id="643" r:id="rId61"/>
    <p:sldId id="644" r:id="rId62"/>
    <p:sldId id="645" r:id="rId63"/>
    <p:sldId id="646" r:id="rId64"/>
    <p:sldId id="647" r:id="rId65"/>
    <p:sldId id="648" r:id="rId66"/>
    <p:sldId id="649" r:id="rId67"/>
    <p:sldId id="650" r:id="rId68"/>
    <p:sldId id="651" r:id="rId69"/>
    <p:sldId id="652" r:id="rId70"/>
    <p:sldId id="654" r:id="rId71"/>
    <p:sldId id="569" r:id="rId7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charset="0"/>
        <a:ea typeface="宋体" charset="-122"/>
        <a:cs typeface="+mn-cs"/>
      </a:defRPr>
    </a:lvl2pPr>
    <a:lvl3pPr marL="914400" algn="l" rtl="0" eaLnBrk="0" fontAlgn="base" hangingPunct="0">
      <a:spcBef>
        <a:spcPct val="0"/>
      </a:spcBef>
      <a:spcAft>
        <a:spcPct val="0"/>
      </a:spcAft>
      <a:defRPr kern="1200">
        <a:solidFill>
          <a:schemeClr val="tx1"/>
        </a:solidFill>
        <a:latin typeface="Arial" charset="0"/>
        <a:ea typeface="宋体" charset="-122"/>
        <a:cs typeface="+mn-cs"/>
      </a:defRPr>
    </a:lvl3pPr>
    <a:lvl4pPr marL="1371600" algn="l" rtl="0" eaLnBrk="0" fontAlgn="base" hangingPunct="0">
      <a:spcBef>
        <a:spcPct val="0"/>
      </a:spcBef>
      <a:spcAft>
        <a:spcPct val="0"/>
      </a:spcAft>
      <a:defRPr kern="1200">
        <a:solidFill>
          <a:schemeClr val="tx1"/>
        </a:solidFill>
        <a:latin typeface="Arial" charset="0"/>
        <a:ea typeface="宋体" charset="-122"/>
        <a:cs typeface="+mn-cs"/>
      </a:defRPr>
    </a:lvl4pPr>
    <a:lvl5pPr marL="1828800" algn="l" rtl="0" eaLnBrk="0" fontAlgn="base" hangingPunct="0">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C00FF"/>
    <a:srgbClr val="9900CC"/>
    <a:srgbClr val="FF0000"/>
    <a:srgbClr val="3A0DFB"/>
    <a:srgbClr val="800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47" autoAdjust="0"/>
  </p:normalViewPr>
  <p:slideViewPr>
    <p:cSldViewPr>
      <p:cViewPr varScale="1">
        <p:scale>
          <a:sx n="82" d="100"/>
          <a:sy n="82" d="100"/>
        </p:scale>
        <p:origin x="13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宋体" pitchFamily="2" charset="-122"/>
              </a:defRPr>
            </a:lvl1pPr>
          </a:lstStyle>
          <a:p>
            <a:pPr>
              <a:defRPr/>
            </a:pPr>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宋体" pitchFamily="2" charset="-122"/>
              </a:defRPr>
            </a:lvl1pPr>
          </a:lstStyle>
          <a:p>
            <a:pPr>
              <a:defRPr/>
            </a:pPr>
            <a:fld id="{E3E2798C-E394-4985-BC0F-E7B3710BEA5C}" type="datetimeFigureOut">
              <a:rPr lang="zh-CN" altLang="en-US"/>
              <a:pPr>
                <a:defRPr/>
              </a:pPr>
              <a:t>2025/5/21</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noProof="0"/>
              <a:t>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宋体" pitchFamily="2" charset="-122"/>
              </a:defRPr>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smtClean="0">
                <a:ea typeface="宋体" pitchFamily="2" charset="-122"/>
              </a:defRPr>
            </a:lvl1pPr>
          </a:lstStyle>
          <a:p>
            <a:pPr>
              <a:defRPr/>
            </a:pPr>
            <a:fld id="{32F6A095-CCE2-4162-B170-1A72DCBE71C1}" type="slidenum">
              <a:rPr lang="zh-CN" altLang="en-US"/>
              <a:pPr>
                <a:defRPr/>
              </a:pPr>
              <a:t>‹#›</a:t>
            </a:fld>
            <a:endParaRPr lang="zh-CN" altLang="en-US"/>
          </a:p>
        </p:txBody>
      </p:sp>
    </p:spTree>
    <p:extLst>
      <p:ext uri="{BB962C8B-B14F-4D97-AF65-F5344CB8AC3E}">
        <p14:creationId xmlns:p14="http://schemas.microsoft.com/office/powerpoint/2010/main" val="12385736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F019527-B30D-4AD0-AB78-D158C6C567D1}"/>
              </a:ext>
            </a:extLst>
          </p:cNvPr>
          <p:cNvSpPr>
            <a:spLocks noGrp="1" noChangeArrowheads="1"/>
          </p:cNvSpPr>
          <p:nvPr>
            <p:ph type="sldNum" sz="quarter" idx="5"/>
          </p:nvPr>
        </p:nvSpPr>
        <p:spPr>
          <a:noFill/>
        </p:spPr>
        <p:txBody>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9617BF1-31D7-4974-8123-98E9ACAC22F0}" type="slidenum">
              <a:rPr kumimoji="1"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1"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243" name="Rectangle 2">
            <a:extLst>
              <a:ext uri="{FF2B5EF4-FFF2-40B4-BE49-F238E27FC236}">
                <a16:creationId xmlns:a16="http://schemas.microsoft.com/office/drawing/2014/main" id="{5C240330-11C7-4757-8060-C363ED376223}"/>
              </a:ext>
            </a:extLst>
          </p:cNvPr>
          <p:cNvSpPr>
            <a:spLocks noGrp="1" noRot="1" noChangeAspect="1" noChangeArrowheads="1" noTextEdit="1"/>
          </p:cNvSpPr>
          <p:nvPr>
            <p:ph type="sldImg"/>
          </p:nvPr>
        </p:nvSpPr>
        <p:spPr>
          <a:xfrm>
            <a:off x="923925" y="746125"/>
            <a:ext cx="4970463" cy="3727450"/>
          </a:xfrm>
          <a:ln/>
        </p:spPr>
      </p:sp>
      <p:sp>
        <p:nvSpPr>
          <p:cNvPr id="10244" name="Rectangle 3">
            <a:extLst>
              <a:ext uri="{FF2B5EF4-FFF2-40B4-BE49-F238E27FC236}">
                <a16:creationId xmlns:a16="http://schemas.microsoft.com/office/drawing/2014/main" id="{A9B48E6C-ECD4-4A48-8070-F2E2DD5FD47A}"/>
              </a:ext>
            </a:extLst>
          </p:cNvPr>
          <p:cNvSpPr>
            <a:spLocks noGrp="1" noChangeArrowheads="1"/>
          </p:cNvSpPr>
          <p:nvPr>
            <p:ph type="body" idx="1"/>
          </p:nvPr>
        </p:nvSpPr>
        <p:spPr>
          <a:xfrm>
            <a:off x="908050" y="4722813"/>
            <a:ext cx="4999038" cy="4473575"/>
          </a:xfrm>
          <a:noFill/>
        </p:spPr>
        <p:txBody>
          <a:bodyPr/>
          <a:lstStyle/>
          <a:p>
            <a:endParaRPr lang="zh-CN" altLang="en-US"/>
          </a:p>
        </p:txBody>
      </p:sp>
    </p:spTree>
    <p:extLst>
      <p:ext uri="{BB962C8B-B14F-4D97-AF65-F5344CB8AC3E}">
        <p14:creationId xmlns:p14="http://schemas.microsoft.com/office/powerpoint/2010/main" val="32075754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F08BF98-ED27-4800-9530-F08A0D428470}"/>
              </a:ext>
            </a:extLst>
          </p:cNvPr>
          <p:cNvGrpSpPr>
            <a:grpSpLocks/>
          </p:cNvGrpSpPr>
          <p:nvPr/>
        </p:nvGrpSpPr>
        <p:grpSpPr bwMode="auto">
          <a:xfrm>
            <a:off x="0" y="-19050"/>
            <a:ext cx="9144000" cy="6877050"/>
            <a:chOff x="0" y="-12"/>
            <a:chExt cx="5760" cy="4332"/>
          </a:xfrm>
        </p:grpSpPr>
        <p:sp>
          <p:nvSpPr>
            <p:cNvPr id="5" name="Rectangle 3">
              <a:extLst>
                <a:ext uri="{FF2B5EF4-FFF2-40B4-BE49-F238E27FC236}">
                  <a16:creationId xmlns:a16="http://schemas.microsoft.com/office/drawing/2014/main" id="{0CA8085C-DCF8-41F1-8388-D715C4547938}"/>
                </a:ext>
              </a:extLst>
            </p:cNvPr>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grpSp>
          <p:nvGrpSpPr>
            <p:cNvPr id="6" name="Group 4">
              <a:extLst>
                <a:ext uri="{FF2B5EF4-FFF2-40B4-BE49-F238E27FC236}">
                  <a16:creationId xmlns:a16="http://schemas.microsoft.com/office/drawing/2014/main" id="{0F4A3BB9-3001-4AFF-A6E2-60F380EC633A}"/>
                </a:ext>
              </a:extLst>
            </p:cNvPr>
            <p:cNvGrpSpPr>
              <a:grpSpLocks/>
            </p:cNvGrpSpPr>
            <p:nvPr userDrawn="1"/>
          </p:nvGrpSpPr>
          <p:grpSpPr bwMode="auto">
            <a:xfrm>
              <a:off x="0" y="-12"/>
              <a:ext cx="5760" cy="1045"/>
              <a:chOff x="0" y="-9"/>
              <a:chExt cx="5760" cy="1045"/>
            </a:xfrm>
          </p:grpSpPr>
          <p:sp>
            <p:nvSpPr>
              <p:cNvPr id="8" name="Freeform 5">
                <a:extLst>
                  <a:ext uri="{FF2B5EF4-FFF2-40B4-BE49-F238E27FC236}">
                    <a16:creationId xmlns:a16="http://schemas.microsoft.com/office/drawing/2014/main" id="{6FC186E7-B2B2-4B56-8B58-6194285C5974}"/>
                  </a:ext>
                </a:extLst>
              </p:cNvPr>
              <p:cNvSpPr>
                <a:spLocks/>
              </p:cNvSpPr>
              <p:nvPr userDrawn="1"/>
            </p:nvSpPr>
            <p:spPr bwMode="ltGray">
              <a:xfrm>
                <a:off x="0" y="4"/>
                <a:ext cx="5760" cy="1032"/>
              </a:xfrm>
              <a:custGeom>
                <a:avLst/>
                <a:gdLst>
                  <a:gd name="T0" fmla="*/ 8131 w 4848"/>
                  <a:gd name="T1" fmla="*/ 5889 h 432"/>
                  <a:gd name="T2" fmla="*/ 0 w 4848"/>
                  <a:gd name="T3" fmla="*/ 5889 h 432"/>
                  <a:gd name="T4" fmla="*/ 0 w 4848"/>
                  <a:gd name="T5" fmla="*/ 0 h 432"/>
                  <a:gd name="T6" fmla="*/ 8131 w 4848"/>
                  <a:gd name="T7" fmla="*/ 0 h 432"/>
                  <a:gd name="T8" fmla="*/ 8131 w 4848"/>
                  <a:gd name="T9" fmla="*/ 5889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ffectLst/>
              <a:extLst>
                <a:ext uri="{91240B29-F687-4F45-9708-019B960494DF}">
                  <a14:hiddenLine xmlns:a14="http://schemas.microsoft.com/office/drawing/2010/main" w="9525">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6">
                <a:extLst>
                  <a:ext uri="{FF2B5EF4-FFF2-40B4-BE49-F238E27FC236}">
                    <a16:creationId xmlns:a16="http://schemas.microsoft.com/office/drawing/2014/main" id="{7E5E63D7-A9B3-4C85-8931-B4DB263D1500}"/>
                  </a:ext>
                </a:extLst>
              </p:cNvPr>
              <p:cNvGrpSpPr>
                <a:grpSpLocks/>
              </p:cNvGrpSpPr>
              <p:nvPr userDrawn="1"/>
            </p:nvGrpSpPr>
            <p:grpSpPr bwMode="auto">
              <a:xfrm>
                <a:off x="333" y="-9"/>
                <a:ext cx="5176" cy="1044"/>
                <a:chOff x="333" y="-9"/>
                <a:chExt cx="5176" cy="1044"/>
              </a:xfrm>
            </p:grpSpPr>
            <p:sp>
              <p:nvSpPr>
                <p:cNvPr id="38" name="Freeform 7">
                  <a:extLst>
                    <a:ext uri="{FF2B5EF4-FFF2-40B4-BE49-F238E27FC236}">
                      <a16:creationId xmlns:a16="http://schemas.microsoft.com/office/drawing/2014/main" id="{5975FC41-CEEB-4B36-91DC-06C33072F2CF}"/>
                    </a:ext>
                  </a:extLst>
                </p:cNvPr>
                <p:cNvSpPr>
                  <a:spLocks/>
                </p:cNvSpPr>
                <p:nvPr userDrawn="1"/>
              </p:nvSpPr>
              <p:spPr bwMode="ltGray">
                <a:xfrm>
                  <a:off x="3230" y="949"/>
                  <a:ext cx="17" cy="20"/>
                </a:xfrm>
                <a:custGeom>
                  <a:avLst/>
                  <a:gdLst>
                    <a:gd name="T0" fmla="*/ 8 w 15"/>
                    <a:gd name="T1" fmla="*/ 8 h 23"/>
                    <a:gd name="T2" fmla="*/ 22 w 15"/>
                    <a:gd name="T3" fmla="*/ 3 h 23"/>
                    <a:gd name="T4" fmla="*/ 19 w 15"/>
                    <a:gd name="T5" fmla="*/ 11 h 23"/>
                    <a:gd name="T6" fmla="*/ 8 w 15"/>
                    <a:gd name="T7" fmla="*/ 8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8">
                  <a:extLst>
                    <a:ext uri="{FF2B5EF4-FFF2-40B4-BE49-F238E27FC236}">
                      <a16:creationId xmlns:a16="http://schemas.microsoft.com/office/drawing/2014/main" id="{EB714CF0-D38F-47AA-A66C-B4BDD79932DE}"/>
                    </a:ext>
                  </a:extLst>
                </p:cNvPr>
                <p:cNvSpPr>
                  <a:spLocks/>
                </p:cNvSpPr>
                <p:nvPr userDrawn="1"/>
              </p:nvSpPr>
              <p:spPr bwMode="ltGray">
                <a:xfrm>
                  <a:off x="3406" y="1015"/>
                  <a:ext cx="21" cy="20"/>
                </a:xfrm>
                <a:custGeom>
                  <a:avLst/>
                  <a:gdLst>
                    <a:gd name="T0" fmla="*/ 3 w 20"/>
                    <a:gd name="T1" fmla="*/ 9 h 23"/>
                    <a:gd name="T2" fmla="*/ 14 w 20"/>
                    <a:gd name="T3" fmla="*/ 3 h 23"/>
                    <a:gd name="T4" fmla="*/ 7 w 20"/>
                    <a:gd name="T5" fmla="*/ 13 h 23"/>
                    <a:gd name="T6" fmla="*/ 3 w 20"/>
                    <a:gd name="T7" fmla="*/ 9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9">
                  <a:extLst>
                    <a:ext uri="{FF2B5EF4-FFF2-40B4-BE49-F238E27FC236}">
                      <a16:creationId xmlns:a16="http://schemas.microsoft.com/office/drawing/2014/main" id="{42483607-30EE-4448-B6F2-06B80E61DA8B}"/>
                    </a:ext>
                  </a:extLst>
                </p:cNvPr>
                <p:cNvSpPr>
                  <a:spLocks/>
                </p:cNvSpPr>
                <p:nvPr userDrawn="1"/>
              </p:nvSpPr>
              <p:spPr bwMode="ltGray">
                <a:xfrm>
                  <a:off x="2909" y="908"/>
                  <a:ext cx="31" cy="34"/>
                </a:xfrm>
                <a:custGeom>
                  <a:avLst/>
                  <a:gdLst>
                    <a:gd name="T0" fmla="*/ 19 w 30"/>
                    <a:gd name="T1" fmla="*/ 18 h 42"/>
                    <a:gd name="T2" fmla="*/ 8 w 30"/>
                    <a:gd name="T3" fmla="*/ 11 h 42"/>
                    <a:gd name="T4" fmla="*/ 0 w 30"/>
                    <a:gd name="T5" fmla="*/ 5 h 42"/>
                    <a:gd name="T6" fmla="*/ 19 w 30"/>
                    <a:gd name="T7" fmla="*/ 2 h 42"/>
                    <a:gd name="T8" fmla="*/ 33 w 30"/>
                    <a:gd name="T9" fmla="*/ 12 h 42"/>
                    <a:gd name="T10" fmla="*/ 31 w 30"/>
                    <a:gd name="T11" fmla="*/ 16 h 42"/>
                    <a:gd name="T12" fmla="*/ 19 w 30"/>
                    <a:gd name="T13" fmla="*/ 18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10">
                  <a:extLst>
                    <a:ext uri="{FF2B5EF4-FFF2-40B4-BE49-F238E27FC236}">
                      <a16:creationId xmlns:a16="http://schemas.microsoft.com/office/drawing/2014/main" id="{E26549B5-A4DD-4294-98C6-319FF99B3DCB}"/>
                    </a:ext>
                  </a:extLst>
                </p:cNvPr>
                <p:cNvSpPr>
                  <a:spLocks/>
                </p:cNvSpPr>
                <p:nvPr userDrawn="1"/>
              </p:nvSpPr>
              <p:spPr bwMode="ltGray">
                <a:xfrm>
                  <a:off x="2551" y="940"/>
                  <a:ext cx="25" cy="12"/>
                </a:xfrm>
                <a:custGeom>
                  <a:avLst/>
                  <a:gdLst>
                    <a:gd name="T0" fmla="*/ 15 w 25"/>
                    <a:gd name="T1" fmla="*/ 7 h 16"/>
                    <a:gd name="T2" fmla="*/ 3 w 25"/>
                    <a:gd name="T3" fmla="*/ 4 h 16"/>
                    <a:gd name="T4" fmla="*/ 15 w 25"/>
                    <a:gd name="T5" fmla="*/ 0 h 16"/>
                    <a:gd name="T6" fmla="*/ 15 w 25"/>
                    <a:gd name="T7" fmla="*/ 7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11">
                  <a:extLst>
                    <a:ext uri="{FF2B5EF4-FFF2-40B4-BE49-F238E27FC236}">
                      <a16:creationId xmlns:a16="http://schemas.microsoft.com/office/drawing/2014/main" id="{12664CA4-AF22-4CF3-8F87-4F502B5A5CB2}"/>
                    </a:ext>
                  </a:extLst>
                </p:cNvPr>
                <p:cNvSpPr>
                  <a:spLocks/>
                </p:cNvSpPr>
                <p:nvPr userDrawn="1"/>
              </p:nvSpPr>
              <p:spPr bwMode="ltGray">
                <a:xfrm>
                  <a:off x="2443" y="954"/>
                  <a:ext cx="65" cy="39"/>
                </a:xfrm>
                <a:custGeom>
                  <a:avLst/>
                  <a:gdLst>
                    <a:gd name="T0" fmla="*/ 14 w 65"/>
                    <a:gd name="T1" fmla="*/ 14 h 46"/>
                    <a:gd name="T2" fmla="*/ 30 w 65"/>
                    <a:gd name="T3" fmla="*/ 3 h 46"/>
                    <a:gd name="T4" fmla="*/ 42 w 65"/>
                    <a:gd name="T5" fmla="*/ 0 h 46"/>
                    <a:gd name="T6" fmla="*/ 58 w 65"/>
                    <a:gd name="T7" fmla="*/ 7 h 46"/>
                    <a:gd name="T8" fmla="*/ 32 w 65"/>
                    <a:gd name="T9" fmla="*/ 16 h 46"/>
                    <a:gd name="T10" fmla="*/ 12 w 65"/>
                    <a:gd name="T11" fmla="*/ 28 h 46"/>
                    <a:gd name="T12" fmla="*/ 8 w 65"/>
                    <a:gd name="T13" fmla="*/ 12 h 46"/>
                    <a:gd name="T14" fmla="*/ 12 w 65"/>
                    <a:gd name="T15" fmla="*/ 8 h 46"/>
                    <a:gd name="T16" fmla="*/ 14 w 65"/>
                    <a:gd name="T17" fmla="*/ 1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12">
                  <a:extLst>
                    <a:ext uri="{FF2B5EF4-FFF2-40B4-BE49-F238E27FC236}">
                      <a16:creationId xmlns:a16="http://schemas.microsoft.com/office/drawing/2014/main" id="{DDC5C29B-2189-4262-A9E7-363D4436C27A}"/>
                    </a:ext>
                  </a:extLst>
                </p:cNvPr>
                <p:cNvSpPr>
                  <a:spLocks/>
                </p:cNvSpPr>
                <p:nvPr userDrawn="1"/>
              </p:nvSpPr>
              <p:spPr bwMode="ltGray">
                <a:xfrm>
                  <a:off x="2375" y="952"/>
                  <a:ext cx="68" cy="39"/>
                </a:xfrm>
                <a:custGeom>
                  <a:avLst/>
                  <a:gdLst>
                    <a:gd name="T0" fmla="*/ 0 w 69"/>
                    <a:gd name="T1" fmla="*/ 18 h 47"/>
                    <a:gd name="T2" fmla="*/ 18 w 69"/>
                    <a:gd name="T3" fmla="*/ 14 h 47"/>
                    <a:gd name="T4" fmla="*/ 49 w 69"/>
                    <a:gd name="T5" fmla="*/ 1 h 47"/>
                    <a:gd name="T6" fmla="*/ 61 w 69"/>
                    <a:gd name="T7" fmla="*/ 2 h 47"/>
                    <a:gd name="T8" fmla="*/ 47 w 69"/>
                    <a:gd name="T9" fmla="*/ 11 h 47"/>
                    <a:gd name="T10" fmla="*/ 28 w 69"/>
                    <a:gd name="T11" fmla="*/ 18 h 47"/>
                    <a:gd name="T12" fmla="*/ 22 w 69"/>
                    <a:gd name="T13" fmla="*/ 27 h 47"/>
                    <a:gd name="T14" fmla="*/ 16 w 69"/>
                    <a:gd name="T15" fmla="*/ 26 h 47"/>
                    <a:gd name="T16" fmla="*/ 12 w 69"/>
                    <a:gd name="T17" fmla="*/ 22 h 47"/>
                    <a:gd name="T18" fmla="*/ 0 w 69"/>
                    <a:gd name="T19" fmla="*/ 20 h 47"/>
                    <a:gd name="T20" fmla="*/ 0 w 69"/>
                    <a:gd name="T21" fmla="*/ 18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13">
                  <a:extLst>
                    <a:ext uri="{FF2B5EF4-FFF2-40B4-BE49-F238E27FC236}">
                      <a16:creationId xmlns:a16="http://schemas.microsoft.com/office/drawing/2014/main" id="{968C1AAD-3800-4DB7-9969-54824B34F86A}"/>
                    </a:ext>
                  </a:extLst>
                </p:cNvPr>
                <p:cNvSpPr>
                  <a:spLocks/>
                </p:cNvSpPr>
                <p:nvPr userDrawn="1"/>
              </p:nvSpPr>
              <p:spPr bwMode="ltGray">
                <a:xfrm>
                  <a:off x="2007" y="739"/>
                  <a:ext cx="354" cy="228"/>
                </a:xfrm>
                <a:custGeom>
                  <a:avLst/>
                  <a:gdLst>
                    <a:gd name="T0" fmla="*/ 10 w 355"/>
                    <a:gd name="T1" fmla="*/ 2 h 277"/>
                    <a:gd name="T2" fmla="*/ 36 w 355"/>
                    <a:gd name="T3" fmla="*/ 10 h 277"/>
                    <a:gd name="T4" fmla="*/ 46 w 355"/>
                    <a:gd name="T5" fmla="*/ 17 h 277"/>
                    <a:gd name="T6" fmla="*/ 76 w 355"/>
                    <a:gd name="T7" fmla="*/ 29 h 277"/>
                    <a:gd name="T8" fmla="*/ 92 w 355"/>
                    <a:gd name="T9" fmla="*/ 36 h 277"/>
                    <a:gd name="T10" fmla="*/ 122 w 355"/>
                    <a:gd name="T11" fmla="*/ 55 h 277"/>
                    <a:gd name="T12" fmla="*/ 136 w 355"/>
                    <a:gd name="T13" fmla="*/ 71 h 277"/>
                    <a:gd name="T14" fmla="*/ 148 w 355"/>
                    <a:gd name="T15" fmla="*/ 74 h 277"/>
                    <a:gd name="T16" fmla="*/ 154 w 355"/>
                    <a:gd name="T17" fmla="*/ 83 h 277"/>
                    <a:gd name="T18" fmla="*/ 176 w 355"/>
                    <a:gd name="T19" fmla="*/ 85 h 277"/>
                    <a:gd name="T20" fmla="*/ 170 w 355"/>
                    <a:gd name="T21" fmla="*/ 109 h 277"/>
                    <a:gd name="T22" fmla="*/ 177 w 355"/>
                    <a:gd name="T23" fmla="*/ 124 h 277"/>
                    <a:gd name="T24" fmla="*/ 195 w 355"/>
                    <a:gd name="T25" fmla="*/ 129 h 277"/>
                    <a:gd name="T26" fmla="*/ 213 w 355"/>
                    <a:gd name="T27" fmla="*/ 131 h 277"/>
                    <a:gd name="T28" fmla="*/ 233 w 355"/>
                    <a:gd name="T29" fmla="*/ 135 h 277"/>
                    <a:gd name="T30" fmla="*/ 251 w 355"/>
                    <a:gd name="T31" fmla="*/ 132 h 277"/>
                    <a:gd name="T32" fmla="*/ 269 w 355"/>
                    <a:gd name="T33" fmla="*/ 138 h 277"/>
                    <a:gd name="T34" fmla="*/ 293 w 355"/>
                    <a:gd name="T35" fmla="*/ 143 h 277"/>
                    <a:gd name="T36" fmla="*/ 311 w 355"/>
                    <a:gd name="T37" fmla="*/ 147 h 277"/>
                    <a:gd name="T38" fmla="*/ 349 w 355"/>
                    <a:gd name="T39" fmla="*/ 148 h 277"/>
                    <a:gd name="T40" fmla="*/ 339 w 355"/>
                    <a:gd name="T41" fmla="*/ 153 h 277"/>
                    <a:gd name="T42" fmla="*/ 319 w 355"/>
                    <a:gd name="T43" fmla="*/ 151 h 277"/>
                    <a:gd name="T44" fmla="*/ 297 w 355"/>
                    <a:gd name="T45" fmla="*/ 151 h 277"/>
                    <a:gd name="T46" fmla="*/ 285 w 355"/>
                    <a:gd name="T47" fmla="*/ 148 h 277"/>
                    <a:gd name="T48" fmla="*/ 249 w 355"/>
                    <a:gd name="T49" fmla="*/ 147 h 277"/>
                    <a:gd name="T50" fmla="*/ 231 w 355"/>
                    <a:gd name="T51" fmla="*/ 145 h 277"/>
                    <a:gd name="T52" fmla="*/ 172 w 355"/>
                    <a:gd name="T53" fmla="*/ 135 h 277"/>
                    <a:gd name="T54" fmla="*/ 160 w 355"/>
                    <a:gd name="T55" fmla="*/ 121 h 277"/>
                    <a:gd name="T56" fmla="*/ 126 w 355"/>
                    <a:gd name="T57" fmla="*/ 112 h 277"/>
                    <a:gd name="T58" fmla="*/ 108 w 355"/>
                    <a:gd name="T59" fmla="*/ 104 h 277"/>
                    <a:gd name="T60" fmla="*/ 94 w 355"/>
                    <a:gd name="T61" fmla="*/ 88 h 277"/>
                    <a:gd name="T62" fmla="*/ 68 w 355"/>
                    <a:gd name="T63" fmla="*/ 60 h 277"/>
                    <a:gd name="T64" fmla="*/ 64 w 355"/>
                    <a:gd name="T65" fmla="*/ 57 h 277"/>
                    <a:gd name="T66" fmla="*/ 58 w 355"/>
                    <a:gd name="T67" fmla="*/ 55 h 277"/>
                    <a:gd name="T68" fmla="*/ 54 w 355"/>
                    <a:gd name="T69" fmla="*/ 49 h 277"/>
                    <a:gd name="T70" fmla="*/ 38 w 355"/>
                    <a:gd name="T71" fmla="*/ 33 h 277"/>
                    <a:gd name="T72" fmla="*/ 20 w 355"/>
                    <a:gd name="T73" fmla="*/ 22 h 277"/>
                    <a:gd name="T74" fmla="*/ 4 w 355"/>
                    <a:gd name="T75" fmla="*/ 1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14">
                  <a:extLst>
                    <a:ext uri="{FF2B5EF4-FFF2-40B4-BE49-F238E27FC236}">
                      <a16:creationId xmlns:a16="http://schemas.microsoft.com/office/drawing/2014/main" id="{89DAF1EE-8438-4BC8-A46F-1355083BAF3D}"/>
                    </a:ext>
                  </a:extLst>
                </p:cNvPr>
                <p:cNvSpPr>
                  <a:spLocks/>
                </p:cNvSpPr>
                <p:nvPr userDrawn="1"/>
              </p:nvSpPr>
              <p:spPr bwMode="ltGray">
                <a:xfrm>
                  <a:off x="2222" y="724"/>
                  <a:ext cx="157" cy="167"/>
                </a:xfrm>
                <a:custGeom>
                  <a:avLst/>
                  <a:gdLst>
                    <a:gd name="T0" fmla="*/ 54 w 156"/>
                    <a:gd name="T1" fmla="*/ 36 h 206"/>
                    <a:gd name="T2" fmla="*/ 66 w 156"/>
                    <a:gd name="T3" fmla="*/ 31 h 206"/>
                    <a:gd name="T4" fmla="*/ 68 w 156"/>
                    <a:gd name="T5" fmla="*/ 28 h 206"/>
                    <a:gd name="T6" fmla="*/ 83 w 156"/>
                    <a:gd name="T7" fmla="*/ 24 h 206"/>
                    <a:gd name="T8" fmla="*/ 109 w 156"/>
                    <a:gd name="T9" fmla="*/ 12 h 206"/>
                    <a:gd name="T10" fmla="*/ 115 w 156"/>
                    <a:gd name="T11" fmla="*/ 2 h 206"/>
                    <a:gd name="T12" fmla="*/ 127 w 156"/>
                    <a:gd name="T13" fmla="*/ 0 h 206"/>
                    <a:gd name="T14" fmla="*/ 153 w 156"/>
                    <a:gd name="T15" fmla="*/ 15 h 206"/>
                    <a:gd name="T16" fmla="*/ 149 w 156"/>
                    <a:gd name="T17" fmla="*/ 24 h 206"/>
                    <a:gd name="T18" fmla="*/ 129 w 156"/>
                    <a:gd name="T19" fmla="*/ 34 h 206"/>
                    <a:gd name="T20" fmla="*/ 135 w 156"/>
                    <a:gd name="T21" fmla="*/ 50 h 206"/>
                    <a:gd name="T22" fmla="*/ 145 w 156"/>
                    <a:gd name="T23" fmla="*/ 58 h 206"/>
                    <a:gd name="T24" fmla="*/ 149 w 156"/>
                    <a:gd name="T25" fmla="*/ 68 h 206"/>
                    <a:gd name="T26" fmla="*/ 131 w 156"/>
                    <a:gd name="T27" fmla="*/ 68 h 206"/>
                    <a:gd name="T28" fmla="*/ 119 w 156"/>
                    <a:gd name="T29" fmla="*/ 78 h 206"/>
                    <a:gd name="T30" fmla="*/ 107 w 156"/>
                    <a:gd name="T31" fmla="*/ 83 h 206"/>
                    <a:gd name="T32" fmla="*/ 103 w 156"/>
                    <a:gd name="T33" fmla="*/ 106 h 206"/>
                    <a:gd name="T34" fmla="*/ 91 w 156"/>
                    <a:gd name="T35" fmla="*/ 108 h 206"/>
                    <a:gd name="T36" fmla="*/ 85 w 156"/>
                    <a:gd name="T37" fmla="*/ 109 h 206"/>
                    <a:gd name="T38" fmla="*/ 76 w 156"/>
                    <a:gd name="T39" fmla="*/ 108 h 206"/>
                    <a:gd name="T40" fmla="*/ 72 w 156"/>
                    <a:gd name="T41" fmla="*/ 101 h 206"/>
                    <a:gd name="T42" fmla="*/ 60 w 156"/>
                    <a:gd name="T43" fmla="*/ 99 h 206"/>
                    <a:gd name="T44" fmla="*/ 42 w 156"/>
                    <a:gd name="T45" fmla="*/ 103 h 206"/>
                    <a:gd name="T46" fmla="*/ 28 w 156"/>
                    <a:gd name="T47" fmla="*/ 99 h 206"/>
                    <a:gd name="T48" fmla="*/ 10 w 156"/>
                    <a:gd name="T49" fmla="*/ 79 h 206"/>
                    <a:gd name="T50" fmla="*/ 4 w 156"/>
                    <a:gd name="T51" fmla="*/ 69 h 206"/>
                    <a:gd name="T52" fmla="*/ 0 w 156"/>
                    <a:gd name="T53" fmla="*/ 63 h 206"/>
                    <a:gd name="T54" fmla="*/ 20 w 156"/>
                    <a:gd name="T55" fmla="*/ 51 h 206"/>
                    <a:gd name="T56" fmla="*/ 32 w 156"/>
                    <a:gd name="T57" fmla="*/ 55 h 206"/>
                    <a:gd name="T58" fmla="*/ 34 w 156"/>
                    <a:gd name="T59" fmla="*/ 43 h 206"/>
                    <a:gd name="T60" fmla="*/ 52 w 156"/>
                    <a:gd name="T61" fmla="*/ 37 h 206"/>
                    <a:gd name="T62" fmla="*/ 54 w 156"/>
                    <a:gd name="T63" fmla="*/ 3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Freeform 15">
                  <a:extLst>
                    <a:ext uri="{FF2B5EF4-FFF2-40B4-BE49-F238E27FC236}">
                      <a16:creationId xmlns:a16="http://schemas.microsoft.com/office/drawing/2014/main" id="{254E49FD-F7D5-4DA3-8A8B-706F3C930826}"/>
                    </a:ext>
                  </a:extLst>
                </p:cNvPr>
                <p:cNvSpPr>
                  <a:spLocks/>
                </p:cNvSpPr>
                <p:nvPr userDrawn="1"/>
              </p:nvSpPr>
              <p:spPr bwMode="ltGray">
                <a:xfrm>
                  <a:off x="2375" y="800"/>
                  <a:ext cx="110" cy="32"/>
                </a:xfrm>
                <a:custGeom>
                  <a:avLst/>
                  <a:gdLst>
                    <a:gd name="T0" fmla="*/ 4 w 109"/>
                    <a:gd name="T1" fmla="*/ 19 h 38"/>
                    <a:gd name="T2" fmla="*/ 18 w 109"/>
                    <a:gd name="T3" fmla="*/ 6 h 38"/>
                    <a:gd name="T4" fmla="*/ 46 w 109"/>
                    <a:gd name="T5" fmla="*/ 12 h 38"/>
                    <a:gd name="T6" fmla="*/ 75 w 109"/>
                    <a:gd name="T7" fmla="*/ 8 h 38"/>
                    <a:gd name="T8" fmla="*/ 93 w 109"/>
                    <a:gd name="T9" fmla="*/ 0 h 38"/>
                    <a:gd name="T10" fmla="*/ 79 w 109"/>
                    <a:gd name="T11" fmla="*/ 16 h 38"/>
                    <a:gd name="T12" fmla="*/ 63 w 109"/>
                    <a:gd name="T13" fmla="*/ 23 h 38"/>
                    <a:gd name="T14" fmla="*/ 42 w 109"/>
                    <a:gd name="T15" fmla="*/ 19 h 38"/>
                    <a:gd name="T16" fmla="*/ 14 w 109"/>
                    <a:gd name="T17" fmla="*/ 18 h 38"/>
                    <a:gd name="T18" fmla="*/ 4 w 109"/>
                    <a:gd name="T19" fmla="*/ 19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16">
                  <a:extLst>
                    <a:ext uri="{FF2B5EF4-FFF2-40B4-BE49-F238E27FC236}">
                      <a16:creationId xmlns:a16="http://schemas.microsoft.com/office/drawing/2014/main" id="{25D41B14-AB6E-4BC1-836C-092843409BBB}"/>
                    </a:ext>
                  </a:extLst>
                </p:cNvPr>
                <p:cNvSpPr>
                  <a:spLocks/>
                </p:cNvSpPr>
                <p:nvPr userDrawn="1"/>
              </p:nvSpPr>
              <p:spPr bwMode="ltGray">
                <a:xfrm>
                  <a:off x="2370" y="839"/>
                  <a:ext cx="75" cy="84"/>
                </a:xfrm>
                <a:custGeom>
                  <a:avLst/>
                  <a:gdLst>
                    <a:gd name="T0" fmla="*/ 8 w 76"/>
                    <a:gd name="T1" fmla="*/ 10 h 104"/>
                    <a:gd name="T2" fmla="*/ 18 w 76"/>
                    <a:gd name="T3" fmla="*/ 0 h 104"/>
                    <a:gd name="T4" fmla="*/ 34 w 76"/>
                    <a:gd name="T5" fmla="*/ 10 h 104"/>
                    <a:gd name="T6" fmla="*/ 59 w 76"/>
                    <a:gd name="T7" fmla="*/ 2 h 104"/>
                    <a:gd name="T8" fmla="*/ 43 w 76"/>
                    <a:gd name="T9" fmla="*/ 18 h 104"/>
                    <a:gd name="T10" fmla="*/ 51 w 76"/>
                    <a:gd name="T11" fmla="*/ 26 h 104"/>
                    <a:gd name="T12" fmla="*/ 55 w 76"/>
                    <a:gd name="T13" fmla="*/ 32 h 104"/>
                    <a:gd name="T14" fmla="*/ 43 w 76"/>
                    <a:gd name="T15" fmla="*/ 39 h 104"/>
                    <a:gd name="T16" fmla="*/ 34 w 76"/>
                    <a:gd name="T17" fmla="*/ 32 h 104"/>
                    <a:gd name="T18" fmla="*/ 22 w 76"/>
                    <a:gd name="T19" fmla="*/ 26 h 104"/>
                    <a:gd name="T20" fmla="*/ 28 w 76"/>
                    <a:gd name="T21" fmla="*/ 36 h 104"/>
                    <a:gd name="T22" fmla="*/ 30 w 76"/>
                    <a:gd name="T23" fmla="*/ 39 h 104"/>
                    <a:gd name="T24" fmla="*/ 20 w 76"/>
                    <a:gd name="T25" fmla="*/ 55 h 104"/>
                    <a:gd name="T26" fmla="*/ 12 w 76"/>
                    <a:gd name="T27" fmla="*/ 53 h 104"/>
                    <a:gd name="T28" fmla="*/ 8 w 76"/>
                    <a:gd name="T29" fmla="*/ 48 h 104"/>
                    <a:gd name="T30" fmla="*/ 0 w 76"/>
                    <a:gd name="T31" fmla="*/ 29 h 104"/>
                    <a:gd name="T32" fmla="*/ 2 w 76"/>
                    <a:gd name="T33" fmla="*/ 15 h 104"/>
                    <a:gd name="T34" fmla="*/ 8 w 76"/>
                    <a:gd name="T35" fmla="*/ 1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Freeform 17">
                  <a:extLst>
                    <a:ext uri="{FF2B5EF4-FFF2-40B4-BE49-F238E27FC236}">
                      <a16:creationId xmlns:a16="http://schemas.microsoft.com/office/drawing/2014/main" id="{AD9CC009-7580-4DDB-B1CF-27C088D7C6FF}"/>
                    </a:ext>
                  </a:extLst>
                </p:cNvPr>
                <p:cNvSpPr>
                  <a:spLocks/>
                </p:cNvSpPr>
                <p:nvPr userDrawn="1"/>
              </p:nvSpPr>
              <p:spPr bwMode="ltGray">
                <a:xfrm>
                  <a:off x="2497" y="793"/>
                  <a:ext cx="37" cy="49"/>
                </a:xfrm>
                <a:custGeom>
                  <a:avLst/>
                  <a:gdLst>
                    <a:gd name="T0" fmla="*/ 3 w 37"/>
                    <a:gd name="T1" fmla="*/ 14 h 61"/>
                    <a:gd name="T2" fmla="*/ 13 w 37"/>
                    <a:gd name="T3" fmla="*/ 0 h 61"/>
                    <a:gd name="T4" fmla="*/ 15 w 37"/>
                    <a:gd name="T5" fmla="*/ 14 h 61"/>
                    <a:gd name="T6" fmla="*/ 37 w 37"/>
                    <a:gd name="T7" fmla="*/ 20 h 61"/>
                    <a:gd name="T8" fmla="*/ 19 w 37"/>
                    <a:gd name="T9" fmla="*/ 22 h 61"/>
                    <a:gd name="T10" fmla="*/ 5 w 37"/>
                    <a:gd name="T11" fmla="*/ 31 h 61"/>
                    <a:gd name="T12" fmla="*/ 1 w 37"/>
                    <a:gd name="T13" fmla="*/ 18 h 61"/>
                    <a:gd name="T14" fmla="*/ 3 w 37"/>
                    <a:gd name="T15" fmla="*/ 14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8">
                  <a:extLst>
                    <a:ext uri="{FF2B5EF4-FFF2-40B4-BE49-F238E27FC236}">
                      <a16:creationId xmlns:a16="http://schemas.microsoft.com/office/drawing/2014/main" id="{D0D45763-0F7A-4E1E-9F75-3B3702CF8FE4}"/>
                    </a:ext>
                  </a:extLst>
                </p:cNvPr>
                <p:cNvSpPr>
                  <a:spLocks/>
                </p:cNvSpPr>
                <p:nvPr userDrawn="1"/>
              </p:nvSpPr>
              <p:spPr bwMode="ltGray">
                <a:xfrm>
                  <a:off x="2506" y="869"/>
                  <a:ext cx="47" cy="24"/>
                </a:xfrm>
                <a:custGeom>
                  <a:avLst/>
                  <a:gdLst>
                    <a:gd name="T0" fmla="*/ 7 w 49"/>
                    <a:gd name="T1" fmla="*/ 0 h 29"/>
                    <a:gd name="T2" fmla="*/ 26 w 49"/>
                    <a:gd name="T3" fmla="*/ 0 h 29"/>
                    <a:gd name="T4" fmla="*/ 43 w 49"/>
                    <a:gd name="T5" fmla="*/ 9 h 29"/>
                    <a:gd name="T6" fmla="*/ 32 w 49"/>
                    <a:gd name="T7" fmla="*/ 8 h 29"/>
                    <a:gd name="T8" fmla="*/ 3 w 49"/>
                    <a:gd name="T9" fmla="*/ 9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19">
                  <a:extLst>
                    <a:ext uri="{FF2B5EF4-FFF2-40B4-BE49-F238E27FC236}">
                      <a16:creationId xmlns:a16="http://schemas.microsoft.com/office/drawing/2014/main" id="{F708DF0A-9E3B-49E8-A24B-3588AAD05067}"/>
                    </a:ext>
                  </a:extLst>
                </p:cNvPr>
                <p:cNvSpPr>
                  <a:spLocks/>
                </p:cNvSpPr>
                <p:nvPr userDrawn="1"/>
              </p:nvSpPr>
              <p:spPr bwMode="ltGray">
                <a:xfrm>
                  <a:off x="2555" y="832"/>
                  <a:ext cx="61" cy="42"/>
                </a:xfrm>
                <a:custGeom>
                  <a:avLst/>
                  <a:gdLst>
                    <a:gd name="T0" fmla="*/ 21 w 61"/>
                    <a:gd name="T1" fmla="*/ 25 h 48"/>
                    <a:gd name="T2" fmla="*/ 15 w 61"/>
                    <a:gd name="T3" fmla="*/ 18 h 48"/>
                    <a:gd name="T4" fmla="*/ 3 w 61"/>
                    <a:gd name="T5" fmla="*/ 15 h 48"/>
                    <a:gd name="T6" fmla="*/ 13 w 61"/>
                    <a:gd name="T7" fmla="*/ 5 h 48"/>
                    <a:gd name="T8" fmla="*/ 25 w 61"/>
                    <a:gd name="T9" fmla="*/ 0 h 48"/>
                    <a:gd name="T10" fmla="*/ 49 w 61"/>
                    <a:gd name="T11" fmla="*/ 7 h 48"/>
                    <a:gd name="T12" fmla="*/ 53 w 61"/>
                    <a:gd name="T13" fmla="*/ 14 h 48"/>
                    <a:gd name="T14" fmla="*/ 61 w 61"/>
                    <a:gd name="T15" fmla="*/ 22 h 48"/>
                    <a:gd name="T16" fmla="*/ 41 w 61"/>
                    <a:gd name="T17" fmla="*/ 25 h 48"/>
                    <a:gd name="T18" fmla="*/ 23 w 61"/>
                    <a:gd name="T19" fmla="*/ 30 h 48"/>
                    <a:gd name="T20" fmla="*/ 21 w 61"/>
                    <a:gd name="T21" fmla="*/ 2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0">
                  <a:extLst>
                    <a:ext uri="{FF2B5EF4-FFF2-40B4-BE49-F238E27FC236}">
                      <a16:creationId xmlns:a16="http://schemas.microsoft.com/office/drawing/2014/main" id="{28EA05A6-C576-455A-856E-C057F0E8E06D}"/>
                    </a:ext>
                  </a:extLst>
                </p:cNvPr>
                <p:cNvSpPr>
                  <a:spLocks/>
                </p:cNvSpPr>
                <p:nvPr userDrawn="1"/>
              </p:nvSpPr>
              <p:spPr bwMode="ltGray">
                <a:xfrm>
                  <a:off x="2572" y="852"/>
                  <a:ext cx="286" cy="149"/>
                </a:xfrm>
                <a:custGeom>
                  <a:avLst/>
                  <a:gdLst>
                    <a:gd name="T0" fmla="*/ 46 w 286"/>
                    <a:gd name="T1" fmla="*/ 16 h 182"/>
                    <a:gd name="T2" fmla="*/ 36 w 286"/>
                    <a:gd name="T3" fmla="*/ 7 h 182"/>
                    <a:gd name="T4" fmla="*/ 26 w 286"/>
                    <a:gd name="T5" fmla="*/ 16 h 182"/>
                    <a:gd name="T6" fmla="*/ 0 w 286"/>
                    <a:gd name="T7" fmla="*/ 13 h 182"/>
                    <a:gd name="T8" fmla="*/ 10 w 286"/>
                    <a:gd name="T9" fmla="*/ 23 h 182"/>
                    <a:gd name="T10" fmla="*/ 16 w 286"/>
                    <a:gd name="T11" fmla="*/ 34 h 182"/>
                    <a:gd name="T12" fmla="*/ 24 w 286"/>
                    <a:gd name="T13" fmla="*/ 26 h 182"/>
                    <a:gd name="T14" fmla="*/ 30 w 286"/>
                    <a:gd name="T15" fmla="*/ 24 h 182"/>
                    <a:gd name="T16" fmla="*/ 48 w 286"/>
                    <a:gd name="T17" fmla="*/ 31 h 182"/>
                    <a:gd name="T18" fmla="*/ 70 w 286"/>
                    <a:gd name="T19" fmla="*/ 34 h 182"/>
                    <a:gd name="T20" fmla="*/ 88 w 286"/>
                    <a:gd name="T21" fmla="*/ 39 h 182"/>
                    <a:gd name="T22" fmla="*/ 106 w 286"/>
                    <a:gd name="T23" fmla="*/ 56 h 182"/>
                    <a:gd name="T24" fmla="*/ 104 w 286"/>
                    <a:gd name="T25" fmla="*/ 67 h 182"/>
                    <a:gd name="T26" fmla="*/ 98 w 286"/>
                    <a:gd name="T27" fmla="*/ 74 h 182"/>
                    <a:gd name="T28" fmla="*/ 122 w 286"/>
                    <a:gd name="T29" fmla="*/ 70 h 182"/>
                    <a:gd name="T30" fmla="*/ 140 w 286"/>
                    <a:gd name="T31" fmla="*/ 77 h 182"/>
                    <a:gd name="T32" fmla="*/ 168 w 286"/>
                    <a:gd name="T33" fmla="*/ 81 h 182"/>
                    <a:gd name="T34" fmla="*/ 174 w 286"/>
                    <a:gd name="T35" fmla="*/ 80 h 182"/>
                    <a:gd name="T36" fmla="*/ 168 w 286"/>
                    <a:gd name="T37" fmla="*/ 74 h 182"/>
                    <a:gd name="T38" fmla="*/ 178 w 286"/>
                    <a:gd name="T39" fmla="*/ 75 h 182"/>
                    <a:gd name="T40" fmla="*/ 186 w 286"/>
                    <a:gd name="T41" fmla="*/ 65 h 182"/>
                    <a:gd name="T42" fmla="*/ 202 w 286"/>
                    <a:gd name="T43" fmla="*/ 67 h 182"/>
                    <a:gd name="T44" fmla="*/ 214 w 286"/>
                    <a:gd name="T45" fmla="*/ 71 h 182"/>
                    <a:gd name="T46" fmla="*/ 244 w 286"/>
                    <a:gd name="T47" fmla="*/ 93 h 182"/>
                    <a:gd name="T48" fmla="*/ 262 w 286"/>
                    <a:gd name="T49" fmla="*/ 98 h 182"/>
                    <a:gd name="T50" fmla="*/ 284 w 286"/>
                    <a:gd name="T51" fmla="*/ 93 h 182"/>
                    <a:gd name="T52" fmla="*/ 268 w 286"/>
                    <a:gd name="T53" fmla="*/ 88 h 182"/>
                    <a:gd name="T54" fmla="*/ 256 w 286"/>
                    <a:gd name="T55" fmla="*/ 76 h 182"/>
                    <a:gd name="T56" fmla="*/ 250 w 286"/>
                    <a:gd name="T57" fmla="*/ 72 h 182"/>
                    <a:gd name="T58" fmla="*/ 248 w 286"/>
                    <a:gd name="T59" fmla="*/ 67 h 182"/>
                    <a:gd name="T60" fmla="*/ 236 w 286"/>
                    <a:gd name="T61" fmla="*/ 64 h 182"/>
                    <a:gd name="T62" fmla="*/ 240 w 286"/>
                    <a:gd name="T63" fmla="*/ 53 h 182"/>
                    <a:gd name="T64" fmla="*/ 220 w 286"/>
                    <a:gd name="T65" fmla="*/ 47 h 182"/>
                    <a:gd name="T66" fmla="*/ 210 w 286"/>
                    <a:gd name="T67" fmla="*/ 38 h 182"/>
                    <a:gd name="T68" fmla="*/ 190 w 286"/>
                    <a:gd name="T69" fmla="*/ 29 h 182"/>
                    <a:gd name="T70" fmla="*/ 168 w 286"/>
                    <a:gd name="T71" fmla="*/ 20 h 182"/>
                    <a:gd name="T72" fmla="*/ 156 w 286"/>
                    <a:gd name="T73" fmla="*/ 19 h 182"/>
                    <a:gd name="T74" fmla="*/ 120 w 286"/>
                    <a:gd name="T75" fmla="*/ 9 h 182"/>
                    <a:gd name="T76" fmla="*/ 102 w 286"/>
                    <a:gd name="T77" fmla="*/ 2 h 182"/>
                    <a:gd name="T78" fmla="*/ 96 w 286"/>
                    <a:gd name="T79" fmla="*/ 0 h 182"/>
                    <a:gd name="T80" fmla="*/ 70 w 286"/>
                    <a:gd name="T81" fmla="*/ 6 h 182"/>
                    <a:gd name="T82" fmla="*/ 56 w 286"/>
                    <a:gd name="T83" fmla="*/ 17 h 182"/>
                    <a:gd name="T84" fmla="*/ 46 w 286"/>
                    <a:gd name="T85" fmla="*/ 16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1">
                  <a:extLst>
                    <a:ext uri="{FF2B5EF4-FFF2-40B4-BE49-F238E27FC236}">
                      <a16:creationId xmlns:a16="http://schemas.microsoft.com/office/drawing/2014/main" id="{97AE85F5-6401-4887-8033-B97B47D3ECA2}"/>
                    </a:ext>
                  </a:extLst>
                </p:cNvPr>
                <p:cNvSpPr>
                  <a:spLocks/>
                </p:cNvSpPr>
                <p:nvPr userDrawn="1"/>
              </p:nvSpPr>
              <p:spPr bwMode="ltGray">
                <a:xfrm>
                  <a:off x="2820" y="866"/>
                  <a:ext cx="78" cy="64"/>
                </a:xfrm>
                <a:custGeom>
                  <a:avLst/>
                  <a:gdLst>
                    <a:gd name="T0" fmla="*/ 1 w 78"/>
                    <a:gd name="T1" fmla="*/ 32 h 78"/>
                    <a:gd name="T2" fmla="*/ 27 w 78"/>
                    <a:gd name="T3" fmla="*/ 33 h 78"/>
                    <a:gd name="T4" fmla="*/ 45 w 78"/>
                    <a:gd name="T5" fmla="*/ 26 h 78"/>
                    <a:gd name="T6" fmla="*/ 57 w 78"/>
                    <a:gd name="T7" fmla="*/ 17 h 78"/>
                    <a:gd name="T8" fmla="*/ 43 w 78"/>
                    <a:gd name="T9" fmla="*/ 7 h 78"/>
                    <a:gd name="T10" fmla="*/ 43 w 78"/>
                    <a:gd name="T11" fmla="*/ 2 h 78"/>
                    <a:gd name="T12" fmla="*/ 71 w 78"/>
                    <a:gd name="T13" fmla="*/ 14 h 78"/>
                    <a:gd name="T14" fmla="*/ 67 w 78"/>
                    <a:gd name="T15" fmla="*/ 30 h 78"/>
                    <a:gd name="T16" fmla="*/ 33 w 78"/>
                    <a:gd name="T17" fmla="*/ 43 h 78"/>
                    <a:gd name="T18" fmla="*/ 9 w 78"/>
                    <a:gd name="T19" fmla="*/ 36 h 78"/>
                    <a:gd name="T20" fmla="*/ 3 w 78"/>
                    <a:gd name="T21" fmla="*/ 34 h 78"/>
                    <a:gd name="T22" fmla="*/ 1 w 78"/>
                    <a:gd name="T23" fmla="*/ 3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2">
                  <a:extLst>
                    <a:ext uri="{FF2B5EF4-FFF2-40B4-BE49-F238E27FC236}">
                      <a16:creationId xmlns:a16="http://schemas.microsoft.com/office/drawing/2014/main" id="{B49154F1-E93E-4200-B6DD-815BA256C635}"/>
                    </a:ext>
                  </a:extLst>
                </p:cNvPr>
                <p:cNvSpPr>
                  <a:spLocks/>
                </p:cNvSpPr>
                <p:nvPr userDrawn="1"/>
              </p:nvSpPr>
              <p:spPr bwMode="ltGray">
                <a:xfrm>
                  <a:off x="2984" y="732"/>
                  <a:ext cx="19" cy="14"/>
                </a:xfrm>
                <a:custGeom>
                  <a:avLst/>
                  <a:gdLst>
                    <a:gd name="T0" fmla="*/ 3 w 17"/>
                    <a:gd name="T1" fmla="*/ 2 h 18"/>
                    <a:gd name="T2" fmla="*/ 3 w 17"/>
                    <a:gd name="T3" fmla="*/ 7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23">
                  <a:extLst>
                    <a:ext uri="{FF2B5EF4-FFF2-40B4-BE49-F238E27FC236}">
                      <a16:creationId xmlns:a16="http://schemas.microsoft.com/office/drawing/2014/main" id="{150EB8F8-8943-46EB-BACB-6B3FF1829EB6}"/>
                    </a:ext>
                  </a:extLst>
                </p:cNvPr>
                <p:cNvSpPr>
                  <a:spLocks/>
                </p:cNvSpPr>
                <p:nvPr userDrawn="1"/>
              </p:nvSpPr>
              <p:spPr bwMode="ltGray">
                <a:xfrm>
                  <a:off x="3083" y="830"/>
                  <a:ext cx="26" cy="19"/>
                </a:xfrm>
                <a:custGeom>
                  <a:avLst/>
                  <a:gdLst>
                    <a:gd name="T0" fmla="*/ 8 w 26"/>
                    <a:gd name="T1" fmla="*/ 9 h 22"/>
                    <a:gd name="T2" fmla="*/ 14 w 26"/>
                    <a:gd name="T3" fmla="*/ 0 h 22"/>
                    <a:gd name="T4" fmla="*/ 14 w 26"/>
                    <a:gd name="T5" fmla="*/ 14 h 22"/>
                    <a:gd name="T6" fmla="*/ 8 w 26"/>
                    <a:gd name="T7" fmla="*/ 9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24">
                  <a:extLst>
                    <a:ext uri="{FF2B5EF4-FFF2-40B4-BE49-F238E27FC236}">
                      <a16:creationId xmlns:a16="http://schemas.microsoft.com/office/drawing/2014/main" id="{AC9F17E9-8DEA-49BC-8B31-A1F1F65B4248}"/>
                    </a:ext>
                  </a:extLst>
                </p:cNvPr>
                <p:cNvSpPr>
                  <a:spLocks/>
                </p:cNvSpPr>
                <p:nvPr userDrawn="1"/>
              </p:nvSpPr>
              <p:spPr bwMode="ltGray">
                <a:xfrm>
                  <a:off x="2766" y="610"/>
                  <a:ext cx="19" cy="12"/>
                </a:xfrm>
                <a:custGeom>
                  <a:avLst/>
                  <a:gdLst>
                    <a:gd name="T0" fmla="*/ 7 w 20"/>
                    <a:gd name="T1" fmla="*/ 6 h 15"/>
                    <a:gd name="T2" fmla="*/ 14 w 20"/>
                    <a:gd name="T3" fmla="*/ 2 h 15"/>
                    <a:gd name="T4" fmla="*/ 9 w 20"/>
                    <a:gd name="T5" fmla="*/ 6 h 15"/>
                    <a:gd name="T6" fmla="*/ 7 w 20"/>
                    <a:gd name="T7" fmla="*/ 6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Freeform 25">
                  <a:extLst>
                    <a:ext uri="{FF2B5EF4-FFF2-40B4-BE49-F238E27FC236}">
                      <a16:creationId xmlns:a16="http://schemas.microsoft.com/office/drawing/2014/main" id="{3EA20B6F-E439-4237-9878-40747A4E3A31}"/>
                    </a:ext>
                  </a:extLst>
                </p:cNvPr>
                <p:cNvSpPr>
                  <a:spLocks/>
                </p:cNvSpPr>
                <p:nvPr userDrawn="1"/>
              </p:nvSpPr>
              <p:spPr bwMode="ltGray">
                <a:xfrm>
                  <a:off x="2600" y="712"/>
                  <a:ext cx="19" cy="12"/>
                </a:xfrm>
                <a:custGeom>
                  <a:avLst/>
                  <a:gdLst>
                    <a:gd name="T0" fmla="*/ 7 w 20"/>
                    <a:gd name="T1" fmla="*/ 6 h 15"/>
                    <a:gd name="T2" fmla="*/ 12 w 20"/>
                    <a:gd name="T3" fmla="*/ 2 h 15"/>
                    <a:gd name="T4" fmla="*/ 12 w 20"/>
                    <a:gd name="T5" fmla="*/ 7 h 15"/>
                    <a:gd name="T6" fmla="*/ 7 w 20"/>
                    <a:gd name="T7" fmla="*/ 6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26">
                  <a:extLst>
                    <a:ext uri="{FF2B5EF4-FFF2-40B4-BE49-F238E27FC236}">
                      <a16:creationId xmlns:a16="http://schemas.microsoft.com/office/drawing/2014/main" id="{02B22AD2-A146-4D84-AA8C-D9BAFC07E3D6}"/>
                    </a:ext>
                  </a:extLst>
                </p:cNvPr>
                <p:cNvSpPr>
                  <a:spLocks/>
                </p:cNvSpPr>
                <p:nvPr userDrawn="1"/>
              </p:nvSpPr>
              <p:spPr bwMode="ltGray">
                <a:xfrm>
                  <a:off x="2417" y="680"/>
                  <a:ext cx="80" cy="66"/>
                </a:xfrm>
                <a:custGeom>
                  <a:avLst/>
                  <a:gdLst>
                    <a:gd name="T0" fmla="*/ 0 w 80"/>
                    <a:gd name="T1" fmla="*/ 28 h 80"/>
                    <a:gd name="T2" fmla="*/ 14 w 80"/>
                    <a:gd name="T3" fmla="*/ 14 h 80"/>
                    <a:gd name="T4" fmla="*/ 26 w 80"/>
                    <a:gd name="T5" fmla="*/ 12 h 80"/>
                    <a:gd name="T6" fmla="*/ 48 w 80"/>
                    <a:gd name="T7" fmla="*/ 10 h 80"/>
                    <a:gd name="T8" fmla="*/ 58 w 80"/>
                    <a:gd name="T9" fmla="*/ 0 h 80"/>
                    <a:gd name="T10" fmla="*/ 80 w 80"/>
                    <a:gd name="T11" fmla="*/ 22 h 80"/>
                    <a:gd name="T12" fmla="*/ 70 w 80"/>
                    <a:gd name="T13" fmla="*/ 31 h 80"/>
                    <a:gd name="T14" fmla="*/ 54 w 80"/>
                    <a:gd name="T15" fmla="*/ 35 h 80"/>
                    <a:gd name="T16" fmla="*/ 48 w 80"/>
                    <a:gd name="T17" fmla="*/ 45 h 80"/>
                    <a:gd name="T18" fmla="*/ 32 w 80"/>
                    <a:gd name="T19" fmla="*/ 38 h 80"/>
                    <a:gd name="T20" fmla="*/ 38 w 80"/>
                    <a:gd name="T21" fmla="*/ 29 h 80"/>
                    <a:gd name="T22" fmla="*/ 30 w 80"/>
                    <a:gd name="T23" fmla="*/ 16 h 80"/>
                    <a:gd name="T24" fmla="*/ 20 w 80"/>
                    <a:gd name="T25" fmla="*/ 27 h 80"/>
                    <a:gd name="T26" fmla="*/ 8 w 80"/>
                    <a:gd name="T27" fmla="*/ 31 h 80"/>
                    <a:gd name="T28" fmla="*/ 0 w 80"/>
                    <a:gd name="T29" fmla="*/ 28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27">
                  <a:extLst>
                    <a:ext uri="{FF2B5EF4-FFF2-40B4-BE49-F238E27FC236}">
                      <a16:creationId xmlns:a16="http://schemas.microsoft.com/office/drawing/2014/main" id="{8E98C3E6-7B7B-4209-88E4-9E70EB1AEEC8}"/>
                    </a:ext>
                  </a:extLst>
                </p:cNvPr>
                <p:cNvSpPr>
                  <a:spLocks/>
                </p:cNvSpPr>
                <p:nvPr userDrawn="1"/>
              </p:nvSpPr>
              <p:spPr bwMode="ltGray">
                <a:xfrm>
                  <a:off x="2391" y="541"/>
                  <a:ext cx="94" cy="142"/>
                </a:xfrm>
                <a:custGeom>
                  <a:avLst/>
                  <a:gdLst>
                    <a:gd name="T0" fmla="*/ 14 w 94"/>
                    <a:gd name="T1" fmla="*/ 52 h 174"/>
                    <a:gd name="T2" fmla="*/ 26 w 94"/>
                    <a:gd name="T3" fmla="*/ 69 h 174"/>
                    <a:gd name="T4" fmla="*/ 32 w 94"/>
                    <a:gd name="T5" fmla="*/ 59 h 174"/>
                    <a:gd name="T6" fmla="*/ 52 w 94"/>
                    <a:gd name="T7" fmla="*/ 55 h 174"/>
                    <a:gd name="T8" fmla="*/ 46 w 94"/>
                    <a:gd name="T9" fmla="*/ 67 h 174"/>
                    <a:gd name="T10" fmla="*/ 66 w 94"/>
                    <a:gd name="T11" fmla="*/ 69 h 174"/>
                    <a:gd name="T12" fmla="*/ 76 w 94"/>
                    <a:gd name="T13" fmla="*/ 78 h 174"/>
                    <a:gd name="T14" fmla="*/ 58 w 94"/>
                    <a:gd name="T15" fmla="*/ 81 h 174"/>
                    <a:gd name="T16" fmla="*/ 74 w 94"/>
                    <a:gd name="T17" fmla="*/ 95 h 174"/>
                    <a:gd name="T18" fmla="*/ 84 w 94"/>
                    <a:gd name="T19" fmla="*/ 84 h 174"/>
                    <a:gd name="T20" fmla="*/ 82 w 94"/>
                    <a:gd name="T21" fmla="*/ 60 h 174"/>
                    <a:gd name="T22" fmla="*/ 60 w 94"/>
                    <a:gd name="T23" fmla="*/ 58 h 174"/>
                    <a:gd name="T24" fmla="*/ 50 w 94"/>
                    <a:gd name="T25" fmla="*/ 45 h 174"/>
                    <a:gd name="T26" fmla="*/ 34 w 94"/>
                    <a:gd name="T27" fmla="*/ 45 h 174"/>
                    <a:gd name="T28" fmla="*/ 30 w 94"/>
                    <a:gd name="T29" fmla="*/ 38 h 174"/>
                    <a:gd name="T30" fmla="*/ 42 w 94"/>
                    <a:gd name="T31" fmla="*/ 23 h 174"/>
                    <a:gd name="T32" fmla="*/ 30 w 94"/>
                    <a:gd name="T33" fmla="*/ 0 h 174"/>
                    <a:gd name="T34" fmla="*/ 18 w 94"/>
                    <a:gd name="T35" fmla="*/ 12 h 174"/>
                    <a:gd name="T36" fmla="*/ 4 w 94"/>
                    <a:gd name="T37" fmla="*/ 25 h 174"/>
                    <a:gd name="T38" fmla="*/ 14 w 94"/>
                    <a:gd name="T39" fmla="*/ 42 h 174"/>
                    <a:gd name="T40" fmla="*/ 14 w 94"/>
                    <a:gd name="T41" fmla="*/ 5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Freeform 28">
                  <a:extLst>
                    <a:ext uri="{FF2B5EF4-FFF2-40B4-BE49-F238E27FC236}">
                      <a16:creationId xmlns:a16="http://schemas.microsoft.com/office/drawing/2014/main" id="{C4138CBD-03E1-47D4-8C0D-E12591DDCD11}"/>
                    </a:ext>
                  </a:extLst>
                </p:cNvPr>
                <p:cNvSpPr>
                  <a:spLocks/>
                </p:cNvSpPr>
                <p:nvPr userDrawn="1"/>
              </p:nvSpPr>
              <p:spPr bwMode="ltGray">
                <a:xfrm>
                  <a:off x="2415" y="644"/>
                  <a:ext cx="32" cy="41"/>
                </a:xfrm>
                <a:custGeom>
                  <a:avLst/>
                  <a:gdLst>
                    <a:gd name="T0" fmla="*/ 6 w 32"/>
                    <a:gd name="T1" fmla="*/ 13 h 50"/>
                    <a:gd name="T2" fmla="*/ 12 w 32"/>
                    <a:gd name="T3" fmla="*/ 0 h 50"/>
                    <a:gd name="T4" fmla="*/ 20 w 32"/>
                    <a:gd name="T5" fmla="*/ 9 h 50"/>
                    <a:gd name="T6" fmla="*/ 22 w 32"/>
                    <a:gd name="T7" fmla="*/ 13 h 50"/>
                    <a:gd name="T8" fmla="*/ 28 w 32"/>
                    <a:gd name="T9" fmla="*/ 14 h 50"/>
                    <a:gd name="T10" fmla="*/ 32 w 32"/>
                    <a:gd name="T11" fmla="*/ 21 h 50"/>
                    <a:gd name="T12" fmla="*/ 18 w 32"/>
                    <a:gd name="T13" fmla="*/ 28 h 50"/>
                    <a:gd name="T14" fmla="*/ 6 w 32"/>
                    <a:gd name="T15" fmla="*/ 13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Freeform 29">
                  <a:extLst>
                    <a:ext uri="{FF2B5EF4-FFF2-40B4-BE49-F238E27FC236}">
                      <a16:creationId xmlns:a16="http://schemas.microsoft.com/office/drawing/2014/main" id="{F5FE4986-E997-449B-8C12-6E4FCC130425}"/>
                    </a:ext>
                  </a:extLst>
                </p:cNvPr>
                <p:cNvSpPr>
                  <a:spLocks/>
                </p:cNvSpPr>
                <p:nvPr userDrawn="1"/>
              </p:nvSpPr>
              <p:spPr bwMode="ltGray">
                <a:xfrm>
                  <a:off x="2349" y="654"/>
                  <a:ext cx="45" cy="41"/>
                </a:xfrm>
                <a:custGeom>
                  <a:avLst/>
                  <a:gdLst>
                    <a:gd name="T0" fmla="*/ 0 w 43"/>
                    <a:gd name="T1" fmla="*/ 25 h 50"/>
                    <a:gd name="T2" fmla="*/ 25 w 43"/>
                    <a:gd name="T3" fmla="*/ 11 h 50"/>
                    <a:gd name="T4" fmla="*/ 42 w 43"/>
                    <a:gd name="T5" fmla="*/ 0 h 50"/>
                    <a:gd name="T6" fmla="*/ 27 w 43"/>
                    <a:gd name="T7" fmla="*/ 16 h 50"/>
                    <a:gd name="T8" fmla="*/ 2 w 43"/>
                    <a:gd name="T9" fmla="*/ 28 h 50"/>
                    <a:gd name="T10" fmla="*/ 0 w 43"/>
                    <a:gd name="T11" fmla="*/ 2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Freeform 30">
                  <a:extLst>
                    <a:ext uri="{FF2B5EF4-FFF2-40B4-BE49-F238E27FC236}">
                      <a16:creationId xmlns:a16="http://schemas.microsoft.com/office/drawing/2014/main" id="{95247B6F-1F89-4005-9F14-488BAE17B153}"/>
                    </a:ext>
                  </a:extLst>
                </p:cNvPr>
                <p:cNvSpPr>
                  <a:spLocks/>
                </p:cNvSpPr>
                <p:nvPr userDrawn="1"/>
              </p:nvSpPr>
              <p:spPr bwMode="ltGray">
                <a:xfrm>
                  <a:off x="4808" y="597"/>
                  <a:ext cx="701" cy="438"/>
                </a:xfrm>
                <a:custGeom>
                  <a:avLst/>
                  <a:gdLst>
                    <a:gd name="T0" fmla="*/ 68 w 471"/>
                    <a:gd name="T1" fmla="*/ 1060 h 281"/>
                    <a:gd name="T2" fmla="*/ 80 w 471"/>
                    <a:gd name="T3" fmla="*/ 948 h 281"/>
                    <a:gd name="T4" fmla="*/ 73 w 471"/>
                    <a:gd name="T5" fmla="*/ 927 h 281"/>
                    <a:gd name="T6" fmla="*/ 54 w 471"/>
                    <a:gd name="T7" fmla="*/ 826 h 281"/>
                    <a:gd name="T8" fmla="*/ 13 w 471"/>
                    <a:gd name="T9" fmla="*/ 814 h 281"/>
                    <a:gd name="T10" fmla="*/ 0 w 471"/>
                    <a:gd name="T11" fmla="*/ 723 h 281"/>
                    <a:gd name="T12" fmla="*/ 40 w 471"/>
                    <a:gd name="T13" fmla="*/ 683 h 281"/>
                    <a:gd name="T14" fmla="*/ 19 w 471"/>
                    <a:gd name="T15" fmla="*/ 625 h 281"/>
                    <a:gd name="T16" fmla="*/ 6 w 471"/>
                    <a:gd name="T17" fmla="*/ 605 h 281"/>
                    <a:gd name="T18" fmla="*/ 94 w 471"/>
                    <a:gd name="T19" fmla="*/ 454 h 281"/>
                    <a:gd name="T20" fmla="*/ 144 w 471"/>
                    <a:gd name="T21" fmla="*/ 365 h 281"/>
                    <a:gd name="T22" fmla="*/ 140 w 471"/>
                    <a:gd name="T23" fmla="*/ 265 h 281"/>
                    <a:gd name="T24" fmla="*/ 80 w 471"/>
                    <a:gd name="T25" fmla="*/ 162 h 281"/>
                    <a:gd name="T26" fmla="*/ 67 w 471"/>
                    <a:gd name="T27" fmla="*/ 122 h 281"/>
                    <a:gd name="T28" fmla="*/ 86 w 471"/>
                    <a:gd name="T29" fmla="*/ 136 h 281"/>
                    <a:gd name="T30" fmla="*/ 158 w 471"/>
                    <a:gd name="T31" fmla="*/ 134 h 281"/>
                    <a:gd name="T32" fmla="*/ 210 w 471"/>
                    <a:gd name="T33" fmla="*/ 41 h 281"/>
                    <a:gd name="T34" fmla="*/ 271 w 471"/>
                    <a:gd name="T35" fmla="*/ 0 h 281"/>
                    <a:gd name="T36" fmla="*/ 290 w 471"/>
                    <a:gd name="T37" fmla="*/ 8 h 281"/>
                    <a:gd name="T38" fmla="*/ 304 w 471"/>
                    <a:gd name="T39" fmla="*/ 34 h 281"/>
                    <a:gd name="T40" fmla="*/ 323 w 471"/>
                    <a:gd name="T41" fmla="*/ 19 h 281"/>
                    <a:gd name="T42" fmla="*/ 363 w 471"/>
                    <a:gd name="T43" fmla="*/ 30 h 281"/>
                    <a:gd name="T44" fmla="*/ 382 w 471"/>
                    <a:gd name="T45" fmla="*/ 34 h 281"/>
                    <a:gd name="T46" fmla="*/ 466 w 471"/>
                    <a:gd name="T47" fmla="*/ 53 h 281"/>
                    <a:gd name="T48" fmla="*/ 512 w 471"/>
                    <a:gd name="T49" fmla="*/ 90 h 281"/>
                    <a:gd name="T50" fmla="*/ 552 w 471"/>
                    <a:gd name="T51" fmla="*/ 64 h 281"/>
                    <a:gd name="T52" fmla="*/ 569 w 471"/>
                    <a:gd name="T53" fmla="*/ 53 h 281"/>
                    <a:gd name="T54" fmla="*/ 643 w 471"/>
                    <a:gd name="T55" fmla="*/ 53 h 281"/>
                    <a:gd name="T56" fmla="*/ 695 w 471"/>
                    <a:gd name="T57" fmla="*/ 122 h 281"/>
                    <a:gd name="T58" fmla="*/ 762 w 471"/>
                    <a:gd name="T59" fmla="*/ 223 h 281"/>
                    <a:gd name="T60" fmla="*/ 808 w 471"/>
                    <a:gd name="T61" fmla="*/ 265 h 281"/>
                    <a:gd name="T62" fmla="*/ 847 w 471"/>
                    <a:gd name="T63" fmla="*/ 257 h 281"/>
                    <a:gd name="T64" fmla="*/ 890 w 471"/>
                    <a:gd name="T65" fmla="*/ 245 h 281"/>
                    <a:gd name="T66" fmla="*/ 957 w 471"/>
                    <a:gd name="T67" fmla="*/ 270 h 281"/>
                    <a:gd name="T68" fmla="*/ 988 w 471"/>
                    <a:gd name="T69" fmla="*/ 306 h 281"/>
                    <a:gd name="T70" fmla="*/ 1015 w 471"/>
                    <a:gd name="T71" fmla="*/ 340 h 281"/>
                    <a:gd name="T72" fmla="*/ 1048 w 471"/>
                    <a:gd name="T73" fmla="*/ 421 h 281"/>
                    <a:gd name="T74" fmla="*/ 1061 w 471"/>
                    <a:gd name="T75" fmla="*/ 454 h 281"/>
                    <a:gd name="T76" fmla="*/ 1067 w 471"/>
                    <a:gd name="T77" fmla="*/ 474 h 281"/>
                    <a:gd name="T78" fmla="*/ 1021 w 471"/>
                    <a:gd name="T79" fmla="*/ 536 h 281"/>
                    <a:gd name="T80" fmla="*/ 1061 w 471"/>
                    <a:gd name="T81" fmla="*/ 535 h 281"/>
                    <a:gd name="T82" fmla="*/ 1128 w 471"/>
                    <a:gd name="T83" fmla="*/ 588 h 281"/>
                    <a:gd name="T84" fmla="*/ 1201 w 471"/>
                    <a:gd name="T85" fmla="*/ 595 h 281"/>
                    <a:gd name="T86" fmla="*/ 1253 w 471"/>
                    <a:gd name="T87" fmla="*/ 636 h 281"/>
                    <a:gd name="T88" fmla="*/ 1261 w 471"/>
                    <a:gd name="T89" fmla="*/ 652 h 281"/>
                    <a:gd name="T90" fmla="*/ 1261 w 471"/>
                    <a:gd name="T91" fmla="*/ 666 h 281"/>
                    <a:gd name="T92" fmla="*/ 1298 w 471"/>
                    <a:gd name="T93" fmla="*/ 652 h 281"/>
                    <a:gd name="T94" fmla="*/ 1319 w 471"/>
                    <a:gd name="T95" fmla="*/ 648 h 281"/>
                    <a:gd name="T96" fmla="*/ 1447 w 471"/>
                    <a:gd name="T97" fmla="*/ 700 h 281"/>
                    <a:gd name="T98" fmla="*/ 1473 w 471"/>
                    <a:gd name="T99" fmla="*/ 753 h 281"/>
                    <a:gd name="T100" fmla="*/ 1533 w 471"/>
                    <a:gd name="T101" fmla="*/ 761 h 281"/>
                    <a:gd name="T102" fmla="*/ 1552 w 471"/>
                    <a:gd name="T103" fmla="*/ 814 h 281"/>
                    <a:gd name="T104" fmla="*/ 1487 w 471"/>
                    <a:gd name="T105" fmla="*/ 977 h 281"/>
                    <a:gd name="T106" fmla="*/ 1433 w 471"/>
                    <a:gd name="T107" fmla="*/ 1065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Freeform 31">
                  <a:extLst>
                    <a:ext uri="{FF2B5EF4-FFF2-40B4-BE49-F238E27FC236}">
                      <a16:creationId xmlns:a16="http://schemas.microsoft.com/office/drawing/2014/main" id="{A32E4708-41F2-4FDA-87BF-F555F65A3EDB}"/>
                    </a:ext>
                  </a:extLst>
                </p:cNvPr>
                <p:cNvSpPr>
                  <a:spLocks/>
                </p:cNvSpPr>
                <p:nvPr userDrawn="1"/>
              </p:nvSpPr>
              <p:spPr bwMode="ltGray">
                <a:xfrm>
                  <a:off x="3880" y="-7"/>
                  <a:ext cx="984" cy="692"/>
                </a:xfrm>
                <a:custGeom>
                  <a:avLst/>
                  <a:gdLst>
                    <a:gd name="T0" fmla="*/ 406 w 984"/>
                    <a:gd name="T1" fmla="*/ 3 h 844"/>
                    <a:gd name="T2" fmla="*/ 502 w 984"/>
                    <a:gd name="T3" fmla="*/ 19 h 844"/>
                    <a:gd name="T4" fmla="*/ 550 w 984"/>
                    <a:gd name="T5" fmla="*/ 20 h 844"/>
                    <a:gd name="T6" fmla="*/ 578 w 984"/>
                    <a:gd name="T7" fmla="*/ 72 h 844"/>
                    <a:gd name="T8" fmla="*/ 586 w 984"/>
                    <a:gd name="T9" fmla="*/ 50 h 844"/>
                    <a:gd name="T10" fmla="*/ 606 w 984"/>
                    <a:gd name="T11" fmla="*/ 39 h 844"/>
                    <a:gd name="T12" fmla="*/ 642 w 984"/>
                    <a:gd name="T13" fmla="*/ 69 h 844"/>
                    <a:gd name="T14" fmla="*/ 682 w 984"/>
                    <a:gd name="T15" fmla="*/ 54 h 844"/>
                    <a:gd name="T16" fmla="*/ 706 w 984"/>
                    <a:gd name="T17" fmla="*/ 48 h 844"/>
                    <a:gd name="T18" fmla="*/ 762 w 984"/>
                    <a:gd name="T19" fmla="*/ 2 h 844"/>
                    <a:gd name="T20" fmla="*/ 798 w 984"/>
                    <a:gd name="T21" fmla="*/ 39 h 844"/>
                    <a:gd name="T22" fmla="*/ 798 w 984"/>
                    <a:gd name="T23" fmla="*/ 72 h 844"/>
                    <a:gd name="T24" fmla="*/ 790 w 984"/>
                    <a:gd name="T25" fmla="*/ 88 h 844"/>
                    <a:gd name="T26" fmla="*/ 766 w 984"/>
                    <a:gd name="T27" fmla="*/ 89 h 844"/>
                    <a:gd name="T28" fmla="*/ 762 w 984"/>
                    <a:gd name="T29" fmla="*/ 102 h 844"/>
                    <a:gd name="T30" fmla="*/ 802 w 984"/>
                    <a:gd name="T31" fmla="*/ 125 h 844"/>
                    <a:gd name="T32" fmla="*/ 786 w 984"/>
                    <a:gd name="T33" fmla="*/ 177 h 844"/>
                    <a:gd name="T34" fmla="*/ 830 w 984"/>
                    <a:gd name="T35" fmla="*/ 228 h 844"/>
                    <a:gd name="T36" fmla="*/ 854 w 984"/>
                    <a:gd name="T37" fmla="*/ 248 h 844"/>
                    <a:gd name="T38" fmla="*/ 830 w 984"/>
                    <a:gd name="T39" fmla="*/ 248 h 844"/>
                    <a:gd name="T40" fmla="*/ 746 w 984"/>
                    <a:gd name="T41" fmla="*/ 208 h 844"/>
                    <a:gd name="T42" fmla="*/ 678 w 984"/>
                    <a:gd name="T43" fmla="*/ 222 h 844"/>
                    <a:gd name="T44" fmla="*/ 590 w 984"/>
                    <a:gd name="T45" fmla="*/ 244 h 844"/>
                    <a:gd name="T46" fmla="*/ 642 w 984"/>
                    <a:gd name="T47" fmla="*/ 319 h 844"/>
                    <a:gd name="T48" fmla="*/ 710 w 984"/>
                    <a:gd name="T49" fmla="*/ 336 h 844"/>
                    <a:gd name="T50" fmla="*/ 738 w 984"/>
                    <a:gd name="T51" fmla="*/ 303 h 844"/>
                    <a:gd name="T52" fmla="*/ 774 w 984"/>
                    <a:gd name="T53" fmla="*/ 314 h 844"/>
                    <a:gd name="T54" fmla="*/ 766 w 984"/>
                    <a:gd name="T55" fmla="*/ 348 h 844"/>
                    <a:gd name="T56" fmla="*/ 802 w 984"/>
                    <a:gd name="T57" fmla="*/ 369 h 844"/>
                    <a:gd name="T58" fmla="*/ 838 w 984"/>
                    <a:gd name="T59" fmla="*/ 362 h 844"/>
                    <a:gd name="T60" fmla="*/ 922 w 984"/>
                    <a:gd name="T61" fmla="*/ 444 h 844"/>
                    <a:gd name="T62" fmla="*/ 942 w 984"/>
                    <a:gd name="T63" fmla="*/ 455 h 844"/>
                    <a:gd name="T64" fmla="*/ 874 w 984"/>
                    <a:gd name="T65" fmla="*/ 446 h 844"/>
                    <a:gd name="T66" fmla="*/ 830 w 984"/>
                    <a:gd name="T67" fmla="*/ 417 h 844"/>
                    <a:gd name="T68" fmla="*/ 778 w 984"/>
                    <a:gd name="T69" fmla="*/ 391 h 844"/>
                    <a:gd name="T70" fmla="*/ 702 w 984"/>
                    <a:gd name="T71" fmla="*/ 365 h 844"/>
                    <a:gd name="T72" fmla="*/ 614 w 984"/>
                    <a:gd name="T73" fmla="*/ 357 h 844"/>
                    <a:gd name="T74" fmla="*/ 506 w 984"/>
                    <a:gd name="T75" fmla="*/ 327 h 844"/>
                    <a:gd name="T76" fmla="*/ 462 w 984"/>
                    <a:gd name="T77" fmla="*/ 279 h 844"/>
                    <a:gd name="T78" fmla="*/ 430 w 984"/>
                    <a:gd name="T79" fmla="*/ 255 h 844"/>
                    <a:gd name="T80" fmla="*/ 382 w 984"/>
                    <a:gd name="T81" fmla="*/ 237 h 844"/>
                    <a:gd name="T82" fmla="*/ 342 w 984"/>
                    <a:gd name="T83" fmla="*/ 203 h 844"/>
                    <a:gd name="T84" fmla="*/ 354 w 984"/>
                    <a:gd name="T85" fmla="*/ 228 h 844"/>
                    <a:gd name="T86" fmla="*/ 418 w 984"/>
                    <a:gd name="T87" fmla="*/ 272 h 844"/>
                    <a:gd name="T88" fmla="*/ 422 w 984"/>
                    <a:gd name="T89" fmla="*/ 289 h 844"/>
                    <a:gd name="T90" fmla="*/ 394 w 984"/>
                    <a:gd name="T91" fmla="*/ 275 h 844"/>
                    <a:gd name="T92" fmla="*/ 354 w 984"/>
                    <a:gd name="T93" fmla="*/ 257 h 844"/>
                    <a:gd name="T94" fmla="*/ 314 w 984"/>
                    <a:gd name="T95" fmla="*/ 222 h 844"/>
                    <a:gd name="T96" fmla="*/ 266 w 984"/>
                    <a:gd name="T97" fmla="*/ 191 h 844"/>
                    <a:gd name="T98" fmla="*/ 210 w 984"/>
                    <a:gd name="T99" fmla="*/ 173 h 844"/>
                    <a:gd name="T100" fmla="*/ 154 w 984"/>
                    <a:gd name="T101" fmla="*/ 131 h 844"/>
                    <a:gd name="T102" fmla="*/ 66 w 984"/>
                    <a:gd name="T103" fmla="*/ 36 h 844"/>
                    <a:gd name="T104" fmla="*/ 34 w 984"/>
                    <a:gd name="T105" fmla="*/ 20 h 844"/>
                    <a:gd name="T106" fmla="*/ 46 w 984"/>
                    <a:gd name="T107" fmla="*/ 12 h 844"/>
                    <a:gd name="T108" fmla="*/ 102 w 984"/>
                    <a:gd name="T109" fmla="*/ 39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32">
                  <a:extLst>
                    <a:ext uri="{FF2B5EF4-FFF2-40B4-BE49-F238E27FC236}">
                      <a16:creationId xmlns:a16="http://schemas.microsoft.com/office/drawing/2014/main" id="{B00FDDFE-B785-485C-91C4-821DD8166F33}"/>
                    </a:ext>
                  </a:extLst>
                </p:cNvPr>
                <p:cNvSpPr>
                  <a:spLocks/>
                </p:cNvSpPr>
                <p:nvPr userDrawn="1"/>
              </p:nvSpPr>
              <p:spPr bwMode="ltGray">
                <a:xfrm>
                  <a:off x="3577" y="490"/>
                  <a:ext cx="36" cy="39"/>
                </a:xfrm>
                <a:custGeom>
                  <a:avLst/>
                  <a:gdLst>
                    <a:gd name="T0" fmla="*/ 6 w 36"/>
                    <a:gd name="T1" fmla="*/ 15 h 48"/>
                    <a:gd name="T2" fmla="*/ 10 w 36"/>
                    <a:gd name="T3" fmla="*/ 26 h 48"/>
                    <a:gd name="T4" fmla="*/ 6 w 36"/>
                    <a:gd name="T5" fmla="*/ 15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Freeform 33">
                  <a:extLst>
                    <a:ext uri="{FF2B5EF4-FFF2-40B4-BE49-F238E27FC236}">
                      <a16:creationId xmlns:a16="http://schemas.microsoft.com/office/drawing/2014/main" id="{B7F59999-98C9-4889-A300-7B5662B9F4C2}"/>
                    </a:ext>
                  </a:extLst>
                </p:cNvPr>
                <p:cNvSpPr>
                  <a:spLocks/>
                </p:cNvSpPr>
                <p:nvPr userDrawn="1"/>
              </p:nvSpPr>
              <p:spPr bwMode="ltGray">
                <a:xfrm>
                  <a:off x="3549" y="475"/>
                  <a:ext cx="38" cy="29"/>
                </a:xfrm>
                <a:custGeom>
                  <a:avLst/>
                  <a:gdLst>
                    <a:gd name="T0" fmla="*/ 0 w 36"/>
                    <a:gd name="T1" fmla="*/ 2 h 37"/>
                    <a:gd name="T2" fmla="*/ 15 w 36"/>
                    <a:gd name="T3" fmla="*/ 1 h 37"/>
                    <a:gd name="T4" fmla="*/ 42 w 36"/>
                    <a:gd name="T5" fmla="*/ 8 h 37"/>
                    <a:gd name="T6" fmla="*/ 8 w 36"/>
                    <a:gd name="T7" fmla="*/ 8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Freeform 34">
                  <a:extLst>
                    <a:ext uri="{FF2B5EF4-FFF2-40B4-BE49-F238E27FC236}">
                      <a16:creationId xmlns:a16="http://schemas.microsoft.com/office/drawing/2014/main" id="{9DE13E78-B8C9-4684-8230-E891736C2B9E}"/>
                    </a:ext>
                  </a:extLst>
                </p:cNvPr>
                <p:cNvSpPr>
                  <a:spLocks/>
                </p:cNvSpPr>
                <p:nvPr userDrawn="1"/>
              </p:nvSpPr>
              <p:spPr bwMode="ltGray">
                <a:xfrm>
                  <a:off x="4686" y="394"/>
                  <a:ext cx="171" cy="81"/>
                </a:xfrm>
                <a:custGeom>
                  <a:avLst/>
                  <a:gdLst>
                    <a:gd name="T0" fmla="*/ 0 w 170"/>
                    <a:gd name="T1" fmla="*/ 30 h 96"/>
                    <a:gd name="T2" fmla="*/ 28 w 170"/>
                    <a:gd name="T3" fmla="*/ 15 h 96"/>
                    <a:gd name="T4" fmla="*/ 56 w 170"/>
                    <a:gd name="T5" fmla="*/ 13 h 96"/>
                    <a:gd name="T6" fmla="*/ 80 w 170"/>
                    <a:gd name="T7" fmla="*/ 6 h 96"/>
                    <a:gd name="T8" fmla="*/ 64 w 170"/>
                    <a:gd name="T9" fmla="*/ 15 h 96"/>
                    <a:gd name="T10" fmla="*/ 127 w 170"/>
                    <a:gd name="T11" fmla="*/ 30 h 96"/>
                    <a:gd name="T12" fmla="*/ 163 w 170"/>
                    <a:gd name="T13" fmla="*/ 39 h 96"/>
                    <a:gd name="T14" fmla="*/ 119 w 170"/>
                    <a:gd name="T15" fmla="*/ 46 h 96"/>
                    <a:gd name="T16" fmla="*/ 91 w 170"/>
                    <a:gd name="T17" fmla="*/ 35 h 96"/>
                    <a:gd name="T18" fmla="*/ 76 w 170"/>
                    <a:gd name="T19" fmla="*/ 32 h 96"/>
                    <a:gd name="T20" fmla="*/ 24 w 170"/>
                    <a:gd name="T21" fmla="*/ 25 h 96"/>
                    <a:gd name="T22" fmla="*/ 0 w 170"/>
                    <a:gd name="T23" fmla="*/ 3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Freeform 35">
                  <a:extLst>
                    <a:ext uri="{FF2B5EF4-FFF2-40B4-BE49-F238E27FC236}">
                      <a16:creationId xmlns:a16="http://schemas.microsoft.com/office/drawing/2014/main" id="{54DD2BCE-036E-4812-8430-9CF95BC31DDE}"/>
                    </a:ext>
                  </a:extLst>
                </p:cNvPr>
                <p:cNvSpPr>
                  <a:spLocks/>
                </p:cNvSpPr>
                <p:nvPr userDrawn="1"/>
              </p:nvSpPr>
              <p:spPr bwMode="ltGray">
                <a:xfrm>
                  <a:off x="4867" y="460"/>
                  <a:ext cx="138" cy="37"/>
                </a:xfrm>
                <a:custGeom>
                  <a:avLst/>
                  <a:gdLst>
                    <a:gd name="T0" fmla="*/ 0 w 138"/>
                    <a:gd name="T1" fmla="*/ 0 h 44"/>
                    <a:gd name="T2" fmla="*/ 52 w 138"/>
                    <a:gd name="T3" fmla="*/ 3 h 44"/>
                    <a:gd name="T4" fmla="*/ 88 w 138"/>
                    <a:gd name="T5" fmla="*/ 14 h 44"/>
                    <a:gd name="T6" fmla="*/ 112 w 138"/>
                    <a:gd name="T7" fmla="*/ 12 h 44"/>
                    <a:gd name="T8" fmla="*/ 108 w 138"/>
                    <a:gd name="T9" fmla="*/ 26 h 44"/>
                    <a:gd name="T10" fmla="*/ 64 w 138"/>
                    <a:gd name="T11" fmla="*/ 24 h 44"/>
                    <a:gd name="T12" fmla="*/ 0 w 138"/>
                    <a:gd name="T13" fmla="*/ 21 h 44"/>
                    <a:gd name="T14" fmla="*/ 28 w 138"/>
                    <a:gd name="T15" fmla="*/ 12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Freeform 36">
                  <a:extLst>
                    <a:ext uri="{FF2B5EF4-FFF2-40B4-BE49-F238E27FC236}">
                      <a16:creationId xmlns:a16="http://schemas.microsoft.com/office/drawing/2014/main" id="{389935CB-D686-4BE1-948B-4571F98D295A}"/>
                    </a:ext>
                  </a:extLst>
                </p:cNvPr>
                <p:cNvSpPr>
                  <a:spLocks/>
                </p:cNvSpPr>
                <p:nvPr userDrawn="1"/>
              </p:nvSpPr>
              <p:spPr bwMode="ltGray">
                <a:xfrm>
                  <a:off x="4794" y="480"/>
                  <a:ext cx="56" cy="34"/>
                </a:xfrm>
                <a:custGeom>
                  <a:avLst/>
                  <a:gdLst>
                    <a:gd name="T0" fmla="*/ 17 w 57"/>
                    <a:gd name="T1" fmla="*/ 13 h 42"/>
                    <a:gd name="T2" fmla="*/ 34 w 57"/>
                    <a:gd name="T3" fmla="*/ 7 h 42"/>
                    <a:gd name="T4" fmla="*/ 17 w 57"/>
                    <a:gd name="T5" fmla="*/ 13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Freeform 37">
                  <a:extLst>
                    <a:ext uri="{FF2B5EF4-FFF2-40B4-BE49-F238E27FC236}">
                      <a16:creationId xmlns:a16="http://schemas.microsoft.com/office/drawing/2014/main" id="{29844C0A-5FE9-4DE6-90B5-5812069AA950}"/>
                    </a:ext>
                  </a:extLst>
                </p:cNvPr>
                <p:cNvSpPr>
                  <a:spLocks/>
                </p:cNvSpPr>
                <p:nvPr userDrawn="1"/>
              </p:nvSpPr>
              <p:spPr bwMode="ltGray">
                <a:xfrm>
                  <a:off x="4757" y="375"/>
                  <a:ext cx="37" cy="44"/>
                </a:xfrm>
                <a:custGeom>
                  <a:avLst/>
                  <a:gdLst>
                    <a:gd name="T0" fmla="*/ 16 w 39"/>
                    <a:gd name="T1" fmla="*/ 19 h 52"/>
                    <a:gd name="T2" fmla="*/ 16 w 39"/>
                    <a:gd name="T3" fmla="*/ 0 h 52"/>
                    <a:gd name="T4" fmla="*/ 16 w 39"/>
                    <a:gd name="T5" fmla="*/ 19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Freeform 38">
                  <a:extLst>
                    <a:ext uri="{FF2B5EF4-FFF2-40B4-BE49-F238E27FC236}">
                      <a16:creationId xmlns:a16="http://schemas.microsoft.com/office/drawing/2014/main" id="{078B9FDD-E5E0-46DC-BAFF-5F99F4AD3C2D}"/>
                    </a:ext>
                  </a:extLst>
                </p:cNvPr>
                <p:cNvSpPr>
                  <a:spLocks/>
                </p:cNvSpPr>
                <p:nvPr userDrawn="1"/>
              </p:nvSpPr>
              <p:spPr bwMode="ltGray">
                <a:xfrm>
                  <a:off x="5054" y="507"/>
                  <a:ext cx="45" cy="66"/>
                </a:xfrm>
                <a:custGeom>
                  <a:avLst/>
                  <a:gdLst>
                    <a:gd name="T0" fmla="*/ 4 w 44"/>
                    <a:gd name="T1" fmla="*/ 5 h 80"/>
                    <a:gd name="T2" fmla="*/ 20 w 44"/>
                    <a:gd name="T3" fmla="*/ 18 h 80"/>
                    <a:gd name="T4" fmla="*/ 27 w 44"/>
                    <a:gd name="T5" fmla="*/ 27 h 80"/>
                    <a:gd name="T6" fmla="*/ 39 w 44"/>
                    <a:gd name="T7" fmla="*/ 30 h 80"/>
                    <a:gd name="T8" fmla="*/ 27 w 44"/>
                    <a:gd name="T9" fmla="*/ 41 h 80"/>
                    <a:gd name="T10" fmla="*/ 0 w 44"/>
                    <a:gd name="T11" fmla="*/ 12 h 80"/>
                    <a:gd name="T12" fmla="*/ 4 w 44"/>
                    <a:gd name="T13" fmla="*/ 5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Freeform 39">
                  <a:extLst>
                    <a:ext uri="{FF2B5EF4-FFF2-40B4-BE49-F238E27FC236}">
                      <a16:creationId xmlns:a16="http://schemas.microsoft.com/office/drawing/2014/main" id="{060FA077-7FED-416E-994F-E584982A613E}"/>
                    </a:ext>
                  </a:extLst>
                </p:cNvPr>
                <p:cNvSpPr>
                  <a:spLocks/>
                </p:cNvSpPr>
                <p:nvPr userDrawn="1"/>
              </p:nvSpPr>
              <p:spPr bwMode="ltGray">
                <a:xfrm>
                  <a:off x="4260" y="6"/>
                  <a:ext cx="480" cy="100"/>
                </a:xfrm>
                <a:custGeom>
                  <a:avLst/>
                  <a:gdLst>
                    <a:gd name="T0" fmla="*/ 722 w 323"/>
                    <a:gd name="T1" fmla="*/ 5 h 64"/>
                    <a:gd name="T2" fmla="*/ 758 w 323"/>
                    <a:gd name="T3" fmla="*/ 31 h 64"/>
                    <a:gd name="T4" fmla="*/ 771 w 323"/>
                    <a:gd name="T5" fmla="*/ 0 h 64"/>
                    <a:gd name="T6" fmla="*/ 871 w 323"/>
                    <a:gd name="T7" fmla="*/ 0 h 64"/>
                    <a:gd name="T8" fmla="*/ 944 w 323"/>
                    <a:gd name="T9" fmla="*/ 66 h 64"/>
                    <a:gd name="T10" fmla="*/ 1046 w 323"/>
                    <a:gd name="T11" fmla="*/ 39 h 64"/>
                    <a:gd name="T12" fmla="*/ 1031 w 323"/>
                    <a:gd name="T13" fmla="*/ 109 h 64"/>
                    <a:gd name="T14" fmla="*/ 978 w 323"/>
                    <a:gd name="T15" fmla="*/ 177 h 64"/>
                    <a:gd name="T16" fmla="*/ 967 w 323"/>
                    <a:gd name="T17" fmla="*/ 109 h 64"/>
                    <a:gd name="T18" fmla="*/ 944 w 323"/>
                    <a:gd name="T19" fmla="*/ 117 h 64"/>
                    <a:gd name="T20" fmla="*/ 917 w 323"/>
                    <a:gd name="T21" fmla="*/ 109 h 64"/>
                    <a:gd name="T22" fmla="*/ 863 w 323"/>
                    <a:gd name="T23" fmla="*/ 81 h 64"/>
                    <a:gd name="T24" fmla="*/ 749 w 323"/>
                    <a:gd name="T25" fmla="*/ 144 h 64"/>
                    <a:gd name="T26" fmla="*/ 660 w 323"/>
                    <a:gd name="T27" fmla="*/ 169 h 64"/>
                    <a:gd name="T28" fmla="*/ 695 w 323"/>
                    <a:gd name="T29" fmla="*/ 217 h 64"/>
                    <a:gd name="T30" fmla="*/ 617 w 323"/>
                    <a:gd name="T31" fmla="*/ 239 h 64"/>
                    <a:gd name="T32" fmla="*/ 554 w 323"/>
                    <a:gd name="T33" fmla="*/ 231 h 64"/>
                    <a:gd name="T34" fmla="*/ 581 w 323"/>
                    <a:gd name="T35" fmla="*/ 217 h 64"/>
                    <a:gd name="T36" fmla="*/ 560 w 323"/>
                    <a:gd name="T37" fmla="*/ 153 h 64"/>
                    <a:gd name="T38" fmla="*/ 554 w 323"/>
                    <a:gd name="T39" fmla="*/ 117 h 64"/>
                    <a:gd name="T40" fmla="*/ 519 w 323"/>
                    <a:gd name="T41" fmla="*/ 88 h 64"/>
                    <a:gd name="T42" fmla="*/ 467 w 323"/>
                    <a:gd name="T43" fmla="*/ 103 h 64"/>
                    <a:gd name="T44" fmla="*/ 440 w 323"/>
                    <a:gd name="T45" fmla="*/ 103 h 64"/>
                    <a:gd name="T46" fmla="*/ 404 w 323"/>
                    <a:gd name="T47" fmla="*/ 95 h 64"/>
                    <a:gd name="T48" fmla="*/ 272 w 323"/>
                    <a:gd name="T49" fmla="*/ 8 h 64"/>
                    <a:gd name="T50" fmla="*/ 195 w 323"/>
                    <a:gd name="T51" fmla="*/ 53 h 64"/>
                    <a:gd name="T52" fmla="*/ 1 w 323"/>
                    <a:gd name="T53" fmla="*/ 0 h 64"/>
                    <a:gd name="T54" fmla="*/ 722 w 323"/>
                    <a:gd name="T55" fmla="*/ 5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Freeform 40">
                  <a:extLst>
                    <a:ext uri="{FF2B5EF4-FFF2-40B4-BE49-F238E27FC236}">
                      <a16:creationId xmlns:a16="http://schemas.microsoft.com/office/drawing/2014/main" id="{69C43C41-4DE3-4923-8A72-7A39A35B05F7}"/>
                    </a:ext>
                  </a:extLst>
                </p:cNvPr>
                <p:cNvSpPr>
                  <a:spLocks/>
                </p:cNvSpPr>
                <p:nvPr userDrawn="1"/>
              </p:nvSpPr>
              <p:spPr bwMode="ltGray">
                <a:xfrm>
                  <a:off x="3835" y="3"/>
                  <a:ext cx="446" cy="49"/>
                </a:xfrm>
                <a:custGeom>
                  <a:avLst/>
                  <a:gdLst>
                    <a:gd name="T0" fmla="*/ 345 w 300"/>
                    <a:gd name="T1" fmla="*/ 122 h 31"/>
                    <a:gd name="T2" fmla="*/ 100 w 300"/>
                    <a:gd name="T3" fmla="*/ 5 h 31"/>
                    <a:gd name="T4" fmla="*/ 937 w 300"/>
                    <a:gd name="T5" fmla="*/ 0 h 31"/>
                    <a:gd name="T6" fmla="*/ 972 w 300"/>
                    <a:gd name="T7" fmla="*/ 55 h 31"/>
                    <a:gd name="T8" fmla="*/ 867 w 300"/>
                    <a:gd name="T9" fmla="*/ 63 h 31"/>
                    <a:gd name="T10" fmla="*/ 345 w 300"/>
                    <a:gd name="T11" fmla="*/ 122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Freeform 41">
                  <a:extLst>
                    <a:ext uri="{FF2B5EF4-FFF2-40B4-BE49-F238E27FC236}">
                      <a16:creationId xmlns:a16="http://schemas.microsoft.com/office/drawing/2014/main" id="{87F22F10-98E3-4A58-9959-472AD4D4FEF5}"/>
                    </a:ext>
                  </a:extLst>
                </p:cNvPr>
                <p:cNvSpPr>
                  <a:spLocks/>
                </p:cNvSpPr>
                <p:nvPr userDrawn="1"/>
              </p:nvSpPr>
              <p:spPr bwMode="ltGray">
                <a:xfrm>
                  <a:off x="2853" y="74"/>
                  <a:ext cx="42" cy="25"/>
                </a:xfrm>
                <a:custGeom>
                  <a:avLst/>
                  <a:gdLst>
                    <a:gd name="T0" fmla="*/ 0 w 41"/>
                    <a:gd name="T1" fmla="*/ 16 h 29"/>
                    <a:gd name="T2" fmla="*/ 12 w 41"/>
                    <a:gd name="T3" fmla="*/ 19 h 29"/>
                    <a:gd name="T4" fmla="*/ 0 w 41"/>
                    <a:gd name="T5" fmla="*/ 16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Freeform 42">
                  <a:extLst>
                    <a:ext uri="{FF2B5EF4-FFF2-40B4-BE49-F238E27FC236}">
                      <a16:creationId xmlns:a16="http://schemas.microsoft.com/office/drawing/2014/main" id="{39DF3EA9-D7BB-42CC-8F95-D859A55424D1}"/>
                    </a:ext>
                  </a:extLst>
                </p:cNvPr>
                <p:cNvSpPr>
                  <a:spLocks/>
                </p:cNvSpPr>
                <p:nvPr userDrawn="1"/>
              </p:nvSpPr>
              <p:spPr bwMode="ltGray">
                <a:xfrm>
                  <a:off x="1704" y="3"/>
                  <a:ext cx="1022" cy="372"/>
                </a:xfrm>
                <a:custGeom>
                  <a:avLst/>
                  <a:gdLst>
                    <a:gd name="T0" fmla="*/ 940 w 436"/>
                    <a:gd name="T1" fmla="*/ 12 h 152"/>
                    <a:gd name="T2" fmla="*/ 5616 w 436"/>
                    <a:gd name="T3" fmla="*/ 0 h 152"/>
                    <a:gd name="T4" fmla="*/ 5356 w 436"/>
                    <a:gd name="T5" fmla="*/ 791 h 152"/>
                    <a:gd name="T6" fmla="*/ 5115 w 436"/>
                    <a:gd name="T7" fmla="*/ 994 h 152"/>
                    <a:gd name="T8" fmla="*/ 5049 w 436"/>
                    <a:gd name="T9" fmla="*/ 1025 h 152"/>
                    <a:gd name="T10" fmla="*/ 4829 w 436"/>
                    <a:gd name="T11" fmla="*/ 1072 h 152"/>
                    <a:gd name="T12" fmla="*/ 4648 w 436"/>
                    <a:gd name="T13" fmla="*/ 1287 h 152"/>
                    <a:gd name="T14" fmla="*/ 4665 w 436"/>
                    <a:gd name="T15" fmla="*/ 1449 h 152"/>
                    <a:gd name="T16" fmla="*/ 4686 w 436"/>
                    <a:gd name="T17" fmla="*/ 1569 h 152"/>
                    <a:gd name="T18" fmla="*/ 4714 w 436"/>
                    <a:gd name="T19" fmla="*/ 1659 h 152"/>
                    <a:gd name="T20" fmla="*/ 4665 w 436"/>
                    <a:gd name="T21" fmla="*/ 1791 h 152"/>
                    <a:gd name="T22" fmla="*/ 4522 w 436"/>
                    <a:gd name="T23" fmla="*/ 1762 h 152"/>
                    <a:gd name="T24" fmla="*/ 4407 w 436"/>
                    <a:gd name="T25" fmla="*/ 1892 h 152"/>
                    <a:gd name="T26" fmla="*/ 4468 w 436"/>
                    <a:gd name="T27" fmla="*/ 1539 h 152"/>
                    <a:gd name="T28" fmla="*/ 4351 w 436"/>
                    <a:gd name="T29" fmla="*/ 1468 h 152"/>
                    <a:gd name="T30" fmla="*/ 4428 w 436"/>
                    <a:gd name="T31" fmla="*/ 1366 h 152"/>
                    <a:gd name="T32" fmla="*/ 4407 w 436"/>
                    <a:gd name="T33" fmla="*/ 1307 h 152"/>
                    <a:gd name="T34" fmla="*/ 4121 w 436"/>
                    <a:gd name="T35" fmla="*/ 1378 h 152"/>
                    <a:gd name="T36" fmla="*/ 4083 w 436"/>
                    <a:gd name="T37" fmla="*/ 1246 h 152"/>
                    <a:gd name="T38" fmla="*/ 3823 w 436"/>
                    <a:gd name="T39" fmla="*/ 1378 h 152"/>
                    <a:gd name="T40" fmla="*/ 4121 w 436"/>
                    <a:gd name="T41" fmla="*/ 1510 h 152"/>
                    <a:gd name="T42" fmla="*/ 3929 w 436"/>
                    <a:gd name="T43" fmla="*/ 1713 h 152"/>
                    <a:gd name="T44" fmla="*/ 4006 w 436"/>
                    <a:gd name="T45" fmla="*/ 1845 h 152"/>
                    <a:gd name="T46" fmla="*/ 4055 w 436"/>
                    <a:gd name="T47" fmla="*/ 2024 h 152"/>
                    <a:gd name="T48" fmla="*/ 3978 w 436"/>
                    <a:gd name="T49" fmla="*/ 2036 h 152"/>
                    <a:gd name="T50" fmla="*/ 4043 w 436"/>
                    <a:gd name="T51" fmla="*/ 2107 h 152"/>
                    <a:gd name="T52" fmla="*/ 3957 w 436"/>
                    <a:gd name="T53" fmla="*/ 2227 h 152"/>
                    <a:gd name="T54" fmla="*/ 0 w 436"/>
                    <a:gd name="T55" fmla="*/ 2186 h 152"/>
                    <a:gd name="T56" fmla="*/ 940 w 436"/>
                    <a:gd name="T57" fmla="*/ 1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Freeform 43">
                  <a:extLst>
                    <a:ext uri="{FF2B5EF4-FFF2-40B4-BE49-F238E27FC236}">
                      <a16:creationId xmlns:a16="http://schemas.microsoft.com/office/drawing/2014/main" id="{32D1AADA-AF4F-483E-8F37-07F5A990CA7E}"/>
                    </a:ext>
                  </a:extLst>
                </p:cNvPr>
                <p:cNvSpPr>
                  <a:spLocks/>
                </p:cNvSpPr>
                <p:nvPr userDrawn="1"/>
              </p:nvSpPr>
              <p:spPr bwMode="ltGray">
                <a:xfrm>
                  <a:off x="2729" y="-9"/>
                  <a:ext cx="47" cy="134"/>
                </a:xfrm>
                <a:custGeom>
                  <a:avLst/>
                  <a:gdLst>
                    <a:gd name="T0" fmla="*/ 5 w 47"/>
                    <a:gd name="T1" fmla="*/ 84 h 165"/>
                    <a:gd name="T2" fmla="*/ 15 w 47"/>
                    <a:gd name="T3" fmla="*/ 58 h 165"/>
                    <a:gd name="T4" fmla="*/ 17 w 47"/>
                    <a:gd name="T5" fmla="*/ 37 h 165"/>
                    <a:gd name="T6" fmla="*/ 11 w 47"/>
                    <a:gd name="T7" fmla="*/ 21 h 165"/>
                    <a:gd name="T8" fmla="*/ 17 w 47"/>
                    <a:gd name="T9" fmla="*/ 6 h 165"/>
                    <a:gd name="T10" fmla="*/ 21 w 47"/>
                    <a:gd name="T11" fmla="*/ 0 h 165"/>
                    <a:gd name="T12" fmla="*/ 31 w 47"/>
                    <a:gd name="T13" fmla="*/ 15 h 165"/>
                    <a:gd name="T14" fmla="*/ 47 w 47"/>
                    <a:gd name="T15" fmla="*/ 53 h 165"/>
                    <a:gd name="T16" fmla="*/ 31 w 47"/>
                    <a:gd name="T17" fmla="*/ 58 h 165"/>
                    <a:gd name="T18" fmla="*/ 23 w 47"/>
                    <a:gd name="T19" fmla="*/ 67 h 165"/>
                    <a:gd name="T20" fmla="*/ 21 w 47"/>
                    <a:gd name="T21" fmla="*/ 71 h 165"/>
                    <a:gd name="T22" fmla="*/ 27 w 47"/>
                    <a:gd name="T23" fmla="*/ 72 h 165"/>
                    <a:gd name="T24" fmla="*/ 31 w 47"/>
                    <a:gd name="T25" fmla="*/ 79 h 165"/>
                    <a:gd name="T26" fmla="*/ 13 w 47"/>
                    <a:gd name="T27" fmla="*/ 79 h 165"/>
                    <a:gd name="T28" fmla="*/ 7 w 47"/>
                    <a:gd name="T29" fmla="*/ 86 h 165"/>
                    <a:gd name="T30" fmla="*/ 3 w 47"/>
                    <a:gd name="T31" fmla="*/ 83 h 165"/>
                    <a:gd name="T32" fmla="*/ 5 w 47"/>
                    <a:gd name="T33" fmla="*/ 84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Freeform 44">
                  <a:extLst>
                    <a:ext uri="{FF2B5EF4-FFF2-40B4-BE49-F238E27FC236}">
                      <a16:creationId xmlns:a16="http://schemas.microsoft.com/office/drawing/2014/main" id="{67420ADA-3FA2-4DC3-8345-E4A6980C2B41}"/>
                    </a:ext>
                  </a:extLst>
                </p:cNvPr>
                <p:cNvSpPr>
                  <a:spLocks/>
                </p:cNvSpPr>
                <p:nvPr userDrawn="1"/>
              </p:nvSpPr>
              <p:spPr bwMode="ltGray">
                <a:xfrm>
                  <a:off x="2701" y="103"/>
                  <a:ext cx="138" cy="84"/>
                </a:xfrm>
                <a:custGeom>
                  <a:avLst/>
                  <a:gdLst>
                    <a:gd name="T0" fmla="*/ 26 w 138"/>
                    <a:gd name="T1" fmla="*/ 33 h 103"/>
                    <a:gd name="T2" fmla="*/ 30 w 138"/>
                    <a:gd name="T3" fmla="*/ 24 h 103"/>
                    <a:gd name="T4" fmla="*/ 50 w 138"/>
                    <a:gd name="T5" fmla="*/ 18 h 103"/>
                    <a:gd name="T6" fmla="*/ 54 w 138"/>
                    <a:gd name="T7" fmla="*/ 24 h 103"/>
                    <a:gd name="T8" fmla="*/ 66 w 138"/>
                    <a:gd name="T9" fmla="*/ 27 h 103"/>
                    <a:gd name="T10" fmla="*/ 80 w 138"/>
                    <a:gd name="T11" fmla="*/ 30 h 103"/>
                    <a:gd name="T12" fmla="*/ 116 w 138"/>
                    <a:gd name="T13" fmla="*/ 18 h 103"/>
                    <a:gd name="T14" fmla="*/ 130 w 138"/>
                    <a:gd name="T15" fmla="*/ 9 h 103"/>
                    <a:gd name="T16" fmla="*/ 138 w 138"/>
                    <a:gd name="T17" fmla="*/ 6 h 103"/>
                    <a:gd name="T18" fmla="*/ 106 w 138"/>
                    <a:gd name="T19" fmla="*/ 27 h 103"/>
                    <a:gd name="T20" fmla="*/ 84 w 138"/>
                    <a:gd name="T21" fmla="*/ 37 h 103"/>
                    <a:gd name="T22" fmla="*/ 66 w 138"/>
                    <a:gd name="T23" fmla="*/ 44 h 103"/>
                    <a:gd name="T24" fmla="*/ 48 w 138"/>
                    <a:gd name="T25" fmla="*/ 56 h 103"/>
                    <a:gd name="T26" fmla="*/ 26 w 138"/>
                    <a:gd name="T27" fmla="*/ 49 h 103"/>
                    <a:gd name="T28" fmla="*/ 20 w 138"/>
                    <a:gd name="T29" fmla="*/ 47 h 103"/>
                    <a:gd name="T30" fmla="*/ 22 w 138"/>
                    <a:gd name="T31" fmla="*/ 52 h 103"/>
                    <a:gd name="T32" fmla="*/ 0 w 138"/>
                    <a:gd name="T33" fmla="*/ 52 h 103"/>
                    <a:gd name="T34" fmla="*/ 10 w 138"/>
                    <a:gd name="T35" fmla="*/ 42 h 103"/>
                    <a:gd name="T36" fmla="*/ 26 w 138"/>
                    <a:gd name="T37" fmla="*/ 3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45">
                  <a:extLst>
                    <a:ext uri="{FF2B5EF4-FFF2-40B4-BE49-F238E27FC236}">
                      <a16:creationId xmlns:a16="http://schemas.microsoft.com/office/drawing/2014/main" id="{F3C50515-FA15-48B0-A4C2-5D14D563A65B}"/>
                    </a:ext>
                  </a:extLst>
                </p:cNvPr>
                <p:cNvSpPr>
                  <a:spLocks/>
                </p:cNvSpPr>
                <p:nvPr userDrawn="1"/>
              </p:nvSpPr>
              <p:spPr bwMode="ltGray">
                <a:xfrm>
                  <a:off x="2553" y="182"/>
                  <a:ext cx="187" cy="176"/>
                </a:xfrm>
                <a:custGeom>
                  <a:avLst/>
                  <a:gdLst>
                    <a:gd name="T0" fmla="*/ 155 w 188"/>
                    <a:gd name="T1" fmla="*/ 13 h 214"/>
                    <a:gd name="T2" fmla="*/ 157 w 188"/>
                    <a:gd name="T3" fmla="*/ 3 h 214"/>
                    <a:gd name="T4" fmla="*/ 167 w 188"/>
                    <a:gd name="T5" fmla="*/ 0 h 214"/>
                    <a:gd name="T6" fmla="*/ 179 w 188"/>
                    <a:gd name="T7" fmla="*/ 13 h 214"/>
                    <a:gd name="T8" fmla="*/ 185 w 188"/>
                    <a:gd name="T9" fmla="*/ 24 h 214"/>
                    <a:gd name="T10" fmla="*/ 175 w 188"/>
                    <a:gd name="T11" fmla="*/ 32 h 214"/>
                    <a:gd name="T12" fmla="*/ 167 w 188"/>
                    <a:gd name="T13" fmla="*/ 43 h 214"/>
                    <a:gd name="T14" fmla="*/ 159 w 188"/>
                    <a:gd name="T15" fmla="*/ 71 h 214"/>
                    <a:gd name="T16" fmla="*/ 141 w 188"/>
                    <a:gd name="T17" fmla="*/ 76 h 214"/>
                    <a:gd name="T18" fmla="*/ 117 w 188"/>
                    <a:gd name="T19" fmla="*/ 76 h 214"/>
                    <a:gd name="T20" fmla="*/ 109 w 188"/>
                    <a:gd name="T21" fmla="*/ 69 h 214"/>
                    <a:gd name="T22" fmla="*/ 99 w 188"/>
                    <a:gd name="T23" fmla="*/ 81 h 214"/>
                    <a:gd name="T24" fmla="*/ 90 w 188"/>
                    <a:gd name="T25" fmla="*/ 83 h 214"/>
                    <a:gd name="T26" fmla="*/ 80 w 188"/>
                    <a:gd name="T27" fmla="*/ 74 h 214"/>
                    <a:gd name="T28" fmla="*/ 58 w 188"/>
                    <a:gd name="T29" fmla="*/ 80 h 214"/>
                    <a:gd name="T30" fmla="*/ 76 w 188"/>
                    <a:gd name="T31" fmla="*/ 79 h 214"/>
                    <a:gd name="T32" fmla="*/ 78 w 188"/>
                    <a:gd name="T33" fmla="*/ 90 h 214"/>
                    <a:gd name="T34" fmla="*/ 58 w 188"/>
                    <a:gd name="T35" fmla="*/ 93 h 214"/>
                    <a:gd name="T36" fmla="*/ 34 w 188"/>
                    <a:gd name="T37" fmla="*/ 93 h 214"/>
                    <a:gd name="T38" fmla="*/ 36 w 188"/>
                    <a:gd name="T39" fmla="*/ 86 h 214"/>
                    <a:gd name="T40" fmla="*/ 46 w 188"/>
                    <a:gd name="T41" fmla="*/ 80 h 214"/>
                    <a:gd name="T42" fmla="*/ 34 w 188"/>
                    <a:gd name="T43" fmla="*/ 82 h 214"/>
                    <a:gd name="T44" fmla="*/ 26 w 188"/>
                    <a:gd name="T45" fmla="*/ 93 h 214"/>
                    <a:gd name="T46" fmla="*/ 30 w 188"/>
                    <a:gd name="T47" fmla="*/ 105 h 214"/>
                    <a:gd name="T48" fmla="*/ 14 w 188"/>
                    <a:gd name="T49" fmla="*/ 111 h 214"/>
                    <a:gd name="T50" fmla="*/ 0 w 188"/>
                    <a:gd name="T51" fmla="*/ 119 h 214"/>
                    <a:gd name="T52" fmla="*/ 8 w 188"/>
                    <a:gd name="T53" fmla="*/ 104 h 214"/>
                    <a:gd name="T54" fmla="*/ 0 w 188"/>
                    <a:gd name="T55" fmla="*/ 91 h 214"/>
                    <a:gd name="T56" fmla="*/ 14 w 188"/>
                    <a:gd name="T57" fmla="*/ 85 h 214"/>
                    <a:gd name="T58" fmla="*/ 32 w 188"/>
                    <a:gd name="T59" fmla="*/ 74 h 214"/>
                    <a:gd name="T60" fmla="*/ 44 w 188"/>
                    <a:gd name="T61" fmla="*/ 66 h 214"/>
                    <a:gd name="T62" fmla="*/ 72 w 188"/>
                    <a:gd name="T63" fmla="*/ 64 h 214"/>
                    <a:gd name="T64" fmla="*/ 84 w 188"/>
                    <a:gd name="T65" fmla="*/ 63 h 214"/>
                    <a:gd name="T66" fmla="*/ 111 w 188"/>
                    <a:gd name="T67" fmla="*/ 44 h 214"/>
                    <a:gd name="T68" fmla="*/ 117 w 188"/>
                    <a:gd name="T69" fmla="*/ 52 h 214"/>
                    <a:gd name="T70" fmla="*/ 129 w 188"/>
                    <a:gd name="T71" fmla="*/ 43 h 214"/>
                    <a:gd name="T72" fmla="*/ 147 w 188"/>
                    <a:gd name="T73" fmla="*/ 30 h 214"/>
                    <a:gd name="T74" fmla="*/ 151 w 188"/>
                    <a:gd name="T75" fmla="*/ 24 h 214"/>
                    <a:gd name="T76" fmla="*/ 145 w 188"/>
                    <a:gd name="T77" fmla="*/ 21 h 214"/>
                    <a:gd name="T78" fmla="*/ 149 w 188"/>
                    <a:gd name="T79" fmla="*/ 17 h 214"/>
                    <a:gd name="T80" fmla="*/ 155 w 188"/>
                    <a:gd name="T81" fmla="*/ 13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Freeform 46">
                  <a:extLst>
                    <a:ext uri="{FF2B5EF4-FFF2-40B4-BE49-F238E27FC236}">
                      <a16:creationId xmlns:a16="http://schemas.microsoft.com/office/drawing/2014/main" id="{32DB67C7-8663-40BE-826A-1C13E259B9B6}"/>
                    </a:ext>
                  </a:extLst>
                </p:cNvPr>
                <p:cNvSpPr>
                  <a:spLocks/>
                </p:cNvSpPr>
                <p:nvPr userDrawn="1"/>
              </p:nvSpPr>
              <p:spPr bwMode="ltGray">
                <a:xfrm>
                  <a:off x="2677" y="233"/>
                  <a:ext cx="14" cy="10"/>
                </a:xfrm>
                <a:custGeom>
                  <a:avLst/>
                  <a:gdLst>
                    <a:gd name="T0" fmla="*/ 0 w 13"/>
                    <a:gd name="T1" fmla="*/ 4 h 13"/>
                    <a:gd name="T2" fmla="*/ 4 w 13"/>
                    <a:gd name="T3" fmla="*/ 6 h 13"/>
                    <a:gd name="T4" fmla="*/ 0 w 13"/>
                    <a:gd name="T5" fmla="*/ 4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47">
                  <a:extLst>
                    <a:ext uri="{FF2B5EF4-FFF2-40B4-BE49-F238E27FC236}">
                      <a16:creationId xmlns:a16="http://schemas.microsoft.com/office/drawing/2014/main" id="{58FC2C3F-49EF-49F0-87D4-5E6F333DC942}"/>
                    </a:ext>
                  </a:extLst>
                </p:cNvPr>
                <p:cNvSpPr>
                  <a:spLocks/>
                </p:cNvSpPr>
                <p:nvPr userDrawn="1"/>
              </p:nvSpPr>
              <p:spPr bwMode="ltGray">
                <a:xfrm>
                  <a:off x="1627" y="353"/>
                  <a:ext cx="813" cy="462"/>
                </a:xfrm>
                <a:custGeom>
                  <a:avLst/>
                  <a:gdLst>
                    <a:gd name="T0" fmla="*/ 815 w 812"/>
                    <a:gd name="T1" fmla="*/ 14 h 564"/>
                    <a:gd name="T2" fmla="*/ 781 w 812"/>
                    <a:gd name="T3" fmla="*/ 43 h 564"/>
                    <a:gd name="T4" fmla="*/ 751 w 812"/>
                    <a:gd name="T5" fmla="*/ 67 h 564"/>
                    <a:gd name="T6" fmla="*/ 725 w 812"/>
                    <a:gd name="T7" fmla="*/ 78 h 564"/>
                    <a:gd name="T8" fmla="*/ 637 w 812"/>
                    <a:gd name="T9" fmla="*/ 98 h 564"/>
                    <a:gd name="T10" fmla="*/ 635 w 812"/>
                    <a:gd name="T11" fmla="*/ 116 h 564"/>
                    <a:gd name="T12" fmla="*/ 607 w 812"/>
                    <a:gd name="T13" fmla="*/ 126 h 564"/>
                    <a:gd name="T14" fmla="*/ 623 w 812"/>
                    <a:gd name="T15" fmla="*/ 98 h 564"/>
                    <a:gd name="T16" fmla="*/ 579 w 812"/>
                    <a:gd name="T17" fmla="*/ 103 h 564"/>
                    <a:gd name="T18" fmla="*/ 559 w 812"/>
                    <a:gd name="T19" fmla="*/ 120 h 564"/>
                    <a:gd name="T20" fmla="*/ 599 w 812"/>
                    <a:gd name="T21" fmla="*/ 154 h 564"/>
                    <a:gd name="T22" fmla="*/ 597 w 812"/>
                    <a:gd name="T23" fmla="*/ 202 h 564"/>
                    <a:gd name="T24" fmla="*/ 545 w 812"/>
                    <a:gd name="T25" fmla="*/ 224 h 564"/>
                    <a:gd name="T26" fmla="*/ 525 w 812"/>
                    <a:gd name="T27" fmla="*/ 212 h 564"/>
                    <a:gd name="T28" fmla="*/ 485 w 812"/>
                    <a:gd name="T29" fmla="*/ 191 h 564"/>
                    <a:gd name="T30" fmla="*/ 465 w 812"/>
                    <a:gd name="T31" fmla="*/ 191 h 564"/>
                    <a:gd name="T32" fmla="*/ 453 w 812"/>
                    <a:gd name="T33" fmla="*/ 217 h 564"/>
                    <a:gd name="T34" fmla="*/ 503 w 812"/>
                    <a:gd name="T35" fmla="*/ 255 h 564"/>
                    <a:gd name="T36" fmla="*/ 513 w 812"/>
                    <a:gd name="T37" fmla="*/ 288 h 564"/>
                    <a:gd name="T38" fmla="*/ 529 w 812"/>
                    <a:gd name="T39" fmla="*/ 308 h 564"/>
                    <a:gd name="T40" fmla="*/ 495 w 812"/>
                    <a:gd name="T41" fmla="*/ 299 h 564"/>
                    <a:gd name="T42" fmla="*/ 473 w 812"/>
                    <a:gd name="T43" fmla="*/ 284 h 564"/>
                    <a:gd name="T44" fmla="*/ 425 w 812"/>
                    <a:gd name="T45" fmla="*/ 233 h 564"/>
                    <a:gd name="T46" fmla="*/ 429 w 812"/>
                    <a:gd name="T47" fmla="*/ 170 h 564"/>
                    <a:gd name="T48" fmla="*/ 425 w 812"/>
                    <a:gd name="T49" fmla="*/ 147 h 564"/>
                    <a:gd name="T50" fmla="*/ 415 w 812"/>
                    <a:gd name="T51" fmla="*/ 152 h 564"/>
                    <a:gd name="T52" fmla="*/ 386 w 812"/>
                    <a:gd name="T53" fmla="*/ 147 h 564"/>
                    <a:gd name="T54" fmla="*/ 360 w 812"/>
                    <a:gd name="T55" fmla="*/ 93 h 564"/>
                    <a:gd name="T56" fmla="*/ 330 w 812"/>
                    <a:gd name="T57" fmla="*/ 91 h 564"/>
                    <a:gd name="T58" fmla="*/ 288 w 812"/>
                    <a:gd name="T59" fmla="*/ 95 h 564"/>
                    <a:gd name="T60" fmla="*/ 242 w 812"/>
                    <a:gd name="T61" fmla="*/ 128 h 564"/>
                    <a:gd name="T62" fmla="*/ 196 w 812"/>
                    <a:gd name="T63" fmla="*/ 147 h 564"/>
                    <a:gd name="T64" fmla="*/ 184 w 812"/>
                    <a:gd name="T65" fmla="*/ 150 h 564"/>
                    <a:gd name="T66" fmla="*/ 160 w 812"/>
                    <a:gd name="T67" fmla="*/ 180 h 564"/>
                    <a:gd name="T68" fmla="*/ 152 w 812"/>
                    <a:gd name="T69" fmla="*/ 195 h 564"/>
                    <a:gd name="T70" fmla="*/ 128 w 812"/>
                    <a:gd name="T71" fmla="*/ 222 h 564"/>
                    <a:gd name="T72" fmla="*/ 94 w 812"/>
                    <a:gd name="T73" fmla="*/ 215 h 564"/>
                    <a:gd name="T74" fmla="*/ 66 w 812"/>
                    <a:gd name="T75" fmla="*/ 142 h 564"/>
                    <a:gd name="T76" fmla="*/ 72 w 812"/>
                    <a:gd name="T77" fmla="*/ 86 h 564"/>
                    <a:gd name="T78" fmla="*/ 44 w 812"/>
                    <a:gd name="T79" fmla="*/ 98 h 564"/>
                    <a:gd name="T80" fmla="*/ 20 w 812"/>
                    <a:gd name="T81" fmla="*/ 83 h 564"/>
                    <a:gd name="T82" fmla="*/ 24 w 812"/>
                    <a:gd name="T83" fmla="*/ 76 h 564"/>
                    <a:gd name="T84" fmla="*/ 0 w 812"/>
                    <a:gd name="T85" fmla="*/ 50 h 564"/>
                    <a:gd name="T86" fmla="*/ 801 w 812"/>
                    <a:gd name="T87" fmla="*/ 3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48">
                  <a:extLst>
                    <a:ext uri="{FF2B5EF4-FFF2-40B4-BE49-F238E27FC236}">
                      <a16:creationId xmlns:a16="http://schemas.microsoft.com/office/drawing/2014/main" id="{03A7F7E1-C2CF-4CC8-A00C-62EC8A0983A7}"/>
                    </a:ext>
                  </a:extLst>
                </p:cNvPr>
                <p:cNvSpPr>
                  <a:spLocks/>
                </p:cNvSpPr>
                <p:nvPr userDrawn="1"/>
              </p:nvSpPr>
              <p:spPr bwMode="ltGray">
                <a:xfrm>
                  <a:off x="1770" y="671"/>
                  <a:ext cx="45" cy="71"/>
                </a:xfrm>
                <a:custGeom>
                  <a:avLst/>
                  <a:gdLst>
                    <a:gd name="T0" fmla="*/ 7 w 43"/>
                    <a:gd name="T1" fmla="*/ 7 h 85"/>
                    <a:gd name="T2" fmla="*/ 20 w 43"/>
                    <a:gd name="T3" fmla="*/ 3 h 85"/>
                    <a:gd name="T4" fmla="*/ 43 w 43"/>
                    <a:gd name="T5" fmla="*/ 19 h 85"/>
                    <a:gd name="T6" fmla="*/ 22 w 43"/>
                    <a:gd name="T7" fmla="*/ 49 h 85"/>
                    <a:gd name="T8" fmla="*/ 1 w 43"/>
                    <a:gd name="T9" fmla="*/ 40 h 85"/>
                    <a:gd name="T10" fmla="*/ 7 w 43"/>
                    <a:gd name="T11" fmla="*/ 7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Freeform 49">
                  <a:extLst>
                    <a:ext uri="{FF2B5EF4-FFF2-40B4-BE49-F238E27FC236}">
                      <a16:creationId xmlns:a16="http://schemas.microsoft.com/office/drawing/2014/main" id="{2CB082F7-AB57-4799-8E16-A2580EA3EA80}"/>
                    </a:ext>
                  </a:extLst>
                </p:cNvPr>
                <p:cNvSpPr>
                  <a:spLocks/>
                </p:cNvSpPr>
                <p:nvPr userDrawn="1"/>
              </p:nvSpPr>
              <p:spPr bwMode="ltGray">
                <a:xfrm>
                  <a:off x="2394" y="431"/>
                  <a:ext cx="42" cy="59"/>
                </a:xfrm>
                <a:custGeom>
                  <a:avLst/>
                  <a:gdLst>
                    <a:gd name="T0" fmla="*/ 11 w 44"/>
                    <a:gd name="T1" fmla="*/ 14 h 74"/>
                    <a:gd name="T2" fmla="*/ 26 w 44"/>
                    <a:gd name="T3" fmla="*/ 2 h 74"/>
                    <a:gd name="T4" fmla="*/ 37 w 44"/>
                    <a:gd name="T5" fmla="*/ 2 h 74"/>
                    <a:gd name="T6" fmla="*/ 33 w 44"/>
                    <a:gd name="T7" fmla="*/ 14 h 74"/>
                    <a:gd name="T8" fmla="*/ 11 w 44"/>
                    <a:gd name="T9" fmla="*/ 37 h 74"/>
                    <a:gd name="T10" fmla="*/ 7 w 44"/>
                    <a:gd name="T11" fmla="*/ 30 h 74"/>
                    <a:gd name="T12" fmla="*/ 3 w 44"/>
                    <a:gd name="T13" fmla="*/ 18 h 74"/>
                    <a:gd name="T14" fmla="*/ 11 w 44"/>
                    <a:gd name="T15" fmla="*/ 14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Freeform 50">
                  <a:extLst>
                    <a:ext uri="{FF2B5EF4-FFF2-40B4-BE49-F238E27FC236}">
                      <a16:creationId xmlns:a16="http://schemas.microsoft.com/office/drawing/2014/main" id="{66DE5FFF-353A-4F65-B7D1-5EA2512C523E}"/>
                    </a:ext>
                  </a:extLst>
                </p:cNvPr>
                <p:cNvSpPr>
                  <a:spLocks/>
                </p:cNvSpPr>
                <p:nvPr userDrawn="1"/>
              </p:nvSpPr>
              <p:spPr bwMode="ltGray">
                <a:xfrm>
                  <a:off x="2513" y="402"/>
                  <a:ext cx="21" cy="24"/>
                </a:xfrm>
                <a:custGeom>
                  <a:avLst/>
                  <a:gdLst>
                    <a:gd name="T0" fmla="*/ 7 w 20"/>
                    <a:gd name="T1" fmla="*/ 8 h 30"/>
                    <a:gd name="T2" fmla="*/ 5 w 20"/>
                    <a:gd name="T3" fmla="*/ 15 h 30"/>
                    <a:gd name="T4" fmla="*/ 7 w 20"/>
                    <a:gd name="T5" fmla="*/ 8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Freeform 51">
                  <a:extLst>
                    <a:ext uri="{FF2B5EF4-FFF2-40B4-BE49-F238E27FC236}">
                      <a16:creationId xmlns:a16="http://schemas.microsoft.com/office/drawing/2014/main" id="{92D4EAE6-3F7B-480A-BF2F-D6F536E85AF7}"/>
                    </a:ext>
                  </a:extLst>
                </p:cNvPr>
                <p:cNvSpPr>
                  <a:spLocks/>
                </p:cNvSpPr>
                <p:nvPr userDrawn="1"/>
              </p:nvSpPr>
              <p:spPr bwMode="ltGray">
                <a:xfrm>
                  <a:off x="333" y="169"/>
                  <a:ext cx="1015" cy="866"/>
                </a:xfrm>
                <a:custGeom>
                  <a:avLst/>
                  <a:gdLst>
                    <a:gd name="T0" fmla="*/ 1586 w 682"/>
                    <a:gd name="T1" fmla="*/ 1743 h 557"/>
                    <a:gd name="T2" fmla="*/ 1601 w 682"/>
                    <a:gd name="T3" fmla="*/ 1695 h 557"/>
                    <a:gd name="T4" fmla="*/ 1648 w 682"/>
                    <a:gd name="T5" fmla="*/ 1552 h 557"/>
                    <a:gd name="T6" fmla="*/ 1019 w 682"/>
                    <a:gd name="T7" fmla="*/ 1077 h 557"/>
                    <a:gd name="T8" fmla="*/ 930 w 682"/>
                    <a:gd name="T9" fmla="*/ 1300 h 557"/>
                    <a:gd name="T10" fmla="*/ 999 w 682"/>
                    <a:gd name="T11" fmla="*/ 2088 h 557"/>
                    <a:gd name="T12" fmla="*/ 930 w 682"/>
                    <a:gd name="T13" fmla="*/ 1856 h 557"/>
                    <a:gd name="T14" fmla="*/ 798 w 682"/>
                    <a:gd name="T15" fmla="*/ 1651 h 557"/>
                    <a:gd name="T16" fmla="*/ 808 w 682"/>
                    <a:gd name="T17" fmla="*/ 1552 h 557"/>
                    <a:gd name="T18" fmla="*/ 816 w 682"/>
                    <a:gd name="T19" fmla="*/ 1482 h 557"/>
                    <a:gd name="T20" fmla="*/ 725 w 682"/>
                    <a:gd name="T21" fmla="*/ 1409 h 557"/>
                    <a:gd name="T22" fmla="*/ 640 w 682"/>
                    <a:gd name="T23" fmla="*/ 1300 h 557"/>
                    <a:gd name="T24" fmla="*/ 487 w 682"/>
                    <a:gd name="T25" fmla="*/ 1329 h 557"/>
                    <a:gd name="T26" fmla="*/ 417 w 682"/>
                    <a:gd name="T27" fmla="*/ 1371 h 557"/>
                    <a:gd name="T28" fmla="*/ 257 w 682"/>
                    <a:gd name="T29" fmla="*/ 1371 h 557"/>
                    <a:gd name="T30" fmla="*/ 73 w 682"/>
                    <a:gd name="T31" fmla="*/ 1172 h 557"/>
                    <a:gd name="T32" fmla="*/ 36 w 682"/>
                    <a:gd name="T33" fmla="*/ 1110 h 557"/>
                    <a:gd name="T34" fmla="*/ 0 w 682"/>
                    <a:gd name="T35" fmla="*/ 990 h 557"/>
                    <a:gd name="T36" fmla="*/ 80 w 682"/>
                    <a:gd name="T37" fmla="*/ 801 h 557"/>
                    <a:gd name="T38" fmla="*/ 106 w 682"/>
                    <a:gd name="T39" fmla="*/ 679 h 557"/>
                    <a:gd name="T40" fmla="*/ 168 w 682"/>
                    <a:gd name="T41" fmla="*/ 536 h 557"/>
                    <a:gd name="T42" fmla="*/ 268 w 682"/>
                    <a:gd name="T43" fmla="*/ 435 h 557"/>
                    <a:gd name="T44" fmla="*/ 552 w 682"/>
                    <a:gd name="T45" fmla="*/ 252 h 557"/>
                    <a:gd name="T46" fmla="*/ 725 w 682"/>
                    <a:gd name="T47" fmla="*/ 113 h 557"/>
                    <a:gd name="T48" fmla="*/ 850 w 682"/>
                    <a:gd name="T49" fmla="*/ 22 h 557"/>
                    <a:gd name="T50" fmla="*/ 1197 w 682"/>
                    <a:gd name="T51" fmla="*/ 8 h 557"/>
                    <a:gd name="T52" fmla="*/ 1311 w 682"/>
                    <a:gd name="T53" fmla="*/ 0 h 557"/>
                    <a:gd name="T54" fmla="*/ 1265 w 682"/>
                    <a:gd name="T55" fmla="*/ 127 h 557"/>
                    <a:gd name="T56" fmla="*/ 1460 w 682"/>
                    <a:gd name="T57" fmla="*/ 317 h 557"/>
                    <a:gd name="T58" fmla="*/ 1639 w 682"/>
                    <a:gd name="T59" fmla="*/ 278 h 557"/>
                    <a:gd name="T60" fmla="*/ 1743 w 682"/>
                    <a:gd name="T61" fmla="*/ 306 h 557"/>
                    <a:gd name="T62" fmla="*/ 1842 w 682"/>
                    <a:gd name="T63" fmla="*/ 365 h 557"/>
                    <a:gd name="T64" fmla="*/ 1886 w 682"/>
                    <a:gd name="T65" fmla="*/ 706 h 557"/>
                    <a:gd name="T66" fmla="*/ 1886 w 682"/>
                    <a:gd name="T67" fmla="*/ 902 h 557"/>
                    <a:gd name="T68" fmla="*/ 1973 w 682"/>
                    <a:gd name="T69" fmla="*/ 1063 h 557"/>
                    <a:gd name="T70" fmla="*/ 2127 w 682"/>
                    <a:gd name="T71" fmla="*/ 1127 h 557"/>
                    <a:gd name="T72" fmla="*/ 2241 w 682"/>
                    <a:gd name="T73" fmla="*/ 1110 h 557"/>
                    <a:gd name="T74" fmla="*/ 2188 w 682"/>
                    <a:gd name="T75" fmla="*/ 1278 h 557"/>
                    <a:gd name="T76" fmla="*/ 1973 w 682"/>
                    <a:gd name="T77" fmla="*/ 1530 h 557"/>
                    <a:gd name="T78" fmla="*/ 1807 w 682"/>
                    <a:gd name="T79" fmla="*/ 1822 h 557"/>
                    <a:gd name="T80" fmla="*/ 1832 w 682"/>
                    <a:gd name="T81" fmla="*/ 1909 h 557"/>
                    <a:gd name="T82" fmla="*/ 1433 w 682"/>
                    <a:gd name="T83" fmla="*/ 2088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52">
                  <a:extLst>
                    <a:ext uri="{FF2B5EF4-FFF2-40B4-BE49-F238E27FC236}">
                      <a16:creationId xmlns:a16="http://schemas.microsoft.com/office/drawing/2014/main" id="{85AFD6DA-037C-421A-840D-A2363DD143A6}"/>
                    </a:ext>
                  </a:extLst>
                </p:cNvPr>
                <p:cNvSpPr>
                  <a:spLocks/>
                </p:cNvSpPr>
                <p:nvPr userDrawn="1"/>
              </p:nvSpPr>
              <p:spPr bwMode="ltGray">
                <a:xfrm>
                  <a:off x="727" y="495"/>
                  <a:ext cx="382" cy="540"/>
                </a:xfrm>
                <a:custGeom>
                  <a:avLst/>
                  <a:gdLst>
                    <a:gd name="T0" fmla="*/ 798 w 257"/>
                    <a:gd name="T1" fmla="*/ 1307 h 347"/>
                    <a:gd name="T2" fmla="*/ 764 w 257"/>
                    <a:gd name="T3" fmla="*/ 1133 h 347"/>
                    <a:gd name="T4" fmla="*/ 713 w 257"/>
                    <a:gd name="T5" fmla="*/ 1085 h 347"/>
                    <a:gd name="T6" fmla="*/ 708 w 257"/>
                    <a:gd name="T7" fmla="*/ 1015 h 347"/>
                    <a:gd name="T8" fmla="*/ 687 w 257"/>
                    <a:gd name="T9" fmla="*/ 957 h 347"/>
                    <a:gd name="T10" fmla="*/ 687 w 257"/>
                    <a:gd name="T11" fmla="*/ 862 h 347"/>
                    <a:gd name="T12" fmla="*/ 681 w 257"/>
                    <a:gd name="T13" fmla="*/ 806 h 347"/>
                    <a:gd name="T14" fmla="*/ 749 w 257"/>
                    <a:gd name="T15" fmla="*/ 761 h 347"/>
                    <a:gd name="T16" fmla="*/ 844 w 257"/>
                    <a:gd name="T17" fmla="*/ 744 h 347"/>
                    <a:gd name="T18" fmla="*/ 844 w 257"/>
                    <a:gd name="T19" fmla="*/ 514 h 347"/>
                    <a:gd name="T20" fmla="*/ 177 w 257"/>
                    <a:gd name="T21" fmla="*/ 361 h 347"/>
                    <a:gd name="T22" fmla="*/ 106 w 257"/>
                    <a:gd name="T23" fmla="*/ 370 h 347"/>
                    <a:gd name="T24" fmla="*/ 54 w 257"/>
                    <a:gd name="T25" fmla="*/ 384 h 347"/>
                    <a:gd name="T26" fmla="*/ 0 w 257"/>
                    <a:gd name="T27" fmla="*/ 562 h 347"/>
                    <a:gd name="T28" fmla="*/ 305 w 257"/>
                    <a:gd name="T29" fmla="*/ 1303 h 347"/>
                    <a:gd name="T30" fmla="*/ 798 w 257"/>
                    <a:gd name="T31" fmla="*/ 130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a:extLst>
                  <a:ext uri="{91240B29-F687-4F45-9708-019B960494DF}">
                    <a14:hiddenLine xmlns:a14="http://schemas.microsoft.com/office/drawing/2010/main" w="9525">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53">
                  <a:extLst>
                    <a:ext uri="{FF2B5EF4-FFF2-40B4-BE49-F238E27FC236}">
                      <a16:creationId xmlns:a16="http://schemas.microsoft.com/office/drawing/2014/main" id="{A42B80CB-7365-4540-800C-32CA032A9193}"/>
                    </a:ext>
                  </a:extLst>
                </p:cNvPr>
                <p:cNvSpPr>
                  <a:spLocks/>
                </p:cNvSpPr>
                <p:nvPr userDrawn="1"/>
              </p:nvSpPr>
              <p:spPr bwMode="ltGray">
                <a:xfrm>
                  <a:off x="1400" y="896"/>
                  <a:ext cx="16" cy="29"/>
                </a:xfrm>
                <a:custGeom>
                  <a:avLst/>
                  <a:gdLst>
                    <a:gd name="T0" fmla="*/ 4 w 19"/>
                    <a:gd name="T1" fmla="*/ 13 h 37"/>
                    <a:gd name="T2" fmla="*/ 11 w 19"/>
                    <a:gd name="T3" fmla="*/ 10 h 37"/>
                    <a:gd name="T4" fmla="*/ 4 w 19"/>
                    <a:gd name="T5" fmla="*/ 13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54">
                  <a:extLst>
                    <a:ext uri="{FF2B5EF4-FFF2-40B4-BE49-F238E27FC236}">
                      <a16:creationId xmlns:a16="http://schemas.microsoft.com/office/drawing/2014/main" id="{6A65B5A8-AB14-4532-987B-5D1242C1F46A}"/>
                    </a:ext>
                  </a:extLst>
                </p:cNvPr>
                <p:cNvSpPr>
                  <a:spLocks/>
                </p:cNvSpPr>
                <p:nvPr userDrawn="1"/>
              </p:nvSpPr>
              <p:spPr bwMode="ltGray">
                <a:xfrm>
                  <a:off x="1379" y="617"/>
                  <a:ext cx="21" cy="17"/>
                </a:xfrm>
                <a:custGeom>
                  <a:avLst/>
                  <a:gdLst>
                    <a:gd name="T0" fmla="*/ 11 w 22"/>
                    <a:gd name="T1" fmla="*/ 8 h 20"/>
                    <a:gd name="T2" fmla="*/ 13 w 22"/>
                    <a:gd name="T3" fmla="*/ 0 h 20"/>
                    <a:gd name="T4" fmla="*/ 17 w 22"/>
                    <a:gd name="T5" fmla="*/ 8 h 20"/>
                    <a:gd name="T6" fmla="*/ 8 w 22"/>
                    <a:gd name="T7" fmla="*/ 12 h 20"/>
                    <a:gd name="T8" fmla="*/ 11 w 22"/>
                    <a:gd name="T9" fmla="*/ 8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Freeform 55">
                  <a:extLst>
                    <a:ext uri="{FF2B5EF4-FFF2-40B4-BE49-F238E27FC236}">
                      <a16:creationId xmlns:a16="http://schemas.microsoft.com/office/drawing/2014/main" id="{FCA85041-68F5-4F88-B68F-D283CF4F7F16}"/>
                    </a:ext>
                  </a:extLst>
                </p:cNvPr>
                <p:cNvSpPr>
                  <a:spLocks/>
                </p:cNvSpPr>
                <p:nvPr userDrawn="1"/>
              </p:nvSpPr>
              <p:spPr bwMode="ltGray">
                <a:xfrm>
                  <a:off x="453" y="275"/>
                  <a:ext cx="58" cy="24"/>
                </a:xfrm>
                <a:custGeom>
                  <a:avLst/>
                  <a:gdLst>
                    <a:gd name="T0" fmla="*/ 24 w 57"/>
                    <a:gd name="T1" fmla="*/ 9 h 30"/>
                    <a:gd name="T2" fmla="*/ 35 w 57"/>
                    <a:gd name="T3" fmla="*/ 3 h 30"/>
                    <a:gd name="T4" fmla="*/ 39 w 57"/>
                    <a:gd name="T5" fmla="*/ 15 h 30"/>
                    <a:gd name="T6" fmla="*/ 24 w 57"/>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56">
                  <a:extLst>
                    <a:ext uri="{FF2B5EF4-FFF2-40B4-BE49-F238E27FC236}">
                      <a16:creationId xmlns:a16="http://schemas.microsoft.com/office/drawing/2014/main" id="{954B4C2F-EDEF-4408-BBD8-7864FF449887}"/>
                    </a:ext>
                  </a:extLst>
                </p:cNvPr>
                <p:cNvSpPr>
                  <a:spLocks/>
                </p:cNvSpPr>
                <p:nvPr userDrawn="1"/>
              </p:nvSpPr>
              <p:spPr bwMode="ltGray">
                <a:xfrm>
                  <a:off x="1161" y="50"/>
                  <a:ext cx="691" cy="569"/>
                </a:xfrm>
                <a:custGeom>
                  <a:avLst/>
                  <a:gdLst>
                    <a:gd name="T0" fmla="*/ 470 w 693"/>
                    <a:gd name="T1" fmla="*/ 253 h 696"/>
                    <a:gd name="T2" fmla="*/ 390 w 693"/>
                    <a:gd name="T3" fmla="*/ 247 h 696"/>
                    <a:gd name="T4" fmla="*/ 322 w 693"/>
                    <a:gd name="T5" fmla="*/ 226 h 696"/>
                    <a:gd name="T6" fmla="*/ 262 w 693"/>
                    <a:gd name="T7" fmla="*/ 218 h 696"/>
                    <a:gd name="T8" fmla="*/ 234 w 693"/>
                    <a:gd name="T9" fmla="*/ 227 h 696"/>
                    <a:gd name="T10" fmla="*/ 258 w 693"/>
                    <a:gd name="T11" fmla="*/ 234 h 696"/>
                    <a:gd name="T12" fmla="*/ 290 w 693"/>
                    <a:gd name="T13" fmla="*/ 256 h 696"/>
                    <a:gd name="T14" fmla="*/ 318 w 693"/>
                    <a:gd name="T15" fmla="*/ 260 h 696"/>
                    <a:gd name="T16" fmla="*/ 330 w 693"/>
                    <a:gd name="T17" fmla="*/ 293 h 696"/>
                    <a:gd name="T18" fmla="*/ 310 w 693"/>
                    <a:gd name="T19" fmla="*/ 302 h 696"/>
                    <a:gd name="T20" fmla="*/ 258 w 693"/>
                    <a:gd name="T21" fmla="*/ 337 h 696"/>
                    <a:gd name="T22" fmla="*/ 222 w 693"/>
                    <a:gd name="T23" fmla="*/ 343 h 696"/>
                    <a:gd name="T24" fmla="*/ 97 w 693"/>
                    <a:gd name="T25" fmla="*/ 380 h 696"/>
                    <a:gd name="T26" fmla="*/ 77 w 693"/>
                    <a:gd name="T27" fmla="*/ 337 h 696"/>
                    <a:gd name="T28" fmla="*/ 45 w 693"/>
                    <a:gd name="T29" fmla="*/ 286 h 696"/>
                    <a:gd name="T30" fmla="*/ 33 w 693"/>
                    <a:gd name="T31" fmla="*/ 244 h 696"/>
                    <a:gd name="T32" fmla="*/ 53 w 693"/>
                    <a:gd name="T33" fmla="*/ 188 h 696"/>
                    <a:gd name="T34" fmla="*/ 17 w 693"/>
                    <a:gd name="T35" fmla="*/ 214 h 696"/>
                    <a:gd name="T36" fmla="*/ 81 w 693"/>
                    <a:gd name="T37" fmla="*/ 153 h 696"/>
                    <a:gd name="T38" fmla="*/ 113 w 693"/>
                    <a:gd name="T39" fmla="*/ 112 h 696"/>
                    <a:gd name="T40" fmla="*/ 37 w 693"/>
                    <a:gd name="T41" fmla="*/ 112 h 696"/>
                    <a:gd name="T42" fmla="*/ 1 w 693"/>
                    <a:gd name="T43" fmla="*/ 107 h 696"/>
                    <a:gd name="T44" fmla="*/ 25 w 693"/>
                    <a:gd name="T45" fmla="*/ 76 h 696"/>
                    <a:gd name="T46" fmla="*/ 97 w 693"/>
                    <a:gd name="T47" fmla="*/ 61 h 696"/>
                    <a:gd name="T48" fmla="*/ 218 w 693"/>
                    <a:gd name="T49" fmla="*/ 68 h 696"/>
                    <a:gd name="T50" fmla="*/ 226 w 693"/>
                    <a:gd name="T51" fmla="*/ 35 h 696"/>
                    <a:gd name="T52" fmla="*/ 258 w 693"/>
                    <a:gd name="T53" fmla="*/ 0 h 696"/>
                    <a:gd name="T54" fmla="*/ 354 w 693"/>
                    <a:gd name="T55" fmla="*/ 24 h 696"/>
                    <a:gd name="T56" fmla="*/ 326 w 693"/>
                    <a:gd name="T57" fmla="*/ 48 h 696"/>
                    <a:gd name="T58" fmla="*/ 298 w 693"/>
                    <a:gd name="T59" fmla="*/ 96 h 696"/>
                    <a:gd name="T60" fmla="*/ 358 w 693"/>
                    <a:gd name="T61" fmla="*/ 105 h 696"/>
                    <a:gd name="T62" fmla="*/ 370 w 693"/>
                    <a:gd name="T63" fmla="*/ 74 h 696"/>
                    <a:gd name="T64" fmla="*/ 414 w 693"/>
                    <a:gd name="T65" fmla="*/ 50 h 696"/>
                    <a:gd name="T66" fmla="*/ 494 w 693"/>
                    <a:gd name="T67" fmla="*/ 48 h 696"/>
                    <a:gd name="T68" fmla="*/ 523 w 693"/>
                    <a:gd name="T69" fmla="*/ 29 h 696"/>
                    <a:gd name="T70" fmla="*/ 535 w 693"/>
                    <a:gd name="T71" fmla="*/ 251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Freeform 57">
                  <a:extLst>
                    <a:ext uri="{FF2B5EF4-FFF2-40B4-BE49-F238E27FC236}">
                      <a16:creationId xmlns:a16="http://schemas.microsoft.com/office/drawing/2014/main" id="{F30C073A-9D69-4F8D-A920-A3569CED627C}"/>
                    </a:ext>
                  </a:extLst>
                </p:cNvPr>
                <p:cNvSpPr>
                  <a:spLocks/>
                </p:cNvSpPr>
                <p:nvPr userDrawn="1"/>
              </p:nvSpPr>
              <p:spPr bwMode="ltGray">
                <a:xfrm>
                  <a:off x="689" y="6"/>
                  <a:ext cx="1386" cy="232"/>
                </a:xfrm>
                <a:custGeom>
                  <a:avLst/>
                  <a:gdLst>
                    <a:gd name="T0" fmla="*/ 2721 w 931"/>
                    <a:gd name="T1" fmla="*/ 0 h 149"/>
                    <a:gd name="T2" fmla="*/ 472 w 931"/>
                    <a:gd name="T3" fmla="*/ 109 h 149"/>
                    <a:gd name="T4" fmla="*/ 299 w 931"/>
                    <a:gd name="T5" fmla="*/ 157 h 149"/>
                    <a:gd name="T6" fmla="*/ 204 w 931"/>
                    <a:gd name="T7" fmla="*/ 157 h 149"/>
                    <a:gd name="T8" fmla="*/ 73 w 931"/>
                    <a:gd name="T9" fmla="*/ 291 h 149"/>
                    <a:gd name="T10" fmla="*/ 0 w 931"/>
                    <a:gd name="T11" fmla="*/ 395 h 149"/>
                    <a:gd name="T12" fmla="*/ 195 w 931"/>
                    <a:gd name="T13" fmla="*/ 434 h 149"/>
                    <a:gd name="T14" fmla="*/ 319 w 931"/>
                    <a:gd name="T15" fmla="*/ 361 h 149"/>
                    <a:gd name="T16" fmla="*/ 357 w 931"/>
                    <a:gd name="T17" fmla="*/ 318 h 149"/>
                    <a:gd name="T18" fmla="*/ 552 w 931"/>
                    <a:gd name="T19" fmla="*/ 196 h 149"/>
                    <a:gd name="T20" fmla="*/ 709 w 931"/>
                    <a:gd name="T21" fmla="*/ 174 h 149"/>
                    <a:gd name="T22" fmla="*/ 783 w 931"/>
                    <a:gd name="T23" fmla="*/ 353 h 149"/>
                    <a:gd name="T24" fmla="*/ 621 w 931"/>
                    <a:gd name="T25" fmla="*/ 413 h 149"/>
                    <a:gd name="T26" fmla="*/ 762 w 931"/>
                    <a:gd name="T27" fmla="*/ 427 h 149"/>
                    <a:gd name="T28" fmla="*/ 825 w 931"/>
                    <a:gd name="T29" fmla="*/ 339 h 149"/>
                    <a:gd name="T30" fmla="*/ 878 w 931"/>
                    <a:gd name="T31" fmla="*/ 347 h 149"/>
                    <a:gd name="T32" fmla="*/ 835 w 931"/>
                    <a:gd name="T33" fmla="*/ 204 h 149"/>
                    <a:gd name="T34" fmla="*/ 878 w 931"/>
                    <a:gd name="T35" fmla="*/ 167 h 149"/>
                    <a:gd name="T36" fmla="*/ 913 w 931"/>
                    <a:gd name="T37" fmla="*/ 332 h 149"/>
                    <a:gd name="T38" fmla="*/ 878 w 931"/>
                    <a:gd name="T39" fmla="*/ 427 h 149"/>
                    <a:gd name="T40" fmla="*/ 978 w 931"/>
                    <a:gd name="T41" fmla="*/ 490 h 149"/>
                    <a:gd name="T42" fmla="*/ 986 w 931"/>
                    <a:gd name="T43" fmla="*/ 347 h 149"/>
                    <a:gd name="T44" fmla="*/ 1093 w 931"/>
                    <a:gd name="T45" fmla="*/ 388 h 149"/>
                    <a:gd name="T46" fmla="*/ 1261 w 931"/>
                    <a:gd name="T47" fmla="*/ 277 h 149"/>
                    <a:gd name="T48" fmla="*/ 1350 w 931"/>
                    <a:gd name="T49" fmla="*/ 188 h 149"/>
                    <a:gd name="T50" fmla="*/ 1450 w 931"/>
                    <a:gd name="T51" fmla="*/ 210 h 149"/>
                    <a:gd name="T52" fmla="*/ 1501 w 931"/>
                    <a:gd name="T53" fmla="*/ 188 h 149"/>
                    <a:gd name="T54" fmla="*/ 1423 w 931"/>
                    <a:gd name="T55" fmla="*/ 167 h 149"/>
                    <a:gd name="T56" fmla="*/ 1565 w 931"/>
                    <a:gd name="T57" fmla="*/ 131 h 149"/>
                    <a:gd name="T58" fmla="*/ 1795 w 931"/>
                    <a:gd name="T59" fmla="*/ 204 h 149"/>
                    <a:gd name="T60" fmla="*/ 1917 w 931"/>
                    <a:gd name="T61" fmla="*/ 157 h 149"/>
                    <a:gd name="T62" fmla="*/ 1926 w 931"/>
                    <a:gd name="T63" fmla="*/ 238 h 149"/>
                    <a:gd name="T64" fmla="*/ 1874 w 931"/>
                    <a:gd name="T65" fmla="*/ 380 h 149"/>
                    <a:gd name="T66" fmla="*/ 2017 w 931"/>
                    <a:gd name="T67" fmla="*/ 332 h 149"/>
                    <a:gd name="T68" fmla="*/ 2059 w 931"/>
                    <a:gd name="T69" fmla="*/ 304 h 149"/>
                    <a:gd name="T70" fmla="*/ 2139 w 931"/>
                    <a:gd name="T71" fmla="*/ 230 h 149"/>
                    <a:gd name="T72" fmla="*/ 2620 w 931"/>
                    <a:gd name="T73" fmla="*/ 318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Freeform 58">
                  <a:extLst>
                    <a:ext uri="{FF2B5EF4-FFF2-40B4-BE49-F238E27FC236}">
                      <a16:creationId xmlns:a16="http://schemas.microsoft.com/office/drawing/2014/main" id="{831B51A2-E404-462F-8450-FCFF8CF4CB6D}"/>
                    </a:ext>
                  </a:extLst>
                </p:cNvPr>
                <p:cNvSpPr>
                  <a:spLocks/>
                </p:cNvSpPr>
                <p:nvPr userDrawn="1"/>
              </p:nvSpPr>
              <p:spPr bwMode="ltGray">
                <a:xfrm>
                  <a:off x="971" y="91"/>
                  <a:ext cx="30" cy="25"/>
                </a:xfrm>
                <a:custGeom>
                  <a:avLst/>
                  <a:gdLst>
                    <a:gd name="T0" fmla="*/ 3 w 31"/>
                    <a:gd name="T1" fmla="*/ 16 h 30"/>
                    <a:gd name="T2" fmla="*/ 28 w 31"/>
                    <a:gd name="T3" fmla="*/ 0 h 30"/>
                    <a:gd name="T4" fmla="*/ 16 w 31"/>
                    <a:gd name="T5" fmla="*/ 14 h 30"/>
                    <a:gd name="T6" fmla="*/ 3 w 31"/>
                    <a:gd name="T7" fmla="*/ 1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Freeform 59">
                  <a:extLst>
                    <a:ext uri="{FF2B5EF4-FFF2-40B4-BE49-F238E27FC236}">
                      <a16:creationId xmlns:a16="http://schemas.microsoft.com/office/drawing/2014/main" id="{7ED477D6-F9FD-45F8-9168-BF1E124265C7}"/>
                    </a:ext>
                  </a:extLst>
                </p:cNvPr>
                <p:cNvSpPr>
                  <a:spLocks/>
                </p:cNvSpPr>
                <p:nvPr userDrawn="1"/>
              </p:nvSpPr>
              <p:spPr bwMode="ltGray">
                <a:xfrm>
                  <a:off x="935" y="125"/>
                  <a:ext cx="45" cy="27"/>
                </a:xfrm>
                <a:custGeom>
                  <a:avLst/>
                  <a:gdLst>
                    <a:gd name="T0" fmla="*/ 6 w 44"/>
                    <a:gd name="T1" fmla="*/ 19 h 32"/>
                    <a:gd name="T2" fmla="*/ 25 w 44"/>
                    <a:gd name="T3" fmla="*/ 0 h 32"/>
                    <a:gd name="T4" fmla="*/ 41 w 44"/>
                    <a:gd name="T5" fmla="*/ 3 h 32"/>
                    <a:gd name="T6" fmla="*/ 6 w 44"/>
                    <a:gd name="T7" fmla="*/ 19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Freeform 60">
                  <a:extLst>
                    <a:ext uri="{FF2B5EF4-FFF2-40B4-BE49-F238E27FC236}">
                      <a16:creationId xmlns:a16="http://schemas.microsoft.com/office/drawing/2014/main" id="{0CE02454-F10B-4C02-AD40-7370B828E1AF}"/>
                    </a:ext>
                  </a:extLst>
                </p:cNvPr>
                <p:cNvSpPr>
                  <a:spLocks/>
                </p:cNvSpPr>
                <p:nvPr userDrawn="1"/>
              </p:nvSpPr>
              <p:spPr bwMode="ltGray">
                <a:xfrm>
                  <a:off x="1081" y="226"/>
                  <a:ext cx="75" cy="14"/>
                </a:xfrm>
                <a:custGeom>
                  <a:avLst/>
                  <a:gdLst>
                    <a:gd name="T0" fmla="*/ 37 w 76"/>
                    <a:gd name="T1" fmla="*/ 9 h 18"/>
                    <a:gd name="T2" fmla="*/ 25 w 76"/>
                    <a:gd name="T3" fmla="*/ 2 h 18"/>
                    <a:gd name="T4" fmla="*/ 37 w 76"/>
                    <a:gd name="T5" fmla="*/ 9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Freeform 61">
                  <a:extLst>
                    <a:ext uri="{FF2B5EF4-FFF2-40B4-BE49-F238E27FC236}">
                      <a16:creationId xmlns:a16="http://schemas.microsoft.com/office/drawing/2014/main" id="{47AE9E2B-E434-4640-A7F2-A8D85D6EAD8D}"/>
                    </a:ext>
                  </a:extLst>
                </p:cNvPr>
                <p:cNvSpPr>
                  <a:spLocks/>
                </p:cNvSpPr>
                <p:nvPr userDrawn="1"/>
              </p:nvSpPr>
              <p:spPr bwMode="ltGray">
                <a:xfrm>
                  <a:off x="1210" y="223"/>
                  <a:ext cx="42" cy="37"/>
                </a:xfrm>
                <a:custGeom>
                  <a:avLst/>
                  <a:gdLst>
                    <a:gd name="T0" fmla="*/ 0 w 42"/>
                    <a:gd name="T1" fmla="*/ 13 h 44"/>
                    <a:gd name="T2" fmla="*/ 12 w 42"/>
                    <a:gd name="T3" fmla="*/ 6 h 44"/>
                    <a:gd name="T4" fmla="*/ 0 w 42"/>
                    <a:gd name="T5" fmla="*/ 1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Freeform 62">
                  <a:extLst>
                    <a:ext uri="{FF2B5EF4-FFF2-40B4-BE49-F238E27FC236}">
                      <a16:creationId xmlns:a16="http://schemas.microsoft.com/office/drawing/2014/main" id="{5902DFE2-B7DE-430D-B0D0-AA42ADF2F9FE}"/>
                    </a:ext>
                  </a:extLst>
                </p:cNvPr>
                <p:cNvSpPr>
                  <a:spLocks/>
                </p:cNvSpPr>
                <p:nvPr userDrawn="1"/>
              </p:nvSpPr>
              <p:spPr bwMode="ltGray">
                <a:xfrm>
                  <a:off x="865" y="123"/>
                  <a:ext cx="33" cy="24"/>
                </a:xfrm>
                <a:custGeom>
                  <a:avLst/>
                  <a:gdLst>
                    <a:gd name="T0" fmla="*/ 7 w 31"/>
                    <a:gd name="T1" fmla="*/ 11 h 30"/>
                    <a:gd name="T2" fmla="*/ 37 w 31"/>
                    <a:gd name="T3" fmla="*/ 5 h 30"/>
                    <a:gd name="T4" fmla="*/ 7 w 31"/>
                    <a:gd name="T5" fmla="*/ 11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63">
                <a:extLst>
                  <a:ext uri="{FF2B5EF4-FFF2-40B4-BE49-F238E27FC236}">
                    <a16:creationId xmlns:a16="http://schemas.microsoft.com/office/drawing/2014/main" id="{265FB22F-8116-49F1-940B-52DE16F296DD}"/>
                  </a:ext>
                </a:extLst>
              </p:cNvPr>
              <p:cNvGrpSpPr>
                <a:grpSpLocks/>
              </p:cNvGrpSpPr>
              <p:nvPr userDrawn="1"/>
            </p:nvGrpSpPr>
            <p:grpSpPr bwMode="auto">
              <a:xfrm>
                <a:off x="7" y="6"/>
                <a:ext cx="5739" cy="1022"/>
                <a:chOff x="1056" y="111"/>
                <a:chExt cx="2448" cy="418"/>
              </a:xfrm>
            </p:grpSpPr>
            <p:sp>
              <p:nvSpPr>
                <p:cNvPr id="27" name="Line 64">
                  <a:extLst>
                    <a:ext uri="{FF2B5EF4-FFF2-40B4-BE49-F238E27FC236}">
                      <a16:creationId xmlns:a16="http://schemas.microsoft.com/office/drawing/2014/main" id="{FE99CFD5-D497-44AF-9EAE-5530AC6AAD5D}"/>
                    </a:ext>
                  </a:extLst>
                </p:cNvPr>
                <p:cNvSpPr>
                  <a:spLocks noChangeShapeType="1"/>
                </p:cNvSpPr>
                <p:nvPr/>
              </p:nvSpPr>
              <p:spPr bwMode="white">
                <a:xfrm>
                  <a:off x="1056" y="332"/>
                  <a:ext cx="244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65">
                  <a:extLst>
                    <a:ext uri="{FF2B5EF4-FFF2-40B4-BE49-F238E27FC236}">
                      <a16:creationId xmlns:a16="http://schemas.microsoft.com/office/drawing/2014/main" id="{968E42E9-3EDF-4A89-80B0-795C545B4E61}"/>
                    </a:ext>
                  </a:extLst>
                </p:cNvPr>
                <p:cNvSpPr>
                  <a:spLocks noChangeShapeType="1"/>
                </p:cNvSpPr>
                <p:nvPr/>
              </p:nvSpPr>
              <p:spPr bwMode="white">
                <a:xfrm>
                  <a:off x="125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66">
                  <a:extLst>
                    <a:ext uri="{FF2B5EF4-FFF2-40B4-BE49-F238E27FC236}">
                      <a16:creationId xmlns:a16="http://schemas.microsoft.com/office/drawing/2014/main" id="{65E098F3-9DAB-4CBC-AE82-67C888C65C65}"/>
                    </a:ext>
                  </a:extLst>
                </p:cNvPr>
                <p:cNvSpPr>
                  <a:spLocks noChangeShapeType="1"/>
                </p:cNvSpPr>
                <p:nvPr/>
              </p:nvSpPr>
              <p:spPr bwMode="white">
                <a:xfrm>
                  <a:off x="148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67">
                  <a:extLst>
                    <a:ext uri="{FF2B5EF4-FFF2-40B4-BE49-F238E27FC236}">
                      <a16:creationId xmlns:a16="http://schemas.microsoft.com/office/drawing/2014/main" id="{241572A5-D292-4DCE-92DF-A21CA7326BE2}"/>
                    </a:ext>
                  </a:extLst>
                </p:cNvPr>
                <p:cNvSpPr>
                  <a:spLocks noChangeShapeType="1"/>
                </p:cNvSpPr>
                <p:nvPr/>
              </p:nvSpPr>
              <p:spPr bwMode="white">
                <a:xfrm>
                  <a:off x="171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68">
                  <a:extLst>
                    <a:ext uri="{FF2B5EF4-FFF2-40B4-BE49-F238E27FC236}">
                      <a16:creationId xmlns:a16="http://schemas.microsoft.com/office/drawing/2014/main" id="{EADC455F-B555-4B28-B19D-4845753573AB}"/>
                    </a:ext>
                  </a:extLst>
                </p:cNvPr>
                <p:cNvSpPr>
                  <a:spLocks noChangeShapeType="1"/>
                </p:cNvSpPr>
                <p:nvPr/>
              </p:nvSpPr>
              <p:spPr bwMode="white">
                <a:xfrm>
                  <a:off x="193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9">
                  <a:extLst>
                    <a:ext uri="{FF2B5EF4-FFF2-40B4-BE49-F238E27FC236}">
                      <a16:creationId xmlns:a16="http://schemas.microsoft.com/office/drawing/2014/main" id="{8E61BA60-EF27-42F1-8968-C351DC36DF02}"/>
                    </a:ext>
                  </a:extLst>
                </p:cNvPr>
                <p:cNvSpPr>
                  <a:spLocks noChangeShapeType="1"/>
                </p:cNvSpPr>
                <p:nvPr/>
              </p:nvSpPr>
              <p:spPr bwMode="white">
                <a:xfrm>
                  <a:off x="216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70">
                  <a:extLst>
                    <a:ext uri="{FF2B5EF4-FFF2-40B4-BE49-F238E27FC236}">
                      <a16:creationId xmlns:a16="http://schemas.microsoft.com/office/drawing/2014/main" id="{89A6B70C-F55C-442C-A73B-238A6BB6BEB5}"/>
                    </a:ext>
                  </a:extLst>
                </p:cNvPr>
                <p:cNvSpPr>
                  <a:spLocks noChangeShapeType="1"/>
                </p:cNvSpPr>
                <p:nvPr/>
              </p:nvSpPr>
              <p:spPr bwMode="white">
                <a:xfrm>
                  <a:off x="239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1">
                  <a:extLst>
                    <a:ext uri="{FF2B5EF4-FFF2-40B4-BE49-F238E27FC236}">
                      <a16:creationId xmlns:a16="http://schemas.microsoft.com/office/drawing/2014/main" id="{50B1DAC4-0B72-4838-9F82-10671EEEE9BB}"/>
                    </a:ext>
                  </a:extLst>
                </p:cNvPr>
                <p:cNvSpPr>
                  <a:spLocks noChangeShapeType="1"/>
                </p:cNvSpPr>
                <p:nvPr/>
              </p:nvSpPr>
              <p:spPr bwMode="white">
                <a:xfrm>
                  <a:off x="262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2">
                  <a:extLst>
                    <a:ext uri="{FF2B5EF4-FFF2-40B4-BE49-F238E27FC236}">
                      <a16:creationId xmlns:a16="http://schemas.microsoft.com/office/drawing/2014/main" id="{56846F1E-B064-4C60-A5C8-37004E7852E9}"/>
                    </a:ext>
                  </a:extLst>
                </p:cNvPr>
                <p:cNvSpPr>
                  <a:spLocks noChangeShapeType="1"/>
                </p:cNvSpPr>
                <p:nvPr/>
              </p:nvSpPr>
              <p:spPr bwMode="white">
                <a:xfrm>
                  <a:off x="285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3">
                  <a:extLst>
                    <a:ext uri="{FF2B5EF4-FFF2-40B4-BE49-F238E27FC236}">
                      <a16:creationId xmlns:a16="http://schemas.microsoft.com/office/drawing/2014/main" id="{948DAD6E-6081-4D38-9FBC-B11379191728}"/>
                    </a:ext>
                  </a:extLst>
                </p:cNvPr>
                <p:cNvSpPr>
                  <a:spLocks noChangeShapeType="1"/>
                </p:cNvSpPr>
                <p:nvPr/>
              </p:nvSpPr>
              <p:spPr bwMode="white">
                <a:xfrm>
                  <a:off x="307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74">
                  <a:extLst>
                    <a:ext uri="{FF2B5EF4-FFF2-40B4-BE49-F238E27FC236}">
                      <a16:creationId xmlns:a16="http://schemas.microsoft.com/office/drawing/2014/main" id="{9DC05F23-BDB7-4E3B-8C74-DEB7EC7DC3B2}"/>
                    </a:ext>
                  </a:extLst>
                </p:cNvPr>
                <p:cNvSpPr>
                  <a:spLocks noChangeShapeType="1"/>
                </p:cNvSpPr>
                <p:nvPr/>
              </p:nvSpPr>
              <p:spPr bwMode="white">
                <a:xfrm>
                  <a:off x="330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75">
                <a:extLst>
                  <a:ext uri="{FF2B5EF4-FFF2-40B4-BE49-F238E27FC236}">
                    <a16:creationId xmlns:a16="http://schemas.microsoft.com/office/drawing/2014/main" id="{FBC60041-7FC4-49D0-AA39-97ED1B43C61E}"/>
                  </a:ext>
                </a:extLst>
              </p:cNvPr>
              <p:cNvGrpSpPr>
                <a:grpSpLocks/>
              </p:cNvGrpSpPr>
              <p:nvPr userDrawn="1"/>
            </p:nvGrpSpPr>
            <p:grpSpPr bwMode="auto">
              <a:xfrm>
                <a:off x="363" y="1"/>
                <a:ext cx="4919" cy="1034"/>
                <a:chOff x="1208" y="109"/>
                <a:chExt cx="2098" cy="423"/>
              </a:xfrm>
            </p:grpSpPr>
            <p:sp>
              <p:nvSpPr>
                <p:cNvPr id="12" name="Line 76">
                  <a:extLst>
                    <a:ext uri="{FF2B5EF4-FFF2-40B4-BE49-F238E27FC236}">
                      <a16:creationId xmlns:a16="http://schemas.microsoft.com/office/drawing/2014/main" id="{24FB0387-E5DC-4E6D-A00D-FDA6616D0BC0}"/>
                    </a:ext>
                  </a:extLst>
                </p:cNvPr>
                <p:cNvSpPr>
                  <a:spLocks noChangeShapeType="1"/>
                </p:cNvSpPr>
                <p:nvPr/>
              </p:nvSpPr>
              <p:spPr bwMode="ltGray">
                <a:xfrm>
                  <a:off x="2850" y="110"/>
                  <a:ext cx="0" cy="14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77">
                  <a:extLst>
                    <a:ext uri="{FF2B5EF4-FFF2-40B4-BE49-F238E27FC236}">
                      <a16:creationId xmlns:a16="http://schemas.microsoft.com/office/drawing/2014/main" id="{9C872CD8-C426-4AE2-AF27-25E13BC0FB8D}"/>
                    </a:ext>
                  </a:extLst>
                </p:cNvPr>
                <p:cNvSpPr>
                  <a:spLocks noChangeShapeType="1"/>
                </p:cNvSpPr>
                <p:nvPr/>
              </p:nvSpPr>
              <p:spPr bwMode="ltGray">
                <a:xfrm>
                  <a:off x="2972" y="332"/>
                  <a:ext cx="7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8">
                  <a:extLst>
                    <a:ext uri="{FF2B5EF4-FFF2-40B4-BE49-F238E27FC236}">
                      <a16:creationId xmlns:a16="http://schemas.microsoft.com/office/drawing/2014/main" id="{24846301-6CDF-4998-97D5-3B70E63F69BA}"/>
                    </a:ext>
                  </a:extLst>
                </p:cNvPr>
                <p:cNvSpPr>
                  <a:spLocks noChangeShapeType="1"/>
                </p:cNvSpPr>
                <p:nvPr/>
              </p:nvSpPr>
              <p:spPr bwMode="ltGray">
                <a:xfrm>
                  <a:off x="3078" y="350"/>
                  <a:ext cx="0" cy="2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9">
                  <a:extLst>
                    <a:ext uri="{FF2B5EF4-FFF2-40B4-BE49-F238E27FC236}">
                      <a16:creationId xmlns:a16="http://schemas.microsoft.com/office/drawing/2014/main" id="{8668854A-39D5-494D-9F44-7B0B6780C303}"/>
                    </a:ext>
                  </a:extLst>
                </p:cNvPr>
                <p:cNvSpPr>
                  <a:spLocks noChangeShapeType="1"/>
                </p:cNvSpPr>
                <p:nvPr/>
              </p:nvSpPr>
              <p:spPr bwMode="ltGray">
                <a:xfrm>
                  <a:off x="3306" y="450"/>
                  <a:ext cx="0" cy="79"/>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80">
                  <a:extLst>
                    <a:ext uri="{FF2B5EF4-FFF2-40B4-BE49-F238E27FC236}">
                      <a16:creationId xmlns:a16="http://schemas.microsoft.com/office/drawing/2014/main" id="{A3BD8FB6-9D10-4CCF-8489-4297D34DB67E}"/>
                    </a:ext>
                  </a:extLst>
                </p:cNvPr>
                <p:cNvSpPr>
                  <a:spLocks noChangeShapeType="1"/>
                </p:cNvSpPr>
                <p:nvPr/>
              </p:nvSpPr>
              <p:spPr bwMode="ltGray">
                <a:xfrm>
                  <a:off x="2166" y="114"/>
                  <a:ext cx="0" cy="6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81">
                  <a:extLst>
                    <a:ext uri="{FF2B5EF4-FFF2-40B4-BE49-F238E27FC236}">
                      <a16:creationId xmlns:a16="http://schemas.microsoft.com/office/drawing/2014/main" id="{48C265E5-2C9B-4A8F-815D-F4A607AC754C}"/>
                    </a:ext>
                  </a:extLst>
                </p:cNvPr>
                <p:cNvSpPr>
                  <a:spLocks noChangeShapeType="1"/>
                </p:cNvSpPr>
                <p:nvPr/>
              </p:nvSpPr>
              <p:spPr bwMode="ltGray">
                <a:xfrm>
                  <a:off x="1938" y="111"/>
                  <a:ext cx="0" cy="33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82">
                  <a:extLst>
                    <a:ext uri="{FF2B5EF4-FFF2-40B4-BE49-F238E27FC236}">
                      <a16:creationId xmlns:a16="http://schemas.microsoft.com/office/drawing/2014/main" id="{EBE6CF08-0562-4B37-95A5-EF738EC290C0}"/>
                    </a:ext>
                  </a:extLst>
                </p:cNvPr>
                <p:cNvSpPr>
                  <a:spLocks noChangeShapeType="1"/>
                </p:cNvSpPr>
                <p:nvPr/>
              </p:nvSpPr>
              <p:spPr bwMode="ltGray">
                <a:xfrm flipH="1">
                  <a:off x="1912" y="332"/>
                  <a:ext cx="6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83">
                  <a:extLst>
                    <a:ext uri="{FF2B5EF4-FFF2-40B4-BE49-F238E27FC236}">
                      <a16:creationId xmlns:a16="http://schemas.microsoft.com/office/drawing/2014/main" id="{5EC9445E-88E8-4783-9CB2-9A28B1A38347}"/>
                    </a:ext>
                  </a:extLst>
                </p:cNvPr>
                <p:cNvSpPr>
                  <a:spLocks noChangeShapeType="1"/>
                </p:cNvSpPr>
                <p:nvPr/>
              </p:nvSpPr>
              <p:spPr bwMode="ltGray">
                <a:xfrm>
                  <a:off x="1778" y="332"/>
                  <a:ext cx="6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4">
                  <a:extLst>
                    <a:ext uri="{FF2B5EF4-FFF2-40B4-BE49-F238E27FC236}">
                      <a16:creationId xmlns:a16="http://schemas.microsoft.com/office/drawing/2014/main" id="{025E788F-4BA3-41C3-BF90-9081DD657023}"/>
                    </a:ext>
                  </a:extLst>
                </p:cNvPr>
                <p:cNvSpPr>
                  <a:spLocks noChangeShapeType="1"/>
                </p:cNvSpPr>
                <p:nvPr/>
              </p:nvSpPr>
              <p:spPr bwMode="ltGray">
                <a:xfrm flipH="1">
                  <a:off x="1578" y="332"/>
                  <a:ext cx="82"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5">
                  <a:extLst>
                    <a:ext uri="{FF2B5EF4-FFF2-40B4-BE49-F238E27FC236}">
                      <a16:creationId xmlns:a16="http://schemas.microsoft.com/office/drawing/2014/main" id="{916BE4A3-A0E6-47B2-8E18-5967FF4DDCB9}"/>
                    </a:ext>
                  </a:extLst>
                </p:cNvPr>
                <p:cNvSpPr>
                  <a:spLocks noChangeShapeType="1"/>
                </p:cNvSpPr>
                <p:nvPr/>
              </p:nvSpPr>
              <p:spPr bwMode="ltGray">
                <a:xfrm>
                  <a:off x="1208" y="332"/>
                  <a:ext cx="34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6">
                  <a:extLst>
                    <a:ext uri="{FF2B5EF4-FFF2-40B4-BE49-F238E27FC236}">
                      <a16:creationId xmlns:a16="http://schemas.microsoft.com/office/drawing/2014/main" id="{AEFA4F9C-C5D5-4D18-8182-5522DF4BDD6B}"/>
                    </a:ext>
                  </a:extLst>
                </p:cNvPr>
                <p:cNvSpPr>
                  <a:spLocks noChangeShapeType="1"/>
                </p:cNvSpPr>
                <p:nvPr/>
              </p:nvSpPr>
              <p:spPr bwMode="ltGray">
                <a:xfrm>
                  <a:off x="1480" y="234"/>
                  <a:ext cx="0" cy="29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7">
                  <a:extLst>
                    <a:ext uri="{FF2B5EF4-FFF2-40B4-BE49-F238E27FC236}">
                      <a16:creationId xmlns:a16="http://schemas.microsoft.com/office/drawing/2014/main" id="{50E2B587-3B2E-4C66-9216-2A4E2D918FFA}"/>
                    </a:ext>
                  </a:extLst>
                </p:cNvPr>
                <p:cNvSpPr>
                  <a:spLocks noChangeShapeType="1"/>
                </p:cNvSpPr>
                <p:nvPr/>
              </p:nvSpPr>
              <p:spPr bwMode="ltGray">
                <a:xfrm>
                  <a:off x="1254" y="252"/>
                  <a:ext cx="0" cy="15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8">
                  <a:extLst>
                    <a:ext uri="{FF2B5EF4-FFF2-40B4-BE49-F238E27FC236}">
                      <a16:creationId xmlns:a16="http://schemas.microsoft.com/office/drawing/2014/main" id="{F984BF47-69A2-498D-B7BD-80526C4A7393}"/>
                    </a:ext>
                  </a:extLst>
                </p:cNvPr>
                <p:cNvSpPr>
                  <a:spLocks noChangeShapeType="1"/>
                </p:cNvSpPr>
                <p:nvPr/>
              </p:nvSpPr>
              <p:spPr bwMode="ltGray">
                <a:xfrm flipH="1" flipV="1">
                  <a:off x="1482" y="109"/>
                  <a:ext cx="0" cy="2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89">
                  <a:extLst>
                    <a:ext uri="{FF2B5EF4-FFF2-40B4-BE49-F238E27FC236}">
                      <a16:creationId xmlns:a16="http://schemas.microsoft.com/office/drawing/2014/main" id="{00964B56-57F1-4885-9EB0-8EDEEC9C0F4F}"/>
                    </a:ext>
                  </a:extLst>
                </p:cNvPr>
                <p:cNvSpPr>
                  <a:spLocks noChangeShapeType="1"/>
                </p:cNvSpPr>
                <p:nvPr/>
              </p:nvSpPr>
              <p:spPr bwMode="ltGray">
                <a:xfrm>
                  <a:off x="1710" y="180"/>
                  <a:ext cx="0" cy="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90">
                  <a:extLst>
                    <a:ext uri="{FF2B5EF4-FFF2-40B4-BE49-F238E27FC236}">
                      <a16:creationId xmlns:a16="http://schemas.microsoft.com/office/drawing/2014/main" id="{A4E9D654-1394-40A7-BC93-7645A735A7A8}"/>
                    </a:ext>
                  </a:extLst>
                </p:cNvPr>
                <p:cNvSpPr>
                  <a:spLocks noChangeShapeType="1"/>
                </p:cNvSpPr>
                <p:nvPr/>
              </p:nvSpPr>
              <p:spPr bwMode="ltGray">
                <a:xfrm flipV="1">
                  <a:off x="1710" y="111"/>
                  <a:ext cx="0" cy="2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7" name="Picture 91" descr="earth">
              <a:extLst>
                <a:ext uri="{FF2B5EF4-FFF2-40B4-BE49-F238E27FC236}">
                  <a16:creationId xmlns:a16="http://schemas.microsoft.com/office/drawing/2014/main" id="{9F4C23D1-9799-41E9-8F66-8A7262EEBF27}"/>
                </a:ext>
              </a:extLst>
            </p:cNvPr>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8860" name="Rectangle 92"/>
          <p:cNvSpPr>
            <a:spLocks noGrp="1" noChangeArrowheads="1"/>
          </p:cNvSpPr>
          <p:nvPr>
            <p:ph type="ctrTitle"/>
          </p:nvPr>
        </p:nvSpPr>
        <p:spPr>
          <a:xfrm>
            <a:off x="1828800" y="1828800"/>
            <a:ext cx="6934200" cy="2362200"/>
          </a:xfrm>
        </p:spPr>
        <p:txBody>
          <a:bodyPr/>
          <a:lstStyle>
            <a:lvl1pPr>
              <a:defRPr/>
            </a:lvl1pPr>
          </a:lstStyle>
          <a:p>
            <a:pPr lvl="0"/>
            <a:r>
              <a:rPr lang="zh-CN" altLang="en-US" noProof="0"/>
              <a:t>单击此处编辑母版标题样式</a:t>
            </a:r>
          </a:p>
        </p:txBody>
      </p:sp>
      <p:sp>
        <p:nvSpPr>
          <p:cNvPr id="288861"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pPr lvl="0"/>
            <a:r>
              <a:rPr lang="zh-CN" altLang="en-US" noProof="0"/>
              <a:t>单击此处编辑母版副标题样式</a:t>
            </a:r>
          </a:p>
        </p:txBody>
      </p:sp>
      <p:sp>
        <p:nvSpPr>
          <p:cNvPr id="94" name="Rectangle 94">
            <a:extLst>
              <a:ext uri="{FF2B5EF4-FFF2-40B4-BE49-F238E27FC236}">
                <a16:creationId xmlns:a16="http://schemas.microsoft.com/office/drawing/2014/main" id="{E4FCE64F-3E55-4EA0-89F8-DABE8C26CC71}"/>
              </a:ext>
            </a:extLst>
          </p:cNvPr>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zh-CN"/>
          </a:p>
        </p:txBody>
      </p:sp>
      <p:sp>
        <p:nvSpPr>
          <p:cNvPr id="95" name="Rectangle 95">
            <a:extLst>
              <a:ext uri="{FF2B5EF4-FFF2-40B4-BE49-F238E27FC236}">
                <a16:creationId xmlns:a16="http://schemas.microsoft.com/office/drawing/2014/main" id="{8E798018-7383-476F-B653-FB3A830B4F46}"/>
              </a:ext>
            </a:extLst>
          </p:cNvPr>
          <p:cNvSpPr>
            <a:spLocks noGrp="1" noChangeArrowheads="1"/>
          </p:cNvSpPr>
          <p:nvPr>
            <p:ph type="ftr" sz="quarter" idx="11"/>
          </p:nvPr>
        </p:nvSpPr>
        <p:spPr>
          <a:xfrm>
            <a:off x="3200400" y="6324600"/>
            <a:ext cx="2895600" cy="457200"/>
          </a:xfrm>
        </p:spPr>
        <p:txBody>
          <a:bodyPr/>
          <a:lstStyle>
            <a:lvl1pPr>
              <a:defRPr/>
            </a:lvl1pPr>
          </a:lstStyle>
          <a:p>
            <a:pPr>
              <a:defRPr/>
            </a:pPr>
            <a:endParaRPr lang="en-US" altLang="zh-CN"/>
          </a:p>
        </p:txBody>
      </p:sp>
      <p:sp>
        <p:nvSpPr>
          <p:cNvPr id="96" name="Rectangle 96">
            <a:extLst>
              <a:ext uri="{FF2B5EF4-FFF2-40B4-BE49-F238E27FC236}">
                <a16:creationId xmlns:a16="http://schemas.microsoft.com/office/drawing/2014/main" id="{38F0784C-66D8-423B-943D-8C732275761F}"/>
              </a:ext>
            </a:extLst>
          </p:cNvPr>
          <p:cNvSpPr>
            <a:spLocks noGrp="1" noChangeArrowheads="1"/>
          </p:cNvSpPr>
          <p:nvPr>
            <p:ph type="sldNum" sz="quarter" idx="12"/>
          </p:nvPr>
        </p:nvSpPr>
        <p:spPr>
          <a:xfrm>
            <a:off x="6858000" y="6324600"/>
            <a:ext cx="1905000" cy="457200"/>
          </a:xfrm>
        </p:spPr>
        <p:txBody>
          <a:bodyPr/>
          <a:lstStyle>
            <a:lvl1pPr>
              <a:defRPr/>
            </a:lvl1pPr>
          </a:lstStyle>
          <a:p>
            <a:pPr>
              <a:defRPr/>
            </a:pPr>
            <a:fld id="{AADB39B4-B288-4CC3-982A-619A19A3FB8E}" type="slidenum">
              <a:rPr lang="zh-CN" altLang="en-US"/>
              <a:pPr>
                <a:defRPr/>
              </a:pPr>
              <a:t>‹#›</a:t>
            </a:fld>
            <a:endParaRPr lang="en-US" altLang="zh-CN"/>
          </a:p>
        </p:txBody>
      </p:sp>
    </p:spTree>
    <p:extLst>
      <p:ext uri="{BB962C8B-B14F-4D97-AF65-F5344CB8AC3E}">
        <p14:creationId xmlns:p14="http://schemas.microsoft.com/office/powerpoint/2010/main" val="3250285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75ED2FD-6F25-40FB-9520-FF5DF4F631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C7FC2BA-6657-4B4C-9B6D-9B451EB6FF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48C6A64-8BC7-45D4-AF21-C9EC9737AD61}"/>
              </a:ext>
            </a:extLst>
          </p:cNvPr>
          <p:cNvSpPr>
            <a:spLocks noGrp="1" noChangeArrowheads="1"/>
          </p:cNvSpPr>
          <p:nvPr>
            <p:ph type="sldNum" sz="quarter" idx="12"/>
          </p:nvPr>
        </p:nvSpPr>
        <p:spPr>
          <a:ln/>
        </p:spPr>
        <p:txBody>
          <a:bodyPr/>
          <a:lstStyle>
            <a:lvl1pPr>
              <a:defRPr/>
            </a:lvl1pPr>
          </a:lstStyle>
          <a:p>
            <a:pPr>
              <a:defRPr/>
            </a:pPr>
            <a:fld id="{7C0493EE-E8AA-48D4-898A-70D6B002282E}" type="slidenum">
              <a:rPr lang="zh-CN" altLang="en-US"/>
              <a:pPr>
                <a:defRPr/>
              </a:pPr>
              <a:t>‹#›</a:t>
            </a:fld>
            <a:endParaRPr lang="en-US" altLang="zh-CN"/>
          </a:p>
        </p:txBody>
      </p:sp>
    </p:spTree>
    <p:extLst>
      <p:ext uri="{BB962C8B-B14F-4D97-AF65-F5344CB8AC3E}">
        <p14:creationId xmlns:p14="http://schemas.microsoft.com/office/powerpoint/2010/main" val="3417880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DF4D8DE-713A-413B-BDB4-8A0D0EF2EA9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7BF2B12-4BC2-4087-B787-674DB6F5E5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B60C2CB-8815-4553-8609-6DD3A086AA8A}"/>
              </a:ext>
            </a:extLst>
          </p:cNvPr>
          <p:cNvSpPr>
            <a:spLocks noGrp="1" noChangeArrowheads="1"/>
          </p:cNvSpPr>
          <p:nvPr>
            <p:ph type="sldNum" sz="quarter" idx="12"/>
          </p:nvPr>
        </p:nvSpPr>
        <p:spPr>
          <a:ln/>
        </p:spPr>
        <p:txBody>
          <a:bodyPr/>
          <a:lstStyle>
            <a:lvl1pPr>
              <a:defRPr/>
            </a:lvl1pPr>
          </a:lstStyle>
          <a:p>
            <a:pPr>
              <a:defRPr/>
            </a:pPr>
            <a:fld id="{22EE4449-A507-4AF0-A83B-DC5AF1D4F9B2}" type="slidenum">
              <a:rPr lang="zh-CN" altLang="en-US"/>
              <a:pPr>
                <a:defRPr/>
              </a:pPr>
              <a:t>‹#›</a:t>
            </a:fld>
            <a:endParaRPr lang="en-US" altLang="zh-CN"/>
          </a:p>
        </p:txBody>
      </p:sp>
    </p:spTree>
    <p:extLst>
      <p:ext uri="{BB962C8B-B14F-4D97-AF65-F5344CB8AC3E}">
        <p14:creationId xmlns:p14="http://schemas.microsoft.com/office/powerpoint/2010/main" val="3325246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BAA8056-3228-448D-8D8E-A51922F7207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64D7C46-0E15-45A1-ABA8-322F7D02D2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DF312DB-F0EA-489C-A7CA-FA1A56B8CC52}"/>
              </a:ext>
            </a:extLst>
          </p:cNvPr>
          <p:cNvSpPr>
            <a:spLocks noGrp="1" noChangeArrowheads="1"/>
          </p:cNvSpPr>
          <p:nvPr>
            <p:ph type="sldNum" sz="quarter" idx="12"/>
          </p:nvPr>
        </p:nvSpPr>
        <p:spPr>
          <a:ln/>
        </p:spPr>
        <p:txBody>
          <a:bodyPr/>
          <a:lstStyle>
            <a:lvl1pPr>
              <a:defRPr/>
            </a:lvl1pPr>
          </a:lstStyle>
          <a:p>
            <a:pPr>
              <a:defRPr/>
            </a:pPr>
            <a:fld id="{9419BFEA-A359-4500-BE1F-AEDC5E4EACD6}" type="slidenum">
              <a:rPr lang="zh-CN" altLang="en-US"/>
              <a:pPr>
                <a:defRPr/>
              </a:pPr>
              <a:t>‹#›</a:t>
            </a:fld>
            <a:endParaRPr lang="en-US" altLang="zh-CN"/>
          </a:p>
        </p:txBody>
      </p:sp>
    </p:spTree>
    <p:extLst>
      <p:ext uri="{BB962C8B-B14F-4D97-AF65-F5344CB8AC3E}">
        <p14:creationId xmlns:p14="http://schemas.microsoft.com/office/powerpoint/2010/main" val="1249177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CCF4D6F-9649-44E6-95CC-82398998B2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F58E1FC-3CEB-4063-99E0-C5534D4C9C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883130C-1E9D-4832-9147-E1EFC1CF5B69}"/>
              </a:ext>
            </a:extLst>
          </p:cNvPr>
          <p:cNvSpPr>
            <a:spLocks noGrp="1" noChangeArrowheads="1"/>
          </p:cNvSpPr>
          <p:nvPr>
            <p:ph type="sldNum" sz="quarter" idx="12"/>
          </p:nvPr>
        </p:nvSpPr>
        <p:spPr>
          <a:ln/>
        </p:spPr>
        <p:txBody>
          <a:bodyPr/>
          <a:lstStyle>
            <a:lvl1pPr>
              <a:defRPr/>
            </a:lvl1pPr>
          </a:lstStyle>
          <a:p>
            <a:pPr>
              <a:defRPr/>
            </a:pPr>
            <a:fld id="{1BCCC0E8-7FD2-4484-998E-7A9307CD7B89}" type="slidenum">
              <a:rPr lang="zh-CN" altLang="en-US"/>
              <a:pPr>
                <a:defRPr/>
              </a:pPr>
              <a:t>‹#›</a:t>
            </a:fld>
            <a:endParaRPr lang="en-US" altLang="zh-CN"/>
          </a:p>
        </p:txBody>
      </p:sp>
    </p:spTree>
    <p:extLst>
      <p:ext uri="{BB962C8B-B14F-4D97-AF65-F5344CB8AC3E}">
        <p14:creationId xmlns:p14="http://schemas.microsoft.com/office/powerpoint/2010/main" val="416669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3E896E6-3778-4F10-90E6-56CBCEDFA8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2F41939-E120-4ACB-9D01-463C920704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046D666-A729-4C39-A13A-659978109ABD}"/>
              </a:ext>
            </a:extLst>
          </p:cNvPr>
          <p:cNvSpPr>
            <a:spLocks noGrp="1" noChangeArrowheads="1"/>
          </p:cNvSpPr>
          <p:nvPr>
            <p:ph type="sldNum" sz="quarter" idx="12"/>
          </p:nvPr>
        </p:nvSpPr>
        <p:spPr>
          <a:ln/>
        </p:spPr>
        <p:txBody>
          <a:bodyPr/>
          <a:lstStyle>
            <a:lvl1pPr>
              <a:defRPr/>
            </a:lvl1pPr>
          </a:lstStyle>
          <a:p>
            <a:pPr>
              <a:defRPr/>
            </a:pPr>
            <a:fld id="{A75FD28A-55B7-439A-B84E-49981F8D84AF}" type="slidenum">
              <a:rPr lang="zh-CN" altLang="en-US"/>
              <a:pPr>
                <a:defRPr/>
              </a:pPr>
              <a:t>‹#›</a:t>
            </a:fld>
            <a:endParaRPr lang="en-US" altLang="zh-CN"/>
          </a:p>
        </p:txBody>
      </p:sp>
    </p:spTree>
    <p:extLst>
      <p:ext uri="{BB962C8B-B14F-4D97-AF65-F5344CB8AC3E}">
        <p14:creationId xmlns:p14="http://schemas.microsoft.com/office/powerpoint/2010/main" val="96270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49E7591-5827-43A5-BF26-47FC34C4894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ED4AB4A0-B44C-498F-9FD7-AC7A885FEE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1E354A1-A337-4725-B59D-658B4DD03366}"/>
              </a:ext>
            </a:extLst>
          </p:cNvPr>
          <p:cNvSpPr>
            <a:spLocks noGrp="1" noChangeArrowheads="1"/>
          </p:cNvSpPr>
          <p:nvPr>
            <p:ph type="sldNum" sz="quarter" idx="12"/>
          </p:nvPr>
        </p:nvSpPr>
        <p:spPr>
          <a:ln/>
        </p:spPr>
        <p:txBody>
          <a:bodyPr/>
          <a:lstStyle>
            <a:lvl1pPr>
              <a:defRPr/>
            </a:lvl1pPr>
          </a:lstStyle>
          <a:p>
            <a:pPr>
              <a:defRPr/>
            </a:pPr>
            <a:fld id="{CC691E6C-2199-4B37-A90E-C12FDEB92DEA}" type="slidenum">
              <a:rPr lang="zh-CN" altLang="en-US"/>
              <a:pPr>
                <a:defRPr/>
              </a:pPr>
              <a:t>‹#›</a:t>
            </a:fld>
            <a:endParaRPr lang="en-US" altLang="zh-CN"/>
          </a:p>
        </p:txBody>
      </p:sp>
    </p:spTree>
    <p:extLst>
      <p:ext uri="{BB962C8B-B14F-4D97-AF65-F5344CB8AC3E}">
        <p14:creationId xmlns:p14="http://schemas.microsoft.com/office/powerpoint/2010/main" val="304783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CC32C67-41FA-4173-8D7C-36EC29FB93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1CB0937-B981-4153-BAE3-1AD7DAE6BA4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BDAE0DE-037F-4448-B1A2-BB5E5751DE66}"/>
              </a:ext>
            </a:extLst>
          </p:cNvPr>
          <p:cNvSpPr>
            <a:spLocks noGrp="1" noChangeArrowheads="1"/>
          </p:cNvSpPr>
          <p:nvPr>
            <p:ph type="sldNum" sz="quarter" idx="12"/>
          </p:nvPr>
        </p:nvSpPr>
        <p:spPr>
          <a:ln/>
        </p:spPr>
        <p:txBody>
          <a:bodyPr/>
          <a:lstStyle>
            <a:lvl1pPr>
              <a:defRPr/>
            </a:lvl1pPr>
          </a:lstStyle>
          <a:p>
            <a:pPr>
              <a:defRPr/>
            </a:pPr>
            <a:fld id="{B58D21AB-3B43-4ECE-92CC-6309E12DAED2}" type="slidenum">
              <a:rPr lang="zh-CN" altLang="en-US"/>
              <a:pPr>
                <a:defRPr/>
              </a:pPr>
              <a:t>‹#›</a:t>
            </a:fld>
            <a:endParaRPr lang="en-US" altLang="zh-CN"/>
          </a:p>
        </p:txBody>
      </p:sp>
    </p:spTree>
    <p:extLst>
      <p:ext uri="{BB962C8B-B14F-4D97-AF65-F5344CB8AC3E}">
        <p14:creationId xmlns:p14="http://schemas.microsoft.com/office/powerpoint/2010/main" val="235184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881057B-B443-4CFA-ACA0-3636E3C52D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EA98CC6-1C47-440C-9E86-25E6B1E4BF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23AC1A4-12CC-4A36-A4A4-92B6E26BF8B8}"/>
              </a:ext>
            </a:extLst>
          </p:cNvPr>
          <p:cNvSpPr>
            <a:spLocks noGrp="1" noChangeArrowheads="1"/>
          </p:cNvSpPr>
          <p:nvPr>
            <p:ph type="sldNum" sz="quarter" idx="12"/>
          </p:nvPr>
        </p:nvSpPr>
        <p:spPr>
          <a:ln/>
        </p:spPr>
        <p:txBody>
          <a:bodyPr/>
          <a:lstStyle>
            <a:lvl1pPr>
              <a:defRPr/>
            </a:lvl1pPr>
          </a:lstStyle>
          <a:p>
            <a:pPr>
              <a:defRPr/>
            </a:pPr>
            <a:fld id="{97E7F014-6BB1-4020-AE0C-894D017D1A12}" type="slidenum">
              <a:rPr lang="zh-CN" altLang="en-US"/>
              <a:pPr>
                <a:defRPr/>
              </a:pPr>
              <a:t>‹#›</a:t>
            </a:fld>
            <a:endParaRPr lang="en-US" altLang="zh-CN"/>
          </a:p>
        </p:txBody>
      </p:sp>
    </p:spTree>
    <p:extLst>
      <p:ext uri="{BB962C8B-B14F-4D97-AF65-F5344CB8AC3E}">
        <p14:creationId xmlns:p14="http://schemas.microsoft.com/office/powerpoint/2010/main" val="2175276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CD6619B-9560-4E1E-B548-BED8064F59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B2E3754-32A1-45AC-B07F-D6F24EADE5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CD8265-766C-4D0B-92B3-DFCFC885975D}"/>
              </a:ext>
            </a:extLst>
          </p:cNvPr>
          <p:cNvSpPr>
            <a:spLocks noGrp="1" noChangeArrowheads="1"/>
          </p:cNvSpPr>
          <p:nvPr>
            <p:ph type="sldNum" sz="quarter" idx="12"/>
          </p:nvPr>
        </p:nvSpPr>
        <p:spPr>
          <a:ln/>
        </p:spPr>
        <p:txBody>
          <a:bodyPr/>
          <a:lstStyle>
            <a:lvl1pPr>
              <a:defRPr/>
            </a:lvl1pPr>
          </a:lstStyle>
          <a:p>
            <a:pPr>
              <a:defRPr/>
            </a:pPr>
            <a:fld id="{E0064BEB-DA40-46EA-8BF2-6380E6C26DCF}" type="slidenum">
              <a:rPr lang="zh-CN" altLang="en-US"/>
              <a:pPr>
                <a:defRPr/>
              </a:pPr>
              <a:t>‹#›</a:t>
            </a:fld>
            <a:endParaRPr lang="en-US" altLang="zh-CN"/>
          </a:p>
        </p:txBody>
      </p:sp>
    </p:spTree>
    <p:extLst>
      <p:ext uri="{BB962C8B-B14F-4D97-AF65-F5344CB8AC3E}">
        <p14:creationId xmlns:p14="http://schemas.microsoft.com/office/powerpoint/2010/main" val="597279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05563" y="930275"/>
            <a:ext cx="2052637" cy="53324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46063" y="930275"/>
            <a:ext cx="6007100" cy="53324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8BC6875-C412-4E2A-903E-5413E6BB9DA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69CDEA4-5683-42F7-B027-3ADAE6AB67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668E92-2B3F-4936-BBF7-3CFA193E472D}"/>
              </a:ext>
            </a:extLst>
          </p:cNvPr>
          <p:cNvSpPr>
            <a:spLocks noGrp="1" noChangeArrowheads="1"/>
          </p:cNvSpPr>
          <p:nvPr>
            <p:ph type="sldNum" sz="quarter" idx="12"/>
          </p:nvPr>
        </p:nvSpPr>
        <p:spPr>
          <a:ln/>
        </p:spPr>
        <p:txBody>
          <a:bodyPr/>
          <a:lstStyle>
            <a:lvl1pPr>
              <a:defRPr/>
            </a:lvl1pPr>
          </a:lstStyle>
          <a:p>
            <a:pPr>
              <a:defRPr/>
            </a:pPr>
            <a:fld id="{AF5D0A7F-AF2B-4DEC-89D2-3BA3BF221A74}" type="slidenum">
              <a:rPr lang="zh-CN" altLang="en-US"/>
              <a:pPr>
                <a:defRPr/>
              </a:pPr>
              <a:t>‹#›</a:t>
            </a:fld>
            <a:endParaRPr lang="en-US" altLang="zh-CN"/>
          </a:p>
        </p:txBody>
      </p:sp>
    </p:spTree>
    <p:extLst>
      <p:ext uri="{BB962C8B-B14F-4D97-AF65-F5344CB8AC3E}">
        <p14:creationId xmlns:p14="http://schemas.microsoft.com/office/powerpoint/2010/main" val="680183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123346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501304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435816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783831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439266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25420543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27418190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45702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0443247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5555438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590221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595DD6E-E5B6-45BA-9EB5-F5178B065C53}"/>
              </a:ext>
            </a:extLst>
          </p:cNvPr>
          <p:cNvSpPr>
            <a:spLocks noGrp="1" noChangeArrowheads="1"/>
          </p:cNvSpPr>
          <p:nvPr>
            <p:ph type="title"/>
          </p:nvPr>
        </p:nvSpPr>
        <p:spPr bwMode="auto">
          <a:xfrm>
            <a:off x="246063" y="9302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DCB4F36-6CFA-403D-8FA4-14813894C202}"/>
              </a:ext>
            </a:extLst>
          </p:cNvPr>
          <p:cNvSpPr>
            <a:spLocks noGrp="1" noChangeArrowheads="1"/>
          </p:cNvSpPr>
          <p:nvPr>
            <p:ph type="body" idx="1"/>
          </p:nvPr>
        </p:nvSpPr>
        <p:spPr bwMode="auto">
          <a:xfrm>
            <a:off x="685800" y="214788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748" name="Rectangle 4">
            <a:extLst>
              <a:ext uri="{FF2B5EF4-FFF2-40B4-BE49-F238E27FC236}">
                <a16:creationId xmlns:a16="http://schemas.microsoft.com/office/drawing/2014/main" id="{14F440BB-335D-4906-9F96-03D196CC8049}"/>
              </a:ext>
            </a:extLst>
          </p:cNvPr>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a:lvl1pPr>
          </a:lstStyle>
          <a:p>
            <a:pPr>
              <a:defRPr/>
            </a:pPr>
            <a:endParaRPr lang="en-US" altLang="zh-CN"/>
          </a:p>
        </p:txBody>
      </p:sp>
      <p:sp>
        <p:nvSpPr>
          <p:cNvPr id="287749" name="Rectangle 5">
            <a:extLst>
              <a:ext uri="{FF2B5EF4-FFF2-40B4-BE49-F238E27FC236}">
                <a16:creationId xmlns:a16="http://schemas.microsoft.com/office/drawing/2014/main" id="{50BAB647-A2F3-4BDD-906A-6611A2331853}"/>
              </a:ext>
            </a:extLst>
          </p:cNvPr>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a:lvl1pPr>
          </a:lstStyle>
          <a:p>
            <a:pPr>
              <a:defRPr/>
            </a:pPr>
            <a:endParaRPr lang="en-US" altLang="zh-CN"/>
          </a:p>
        </p:txBody>
      </p:sp>
      <p:sp>
        <p:nvSpPr>
          <p:cNvPr id="287750" name="Rectangle 6">
            <a:extLst>
              <a:ext uri="{FF2B5EF4-FFF2-40B4-BE49-F238E27FC236}">
                <a16:creationId xmlns:a16="http://schemas.microsoft.com/office/drawing/2014/main" id="{88F7318C-32C4-4492-B2FE-44A30371CE2D}"/>
              </a:ext>
            </a:extLst>
          </p:cNvPr>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a:lvl1pPr>
          </a:lstStyle>
          <a:p>
            <a:pPr>
              <a:defRPr/>
            </a:pPr>
            <a:fld id="{DF950ADC-F25A-4049-93A2-C6384A97C88A}" type="slidenum">
              <a:rPr lang="zh-CN" altLang="en-US"/>
              <a:pPr>
                <a:defRPr/>
              </a:pPr>
              <a:t>‹#›</a:t>
            </a:fld>
            <a:endParaRPr lang="en-US" altLang="zh-CN"/>
          </a:p>
        </p:txBody>
      </p:sp>
      <p:grpSp>
        <p:nvGrpSpPr>
          <p:cNvPr id="160" name="组合 159">
            <a:extLst>
              <a:ext uri="{FF2B5EF4-FFF2-40B4-BE49-F238E27FC236}">
                <a16:creationId xmlns:a16="http://schemas.microsoft.com/office/drawing/2014/main" id="{937589C9-23BE-4DE8-920D-E692843CF80C}"/>
              </a:ext>
            </a:extLst>
          </p:cNvPr>
          <p:cNvGrpSpPr/>
          <p:nvPr userDrawn="1"/>
        </p:nvGrpSpPr>
        <p:grpSpPr>
          <a:xfrm>
            <a:off x="142282" y="288798"/>
            <a:ext cx="533400" cy="426720"/>
            <a:chOff x="0" y="288798"/>
            <a:chExt cx="533400" cy="426720"/>
          </a:xfrm>
        </p:grpSpPr>
        <p:sp>
          <p:nvSpPr>
            <p:cNvPr id="161" name="矩形 160">
              <a:extLst>
                <a:ext uri="{FF2B5EF4-FFF2-40B4-BE49-F238E27FC236}">
                  <a16:creationId xmlns:a16="http://schemas.microsoft.com/office/drawing/2014/main" id="{3215382F-CB53-4992-8055-3E63AA884941}"/>
                </a:ext>
              </a:extLst>
            </p:cNvPr>
            <p:cNvSpPr/>
            <p:nvPr/>
          </p:nvSpPr>
          <p:spPr>
            <a:xfrm>
              <a:off x="0" y="288798"/>
              <a:ext cx="4191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A7E7A35D-3572-4410-AC23-B3AE01DE596B}"/>
                </a:ext>
              </a:extLst>
            </p:cNvPr>
            <p:cNvSpPr/>
            <p:nvPr/>
          </p:nvSpPr>
          <p:spPr>
            <a:xfrm>
              <a:off x="457200" y="288798"/>
              <a:ext cx="762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3" name="图片 162">
            <a:extLst>
              <a:ext uri="{FF2B5EF4-FFF2-40B4-BE49-F238E27FC236}">
                <a16:creationId xmlns:a16="http://schemas.microsoft.com/office/drawing/2014/main" id="{F5DD1D46-E9B6-412B-A870-F555EA614AC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2805" y="244642"/>
            <a:ext cx="492595" cy="505044"/>
          </a:xfrm>
          <a:prstGeom prst="rect">
            <a:avLst/>
          </a:prstGeom>
        </p:spPr>
      </p:pic>
    </p:spTree>
    <p:extLst>
      <p:ext uri="{BB962C8B-B14F-4D97-AF65-F5344CB8AC3E}">
        <p14:creationId xmlns:p14="http://schemas.microsoft.com/office/powerpoint/2010/main" val="2666830418"/>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4"/>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5"/>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E2719B-5B06-410C-9D74-7320BB9166CC}" type="datetimeFigureOut">
              <a:rPr lang="zh-CN" altLang="en-US" smtClean="0"/>
              <a:t>2025/5/21</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960087165"/>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6.x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2.wmf"/><Relationship Id="rId3" Type="http://schemas.openxmlformats.org/officeDocument/2006/relationships/image" Target="../media/image3.png"/><Relationship Id="rId7" Type="http://schemas.openxmlformats.org/officeDocument/2006/relationships/image" Target="../media/image9.wmf"/><Relationship Id="rId12" Type="http://schemas.openxmlformats.org/officeDocument/2006/relationships/oleObject" Target="../embeddings/oleObject8.bin"/><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11.wmf"/><Relationship Id="rId5" Type="http://schemas.openxmlformats.org/officeDocument/2006/relationships/image" Target="../media/image8.wmf"/><Relationship Id="rId15" Type="http://schemas.openxmlformats.org/officeDocument/2006/relationships/image" Target="../media/image13.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0.wmf"/><Relationship Id="rId1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3.png"/><Relationship Id="rId3" Type="http://schemas.openxmlformats.org/officeDocument/2006/relationships/image" Target="../media/image5.wmf"/><Relationship Id="rId7" Type="http://schemas.openxmlformats.org/officeDocument/2006/relationships/image" Target="../media/image15.wmf"/><Relationship Id="rId12"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6.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png"/><Relationship Id="rId3" Type="http://schemas.openxmlformats.org/officeDocument/2006/relationships/image" Target="../media/image18.wmf"/><Relationship Id="rId7" Type="http://schemas.openxmlformats.org/officeDocument/2006/relationships/image" Target="../media/image19.wmf"/><Relationship Id="rId12" Type="http://schemas.openxmlformats.org/officeDocument/2006/relationships/image" Target="../media/image2.png"/><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21.wmf"/><Relationship Id="rId5" Type="http://schemas.openxmlformats.org/officeDocument/2006/relationships/image" Target="../media/image16.wmf"/><Relationship Id="rId10" Type="http://schemas.openxmlformats.org/officeDocument/2006/relationships/oleObject" Target="../embeddings/oleObject17.bin"/><Relationship Id="rId4" Type="http://schemas.openxmlformats.org/officeDocument/2006/relationships/oleObject" Target="../embeddings/oleObject12.bin"/><Relationship Id="rId9" Type="http://schemas.openxmlformats.org/officeDocument/2006/relationships/image" Target="../media/image20.wmf"/></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oleObject" Target="../embeddings/oleObject20.bin"/><Relationship Id="rId5" Type="http://schemas.openxmlformats.org/officeDocument/2006/relationships/image" Target="../media/image23.wmf"/><Relationship Id="rId4" Type="http://schemas.openxmlformats.org/officeDocument/2006/relationships/oleObject" Target="../embeddings/oleObject19.bin"/><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7.wmf"/><Relationship Id="rId7" Type="http://schemas.openxmlformats.org/officeDocument/2006/relationships/image" Target="../media/image24.wmf"/><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oleObject" Target="../embeddings/oleObject20.bin"/><Relationship Id="rId5" Type="http://schemas.openxmlformats.org/officeDocument/2006/relationships/image" Target="../media/image25.wmf"/><Relationship Id="rId4" Type="http://schemas.openxmlformats.org/officeDocument/2006/relationships/oleObject" Target="../embeddings/oleObject21.bin"/><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2.wmf"/><Relationship Id="rId3" Type="http://schemas.openxmlformats.org/officeDocument/2006/relationships/image" Target="../media/image27.png"/><Relationship Id="rId7" Type="http://schemas.openxmlformats.org/officeDocument/2006/relationships/image" Target="../media/image3.png"/><Relationship Id="rId12" Type="http://schemas.openxmlformats.org/officeDocument/2006/relationships/oleObject" Target="../embeddings/oleObject24.bin"/><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31.wmf"/><Relationship Id="rId5" Type="http://schemas.openxmlformats.org/officeDocument/2006/relationships/image" Target="../media/image29.png"/><Relationship Id="rId10" Type="http://schemas.openxmlformats.org/officeDocument/2006/relationships/oleObject" Target="../embeddings/oleObject23.bin"/><Relationship Id="rId4" Type="http://schemas.openxmlformats.org/officeDocument/2006/relationships/image" Target="../media/image28.png"/><Relationship Id="rId9" Type="http://schemas.openxmlformats.org/officeDocument/2006/relationships/image" Target="../media/image30.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8.wmf"/><Relationship Id="rId18" Type="http://schemas.openxmlformats.org/officeDocument/2006/relationships/oleObject" Target="../embeddings/oleObject22.bin"/><Relationship Id="rId3" Type="http://schemas.openxmlformats.org/officeDocument/2006/relationships/image" Target="../media/image33.wmf"/><Relationship Id="rId21" Type="http://schemas.openxmlformats.org/officeDocument/2006/relationships/image" Target="../media/image3.png"/><Relationship Id="rId7" Type="http://schemas.openxmlformats.org/officeDocument/2006/relationships/image" Target="../media/image35.wmf"/><Relationship Id="rId12" Type="http://schemas.openxmlformats.org/officeDocument/2006/relationships/oleObject" Target="../embeddings/oleObject30.bin"/><Relationship Id="rId17" Type="http://schemas.openxmlformats.org/officeDocument/2006/relationships/image" Target="../media/image40.wmf"/><Relationship Id="rId2" Type="http://schemas.openxmlformats.org/officeDocument/2006/relationships/oleObject" Target="../embeddings/oleObject25.bin"/><Relationship Id="rId16" Type="http://schemas.openxmlformats.org/officeDocument/2006/relationships/oleObject" Target="../embeddings/oleObject32.bin"/><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37.wmf"/><Relationship Id="rId5" Type="http://schemas.openxmlformats.org/officeDocument/2006/relationships/image" Target="../media/image34.wmf"/><Relationship Id="rId15" Type="http://schemas.openxmlformats.org/officeDocument/2006/relationships/image" Target="../media/image39.wmf"/><Relationship Id="rId10" Type="http://schemas.openxmlformats.org/officeDocument/2006/relationships/oleObject" Target="../embeddings/oleObject29.bin"/><Relationship Id="rId19" Type="http://schemas.openxmlformats.org/officeDocument/2006/relationships/image" Target="../media/image30.wmf"/><Relationship Id="rId4" Type="http://schemas.openxmlformats.org/officeDocument/2006/relationships/oleObject" Target="../embeddings/oleObject26.bin"/><Relationship Id="rId9" Type="http://schemas.openxmlformats.org/officeDocument/2006/relationships/image" Target="../media/image36.wmf"/><Relationship Id="rId14" Type="http://schemas.openxmlformats.org/officeDocument/2006/relationships/oleObject" Target="../embeddings/oleObject31.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3.wmf"/><Relationship Id="rId12" Type="http://schemas.openxmlformats.org/officeDocument/2006/relationships/oleObject" Target="../embeddings/oleObject38.bin"/><Relationship Id="rId17" Type="http://schemas.openxmlformats.org/officeDocument/2006/relationships/image" Target="../media/image3.png"/><Relationship Id="rId2" Type="http://schemas.openxmlformats.org/officeDocument/2006/relationships/oleObject" Target="../embeddings/oleObject33.bin"/><Relationship Id="rId16"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35.bin"/><Relationship Id="rId11" Type="http://schemas.openxmlformats.org/officeDocument/2006/relationships/image" Target="../media/image45.wmf"/><Relationship Id="rId5" Type="http://schemas.openxmlformats.org/officeDocument/2006/relationships/image" Target="../media/image42.wmf"/><Relationship Id="rId15" Type="http://schemas.openxmlformats.org/officeDocument/2006/relationships/image" Target="../media/image30.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44.wmf"/><Relationship Id="rId14" Type="http://schemas.openxmlformats.org/officeDocument/2006/relationships/oleObject" Target="../embeddings/oleObject22.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51.wmf"/><Relationship Id="rId18" Type="http://schemas.openxmlformats.org/officeDocument/2006/relationships/oleObject" Target="../embeddings/oleObject22.bin"/><Relationship Id="rId3" Type="http://schemas.openxmlformats.org/officeDocument/2006/relationships/image" Target="../media/image47.wmf"/><Relationship Id="rId21" Type="http://schemas.openxmlformats.org/officeDocument/2006/relationships/image" Target="../media/image3.png"/><Relationship Id="rId7" Type="http://schemas.openxmlformats.org/officeDocument/2006/relationships/image" Target="../media/image48.wmf"/><Relationship Id="rId12" Type="http://schemas.openxmlformats.org/officeDocument/2006/relationships/oleObject" Target="../embeddings/oleObject43.bin"/><Relationship Id="rId17" Type="http://schemas.openxmlformats.org/officeDocument/2006/relationships/image" Target="../media/image53.wmf"/><Relationship Id="rId2" Type="http://schemas.openxmlformats.org/officeDocument/2006/relationships/oleObject" Target="../embeddings/oleObject39.bin"/><Relationship Id="rId16" Type="http://schemas.openxmlformats.org/officeDocument/2006/relationships/oleObject" Target="../embeddings/oleObject45.bin"/><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40.bin"/><Relationship Id="rId11" Type="http://schemas.openxmlformats.org/officeDocument/2006/relationships/image" Target="../media/image50.wmf"/><Relationship Id="rId5" Type="http://schemas.openxmlformats.org/officeDocument/2006/relationships/image" Target="../media/image38.wmf"/><Relationship Id="rId15" Type="http://schemas.openxmlformats.org/officeDocument/2006/relationships/image" Target="../media/image52.wmf"/><Relationship Id="rId10" Type="http://schemas.openxmlformats.org/officeDocument/2006/relationships/oleObject" Target="../embeddings/oleObject42.bin"/><Relationship Id="rId19" Type="http://schemas.openxmlformats.org/officeDocument/2006/relationships/image" Target="../media/image30.wmf"/><Relationship Id="rId4" Type="http://schemas.openxmlformats.org/officeDocument/2006/relationships/oleObject" Target="../embeddings/oleObject30.bin"/><Relationship Id="rId9" Type="http://schemas.openxmlformats.org/officeDocument/2006/relationships/image" Target="../media/image49.wmf"/><Relationship Id="rId14" Type="http://schemas.openxmlformats.org/officeDocument/2006/relationships/oleObject" Target="../embeddings/oleObject44.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45.wmf"/><Relationship Id="rId18" Type="http://schemas.openxmlformats.org/officeDocument/2006/relationships/oleObject" Target="../embeddings/oleObject51.bin"/><Relationship Id="rId3" Type="http://schemas.openxmlformats.org/officeDocument/2006/relationships/image" Target="../media/image30.wmf"/><Relationship Id="rId21" Type="http://schemas.openxmlformats.org/officeDocument/2006/relationships/image" Target="../media/image3.png"/><Relationship Id="rId7" Type="http://schemas.openxmlformats.org/officeDocument/2006/relationships/image" Target="../media/image55.wmf"/><Relationship Id="rId12" Type="http://schemas.openxmlformats.org/officeDocument/2006/relationships/oleObject" Target="../embeddings/oleObject37.bin"/><Relationship Id="rId17" Type="http://schemas.openxmlformats.org/officeDocument/2006/relationships/image" Target="../media/image58.wmf"/><Relationship Id="rId2" Type="http://schemas.openxmlformats.org/officeDocument/2006/relationships/oleObject" Target="../embeddings/oleObject22.bin"/><Relationship Id="rId16" Type="http://schemas.openxmlformats.org/officeDocument/2006/relationships/oleObject" Target="../embeddings/oleObject50.bin"/><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47.bin"/><Relationship Id="rId11" Type="http://schemas.openxmlformats.org/officeDocument/2006/relationships/image" Target="../media/image56.wmf"/><Relationship Id="rId5" Type="http://schemas.openxmlformats.org/officeDocument/2006/relationships/image" Target="../media/image54.wmf"/><Relationship Id="rId15" Type="http://schemas.openxmlformats.org/officeDocument/2006/relationships/image" Target="../media/image57.wmf"/><Relationship Id="rId10" Type="http://schemas.openxmlformats.org/officeDocument/2006/relationships/oleObject" Target="../embeddings/oleObject48.bin"/><Relationship Id="rId19" Type="http://schemas.openxmlformats.org/officeDocument/2006/relationships/image" Target="../media/image59.wmf"/><Relationship Id="rId4" Type="http://schemas.openxmlformats.org/officeDocument/2006/relationships/oleObject" Target="../embeddings/oleObject46.bin"/><Relationship Id="rId9" Type="http://schemas.openxmlformats.org/officeDocument/2006/relationships/image" Target="../media/image43.wmf"/><Relationship Id="rId14" Type="http://schemas.openxmlformats.org/officeDocument/2006/relationships/oleObject" Target="../embeddings/oleObject4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63.wmf"/><Relationship Id="rId18" Type="http://schemas.openxmlformats.org/officeDocument/2006/relationships/oleObject" Target="../embeddings/oleObject58.bin"/><Relationship Id="rId3" Type="http://schemas.openxmlformats.org/officeDocument/2006/relationships/image" Target="../media/image31.wmf"/><Relationship Id="rId21" Type="http://schemas.openxmlformats.org/officeDocument/2006/relationships/image" Target="../media/image67.wmf"/><Relationship Id="rId7" Type="http://schemas.openxmlformats.org/officeDocument/2006/relationships/image" Target="../media/image38.wmf"/><Relationship Id="rId12" Type="http://schemas.openxmlformats.org/officeDocument/2006/relationships/oleObject" Target="../embeddings/oleObject55.bin"/><Relationship Id="rId17" Type="http://schemas.openxmlformats.org/officeDocument/2006/relationships/image" Target="../media/image65.wmf"/><Relationship Id="rId2" Type="http://schemas.openxmlformats.org/officeDocument/2006/relationships/oleObject" Target="../embeddings/oleObject23.bin"/><Relationship Id="rId16" Type="http://schemas.openxmlformats.org/officeDocument/2006/relationships/oleObject" Target="../embeddings/oleObject57.bin"/><Relationship Id="rId20" Type="http://schemas.openxmlformats.org/officeDocument/2006/relationships/oleObject" Target="../embeddings/oleObject59.bin"/><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62.wmf"/><Relationship Id="rId5" Type="http://schemas.openxmlformats.org/officeDocument/2006/relationships/image" Target="../media/image60.wmf"/><Relationship Id="rId15" Type="http://schemas.openxmlformats.org/officeDocument/2006/relationships/image" Target="../media/image64.wmf"/><Relationship Id="rId23" Type="http://schemas.openxmlformats.org/officeDocument/2006/relationships/image" Target="../media/image3.png"/><Relationship Id="rId10" Type="http://schemas.openxmlformats.org/officeDocument/2006/relationships/oleObject" Target="../embeddings/oleObject54.bin"/><Relationship Id="rId19" Type="http://schemas.openxmlformats.org/officeDocument/2006/relationships/image" Target="../media/image66.wmf"/><Relationship Id="rId4" Type="http://schemas.openxmlformats.org/officeDocument/2006/relationships/oleObject" Target="../embeddings/oleObject52.bin"/><Relationship Id="rId9" Type="http://schemas.openxmlformats.org/officeDocument/2006/relationships/image" Target="../media/image61.wmf"/><Relationship Id="rId14" Type="http://schemas.openxmlformats.org/officeDocument/2006/relationships/oleObject" Target="../embeddings/oleObject56.bin"/><Relationship Id="rId22"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46.wmf"/><Relationship Id="rId18" Type="http://schemas.openxmlformats.org/officeDocument/2006/relationships/oleObject" Target="../embeddings/oleObject51.bin"/><Relationship Id="rId3" Type="http://schemas.openxmlformats.org/officeDocument/2006/relationships/image" Target="../media/image68.wmf"/><Relationship Id="rId21" Type="http://schemas.openxmlformats.org/officeDocument/2006/relationships/image" Target="../media/image72.wmf"/><Relationship Id="rId7" Type="http://schemas.openxmlformats.org/officeDocument/2006/relationships/image" Target="../media/image70.wmf"/><Relationship Id="rId12" Type="http://schemas.openxmlformats.org/officeDocument/2006/relationships/oleObject" Target="../embeddings/oleObject38.bin"/><Relationship Id="rId17" Type="http://schemas.openxmlformats.org/officeDocument/2006/relationships/image" Target="../media/image58.wmf"/><Relationship Id="rId25" Type="http://schemas.openxmlformats.org/officeDocument/2006/relationships/image" Target="../media/image3.png"/><Relationship Id="rId2" Type="http://schemas.openxmlformats.org/officeDocument/2006/relationships/oleObject" Target="../embeddings/oleObject60.bin"/><Relationship Id="rId16" Type="http://schemas.openxmlformats.org/officeDocument/2006/relationships/oleObject" Target="../embeddings/oleObject50.bin"/><Relationship Id="rId20"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62.bin"/><Relationship Id="rId11" Type="http://schemas.openxmlformats.org/officeDocument/2006/relationships/image" Target="../media/image45.wmf"/><Relationship Id="rId24" Type="http://schemas.openxmlformats.org/officeDocument/2006/relationships/image" Target="../media/image2.png"/><Relationship Id="rId5" Type="http://schemas.openxmlformats.org/officeDocument/2006/relationships/image" Target="../media/image69.wmf"/><Relationship Id="rId15" Type="http://schemas.openxmlformats.org/officeDocument/2006/relationships/image" Target="../media/image31.wmf"/><Relationship Id="rId23" Type="http://schemas.openxmlformats.org/officeDocument/2006/relationships/image" Target="../media/image73.wmf"/><Relationship Id="rId10" Type="http://schemas.openxmlformats.org/officeDocument/2006/relationships/oleObject" Target="../embeddings/oleObject37.bin"/><Relationship Id="rId19" Type="http://schemas.openxmlformats.org/officeDocument/2006/relationships/image" Target="../media/image59.wmf"/><Relationship Id="rId4" Type="http://schemas.openxmlformats.org/officeDocument/2006/relationships/oleObject" Target="../embeddings/oleObject61.bin"/><Relationship Id="rId9" Type="http://schemas.openxmlformats.org/officeDocument/2006/relationships/image" Target="../media/image71.wmf"/><Relationship Id="rId14" Type="http://schemas.openxmlformats.org/officeDocument/2006/relationships/oleObject" Target="../embeddings/oleObject23.bin"/><Relationship Id="rId22" Type="http://schemas.openxmlformats.org/officeDocument/2006/relationships/oleObject" Target="../embeddings/oleObject65.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77.wmf"/><Relationship Id="rId18" Type="http://schemas.openxmlformats.org/officeDocument/2006/relationships/oleObject" Target="../embeddings/oleObject72.bin"/><Relationship Id="rId3" Type="http://schemas.openxmlformats.org/officeDocument/2006/relationships/image" Target="../media/image74.wmf"/><Relationship Id="rId21" Type="http://schemas.openxmlformats.org/officeDocument/2006/relationships/image" Target="../media/image3.png"/><Relationship Id="rId7" Type="http://schemas.openxmlformats.org/officeDocument/2006/relationships/image" Target="../media/image75.wmf"/><Relationship Id="rId12" Type="http://schemas.openxmlformats.org/officeDocument/2006/relationships/oleObject" Target="../embeddings/oleObject69.bin"/><Relationship Id="rId17" Type="http://schemas.openxmlformats.org/officeDocument/2006/relationships/image" Target="../media/image79.wmf"/><Relationship Id="rId2" Type="http://schemas.openxmlformats.org/officeDocument/2006/relationships/oleObject" Target="../embeddings/oleObject66.bin"/><Relationship Id="rId16" Type="http://schemas.openxmlformats.org/officeDocument/2006/relationships/oleObject" Target="../embeddings/oleObject71.bin"/><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67.bin"/><Relationship Id="rId11" Type="http://schemas.openxmlformats.org/officeDocument/2006/relationships/image" Target="../media/image31.wmf"/><Relationship Id="rId5" Type="http://schemas.openxmlformats.org/officeDocument/2006/relationships/image" Target="../media/image38.wmf"/><Relationship Id="rId15" Type="http://schemas.openxmlformats.org/officeDocument/2006/relationships/image" Target="../media/image78.wmf"/><Relationship Id="rId10" Type="http://schemas.openxmlformats.org/officeDocument/2006/relationships/oleObject" Target="../embeddings/oleObject23.bin"/><Relationship Id="rId19" Type="http://schemas.openxmlformats.org/officeDocument/2006/relationships/image" Target="../media/image80.wmf"/><Relationship Id="rId4" Type="http://schemas.openxmlformats.org/officeDocument/2006/relationships/oleObject" Target="../embeddings/oleObject30.bin"/><Relationship Id="rId9" Type="http://schemas.openxmlformats.org/officeDocument/2006/relationships/image" Target="../media/image76.wmf"/><Relationship Id="rId14" Type="http://schemas.openxmlformats.org/officeDocument/2006/relationships/oleObject" Target="../embeddings/oleObject70.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image" Target="../media/image85.wmf"/><Relationship Id="rId18" Type="http://schemas.openxmlformats.org/officeDocument/2006/relationships/oleObject" Target="../embeddings/oleObject62.bin"/><Relationship Id="rId3" Type="http://schemas.openxmlformats.org/officeDocument/2006/relationships/image" Target="../media/image81.wmf"/><Relationship Id="rId21" Type="http://schemas.openxmlformats.org/officeDocument/2006/relationships/image" Target="../media/image72.wmf"/><Relationship Id="rId7" Type="http://schemas.openxmlformats.org/officeDocument/2006/relationships/image" Target="../media/image83.wmf"/><Relationship Id="rId12" Type="http://schemas.openxmlformats.org/officeDocument/2006/relationships/oleObject" Target="../embeddings/oleObject77.bin"/><Relationship Id="rId17" Type="http://schemas.openxmlformats.org/officeDocument/2006/relationships/image" Target="../media/image87.wmf"/><Relationship Id="rId2" Type="http://schemas.openxmlformats.org/officeDocument/2006/relationships/oleObject" Target="../embeddings/oleObject73.bin"/><Relationship Id="rId16" Type="http://schemas.openxmlformats.org/officeDocument/2006/relationships/oleObject" Target="../embeddings/oleObject79.bin"/><Relationship Id="rId20"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75.bin"/><Relationship Id="rId11" Type="http://schemas.openxmlformats.org/officeDocument/2006/relationships/image" Target="../media/image45.wmf"/><Relationship Id="rId5" Type="http://schemas.openxmlformats.org/officeDocument/2006/relationships/image" Target="../media/image82.wmf"/><Relationship Id="rId15" Type="http://schemas.openxmlformats.org/officeDocument/2006/relationships/image" Target="../media/image86.wmf"/><Relationship Id="rId23" Type="http://schemas.openxmlformats.org/officeDocument/2006/relationships/image" Target="../media/image3.png"/><Relationship Id="rId10" Type="http://schemas.openxmlformats.org/officeDocument/2006/relationships/oleObject" Target="../embeddings/oleObject37.bin"/><Relationship Id="rId19" Type="http://schemas.openxmlformats.org/officeDocument/2006/relationships/image" Target="../media/image70.wmf"/><Relationship Id="rId4" Type="http://schemas.openxmlformats.org/officeDocument/2006/relationships/oleObject" Target="../embeddings/oleObject74.bin"/><Relationship Id="rId9" Type="http://schemas.openxmlformats.org/officeDocument/2006/relationships/image" Target="../media/image84.wmf"/><Relationship Id="rId14" Type="http://schemas.openxmlformats.org/officeDocument/2006/relationships/oleObject" Target="../embeddings/oleObject78.bin"/><Relationship Id="rId22"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50.bin"/><Relationship Id="rId7" Type="http://schemas.openxmlformats.org/officeDocument/2006/relationships/image" Target="../media/image2.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72.wmf"/><Relationship Id="rId5" Type="http://schemas.openxmlformats.org/officeDocument/2006/relationships/oleObject" Target="../embeddings/oleObject64.bin"/><Relationship Id="rId4" Type="http://schemas.openxmlformats.org/officeDocument/2006/relationships/image" Target="../media/image58.wmf"/></Relationships>
</file>

<file path=ppt/slides/_rels/slide20.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85.bin"/><Relationship Id="rId18" Type="http://schemas.openxmlformats.org/officeDocument/2006/relationships/image" Target="../media/image3.png"/><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94.wmf"/><Relationship Id="rId17" Type="http://schemas.openxmlformats.org/officeDocument/2006/relationships/image" Target="../media/image2.png"/><Relationship Id="rId2" Type="http://schemas.openxmlformats.org/officeDocument/2006/relationships/image" Target="../media/image89.png"/><Relationship Id="rId16" Type="http://schemas.openxmlformats.org/officeDocument/2006/relationships/image" Target="../media/image96.wmf"/><Relationship Id="rId1" Type="http://schemas.openxmlformats.org/officeDocument/2006/relationships/slideLayout" Target="../slideLayouts/slideLayout7.xml"/><Relationship Id="rId6" Type="http://schemas.openxmlformats.org/officeDocument/2006/relationships/image" Target="../media/image91.wmf"/><Relationship Id="rId11" Type="http://schemas.openxmlformats.org/officeDocument/2006/relationships/oleObject" Target="../embeddings/oleObject84.bin"/><Relationship Id="rId5" Type="http://schemas.openxmlformats.org/officeDocument/2006/relationships/oleObject" Target="../embeddings/oleObject81.bin"/><Relationship Id="rId15" Type="http://schemas.openxmlformats.org/officeDocument/2006/relationships/oleObject" Target="../embeddings/oleObject86.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83.bin"/><Relationship Id="rId14" Type="http://schemas.openxmlformats.org/officeDocument/2006/relationships/image" Target="../media/image95.wmf"/></Relationships>
</file>

<file path=ppt/slides/_rels/slide21.xml.rels><?xml version="1.0" encoding="UTF-8" standalone="yes"?>
<Relationships xmlns="http://schemas.openxmlformats.org/package/2006/relationships"><Relationship Id="rId3" Type="http://schemas.openxmlformats.org/officeDocument/2006/relationships/image" Target="../media/image70.wmf"/><Relationship Id="rId7" Type="http://schemas.openxmlformats.org/officeDocument/2006/relationships/image" Target="../media/image3.png"/><Relationship Id="rId2" Type="http://schemas.openxmlformats.org/officeDocument/2006/relationships/oleObject" Target="../embeddings/oleObject62.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43.wmf"/><Relationship Id="rId4"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87.bin"/><Relationship Id="rId7" Type="http://schemas.openxmlformats.org/officeDocument/2006/relationships/image" Target="../media/image2.png"/><Relationship Id="rId2" Type="http://schemas.openxmlformats.org/officeDocument/2006/relationships/image" Target="../media/image97.emf"/><Relationship Id="rId1" Type="http://schemas.openxmlformats.org/officeDocument/2006/relationships/slideLayout" Target="../slideLayouts/slideLayout7.xml"/><Relationship Id="rId6" Type="http://schemas.openxmlformats.org/officeDocument/2006/relationships/image" Target="../media/image99.wmf"/><Relationship Id="rId5" Type="http://schemas.openxmlformats.org/officeDocument/2006/relationships/oleObject" Target="../embeddings/oleObject88.bin"/><Relationship Id="rId4" Type="http://schemas.openxmlformats.org/officeDocument/2006/relationships/image" Target="../media/image98.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104.wmf"/><Relationship Id="rId18" Type="http://schemas.openxmlformats.org/officeDocument/2006/relationships/oleObject" Target="../embeddings/oleObject96.bin"/><Relationship Id="rId3" Type="http://schemas.openxmlformats.org/officeDocument/2006/relationships/image" Target="../media/image3.png"/><Relationship Id="rId7" Type="http://schemas.openxmlformats.org/officeDocument/2006/relationships/image" Target="../media/image101.wmf"/><Relationship Id="rId12" Type="http://schemas.openxmlformats.org/officeDocument/2006/relationships/oleObject" Target="../embeddings/oleObject93.bin"/><Relationship Id="rId17" Type="http://schemas.openxmlformats.org/officeDocument/2006/relationships/image" Target="../media/image106.wmf"/><Relationship Id="rId2" Type="http://schemas.openxmlformats.org/officeDocument/2006/relationships/image" Target="../media/image2.png"/><Relationship Id="rId16" Type="http://schemas.openxmlformats.org/officeDocument/2006/relationships/oleObject" Target="../embeddings/oleObject95.bin"/><Relationship Id="rId1" Type="http://schemas.openxmlformats.org/officeDocument/2006/relationships/slideLayout" Target="../slideLayouts/slideLayout7.xml"/><Relationship Id="rId6" Type="http://schemas.openxmlformats.org/officeDocument/2006/relationships/oleObject" Target="../embeddings/oleObject90.bin"/><Relationship Id="rId11" Type="http://schemas.openxmlformats.org/officeDocument/2006/relationships/image" Target="../media/image103.wmf"/><Relationship Id="rId5" Type="http://schemas.openxmlformats.org/officeDocument/2006/relationships/image" Target="../media/image100.wmf"/><Relationship Id="rId15" Type="http://schemas.openxmlformats.org/officeDocument/2006/relationships/image" Target="../media/image105.wmf"/><Relationship Id="rId10" Type="http://schemas.openxmlformats.org/officeDocument/2006/relationships/oleObject" Target="../embeddings/oleObject92.bin"/><Relationship Id="rId19" Type="http://schemas.openxmlformats.org/officeDocument/2006/relationships/image" Target="../media/image107.wmf"/><Relationship Id="rId4" Type="http://schemas.openxmlformats.org/officeDocument/2006/relationships/oleObject" Target="../embeddings/oleObject89.bin"/><Relationship Id="rId9" Type="http://schemas.openxmlformats.org/officeDocument/2006/relationships/image" Target="../media/image102.wmf"/><Relationship Id="rId14" Type="http://schemas.openxmlformats.org/officeDocument/2006/relationships/oleObject" Target="../embeddings/oleObject94.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3.png"/><Relationship Id="rId3" Type="http://schemas.openxmlformats.org/officeDocument/2006/relationships/image" Target="../media/image108.wmf"/><Relationship Id="rId7" Type="http://schemas.openxmlformats.org/officeDocument/2006/relationships/image" Target="../media/image110.wmf"/><Relationship Id="rId12" Type="http://schemas.openxmlformats.org/officeDocument/2006/relationships/image" Target="../media/image2.png"/><Relationship Id="rId2" Type="http://schemas.openxmlformats.org/officeDocument/2006/relationships/oleObject" Target="../embeddings/oleObject97.bin"/><Relationship Id="rId1" Type="http://schemas.openxmlformats.org/officeDocument/2006/relationships/slideLayout" Target="../slideLayouts/slideLayout7.xml"/><Relationship Id="rId6" Type="http://schemas.openxmlformats.org/officeDocument/2006/relationships/oleObject" Target="../embeddings/oleObject99.bin"/><Relationship Id="rId11" Type="http://schemas.openxmlformats.org/officeDocument/2006/relationships/image" Target="../media/image112.wmf"/><Relationship Id="rId5" Type="http://schemas.openxmlformats.org/officeDocument/2006/relationships/image" Target="../media/image109.w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111.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18.wmf"/><Relationship Id="rId18" Type="http://schemas.openxmlformats.org/officeDocument/2006/relationships/oleObject" Target="../embeddings/oleObject110.bin"/><Relationship Id="rId26" Type="http://schemas.openxmlformats.org/officeDocument/2006/relationships/oleObject" Target="../embeddings/oleObject114.bin"/><Relationship Id="rId3" Type="http://schemas.openxmlformats.org/officeDocument/2006/relationships/image" Target="../media/image113.wmf"/><Relationship Id="rId21" Type="http://schemas.openxmlformats.org/officeDocument/2006/relationships/image" Target="../media/image122.wmf"/><Relationship Id="rId7" Type="http://schemas.openxmlformats.org/officeDocument/2006/relationships/image" Target="../media/image115.wmf"/><Relationship Id="rId12" Type="http://schemas.openxmlformats.org/officeDocument/2006/relationships/oleObject" Target="../embeddings/oleObject107.bin"/><Relationship Id="rId17" Type="http://schemas.openxmlformats.org/officeDocument/2006/relationships/image" Target="../media/image120.wmf"/><Relationship Id="rId25" Type="http://schemas.openxmlformats.org/officeDocument/2006/relationships/image" Target="../media/image124.wmf"/><Relationship Id="rId2" Type="http://schemas.openxmlformats.org/officeDocument/2006/relationships/oleObject" Target="../embeddings/oleObject102.bin"/><Relationship Id="rId16" Type="http://schemas.openxmlformats.org/officeDocument/2006/relationships/oleObject" Target="../embeddings/oleObject109.bin"/><Relationship Id="rId20" Type="http://schemas.openxmlformats.org/officeDocument/2006/relationships/oleObject" Target="../embeddings/oleObject111.bin"/><Relationship Id="rId29"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oleObject" Target="../embeddings/oleObject104.bin"/><Relationship Id="rId11" Type="http://schemas.openxmlformats.org/officeDocument/2006/relationships/image" Target="../media/image117.wmf"/><Relationship Id="rId24" Type="http://schemas.openxmlformats.org/officeDocument/2006/relationships/oleObject" Target="../embeddings/oleObject113.bin"/><Relationship Id="rId5" Type="http://schemas.openxmlformats.org/officeDocument/2006/relationships/image" Target="../media/image114.wmf"/><Relationship Id="rId15" Type="http://schemas.openxmlformats.org/officeDocument/2006/relationships/image" Target="../media/image119.wmf"/><Relationship Id="rId23" Type="http://schemas.openxmlformats.org/officeDocument/2006/relationships/image" Target="../media/image123.wmf"/><Relationship Id="rId28" Type="http://schemas.openxmlformats.org/officeDocument/2006/relationships/image" Target="../media/image2.png"/><Relationship Id="rId10" Type="http://schemas.openxmlformats.org/officeDocument/2006/relationships/oleObject" Target="../embeddings/oleObject106.bin"/><Relationship Id="rId19" Type="http://schemas.openxmlformats.org/officeDocument/2006/relationships/image" Target="../media/image121.wmf"/><Relationship Id="rId4" Type="http://schemas.openxmlformats.org/officeDocument/2006/relationships/oleObject" Target="../embeddings/oleObject103.bin"/><Relationship Id="rId9" Type="http://schemas.openxmlformats.org/officeDocument/2006/relationships/image" Target="../media/image116.wmf"/><Relationship Id="rId14" Type="http://schemas.openxmlformats.org/officeDocument/2006/relationships/oleObject" Target="../embeddings/oleObject108.bin"/><Relationship Id="rId22" Type="http://schemas.openxmlformats.org/officeDocument/2006/relationships/oleObject" Target="../embeddings/oleObject112.bin"/><Relationship Id="rId27" Type="http://schemas.openxmlformats.org/officeDocument/2006/relationships/image" Target="../media/image125.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28.wmf"/><Relationship Id="rId3" Type="http://schemas.openxmlformats.org/officeDocument/2006/relationships/image" Target="../media/image126.wmf"/><Relationship Id="rId7" Type="http://schemas.openxmlformats.org/officeDocument/2006/relationships/image" Target="../media/image121.wmf"/><Relationship Id="rId12" Type="http://schemas.openxmlformats.org/officeDocument/2006/relationships/oleObject" Target="../embeddings/oleObject117.bin"/><Relationship Id="rId17" Type="http://schemas.openxmlformats.org/officeDocument/2006/relationships/image" Target="../media/image3.png"/><Relationship Id="rId2" Type="http://schemas.openxmlformats.org/officeDocument/2006/relationships/oleObject" Target="../embeddings/oleObject115.bin"/><Relationship Id="rId16"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110.bin"/><Relationship Id="rId11" Type="http://schemas.openxmlformats.org/officeDocument/2006/relationships/image" Target="../media/image127.wmf"/><Relationship Id="rId5" Type="http://schemas.openxmlformats.org/officeDocument/2006/relationships/image" Target="../media/image113.wmf"/><Relationship Id="rId15" Type="http://schemas.openxmlformats.org/officeDocument/2006/relationships/image" Target="../media/image129.wmf"/><Relationship Id="rId10" Type="http://schemas.openxmlformats.org/officeDocument/2006/relationships/oleObject" Target="../embeddings/oleObject116.bin"/><Relationship Id="rId4" Type="http://schemas.openxmlformats.org/officeDocument/2006/relationships/oleObject" Target="../embeddings/oleObject102.bin"/><Relationship Id="rId9" Type="http://schemas.openxmlformats.org/officeDocument/2006/relationships/image" Target="../media/image122.wmf"/><Relationship Id="rId14" Type="http://schemas.openxmlformats.org/officeDocument/2006/relationships/oleObject" Target="../embeddings/oleObject11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image" Target="../media/image123.wmf"/><Relationship Id="rId3" Type="http://schemas.openxmlformats.org/officeDocument/2006/relationships/image" Target="../media/image126.wmf"/><Relationship Id="rId7" Type="http://schemas.openxmlformats.org/officeDocument/2006/relationships/image" Target="../media/image130.wmf"/><Relationship Id="rId12" Type="http://schemas.openxmlformats.org/officeDocument/2006/relationships/oleObject" Target="../embeddings/oleObject112.bin"/><Relationship Id="rId17" Type="http://schemas.openxmlformats.org/officeDocument/2006/relationships/image" Target="../media/image3.png"/><Relationship Id="rId2" Type="http://schemas.openxmlformats.org/officeDocument/2006/relationships/oleObject" Target="../embeddings/oleObject115.bin"/><Relationship Id="rId16"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119.bin"/><Relationship Id="rId11" Type="http://schemas.openxmlformats.org/officeDocument/2006/relationships/image" Target="../media/image121.wmf"/><Relationship Id="rId5" Type="http://schemas.openxmlformats.org/officeDocument/2006/relationships/image" Target="../media/image113.wmf"/><Relationship Id="rId15" Type="http://schemas.openxmlformats.org/officeDocument/2006/relationships/image" Target="../media/image132.wmf"/><Relationship Id="rId10" Type="http://schemas.openxmlformats.org/officeDocument/2006/relationships/oleObject" Target="../embeddings/oleObject110.bin"/><Relationship Id="rId4" Type="http://schemas.openxmlformats.org/officeDocument/2006/relationships/oleObject" Target="../embeddings/oleObject102.bin"/><Relationship Id="rId9" Type="http://schemas.openxmlformats.org/officeDocument/2006/relationships/image" Target="../media/image131.wmf"/><Relationship Id="rId14" Type="http://schemas.openxmlformats.org/officeDocument/2006/relationships/oleObject" Target="../embeddings/oleObject121.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136.wmf"/><Relationship Id="rId3" Type="http://schemas.openxmlformats.org/officeDocument/2006/relationships/image" Target="../media/image126.wmf"/><Relationship Id="rId7" Type="http://schemas.openxmlformats.org/officeDocument/2006/relationships/image" Target="../media/image133.wmf"/><Relationship Id="rId12" Type="http://schemas.openxmlformats.org/officeDocument/2006/relationships/oleObject" Target="../embeddings/oleObject125.bin"/><Relationship Id="rId2" Type="http://schemas.openxmlformats.org/officeDocument/2006/relationships/oleObject" Target="../embeddings/oleObject115.bin"/><Relationship Id="rId1" Type="http://schemas.openxmlformats.org/officeDocument/2006/relationships/slideLayout" Target="../slideLayouts/slideLayout7.xml"/><Relationship Id="rId6" Type="http://schemas.openxmlformats.org/officeDocument/2006/relationships/oleObject" Target="../embeddings/oleObject122.bin"/><Relationship Id="rId11" Type="http://schemas.openxmlformats.org/officeDocument/2006/relationships/image" Target="../media/image135.wmf"/><Relationship Id="rId5" Type="http://schemas.openxmlformats.org/officeDocument/2006/relationships/image" Target="../media/image113.wmf"/><Relationship Id="rId15" Type="http://schemas.openxmlformats.org/officeDocument/2006/relationships/image" Target="../media/image3.png"/><Relationship Id="rId10" Type="http://schemas.openxmlformats.org/officeDocument/2006/relationships/oleObject" Target="../embeddings/oleObject124.bin"/><Relationship Id="rId4" Type="http://schemas.openxmlformats.org/officeDocument/2006/relationships/oleObject" Target="../embeddings/oleObject102.bin"/><Relationship Id="rId9" Type="http://schemas.openxmlformats.org/officeDocument/2006/relationships/image" Target="../media/image134.wmf"/><Relationship Id="rId14"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image" Target="../media/image111.wmf"/><Relationship Id="rId7" Type="http://schemas.openxmlformats.org/officeDocument/2006/relationships/image" Target="../media/image109.wmf"/><Relationship Id="rId2" Type="http://schemas.openxmlformats.org/officeDocument/2006/relationships/oleObject" Target="../embeddings/oleObject100.bin"/><Relationship Id="rId1" Type="http://schemas.openxmlformats.org/officeDocument/2006/relationships/slideLayout" Target="../slideLayouts/slideLayout7.xml"/><Relationship Id="rId6" Type="http://schemas.openxmlformats.org/officeDocument/2006/relationships/oleObject" Target="../embeddings/oleObject98.bin"/><Relationship Id="rId11" Type="http://schemas.openxmlformats.org/officeDocument/2006/relationships/image" Target="../media/image3.png"/><Relationship Id="rId5" Type="http://schemas.openxmlformats.org/officeDocument/2006/relationships/image" Target="../media/image112.wmf"/><Relationship Id="rId10" Type="http://schemas.openxmlformats.org/officeDocument/2006/relationships/image" Target="../media/image2.png"/><Relationship Id="rId4" Type="http://schemas.openxmlformats.org/officeDocument/2006/relationships/oleObject" Target="../embeddings/oleObject101.bin"/><Relationship Id="rId9" Type="http://schemas.openxmlformats.org/officeDocument/2006/relationships/image" Target="../media/image110.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140.wmf"/><Relationship Id="rId18" Type="http://schemas.openxmlformats.org/officeDocument/2006/relationships/image" Target="../media/image142.wmf"/><Relationship Id="rId26" Type="http://schemas.openxmlformats.org/officeDocument/2006/relationships/image" Target="../media/image3.png"/><Relationship Id="rId21" Type="http://schemas.openxmlformats.org/officeDocument/2006/relationships/oleObject" Target="../embeddings/oleObject133.bin"/><Relationship Id="rId7" Type="http://schemas.openxmlformats.org/officeDocument/2006/relationships/image" Target="../media/image137.wmf"/><Relationship Id="rId12" Type="http://schemas.openxmlformats.org/officeDocument/2006/relationships/oleObject" Target="../embeddings/oleObject129.bin"/><Relationship Id="rId17" Type="http://schemas.openxmlformats.org/officeDocument/2006/relationships/oleObject" Target="../embeddings/oleObject131.bin"/><Relationship Id="rId25" Type="http://schemas.openxmlformats.org/officeDocument/2006/relationships/image" Target="../media/image2.png"/><Relationship Id="rId16" Type="http://schemas.openxmlformats.org/officeDocument/2006/relationships/image" Target="../media/image141.wmf"/><Relationship Id="rId20" Type="http://schemas.openxmlformats.org/officeDocument/2006/relationships/image" Target="../media/image143.wmf"/><Relationship Id="rId1" Type="http://schemas.openxmlformats.org/officeDocument/2006/relationships/slideLayout" Target="../slideLayouts/slideLayout7.xml"/><Relationship Id="rId6" Type="http://schemas.openxmlformats.org/officeDocument/2006/relationships/oleObject" Target="../embeddings/oleObject126.bin"/><Relationship Id="rId11" Type="http://schemas.openxmlformats.org/officeDocument/2006/relationships/image" Target="../media/image139.wmf"/><Relationship Id="rId24" Type="http://schemas.openxmlformats.org/officeDocument/2006/relationships/image" Target="../media/image145.wmf"/><Relationship Id="rId5" Type="http://schemas.openxmlformats.org/officeDocument/2006/relationships/image" Target="../media/image154.png"/><Relationship Id="rId15" Type="http://schemas.openxmlformats.org/officeDocument/2006/relationships/oleObject" Target="../embeddings/oleObject130.bin"/><Relationship Id="rId23" Type="http://schemas.openxmlformats.org/officeDocument/2006/relationships/oleObject" Target="../embeddings/oleObject134.bin"/><Relationship Id="rId10" Type="http://schemas.openxmlformats.org/officeDocument/2006/relationships/oleObject" Target="../embeddings/oleObject128.bin"/><Relationship Id="rId19" Type="http://schemas.openxmlformats.org/officeDocument/2006/relationships/oleObject" Target="../embeddings/oleObject132.bin"/><Relationship Id="rId9" Type="http://schemas.openxmlformats.org/officeDocument/2006/relationships/image" Target="../media/image138.wmf"/><Relationship Id="rId14" Type="http://schemas.openxmlformats.org/officeDocument/2006/relationships/image" Target="../media/image155.png"/><Relationship Id="rId22" Type="http://schemas.openxmlformats.org/officeDocument/2006/relationships/image" Target="../media/image144.wmf"/></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37.bin"/><Relationship Id="rId3" Type="http://schemas.openxmlformats.org/officeDocument/2006/relationships/image" Target="../media/image3.png"/><Relationship Id="rId7" Type="http://schemas.openxmlformats.org/officeDocument/2006/relationships/image" Target="../media/image147.w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136.bin"/><Relationship Id="rId5" Type="http://schemas.openxmlformats.org/officeDocument/2006/relationships/image" Target="../media/image146.wmf"/><Relationship Id="rId4" Type="http://schemas.openxmlformats.org/officeDocument/2006/relationships/oleObject" Target="../embeddings/oleObject135.bin"/><Relationship Id="rId9" Type="http://schemas.openxmlformats.org/officeDocument/2006/relationships/image" Target="../media/image148.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3.png"/><Relationship Id="rId3" Type="http://schemas.openxmlformats.org/officeDocument/2006/relationships/image" Target="../media/image149.wmf"/><Relationship Id="rId7" Type="http://schemas.openxmlformats.org/officeDocument/2006/relationships/image" Target="../media/image151.wmf"/><Relationship Id="rId12" Type="http://schemas.openxmlformats.org/officeDocument/2006/relationships/image" Target="../media/image2.png"/><Relationship Id="rId2" Type="http://schemas.openxmlformats.org/officeDocument/2006/relationships/oleObject" Target="../embeddings/oleObject138.bin"/><Relationship Id="rId1" Type="http://schemas.openxmlformats.org/officeDocument/2006/relationships/slideLayout" Target="../slideLayouts/slideLayout7.xml"/><Relationship Id="rId6" Type="http://schemas.openxmlformats.org/officeDocument/2006/relationships/oleObject" Target="../embeddings/oleObject140.bin"/><Relationship Id="rId11" Type="http://schemas.openxmlformats.org/officeDocument/2006/relationships/image" Target="../media/image153.wmf"/><Relationship Id="rId5" Type="http://schemas.openxmlformats.org/officeDocument/2006/relationships/image" Target="../media/image150.wmf"/><Relationship Id="rId10" Type="http://schemas.openxmlformats.org/officeDocument/2006/relationships/oleObject" Target="../embeddings/oleObject142.bin"/><Relationship Id="rId4" Type="http://schemas.openxmlformats.org/officeDocument/2006/relationships/oleObject" Target="../embeddings/oleObject139.bin"/><Relationship Id="rId9" Type="http://schemas.openxmlformats.org/officeDocument/2006/relationships/image" Target="../media/image152.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151.wmf"/><Relationship Id="rId18" Type="http://schemas.openxmlformats.org/officeDocument/2006/relationships/oleObject" Target="../embeddings/oleObject148.bin"/><Relationship Id="rId3" Type="http://schemas.openxmlformats.org/officeDocument/2006/relationships/image" Target="../media/image3.png"/><Relationship Id="rId7" Type="http://schemas.openxmlformats.org/officeDocument/2006/relationships/image" Target="../media/image155.wmf"/><Relationship Id="rId12" Type="http://schemas.openxmlformats.org/officeDocument/2006/relationships/oleObject" Target="../embeddings/oleObject140.bin"/><Relationship Id="rId17" Type="http://schemas.openxmlformats.org/officeDocument/2006/relationships/image" Target="../media/image158.wmf"/><Relationship Id="rId2" Type="http://schemas.openxmlformats.org/officeDocument/2006/relationships/image" Target="../media/image2.png"/><Relationship Id="rId16" Type="http://schemas.openxmlformats.org/officeDocument/2006/relationships/oleObject" Target="../embeddings/oleObject147.bin"/><Relationship Id="rId1" Type="http://schemas.openxmlformats.org/officeDocument/2006/relationships/slideLayout" Target="../slideLayouts/slideLayout7.xml"/><Relationship Id="rId6" Type="http://schemas.openxmlformats.org/officeDocument/2006/relationships/oleObject" Target="../embeddings/oleObject144.bin"/><Relationship Id="rId11" Type="http://schemas.openxmlformats.org/officeDocument/2006/relationships/image" Target="../media/image156.wmf"/><Relationship Id="rId5" Type="http://schemas.openxmlformats.org/officeDocument/2006/relationships/image" Target="../media/image154.wmf"/><Relationship Id="rId15" Type="http://schemas.openxmlformats.org/officeDocument/2006/relationships/image" Target="../media/image157.wmf"/><Relationship Id="rId10" Type="http://schemas.openxmlformats.org/officeDocument/2006/relationships/oleObject" Target="../embeddings/oleObject145.bin"/><Relationship Id="rId19" Type="http://schemas.openxmlformats.org/officeDocument/2006/relationships/image" Target="../media/image159.wmf"/><Relationship Id="rId4" Type="http://schemas.openxmlformats.org/officeDocument/2006/relationships/oleObject" Target="../embeddings/oleObject143.bin"/><Relationship Id="rId9" Type="http://schemas.openxmlformats.org/officeDocument/2006/relationships/image" Target="../media/image149.wmf"/><Relationship Id="rId14" Type="http://schemas.openxmlformats.org/officeDocument/2006/relationships/oleObject" Target="../embeddings/oleObject146.bin"/></Relationships>
</file>

<file path=ppt/slides/_rels/slide35.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153.bin"/><Relationship Id="rId18" Type="http://schemas.openxmlformats.org/officeDocument/2006/relationships/oleObject" Target="../embeddings/oleObject155.bin"/><Relationship Id="rId3" Type="http://schemas.openxmlformats.org/officeDocument/2006/relationships/oleObject" Target="../embeddings/oleObject149.bin"/><Relationship Id="rId21" Type="http://schemas.openxmlformats.org/officeDocument/2006/relationships/image" Target="../media/image3.png"/><Relationship Id="rId7" Type="http://schemas.openxmlformats.org/officeDocument/2006/relationships/oleObject" Target="../embeddings/oleObject24.bin"/><Relationship Id="rId12" Type="http://schemas.openxmlformats.org/officeDocument/2006/relationships/image" Target="../media/image164.wmf"/><Relationship Id="rId17" Type="http://schemas.openxmlformats.org/officeDocument/2006/relationships/image" Target="../media/image167.wmf"/><Relationship Id="rId2" Type="http://schemas.openxmlformats.org/officeDocument/2006/relationships/image" Target="../media/image160.emf"/><Relationship Id="rId16" Type="http://schemas.openxmlformats.org/officeDocument/2006/relationships/oleObject" Target="../embeddings/oleObject154.bin"/><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2.wmf"/><Relationship Id="rId11" Type="http://schemas.openxmlformats.org/officeDocument/2006/relationships/oleObject" Target="../embeddings/oleObject152.bin"/><Relationship Id="rId5" Type="http://schemas.openxmlformats.org/officeDocument/2006/relationships/oleObject" Target="../embeddings/oleObject150.bin"/><Relationship Id="rId15" Type="http://schemas.openxmlformats.org/officeDocument/2006/relationships/image" Target="../media/image166.emf"/><Relationship Id="rId10" Type="http://schemas.openxmlformats.org/officeDocument/2006/relationships/image" Target="../media/image163.wmf"/><Relationship Id="rId19" Type="http://schemas.openxmlformats.org/officeDocument/2006/relationships/image" Target="../media/image168.wmf"/><Relationship Id="rId4" Type="http://schemas.openxmlformats.org/officeDocument/2006/relationships/image" Target="../media/image161.wmf"/><Relationship Id="rId9" Type="http://schemas.openxmlformats.org/officeDocument/2006/relationships/oleObject" Target="../embeddings/oleObject151.bin"/><Relationship Id="rId14" Type="http://schemas.openxmlformats.org/officeDocument/2006/relationships/image" Target="../media/image165.emf"/></Relationships>
</file>

<file path=ppt/slides/_rels/slide36.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image" Target="../media/image2.png"/><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154.wmf"/><Relationship Id="rId2" Type="http://schemas.openxmlformats.org/officeDocument/2006/relationships/image" Target="../media/image169.png"/><Relationship Id="rId1" Type="http://schemas.openxmlformats.org/officeDocument/2006/relationships/slideLayout" Target="../slideLayouts/slideLayout7.xml"/><Relationship Id="rId6" Type="http://schemas.openxmlformats.org/officeDocument/2006/relationships/image" Target="../media/image171.wmf"/><Relationship Id="rId11" Type="http://schemas.openxmlformats.org/officeDocument/2006/relationships/oleObject" Target="../embeddings/oleObject143.bin"/><Relationship Id="rId5" Type="http://schemas.openxmlformats.org/officeDocument/2006/relationships/oleObject" Target="../embeddings/oleObject157.bin"/><Relationship Id="rId10" Type="http://schemas.openxmlformats.org/officeDocument/2006/relationships/image" Target="../media/image173.wmf"/><Relationship Id="rId4" Type="http://schemas.openxmlformats.org/officeDocument/2006/relationships/image" Target="../media/image170.wmf"/><Relationship Id="rId9" Type="http://schemas.openxmlformats.org/officeDocument/2006/relationships/oleObject" Target="../embeddings/oleObject159.bin"/><Relationship Id="rId14" Type="http://schemas.openxmlformats.org/officeDocument/2006/relationships/image" Target="../media/image3.png"/></Relationships>
</file>

<file path=ppt/slides/_rels/slide37.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64.bin"/><Relationship Id="rId3" Type="http://schemas.openxmlformats.org/officeDocument/2006/relationships/image" Target="../media/image174.wmf"/><Relationship Id="rId7" Type="http://schemas.openxmlformats.org/officeDocument/2006/relationships/oleObject" Target="../embeddings/oleObject152.bin"/><Relationship Id="rId12" Type="http://schemas.openxmlformats.org/officeDocument/2006/relationships/image" Target="../media/image178.wmf"/><Relationship Id="rId2" Type="http://schemas.openxmlformats.org/officeDocument/2006/relationships/oleObject" Target="../embeddings/oleObject160.bin"/><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6.wmf"/><Relationship Id="rId11" Type="http://schemas.openxmlformats.org/officeDocument/2006/relationships/oleObject" Target="../embeddings/oleObject163.bin"/><Relationship Id="rId5" Type="http://schemas.openxmlformats.org/officeDocument/2006/relationships/oleObject" Target="../embeddings/oleObject161.bin"/><Relationship Id="rId15" Type="http://schemas.openxmlformats.org/officeDocument/2006/relationships/image" Target="../media/image2.png"/><Relationship Id="rId10" Type="http://schemas.openxmlformats.org/officeDocument/2006/relationships/image" Target="../media/image177.wmf"/><Relationship Id="rId4" Type="http://schemas.openxmlformats.org/officeDocument/2006/relationships/image" Target="../media/image175.png"/><Relationship Id="rId9" Type="http://schemas.openxmlformats.org/officeDocument/2006/relationships/oleObject" Target="../embeddings/oleObject162.bin"/><Relationship Id="rId14" Type="http://schemas.openxmlformats.org/officeDocument/2006/relationships/image" Target="../media/image179.wmf"/></Relationships>
</file>

<file path=ppt/slides/_rels/slide3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80.wmf"/><Relationship Id="rId7" Type="http://schemas.openxmlformats.org/officeDocument/2006/relationships/image" Target="../media/image182.wmf"/><Relationship Id="rId2" Type="http://schemas.openxmlformats.org/officeDocument/2006/relationships/oleObject" Target="../embeddings/oleObject165.bin"/><Relationship Id="rId1" Type="http://schemas.openxmlformats.org/officeDocument/2006/relationships/slideLayout" Target="../slideLayouts/slideLayout7.xml"/><Relationship Id="rId6" Type="http://schemas.openxmlformats.org/officeDocument/2006/relationships/oleObject" Target="../embeddings/oleObject167.bin"/><Relationship Id="rId5" Type="http://schemas.openxmlformats.org/officeDocument/2006/relationships/image" Target="../media/image181.wmf"/><Relationship Id="rId4" Type="http://schemas.openxmlformats.org/officeDocument/2006/relationships/oleObject" Target="../embeddings/oleObject166.bin"/><Relationship Id="rId9"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186.wmf"/><Relationship Id="rId13" Type="http://schemas.openxmlformats.org/officeDocument/2006/relationships/oleObject" Target="../embeddings/oleObject173.bin"/><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188.wmf"/><Relationship Id="rId2" Type="http://schemas.openxmlformats.org/officeDocument/2006/relationships/image" Target="../media/image183.png"/><Relationship Id="rId16" Type="http://schemas.openxmlformats.org/officeDocument/2006/relationships/image" Target="../media/image190.wmf"/><Relationship Id="rId1" Type="http://schemas.openxmlformats.org/officeDocument/2006/relationships/slideLayout" Target="../slideLayouts/slideLayout18.xml"/><Relationship Id="rId6" Type="http://schemas.openxmlformats.org/officeDocument/2006/relationships/image" Target="../media/image185.wmf"/><Relationship Id="rId11" Type="http://schemas.openxmlformats.org/officeDocument/2006/relationships/oleObject" Target="../embeddings/oleObject172.bin"/><Relationship Id="rId5" Type="http://schemas.openxmlformats.org/officeDocument/2006/relationships/oleObject" Target="../embeddings/oleObject169.bin"/><Relationship Id="rId15" Type="http://schemas.openxmlformats.org/officeDocument/2006/relationships/oleObject" Target="../embeddings/oleObject174.bin"/><Relationship Id="rId10" Type="http://schemas.openxmlformats.org/officeDocument/2006/relationships/image" Target="../media/image187.wmf"/><Relationship Id="rId4" Type="http://schemas.openxmlformats.org/officeDocument/2006/relationships/image" Target="../media/image184.wmf"/><Relationship Id="rId9" Type="http://schemas.openxmlformats.org/officeDocument/2006/relationships/oleObject" Target="../embeddings/oleObject171.bin"/><Relationship Id="rId14" Type="http://schemas.openxmlformats.org/officeDocument/2006/relationships/image" Target="../media/image189.wmf"/></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3.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91.wmf"/><Relationship Id="rId7" Type="http://schemas.openxmlformats.org/officeDocument/2006/relationships/image" Target="../media/image3.png"/><Relationship Id="rId2" Type="http://schemas.openxmlformats.org/officeDocument/2006/relationships/oleObject" Target="../embeddings/oleObject175.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93.emf"/><Relationship Id="rId4" Type="http://schemas.openxmlformats.org/officeDocument/2006/relationships/image" Target="../media/image192.emf"/></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78.bin"/><Relationship Id="rId3" Type="http://schemas.openxmlformats.org/officeDocument/2006/relationships/image" Target="../media/image3.png"/><Relationship Id="rId7" Type="http://schemas.openxmlformats.org/officeDocument/2006/relationships/image" Target="../media/image195.w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177.bin"/><Relationship Id="rId11" Type="http://schemas.openxmlformats.org/officeDocument/2006/relationships/image" Target="../media/image197.wmf"/><Relationship Id="rId5" Type="http://schemas.openxmlformats.org/officeDocument/2006/relationships/image" Target="../media/image194.wmf"/><Relationship Id="rId10" Type="http://schemas.openxmlformats.org/officeDocument/2006/relationships/oleObject" Target="../embeddings/oleObject179.bin"/><Relationship Id="rId4" Type="http://schemas.openxmlformats.org/officeDocument/2006/relationships/oleObject" Target="../embeddings/oleObject176.bin"/><Relationship Id="rId9" Type="http://schemas.openxmlformats.org/officeDocument/2006/relationships/image" Target="../media/image196.wmf"/></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8.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80.bin"/><Relationship Id="rId2" Type="http://schemas.openxmlformats.org/officeDocument/2006/relationships/image" Target="../media/image19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200.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81.bin"/><Relationship Id="rId2" Type="http://schemas.openxmlformats.org/officeDocument/2006/relationships/image" Target="../media/image20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202.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85.bin"/><Relationship Id="rId13" Type="http://schemas.openxmlformats.org/officeDocument/2006/relationships/image" Target="../media/image3.png"/><Relationship Id="rId3" Type="http://schemas.openxmlformats.org/officeDocument/2006/relationships/image" Target="../media/image203.wmf"/><Relationship Id="rId7" Type="http://schemas.openxmlformats.org/officeDocument/2006/relationships/image" Target="../media/image204.wmf"/><Relationship Id="rId12" Type="http://schemas.openxmlformats.org/officeDocument/2006/relationships/image" Target="../media/image2.png"/><Relationship Id="rId2" Type="http://schemas.openxmlformats.org/officeDocument/2006/relationships/oleObject" Target="../embeddings/oleObject182.bin"/><Relationship Id="rId1" Type="http://schemas.openxmlformats.org/officeDocument/2006/relationships/slideLayout" Target="../slideLayouts/slideLayout7.xml"/><Relationship Id="rId6" Type="http://schemas.openxmlformats.org/officeDocument/2006/relationships/oleObject" Target="../embeddings/oleObject184.bin"/><Relationship Id="rId11" Type="http://schemas.openxmlformats.org/officeDocument/2006/relationships/image" Target="../media/image206.wmf"/><Relationship Id="rId5" Type="http://schemas.openxmlformats.org/officeDocument/2006/relationships/image" Target="../media/image196.wmf"/><Relationship Id="rId10" Type="http://schemas.openxmlformats.org/officeDocument/2006/relationships/oleObject" Target="../embeddings/oleObject186.bin"/><Relationship Id="rId4" Type="http://schemas.openxmlformats.org/officeDocument/2006/relationships/oleObject" Target="../embeddings/oleObject183.bin"/><Relationship Id="rId9" Type="http://schemas.openxmlformats.org/officeDocument/2006/relationships/image" Target="../media/image205.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89.bin"/><Relationship Id="rId3" Type="http://schemas.openxmlformats.org/officeDocument/2006/relationships/image" Target="../media/image207.wmf"/><Relationship Id="rId7" Type="http://schemas.openxmlformats.org/officeDocument/2006/relationships/image" Target="../media/image3.png"/><Relationship Id="rId2" Type="http://schemas.openxmlformats.org/officeDocument/2006/relationships/oleObject" Target="../embeddings/oleObject187.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08.wmf"/><Relationship Id="rId4" Type="http://schemas.openxmlformats.org/officeDocument/2006/relationships/oleObject" Target="../embeddings/oleObject188.bin"/><Relationship Id="rId9" Type="http://schemas.openxmlformats.org/officeDocument/2006/relationships/image" Target="../media/image209.wmf"/></Relationships>
</file>

<file path=ppt/slides/_rels/slide50.x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oleObject" Target="../embeddings/oleObject190.bin"/><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oleObject" Target="../embeddings/oleObject191.bin"/><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95.bin"/><Relationship Id="rId13" Type="http://schemas.openxmlformats.org/officeDocument/2006/relationships/image" Target="../media/image217.wmf"/><Relationship Id="rId18" Type="http://schemas.openxmlformats.org/officeDocument/2006/relationships/oleObject" Target="../embeddings/oleObject200.bin"/><Relationship Id="rId26" Type="http://schemas.openxmlformats.org/officeDocument/2006/relationships/image" Target="../media/image2.png"/><Relationship Id="rId3" Type="http://schemas.openxmlformats.org/officeDocument/2006/relationships/image" Target="../media/image212.wmf"/><Relationship Id="rId21" Type="http://schemas.openxmlformats.org/officeDocument/2006/relationships/image" Target="../media/image221.wmf"/><Relationship Id="rId7" Type="http://schemas.openxmlformats.org/officeDocument/2006/relationships/image" Target="../media/image214.wmf"/><Relationship Id="rId12" Type="http://schemas.openxmlformats.org/officeDocument/2006/relationships/oleObject" Target="../embeddings/oleObject197.bin"/><Relationship Id="rId17" Type="http://schemas.openxmlformats.org/officeDocument/2006/relationships/image" Target="../media/image219.wmf"/><Relationship Id="rId25" Type="http://schemas.openxmlformats.org/officeDocument/2006/relationships/image" Target="../media/image223.wmf"/><Relationship Id="rId2" Type="http://schemas.openxmlformats.org/officeDocument/2006/relationships/oleObject" Target="../embeddings/oleObject192.bin"/><Relationship Id="rId16" Type="http://schemas.openxmlformats.org/officeDocument/2006/relationships/oleObject" Target="../embeddings/oleObject199.bin"/><Relationship Id="rId20" Type="http://schemas.openxmlformats.org/officeDocument/2006/relationships/oleObject" Target="../embeddings/oleObject201.bin"/><Relationship Id="rId1" Type="http://schemas.openxmlformats.org/officeDocument/2006/relationships/slideLayout" Target="../slideLayouts/slideLayout7.xml"/><Relationship Id="rId6" Type="http://schemas.openxmlformats.org/officeDocument/2006/relationships/oleObject" Target="../embeddings/oleObject194.bin"/><Relationship Id="rId11" Type="http://schemas.openxmlformats.org/officeDocument/2006/relationships/image" Target="../media/image216.wmf"/><Relationship Id="rId24" Type="http://schemas.openxmlformats.org/officeDocument/2006/relationships/oleObject" Target="../embeddings/oleObject203.bin"/><Relationship Id="rId5" Type="http://schemas.openxmlformats.org/officeDocument/2006/relationships/image" Target="../media/image213.wmf"/><Relationship Id="rId15" Type="http://schemas.openxmlformats.org/officeDocument/2006/relationships/image" Target="../media/image218.wmf"/><Relationship Id="rId23" Type="http://schemas.openxmlformats.org/officeDocument/2006/relationships/image" Target="../media/image222.wmf"/><Relationship Id="rId10" Type="http://schemas.openxmlformats.org/officeDocument/2006/relationships/oleObject" Target="../embeddings/oleObject196.bin"/><Relationship Id="rId19" Type="http://schemas.openxmlformats.org/officeDocument/2006/relationships/image" Target="../media/image220.wmf"/><Relationship Id="rId4" Type="http://schemas.openxmlformats.org/officeDocument/2006/relationships/oleObject" Target="../embeddings/oleObject193.bin"/><Relationship Id="rId9" Type="http://schemas.openxmlformats.org/officeDocument/2006/relationships/image" Target="../media/image215.wmf"/><Relationship Id="rId14" Type="http://schemas.openxmlformats.org/officeDocument/2006/relationships/oleObject" Target="../embeddings/oleObject198.bin"/><Relationship Id="rId22" Type="http://schemas.openxmlformats.org/officeDocument/2006/relationships/oleObject" Target="../embeddings/oleObject202.bin"/><Relationship Id="rId27"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3.png"/></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06.bin"/><Relationship Id="rId3" Type="http://schemas.openxmlformats.org/officeDocument/2006/relationships/image" Target="../media/image3.png"/><Relationship Id="rId7" Type="http://schemas.openxmlformats.org/officeDocument/2006/relationships/image" Target="../media/image225.w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205.bin"/><Relationship Id="rId11" Type="http://schemas.openxmlformats.org/officeDocument/2006/relationships/image" Target="../media/image227.wmf"/><Relationship Id="rId5" Type="http://schemas.openxmlformats.org/officeDocument/2006/relationships/image" Target="../media/image224.wmf"/><Relationship Id="rId10" Type="http://schemas.openxmlformats.org/officeDocument/2006/relationships/oleObject" Target="../embeddings/oleObject207.bin"/><Relationship Id="rId4" Type="http://schemas.openxmlformats.org/officeDocument/2006/relationships/oleObject" Target="../embeddings/oleObject204.bin"/><Relationship Id="rId9" Type="http://schemas.openxmlformats.org/officeDocument/2006/relationships/image" Target="../media/image226.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11.bin"/><Relationship Id="rId3" Type="http://schemas.openxmlformats.org/officeDocument/2006/relationships/image" Target="../media/image228.wmf"/><Relationship Id="rId7" Type="http://schemas.openxmlformats.org/officeDocument/2006/relationships/image" Target="../media/image230.wmf"/><Relationship Id="rId2" Type="http://schemas.openxmlformats.org/officeDocument/2006/relationships/oleObject" Target="../embeddings/oleObject208.bin"/><Relationship Id="rId1" Type="http://schemas.openxmlformats.org/officeDocument/2006/relationships/slideLayout" Target="../slideLayouts/slideLayout7.xml"/><Relationship Id="rId6" Type="http://schemas.openxmlformats.org/officeDocument/2006/relationships/oleObject" Target="../embeddings/oleObject210.bin"/><Relationship Id="rId11" Type="http://schemas.openxmlformats.org/officeDocument/2006/relationships/image" Target="../media/image3.png"/><Relationship Id="rId5" Type="http://schemas.openxmlformats.org/officeDocument/2006/relationships/image" Target="../media/image229.wmf"/><Relationship Id="rId10" Type="http://schemas.openxmlformats.org/officeDocument/2006/relationships/image" Target="../media/image2.png"/><Relationship Id="rId4" Type="http://schemas.openxmlformats.org/officeDocument/2006/relationships/oleObject" Target="../embeddings/oleObject209.bin"/><Relationship Id="rId9" Type="http://schemas.openxmlformats.org/officeDocument/2006/relationships/image" Target="../media/image231.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12.bin"/><Relationship Id="rId2" Type="http://schemas.openxmlformats.org/officeDocument/2006/relationships/image" Target="../media/image232.emf"/><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233.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15.bin"/><Relationship Id="rId13" Type="http://schemas.openxmlformats.org/officeDocument/2006/relationships/image" Target="../media/image238.wmf"/><Relationship Id="rId18" Type="http://schemas.openxmlformats.org/officeDocument/2006/relationships/oleObject" Target="../embeddings/oleObject220.bin"/><Relationship Id="rId3" Type="http://schemas.openxmlformats.org/officeDocument/2006/relationships/image" Target="../media/image234.wmf"/><Relationship Id="rId21" Type="http://schemas.openxmlformats.org/officeDocument/2006/relationships/image" Target="../media/image3.png"/><Relationship Id="rId7" Type="http://schemas.openxmlformats.org/officeDocument/2006/relationships/image" Target="../media/image235.wmf"/><Relationship Id="rId12" Type="http://schemas.openxmlformats.org/officeDocument/2006/relationships/oleObject" Target="../embeddings/oleObject217.bin"/><Relationship Id="rId17" Type="http://schemas.openxmlformats.org/officeDocument/2006/relationships/image" Target="../media/image240.wmf"/><Relationship Id="rId2" Type="http://schemas.openxmlformats.org/officeDocument/2006/relationships/oleObject" Target="../embeddings/oleObject213.bin"/><Relationship Id="rId16" Type="http://schemas.openxmlformats.org/officeDocument/2006/relationships/oleObject" Target="../embeddings/oleObject219.bin"/><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214.bin"/><Relationship Id="rId11" Type="http://schemas.openxmlformats.org/officeDocument/2006/relationships/image" Target="../media/image237.wmf"/><Relationship Id="rId5" Type="http://schemas.openxmlformats.org/officeDocument/2006/relationships/image" Target="../media/image45.wmf"/><Relationship Id="rId15" Type="http://schemas.openxmlformats.org/officeDocument/2006/relationships/image" Target="../media/image239.wmf"/><Relationship Id="rId10" Type="http://schemas.openxmlformats.org/officeDocument/2006/relationships/oleObject" Target="../embeddings/oleObject216.bin"/><Relationship Id="rId19" Type="http://schemas.openxmlformats.org/officeDocument/2006/relationships/image" Target="../media/image241.wmf"/><Relationship Id="rId4" Type="http://schemas.openxmlformats.org/officeDocument/2006/relationships/oleObject" Target="../embeddings/oleObject37.bin"/><Relationship Id="rId9" Type="http://schemas.openxmlformats.org/officeDocument/2006/relationships/image" Target="../media/image236.wmf"/><Relationship Id="rId14" Type="http://schemas.openxmlformats.org/officeDocument/2006/relationships/oleObject" Target="../embeddings/oleObject218.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21.bin"/><Relationship Id="rId13" Type="http://schemas.openxmlformats.org/officeDocument/2006/relationships/image" Target="../media/image239.wmf"/><Relationship Id="rId18" Type="http://schemas.openxmlformats.org/officeDocument/2006/relationships/image" Target="../media/image2.png"/><Relationship Id="rId3" Type="http://schemas.openxmlformats.org/officeDocument/2006/relationships/image" Target="../media/image234.wmf"/><Relationship Id="rId7" Type="http://schemas.openxmlformats.org/officeDocument/2006/relationships/image" Target="../media/image235.wmf"/><Relationship Id="rId12" Type="http://schemas.openxmlformats.org/officeDocument/2006/relationships/oleObject" Target="../embeddings/oleObject218.bin"/><Relationship Id="rId17" Type="http://schemas.openxmlformats.org/officeDocument/2006/relationships/image" Target="../media/image237.wmf"/><Relationship Id="rId2" Type="http://schemas.openxmlformats.org/officeDocument/2006/relationships/oleObject" Target="../embeddings/oleObject213.bin"/><Relationship Id="rId16" Type="http://schemas.openxmlformats.org/officeDocument/2006/relationships/oleObject" Target="../embeddings/oleObject216.bin"/><Relationship Id="rId1" Type="http://schemas.openxmlformats.org/officeDocument/2006/relationships/slideLayout" Target="../slideLayouts/slideLayout7.xml"/><Relationship Id="rId6" Type="http://schemas.openxmlformats.org/officeDocument/2006/relationships/oleObject" Target="../embeddings/oleObject214.bin"/><Relationship Id="rId11" Type="http://schemas.openxmlformats.org/officeDocument/2006/relationships/image" Target="../media/image243.wmf"/><Relationship Id="rId5" Type="http://schemas.openxmlformats.org/officeDocument/2006/relationships/image" Target="../media/image45.wmf"/><Relationship Id="rId15" Type="http://schemas.openxmlformats.org/officeDocument/2006/relationships/image" Target="../media/image241.wmf"/><Relationship Id="rId10" Type="http://schemas.openxmlformats.org/officeDocument/2006/relationships/oleObject" Target="../embeddings/oleObject222.bin"/><Relationship Id="rId19" Type="http://schemas.openxmlformats.org/officeDocument/2006/relationships/image" Target="../media/image3.png"/><Relationship Id="rId4" Type="http://schemas.openxmlformats.org/officeDocument/2006/relationships/oleObject" Target="../embeddings/oleObject37.bin"/><Relationship Id="rId9" Type="http://schemas.openxmlformats.org/officeDocument/2006/relationships/image" Target="../media/image242.wmf"/><Relationship Id="rId14" Type="http://schemas.openxmlformats.org/officeDocument/2006/relationships/oleObject" Target="../embeddings/oleObject220.bin"/></Relationships>
</file>

<file path=ppt/slides/_rels/slide59.x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oleObject" Target="../embeddings/oleObject223.bin"/><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20.bin"/><Relationship Id="rId3" Type="http://schemas.openxmlformats.org/officeDocument/2006/relationships/image" Target="../media/image245.wmf"/><Relationship Id="rId7" Type="http://schemas.openxmlformats.org/officeDocument/2006/relationships/image" Target="../media/image240.wmf"/><Relationship Id="rId2" Type="http://schemas.openxmlformats.org/officeDocument/2006/relationships/oleObject" Target="../embeddings/oleObject224.bin"/><Relationship Id="rId1" Type="http://schemas.openxmlformats.org/officeDocument/2006/relationships/slideLayout" Target="../slideLayouts/slideLayout7.xml"/><Relationship Id="rId6" Type="http://schemas.openxmlformats.org/officeDocument/2006/relationships/oleObject" Target="../embeddings/oleObject219.bin"/><Relationship Id="rId11" Type="http://schemas.openxmlformats.org/officeDocument/2006/relationships/image" Target="../media/image3.png"/><Relationship Id="rId5" Type="http://schemas.openxmlformats.org/officeDocument/2006/relationships/image" Target="../media/image246.wmf"/><Relationship Id="rId10" Type="http://schemas.openxmlformats.org/officeDocument/2006/relationships/image" Target="../media/image2.png"/><Relationship Id="rId4" Type="http://schemas.openxmlformats.org/officeDocument/2006/relationships/oleObject" Target="../embeddings/oleObject225.bin"/><Relationship Id="rId9" Type="http://schemas.openxmlformats.org/officeDocument/2006/relationships/image" Target="../media/image241.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29.bin"/><Relationship Id="rId13" Type="http://schemas.openxmlformats.org/officeDocument/2006/relationships/image" Target="../media/image252.wmf"/><Relationship Id="rId3" Type="http://schemas.openxmlformats.org/officeDocument/2006/relationships/image" Target="../media/image247.png"/><Relationship Id="rId7" Type="http://schemas.openxmlformats.org/officeDocument/2006/relationships/image" Target="../media/image249.wmf"/><Relationship Id="rId12" Type="http://schemas.openxmlformats.org/officeDocument/2006/relationships/oleObject" Target="../embeddings/oleObject231.bin"/><Relationship Id="rId17" Type="http://schemas.openxmlformats.org/officeDocument/2006/relationships/image" Target="../media/image3.png"/><Relationship Id="rId2" Type="http://schemas.openxmlformats.org/officeDocument/2006/relationships/oleObject" Target="../embeddings/oleObject226.bin"/><Relationship Id="rId16"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228.bin"/><Relationship Id="rId11" Type="http://schemas.openxmlformats.org/officeDocument/2006/relationships/image" Target="../media/image251.wmf"/><Relationship Id="rId5" Type="http://schemas.openxmlformats.org/officeDocument/2006/relationships/image" Target="../media/image248.wmf"/><Relationship Id="rId15" Type="http://schemas.openxmlformats.org/officeDocument/2006/relationships/image" Target="../media/image253.wmf"/><Relationship Id="rId10" Type="http://schemas.openxmlformats.org/officeDocument/2006/relationships/oleObject" Target="../embeddings/oleObject230.bin"/><Relationship Id="rId4" Type="http://schemas.openxmlformats.org/officeDocument/2006/relationships/oleObject" Target="../embeddings/oleObject227.bin"/><Relationship Id="rId9" Type="http://schemas.openxmlformats.org/officeDocument/2006/relationships/image" Target="../media/image250.wmf"/><Relationship Id="rId14" Type="http://schemas.openxmlformats.org/officeDocument/2006/relationships/oleObject" Target="../embeddings/oleObject232.bin"/></Relationships>
</file>

<file path=ppt/slides/_rels/slide62.xml.rels><?xml version="1.0" encoding="UTF-8" standalone="yes"?>
<Relationships xmlns="http://schemas.openxmlformats.org/package/2006/relationships"><Relationship Id="rId3" Type="http://schemas.openxmlformats.org/officeDocument/2006/relationships/image" Target="../media/image255.png"/><Relationship Id="rId7" Type="http://schemas.openxmlformats.org/officeDocument/2006/relationships/image" Target="../media/image259.png"/><Relationship Id="rId2" Type="http://schemas.openxmlformats.org/officeDocument/2006/relationships/image" Target="../media/image254.emf"/><Relationship Id="rId1" Type="http://schemas.openxmlformats.org/officeDocument/2006/relationships/slideLayout" Target="../slideLayouts/slideLayout18.xml"/><Relationship Id="rId6" Type="http://schemas.openxmlformats.org/officeDocument/2006/relationships/image" Target="../media/image258.emf"/><Relationship Id="rId5" Type="http://schemas.openxmlformats.org/officeDocument/2006/relationships/image" Target="../media/image257.png"/><Relationship Id="rId4" Type="http://schemas.openxmlformats.org/officeDocument/2006/relationships/image" Target="../media/image256.emf"/></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0.e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36.bin"/><Relationship Id="rId3" Type="http://schemas.openxmlformats.org/officeDocument/2006/relationships/image" Target="../media/image261.wmf"/><Relationship Id="rId7" Type="http://schemas.openxmlformats.org/officeDocument/2006/relationships/image" Target="../media/image263.wmf"/><Relationship Id="rId2" Type="http://schemas.openxmlformats.org/officeDocument/2006/relationships/oleObject" Target="../embeddings/oleObject233.bin"/><Relationship Id="rId1" Type="http://schemas.openxmlformats.org/officeDocument/2006/relationships/slideLayout" Target="../slideLayouts/slideLayout18.xml"/><Relationship Id="rId6" Type="http://schemas.openxmlformats.org/officeDocument/2006/relationships/oleObject" Target="../embeddings/oleObject235.bin"/><Relationship Id="rId5" Type="http://schemas.openxmlformats.org/officeDocument/2006/relationships/image" Target="../media/image262.wmf"/><Relationship Id="rId4" Type="http://schemas.openxmlformats.org/officeDocument/2006/relationships/oleObject" Target="../embeddings/oleObject234.bin"/><Relationship Id="rId9" Type="http://schemas.openxmlformats.org/officeDocument/2006/relationships/image" Target="../media/image264.wmf"/></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40.bin"/><Relationship Id="rId13" Type="http://schemas.openxmlformats.org/officeDocument/2006/relationships/image" Target="../media/image270.wmf"/><Relationship Id="rId18" Type="http://schemas.openxmlformats.org/officeDocument/2006/relationships/image" Target="../media/image273.wmf"/><Relationship Id="rId3" Type="http://schemas.openxmlformats.org/officeDocument/2006/relationships/image" Target="../media/image265.wmf"/><Relationship Id="rId21" Type="http://schemas.openxmlformats.org/officeDocument/2006/relationships/oleObject" Target="../embeddings/oleObject246.bin"/><Relationship Id="rId7" Type="http://schemas.openxmlformats.org/officeDocument/2006/relationships/image" Target="../media/image267.wmf"/><Relationship Id="rId12" Type="http://schemas.openxmlformats.org/officeDocument/2006/relationships/oleObject" Target="../embeddings/oleObject242.bin"/><Relationship Id="rId17" Type="http://schemas.openxmlformats.org/officeDocument/2006/relationships/oleObject" Target="../embeddings/oleObject244.bin"/><Relationship Id="rId2" Type="http://schemas.openxmlformats.org/officeDocument/2006/relationships/oleObject" Target="../embeddings/oleObject237.bin"/><Relationship Id="rId16" Type="http://schemas.openxmlformats.org/officeDocument/2006/relationships/image" Target="../media/image272.png"/><Relationship Id="rId20" Type="http://schemas.openxmlformats.org/officeDocument/2006/relationships/image" Target="../media/image274.wmf"/><Relationship Id="rId1" Type="http://schemas.openxmlformats.org/officeDocument/2006/relationships/slideLayout" Target="../slideLayouts/slideLayout18.xml"/><Relationship Id="rId6" Type="http://schemas.openxmlformats.org/officeDocument/2006/relationships/oleObject" Target="../embeddings/oleObject239.bin"/><Relationship Id="rId11" Type="http://schemas.openxmlformats.org/officeDocument/2006/relationships/image" Target="../media/image269.wmf"/><Relationship Id="rId5" Type="http://schemas.openxmlformats.org/officeDocument/2006/relationships/image" Target="../media/image266.wmf"/><Relationship Id="rId15" Type="http://schemas.openxmlformats.org/officeDocument/2006/relationships/image" Target="../media/image271.wmf"/><Relationship Id="rId10" Type="http://schemas.openxmlformats.org/officeDocument/2006/relationships/oleObject" Target="../embeddings/oleObject241.bin"/><Relationship Id="rId19" Type="http://schemas.openxmlformats.org/officeDocument/2006/relationships/oleObject" Target="../embeddings/oleObject245.bin"/><Relationship Id="rId4" Type="http://schemas.openxmlformats.org/officeDocument/2006/relationships/oleObject" Target="../embeddings/oleObject238.bin"/><Relationship Id="rId9" Type="http://schemas.openxmlformats.org/officeDocument/2006/relationships/image" Target="../media/image268.wmf"/><Relationship Id="rId14" Type="http://schemas.openxmlformats.org/officeDocument/2006/relationships/oleObject" Target="../embeddings/oleObject243.bin"/><Relationship Id="rId22" Type="http://schemas.openxmlformats.org/officeDocument/2006/relationships/image" Target="../media/image275.wmf"/></Relationships>
</file>

<file path=ppt/slides/_rels/slide68.xml.rels><?xml version="1.0" encoding="UTF-8" standalone="yes"?>
<Relationships xmlns="http://schemas.openxmlformats.org/package/2006/relationships"><Relationship Id="rId3" Type="http://schemas.openxmlformats.org/officeDocument/2006/relationships/image" Target="../media/image276.wmf"/><Relationship Id="rId7" Type="http://schemas.openxmlformats.org/officeDocument/2006/relationships/image" Target="../media/image278.wmf"/><Relationship Id="rId2" Type="http://schemas.openxmlformats.org/officeDocument/2006/relationships/oleObject" Target="../embeddings/oleObject247.bin"/><Relationship Id="rId1" Type="http://schemas.openxmlformats.org/officeDocument/2006/relationships/slideLayout" Target="../slideLayouts/slideLayout18.xml"/><Relationship Id="rId6" Type="http://schemas.openxmlformats.org/officeDocument/2006/relationships/oleObject" Target="../embeddings/oleObject249.bin"/><Relationship Id="rId5" Type="http://schemas.openxmlformats.org/officeDocument/2006/relationships/image" Target="../media/image277.wmf"/><Relationship Id="rId4" Type="http://schemas.openxmlformats.org/officeDocument/2006/relationships/oleObject" Target="../embeddings/oleObject248.bin"/></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279.wmf"/><Relationship Id="rId7" Type="http://schemas.openxmlformats.org/officeDocument/2006/relationships/image" Target="../media/image280.wmf"/><Relationship Id="rId2" Type="http://schemas.openxmlformats.org/officeDocument/2006/relationships/oleObject" Target="../embeddings/oleObject250.bin"/><Relationship Id="rId1" Type="http://schemas.openxmlformats.org/officeDocument/2006/relationships/slideLayout" Target="../slideLayouts/slideLayout18.xml"/><Relationship Id="rId6" Type="http://schemas.openxmlformats.org/officeDocument/2006/relationships/oleObject" Target="../embeddings/oleObject251.bin"/><Relationship Id="rId5" Type="http://schemas.openxmlformats.org/officeDocument/2006/relationships/image" Target="../media/image154.wmf"/><Relationship Id="rId4" Type="http://schemas.openxmlformats.org/officeDocument/2006/relationships/oleObject" Target="../embeddings/oleObject14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020961" y="2362200"/>
            <a:ext cx="7583487" cy="4284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Blip>
                <a:blip r:embed="rId3"/>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4"/>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eaLnBrk="1" hangingPunct="1">
              <a:lnSpc>
                <a:spcPct val="125000"/>
              </a:lnSpc>
              <a:defRPr/>
            </a:pPr>
            <a:r>
              <a:rPr lang="en-US" altLang="zh-CN" b="1" dirty="0">
                <a:solidFill>
                  <a:srgbClr val="000000"/>
                </a:solidFill>
                <a:latin typeface="Times New Roman"/>
              </a:rPr>
              <a:t>5.1  </a:t>
            </a:r>
            <a:r>
              <a:rPr lang="zh-CN" altLang="en-US" b="1" dirty="0">
                <a:solidFill>
                  <a:srgbClr val="000000"/>
                </a:solidFill>
                <a:latin typeface="Times New Roman"/>
              </a:rPr>
              <a:t>线性相位</a:t>
            </a:r>
            <a:r>
              <a:rPr lang="en-US" altLang="zh-CN" b="1" dirty="0">
                <a:solidFill>
                  <a:srgbClr val="000000"/>
                </a:solidFill>
                <a:latin typeface="Times New Roman"/>
              </a:rPr>
              <a:t>FIR</a:t>
            </a:r>
            <a:r>
              <a:rPr lang="zh-CN" altLang="en-US" b="1" dirty="0">
                <a:solidFill>
                  <a:srgbClr val="000000"/>
                </a:solidFill>
                <a:latin typeface="Times New Roman"/>
              </a:rPr>
              <a:t>滤波器的特点</a:t>
            </a:r>
          </a:p>
          <a:p>
            <a:pPr lvl="0" eaLnBrk="1" hangingPunct="1">
              <a:lnSpc>
                <a:spcPct val="125000"/>
              </a:lnSpc>
              <a:defRPr/>
            </a:pPr>
            <a:r>
              <a:rPr lang="en-US" altLang="zh-CN" b="1" dirty="0">
                <a:solidFill>
                  <a:srgbClr val="000000"/>
                </a:solidFill>
                <a:latin typeface="Times New Roman"/>
              </a:rPr>
              <a:t>5.2  </a:t>
            </a:r>
            <a:r>
              <a:rPr lang="zh-CN" altLang="en-US" b="1" dirty="0">
                <a:solidFill>
                  <a:srgbClr val="000000"/>
                </a:solidFill>
                <a:latin typeface="Times New Roman"/>
              </a:rPr>
              <a:t>窗函数设计法</a:t>
            </a:r>
            <a:r>
              <a:rPr lang="en-US" altLang="zh-CN" b="1" dirty="0">
                <a:solidFill>
                  <a:srgbClr val="000000"/>
                </a:solidFill>
                <a:latin typeface="Times New Roman"/>
              </a:rPr>
              <a:t>(</a:t>
            </a:r>
            <a:r>
              <a:rPr lang="zh-CN" altLang="en-US" b="1" dirty="0">
                <a:solidFill>
                  <a:srgbClr val="000000"/>
                </a:solidFill>
                <a:latin typeface="Times New Roman"/>
              </a:rPr>
              <a:t>窗口设计法</a:t>
            </a:r>
            <a:r>
              <a:rPr lang="en-US" altLang="zh-CN" b="1" dirty="0">
                <a:solidFill>
                  <a:srgbClr val="000000"/>
                </a:solidFill>
                <a:latin typeface="Times New Roman"/>
              </a:rPr>
              <a:t>)</a:t>
            </a:r>
          </a:p>
          <a:p>
            <a:pPr lvl="0" eaLnBrk="1" hangingPunct="1">
              <a:lnSpc>
                <a:spcPct val="125000"/>
              </a:lnSpc>
              <a:defRPr/>
            </a:pPr>
            <a:r>
              <a:rPr lang="en-US" altLang="zh-CN" b="1" dirty="0">
                <a:solidFill>
                  <a:srgbClr val="000000"/>
                </a:solidFill>
                <a:latin typeface="Times New Roman"/>
              </a:rPr>
              <a:t>5.3  </a:t>
            </a:r>
            <a:r>
              <a:rPr lang="zh-CN" altLang="en-US" b="1" dirty="0">
                <a:solidFill>
                  <a:srgbClr val="000000"/>
                </a:solidFill>
                <a:latin typeface="Times New Roman"/>
              </a:rPr>
              <a:t>频率采样设计法</a:t>
            </a:r>
          </a:p>
          <a:p>
            <a:pPr lvl="0" eaLnBrk="1" hangingPunct="1">
              <a:lnSpc>
                <a:spcPct val="125000"/>
              </a:lnSpc>
              <a:defRPr/>
            </a:pPr>
            <a:r>
              <a:rPr lang="en-US" altLang="zh-CN" b="1" dirty="0">
                <a:solidFill>
                  <a:srgbClr val="000000"/>
                </a:solidFill>
                <a:latin typeface="Times New Roman"/>
              </a:rPr>
              <a:t>5.5  IIR</a:t>
            </a:r>
            <a:r>
              <a:rPr lang="zh-CN" altLang="en-US" b="1" dirty="0">
                <a:solidFill>
                  <a:srgbClr val="000000"/>
                </a:solidFill>
                <a:latin typeface="Times New Roman"/>
              </a:rPr>
              <a:t>与</a:t>
            </a:r>
            <a:r>
              <a:rPr lang="en-US" altLang="zh-CN" b="1" dirty="0">
                <a:solidFill>
                  <a:srgbClr val="000000"/>
                </a:solidFill>
                <a:latin typeface="Times New Roman"/>
              </a:rPr>
              <a:t>FIR</a:t>
            </a:r>
            <a:r>
              <a:rPr lang="zh-CN" altLang="en-US" b="1" dirty="0">
                <a:solidFill>
                  <a:srgbClr val="000000"/>
                </a:solidFill>
                <a:latin typeface="Times New Roman"/>
              </a:rPr>
              <a:t>数字滤波器的比较</a:t>
            </a:r>
          </a:p>
          <a:p>
            <a:pPr marL="342900" marR="0" lvl="0" indent="-342900" algn="l" defTabSz="914400" rtl="0" eaLnBrk="1" fontAlgn="base" latinLnBrk="0" hangingPunct="1">
              <a:lnSpc>
                <a:spcPct val="125000"/>
              </a:lnSpc>
              <a:spcBef>
                <a:spcPct val="20000"/>
              </a:spcBef>
              <a:spcAft>
                <a:spcPct val="0"/>
              </a:spcAft>
              <a:buClrTx/>
              <a:buSzTx/>
              <a:buFontTx/>
              <a:buBlip>
                <a:blip r:embed="rId3"/>
              </a:buBlip>
              <a:tabLst/>
              <a:defRPr/>
            </a:pP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5.6 </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本章小结</a:t>
            </a:r>
          </a:p>
        </p:txBody>
      </p:sp>
      <p:sp>
        <p:nvSpPr>
          <p:cNvPr id="3" name="矩形 2"/>
          <p:cNvSpPr/>
          <p:nvPr/>
        </p:nvSpPr>
        <p:spPr>
          <a:xfrm>
            <a:off x="971600" y="980728"/>
            <a:ext cx="7560840" cy="1200329"/>
          </a:xfrm>
          <a:prstGeom prst="rect">
            <a:avLst/>
          </a:prstGeom>
        </p:spPr>
        <p:txBody>
          <a:bodyPr wrap="square">
            <a:spAutoFit/>
          </a:bodyPr>
          <a:lstStyle/>
          <a:p>
            <a:pPr lvl="0">
              <a:defRPr/>
            </a:pPr>
            <a:r>
              <a:rPr kumimoji="1" lang="zh-CN" altLang="en-US" sz="3600" b="1" i="0" u="none" strike="noStrike" kern="1200" cap="none" spc="0" normalizeH="0" baseline="0" noProof="0" dirty="0">
                <a:ln>
                  <a:noFill/>
                </a:ln>
                <a:solidFill>
                  <a:srgbClr val="000066"/>
                </a:solidFill>
                <a:effectLst/>
                <a:uLnTx/>
                <a:uFillTx/>
                <a:latin typeface="Times New Roman"/>
                <a:ea typeface="宋体"/>
                <a:cs typeface="+mn-cs"/>
              </a:rPr>
              <a:t>第</a:t>
            </a:r>
            <a:r>
              <a:rPr kumimoji="1" lang="en-US" altLang="zh-CN" sz="3600" b="1" i="0" u="none" strike="noStrike" kern="1200" cap="none" spc="0" normalizeH="0" baseline="0" noProof="0" dirty="0">
                <a:ln>
                  <a:noFill/>
                </a:ln>
                <a:solidFill>
                  <a:srgbClr val="000066"/>
                </a:solidFill>
                <a:effectLst/>
                <a:uLnTx/>
                <a:uFillTx/>
                <a:latin typeface="Times New Roman"/>
                <a:ea typeface="宋体"/>
                <a:cs typeface="+mn-cs"/>
              </a:rPr>
              <a:t>5</a:t>
            </a:r>
            <a:r>
              <a:rPr kumimoji="1" lang="zh-CN" altLang="en-US" sz="3600" b="1" dirty="0">
                <a:solidFill>
                  <a:srgbClr val="000066"/>
                </a:solidFill>
                <a:latin typeface="Times New Roman"/>
                <a:ea typeface="宋体"/>
              </a:rPr>
              <a:t>章  有限长单位脉冲响应（</a:t>
            </a:r>
            <a:r>
              <a:rPr kumimoji="1" lang="en-US" altLang="zh-CN" sz="3600" b="1" dirty="0">
                <a:solidFill>
                  <a:srgbClr val="000066"/>
                </a:solidFill>
                <a:latin typeface="Times New Roman"/>
                <a:ea typeface="宋体"/>
              </a:rPr>
              <a:t>FIR</a:t>
            </a:r>
            <a:r>
              <a:rPr kumimoji="1" lang="zh-CN" altLang="en-US" sz="3600" b="1" dirty="0">
                <a:solidFill>
                  <a:srgbClr val="000066"/>
                </a:solidFill>
                <a:latin typeface="Times New Roman"/>
                <a:ea typeface="宋体"/>
              </a:rPr>
              <a:t>）</a:t>
            </a:r>
            <a:br>
              <a:rPr kumimoji="1" lang="zh-CN" altLang="en-US" sz="3600" b="1" dirty="0">
                <a:solidFill>
                  <a:srgbClr val="000066"/>
                </a:solidFill>
                <a:latin typeface="Times New Roman"/>
                <a:ea typeface="宋体"/>
              </a:rPr>
            </a:br>
            <a:r>
              <a:rPr kumimoji="1" lang="zh-CN" altLang="en-US" sz="3600" b="1" dirty="0">
                <a:solidFill>
                  <a:srgbClr val="000066"/>
                </a:solidFill>
                <a:latin typeface="Times New Roman"/>
                <a:ea typeface="宋体"/>
              </a:rPr>
              <a:t>            滤波器的设计方法</a:t>
            </a:r>
            <a:endParaRPr kumimoji="1"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Rectangle 3"/>
          <p:cNvSpPr>
            <a:spLocks noChangeArrowheads="1"/>
          </p:cNvSpPr>
          <p:nvPr/>
        </p:nvSpPr>
        <p:spPr bwMode="auto">
          <a:xfrm>
            <a:off x="838200" y="228600"/>
            <a:ext cx="3276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i="0" dirty="0">
                <a:solidFill>
                  <a:srgbClr val="993300"/>
                </a:solidFill>
                <a:ea typeface="楷体_GB2312" pitchFamily="49" charset="-122"/>
              </a:rPr>
              <a:t>数字信号处理</a:t>
            </a:r>
          </a:p>
        </p:txBody>
      </p:sp>
    </p:spTree>
    <p:extLst>
      <p:ext uri="{BB962C8B-B14F-4D97-AF65-F5344CB8AC3E}">
        <p14:creationId xmlns:p14="http://schemas.microsoft.com/office/powerpoint/2010/main" val="41484284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762000"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solidFill>
                  <a:srgbClr val="993300"/>
                </a:solidFill>
                <a:ea typeface="楷体_GB2312" pitchFamily="49" charset="-122"/>
              </a:rPr>
              <a:t>第</a:t>
            </a:r>
            <a:r>
              <a:rPr lang="en-US" altLang="zh-CN" sz="3200" b="1" dirty="0">
                <a:solidFill>
                  <a:srgbClr val="993300"/>
                </a:solidFill>
                <a:ea typeface="楷体_GB2312" pitchFamily="49" charset="-122"/>
              </a:rPr>
              <a:t>5</a:t>
            </a:r>
            <a:r>
              <a:rPr lang="zh-CN" altLang="en-US" sz="3200" b="1" dirty="0">
                <a:solidFill>
                  <a:srgbClr val="993300"/>
                </a:solidFill>
                <a:ea typeface="楷体_GB2312" pitchFamily="49" charset="-122"/>
              </a:rPr>
              <a:t>章  </a:t>
            </a:r>
            <a:r>
              <a:rPr lang="en-US" altLang="zh-CN" sz="3200" b="1" dirty="0">
                <a:solidFill>
                  <a:srgbClr val="993300"/>
                </a:solidFill>
                <a:ea typeface="楷体_GB2312" pitchFamily="49" charset="-122"/>
              </a:rPr>
              <a:t>FIR</a:t>
            </a:r>
            <a:r>
              <a:rPr lang="zh-CN" altLang="en-US" sz="3200" b="1" dirty="0">
                <a:solidFill>
                  <a:srgbClr val="993300"/>
                </a:solidFill>
                <a:ea typeface="楷体_GB2312" pitchFamily="49" charset="-122"/>
              </a:rPr>
              <a:t>滤波器的设计方法</a:t>
            </a:r>
            <a:endParaRPr lang="zh-CN" altLang="en-US" sz="3200" b="1" i="0" dirty="0">
              <a:solidFill>
                <a:srgbClr val="993300"/>
              </a:solidFill>
              <a:ea typeface="楷体_GB2312" pitchFamily="49" charset="-122"/>
            </a:endParaRPr>
          </a:p>
        </p:txBody>
      </p:sp>
      <p:sp>
        <p:nvSpPr>
          <p:cNvPr id="4" name="Rectangle 7"/>
          <p:cNvSpPr/>
          <p:nvPr/>
        </p:nvSpPr>
        <p:spPr>
          <a:xfrm>
            <a:off x="1066800" y="1066800"/>
            <a:ext cx="5314275" cy="523220"/>
          </a:xfrm>
          <a:prstGeom prst="rect">
            <a:avLst/>
          </a:prstGeom>
        </p:spPr>
        <p:txBody>
          <a:bodyPr wrap="none">
            <a:spAutoFit/>
          </a:bodyPr>
          <a:lstStyle/>
          <a:p>
            <a:pPr marL="342900" indent="-342900" eaLnBrk="1" hangingPunct="1">
              <a:spcBef>
                <a:spcPct val="20000"/>
              </a:spcBef>
            </a:pPr>
            <a:r>
              <a:rPr kumimoji="1" lang="en-US" altLang="zh-CN" sz="2800" b="1" dirty="0">
                <a:solidFill>
                  <a:srgbClr val="336600"/>
                </a:solidFill>
                <a:latin typeface="Times New Roman" panose="02020603050405020304" pitchFamily="18" charset="0"/>
                <a:ea typeface="黑体" panose="02010609060101010101" pitchFamily="49" charset="-122"/>
                <a:cs typeface="Times New Roman" panose="02020603050405020304" pitchFamily="18" charset="0"/>
              </a:rPr>
              <a:t>FIR</a:t>
            </a:r>
            <a:r>
              <a:rPr lang="en-US" altLang="zh-CN" sz="2800" b="1" dirty="0">
                <a:solidFill>
                  <a:srgbClr val="000000"/>
                </a:solidFill>
                <a:latin typeface="+mn-ea"/>
                <a:ea typeface="+mn-ea"/>
              </a:rPr>
              <a:t>(</a:t>
            </a:r>
            <a:r>
              <a:rPr lang="zh-CN" altLang="en-US" sz="2800" b="1" dirty="0">
                <a:solidFill>
                  <a:srgbClr val="000000"/>
                </a:solidFill>
                <a:latin typeface="+mn-ea"/>
                <a:ea typeface="+mn-ea"/>
              </a:rPr>
              <a:t>有限长单位脉冲响应系统</a:t>
            </a:r>
            <a:r>
              <a:rPr lang="en-US" altLang="zh-CN" sz="2800" b="1" dirty="0">
                <a:solidFill>
                  <a:srgbClr val="000000"/>
                </a:solidFill>
                <a:latin typeface="+mn-ea"/>
                <a:ea typeface="+mn-ea"/>
              </a:rPr>
              <a:t>):</a:t>
            </a:r>
          </a:p>
        </p:txBody>
      </p:sp>
      <p:sp>
        <p:nvSpPr>
          <p:cNvPr id="5" name="Rectangle 9"/>
          <p:cNvSpPr/>
          <p:nvPr/>
        </p:nvSpPr>
        <p:spPr>
          <a:xfrm>
            <a:off x="6324185" y="1047636"/>
            <a:ext cx="2087431" cy="523220"/>
          </a:xfrm>
          <a:prstGeom prst="rect">
            <a:avLst/>
          </a:prstGeom>
        </p:spPr>
        <p:txBody>
          <a:bodyPr wrap="none">
            <a:spAutoFit/>
          </a:bodyPr>
          <a:lstStyle/>
          <a:p>
            <a:r>
              <a:rPr lang="en-US" altLang="zh-CN" sz="2800" b="1" dirty="0">
                <a:solidFill>
                  <a:srgbClr val="000000"/>
                </a:solidFill>
                <a:latin typeface="+mj-lt"/>
                <a:ea typeface="+mn-ea"/>
              </a:rPr>
              <a:t> </a:t>
            </a:r>
            <a:r>
              <a:rPr lang="en-US" altLang="zh-CN" sz="2800" b="1" i="1" dirty="0">
                <a:solidFill>
                  <a:srgbClr val="000000"/>
                </a:solidFill>
                <a:latin typeface="+mj-lt"/>
                <a:ea typeface="+mn-ea"/>
              </a:rPr>
              <a:t>h</a:t>
            </a:r>
            <a:r>
              <a:rPr lang="en-US" altLang="zh-CN" sz="2800" b="1" dirty="0">
                <a:solidFill>
                  <a:srgbClr val="000000"/>
                </a:solidFill>
                <a:latin typeface="+mj-lt"/>
                <a:ea typeface="+mn-ea"/>
              </a:rPr>
              <a:t>(</a:t>
            </a:r>
            <a:r>
              <a:rPr lang="en-US" altLang="zh-CN" sz="2800" b="1" i="1" dirty="0">
                <a:solidFill>
                  <a:srgbClr val="000000"/>
                </a:solidFill>
                <a:latin typeface="+mj-lt"/>
                <a:ea typeface="+mn-ea"/>
              </a:rPr>
              <a:t>n</a:t>
            </a:r>
            <a:r>
              <a:rPr lang="en-US" altLang="zh-CN" sz="2800" b="1" dirty="0">
                <a:solidFill>
                  <a:srgbClr val="000000"/>
                </a:solidFill>
                <a:latin typeface="+mj-lt"/>
                <a:ea typeface="+mn-ea"/>
              </a:rPr>
              <a:t>) </a:t>
            </a:r>
            <a:r>
              <a:rPr lang="zh-CN" altLang="en-US" sz="2800" b="1" dirty="0">
                <a:solidFill>
                  <a:srgbClr val="000000"/>
                </a:solidFill>
                <a:latin typeface="+mj-lt"/>
                <a:ea typeface="+mn-ea"/>
              </a:rPr>
              <a:t>有限长</a:t>
            </a:r>
            <a:endParaRPr lang="zh-CN" altLang="en-US" b="1" dirty="0">
              <a:latin typeface="+mj-lt"/>
              <a:ea typeface="+mn-ea"/>
            </a:endParaRPr>
          </a:p>
        </p:txBody>
      </p:sp>
      <p:graphicFrame>
        <p:nvGraphicFramePr>
          <p:cNvPr id="7" name="Object 15"/>
          <p:cNvGraphicFramePr>
            <a:graphicFrameLocks noGrp="1" noChangeAspect="1"/>
          </p:cNvGraphicFramePr>
          <p:nvPr>
            <p:extLst>
              <p:ext uri="{D42A27DB-BD31-4B8C-83A1-F6EECF244321}">
                <p14:modId xmlns:p14="http://schemas.microsoft.com/office/powerpoint/2010/main" val="2941313698"/>
              </p:ext>
            </p:extLst>
          </p:nvPr>
        </p:nvGraphicFramePr>
        <p:xfrm>
          <a:off x="2895600" y="1927043"/>
          <a:ext cx="3015900" cy="1079100"/>
        </p:xfrm>
        <a:graphic>
          <a:graphicData uri="http://schemas.openxmlformats.org/presentationml/2006/ole">
            <mc:AlternateContent xmlns:mc="http://schemas.openxmlformats.org/markup-compatibility/2006">
              <mc:Choice xmlns:v="urn:schemas-microsoft-com:vml" Requires="v">
                <p:oleObj name="Equation" r:id="rId2" imgW="1206360" imgH="431640" progId="Equation.DSMT4">
                  <p:embed/>
                </p:oleObj>
              </mc:Choice>
              <mc:Fallback>
                <p:oleObj name="Equation" r:id="rId2" imgW="1206360" imgH="431640" progId="Equation.DSMT4">
                  <p:embed/>
                  <p:pic>
                    <p:nvPicPr>
                      <p:cNvPr id="7" name="Object 15"/>
                      <p:cNvPicPr>
                        <a:picLocks noGrp="1" noChangeAspect="1" noChangeArrowheads="1"/>
                      </p:cNvPicPr>
                      <p:nvPr/>
                    </p:nvPicPr>
                    <p:blipFill>
                      <a:blip r:embed="rId3"/>
                      <a:srcRect/>
                      <a:stretch>
                        <a:fillRect/>
                      </a:stretch>
                    </p:blipFill>
                    <p:spPr bwMode="auto">
                      <a:xfrm>
                        <a:off x="2895600" y="1927043"/>
                        <a:ext cx="3015900" cy="107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8">
            <a:extLst>
              <a:ext uri="{FF2B5EF4-FFF2-40B4-BE49-F238E27FC236}">
                <a16:creationId xmlns:a16="http://schemas.microsoft.com/office/drawing/2014/main" id="{20EC16A3-9A28-44F8-B7D2-6456AC350461}"/>
              </a:ext>
            </a:extLst>
          </p:cNvPr>
          <p:cNvGraphicFramePr>
            <a:graphicFrameLocks noChangeAspect="1"/>
          </p:cNvGraphicFramePr>
          <p:nvPr>
            <p:extLst>
              <p:ext uri="{D42A27DB-BD31-4B8C-83A1-F6EECF244321}">
                <p14:modId xmlns:p14="http://schemas.microsoft.com/office/powerpoint/2010/main" val="3336805648"/>
              </p:ext>
            </p:extLst>
          </p:nvPr>
        </p:nvGraphicFramePr>
        <p:xfrm>
          <a:off x="6381076" y="1535725"/>
          <a:ext cx="2166833" cy="445475"/>
        </p:xfrm>
        <a:graphic>
          <a:graphicData uri="http://schemas.openxmlformats.org/presentationml/2006/ole">
            <mc:AlternateContent xmlns:mc="http://schemas.openxmlformats.org/markup-compatibility/2006">
              <mc:Choice xmlns:v="urn:schemas-microsoft-com:vml" Requires="v">
                <p:oleObj name="Equation" r:id="rId4" imgW="863280" imgH="177480" progId="Equation.DSMT4">
                  <p:embed/>
                </p:oleObj>
              </mc:Choice>
              <mc:Fallback>
                <p:oleObj name="Equation" r:id="rId4" imgW="863280" imgH="177480" progId="Equation.DSMT4">
                  <p:embed/>
                  <p:pic>
                    <p:nvPicPr>
                      <p:cNvPr id="8" name="对象 8">
                        <a:extLst>
                          <a:ext uri="{FF2B5EF4-FFF2-40B4-BE49-F238E27FC236}">
                            <a16:creationId xmlns:a16="http://schemas.microsoft.com/office/drawing/2014/main" id="{20EC16A3-9A28-44F8-B7D2-6456AC350461}"/>
                          </a:ext>
                        </a:extLst>
                      </p:cNvPr>
                      <p:cNvPicPr>
                        <a:picLocks noChangeAspect="1" noChangeArrowheads="1"/>
                      </p:cNvPicPr>
                      <p:nvPr/>
                    </p:nvPicPr>
                    <p:blipFill>
                      <a:blip r:embed="rId5"/>
                      <a:srcRect/>
                      <a:stretch>
                        <a:fillRect/>
                      </a:stretch>
                    </p:blipFill>
                    <p:spPr bwMode="auto">
                      <a:xfrm>
                        <a:off x="6381076" y="1535725"/>
                        <a:ext cx="2166833" cy="44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5"/>
          <p:cNvGraphicFramePr>
            <a:graphicFrameLocks noGrp="1" noChangeAspect="1"/>
          </p:cNvGraphicFramePr>
          <p:nvPr>
            <p:extLst>
              <p:ext uri="{D42A27DB-BD31-4B8C-83A1-F6EECF244321}">
                <p14:modId xmlns:p14="http://schemas.microsoft.com/office/powerpoint/2010/main" val="1573081468"/>
              </p:ext>
            </p:extLst>
          </p:nvPr>
        </p:nvGraphicFramePr>
        <p:xfrm>
          <a:off x="2898187" y="3055664"/>
          <a:ext cx="539750" cy="508000"/>
        </p:xfrm>
        <a:graphic>
          <a:graphicData uri="http://schemas.openxmlformats.org/presentationml/2006/ole">
            <mc:AlternateContent xmlns:mc="http://schemas.openxmlformats.org/markup-compatibility/2006">
              <mc:Choice xmlns:v="urn:schemas-microsoft-com:vml" Requires="v">
                <p:oleObj name="Equation" r:id="rId6" imgW="215640" imgH="203040" progId="Equation.DSMT4">
                  <p:embed/>
                </p:oleObj>
              </mc:Choice>
              <mc:Fallback>
                <p:oleObj name="Equation" r:id="rId6" imgW="215640" imgH="203040" progId="Equation.DSMT4">
                  <p:embed/>
                  <p:pic>
                    <p:nvPicPr>
                      <p:cNvPr id="9" name="Object 15"/>
                      <p:cNvPicPr>
                        <a:picLocks noGrp="1" noChangeAspect="1" noChangeArrowheads="1"/>
                      </p:cNvPicPr>
                      <p:nvPr/>
                    </p:nvPicPr>
                    <p:blipFill>
                      <a:blip r:embed="rId7"/>
                      <a:srcRect/>
                      <a:stretch>
                        <a:fillRect/>
                      </a:stretch>
                    </p:blipFill>
                    <p:spPr bwMode="auto">
                      <a:xfrm>
                        <a:off x="2898187" y="3055664"/>
                        <a:ext cx="5397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矩形 9"/>
          <p:cNvSpPr/>
          <p:nvPr/>
        </p:nvSpPr>
        <p:spPr>
          <a:xfrm>
            <a:off x="3336533" y="3070380"/>
            <a:ext cx="2787943" cy="523220"/>
          </a:xfrm>
          <a:prstGeom prst="rect">
            <a:avLst/>
          </a:prstGeom>
        </p:spPr>
        <p:txBody>
          <a:bodyPr wrap="none">
            <a:spAutoFit/>
          </a:bodyPr>
          <a:lstStyle/>
          <a:p>
            <a:r>
              <a:rPr lang="zh-CN" altLang="en-US" sz="2800" b="1" dirty="0">
                <a:solidFill>
                  <a:srgbClr val="000000"/>
                </a:solidFill>
                <a:latin typeface="宋体"/>
                <a:ea typeface="宋体"/>
              </a:rPr>
              <a:t>的</a:t>
            </a:r>
            <a:r>
              <a:rPr lang="en-US" altLang="zh-CN" sz="2800" b="1" dirty="0">
                <a:solidFill>
                  <a:srgbClr val="000000"/>
                </a:solidFill>
                <a:latin typeface="Times New Roman" panose="02020603050405020304" pitchFamily="18" charset="0"/>
                <a:ea typeface="宋体"/>
                <a:cs typeface="Times New Roman" panose="02020603050405020304" pitchFamily="18" charset="0"/>
              </a:rPr>
              <a:t>(</a:t>
            </a:r>
            <a:r>
              <a:rPr lang="en-US" altLang="zh-CN" sz="2800" b="1" i="1" dirty="0">
                <a:solidFill>
                  <a:srgbClr val="000000"/>
                </a:solidFill>
                <a:latin typeface="Times New Roman" panose="02020603050405020304" pitchFamily="18" charset="0"/>
                <a:ea typeface="宋体"/>
                <a:cs typeface="Times New Roman" panose="02020603050405020304" pitchFamily="18" charset="0"/>
              </a:rPr>
              <a:t>N</a:t>
            </a:r>
            <a:r>
              <a:rPr lang="en-US" altLang="zh-CN" sz="2800" b="1" dirty="0">
                <a:solidFill>
                  <a:srgbClr val="000000"/>
                </a:solidFill>
                <a:latin typeface="Times New Roman" panose="02020603050405020304" pitchFamily="18" charset="0"/>
                <a:ea typeface="宋体"/>
                <a:cs typeface="Times New Roman" panose="02020603050405020304" pitchFamily="18" charset="0"/>
              </a:rPr>
              <a:t>-1)</a:t>
            </a:r>
            <a:r>
              <a:rPr lang="zh-CN" altLang="en-US" sz="2800" b="1" dirty="0">
                <a:solidFill>
                  <a:srgbClr val="000000"/>
                </a:solidFill>
                <a:latin typeface="宋体"/>
                <a:ea typeface="宋体"/>
              </a:rPr>
              <a:t>阶多项式</a:t>
            </a:r>
            <a:endParaRPr lang="en-US" altLang="zh-CN" sz="2800" b="1" dirty="0">
              <a:solidFill>
                <a:srgbClr val="000000"/>
              </a:solidFill>
              <a:latin typeface="宋体"/>
              <a:ea typeface="宋体"/>
            </a:endParaRPr>
          </a:p>
        </p:txBody>
      </p:sp>
      <p:sp>
        <p:nvSpPr>
          <p:cNvPr id="12" name="矩形 11"/>
          <p:cNvSpPr/>
          <p:nvPr/>
        </p:nvSpPr>
        <p:spPr>
          <a:xfrm>
            <a:off x="2811544" y="4235948"/>
            <a:ext cx="3130985" cy="523220"/>
          </a:xfrm>
          <a:prstGeom prst="rect">
            <a:avLst/>
          </a:prstGeom>
        </p:spPr>
        <p:txBody>
          <a:bodyPr wrap="none">
            <a:spAutoFit/>
          </a:bodyPr>
          <a:lstStyle/>
          <a:p>
            <a:pPr lvl="0"/>
            <a:r>
              <a:rPr lang="zh-CN" altLang="en-US" sz="2800" b="1" dirty="0">
                <a:solidFill>
                  <a:srgbClr val="000000"/>
                </a:solidFill>
                <a:latin typeface="宋体"/>
                <a:ea typeface="宋体"/>
              </a:rPr>
              <a:t>极点：</a:t>
            </a:r>
            <a:r>
              <a:rPr lang="en-US" altLang="zh-CN" sz="2800" b="1" i="1" dirty="0">
                <a:solidFill>
                  <a:srgbClr val="000000"/>
                </a:solidFill>
                <a:latin typeface="Times New Roman" panose="02020603050405020304" pitchFamily="18" charset="0"/>
                <a:ea typeface="宋体"/>
                <a:cs typeface="Times New Roman" panose="02020603050405020304" pitchFamily="18" charset="0"/>
              </a:rPr>
              <a:t>z</a:t>
            </a:r>
            <a:r>
              <a:rPr lang="en-US" altLang="zh-CN" sz="2800" b="1" dirty="0">
                <a:solidFill>
                  <a:srgbClr val="000000"/>
                </a:solidFill>
                <a:latin typeface="Times New Roman" panose="02020603050405020304" pitchFamily="18" charset="0"/>
                <a:ea typeface="宋体"/>
                <a:cs typeface="Times New Roman" panose="02020603050405020304" pitchFamily="18" charset="0"/>
              </a:rPr>
              <a:t>=0 </a:t>
            </a:r>
            <a:r>
              <a:rPr lang="zh-CN" altLang="en-US" sz="2800" b="1" dirty="0">
                <a:solidFill>
                  <a:srgbClr val="000000"/>
                </a:solidFill>
                <a:latin typeface="Times New Roman" panose="02020603050405020304" pitchFamily="18" charset="0"/>
                <a:ea typeface="宋体"/>
                <a:cs typeface="Times New Roman" panose="02020603050405020304" pitchFamily="18" charset="0"/>
              </a:rPr>
              <a:t> </a:t>
            </a:r>
            <a:r>
              <a:rPr lang="en-US" altLang="zh-CN" sz="2800" b="1" dirty="0">
                <a:solidFill>
                  <a:srgbClr val="000000"/>
                </a:solidFill>
                <a:latin typeface="Times New Roman" panose="02020603050405020304" pitchFamily="18" charset="0"/>
                <a:ea typeface="宋体"/>
                <a:cs typeface="Times New Roman" panose="02020603050405020304" pitchFamily="18" charset="0"/>
              </a:rPr>
              <a:t>(</a:t>
            </a:r>
            <a:r>
              <a:rPr lang="en-US" altLang="zh-CN" sz="2800" b="1" i="1" dirty="0">
                <a:solidFill>
                  <a:srgbClr val="000000"/>
                </a:solidFill>
                <a:latin typeface="Times New Roman" panose="02020603050405020304" pitchFamily="18" charset="0"/>
                <a:ea typeface="宋体"/>
                <a:cs typeface="Times New Roman" panose="02020603050405020304" pitchFamily="18" charset="0"/>
              </a:rPr>
              <a:t>N</a:t>
            </a:r>
            <a:r>
              <a:rPr lang="en-US" altLang="zh-CN" sz="2800" b="1" dirty="0">
                <a:solidFill>
                  <a:srgbClr val="000000"/>
                </a:solidFill>
                <a:latin typeface="Times New Roman" panose="02020603050405020304" pitchFamily="18" charset="0"/>
                <a:ea typeface="宋体"/>
                <a:cs typeface="Times New Roman" panose="02020603050405020304" pitchFamily="18" charset="0"/>
              </a:rPr>
              <a:t>-1)</a:t>
            </a:r>
            <a:r>
              <a:rPr lang="zh-CN" altLang="en-US" sz="2800" b="1" dirty="0">
                <a:solidFill>
                  <a:srgbClr val="000000"/>
                </a:solidFill>
                <a:latin typeface="Times New Roman" panose="02020603050405020304" pitchFamily="18" charset="0"/>
                <a:ea typeface="宋体"/>
                <a:cs typeface="Times New Roman" panose="02020603050405020304" pitchFamily="18" charset="0"/>
              </a:rPr>
              <a:t>阶</a:t>
            </a: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20" name="矩形 19"/>
          <p:cNvSpPr/>
          <p:nvPr/>
        </p:nvSpPr>
        <p:spPr>
          <a:xfrm>
            <a:off x="1025681" y="2165599"/>
            <a:ext cx="1627369" cy="523220"/>
          </a:xfrm>
          <a:prstGeom prst="rect">
            <a:avLst/>
          </a:prstGeom>
        </p:spPr>
        <p:txBody>
          <a:bodyPr wrap="none">
            <a:spAutoFit/>
          </a:bodyPr>
          <a:lstStyle/>
          <a:p>
            <a:pPr lvl="0" eaLnBrk="1" hangingPunct="1">
              <a:spcBef>
                <a:spcPct val="50000"/>
              </a:spcBef>
            </a:pPr>
            <a:r>
              <a:rPr kumimoji="1" lang="zh-CN" altLang="en-US" sz="2800" b="1" dirty="0">
                <a:solidFill>
                  <a:srgbClr val="0000CC"/>
                </a:solidFill>
                <a:latin typeface="Times New Roman" panose="02020603050405020304" pitchFamily="18" charset="0"/>
                <a:ea typeface="宋体" panose="02010600030101010101" pitchFamily="2" charset="-122"/>
              </a:rPr>
              <a:t>系统函数</a:t>
            </a:r>
          </a:p>
        </p:txBody>
      </p:sp>
      <p:sp>
        <p:nvSpPr>
          <p:cNvPr id="24" name="矩形 23"/>
          <p:cNvSpPr/>
          <p:nvPr/>
        </p:nvSpPr>
        <p:spPr>
          <a:xfrm>
            <a:off x="2811544" y="3657600"/>
            <a:ext cx="5406042" cy="523220"/>
          </a:xfrm>
          <a:prstGeom prst="rect">
            <a:avLst/>
          </a:prstGeom>
        </p:spPr>
        <p:txBody>
          <a:bodyPr wrap="square">
            <a:spAutoFit/>
          </a:bodyPr>
          <a:lstStyle/>
          <a:p>
            <a:pPr lvl="0"/>
            <a:r>
              <a:rPr lang="zh-CN" altLang="en-US" sz="2800" b="1" dirty="0">
                <a:solidFill>
                  <a:srgbClr val="000000"/>
                </a:solidFill>
                <a:latin typeface="宋体"/>
                <a:ea typeface="宋体"/>
              </a:rPr>
              <a:t>在有限</a:t>
            </a:r>
            <a:r>
              <a:rPr lang="en-US" altLang="zh-CN" sz="2800" b="1" i="1" dirty="0">
                <a:solidFill>
                  <a:srgbClr val="000000"/>
                </a:solidFill>
                <a:latin typeface="Times New Roman" panose="02020603050405020304" pitchFamily="18" charset="0"/>
                <a:ea typeface="宋体"/>
                <a:cs typeface="Times New Roman" panose="02020603050405020304" pitchFamily="18" charset="0"/>
              </a:rPr>
              <a:t>z</a:t>
            </a:r>
            <a:r>
              <a:rPr lang="zh-CN" altLang="en-US" sz="2800" b="1" dirty="0">
                <a:solidFill>
                  <a:srgbClr val="000000"/>
                </a:solidFill>
                <a:latin typeface="宋体"/>
                <a:ea typeface="宋体"/>
              </a:rPr>
              <a:t>平面上有</a:t>
            </a:r>
            <a:r>
              <a:rPr lang="en-US" altLang="zh-CN" sz="2800" b="1" dirty="0">
                <a:solidFill>
                  <a:srgbClr val="000000"/>
                </a:solidFill>
                <a:latin typeface="Times New Roman" panose="02020603050405020304" pitchFamily="18" charset="0"/>
                <a:ea typeface="宋体"/>
                <a:cs typeface="Times New Roman" panose="02020603050405020304" pitchFamily="18" charset="0"/>
              </a:rPr>
              <a:t>(</a:t>
            </a:r>
            <a:r>
              <a:rPr lang="en-US" altLang="zh-CN" sz="2800" b="1" i="1" dirty="0">
                <a:solidFill>
                  <a:srgbClr val="000000"/>
                </a:solidFill>
                <a:latin typeface="Times New Roman" panose="02020603050405020304" pitchFamily="18" charset="0"/>
                <a:ea typeface="宋体"/>
                <a:cs typeface="Times New Roman" panose="02020603050405020304" pitchFamily="18" charset="0"/>
              </a:rPr>
              <a:t>N</a:t>
            </a:r>
            <a:r>
              <a:rPr lang="en-US" altLang="zh-CN" sz="2800" b="1" dirty="0">
                <a:solidFill>
                  <a:srgbClr val="000000"/>
                </a:solidFill>
                <a:latin typeface="Times New Roman" panose="02020603050405020304" pitchFamily="18" charset="0"/>
                <a:ea typeface="宋体"/>
                <a:cs typeface="Times New Roman" panose="02020603050405020304" pitchFamily="18" charset="0"/>
              </a:rPr>
              <a:t>-1)</a:t>
            </a:r>
            <a:r>
              <a:rPr lang="zh-CN" altLang="en-US" sz="2800" b="1" dirty="0">
                <a:solidFill>
                  <a:srgbClr val="000000"/>
                </a:solidFill>
                <a:latin typeface="宋体"/>
                <a:ea typeface="宋体"/>
              </a:rPr>
              <a:t>个零点，</a:t>
            </a:r>
            <a:endParaRPr lang="en-US" altLang="zh-CN" sz="2800" b="1" dirty="0">
              <a:solidFill>
                <a:srgbClr val="000000"/>
              </a:solidFill>
              <a:latin typeface="宋体"/>
              <a:ea typeface="宋体"/>
            </a:endParaRPr>
          </a:p>
        </p:txBody>
      </p:sp>
      <p:sp>
        <p:nvSpPr>
          <p:cNvPr id="26" name="矩形 25"/>
          <p:cNvSpPr/>
          <p:nvPr/>
        </p:nvSpPr>
        <p:spPr>
          <a:xfrm>
            <a:off x="6250381" y="2155995"/>
            <a:ext cx="2037737" cy="523220"/>
          </a:xfrm>
          <a:prstGeom prst="rect">
            <a:avLst/>
          </a:prstGeom>
        </p:spPr>
        <p:txBody>
          <a:bodyPr wrap="none">
            <a:spAutoFit/>
          </a:bodyPr>
          <a:lstStyle/>
          <a:p>
            <a:pPr lvl="0"/>
            <a:r>
              <a:rPr kumimoji="1" lang="zh-CN" altLang="en-US" sz="2800" b="1" dirty="0">
                <a:solidFill>
                  <a:srgbClr val="800000"/>
                </a:solidFill>
                <a:latin typeface="Times New Roman" panose="02020603050405020304" pitchFamily="18" charset="0"/>
                <a:ea typeface="宋体" panose="02010600030101010101" pitchFamily="2" charset="-122"/>
              </a:rPr>
              <a:t>收敛域 </a:t>
            </a:r>
            <a:r>
              <a:rPr kumimoji="1" lang="en-US" altLang="zh-CN" sz="2800" b="1" dirty="0">
                <a:solidFill>
                  <a:srgbClr val="800000"/>
                </a:solidFill>
                <a:latin typeface="Times New Roman" panose="02020603050405020304" pitchFamily="18" charset="0"/>
                <a:ea typeface="宋体" panose="02010600030101010101" pitchFamily="2" charset="-122"/>
              </a:rPr>
              <a:t>|</a:t>
            </a:r>
            <a:r>
              <a:rPr kumimoji="1" lang="en-US" altLang="zh-CN" sz="2800" b="1" i="1" dirty="0">
                <a:solidFill>
                  <a:srgbClr val="800000"/>
                </a:solidFill>
                <a:latin typeface="Times New Roman" panose="02020603050405020304" pitchFamily="18" charset="0"/>
                <a:ea typeface="宋体" panose="02010600030101010101" pitchFamily="2" charset="-122"/>
              </a:rPr>
              <a:t>z</a:t>
            </a:r>
            <a:r>
              <a:rPr kumimoji="1" lang="en-US" altLang="zh-CN" sz="2800" b="1" dirty="0">
                <a:solidFill>
                  <a:srgbClr val="800000"/>
                </a:solidFill>
                <a:latin typeface="Times New Roman" panose="02020603050405020304" pitchFamily="18" charset="0"/>
                <a:ea typeface="宋体" panose="02010600030101010101" pitchFamily="2" charset="-122"/>
              </a:rPr>
              <a:t>|&gt;0</a:t>
            </a:r>
          </a:p>
        </p:txBody>
      </p:sp>
    </p:spTree>
    <p:extLst>
      <p:ext uri="{BB962C8B-B14F-4D97-AF65-F5344CB8AC3E}">
        <p14:creationId xmlns:p14="http://schemas.microsoft.com/office/powerpoint/2010/main" val="4145559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762000"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solidFill>
                  <a:srgbClr val="993300"/>
                </a:solidFill>
                <a:ea typeface="楷体_GB2312" pitchFamily="49" charset="-122"/>
              </a:rPr>
              <a:t>第</a:t>
            </a:r>
            <a:r>
              <a:rPr lang="en-US" altLang="zh-CN" sz="3200" b="1" dirty="0">
                <a:solidFill>
                  <a:srgbClr val="993300"/>
                </a:solidFill>
                <a:ea typeface="楷体_GB2312" pitchFamily="49" charset="-122"/>
              </a:rPr>
              <a:t>5</a:t>
            </a:r>
            <a:r>
              <a:rPr lang="zh-CN" altLang="en-US" sz="3200" b="1" dirty="0">
                <a:solidFill>
                  <a:srgbClr val="993300"/>
                </a:solidFill>
                <a:ea typeface="楷体_GB2312" pitchFamily="49" charset="-122"/>
              </a:rPr>
              <a:t>章  </a:t>
            </a:r>
            <a:r>
              <a:rPr lang="en-US" altLang="zh-CN" sz="3200" b="1" dirty="0">
                <a:solidFill>
                  <a:srgbClr val="993300"/>
                </a:solidFill>
                <a:ea typeface="楷体_GB2312" pitchFamily="49" charset="-122"/>
              </a:rPr>
              <a:t>FIR</a:t>
            </a:r>
            <a:r>
              <a:rPr lang="zh-CN" altLang="en-US" sz="3200" b="1" dirty="0">
                <a:solidFill>
                  <a:srgbClr val="993300"/>
                </a:solidFill>
                <a:ea typeface="楷体_GB2312" pitchFamily="49" charset="-122"/>
              </a:rPr>
              <a:t>滤波器的设计方法</a:t>
            </a:r>
            <a:endParaRPr lang="zh-CN" altLang="en-US" sz="3200" b="1" i="0" dirty="0">
              <a:solidFill>
                <a:srgbClr val="993300"/>
              </a:solidFill>
              <a:ea typeface="楷体_GB2312" pitchFamily="49" charset="-122"/>
            </a:endParaRPr>
          </a:p>
        </p:txBody>
      </p:sp>
      <p:sp>
        <p:nvSpPr>
          <p:cNvPr id="14" name="矩形 13"/>
          <p:cNvSpPr/>
          <p:nvPr/>
        </p:nvSpPr>
        <p:spPr>
          <a:xfrm>
            <a:off x="609600" y="838200"/>
            <a:ext cx="8229600" cy="3754874"/>
          </a:xfrm>
          <a:prstGeom prst="rect">
            <a:avLst/>
          </a:prstGeom>
        </p:spPr>
        <p:txBody>
          <a:bodyPr wrap="square">
            <a:spAutoFit/>
          </a:bodyPr>
          <a:lstStyle/>
          <a:p>
            <a:pPr lvl="0" eaLnBrk="1" hangingPunct="1">
              <a:spcBef>
                <a:spcPct val="50000"/>
              </a:spcBef>
            </a:pPr>
            <a:r>
              <a:rPr kumimoji="1" lang="en-US" altLang="zh-CN" sz="2800" b="1" dirty="0">
                <a:solidFill>
                  <a:srgbClr val="000000"/>
                </a:solidFill>
                <a:latin typeface="Times New Roman" panose="02020603050405020304" pitchFamily="18" charset="0"/>
                <a:ea typeface="宋体" panose="02010600030101010101" pitchFamily="2" charset="-122"/>
              </a:rPr>
              <a:t>FIR</a:t>
            </a:r>
            <a:r>
              <a:rPr kumimoji="1" lang="zh-CN" altLang="en-US" sz="2800" b="1" dirty="0">
                <a:solidFill>
                  <a:srgbClr val="000000"/>
                </a:solidFill>
                <a:latin typeface="Times New Roman" panose="02020603050405020304" pitchFamily="18" charset="0"/>
                <a:ea typeface="宋体" panose="02010600030101010101" pitchFamily="2" charset="-122"/>
              </a:rPr>
              <a:t>数字滤波器的</a:t>
            </a:r>
            <a:r>
              <a:rPr kumimoji="1" lang="zh-CN" altLang="en-US" sz="2800" b="1" dirty="0">
                <a:solidFill>
                  <a:srgbClr val="FF0000"/>
                </a:solidFill>
                <a:latin typeface="Times New Roman" panose="02020603050405020304" pitchFamily="18" charset="0"/>
                <a:ea typeface="宋体" panose="02010600030101010101" pitchFamily="2" charset="-122"/>
              </a:rPr>
              <a:t>优点 ：</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lvl="0" eaLnBrk="1" hangingPunct="1">
              <a:lnSpc>
                <a:spcPct val="125000"/>
              </a:lnSpc>
              <a:spcBef>
                <a:spcPts val="0"/>
              </a:spcBef>
            </a:pPr>
            <a:r>
              <a:rPr kumimoji="1" lang="en-US" altLang="zh-CN" sz="2800" b="1" dirty="0">
                <a:solidFill>
                  <a:srgbClr val="000000"/>
                </a:solidFill>
                <a:latin typeface="Times New Roman" panose="02020603050405020304" pitchFamily="18" charset="0"/>
                <a:ea typeface="宋体" panose="02010600030101010101" pitchFamily="2" charset="-122"/>
              </a:rPr>
              <a:t>(1)</a:t>
            </a:r>
            <a:r>
              <a:rPr kumimoji="1" lang="zh-CN" altLang="en-US" sz="2800" b="1" dirty="0">
                <a:solidFill>
                  <a:srgbClr val="000000"/>
                </a:solidFill>
                <a:latin typeface="Times New Roman" panose="02020603050405020304" pitchFamily="18" charset="0"/>
                <a:ea typeface="宋体" panose="02010600030101010101" pitchFamily="2" charset="-122"/>
              </a:rPr>
              <a:t>极点全部在原点（</a:t>
            </a:r>
            <a:r>
              <a:rPr kumimoji="1" lang="zh-CN" altLang="en-US" sz="2800" b="1" dirty="0">
                <a:solidFill>
                  <a:srgbClr val="FF0000"/>
                </a:solidFill>
                <a:latin typeface="Times New Roman" panose="02020603050405020304" pitchFamily="18" charset="0"/>
                <a:ea typeface="宋体" panose="02010600030101010101" pitchFamily="2" charset="-122"/>
              </a:rPr>
              <a:t>永远稳定</a:t>
            </a:r>
            <a:r>
              <a:rPr kumimoji="1" lang="zh-CN" altLang="en-US" sz="2800" b="1" dirty="0">
                <a:solidFill>
                  <a:srgbClr val="000000"/>
                </a:solidFill>
                <a:latin typeface="Times New Roman" panose="02020603050405020304" pitchFamily="18" charset="0"/>
                <a:ea typeface="宋体" panose="02010600030101010101" pitchFamily="2" charset="-122"/>
              </a:rPr>
              <a:t>），无稳定性问题；</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lvl="0" eaLnBrk="1" hangingPunct="1">
              <a:lnSpc>
                <a:spcPct val="125000"/>
              </a:lnSpc>
              <a:spcBef>
                <a:spcPts val="0"/>
              </a:spcBef>
            </a:pPr>
            <a:r>
              <a:rPr kumimoji="1" lang="en-US" altLang="zh-CN" sz="2800" b="1" dirty="0">
                <a:solidFill>
                  <a:srgbClr val="000000"/>
                </a:solidFill>
                <a:latin typeface="Times New Roman" panose="02020603050405020304" pitchFamily="18" charset="0"/>
                <a:ea typeface="宋体" panose="02010600030101010101" pitchFamily="2" charset="-122"/>
              </a:rPr>
              <a:t>(2)</a:t>
            </a:r>
            <a:r>
              <a:rPr kumimoji="1" lang="zh-CN" altLang="en-US" sz="2800" b="1" dirty="0">
                <a:solidFill>
                  <a:srgbClr val="000000"/>
                </a:solidFill>
                <a:latin typeface="Times New Roman" panose="02020603050405020304" pitchFamily="18" charset="0"/>
                <a:ea typeface="宋体" panose="02010600030101010101" pitchFamily="2" charset="-122"/>
              </a:rPr>
              <a:t>任何一个非因果的有限长序列，总可以通过一定</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lvl="0" eaLnBrk="1" hangingPunct="1">
              <a:lnSpc>
                <a:spcPct val="125000"/>
              </a:lnSpc>
              <a:spcBef>
                <a:spcPts val="0"/>
              </a:spcBef>
            </a:pP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zh-CN" altLang="en-US" sz="2800" b="1" dirty="0">
                <a:solidFill>
                  <a:srgbClr val="000000"/>
                </a:solidFill>
                <a:latin typeface="Times New Roman" panose="02020603050405020304" pitchFamily="18" charset="0"/>
                <a:ea typeface="宋体" panose="02010600030101010101" pitchFamily="2" charset="-122"/>
              </a:rPr>
              <a:t>的延时，转变为因果序列， 所以因果性总是满足</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lvl="0" eaLnBrk="1" hangingPunct="1">
              <a:lnSpc>
                <a:spcPct val="125000"/>
              </a:lnSpc>
              <a:spcBef>
                <a:spcPts val="0"/>
              </a:spcBef>
            </a:pP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zh-CN" altLang="en-US"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FF0000"/>
                </a:solidFill>
                <a:latin typeface="Times New Roman" panose="02020603050405020304" pitchFamily="18" charset="0"/>
                <a:ea typeface="宋体" panose="02010600030101010101" pitchFamily="2" charset="-122"/>
              </a:rPr>
              <a:t>可实现</a:t>
            </a:r>
            <a:r>
              <a:rPr kumimoji="1" lang="zh-CN" altLang="en-US" sz="2800" b="1" dirty="0">
                <a:solidFill>
                  <a:srgbClr val="000000"/>
                </a:solidFill>
                <a:latin typeface="Times New Roman" panose="02020603050405020304" pitchFamily="18" charset="0"/>
                <a:ea typeface="宋体" panose="02010600030101010101" pitchFamily="2" charset="-122"/>
              </a:rPr>
              <a:t>）；</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lvl="0" eaLnBrk="1" hangingPunct="1">
              <a:lnSpc>
                <a:spcPct val="125000"/>
              </a:lnSpc>
              <a:spcBef>
                <a:spcPts val="0"/>
              </a:spcBef>
            </a:pPr>
            <a:r>
              <a:rPr kumimoji="1" lang="en-US" altLang="zh-CN" sz="2800" b="1" dirty="0">
                <a:solidFill>
                  <a:srgbClr val="000000"/>
                </a:solidFill>
                <a:latin typeface="Times New Roman" panose="02020603050405020304" pitchFamily="18" charset="0"/>
                <a:ea typeface="宋体" panose="02010600030101010101" pitchFamily="2" charset="-122"/>
              </a:rPr>
              <a:t>(3)</a:t>
            </a:r>
            <a:r>
              <a:rPr kumimoji="1" lang="zh-CN" altLang="en-US" sz="2800" b="1" dirty="0">
                <a:solidFill>
                  <a:srgbClr val="000000"/>
                </a:solidFill>
                <a:latin typeface="Times New Roman" panose="02020603050405020304" pitchFamily="18" charset="0"/>
                <a:ea typeface="宋体" panose="02010600030101010101" pitchFamily="2" charset="-122"/>
              </a:rPr>
              <a:t>在</a:t>
            </a:r>
            <a:r>
              <a:rPr kumimoji="1" lang="zh-CN" altLang="en-US" sz="2800" b="1" dirty="0">
                <a:solidFill>
                  <a:srgbClr val="FF0000"/>
                </a:solidFill>
                <a:latin typeface="Times New Roman" panose="02020603050405020304" pitchFamily="18" charset="0"/>
                <a:ea typeface="宋体" panose="02010600030101010101" pitchFamily="2" charset="-122"/>
              </a:rPr>
              <a:t>满足一定的对称条件</a:t>
            </a:r>
            <a:r>
              <a:rPr kumimoji="1" lang="zh-CN" altLang="en-US" sz="2800" b="1" dirty="0">
                <a:solidFill>
                  <a:srgbClr val="000000"/>
                </a:solidFill>
                <a:latin typeface="Times New Roman" panose="02020603050405020304" pitchFamily="18" charset="0"/>
                <a:ea typeface="宋体" panose="02010600030101010101" pitchFamily="2" charset="-122"/>
              </a:rPr>
              <a:t>下，</a:t>
            </a:r>
            <a:r>
              <a:rPr kumimoji="1" lang="zh-CN" altLang="en-US" sz="2800" b="1" dirty="0">
                <a:solidFill>
                  <a:srgbClr val="FF0000"/>
                </a:solidFill>
                <a:latin typeface="Times New Roman" panose="02020603050405020304" pitchFamily="18" charset="0"/>
                <a:ea typeface="宋体" panose="02010600030101010101" pitchFamily="2" charset="-122"/>
              </a:rPr>
              <a:t>可以实现</a:t>
            </a:r>
            <a:r>
              <a:rPr kumimoji="1" lang="zh-CN" altLang="en-US" sz="2800" b="1" dirty="0">
                <a:solidFill>
                  <a:srgbClr val="000000"/>
                </a:solidFill>
                <a:latin typeface="Times New Roman" panose="02020603050405020304" pitchFamily="18" charset="0"/>
                <a:ea typeface="宋体" panose="02010600030101010101" pitchFamily="2" charset="-122"/>
              </a:rPr>
              <a:t>严格的</a:t>
            </a:r>
            <a:r>
              <a:rPr kumimoji="1" lang="zh-CN" altLang="en-US" sz="2800" b="1" dirty="0">
                <a:solidFill>
                  <a:srgbClr val="FF0000"/>
                </a:solidFill>
                <a:latin typeface="Times New Roman" panose="02020603050405020304" pitchFamily="18" charset="0"/>
                <a:ea typeface="宋体" panose="02010600030101010101" pitchFamily="2" charset="-122"/>
              </a:rPr>
              <a:t>线性</a:t>
            </a:r>
            <a:endParaRPr kumimoji="1" lang="en-US" altLang="zh-CN" sz="2800" b="1" dirty="0">
              <a:solidFill>
                <a:srgbClr val="FF0000"/>
              </a:solidFill>
              <a:latin typeface="Times New Roman" panose="02020603050405020304" pitchFamily="18" charset="0"/>
              <a:ea typeface="宋体" panose="02010600030101010101" pitchFamily="2" charset="-122"/>
            </a:endParaRPr>
          </a:p>
          <a:p>
            <a:pPr lvl="0" eaLnBrk="1" hangingPunct="1">
              <a:lnSpc>
                <a:spcPct val="125000"/>
              </a:lnSpc>
              <a:spcBef>
                <a:spcPts val="0"/>
              </a:spcBef>
            </a:pPr>
            <a:r>
              <a:rPr kumimoji="1" lang="zh-CN" altLang="en-US" sz="2800" b="1" dirty="0">
                <a:solidFill>
                  <a:srgbClr val="FF0000"/>
                </a:solidFill>
                <a:latin typeface="Times New Roman" panose="02020603050405020304" pitchFamily="18" charset="0"/>
                <a:ea typeface="宋体" panose="02010600030101010101" pitchFamily="2" charset="-122"/>
              </a:rPr>
              <a:t>    相位</a:t>
            </a:r>
            <a:r>
              <a:rPr kumimoji="1" lang="zh-CN" altLang="en-US" sz="2800" b="1" dirty="0">
                <a:solidFill>
                  <a:srgbClr val="000000"/>
                </a:solidFill>
                <a:latin typeface="Times New Roman" panose="02020603050405020304" pitchFamily="18" charset="0"/>
                <a:ea typeface="宋体" panose="02010600030101010101" pitchFamily="2" charset="-122"/>
              </a:rPr>
              <a:t>，避免被处理的信号产生相位失真。</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sp>
        <p:nvSpPr>
          <p:cNvPr id="4" name="矩形 3"/>
          <p:cNvSpPr/>
          <p:nvPr/>
        </p:nvSpPr>
        <p:spPr>
          <a:xfrm>
            <a:off x="457200" y="5029200"/>
            <a:ext cx="8534400" cy="1114664"/>
          </a:xfrm>
          <a:prstGeom prst="rect">
            <a:avLst/>
          </a:prstGeom>
        </p:spPr>
        <p:txBody>
          <a:bodyPr wrap="square">
            <a:spAutoFit/>
          </a:bodyPr>
          <a:lstStyle/>
          <a:p>
            <a:pPr lvl="0" eaLnBrk="1" hangingPunct="1">
              <a:lnSpc>
                <a:spcPct val="125000"/>
              </a:lnSpc>
              <a:spcBef>
                <a:spcPct val="50000"/>
              </a:spcBef>
            </a:pPr>
            <a:r>
              <a:rPr kumimoji="1" lang="en-US" altLang="zh-CN" sz="2800" b="1" dirty="0">
                <a:solidFill>
                  <a:srgbClr val="000000"/>
                </a:solidFill>
                <a:latin typeface="Times New Roman" panose="02020603050405020304" pitchFamily="18" charset="0"/>
                <a:ea typeface="宋体" panose="02010600030101010101" pitchFamily="2" charset="-122"/>
              </a:rPr>
              <a:t>IIR</a:t>
            </a:r>
            <a:r>
              <a:rPr kumimoji="1" lang="zh-CN" altLang="en-US" sz="2800" b="1" dirty="0">
                <a:solidFill>
                  <a:srgbClr val="000000"/>
                </a:solidFill>
                <a:latin typeface="Times New Roman" panose="02020603050405020304" pitchFamily="18" charset="0"/>
                <a:ea typeface="宋体" panose="02010600030101010101" pitchFamily="2" charset="-122"/>
              </a:rPr>
              <a:t>滤波器设计中可以利用模拟滤波器的设计结果，采用各种变换法，这些对</a:t>
            </a:r>
            <a:r>
              <a:rPr kumimoji="1" lang="en-US" altLang="zh-CN" sz="2800" b="1" dirty="0">
                <a:solidFill>
                  <a:srgbClr val="000000"/>
                </a:solidFill>
                <a:latin typeface="Times New Roman" panose="02020603050405020304" pitchFamily="18" charset="0"/>
                <a:ea typeface="宋体" panose="02010600030101010101" pitchFamily="2" charset="-122"/>
              </a:rPr>
              <a:t>FIR</a:t>
            </a:r>
            <a:r>
              <a:rPr kumimoji="1" lang="zh-CN" altLang="en-US" sz="2800" b="1" dirty="0">
                <a:solidFill>
                  <a:srgbClr val="000000"/>
                </a:solidFill>
                <a:latin typeface="Times New Roman" panose="02020603050405020304" pitchFamily="18" charset="0"/>
                <a:ea typeface="宋体" panose="02010600030101010101" pitchFamily="2" charset="-122"/>
              </a:rPr>
              <a:t>滤波器设计是不适用的。</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cxnSp>
        <p:nvCxnSpPr>
          <p:cNvPr id="5" name="直接连接符 4"/>
          <p:cNvCxnSpPr/>
          <p:nvPr/>
        </p:nvCxnSpPr>
        <p:spPr bwMode="auto">
          <a:xfrm>
            <a:off x="304800" y="4724400"/>
            <a:ext cx="8686800" cy="0"/>
          </a:xfrm>
          <a:prstGeom prst="line">
            <a:avLst/>
          </a:prstGeom>
          <a:solidFill>
            <a:schemeClr val="accent1"/>
          </a:solidFill>
          <a:ln w="9525" cap="flat" cmpd="sng" algn="ctr">
            <a:solidFill>
              <a:srgbClr val="0000CC"/>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74420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5" name="Rectangle 3">
            <a:extLst>
              <a:ext uri="{FF2B5EF4-FFF2-40B4-BE49-F238E27FC236}">
                <a16:creationId xmlns:a16="http://schemas.microsoft.com/office/drawing/2014/main" id="{CF3F8F3F-1340-473F-8DDB-EC84674A7E4E}"/>
              </a:ext>
            </a:extLst>
          </p:cNvPr>
          <p:cNvSpPr>
            <a:spLocks noGrp="1" noChangeArrowheads="1"/>
          </p:cNvSpPr>
          <p:nvPr>
            <p:ph type="body" idx="1"/>
          </p:nvPr>
        </p:nvSpPr>
        <p:spPr>
          <a:xfrm>
            <a:off x="755576" y="1371600"/>
            <a:ext cx="7772400" cy="2590800"/>
          </a:xfrm>
        </p:spPr>
        <p:txBody>
          <a:bodyPr/>
          <a:lstStyle/>
          <a:p>
            <a:pPr eaLnBrk="1" hangingPunct="1">
              <a:lnSpc>
                <a:spcPct val="150000"/>
              </a:lnSpc>
            </a:pPr>
            <a:r>
              <a:rPr lang="en-US" altLang="zh-CN" sz="2800" b="1" dirty="0">
                <a:latin typeface="+mj-lt"/>
                <a:ea typeface="+mj-ea"/>
              </a:rPr>
              <a:t>5.1.1</a:t>
            </a:r>
            <a:r>
              <a:rPr lang="zh-CN" altLang="en-US" sz="2800" b="1" dirty="0">
                <a:latin typeface="+mj-lt"/>
                <a:ea typeface="+mj-ea"/>
              </a:rPr>
              <a:t> 线性相位的条件</a:t>
            </a:r>
          </a:p>
          <a:p>
            <a:pPr eaLnBrk="1" hangingPunct="1">
              <a:lnSpc>
                <a:spcPct val="150000"/>
              </a:lnSpc>
            </a:pPr>
            <a:r>
              <a:rPr lang="en-US" altLang="zh-CN" sz="2800" b="1" dirty="0">
                <a:latin typeface="+mj-lt"/>
                <a:ea typeface="+mj-ea"/>
              </a:rPr>
              <a:t>5.1.2</a:t>
            </a:r>
            <a:r>
              <a:rPr lang="zh-CN" altLang="en-US" sz="2800" b="1" dirty="0">
                <a:latin typeface="+mj-lt"/>
                <a:ea typeface="+mj-ea"/>
              </a:rPr>
              <a:t> 幅度特性</a:t>
            </a:r>
          </a:p>
          <a:p>
            <a:pPr lvl="0" eaLnBrk="1" hangingPunct="1">
              <a:lnSpc>
                <a:spcPct val="150000"/>
              </a:lnSpc>
            </a:pPr>
            <a:r>
              <a:rPr lang="en-US" altLang="zh-CN" sz="2800" b="1" dirty="0">
                <a:solidFill>
                  <a:srgbClr val="000000"/>
                </a:solidFill>
                <a:latin typeface="Times New Roman"/>
              </a:rPr>
              <a:t>5.1.3</a:t>
            </a:r>
            <a:r>
              <a:rPr lang="zh-CN" altLang="en-US" sz="2800" b="1" dirty="0">
                <a:solidFill>
                  <a:srgbClr val="000000"/>
                </a:solidFill>
                <a:latin typeface="Times New Roman"/>
              </a:rPr>
              <a:t> 零点特性</a:t>
            </a:r>
          </a:p>
          <a:p>
            <a:pPr marL="0" lvl="0" indent="0" eaLnBrk="1" hangingPunct="1">
              <a:lnSpc>
                <a:spcPct val="150000"/>
              </a:lnSpc>
              <a:buNone/>
            </a:pPr>
            <a:endParaRPr lang="en-US" altLang="zh-CN" sz="2800" b="1" dirty="0">
              <a:solidFill>
                <a:srgbClr val="000000"/>
              </a:solidFill>
              <a:latin typeface="Times New Roman"/>
            </a:endParaRPr>
          </a:p>
        </p:txBody>
      </p:sp>
      <p:sp>
        <p:nvSpPr>
          <p:cNvPr id="5"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268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a:t>
            </a:r>
            <a:r>
              <a:rPr lang="zh-CN" altLang="en-US" b="1" dirty="0">
                <a:solidFill>
                  <a:srgbClr val="993300"/>
                </a:solidFill>
                <a:latin typeface="+mj-lt"/>
                <a:ea typeface="楷体_GB2312" pitchFamily="49" charset="-122"/>
              </a:rPr>
              <a:t> 线性相位</a:t>
            </a:r>
            <a:r>
              <a:rPr lang="en-US" altLang="zh-CN" b="1" dirty="0">
                <a:solidFill>
                  <a:srgbClr val="993300"/>
                </a:solidFill>
                <a:latin typeface="+mj-lt"/>
                <a:ea typeface="楷体_GB2312" pitchFamily="49" charset="-122"/>
              </a:rPr>
              <a:t>FIR</a:t>
            </a:r>
            <a:r>
              <a:rPr lang="zh-CN" altLang="en-US" b="1" dirty="0">
                <a:solidFill>
                  <a:srgbClr val="993300"/>
                </a:solidFill>
                <a:latin typeface="+mj-lt"/>
                <a:ea typeface="楷体_GB2312" pitchFamily="49" charset="-122"/>
              </a:rPr>
              <a:t>滤波器的特点</a:t>
            </a:r>
            <a:endParaRPr lang="zh-CN" altLang="en-US" b="1" dirty="0">
              <a:solidFill>
                <a:srgbClr val="993300"/>
              </a:solidFill>
              <a:latin typeface="+mj-ea"/>
              <a:ea typeface="+mj-ea"/>
            </a:endParaRPr>
          </a:p>
        </p:txBody>
      </p:sp>
    </p:spTree>
    <p:extLst>
      <p:ext uri="{BB962C8B-B14F-4D97-AF65-F5344CB8AC3E}">
        <p14:creationId xmlns:p14="http://schemas.microsoft.com/office/powerpoint/2010/main" val="5688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094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5.1.1 </a:t>
            </a:r>
            <a:r>
              <a:rPr lang="zh-CN" altLang="en-US" b="1" dirty="0">
                <a:solidFill>
                  <a:srgbClr val="993300"/>
                </a:solidFill>
                <a:latin typeface="+mj-lt"/>
                <a:ea typeface="楷体_GB2312" pitchFamily="49" charset="-122"/>
              </a:rPr>
              <a:t>线性相位的条件</a:t>
            </a:r>
          </a:p>
        </p:txBody>
      </p:sp>
      <p:graphicFrame>
        <p:nvGraphicFramePr>
          <p:cNvPr id="3" name="Object 5"/>
          <p:cNvGraphicFramePr>
            <a:graphicFrameLocks noChangeAspect="1"/>
          </p:cNvGraphicFramePr>
          <p:nvPr>
            <p:extLst>
              <p:ext uri="{D42A27DB-BD31-4B8C-83A1-F6EECF244321}">
                <p14:modId xmlns:p14="http://schemas.microsoft.com/office/powerpoint/2010/main" val="1816385880"/>
              </p:ext>
            </p:extLst>
          </p:nvPr>
        </p:nvGraphicFramePr>
        <p:xfrm>
          <a:off x="2862263" y="1081238"/>
          <a:ext cx="2571750" cy="508000"/>
        </p:xfrm>
        <a:graphic>
          <a:graphicData uri="http://schemas.openxmlformats.org/presentationml/2006/ole">
            <mc:AlternateContent xmlns:mc="http://schemas.openxmlformats.org/markup-compatibility/2006">
              <mc:Choice xmlns:v="urn:schemas-microsoft-com:vml" Requires="v">
                <p:oleObj name="Equation" r:id="rId4" imgW="1028520" imgH="203040" progId="Equation.DSMT4">
                  <p:embed/>
                </p:oleObj>
              </mc:Choice>
              <mc:Fallback>
                <p:oleObj name="Equation" r:id="rId4" imgW="1028520" imgH="203040" progId="Equation.DSMT4">
                  <p:embed/>
                  <p:pic>
                    <p:nvPicPr>
                      <p:cNvPr id="3" name="Object 5"/>
                      <p:cNvPicPr>
                        <a:picLocks noChangeAspect="1" noChangeArrowheads="1"/>
                      </p:cNvPicPr>
                      <p:nvPr/>
                    </p:nvPicPr>
                    <p:blipFill>
                      <a:blip r:embed="rId5"/>
                      <a:srcRect/>
                      <a:stretch>
                        <a:fillRect/>
                      </a:stretch>
                    </p:blipFill>
                    <p:spPr bwMode="auto">
                      <a:xfrm>
                        <a:off x="2862263" y="1081238"/>
                        <a:ext cx="25717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6"/>
          <p:cNvGraphicFramePr>
            <a:graphicFrameLocks noChangeAspect="1"/>
          </p:cNvGraphicFramePr>
          <p:nvPr>
            <p:extLst>
              <p:ext uri="{D42A27DB-BD31-4B8C-83A1-F6EECF244321}">
                <p14:modId xmlns:p14="http://schemas.microsoft.com/office/powerpoint/2010/main" val="2637675050"/>
              </p:ext>
            </p:extLst>
          </p:nvPr>
        </p:nvGraphicFramePr>
        <p:xfrm>
          <a:off x="2902380" y="1910739"/>
          <a:ext cx="2412900" cy="571500"/>
        </p:xfrm>
        <a:graphic>
          <a:graphicData uri="http://schemas.openxmlformats.org/presentationml/2006/ole">
            <mc:AlternateContent xmlns:mc="http://schemas.openxmlformats.org/markup-compatibility/2006">
              <mc:Choice xmlns:v="urn:schemas-microsoft-com:vml" Requires="v">
                <p:oleObj name="Equation" r:id="rId6" imgW="965160" imgH="228600" progId="Equation.DSMT4">
                  <p:embed/>
                </p:oleObj>
              </mc:Choice>
              <mc:Fallback>
                <p:oleObj name="Equation" r:id="rId6" imgW="965160" imgH="228600" progId="Equation.DSMT4">
                  <p:embed/>
                  <p:pic>
                    <p:nvPicPr>
                      <p:cNvPr id="4" name="Object 6"/>
                      <p:cNvPicPr>
                        <a:picLocks noChangeAspect="1" noChangeArrowheads="1"/>
                      </p:cNvPicPr>
                      <p:nvPr/>
                    </p:nvPicPr>
                    <p:blipFill>
                      <a:blip r:embed="rId7"/>
                      <a:srcRect/>
                      <a:stretch>
                        <a:fillRect/>
                      </a:stretch>
                    </p:blipFill>
                    <p:spPr bwMode="auto">
                      <a:xfrm>
                        <a:off x="2902380" y="1910739"/>
                        <a:ext cx="24129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6"/>
          <p:cNvGraphicFramePr>
            <a:graphicFrameLocks noChangeAspect="1"/>
          </p:cNvGraphicFramePr>
          <p:nvPr>
            <p:extLst>
              <p:ext uri="{D42A27DB-BD31-4B8C-83A1-F6EECF244321}">
                <p14:modId xmlns:p14="http://schemas.microsoft.com/office/powerpoint/2010/main" val="2810574174"/>
              </p:ext>
            </p:extLst>
          </p:nvPr>
        </p:nvGraphicFramePr>
        <p:xfrm>
          <a:off x="3555341" y="2894013"/>
          <a:ext cx="1839913" cy="525462"/>
        </p:xfrm>
        <a:graphic>
          <a:graphicData uri="http://schemas.openxmlformats.org/presentationml/2006/ole">
            <mc:AlternateContent xmlns:mc="http://schemas.openxmlformats.org/markup-compatibility/2006">
              <mc:Choice xmlns:v="urn:schemas-microsoft-com:vml" Requires="v">
                <p:oleObj name="Equation" r:id="rId8" imgW="799920" imgH="228600" progId="Equation.DSMT4">
                  <p:embed/>
                </p:oleObj>
              </mc:Choice>
              <mc:Fallback>
                <p:oleObj name="Equation" r:id="rId8" imgW="799920" imgH="228600" progId="Equation.DSMT4">
                  <p:embed/>
                  <p:pic>
                    <p:nvPicPr>
                      <p:cNvPr id="5" name="Object 6"/>
                      <p:cNvPicPr>
                        <a:picLocks noChangeAspect="1" noChangeArrowheads="1"/>
                      </p:cNvPicPr>
                      <p:nvPr/>
                    </p:nvPicPr>
                    <p:blipFill>
                      <a:blip r:embed="rId9"/>
                      <a:srcRect/>
                      <a:stretch>
                        <a:fillRect/>
                      </a:stretch>
                    </p:blipFill>
                    <p:spPr bwMode="auto">
                      <a:xfrm>
                        <a:off x="3555341" y="2894013"/>
                        <a:ext cx="1839913" cy="52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2"/>
          <p:cNvGraphicFramePr>
            <a:graphicFrameLocks noChangeAspect="1"/>
          </p:cNvGraphicFramePr>
          <p:nvPr>
            <p:extLst>
              <p:ext uri="{D42A27DB-BD31-4B8C-83A1-F6EECF244321}">
                <p14:modId xmlns:p14="http://schemas.microsoft.com/office/powerpoint/2010/main" val="3641681998"/>
              </p:ext>
            </p:extLst>
          </p:nvPr>
        </p:nvGraphicFramePr>
        <p:xfrm>
          <a:off x="3505200" y="3733800"/>
          <a:ext cx="1870075" cy="466725"/>
        </p:xfrm>
        <a:graphic>
          <a:graphicData uri="http://schemas.openxmlformats.org/presentationml/2006/ole">
            <mc:AlternateContent xmlns:mc="http://schemas.openxmlformats.org/markup-compatibility/2006">
              <mc:Choice xmlns:v="urn:schemas-microsoft-com:vml" Requires="v">
                <p:oleObj name="Equation" r:id="rId10" imgW="812520" imgH="203040" progId="Equation.DSMT4">
                  <p:embed/>
                </p:oleObj>
              </mc:Choice>
              <mc:Fallback>
                <p:oleObj name="Equation" r:id="rId10" imgW="812520" imgH="203040" progId="Equation.DSMT4">
                  <p:embed/>
                  <p:pic>
                    <p:nvPicPr>
                      <p:cNvPr id="6" name="Object 2"/>
                      <p:cNvPicPr>
                        <a:picLocks noChangeAspect="1" noChangeArrowheads="1"/>
                      </p:cNvPicPr>
                      <p:nvPr/>
                    </p:nvPicPr>
                    <p:blipFill>
                      <a:blip r:embed="rId11"/>
                      <a:srcRect/>
                      <a:stretch>
                        <a:fillRect/>
                      </a:stretch>
                    </p:blipFill>
                    <p:spPr bwMode="auto">
                      <a:xfrm>
                        <a:off x="3505200" y="3733800"/>
                        <a:ext cx="187007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226412676"/>
              </p:ext>
            </p:extLst>
          </p:nvPr>
        </p:nvGraphicFramePr>
        <p:xfrm>
          <a:off x="3850481" y="5003463"/>
          <a:ext cx="2628900" cy="903287"/>
        </p:xfrm>
        <a:graphic>
          <a:graphicData uri="http://schemas.openxmlformats.org/presentationml/2006/ole">
            <mc:AlternateContent xmlns:mc="http://schemas.openxmlformats.org/markup-compatibility/2006">
              <mc:Choice xmlns:v="urn:schemas-microsoft-com:vml" Requires="v">
                <p:oleObj name="Equation" r:id="rId12" imgW="1143000" imgH="393480" progId="Equation.DSMT4">
                  <p:embed/>
                </p:oleObj>
              </mc:Choice>
              <mc:Fallback>
                <p:oleObj name="Equation" r:id="rId12" imgW="1143000" imgH="393480" progId="Equation.DSMT4">
                  <p:embed/>
                  <p:pic>
                    <p:nvPicPr>
                      <p:cNvPr id="7" name="Object 5"/>
                      <p:cNvPicPr>
                        <a:picLocks noChangeAspect="1" noChangeArrowheads="1"/>
                      </p:cNvPicPr>
                      <p:nvPr/>
                    </p:nvPicPr>
                    <p:blipFill>
                      <a:blip r:embed="rId13"/>
                      <a:srcRect/>
                      <a:stretch>
                        <a:fillRect/>
                      </a:stretch>
                    </p:blipFill>
                    <p:spPr bwMode="auto">
                      <a:xfrm>
                        <a:off x="3850481" y="5003463"/>
                        <a:ext cx="2628900" cy="9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033683969"/>
              </p:ext>
            </p:extLst>
          </p:nvPr>
        </p:nvGraphicFramePr>
        <p:xfrm>
          <a:off x="5410200" y="1892300"/>
          <a:ext cx="2443163" cy="669925"/>
        </p:xfrm>
        <a:graphic>
          <a:graphicData uri="http://schemas.openxmlformats.org/presentationml/2006/ole">
            <mc:AlternateContent xmlns:mc="http://schemas.openxmlformats.org/markup-compatibility/2006">
              <mc:Choice xmlns:v="urn:schemas-microsoft-com:vml" Requires="v">
                <p:oleObj name="Equation" r:id="rId14" imgW="1015920" imgH="279360" progId="Equation.DSMT4">
                  <p:embed/>
                </p:oleObj>
              </mc:Choice>
              <mc:Fallback>
                <p:oleObj name="Equation" r:id="rId14" imgW="1015920" imgH="279360" progId="Equation.DSMT4">
                  <p:embed/>
                  <p:pic>
                    <p:nvPicPr>
                      <p:cNvPr id="8" name="对象 7"/>
                      <p:cNvPicPr>
                        <a:picLocks noChangeAspect="1" noChangeArrowheads="1"/>
                      </p:cNvPicPr>
                      <p:nvPr/>
                    </p:nvPicPr>
                    <p:blipFill>
                      <a:blip r:embed="rId15"/>
                      <a:srcRect/>
                      <a:stretch>
                        <a:fillRect/>
                      </a:stretch>
                    </p:blipFill>
                    <p:spPr bwMode="auto">
                      <a:xfrm>
                        <a:off x="5410200" y="1892300"/>
                        <a:ext cx="24431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p:cNvSpPr/>
          <p:nvPr/>
        </p:nvSpPr>
        <p:spPr>
          <a:xfrm>
            <a:off x="914400" y="1892186"/>
            <a:ext cx="162095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rial" panose="020B0604020202020204" pitchFamily="34" charset="0"/>
              </a:rPr>
              <a:t>频率响应</a:t>
            </a:r>
            <a:endParaRPr kumimoji="0" lang="zh-CN" altLang="en-US" sz="1800" b="1"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10" name="矩形 9"/>
          <p:cNvSpPr/>
          <p:nvPr/>
        </p:nvSpPr>
        <p:spPr>
          <a:xfrm>
            <a:off x="1066800" y="3705552"/>
            <a:ext cx="1627369" cy="523220"/>
          </a:xfrm>
          <a:prstGeom prst="rect">
            <a:avLst/>
          </a:prstGeom>
        </p:spPr>
        <p:txBody>
          <a:bodyPr wrap="none">
            <a:spAutoFit/>
          </a:bodyPr>
          <a:lstStyle/>
          <a:p>
            <a:r>
              <a:rPr lang="zh-CN" altLang="en-US" sz="2800" b="1" dirty="0">
                <a:solidFill>
                  <a:srgbClr val="FF0000"/>
                </a:solidFill>
              </a:rPr>
              <a:t>相频特性</a:t>
            </a:r>
            <a:endParaRPr lang="zh-CN" altLang="en-US" sz="2800" dirty="0">
              <a:solidFill>
                <a:srgbClr val="FF0000"/>
              </a:solidFill>
            </a:endParaRPr>
          </a:p>
        </p:txBody>
      </p:sp>
      <p:sp>
        <p:nvSpPr>
          <p:cNvPr id="11" name="矩形 10"/>
          <p:cNvSpPr/>
          <p:nvPr/>
        </p:nvSpPr>
        <p:spPr>
          <a:xfrm>
            <a:off x="1122575" y="2896255"/>
            <a:ext cx="1627369" cy="523220"/>
          </a:xfrm>
          <a:prstGeom prst="rect">
            <a:avLst/>
          </a:prstGeom>
        </p:spPr>
        <p:txBody>
          <a:bodyPr wrap="none">
            <a:spAutoFit/>
          </a:bodyPr>
          <a:lstStyle/>
          <a:p>
            <a:r>
              <a:rPr lang="zh-CN" altLang="en-US" sz="2800" b="1" dirty="0"/>
              <a:t>幅频特性</a:t>
            </a:r>
            <a:endParaRPr lang="zh-CN" altLang="en-US" sz="2800" dirty="0"/>
          </a:p>
        </p:txBody>
      </p:sp>
      <p:sp>
        <p:nvSpPr>
          <p:cNvPr id="2" name="矩形 1"/>
          <p:cNvSpPr/>
          <p:nvPr/>
        </p:nvSpPr>
        <p:spPr>
          <a:xfrm>
            <a:off x="1018506" y="4238952"/>
            <a:ext cx="3070071" cy="523220"/>
          </a:xfrm>
          <a:prstGeom prst="rect">
            <a:avLst/>
          </a:prstGeom>
        </p:spPr>
        <p:txBody>
          <a:bodyPr wrap="none">
            <a:spAutoFit/>
          </a:bodyPr>
          <a:lstStyle/>
          <a:p>
            <a:r>
              <a:rPr kumimoji="1" lang="zh-CN" altLang="en-US" sz="2800" b="1" dirty="0">
                <a:latin typeface="Times New Roman" panose="02020603050405020304" pitchFamily="18" charset="0"/>
                <a:ea typeface="宋体" panose="02010600030101010101" pitchFamily="2" charset="-122"/>
              </a:rPr>
              <a:t>是频率的线性函数</a:t>
            </a:r>
            <a:endParaRPr lang="zh-CN" altLang="en-US" sz="2800" dirty="0"/>
          </a:p>
        </p:txBody>
      </p:sp>
      <p:sp>
        <p:nvSpPr>
          <p:cNvPr id="14" name="矩形 13"/>
          <p:cNvSpPr/>
          <p:nvPr/>
        </p:nvSpPr>
        <p:spPr>
          <a:xfrm>
            <a:off x="6479381" y="3643997"/>
            <a:ext cx="1832553"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3200" b="1" i="0" u="none" strike="noStrike" kern="0" cap="none" spc="0" normalizeH="0" baseline="0" noProof="0" dirty="0">
                <a:ln>
                  <a:noFill/>
                </a:ln>
                <a:solidFill>
                  <a:srgbClr val="FF0000"/>
                </a:solidFill>
                <a:effectLst/>
                <a:uLnTx/>
                <a:uFillTx/>
                <a:latin typeface="Arial" panose="020B0604020202020204" pitchFamily="34" charset="0"/>
                <a:ea typeface="宋体" panose="02010600030101010101" pitchFamily="2" charset="-122"/>
              </a:rPr>
              <a:t>线性相位</a:t>
            </a:r>
            <a:endParaRPr kumimoji="0" lang="zh-CN" altLang="en-US" sz="1600" b="0" i="0" u="none" strike="noStrike" kern="0" cap="none" spc="0" normalizeH="0" baseline="0" noProof="0" dirty="0">
              <a:ln>
                <a:noFill/>
              </a:ln>
              <a:solidFill>
                <a:srgbClr val="FF0000"/>
              </a:solidFill>
              <a:effectLst/>
              <a:uLnTx/>
              <a:uFillTx/>
            </a:endParaRPr>
          </a:p>
        </p:txBody>
      </p:sp>
      <p:sp>
        <p:nvSpPr>
          <p:cNvPr id="16" name="矩形 15"/>
          <p:cNvSpPr/>
          <p:nvPr/>
        </p:nvSpPr>
        <p:spPr>
          <a:xfrm>
            <a:off x="1051005" y="5244476"/>
            <a:ext cx="2799164"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系统的群时延为 </a:t>
            </a:r>
            <a:endParaRPr kumimoji="0" lang="zh-CN" alt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6374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5"/>
          <p:cNvGraphicFramePr>
            <a:graphicFrameLocks noGrp="1" noChangeAspect="1"/>
          </p:cNvGraphicFramePr>
          <p:nvPr>
            <p:extLst>
              <p:ext uri="{D42A27DB-BD31-4B8C-83A1-F6EECF244321}">
                <p14:modId xmlns:p14="http://schemas.microsoft.com/office/powerpoint/2010/main" val="1581545735"/>
              </p:ext>
            </p:extLst>
          </p:nvPr>
        </p:nvGraphicFramePr>
        <p:xfrm>
          <a:off x="2600880" y="1442403"/>
          <a:ext cx="3015900" cy="1079100"/>
        </p:xfrm>
        <a:graphic>
          <a:graphicData uri="http://schemas.openxmlformats.org/presentationml/2006/ole">
            <mc:AlternateContent xmlns:mc="http://schemas.openxmlformats.org/markup-compatibility/2006">
              <mc:Choice xmlns:v="urn:schemas-microsoft-com:vml" Requires="v">
                <p:oleObj name="Equation" r:id="rId2" imgW="1206360" imgH="431640" progId="Equation.DSMT4">
                  <p:embed/>
                </p:oleObj>
              </mc:Choice>
              <mc:Fallback>
                <p:oleObj name="Equation" r:id="rId2" imgW="1206360" imgH="431640" progId="Equation.DSMT4">
                  <p:embed/>
                  <p:pic>
                    <p:nvPicPr>
                      <p:cNvPr id="15" name="Object 15"/>
                      <p:cNvPicPr>
                        <a:picLocks noGrp="1" noChangeAspect="1" noChangeArrowheads="1"/>
                      </p:cNvPicPr>
                      <p:nvPr/>
                    </p:nvPicPr>
                    <p:blipFill>
                      <a:blip r:embed="rId3"/>
                      <a:srcRect/>
                      <a:stretch>
                        <a:fillRect/>
                      </a:stretch>
                    </p:blipFill>
                    <p:spPr bwMode="auto">
                      <a:xfrm>
                        <a:off x="2600880" y="1442403"/>
                        <a:ext cx="3015900" cy="107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Rectangle 7"/>
          <p:cNvSpPr/>
          <p:nvPr/>
        </p:nvSpPr>
        <p:spPr>
          <a:xfrm>
            <a:off x="609600" y="838200"/>
            <a:ext cx="6133410" cy="523220"/>
          </a:xfrm>
          <a:prstGeom prst="rect">
            <a:avLst/>
          </a:prstGeom>
        </p:spPr>
        <p:txBody>
          <a:bodyPr wrap="none">
            <a:spAutoFit/>
          </a:bodyPr>
          <a:lstStyle/>
          <a:p>
            <a:pPr lvl="0"/>
            <a:r>
              <a:rPr kumimoji="1"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FIR</a:t>
            </a:r>
            <a:r>
              <a:rPr lang="zh-CN" altLang="en-US" sz="2800" b="1" dirty="0">
                <a:solidFill>
                  <a:srgbClr val="000000"/>
                </a:solidFill>
                <a:latin typeface="+mn-ea"/>
                <a:ea typeface="+mn-ea"/>
              </a:rPr>
              <a:t>滤波器的单位脉冲响应</a:t>
            </a:r>
            <a:r>
              <a:rPr lang="en-US" altLang="zh-CN" sz="2800" b="1" i="1" dirty="0">
                <a:solidFill>
                  <a:srgbClr val="000000"/>
                </a:solidFill>
                <a:latin typeface="Times New Roman"/>
                <a:ea typeface="宋体"/>
              </a:rPr>
              <a:t>h</a:t>
            </a:r>
            <a:r>
              <a:rPr lang="en-US" altLang="zh-CN" sz="2800" b="1" dirty="0">
                <a:solidFill>
                  <a:srgbClr val="000000"/>
                </a:solidFill>
                <a:latin typeface="Times New Roman"/>
                <a:ea typeface="宋体"/>
              </a:rPr>
              <a:t>(</a:t>
            </a:r>
            <a:r>
              <a:rPr lang="en-US" altLang="zh-CN" sz="2800" b="1" i="1" dirty="0">
                <a:solidFill>
                  <a:srgbClr val="000000"/>
                </a:solidFill>
                <a:latin typeface="Times New Roman"/>
                <a:ea typeface="宋体"/>
              </a:rPr>
              <a:t>n</a:t>
            </a:r>
            <a:r>
              <a:rPr lang="en-US" altLang="zh-CN" sz="2800" b="1" dirty="0">
                <a:solidFill>
                  <a:srgbClr val="000000"/>
                </a:solidFill>
                <a:latin typeface="Times New Roman"/>
                <a:ea typeface="宋体"/>
              </a:rPr>
              <a:t>)</a:t>
            </a:r>
            <a:r>
              <a:rPr lang="zh-CN" altLang="en-US" sz="2800" b="1" dirty="0">
                <a:solidFill>
                  <a:srgbClr val="000000"/>
                </a:solidFill>
                <a:latin typeface="Times New Roman"/>
                <a:ea typeface="宋体"/>
              </a:rPr>
              <a:t>有限长</a:t>
            </a:r>
            <a:endParaRPr lang="zh-CN" altLang="en-US" b="1" dirty="0">
              <a:solidFill>
                <a:srgbClr val="000000"/>
              </a:solidFill>
              <a:latin typeface="Times New Roman"/>
              <a:ea typeface="宋体"/>
            </a:endParaRPr>
          </a:p>
        </p:txBody>
      </p:sp>
      <p:graphicFrame>
        <p:nvGraphicFramePr>
          <p:cNvPr id="20" name="对象 8">
            <a:extLst>
              <a:ext uri="{FF2B5EF4-FFF2-40B4-BE49-F238E27FC236}">
                <a16:creationId xmlns:a16="http://schemas.microsoft.com/office/drawing/2014/main" id="{20EC16A3-9A28-44F8-B7D2-6456AC350461}"/>
              </a:ext>
            </a:extLst>
          </p:cNvPr>
          <p:cNvGraphicFramePr>
            <a:graphicFrameLocks noChangeAspect="1"/>
          </p:cNvGraphicFramePr>
          <p:nvPr>
            <p:extLst>
              <p:ext uri="{D42A27DB-BD31-4B8C-83A1-F6EECF244321}">
                <p14:modId xmlns:p14="http://schemas.microsoft.com/office/powerpoint/2010/main" val="1554682789"/>
              </p:ext>
            </p:extLst>
          </p:nvPr>
        </p:nvGraphicFramePr>
        <p:xfrm>
          <a:off x="6629400" y="856615"/>
          <a:ext cx="2420938" cy="509588"/>
        </p:xfrm>
        <a:graphic>
          <a:graphicData uri="http://schemas.openxmlformats.org/presentationml/2006/ole">
            <mc:AlternateContent xmlns:mc="http://schemas.openxmlformats.org/markup-compatibility/2006">
              <mc:Choice xmlns:v="urn:schemas-microsoft-com:vml" Requires="v">
                <p:oleObj name="Equation" r:id="rId4" imgW="965160" imgH="203040" progId="Equation.DSMT4">
                  <p:embed/>
                </p:oleObj>
              </mc:Choice>
              <mc:Fallback>
                <p:oleObj name="Equation" r:id="rId4" imgW="965160" imgH="203040" progId="Equation.DSMT4">
                  <p:embed/>
                  <p:pic>
                    <p:nvPicPr>
                      <p:cNvPr id="20" name="对象 8">
                        <a:extLst>
                          <a:ext uri="{FF2B5EF4-FFF2-40B4-BE49-F238E27FC236}">
                            <a16:creationId xmlns:a16="http://schemas.microsoft.com/office/drawing/2014/main" id="{20EC16A3-9A28-44F8-B7D2-6456AC350461}"/>
                          </a:ext>
                        </a:extLst>
                      </p:cNvPr>
                      <p:cNvPicPr>
                        <a:picLocks noChangeAspect="1" noChangeArrowheads="1"/>
                      </p:cNvPicPr>
                      <p:nvPr/>
                    </p:nvPicPr>
                    <p:blipFill>
                      <a:blip r:embed="rId5"/>
                      <a:srcRect/>
                      <a:stretch>
                        <a:fillRect/>
                      </a:stretch>
                    </p:blipFill>
                    <p:spPr bwMode="auto">
                      <a:xfrm>
                        <a:off x="6629400" y="856615"/>
                        <a:ext cx="2420938"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7772400" y="1644143"/>
            <a:ext cx="873957" cy="523220"/>
          </a:xfrm>
          <a:prstGeom prst="rect">
            <a:avLst/>
          </a:prstGeom>
        </p:spPr>
        <p:txBody>
          <a:bodyPr wrap="none">
            <a:spAutoFit/>
          </a:bodyPr>
          <a:lstStyle/>
          <a:p>
            <a:pPr lvl="0" algn="r" eaLnBrk="1" hangingPunct="1">
              <a:spcBef>
                <a:spcPct val="50000"/>
              </a:spcBef>
            </a:pPr>
            <a:r>
              <a:rPr kumimoji="1" lang="en-US" altLang="zh-CN" sz="2800" b="1" dirty="0">
                <a:solidFill>
                  <a:srgbClr val="000000"/>
                </a:solidFill>
                <a:latin typeface="Times New Roman" panose="02020603050405020304" pitchFamily="18" charset="0"/>
                <a:ea typeface="宋体" panose="02010600030101010101" pitchFamily="2" charset="-122"/>
              </a:rPr>
              <a:t>(5.3)</a:t>
            </a:r>
            <a:endParaRPr kumimoji="1" lang="zh-CN" altLang="en-US" sz="2800" b="1" dirty="0">
              <a:solidFill>
                <a:srgbClr val="000000"/>
              </a:solidFill>
              <a:latin typeface="Times New Roman" panose="02020603050405020304" pitchFamily="18" charset="0"/>
              <a:ea typeface="宋体" panose="02010600030101010101" pitchFamily="2" charset="-122"/>
            </a:endParaRPr>
          </a:p>
        </p:txBody>
      </p:sp>
      <p:graphicFrame>
        <p:nvGraphicFramePr>
          <p:cNvPr id="21" name="Object 5"/>
          <p:cNvGraphicFramePr>
            <a:graphicFrameLocks noChangeAspect="1"/>
          </p:cNvGraphicFramePr>
          <p:nvPr>
            <p:extLst>
              <p:ext uri="{D42A27DB-BD31-4B8C-83A1-F6EECF244321}">
                <p14:modId xmlns:p14="http://schemas.microsoft.com/office/powerpoint/2010/main" val="2772811635"/>
              </p:ext>
            </p:extLst>
          </p:nvPr>
        </p:nvGraphicFramePr>
        <p:xfrm>
          <a:off x="1676400" y="2925943"/>
          <a:ext cx="5715000" cy="1079500"/>
        </p:xfrm>
        <a:graphic>
          <a:graphicData uri="http://schemas.openxmlformats.org/presentationml/2006/ole">
            <mc:AlternateContent xmlns:mc="http://schemas.openxmlformats.org/markup-compatibility/2006">
              <mc:Choice xmlns:v="urn:schemas-microsoft-com:vml" Requires="v">
                <p:oleObj name="Equation" r:id="rId6" imgW="2286000" imgH="431640" progId="Equation.DSMT4">
                  <p:embed/>
                </p:oleObj>
              </mc:Choice>
              <mc:Fallback>
                <p:oleObj name="Equation" r:id="rId6" imgW="2286000" imgH="431640" progId="Equation.DSMT4">
                  <p:embed/>
                  <p:pic>
                    <p:nvPicPr>
                      <p:cNvPr id="21" name="Object 5"/>
                      <p:cNvPicPr>
                        <a:picLocks noChangeAspect="1" noChangeArrowheads="1"/>
                      </p:cNvPicPr>
                      <p:nvPr/>
                    </p:nvPicPr>
                    <p:blipFill>
                      <a:blip r:embed="rId7"/>
                      <a:srcRect/>
                      <a:stretch>
                        <a:fillRect/>
                      </a:stretch>
                    </p:blipFill>
                    <p:spPr bwMode="auto">
                      <a:xfrm>
                        <a:off x="1676400" y="2925943"/>
                        <a:ext cx="57150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矩形 22"/>
          <p:cNvSpPr/>
          <p:nvPr/>
        </p:nvSpPr>
        <p:spPr>
          <a:xfrm>
            <a:off x="7772400" y="3061260"/>
            <a:ext cx="873957" cy="523220"/>
          </a:xfrm>
          <a:prstGeom prst="rect">
            <a:avLst/>
          </a:prstGeom>
        </p:spPr>
        <p:txBody>
          <a:bodyPr wrap="none">
            <a:spAutoFit/>
          </a:bodyPr>
          <a:lstStyle/>
          <a:p>
            <a:pPr lvl="0" algn="r" eaLnBrk="1" hangingPunct="1">
              <a:spcBef>
                <a:spcPct val="50000"/>
              </a:spcBef>
            </a:pPr>
            <a:r>
              <a:rPr kumimoji="1" lang="en-US" altLang="zh-CN" sz="2800" b="1" dirty="0">
                <a:solidFill>
                  <a:srgbClr val="000000"/>
                </a:solidFill>
                <a:latin typeface="Times New Roman" panose="02020603050405020304" pitchFamily="18" charset="0"/>
                <a:ea typeface="宋体" panose="02010600030101010101" pitchFamily="2" charset="-122"/>
              </a:rPr>
              <a:t>(5.4)</a:t>
            </a:r>
            <a:endParaRPr kumimoji="1" lang="zh-CN" altLang="en-US" sz="2800" b="1" dirty="0">
              <a:solidFill>
                <a:srgbClr val="000000"/>
              </a:solidFill>
              <a:latin typeface="Times New Roman" panose="02020603050405020304" pitchFamily="18" charset="0"/>
              <a:ea typeface="宋体" panose="02010600030101010101" pitchFamily="2" charset="-122"/>
            </a:endParaRPr>
          </a:p>
        </p:txBody>
      </p:sp>
      <p:sp>
        <p:nvSpPr>
          <p:cNvPr id="9" name="矩形 8"/>
          <p:cNvSpPr/>
          <p:nvPr/>
        </p:nvSpPr>
        <p:spPr>
          <a:xfrm>
            <a:off x="5280784" y="3900701"/>
            <a:ext cx="1625766" cy="95410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正或负的</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实函数</a:t>
            </a:r>
            <a:endParaRPr kumimoji="0" lang="zh-CN" altLang="en-US" sz="1800" b="1" i="0" u="none" strike="noStrike" kern="0" cap="none" spc="0" normalizeH="0" baseline="0" noProof="0" dirty="0">
              <a:ln>
                <a:noFill/>
              </a:ln>
              <a:solidFill>
                <a:sysClr val="windowText" lastClr="000000"/>
              </a:solidFill>
              <a:effectLst/>
              <a:uLnTx/>
              <a:uFillTx/>
            </a:endParaRPr>
          </a:p>
        </p:txBody>
      </p:sp>
      <p:sp>
        <p:nvSpPr>
          <p:cNvPr id="24" name="矩形 23"/>
          <p:cNvSpPr/>
          <p:nvPr/>
        </p:nvSpPr>
        <p:spPr>
          <a:xfrm>
            <a:off x="55443" y="3147640"/>
            <a:ext cx="162095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rial" panose="020B0604020202020204" pitchFamily="34" charset="0"/>
              </a:rPr>
              <a:t>频率响应</a:t>
            </a:r>
            <a:endParaRPr kumimoji="0" lang="zh-CN" altLang="en-US" sz="1800" b="1"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25" name="Line 11"/>
          <p:cNvSpPr>
            <a:spLocks noChangeShapeType="1"/>
          </p:cNvSpPr>
          <p:nvPr/>
        </p:nvSpPr>
        <p:spPr bwMode="auto">
          <a:xfrm>
            <a:off x="5559000" y="3731947"/>
            <a:ext cx="918000" cy="1853"/>
          </a:xfrm>
          <a:prstGeom prst="line">
            <a:avLst/>
          </a:prstGeom>
          <a:noFill/>
          <a:ln w="25400">
            <a:solidFill>
              <a:srgbClr val="2A53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graphicFrame>
        <p:nvGraphicFramePr>
          <p:cNvPr id="26" name="Object 2"/>
          <p:cNvGraphicFramePr>
            <a:graphicFrameLocks noChangeAspect="1"/>
          </p:cNvGraphicFramePr>
          <p:nvPr>
            <p:extLst>
              <p:ext uri="{D42A27DB-BD31-4B8C-83A1-F6EECF244321}">
                <p14:modId xmlns:p14="http://schemas.microsoft.com/office/powerpoint/2010/main" val="2666487476"/>
              </p:ext>
            </p:extLst>
          </p:nvPr>
        </p:nvGraphicFramePr>
        <p:xfrm>
          <a:off x="3078768" y="5097936"/>
          <a:ext cx="1950048" cy="487296"/>
        </p:xfrm>
        <a:graphic>
          <a:graphicData uri="http://schemas.openxmlformats.org/presentationml/2006/ole">
            <mc:AlternateContent xmlns:mc="http://schemas.openxmlformats.org/markup-compatibility/2006">
              <mc:Choice xmlns:v="urn:schemas-microsoft-com:vml" Requires="v">
                <p:oleObj name="Equation" r:id="rId8" imgW="812520" imgH="203040" progId="Equation.DSMT4">
                  <p:embed/>
                </p:oleObj>
              </mc:Choice>
              <mc:Fallback>
                <p:oleObj name="Equation" r:id="rId8" imgW="812520" imgH="203040" progId="Equation.DSMT4">
                  <p:embed/>
                  <p:pic>
                    <p:nvPicPr>
                      <p:cNvPr id="26" name="Object 2"/>
                      <p:cNvPicPr>
                        <a:picLocks noChangeAspect="1" noChangeArrowheads="1"/>
                      </p:cNvPicPr>
                      <p:nvPr/>
                    </p:nvPicPr>
                    <p:blipFill>
                      <a:blip r:embed="rId9"/>
                      <a:srcRect/>
                      <a:stretch>
                        <a:fillRect/>
                      </a:stretch>
                    </p:blipFill>
                    <p:spPr bwMode="auto">
                      <a:xfrm>
                        <a:off x="3078768" y="5097936"/>
                        <a:ext cx="1950048" cy="487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4"/>
          <p:cNvGraphicFramePr>
            <a:graphicFrameLocks noChangeAspect="1"/>
          </p:cNvGraphicFramePr>
          <p:nvPr>
            <p:extLst>
              <p:ext uri="{D42A27DB-BD31-4B8C-83A1-F6EECF244321}">
                <p14:modId xmlns:p14="http://schemas.microsoft.com/office/powerpoint/2010/main" val="3836507916"/>
              </p:ext>
            </p:extLst>
          </p:nvPr>
        </p:nvGraphicFramePr>
        <p:xfrm>
          <a:off x="3078768" y="5704174"/>
          <a:ext cx="2560032" cy="487296"/>
        </p:xfrm>
        <a:graphic>
          <a:graphicData uri="http://schemas.openxmlformats.org/presentationml/2006/ole">
            <mc:AlternateContent xmlns:mc="http://schemas.openxmlformats.org/markup-compatibility/2006">
              <mc:Choice xmlns:v="urn:schemas-microsoft-com:vml" Requires="v">
                <p:oleObj name="Equation" r:id="rId10" imgW="1066680" imgH="203040" progId="Equation.DSMT4">
                  <p:embed/>
                </p:oleObj>
              </mc:Choice>
              <mc:Fallback>
                <p:oleObj name="Equation" r:id="rId10" imgW="1066680" imgH="203040" progId="Equation.DSMT4">
                  <p:embed/>
                  <p:pic>
                    <p:nvPicPr>
                      <p:cNvPr id="27" name="Object 4"/>
                      <p:cNvPicPr>
                        <a:picLocks noChangeAspect="1" noChangeArrowheads="1"/>
                      </p:cNvPicPr>
                      <p:nvPr/>
                    </p:nvPicPr>
                    <p:blipFill>
                      <a:blip r:embed="rId11"/>
                      <a:srcRect/>
                      <a:stretch>
                        <a:fillRect/>
                      </a:stretch>
                    </p:blipFill>
                    <p:spPr bwMode="auto">
                      <a:xfrm>
                        <a:off x="3078768" y="5704174"/>
                        <a:ext cx="2560032" cy="48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Text Box 2"/>
          <p:cNvSpPr txBox="1">
            <a:spLocks noChangeArrowheads="1"/>
          </p:cNvSpPr>
          <p:nvPr/>
        </p:nvSpPr>
        <p:spPr bwMode="auto">
          <a:xfrm>
            <a:off x="695810" y="5668250"/>
            <a:ext cx="23829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另外一种情况</a:t>
            </a:r>
          </a:p>
        </p:txBody>
      </p:sp>
      <p:sp>
        <p:nvSpPr>
          <p:cNvPr id="29" name="Rectangle 2"/>
          <p:cNvSpPr txBox="1">
            <a:spLocks noChangeArrowheads="1"/>
          </p:cNvSpPr>
          <p:nvPr/>
        </p:nvSpPr>
        <p:spPr bwMode="auto">
          <a:xfrm>
            <a:off x="695810" y="4482180"/>
            <a:ext cx="2590800" cy="547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8580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858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858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858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800" b="1" dirty="0">
                <a:solidFill>
                  <a:srgbClr val="C00000"/>
                </a:solidFill>
                <a:latin typeface="宋体" panose="02010600030101010101" pitchFamily="2" charset="-122"/>
                <a:cs typeface="Times New Roman" panose="02020603050405020304" pitchFamily="18" charset="0"/>
              </a:rPr>
              <a:t>广义线性相位</a:t>
            </a:r>
          </a:p>
        </p:txBody>
      </p:sp>
      <p:sp>
        <p:nvSpPr>
          <p:cNvPr id="31" name="矩形 30"/>
          <p:cNvSpPr/>
          <p:nvPr/>
        </p:nvSpPr>
        <p:spPr>
          <a:xfrm>
            <a:off x="5504286" y="2287465"/>
            <a:ext cx="1887114" cy="523220"/>
          </a:xfrm>
          <a:prstGeom prst="rect">
            <a:avLst/>
          </a:prstGeom>
        </p:spPr>
        <p:txBody>
          <a:bodyPr wrap="square">
            <a:spAutoFit/>
          </a:bodyPr>
          <a:lstStyle/>
          <a:p>
            <a:r>
              <a:rPr lang="zh-CN" altLang="en-US" sz="2800" b="1" dirty="0">
                <a:solidFill>
                  <a:srgbClr val="0000CC"/>
                </a:solidFill>
                <a:latin typeface="Times New Roman" panose="02020603050405020304" pitchFamily="18" charset="0"/>
                <a:ea typeface="宋体"/>
                <a:cs typeface="Times New Roman" panose="02020603050405020304" pitchFamily="18" charset="0"/>
              </a:rPr>
              <a:t>阶数</a:t>
            </a:r>
            <a:r>
              <a:rPr lang="zh-CN" altLang="en-US" sz="2800" b="1" dirty="0">
                <a:solidFill>
                  <a:srgbClr val="000000"/>
                </a:solidFill>
                <a:latin typeface="Times New Roman" panose="02020603050405020304" pitchFamily="18" charset="0"/>
                <a:ea typeface="宋体"/>
                <a:cs typeface="Times New Roman" panose="02020603050405020304" pitchFamily="18" charset="0"/>
              </a:rPr>
              <a:t> </a:t>
            </a:r>
            <a:r>
              <a:rPr lang="en-US" altLang="zh-CN" sz="2800" b="1" i="1" dirty="0">
                <a:solidFill>
                  <a:srgbClr val="0000CC"/>
                </a:solidFill>
                <a:latin typeface="Times New Roman" panose="02020603050405020304" pitchFamily="18" charset="0"/>
                <a:ea typeface="宋体"/>
                <a:cs typeface="Times New Roman" panose="02020603050405020304" pitchFamily="18" charset="0"/>
              </a:rPr>
              <a:t>N</a:t>
            </a:r>
            <a:r>
              <a:rPr lang="en-US" altLang="zh-CN" sz="2800" b="1" dirty="0">
                <a:solidFill>
                  <a:srgbClr val="0000CC"/>
                </a:solidFill>
                <a:latin typeface="Times New Roman" panose="02020603050405020304" pitchFamily="18" charset="0"/>
                <a:ea typeface="宋体"/>
                <a:cs typeface="Times New Roman" panose="02020603050405020304" pitchFamily="18" charset="0"/>
              </a:rPr>
              <a:t>-1</a:t>
            </a:r>
            <a:endParaRPr lang="zh-CN" altLang="en-US" dirty="0">
              <a:solidFill>
                <a:srgbClr val="0000CC"/>
              </a:solidFill>
            </a:endParaRPr>
          </a:p>
        </p:txBody>
      </p:sp>
      <p:sp>
        <p:nvSpPr>
          <p:cNvPr id="1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094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5.1.1 </a:t>
            </a:r>
            <a:r>
              <a:rPr lang="zh-CN" altLang="en-US" b="1" dirty="0">
                <a:solidFill>
                  <a:srgbClr val="993300"/>
                </a:solidFill>
                <a:latin typeface="+mj-lt"/>
                <a:ea typeface="楷体_GB2312" pitchFamily="49" charset="-122"/>
              </a:rPr>
              <a:t>线性相位的条件</a:t>
            </a:r>
          </a:p>
        </p:txBody>
      </p:sp>
    </p:spTree>
    <p:extLst>
      <p:ext uri="{BB962C8B-B14F-4D97-AF65-F5344CB8AC3E}">
        <p14:creationId xmlns:p14="http://schemas.microsoft.com/office/powerpoint/2010/main" val="286233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9" grpId="0"/>
      <p:bldP spid="25" grpId="0" animBg="1"/>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extLst>
              <p:ext uri="{D42A27DB-BD31-4B8C-83A1-F6EECF244321}">
                <p14:modId xmlns:p14="http://schemas.microsoft.com/office/powerpoint/2010/main" val="3801958527"/>
              </p:ext>
            </p:extLst>
          </p:nvPr>
        </p:nvGraphicFramePr>
        <p:xfrm>
          <a:off x="1290408" y="1478664"/>
          <a:ext cx="4773384" cy="906444"/>
        </p:xfrm>
        <a:graphic>
          <a:graphicData uri="http://schemas.openxmlformats.org/presentationml/2006/ole">
            <mc:AlternateContent xmlns:mc="http://schemas.openxmlformats.org/markup-compatibility/2006">
              <mc:Choice xmlns:v="urn:schemas-microsoft-com:vml" Requires="v">
                <p:oleObj name="Equation" r:id="rId2" imgW="2273040" imgH="431640" progId="Equation.DSMT4">
                  <p:embed/>
                </p:oleObj>
              </mc:Choice>
              <mc:Fallback>
                <p:oleObj name="Equation" r:id="rId2" imgW="2273040" imgH="431640" progId="Equation.DSMT4">
                  <p:embed/>
                  <p:pic>
                    <p:nvPicPr>
                      <p:cNvPr id="3" name="Object 5"/>
                      <p:cNvPicPr>
                        <a:picLocks noChangeAspect="1" noChangeArrowheads="1"/>
                      </p:cNvPicPr>
                      <p:nvPr/>
                    </p:nvPicPr>
                    <p:blipFill>
                      <a:blip r:embed="rId3"/>
                      <a:srcRect/>
                      <a:stretch>
                        <a:fillRect/>
                      </a:stretch>
                    </p:blipFill>
                    <p:spPr bwMode="auto">
                      <a:xfrm>
                        <a:off x="1290408" y="1478664"/>
                        <a:ext cx="4773384"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2"/>
          <p:cNvGraphicFramePr>
            <a:graphicFrameLocks noChangeAspect="1"/>
          </p:cNvGraphicFramePr>
          <p:nvPr>
            <p:extLst>
              <p:ext uri="{D42A27DB-BD31-4B8C-83A1-F6EECF244321}">
                <p14:modId xmlns:p14="http://schemas.microsoft.com/office/powerpoint/2010/main" val="1307262340"/>
              </p:ext>
            </p:extLst>
          </p:nvPr>
        </p:nvGraphicFramePr>
        <p:xfrm>
          <a:off x="3048000" y="914400"/>
          <a:ext cx="1950048" cy="487296"/>
        </p:xfrm>
        <a:graphic>
          <a:graphicData uri="http://schemas.openxmlformats.org/presentationml/2006/ole">
            <mc:AlternateContent xmlns:mc="http://schemas.openxmlformats.org/markup-compatibility/2006">
              <mc:Choice xmlns:v="urn:schemas-microsoft-com:vml" Requires="v">
                <p:oleObj name="Equation" r:id="rId4" imgW="812520" imgH="203040" progId="Equation.DSMT4">
                  <p:embed/>
                </p:oleObj>
              </mc:Choice>
              <mc:Fallback>
                <p:oleObj name="Equation" r:id="rId4" imgW="812520" imgH="203040" progId="Equation.DSMT4">
                  <p:embed/>
                  <p:pic>
                    <p:nvPicPr>
                      <p:cNvPr id="4" name="Object 2"/>
                      <p:cNvPicPr>
                        <a:picLocks noChangeAspect="1" noChangeArrowheads="1"/>
                      </p:cNvPicPr>
                      <p:nvPr/>
                    </p:nvPicPr>
                    <p:blipFill>
                      <a:blip r:embed="rId5"/>
                      <a:srcRect/>
                      <a:stretch>
                        <a:fillRect/>
                      </a:stretch>
                    </p:blipFill>
                    <p:spPr bwMode="auto">
                      <a:xfrm>
                        <a:off x="3048000" y="914400"/>
                        <a:ext cx="1950048" cy="487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2265264101"/>
              </p:ext>
            </p:extLst>
          </p:nvPr>
        </p:nvGraphicFramePr>
        <p:xfrm>
          <a:off x="442044" y="2362200"/>
          <a:ext cx="7787556" cy="906444"/>
        </p:xfrm>
        <a:graphic>
          <a:graphicData uri="http://schemas.openxmlformats.org/presentationml/2006/ole">
            <mc:AlternateContent xmlns:mc="http://schemas.openxmlformats.org/markup-compatibility/2006">
              <mc:Choice xmlns:v="urn:schemas-microsoft-com:vml" Requires="v">
                <p:oleObj name="Equation" r:id="rId6" imgW="3708360" imgH="431640" progId="Equation.DSMT4">
                  <p:embed/>
                </p:oleObj>
              </mc:Choice>
              <mc:Fallback>
                <p:oleObj name="Equation" r:id="rId6" imgW="3708360" imgH="431640" progId="Equation.DSMT4">
                  <p:embed/>
                  <p:pic>
                    <p:nvPicPr>
                      <p:cNvPr id="5" name="Object 5"/>
                      <p:cNvPicPr>
                        <a:picLocks noChangeAspect="1" noChangeArrowheads="1"/>
                      </p:cNvPicPr>
                      <p:nvPr/>
                    </p:nvPicPr>
                    <p:blipFill>
                      <a:blip r:embed="rId7"/>
                      <a:srcRect/>
                      <a:stretch>
                        <a:fillRect/>
                      </a:stretch>
                    </p:blipFill>
                    <p:spPr bwMode="auto">
                      <a:xfrm>
                        <a:off x="442044" y="2362200"/>
                        <a:ext cx="7787556"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9"/>
          <p:cNvSpPr txBox="1">
            <a:spLocks noChangeArrowheads="1"/>
          </p:cNvSpPr>
          <p:nvPr/>
        </p:nvSpPr>
        <p:spPr bwMode="auto">
          <a:xfrm>
            <a:off x="956956" y="868363"/>
            <a:ext cx="19386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zh-CN" altLang="en-US" sz="2800" b="1" dirty="0">
                <a:latin typeface="宋体" panose="02010600030101010101" pitchFamily="2" charset="-122"/>
                <a:ea typeface="宋体" panose="02010600030101010101" pitchFamily="2" charset="-122"/>
              </a:rPr>
              <a:t>一种情况</a:t>
            </a:r>
            <a:r>
              <a:rPr lang="zh-CN" altLang="en-US" sz="2800" b="1" dirty="0">
                <a:latin typeface="Century Gothic" panose="020B0502020202020204" pitchFamily="34" charset="0"/>
                <a:ea typeface="宋体" panose="02010600030101010101" pitchFamily="2" charset="-122"/>
              </a:rPr>
              <a:t>：</a:t>
            </a:r>
          </a:p>
        </p:txBody>
      </p:sp>
      <p:sp>
        <p:nvSpPr>
          <p:cNvPr id="7" name="矩形 6"/>
          <p:cNvSpPr/>
          <p:nvPr/>
        </p:nvSpPr>
        <p:spPr>
          <a:xfrm>
            <a:off x="304800" y="3235608"/>
            <a:ext cx="7851186" cy="954107"/>
          </a:xfrm>
          <a:prstGeom prst="rect">
            <a:avLst/>
          </a:prstGeom>
        </p:spPr>
        <p:txBody>
          <a:bodyPr wrap="square">
            <a:spAutoFit/>
          </a:bodyPr>
          <a:lstStyle/>
          <a:p>
            <a:pPr lvl="0" algn="just" eaLnBrk="1" hangingPunct="1">
              <a:spcBef>
                <a:spcPct val="50000"/>
              </a:spcBef>
            </a:pPr>
            <a:r>
              <a:rPr kumimoji="1" lang="zh-CN" altLang="en-US" sz="2800" b="1" dirty="0">
                <a:solidFill>
                  <a:srgbClr val="000000"/>
                </a:solidFill>
                <a:latin typeface="Times New Roman" panose="02020603050405020304" pitchFamily="18" charset="0"/>
                <a:ea typeface="宋体" panose="02010600030101010101" pitchFamily="2" charset="-122"/>
              </a:rPr>
              <a:t>等式两边的实部与虚部应当各自相等，同样虚部与实部的比值应当相等</a:t>
            </a:r>
            <a:r>
              <a:rPr kumimoji="1" lang="en-US" altLang="zh-CN" sz="2800" b="1" dirty="0">
                <a:solidFill>
                  <a:srgbClr val="000000"/>
                </a:solidFill>
                <a:latin typeface="Times New Roman" panose="02020603050405020304" pitchFamily="18" charset="0"/>
                <a:ea typeface="宋体" panose="02010600030101010101" pitchFamily="2" charset="-122"/>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3468152461"/>
              </p:ext>
            </p:extLst>
          </p:nvPr>
        </p:nvGraphicFramePr>
        <p:xfrm>
          <a:off x="2870640" y="4073808"/>
          <a:ext cx="3530160" cy="1676160"/>
        </p:xfrm>
        <a:graphic>
          <a:graphicData uri="http://schemas.openxmlformats.org/presentationml/2006/ole">
            <mc:AlternateContent xmlns:mc="http://schemas.openxmlformats.org/markup-compatibility/2006">
              <mc:Choice xmlns:v="urn:schemas-microsoft-com:vml" Requires="v">
                <p:oleObj name="Equation" r:id="rId8" imgW="1765080" imgH="838080" progId="Equation.DSMT4">
                  <p:embed/>
                </p:oleObj>
              </mc:Choice>
              <mc:Fallback>
                <p:oleObj name="Equation" r:id="rId8" imgW="1765080" imgH="838080" progId="Equation.DSMT4">
                  <p:embed/>
                  <p:pic>
                    <p:nvPicPr>
                      <p:cNvPr id="9" name="Object 8"/>
                      <p:cNvPicPr>
                        <a:picLocks noChangeAspect="1" noChangeArrowheads="1"/>
                      </p:cNvPicPr>
                      <p:nvPr/>
                    </p:nvPicPr>
                    <p:blipFill>
                      <a:blip r:embed="rId9"/>
                      <a:srcRect/>
                      <a:stretch>
                        <a:fillRect/>
                      </a:stretch>
                    </p:blipFill>
                    <p:spPr bwMode="auto">
                      <a:xfrm>
                        <a:off x="2870640" y="4073808"/>
                        <a:ext cx="3530160" cy="1676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35"/>
          <p:cNvGraphicFramePr>
            <a:graphicFrameLocks noChangeAspect="1"/>
          </p:cNvGraphicFramePr>
          <p:nvPr>
            <p:extLst>
              <p:ext uri="{D42A27DB-BD31-4B8C-83A1-F6EECF244321}">
                <p14:modId xmlns:p14="http://schemas.microsoft.com/office/powerpoint/2010/main" val="3041918697"/>
              </p:ext>
            </p:extLst>
          </p:nvPr>
        </p:nvGraphicFramePr>
        <p:xfrm>
          <a:off x="940200" y="5766120"/>
          <a:ext cx="6451200" cy="863280"/>
        </p:xfrm>
        <a:graphic>
          <a:graphicData uri="http://schemas.openxmlformats.org/presentationml/2006/ole">
            <mc:AlternateContent xmlns:mc="http://schemas.openxmlformats.org/markup-compatibility/2006">
              <mc:Choice xmlns:v="urn:schemas-microsoft-com:vml" Requires="v">
                <p:oleObj name="Equation" r:id="rId10" imgW="3225600" imgH="431640" progId="Equation.DSMT4">
                  <p:embed/>
                </p:oleObj>
              </mc:Choice>
              <mc:Fallback>
                <p:oleObj name="Equation" r:id="rId10" imgW="3225600" imgH="431640" progId="Equation.DSMT4">
                  <p:embed/>
                  <p:pic>
                    <p:nvPicPr>
                      <p:cNvPr id="11" name="Object 1035"/>
                      <p:cNvPicPr>
                        <a:picLocks noChangeAspect="1" noChangeArrowheads="1"/>
                      </p:cNvPicPr>
                      <p:nvPr/>
                    </p:nvPicPr>
                    <p:blipFill>
                      <a:blip r:embed="rId11"/>
                      <a:srcRect/>
                      <a:stretch>
                        <a:fillRect/>
                      </a:stretch>
                    </p:blipFill>
                    <p:spPr bwMode="auto">
                      <a:xfrm>
                        <a:off x="940200" y="5766120"/>
                        <a:ext cx="645120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094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5.1.1 </a:t>
            </a:r>
            <a:r>
              <a:rPr lang="zh-CN" altLang="en-US" b="1" dirty="0">
                <a:solidFill>
                  <a:srgbClr val="993300"/>
                </a:solidFill>
                <a:latin typeface="+mj-lt"/>
                <a:ea typeface="楷体_GB2312" pitchFamily="49" charset="-122"/>
              </a:rPr>
              <a:t>线性相位的条件</a:t>
            </a:r>
          </a:p>
        </p:txBody>
      </p:sp>
    </p:spTree>
    <p:extLst>
      <p:ext uri="{BB962C8B-B14F-4D97-AF65-F5344CB8AC3E}">
        <p14:creationId xmlns:p14="http://schemas.microsoft.com/office/powerpoint/2010/main" val="3010865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029"/>
          <p:cNvGraphicFramePr>
            <a:graphicFrameLocks noChangeAspect="1"/>
          </p:cNvGraphicFramePr>
          <p:nvPr>
            <p:extLst>
              <p:ext uri="{D42A27DB-BD31-4B8C-83A1-F6EECF244321}">
                <p14:modId xmlns:p14="http://schemas.microsoft.com/office/powerpoint/2010/main" val="2804183168"/>
              </p:ext>
            </p:extLst>
          </p:nvPr>
        </p:nvGraphicFramePr>
        <p:xfrm>
          <a:off x="2667000" y="1356615"/>
          <a:ext cx="3767400" cy="992772"/>
        </p:xfrm>
        <a:graphic>
          <a:graphicData uri="http://schemas.openxmlformats.org/presentationml/2006/ole">
            <mc:AlternateContent xmlns:mc="http://schemas.openxmlformats.org/markup-compatibility/2006">
              <mc:Choice xmlns:v="urn:schemas-microsoft-com:vml" Requires="v">
                <p:oleObj name="Equation" r:id="rId2" imgW="1638000" imgH="431640" progId="Equation.DSMT4">
                  <p:embed/>
                </p:oleObj>
              </mc:Choice>
              <mc:Fallback>
                <p:oleObj name="Equation" r:id="rId2" imgW="1638000" imgH="431640" progId="Equation.DSMT4">
                  <p:embed/>
                  <p:pic>
                    <p:nvPicPr>
                      <p:cNvPr id="3" name="Object 1029"/>
                      <p:cNvPicPr>
                        <a:picLocks noChangeAspect="1" noChangeArrowheads="1"/>
                      </p:cNvPicPr>
                      <p:nvPr/>
                    </p:nvPicPr>
                    <p:blipFill>
                      <a:blip r:embed="rId3"/>
                      <a:srcRect/>
                      <a:stretch>
                        <a:fillRect/>
                      </a:stretch>
                    </p:blipFill>
                    <p:spPr bwMode="auto">
                      <a:xfrm>
                        <a:off x="2667000" y="1356615"/>
                        <a:ext cx="376740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5"/>
          <p:cNvSpPr txBox="1">
            <a:spLocks noChangeArrowheads="1"/>
          </p:cNvSpPr>
          <p:nvPr/>
        </p:nvSpPr>
        <p:spPr bwMode="auto">
          <a:xfrm>
            <a:off x="990600" y="2514600"/>
            <a:ext cx="3124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满足上式的条件是</a:t>
            </a:r>
            <a:r>
              <a:rPr kumimoji="1" lang="zh-CN" altLang="en-US" sz="2800" dirty="0">
                <a:solidFill>
                  <a:srgbClr val="000000"/>
                </a:solidFill>
                <a:latin typeface="Times New Roman" panose="02020603050405020304" pitchFamily="18" charset="0"/>
                <a:ea typeface="宋体" panose="02010600030101010101" pitchFamily="2" charset="-122"/>
              </a:rPr>
              <a:t> </a:t>
            </a:r>
          </a:p>
        </p:txBody>
      </p:sp>
      <p:graphicFrame>
        <p:nvGraphicFramePr>
          <p:cNvPr id="5" name="Object 7"/>
          <p:cNvGraphicFramePr>
            <a:graphicFrameLocks noChangeAspect="1"/>
          </p:cNvGraphicFramePr>
          <p:nvPr>
            <p:extLst>
              <p:ext uri="{D42A27DB-BD31-4B8C-83A1-F6EECF244321}">
                <p14:modId xmlns:p14="http://schemas.microsoft.com/office/powerpoint/2010/main" val="2507922733"/>
              </p:ext>
            </p:extLst>
          </p:nvPr>
        </p:nvGraphicFramePr>
        <p:xfrm>
          <a:off x="1028700" y="3208237"/>
          <a:ext cx="6603300" cy="1650600"/>
        </p:xfrm>
        <a:graphic>
          <a:graphicData uri="http://schemas.openxmlformats.org/presentationml/2006/ole">
            <mc:AlternateContent xmlns:mc="http://schemas.openxmlformats.org/markup-compatibility/2006">
              <mc:Choice xmlns:v="urn:schemas-microsoft-com:vml" Requires="v">
                <p:oleObj name="Equation" r:id="rId4" imgW="2641320" imgH="660240" progId="Equation.DSMT4">
                  <p:embed/>
                </p:oleObj>
              </mc:Choice>
              <mc:Fallback>
                <p:oleObj name="Equation" r:id="rId4" imgW="2641320" imgH="660240" progId="Equation.DSMT4">
                  <p:embed/>
                  <p:pic>
                    <p:nvPicPr>
                      <p:cNvPr id="5" name="Object 7"/>
                      <p:cNvPicPr>
                        <a:picLocks noChangeAspect="1" noChangeArrowheads="1"/>
                      </p:cNvPicPr>
                      <p:nvPr/>
                    </p:nvPicPr>
                    <p:blipFill>
                      <a:blip r:embed="rId5"/>
                      <a:srcRect/>
                      <a:stretch>
                        <a:fillRect/>
                      </a:stretch>
                    </p:blipFill>
                    <p:spPr bwMode="auto">
                      <a:xfrm>
                        <a:off x="1028700" y="3208237"/>
                        <a:ext cx="6603300" cy="165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8"/>
          <p:cNvSpPr>
            <a:spLocks noChangeArrowheads="1"/>
          </p:cNvSpPr>
          <p:nvPr/>
        </p:nvSpPr>
        <p:spPr bwMode="auto">
          <a:xfrm>
            <a:off x="4267200" y="3092052"/>
            <a:ext cx="4032250" cy="584322"/>
          </a:xfrm>
          <a:prstGeom prst="wedgeRectCallout">
            <a:avLst>
              <a:gd name="adj1" fmla="val -69486"/>
              <a:gd name="adj2" fmla="val 68361"/>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chemeClr val="tx1"/>
              </a:buClr>
              <a:buSzPct val="80000"/>
              <a:buFont typeface="Wingdings" panose="05000000000000000000" pitchFamily="2" charset="2"/>
              <a:buNone/>
            </a:pPr>
            <a:endParaRPr lang="zh-CN" altLang="en-US" sz="2400" b="1" dirty="0">
              <a:ea typeface="宋体" panose="02010600030101010101" pitchFamily="2" charset="-122"/>
            </a:endParaRPr>
          </a:p>
        </p:txBody>
      </p:sp>
      <p:sp>
        <p:nvSpPr>
          <p:cNvPr id="7" name="AutoShape 9"/>
          <p:cNvSpPr>
            <a:spLocks noChangeArrowheads="1"/>
          </p:cNvSpPr>
          <p:nvPr/>
        </p:nvSpPr>
        <p:spPr bwMode="auto">
          <a:xfrm>
            <a:off x="1752600" y="5451375"/>
            <a:ext cx="4648200" cy="1101825"/>
          </a:xfrm>
          <a:prstGeom prst="wedgeRectCallout">
            <a:avLst>
              <a:gd name="adj1" fmla="val -40333"/>
              <a:gd name="adj2" fmla="val -119778"/>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chemeClr val="tx1"/>
              </a:buClr>
              <a:buSzPct val="80000"/>
              <a:buFont typeface="Wingdings" panose="05000000000000000000" pitchFamily="2" charset="2"/>
              <a:buNone/>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800" b="1"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也为</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的中点</a:t>
            </a:r>
          </a:p>
          <a:p>
            <a:pPr eaLnBrk="1" hangingPunct="1">
              <a:buClr>
                <a:schemeClr val="tx1"/>
              </a:buClr>
              <a:buSzPct val="80000"/>
              <a:buFont typeface="Wingdings" panose="05000000000000000000" pitchFamily="2" charset="2"/>
              <a:buNone/>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以此中点呈</a:t>
            </a: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偶对称</a:t>
            </a:r>
          </a:p>
        </p:txBody>
      </p:sp>
      <p:sp>
        <p:nvSpPr>
          <p:cNvPr id="9" name="矩形 8"/>
          <p:cNvSpPr/>
          <p:nvPr/>
        </p:nvSpPr>
        <p:spPr>
          <a:xfrm>
            <a:off x="4648200" y="3089175"/>
            <a:ext cx="3651250" cy="523220"/>
          </a:xfrm>
          <a:prstGeom prst="rect">
            <a:avLst/>
          </a:prstGeom>
        </p:spPr>
        <p:txBody>
          <a:bodyPr wrap="square">
            <a:spAutoFit/>
          </a:bodyPr>
          <a:lstStyle/>
          <a:p>
            <a:pPr lvl="0" eaLnBrk="1" hangingPunct="1">
              <a:buClr>
                <a:srgbClr val="000000"/>
              </a:buClr>
              <a:buSzPct val="80000"/>
            </a:pPr>
            <a:r>
              <a:rPr lang="zh-CN" altLang="en-US" sz="2800" b="1" dirty="0">
                <a:solidFill>
                  <a:srgbClr val="000000"/>
                </a:solidFill>
                <a:ea typeface="宋体" panose="02010600030101010101" pitchFamily="2" charset="-122"/>
              </a:rPr>
              <a:t>群时延为阶数的一半</a:t>
            </a:r>
          </a:p>
        </p:txBody>
      </p:sp>
      <p:sp>
        <p:nvSpPr>
          <p:cNvPr id="11" name="矩形 10"/>
          <p:cNvSpPr/>
          <p:nvPr/>
        </p:nvSpPr>
        <p:spPr>
          <a:xfrm>
            <a:off x="990600" y="877354"/>
            <a:ext cx="5955476" cy="523220"/>
          </a:xfrm>
          <a:prstGeom prst="rect">
            <a:avLst/>
          </a:prstGeom>
        </p:spPr>
        <p:txBody>
          <a:bodyPr wrap="none">
            <a:spAutoFit/>
          </a:bodyPr>
          <a:lstStyle/>
          <a:p>
            <a:pPr lvl="0" eaLnBrk="1" hangingPunct="1">
              <a:spcBef>
                <a:spcPct val="50000"/>
              </a:spcBef>
            </a:pPr>
            <a:r>
              <a:rPr kumimoji="1" lang="zh-CN" altLang="en-US" sz="2800" b="1" dirty="0">
                <a:solidFill>
                  <a:srgbClr val="000000"/>
                </a:solidFill>
                <a:latin typeface="Times New Roman" panose="02020603050405020304" pitchFamily="18" charset="0"/>
                <a:ea typeface="宋体" panose="02010600030101010101" pitchFamily="2" charset="-122"/>
              </a:rPr>
              <a:t>移项并应用三角函数的恒等关系，得</a:t>
            </a:r>
          </a:p>
        </p:txBody>
      </p:sp>
      <p:graphicFrame>
        <p:nvGraphicFramePr>
          <p:cNvPr id="14" name="Object 1029"/>
          <p:cNvGraphicFramePr>
            <a:graphicFrameLocks noChangeAspect="1"/>
          </p:cNvGraphicFramePr>
          <p:nvPr>
            <p:extLst>
              <p:ext uri="{D42A27DB-BD31-4B8C-83A1-F6EECF244321}">
                <p14:modId xmlns:p14="http://schemas.microsoft.com/office/powerpoint/2010/main" val="4234305670"/>
              </p:ext>
            </p:extLst>
          </p:nvPr>
        </p:nvGraphicFramePr>
        <p:xfrm>
          <a:off x="2362199" y="5590881"/>
          <a:ext cx="335016" cy="307296"/>
        </p:xfrm>
        <a:graphic>
          <a:graphicData uri="http://schemas.openxmlformats.org/presentationml/2006/ole">
            <mc:AlternateContent xmlns:mc="http://schemas.openxmlformats.org/markup-compatibility/2006">
              <mc:Choice xmlns:v="urn:schemas-microsoft-com:vml" Requires="v">
                <p:oleObj name="Equation" r:id="rId6" imgW="152280" imgH="139680" progId="Equation.DSMT4">
                  <p:embed/>
                </p:oleObj>
              </mc:Choice>
              <mc:Fallback>
                <p:oleObj name="Equation" r:id="rId6" imgW="152280" imgH="139680" progId="Equation.DSMT4">
                  <p:embed/>
                  <p:pic>
                    <p:nvPicPr>
                      <p:cNvPr id="14" name="Object 1029"/>
                      <p:cNvPicPr>
                        <a:picLocks noChangeAspect="1" noChangeArrowheads="1"/>
                      </p:cNvPicPr>
                      <p:nvPr/>
                    </p:nvPicPr>
                    <p:blipFill>
                      <a:blip r:embed="rId7"/>
                      <a:srcRect/>
                      <a:stretch>
                        <a:fillRect/>
                      </a:stretch>
                    </p:blipFill>
                    <p:spPr bwMode="auto">
                      <a:xfrm>
                        <a:off x="2362199" y="5590881"/>
                        <a:ext cx="335016" cy="30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094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5.1.1 </a:t>
            </a:r>
            <a:r>
              <a:rPr lang="zh-CN" altLang="en-US" b="1" dirty="0">
                <a:solidFill>
                  <a:srgbClr val="993300"/>
                </a:solidFill>
                <a:latin typeface="+mj-lt"/>
                <a:ea typeface="楷体_GB2312" pitchFamily="49" charset="-122"/>
              </a:rPr>
              <a:t>线性相位的条件</a:t>
            </a:r>
          </a:p>
        </p:txBody>
      </p:sp>
    </p:spTree>
    <p:extLst>
      <p:ext uri="{BB962C8B-B14F-4D97-AF65-F5344CB8AC3E}">
        <p14:creationId xmlns:p14="http://schemas.microsoft.com/office/powerpoint/2010/main" val="163998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
          <p:cNvGraphicFramePr>
            <a:graphicFrameLocks noChangeAspect="1"/>
          </p:cNvGraphicFramePr>
          <p:nvPr>
            <p:extLst>
              <p:ext uri="{D42A27DB-BD31-4B8C-83A1-F6EECF244321}">
                <p14:modId xmlns:p14="http://schemas.microsoft.com/office/powerpoint/2010/main" val="1383378504"/>
              </p:ext>
            </p:extLst>
          </p:nvPr>
        </p:nvGraphicFramePr>
        <p:xfrm>
          <a:off x="3276600" y="893762"/>
          <a:ext cx="2560032" cy="487296"/>
        </p:xfrm>
        <a:graphic>
          <a:graphicData uri="http://schemas.openxmlformats.org/presentationml/2006/ole">
            <mc:AlternateContent xmlns:mc="http://schemas.openxmlformats.org/markup-compatibility/2006">
              <mc:Choice xmlns:v="urn:schemas-microsoft-com:vml" Requires="v">
                <p:oleObj name="Equation" r:id="rId2" imgW="1066680" imgH="203040" progId="Equation.DSMT4">
                  <p:embed/>
                </p:oleObj>
              </mc:Choice>
              <mc:Fallback>
                <p:oleObj name="Equation" r:id="rId2" imgW="1066680" imgH="203040" progId="Equation.DSMT4">
                  <p:embed/>
                  <p:pic>
                    <p:nvPicPr>
                      <p:cNvPr id="3" name="Object 4"/>
                      <p:cNvPicPr>
                        <a:picLocks noChangeAspect="1" noChangeArrowheads="1"/>
                      </p:cNvPicPr>
                      <p:nvPr/>
                    </p:nvPicPr>
                    <p:blipFill>
                      <a:blip r:embed="rId3"/>
                      <a:srcRect/>
                      <a:stretch>
                        <a:fillRect/>
                      </a:stretch>
                    </p:blipFill>
                    <p:spPr bwMode="auto">
                      <a:xfrm>
                        <a:off x="3276600" y="893762"/>
                        <a:ext cx="2560032" cy="48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2"/>
          <p:cNvSpPr txBox="1">
            <a:spLocks noChangeArrowheads="1"/>
          </p:cNvSpPr>
          <p:nvPr/>
        </p:nvSpPr>
        <p:spPr bwMode="auto">
          <a:xfrm>
            <a:off x="893642" y="857838"/>
            <a:ext cx="23829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另外一种情况</a:t>
            </a:r>
          </a:p>
        </p:txBody>
      </p:sp>
      <p:graphicFrame>
        <p:nvGraphicFramePr>
          <p:cNvPr id="5" name="Object 6"/>
          <p:cNvGraphicFramePr>
            <a:graphicFrameLocks noChangeAspect="1"/>
          </p:cNvGraphicFramePr>
          <p:nvPr>
            <p:extLst>
              <p:ext uri="{D42A27DB-BD31-4B8C-83A1-F6EECF244321}">
                <p14:modId xmlns:p14="http://schemas.microsoft.com/office/powerpoint/2010/main" val="335757149"/>
              </p:ext>
            </p:extLst>
          </p:nvPr>
        </p:nvGraphicFramePr>
        <p:xfrm>
          <a:off x="916423" y="2128248"/>
          <a:ext cx="5715000" cy="3174300"/>
        </p:xfrm>
        <a:graphic>
          <a:graphicData uri="http://schemas.openxmlformats.org/presentationml/2006/ole">
            <mc:AlternateContent xmlns:mc="http://schemas.openxmlformats.org/markup-compatibility/2006">
              <mc:Choice xmlns:v="urn:schemas-microsoft-com:vml" Requires="v">
                <p:oleObj name="Equation" r:id="rId4" imgW="2286000" imgH="1269720" progId="Equation.DSMT4">
                  <p:embed/>
                </p:oleObj>
              </mc:Choice>
              <mc:Fallback>
                <p:oleObj name="Equation" r:id="rId4" imgW="2286000" imgH="1269720" progId="Equation.DSMT4">
                  <p:embed/>
                  <p:pic>
                    <p:nvPicPr>
                      <p:cNvPr id="5" name="Object 6"/>
                      <p:cNvPicPr>
                        <a:picLocks noChangeAspect="1" noChangeArrowheads="1"/>
                      </p:cNvPicPr>
                      <p:nvPr/>
                    </p:nvPicPr>
                    <p:blipFill>
                      <a:blip r:embed="rId5"/>
                      <a:srcRect/>
                      <a:stretch>
                        <a:fillRect/>
                      </a:stretch>
                    </p:blipFill>
                    <p:spPr bwMode="auto">
                      <a:xfrm>
                        <a:off x="916423" y="2128248"/>
                        <a:ext cx="5715000" cy="317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7"/>
          <p:cNvSpPr txBox="1">
            <a:spLocks noChangeArrowheads="1"/>
          </p:cNvSpPr>
          <p:nvPr/>
        </p:nvSpPr>
        <p:spPr bwMode="auto">
          <a:xfrm>
            <a:off x="893642" y="1482724"/>
            <a:ext cx="75612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利用类似的关系，可以得出新的解答为 </a:t>
            </a:r>
          </a:p>
        </p:txBody>
      </p:sp>
      <p:sp>
        <p:nvSpPr>
          <p:cNvPr id="8" name="AutoShape 8"/>
          <p:cNvSpPr>
            <a:spLocks noChangeArrowheads="1"/>
          </p:cNvSpPr>
          <p:nvPr/>
        </p:nvSpPr>
        <p:spPr bwMode="auto">
          <a:xfrm>
            <a:off x="4038600" y="2118556"/>
            <a:ext cx="4032250" cy="532912"/>
          </a:xfrm>
          <a:prstGeom prst="wedgeRectCallout">
            <a:avLst>
              <a:gd name="adj1" fmla="val -69486"/>
              <a:gd name="adj2" fmla="val 68361"/>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chemeClr val="tx1"/>
              </a:buClr>
              <a:buSzPct val="80000"/>
              <a:buFont typeface="Wingdings" panose="05000000000000000000" pitchFamily="2" charset="2"/>
              <a:buNone/>
            </a:pPr>
            <a:endParaRPr lang="zh-CN" altLang="en-US" sz="2400" b="1" dirty="0">
              <a:ea typeface="宋体" panose="02010600030101010101" pitchFamily="2" charset="-122"/>
            </a:endParaRPr>
          </a:p>
        </p:txBody>
      </p:sp>
      <p:sp>
        <p:nvSpPr>
          <p:cNvPr id="9" name="矩形 8"/>
          <p:cNvSpPr/>
          <p:nvPr/>
        </p:nvSpPr>
        <p:spPr>
          <a:xfrm>
            <a:off x="4419600" y="2115679"/>
            <a:ext cx="3733800" cy="523220"/>
          </a:xfrm>
          <a:prstGeom prst="rect">
            <a:avLst/>
          </a:prstGeom>
        </p:spPr>
        <p:txBody>
          <a:bodyPr wrap="square">
            <a:spAutoFit/>
          </a:bodyPr>
          <a:lstStyle/>
          <a:p>
            <a:pPr lvl="0" eaLnBrk="1" hangingPunct="1">
              <a:buClr>
                <a:srgbClr val="000000"/>
              </a:buClr>
              <a:buSzPct val="80000"/>
            </a:pPr>
            <a:r>
              <a:rPr lang="zh-CN" altLang="en-US" sz="2800" b="1" dirty="0">
                <a:solidFill>
                  <a:srgbClr val="000000"/>
                </a:solidFill>
                <a:ea typeface="宋体" panose="02010600030101010101" pitchFamily="2" charset="-122"/>
              </a:rPr>
              <a:t>群时延为阶数的一半</a:t>
            </a:r>
          </a:p>
        </p:txBody>
      </p:sp>
      <p:sp>
        <p:nvSpPr>
          <p:cNvPr id="10" name="AutoShape 9"/>
          <p:cNvSpPr>
            <a:spLocks noChangeArrowheads="1"/>
          </p:cNvSpPr>
          <p:nvPr/>
        </p:nvSpPr>
        <p:spPr bwMode="auto">
          <a:xfrm>
            <a:off x="1676400" y="5618162"/>
            <a:ext cx="4419600" cy="1087438"/>
          </a:xfrm>
          <a:prstGeom prst="wedgeRectCallout">
            <a:avLst>
              <a:gd name="adj1" fmla="val -40333"/>
              <a:gd name="adj2" fmla="val -119778"/>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chemeClr val="tx1"/>
              </a:buClr>
              <a:buSzPct val="80000"/>
              <a:buFont typeface="Wingdings" panose="05000000000000000000" pitchFamily="2" charset="2"/>
              <a:buNone/>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800" b="1"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也为</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的中点</a:t>
            </a:r>
          </a:p>
          <a:p>
            <a:pPr eaLnBrk="1" hangingPunct="1">
              <a:buClr>
                <a:schemeClr val="tx1"/>
              </a:buClr>
              <a:buSzPct val="80000"/>
              <a:buFont typeface="Wingdings" panose="05000000000000000000" pitchFamily="2" charset="2"/>
              <a:buNone/>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800" b="1"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以此中点呈</a:t>
            </a:r>
            <a:r>
              <a:rPr lang="zh-CN" altLang="en-US"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奇对称</a:t>
            </a:r>
          </a:p>
        </p:txBody>
      </p:sp>
      <p:graphicFrame>
        <p:nvGraphicFramePr>
          <p:cNvPr id="11" name="Object 1029"/>
          <p:cNvGraphicFramePr>
            <a:graphicFrameLocks noChangeAspect="1"/>
          </p:cNvGraphicFramePr>
          <p:nvPr>
            <p:extLst>
              <p:ext uri="{D42A27DB-BD31-4B8C-83A1-F6EECF244321}">
                <p14:modId xmlns:p14="http://schemas.microsoft.com/office/powerpoint/2010/main" val="1777555007"/>
              </p:ext>
            </p:extLst>
          </p:nvPr>
        </p:nvGraphicFramePr>
        <p:xfrm>
          <a:off x="2286000" y="5788704"/>
          <a:ext cx="335016" cy="307296"/>
        </p:xfrm>
        <a:graphic>
          <a:graphicData uri="http://schemas.openxmlformats.org/presentationml/2006/ole">
            <mc:AlternateContent xmlns:mc="http://schemas.openxmlformats.org/markup-compatibility/2006">
              <mc:Choice xmlns:v="urn:schemas-microsoft-com:vml" Requires="v">
                <p:oleObj name="Equation" r:id="rId6" imgW="152280" imgH="139680" progId="Equation.DSMT4">
                  <p:embed/>
                </p:oleObj>
              </mc:Choice>
              <mc:Fallback>
                <p:oleObj name="Equation" r:id="rId6" imgW="152280" imgH="139680" progId="Equation.DSMT4">
                  <p:embed/>
                  <p:pic>
                    <p:nvPicPr>
                      <p:cNvPr id="11" name="Object 1029"/>
                      <p:cNvPicPr>
                        <a:picLocks noChangeAspect="1" noChangeArrowheads="1"/>
                      </p:cNvPicPr>
                      <p:nvPr/>
                    </p:nvPicPr>
                    <p:blipFill>
                      <a:blip r:embed="rId7"/>
                      <a:srcRect/>
                      <a:stretch>
                        <a:fillRect/>
                      </a:stretch>
                    </p:blipFill>
                    <p:spPr bwMode="auto">
                      <a:xfrm>
                        <a:off x="2286000" y="5788704"/>
                        <a:ext cx="335016" cy="30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094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5.1.1 </a:t>
            </a:r>
            <a:r>
              <a:rPr lang="zh-CN" altLang="en-US" b="1" dirty="0">
                <a:solidFill>
                  <a:srgbClr val="993300"/>
                </a:solidFill>
                <a:latin typeface="+mj-lt"/>
                <a:ea typeface="楷体_GB2312" pitchFamily="49" charset="-122"/>
              </a:rPr>
              <a:t>线性相位的条件</a:t>
            </a:r>
          </a:p>
        </p:txBody>
      </p:sp>
    </p:spTree>
    <p:extLst>
      <p:ext uri="{BB962C8B-B14F-4D97-AF65-F5344CB8AC3E}">
        <p14:creationId xmlns:p14="http://schemas.microsoft.com/office/powerpoint/2010/main" val="407763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5334000" y="3918179"/>
            <a:ext cx="2295525" cy="2667000"/>
          </a:xfrm>
          <a:prstGeom prst="rect">
            <a:avLst/>
          </a:prstGeom>
        </p:spPr>
      </p:pic>
      <p:pic>
        <p:nvPicPr>
          <p:cNvPr id="8" name="图片 7"/>
          <p:cNvPicPr>
            <a:picLocks noChangeAspect="1"/>
          </p:cNvPicPr>
          <p:nvPr/>
        </p:nvPicPr>
        <p:blipFill>
          <a:blip r:embed="rId3"/>
          <a:stretch>
            <a:fillRect/>
          </a:stretch>
        </p:blipFill>
        <p:spPr>
          <a:xfrm>
            <a:off x="2438400" y="3962400"/>
            <a:ext cx="2676525" cy="2628900"/>
          </a:xfrm>
          <a:prstGeom prst="rect">
            <a:avLst/>
          </a:prstGeom>
        </p:spPr>
      </p:pic>
      <p:pic>
        <p:nvPicPr>
          <p:cNvPr id="5" name="图片 4"/>
          <p:cNvPicPr>
            <a:picLocks noChangeAspect="1"/>
          </p:cNvPicPr>
          <p:nvPr/>
        </p:nvPicPr>
        <p:blipFill>
          <a:blip r:embed="rId4"/>
          <a:stretch>
            <a:fillRect/>
          </a:stretch>
        </p:blipFill>
        <p:spPr>
          <a:xfrm>
            <a:off x="5562600" y="1600200"/>
            <a:ext cx="2200275" cy="1943100"/>
          </a:xfrm>
          <a:prstGeom prst="rect">
            <a:avLst/>
          </a:prstGeom>
        </p:spPr>
      </p:pic>
      <p:pic>
        <p:nvPicPr>
          <p:cNvPr id="2" name="图片 1"/>
          <p:cNvPicPr>
            <a:picLocks noChangeAspect="1"/>
          </p:cNvPicPr>
          <p:nvPr/>
        </p:nvPicPr>
        <p:blipFill>
          <a:blip r:embed="rId5"/>
          <a:stretch>
            <a:fillRect/>
          </a:stretch>
        </p:blipFill>
        <p:spPr>
          <a:xfrm>
            <a:off x="2514600" y="1650206"/>
            <a:ext cx="2657475" cy="1952625"/>
          </a:xfrm>
          <a:prstGeom prst="rect">
            <a:avLst/>
          </a:prstGeom>
        </p:spPr>
      </p:pic>
      <p:sp>
        <p:nvSpPr>
          <p:cNvPr id="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
        <p:nvSpPr>
          <p:cNvPr id="4" name="矩形 3"/>
          <p:cNvSpPr/>
          <p:nvPr/>
        </p:nvSpPr>
        <p:spPr>
          <a:xfrm>
            <a:off x="4025359" y="262038"/>
            <a:ext cx="4049507" cy="523220"/>
          </a:xfrm>
          <a:prstGeom prst="rect">
            <a:avLst/>
          </a:prstGeom>
        </p:spPr>
        <p:txBody>
          <a:bodyPr wrap="none">
            <a:spAutoFit/>
          </a:bodyPr>
          <a:lstStyle/>
          <a:p>
            <a:pPr lvl="0">
              <a:defRPr/>
            </a:pPr>
            <a:r>
              <a:rPr lang="zh-CN" altLang="en-US" sz="2800" b="1" dirty="0">
                <a:latin typeface="Times New Roman" panose="02020603050405020304" pitchFamily="18" charset="0"/>
                <a:cs typeface="Times New Roman" panose="02020603050405020304" pitchFamily="18" charset="0"/>
              </a:rPr>
              <a:t>四种线性相位</a:t>
            </a:r>
            <a:r>
              <a:rPr lang="en-US" altLang="zh-CN" sz="2800" b="1" dirty="0">
                <a:latin typeface="Times New Roman" panose="02020603050405020304" pitchFamily="18" charset="0"/>
                <a:cs typeface="Times New Roman" panose="02020603050405020304" pitchFamily="18" charset="0"/>
              </a:rPr>
              <a:t>FIR</a:t>
            </a:r>
            <a:r>
              <a:rPr lang="zh-CN" altLang="en-US" sz="2800" b="1" dirty="0">
                <a:latin typeface="Times New Roman" panose="02020603050405020304" pitchFamily="18" charset="0"/>
                <a:cs typeface="Times New Roman" panose="02020603050405020304" pitchFamily="18" charset="0"/>
              </a:rPr>
              <a:t>滤波器</a:t>
            </a:r>
            <a:endParaRPr lang="en-US" altLang="zh-CN" sz="2800" b="1" dirty="0">
              <a:latin typeface="Times New Roman" panose="02020603050405020304" pitchFamily="18" charset="0"/>
              <a:cs typeface="Times New Roman" panose="02020603050405020304" pitchFamily="18" charset="0"/>
            </a:endParaRPr>
          </a:p>
        </p:txBody>
      </p:sp>
      <p:sp>
        <p:nvSpPr>
          <p:cNvPr id="11" name="Text Box 5"/>
          <p:cNvSpPr txBox="1">
            <a:spLocks noChangeArrowheads="1"/>
          </p:cNvSpPr>
          <p:nvPr/>
        </p:nvSpPr>
        <p:spPr bwMode="auto">
          <a:xfrm>
            <a:off x="457201" y="1981200"/>
            <a:ext cx="19692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dirty="0">
                <a:latin typeface="Times New Roman" panose="02020603050405020304" pitchFamily="18" charset="0"/>
                <a:cs typeface="Times New Roman" panose="02020603050405020304" pitchFamily="18" charset="0"/>
              </a:rPr>
              <a:t>h</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a:t>
            </a:r>
            <a:r>
              <a:rPr lang="zh-CN" altLang="en-US" sz="2800" b="1" dirty="0">
                <a:solidFill>
                  <a:srgbClr val="FF0000"/>
                </a:solidFill>
                <a:latin typeface="+mj-lt"/>
              </a:rPr>
              <a:t>偶对称</a:t>
            </a:r>
            <a:endParaRPr lang="en-US" altLang="zh-CN" sz="2800" b="1" dirty="0">
              <a:solidFill>
                <a:srgbClr val="FF0000"/>
              </a:solidFill>
              <a:latin typeface="+mj-lt"/>
            </a:endParaRPr>
          </a:p>
        </p:txBody>
      </p:sp>
      <p:sp>
        <p:nvSpPr>
          <p:cNvPr id="12" name="Text Box 5"/>
          <p:cNvSpPr txBox="1">
            <a:spLocks noChangeArrowheads="1"/>
          </p:cNvSpPr>
          <p:nvPr/>
        </p:nvSpPr>
        <p:spPr bwMode="auto">
          <a:xfrm>
            <a:off x="457201" y="4800600"/>
            <a:ext cx="19692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dirty="0">
                <a:latin typeface="Times New Roman" panose="02020603050405020304" pitchFamily="18" charset="0"/>
                <a:cs typeface="Times New Roman" panose="02020603050405020304" pitchFamily="18" charset="0"/>
              </a:rPr>
              <a:t>h</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a:t>
            </a:r>
            <a:r>
              <a:rPr lang="zh-CN" altLang="en-US" sz="2800" b="1" dirty="0">
                <a:solidFill>
                  <a:srgbClr val="0000CC"/>
                </a:solidFill>
                <a:latin typeface="+mj-lt"/>
              </a:rPr>
              <a:t>奇对称</a:t>
            </a:r>
            <a:endParaRPr lang="en-US" altLang="zh-CN" sz="2800" b="1" dirty="0">
              <a:solidFill>
                <a:srgbClr val="0000CC"/>
              </a:solidFill>
              <a:latin typeface="+mj-lt"/>
            </a:endParaRPr>
          </a:p>
        </p:txBody>
      </p:sp>
      <p:sp>
        <p:nvSpPr>
          <p:cNvPr id="14" name="矩形 13"/>
          <p:cNvSpPr/>
          <p:nvPr/>
        </p:nvSpPr>
        <p:spPr>
          <a:xfrm>
            <a:off x="2590800" y="838839"/>
            <a:ext cx="233749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长度</a:t>
            </a:r>
            <a:r>
              <a:rPr kumimoji="1" lang="en-US" altLang="zh-CN" sz="2800" b="1" i="1"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N</a:t>
            </a:r>
            <a:r>
              <a:rPr kumimoji="1" lang="zh-CN" altLang="en-US" sz="28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为奇数 </a:t>
            </a:r>
            <a:endParaRPr kumimoji="0" lang="zh-CN" altLang="en-US" sz="1800" b="0" i="0" u="none" strike="noStrike" kern="0" cap="none" spc="0" normalizeH="0" baseline="0" noProof="0" dirty="0">
              <a:ln>
                <a:noFill/>
              </a:ln>
              <a:solidFill>
                <a:srgbClr val="C00000"/>
              </a:solidFill>
              <a:effectLst/>
              <a:uLnTx/>
              <a:uFillTx/>
            </a:endParaRPr>
          </a:p>
        </p:txBody>
      </p:sp>
      <p:sp>
        <p:nvSpPr>
          <p:cNvPr id="15" name="矩形 14"/>
          <p:cNvSpPr/>
          <p:nvPr/>
        </p:nvSpPr>
        <p:spPr>
          <a:xfrm>
            <a:off x="5288112" y="848380"/>
            <a:ext cx="233749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kern="0" dirty="0">
                <a:solidFill>
                  <a:srgbClr val="000000"/>
                </a:solidFill>
                <a:latin typeface="Times New Roman" panose="02020603050405020304" pitchFamily="18" charset="0"/>
                <a:ea typeface="宋体" panose="02010600030101010101" pitchFamily="2" charset="-122"/>
              </a:rPr>
              <a:t>长度</a:t>
            </a:r>
            <a:r>
              <a:rPr kumimoji="1" lang="en-US" altLang="zh-CN" sz="2800" b="1" i="1" u="none" strike="noStrike" kern="0" cap="none" spc="0" normalizeH="0" baseline="0" noProof="0" dirty="0">
                <a:ln>
                  <a:noFill/>
                </a:ln>
                <a:solidFill>
                  <a:srgbClr val="CC00FF"/>
                </a:solidFill>
                <a:effectLst/>
                <a:uLnTx/>
                <a:uFillTx/>
                <a:latin typeface="Times New Roman" panose="02020603050405020304" pitchFamily="18" charset="0"/>
                <a:ea typeface="宋体" panose="02010600030101010101" pitchFamily="2" charset="-122"/>
              </a:rPr>
              <a:t>N</a:t>
            </a:r>
            <a:r>
              <a:rPr kumimoji="1" lang="zh-CN" altLang="en-US" sz="2800" b="1" i="0" u="none" strike="noStrike" kern="0" cap="none" spc="0" normalizeH="0" baseline="0" noProof="0" dirty="0">
                <a:ln>
                  <a:noFill/>
                </a:ln>
                <a:solidFill>
                  <a:srgbClr val="CC00FF"/>
                </a:solidFill>
                <a:effectLst/>
                <a:uLnTx/>
                <a:uFillTx/>
                <a:latin typeface="Times New Roman" panose="02020603050405020304" pitchFamily="18" charset="0"/>
                <a:ea typeface="宋体" panose="02010600030101010101" pitchFamily="2" charset="-122"/>
              </a:rPr>
              <a:t>为偶数 </a:t>
            </a:r>
            <a:endParaRPr kumimoji="0" lang="zh-CN" altLang="en-US" sz="1800" b="0" i="0" u="none" strike="noStrike" kern="0" cap="none" spc="0" normalizeH="0" baseline="0" noProof="0" dirty="0">
              <a:ln>
                <a:noFill/>
              </a:ln>
              <a:solidFill>
                <a:srgbClr val="CC00FF"/>
              </a:solidFill>
              <a:effectLst/>
              <a:uLnTx/>
              <a:uFillTx/>
            </a:endParaRPr>
          </a:p>
        </p:txBody>
      </p:sp>
      <p:sp>
        <p:nvSpPr>
          <p:cNvPr id="19" name="矩形 18"/>
          <p:cNvSpPr/>
          <p:nvPr/>
        </p:nvSpPr>
        <p:spPr>
          <a:xfrm>
            <a:off x="3215538" y="1336595"/>
            <a:ext cx="1356462"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第一类 </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20" name="矩形 19"/>
          <p:cNvSpPr/>
          <p:nvPr/>
        </p:nvSpPr>
        <p:spPr>
          <a:xfrm>
            <a:off x="6269149" y="1283673"/>
            <a:ext cx="1356462"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第二类 </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21" name="矩形 20"/>
          <p:cNvSpPr/>
          <p:nvPr/>
        </p:nvSpPr>
        <p:spPr>
          <a:xfrm>
            <a:off x="3215538" y="4124980"/>
            <a:ext cx="1356462"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第三类 </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22" name="矩形 21"/>
          <p:cNvSpPr/>
          <p:nvPr/>
        </p:nvSpPr>
        <p:spPr>
          <a:xfrm>
            <a:off x="6269149" y="4048780"/>
            <a:ext cx="1356462"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第四类 </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24" name="Object 7"/>
          <p:cNvGraphicFramePr>
            <a:graphicFrameLocks noChangeAspect="1"/>
          </p:cNvGraphicFramePr>
          <p:nvPr>
            <p:extLst>
              <p:ext uri="{D42A27DB-BD31-4B8C-83A1-F6EECF244321}">
                <p14:modId xmlns:p14="http://schemas.microsoft.com/office/powerpoint/2010/main" val="3071867932"/>
              </p:ext>
            </p:extLst>
          </p:nvPr>
        </p:nvGraphicFramePr>
        <p:xfrm>
          <a:off x="50880" y="2563109"/>
          <a:ext cx="2489040" cy="812160"/>
        </p:xfrm>
        <a:graphic>
          <a:graphicData uri="http://schemas.openxmlformats.org/presentationml/2006/ole">
            <mc:AlternateContent xmlns:mc="http://schemas.openxmlformats.org/markup-compatibility/2006">
              <mc:Choice xmlns:v="urn:schemas-microsoft-com:vml" Requires="v">
                <p:oleObj name="Equation" r:id="rId8" imgW="1244520" imgH="406080" progId="Equation.DSMT4">
                  <p:embed/>
                </p:oleObj>
              </mc:Choice>
              <mc:Fallback>
                <p:oleObj name="Equation" r:id="rId8" imgW="1244520" imgH="406080" progId="Equation.DSMT4">
                  <p:embed/>
                  <p:pic>
                    <p:nvPicPr>
                      <p:cNvPr id="24" name="Object 7"/>
                      <p:cNvPicPr>
                        <a:picLocks noChangeAspect="1" noChangeArrowheads="1"/>
                      </p:cNvPicPr>
                      <p:nvPr/>
                    </p:nvPicPr>
                    <p:blipFill>
                      <a:blip r:embed="rId9"/>
                      <a:srcRect/>
                      <a:stretch>
                        <a:fillRect/>
                      </a:stretch>
                    </p:blipFill>
                    <p:spPr bwMode="auto">
                      <a:xfrm>
                        <a:off x="50880" y="2563109"/>
                        <a:ext cx="2489040" cy="81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7"/>
          <p:cNvGraphicFramePr>
            <a:graphicFrameLocks noChangeAspect="1"/>
          </p:cNvGraphicFramePr>
          <p:nvPr>
            <p:extLst>
              <p:ext uri="{D42A27DB-BD31-4B8C-83A1-F6EECF244321}">
                <p14:modId xmlns:p14="http://schemas.microsoft.com/office/powerpoint/2010/main" val="3113108027"/>
              </p:ext>
            </p:extLst>
          </p:nvPr>
        </p:nvGraphicFramePr>
        <p:xfrm>
          <a:off x="28632" y="5445830"/>
          <a:ext cx="2533536" cy="771552"/>
        </p:xfrm>
        <a:graphic>
          <a:graphicData uri="http://schemas.openxmlformats.org/presentationml/2006/ole">
            <mc:AlternateContent xmlns:mc="http://schemas.openxmlformats.org/markup-compatibility/2006">
              <mc:Choice xmlns:v="urn:schemas-microsoft-com:vml" Requires="v">
                <p:oleObj name="Equation" r:id="rId10" imgW="1333440" imgH="406080" progId="Equation.DSMT4">
                  <p:embed/>
                </p:oleObj>
              </mc:Choice>
              <mc:Fallback>
                <p:oleObj name="Equation" r:id="rId10" imgW="1333440" imgH="406080" progId="Equation.DSMT4">
                  <p:embed/>
                  <p:pic>
                    <p:nvPicPr>
                      <p:cNvPr id="25" name="Object 7"/>
                      <p:cNvPicPr>
                        <a:picLocks noChangeAspect="1" noChangeArrowheads="1"/>
                      </p:cNvPicPr>
                      <p:nvPr/>
                    </p:nvPicPr>
                    <p:blipFill>
                      <a:blip r:embed="rId11"/>
                      <a:srcRect/>
                      <a:stretch>
                        <a:fillRect/>
                      </a:stretch>
                    </p:blipFill>
                    <p:spPr bwMode="auto">
                      <a:xfrm>
                        <a:off x="28632" y="5445830"/>
                        <a:ext cx="2533536" cy="771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连接符 17"/>
          <p:cNvCxnSpPr/>
          <p:nvPr/>
        </p:nvCxnSpPr>
        <p:spPr bwMode="auto">
          <a:xfrm>
            <a:off x="3800573" y="3276600"/>
            <a:ext cx="0" cy="504000"/>
          </a:xfrm>
          <a:prstGeom prst="line">
            <a:avLst/>
          </a:prstGeom>
          <a:solidFill>
            <a:schemeClr val="accent1"/>
          </a:solidFill>
          <a:ln w="25400" cap="flat" cmpd="sng" algn="ctr">
            <a:solidFill>
              <a:srgbClr val="C00000"/>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6581481" y="3246290"/>
            <a:ext cx="0" cy="504000"/>
          </a:xfrm>
          <a:prstGeom prst="line">
            <a:avLst/>
          </a:prstGeom>
          <a:solidFill>
            <a:schemeClr val="accent1"/>
          </a:solidFill>
          <a:ln w="25400" cap="flat" cmpd="sng" algn="ctr">
            <a:solidFill>
              <a:srgbClr val="C00000"/>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7" name="Object 9"/>
          <p:cNvGraphicFramePr>
            <a:graphicFrameLocks noChangeAspect="1"/>
          </p:cNvGraphicFramePr>
          <p:nvPr>
            <p:extLst>
              <p:ext uri="{D42A27DB-BD31-4B8C-83A1-F6EECF244321}">
                <p14:modId xmlns:p14="http://schemas.microsoft.com/office/powerpoint/2010/main" val="327531123"/>
              </p:ext>
            </p:extLst>
          </p:nvPr>
        </p:nvGraphicFramePr>
        <p:xfrm>
          <a:off x="6571463" y="3458560"/>
          <a:ext cx="1009260" cy="590220"/>
        </p:xfrm>
        <a:graphic>
          <a:graphicData uri="http://schemas.openxmlformats.org/presentationml/2006/ole">
            <mc:AlternateContent xmlns:mc="http://schemas.openxmlformats.org/markup-compatibility/2006">
              <mc:Choice xmlns:v="urn:schemas-microsoft-com:vml" Requires="v">
                <p:oleObj name="Equation" r:id="rId12" imgW="672840" imgH="393480" progId="Equation.DSMT4">
                  <p:embed/>
                </p:oleObj>
              </mc:Choice>
              <mc:Fallback>
                <p:oleObj name="Equation" r:id="rId12" imgW="672840" imgH="393480" progId="Equation.DSMT4">
                  <p:embed/>
                  <p:pic>
                    <p:nvPicPr>
                      <p:cNvPr id="27" name="Object 9"/>
                      <p:cNvPicPr>
                        <a:picLocks noChangeAspect="1" noChangeArrowheads="1"/>
                      </p:cNvPicPr>
                      <p:nvPr/>
                    </p:nvPicPr>
                    <p:blipFill>
                      <a:blip r:embed="rId13"/>
                      <a:srcRect/>
                      <a:stretch>
                        <a:fillRect/>
                      </a:stretch>
                    </p:blipFill>
                    <p:spPr bwMode="auto">
                      <a:xfrm>
                        <a:off x="6571463" y="3458560"/>
                        <a:ext cx="1009260" cy="59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9"/>
          <p:cNvGraphicFramePr>
            <a:graphicFrameLocks noChangeAspect="1"/>
          </p:cNvGraphicFramePr>
          <p:nvPr>
            <p:extLst>
              <p:ext uri="{D42A27DB-BD31-4B8C-83A1-F6EECF244321}">
                <p14:modId xmlns:p14="http://schemas.microsoft.com/office/powerpoint/2010/main" val="1794617895"/>
              </p:ext>
            </p:extLst>
          </p:nvPr>
        </p:nvGraphicFramePr>
        <p:xfrm>
          <a:off x="3857166" y="3496181"/>
          <a:ext cx="1009260" cy="590220"/>
        </p:xfrm>
        <a:graphic>
          <a:graphicData uri="http://schemas.openxmlformats.org/presentationml/2006/ole">
            <mc:AlternateContent xmlns:mc="http://schemas.openxmlformats.org/markup-compatibility/2006">
              <mc:Choice xmlns:v="urn:schemas-microsoft-com:vml" Requires="v">
                <p:oleObj name="Equation" r:id="rId12" imgW="672840" imgH="393480" progId="Equation.DSMT4">
                  <p:embed/>
                </p:oleObj>
              </mc:Choice>
              <mc:Fallback>
                <p:oleObj name="Equation" r:id="rId12" imgW="672840" imgH="393480" progId="Equation.DSMT4">
                  <p:embed/>
                  <p:pic>
                    <p:nvPicPr>
                      <p:cNvPr id="28" name="Object 9"/>
                      <p:cNvPicPr>
                        <a:picLocks noChangeAspect="1" noChangeArrowheads="1"/>
                      </p:cNvPicPr>
                      <p:nvPr/>
                    </p:nvPicPr>
                    <p:blipFill>
                      <a:blip r:embed="rId13"/>
                      <a:srcRect/>
                      <a:stretch>
                        <a:fillRect/>
                      </a:stretch>
                    </p:blipFill>
                    <p:spPr bwMode="auto">
                      <a:xfrm>
                        <a:off x="3857166" y="3496181"/>
                        <a:ext cx="1009260" cy="59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9" name="直接连接符 28"/>
          <p:cNvCxnSpPr/>
          <p:nvPr/>
        </p:nvCxnSpPr>
        <p:spPr bwMode="auto">
          <a:xfrm>
            <a:off x="6563218" y="5715000"/>
            <a:ext cx="0" cy="504000"/>
          </a:xfrm>
          <a:prstGeom prst="line">
            <a:avLst/>
          </a:prstGeom>
          <a:solidFill>
            <a:schemeClr val="accent1"/>
          </a:solidFill>
          <a:ln w="25400" cap="flat" cmpd="sng" algn="ctr">
            <a:solidFill>
              <a:srgbClr val="C00000"/>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0" name="Object 9"/>
          <p:cNvGraphicFramePr>
            <a:graphicFrameLocks noChangeAspect="1"/>
          </p:cNvGraphicFramePr>
          <p:nvPr>
            <p:extLst>
              <p:ext uri="{D42A27DB-BD31-4B8C-83A1-F6EECF244321}">
                <p14:modId xmlns:p14="http://schemas.microsoft.com/office/powerpoint/2010/main" val="3052530330"/>
              </p:ext>
            </p:extLst>
          </p:nvPr>
        </p:nvGraphicFramePr>
        <p:xfrm>
          <a:off x="5706789" y="6250932"/>
          <a:ext cx="874692" cy="511524"/>
        </p:xfrm>
        <a:graphic>
          <a:graphicData uri="http://schemas.openxmlformats.org/presentationml/2006/ole">
            <mc:AlternateContent xmlns:mc="http://schemas.openxmlformats.org/markup-compatibility/2006">
              <mc:Choice xmlns:v="urn:schemas-microsoft-com:vml" Requires="v">
                <p:oleObj name="Equation" r:id="rId12" imgW="672840" imgH="393480" progId="Equation.DSMT4">
                  <p:embed/>
                </p:oleObj>
              </mc:Choice>
              <mc:Fallback>
                <p:oleObj name="Equation" r:id="rId12" imgW="672840" imgH="393480" progId="Equation.DSMT4">
                  <p:embed/>
                  <p:pic>
                    <p:nvPicPr>
                      <p:cNvPr id="30" name="Object 9"/>
                      <p:cNvPicPr>
                        <a:picLocks noChangeAspect="1" noChangeArrowheads="1"/>
                      </p:cNvPicPr>
                      <p:nvPr/>
                    </p:nvPicPr>
                    <p:blipFill>
                      <a:blip r:embed="rId13"/>
                      <a:srcRect/>
                      <a:stretch>
                        <a:fillRect/>
                      </a:stretch>
                    </p:blipFill>
                    <p:spPr bwMode="auto">
                      <a:xfrm>
                        <a:off x="5706789" y="6250932"/>
                        <a:ext cx="874692" cy="51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1" name="直接连接符 30"/>
          <p:cNvCxnSpPr/>
          <p:nvPr/>
        </p:nvCxnSpPr>
        <p:spPr bwMode="auto">
          <a:xfrm>
            <a:off x="3752029" y="5867400"/>
            <a:ext cx="0" cy="504000"/>
          </a:xfrm>
          <a:prstGeom prst="line">
            <a:avLst/>
          </a:prstGeom>
          <a:solidFill>
            <a:schemeClr val="accent1"/>
          </a:solidFill>
          <a:ln w="25400" cap="flat" cmpd="sng" algn="ctr">
            <a:solidFill>
              <a:srgbClr val="C00000"/>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2" name="Object 9"/>
          <p:cNvGraphicFramePr>
            <a:graphicFrameLocks noChangeAspect="1"/>
          </p:cNvGraphicFramePr>
          <p:nvPr>
            <p:extLst>
              <p:ext uri="{D42A27DB-BD31-4B8C-83A1-F6EECF244321}">
                <p14:modId xmlns:p14="http://schemas.microsoft.com/office/powerpoint/2010/main" val="3039901239"/>
              </p:ext>
            </p:extLst>
          </p:nvPr>
        </p:nvGraphicFramePr>
        <p:xfrm>
          <a:off x="3124200" y="6324600"/>
          <a:ext cx="874692" cy="511524"/>
        </p:xfrm>
        <a:graphic>
          <a:graphicData uri="http://schemas.openxmlformats.org/presentationml/2006/ole">
            <mc:AlternateContent xmlns:mc="http://schemas.openxmlformats.org/markup-compatibility/2006">
              <mc:Choice xmlns:v="urn:schemas-microsoft-com:vml" Requires="v">
                <p:oleObj name="Equation" r:id="rId12" imgW="672840" imgH="393480" progId="Equation.DSMT4">
                  <p:embed/>
                </p:oleObj>
              </mc:Choice>
              <mc:Fallback>
                <p:oleObj name="Equation" r:id="rId12" imgW="672840" imgH="393480" progId="Equation.DSMT4">
                  <p:embed/>
                  <p:pic>
                    <p:nvPicPr>
                      <p:cNvPr id="32" name="Object 9"/>
                      <p:cNvPicPr>
                        <a:picLocks noChangeAspect="1" noChangeArrowheads="1"/>
                      </p:cNvPicPr>
                      <p:nvPr/>
                    </p:nvPicPr>
                    <p:blipFill>
                      <a:blip r:embed="rId13"/>
                      <a:srcRect/>
                      <a:stretch>
                        <a:fillRect/>
                      </a:stretch>
                    </p:blipFill>
                    <p:spPr bwMode="auto">
                      <a:xfrm>
                        <a:off x="3124200" y="6324600"/>
                        <a:ext cx="874692" cy="51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88095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304800" y="904654"/>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第一类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偶对称，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为奇数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5" name="对象 18"/>
          <p:cNvGraphicFramePr>
            <a:graphicFrameLocks noChangeAspect="1"/>
          </p:cNvGraphicFramePr>
          <p:nvPr>
            <p:extLst>
              <p:ext uri="{D42A27DB-BD31-4B8C-83A1-F6EECF244321}">
                <p14:modId xmlns:p14="http://schemas.microsoft.com/office/powerpoint/2010/main" val="495154115"/>
              </p:ext>
            </p:extLst>
          </p:nvPr>
        </p:nvGraphicFramePr>
        <p:xfrm>
          <a:off x="1828800" y="2252189"/>
          <a:ext cx="3767400" cy="466992"/>
        </p:xfrm>
        <a:graphic>
          <a:graphicData uri="http://schemas.openxmlformats.org/presentationml/2006/ole">
            <mc:AlternateContent xmlns:mc="http://schemas.openxmlformats.org/markup-compatibility/2006">
              <mc:Choice xmlns:v="urn:schemas-microsoft-com:vml" Requires="v">
                <p:oleObj name="Equation" r:id="rId2" imgW="1638000" imgH="203040" progId="Equation.DSMT4">
                  <p:embed/>
                </p:oleObj>
              </mc:Choice>
              <mc:Fallback>
                <p:oleObj name="Equation" r:id="rId2" imgW="1638000" imgH="203040" progId="Equation.DSMT4">
                  <p:embed/>
                  <p:pic>
                    <p:nvPicPr>
                      <p:cNvPr id="5" name="对象 18"/>
                      <p:cNvPicPr>
                        <a:picLocks noChangeAspect="1" noChangeArrowheads="1"/>
                      </p:cNvPicPr>
                      <p:nvPr/>
                    </p:nvPicPr>
                    <p:blipFill>
                      <a:blip r:embed="rId3"/>
                      <a:srcRect/>
                      <a:stretch>
                        <a:fillRect/>
                      </a:stretch>
                    </p:blipFill>
                    <p:spPr bwMode="auto">
                      <a:xfrm>
                        <a:off x="1828800" y="2252189"/>
                        <a:ext cx="3767400"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971536800"/>
              </p:ext>
            </p:extLst>
          </p:nvPr>
        </p:nvGraphicFramePr>
        <p:xfrm>
          <a:off x="1521703" y="3342452"/>
          <a:ext cx="3605212" cy="503238"/>
        </p:xfrm>
        <a:graphic>
          <a:graphicData uri="http://schemas.openxmlformats.org/presentationml/2006/ole">
            <mc:AlternateContent xmlns:mc="http://schemas.openxmlformats.org/markup-compatibility/2006">
              <mc:Choice xmlns:v="urn:schemas-microsoft-com:vml" Requires="v">
                <p:oleObj name="Equation" r:id="rId4" imgW="1638000" imgH="228600" progId="Equation.DSMT4">
                  <p:embed/>
                </p:oleObj>
              </mc:Choice>
              <mc:Fallback>
                <p:oleObj name="Equation" r:id="rId4" imgW="1638000" imgH="228600" progId="Equation.DSMT4">
                  <p:embed/>
                  <p:pic>
                    <p:nvPicPr>
                      <p:cNvPr id="6" name="对象 5"/>
                      <p:cNvPicPr>
                        <a:picLocks noChangeAspect="1" noChangeArrowheads="1"/>
                      </p:cNvPicPr>
                      <p:nvPr/>
                    </p:nvPicPr>
                    <p:blipFill>
                      <a:blip r:embed="rId5"/>
                      <a:srcRect/>
                      <a:stretch>
                        <a:fillRect/>
                      </a:stretch>
                    </p:blipFill>
                    <p:spPr bwMode="auto">
                      <a:xfrm>
                        <a:off x="1521703" y="3342452"/>
                        <a:ext cx="3605212"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562630642"/>
              </p:ext>
            </p:extLst>
          </p:nvPr>
        </p:nvGraphicFramePr>
        <p:xfrm>
          <a:off x="1787525" y="2779239"/>
          <a:ext cx="2851150" cy="501650"/>
        </p:xfrm>
        <a:graphic>
          <a:graphicData uri="http://schemas.openxmlformats.org/presentationml/2006/ole">
            <mc:AlternateContent xmlns:mc="http://schemas.openxmlformats.org/markup-compatibility/2006">
              <mc:Choice xmlns:v="urn:schemas-microsoft-com:vml" Requires="v">
                <p:oleObj name="Equation" r:id="rId6" imgW="1295280" imgH="228600" progId="Equation.DSMT4">
                  <p:embed/>
                </p:oleObj>
              </mc:Choice>
              <mc:Fallback>
                <p:oleObj name="Equation" r:id="rId6" imgW="1295280" imgH="228600" progId="Equation.DSMT4">
                  <p:embed/>
                  <p:pic>
                    <p:nvPicPr>
                      <p:cNvPr id="7" name="对象 6"/>
                      <p:cNvPicPr>
                        <a:picLocks noChangeAspect="1" noChangeArrowheads="1"/>
                      </p:cNvPicPr>
                      <p:nvPr/>
                    </p:nvPicPr>
                    <p:blipFill>
                      <a:blip r:embed="rId7"/>
                      <a:srcRect/>
                      <a:stretch>
                        <a:fillRect/>
                      </a:stretch>
                    </p:blipFill>
                    <p:spPr bwMode="auto">
                      <a:xfrm>
                        <a:off x="1787525" y="2779239"/>
                        <a:ext cx="285115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6951383"/>
              </p:ext>
            </p:extLst>
          </p:nvPr>
        </p:nvGraphicFramePr>
        <p:xfrm>
          <a:off x="1480138" y="3927381"/>
          <a:ext cx="4610100" cy="503237"/>
        </p:xfrm>
        <a:graphic>
          <a:graphicData uri="http://schemas.openxmlformats.org/presentationml/2006/ole">
            <mc:AlternateContent xmlns:mc="http://schemas.openxmlformats.org/markup-compatibility/2006">
              <mc:Choice xmlns:v="urn:schemas-microsoft-com:vml" Requires="v">
                <p:oleObj name="Equation" r:id="rId8" imgW="2095200" imgH="228600" progId="Equation.DSMT4">
                  <p:embed/>
                </p:oleObj>
              </mc:Choice>
              <mc:Fallback>
                <p:oleObj name="Equation" r:id="rId8" imgW="2095200" imgH="228600" progId="Equation.DSMT4">
                  <p:embed/>
                  <p:pic>
                    <p:nvPicPr>
                      <p:cNvPr id="8" name="对象 7"/>
                      <p:cNvPicPr>
                        <a:picLocks noChangeAspect="1" noChangeArrowheads="1"/>
                      </p:cNvPicPr>
                      <p:nvPr/>
                    </p:nvPicPr>
                    <p:blipFill>
                      <a:blip r:embed="rId9"/>
                      <a:srcRect/>
                      <a:stretch>
                        <a:fillRect/>
                      </a:stretch>
                    </p:blipFill>
                    <p:spPr bwMode="auto">
                      <a:xfrm>
                        <a:off x="1480138" y="3927381"/>
                        <a:ext cx="4610100"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78694126"/>
              </p:ext>
            </p:extLst>
          </p:nvPr>
        </p:nvGraphicFramePr>
        <p:xfrm>
          <a:off x="1492250" y="4525963"/>
          <a:ext cx="3857625" cy="503237"/>
        </p:xfrm>
        <a:graphic>
          <a:graphicData uri="http://schemas.openxmlformats.org/presentationml/2006/ole">
            <mc:AlternateContent xmlns:mc="http://schemas.openxmlformats.org/markup-compatibility/2006">
              <mc:Choice xmlns:v="urn:schemas-microsoft-com:vml" Requires="v">
                <p:oleObj name="Equation" r:id="rId10" imgW="1752480" imgH="228600" progId="Equation.DSMT4">
                  <p:embed/>
                </p:oleObj>
              </mc:Choice>
              <mc:Fallback>
                <p:oleObj name="Equation" r:id="rId10" imgW="1752480" imgH="228600" progId="Equation.DSMT4">
                  <p:embed/>
                  <p:pic>
                    <p:nvPicPr>
                      <p:cNvPr id="9" name="对象 8"/>
                      <p:cNvPicPr>
                        <a:picLocks noChangeAspect="1" noChangeArrowheads="1"/>
                      </p:cNvPicPr>
                      <p:nvPr/>
                    </p:nvPicPr>
                    <p:blipFill>
                      <a:blip r:embed="rId11"/>
                      <a:srcRect/>
                      <a:stretch>
                        <a:fillRect/>
                      </a:stretch>
                    </p:blipFill>
                    <p:spPr bwMode="auto">
                      <a:xfrm>
                        <a:off x="1492250" y="4525963"/>
                        <a:ext cx="38576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6090238" y="2163093"/>
            <a:ext cx="1576072" cy="523220"/>
          </a:xfrm>
          <a:prstGeom prst="rect">
            <a:avLst/>
          </a:prstGeom>
        </p:spPr>
        <p:txBody>
          <a:bodyPr wrap="none">
            <a:spAutoFit/>
          </a:bodyPr>
          <a:lstStyle/>
          <a:p>
            <a:r>
              <a:rPr lang="zh-CN" altLang="en-US" sz="2800" b="1" kern="0" dirty="0">
                <a:ea typeface="宋体" panose="02010600030101010101" pitchFamily="2" charset="-122"/>
              </a:rPr>
              <a:t>长度</a:t>
            </a:r>
            <a:r>
              <a:rPr lang="en-US" altLang="zh-CN" sz="2800" b="1" i="1" kern="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kern="0" dirty="0">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11" name="矩形 10"/>
          <p:cNvSpPr/>
          <p:nvPr/>
        </p:nvSpPr>
        <p:spPr>
          <a:xfrm>
            <a:off x="389383" y="2175056"/>
            <a:ext cx="906017" cy="523220"/>
          </a:xfrm>
          <a:prstGeom prst="rect">
            <a:avLst/>
          </a:prstGeom>
        </p:spPr>
        <p:txBody>
          <a:bodyPr wrap="none">
            <a:spAutoFit/>
          </a:bodyPr>
          <a:lstStyle/>
          <a:p>
            <a:r>
              <a:rPr lang="zh-CN" altLang="en-US" sz="2800" b="1" kern="0" dirty="0">
                <a:solidFill>
                  <a:prstClr val="black"/>
                </a:solidFill>
                <a:latin typeface="宋体" panose="02010600030101010101" pitchFamily="2" charset="-122"/>
                <a:ea typeface="宋体" panose="02010600030101010101" pitchFamily="2" charset="-122"/>
              </a:rPr>
              <a:t>例：</a:t>
            </a:r>
            <a:endParaRPr lang="zh-CN" altLang="en-US" sz="2800" dirty="0">
              <a:latin typeface="宋体" panose="02010600030101010101" pitchFamily="2" charset="-122"/>
              <a:ea typeface="宋体" panose="02010600030101010101" pitchFamily="2" charset="-122"/>
            </a:endParaRPr>
          </a:p>
        </p:txBody>
      </p:sp>
      <p:graphicFrame>
        <p:nvGraphicFramePr>
          <p:cNvPr id="12" name="Object 5"/>
          <p:cNvGraphicFramePr>
            <a:graphicFrameLocks noChangeAspect="1"/>
          </p:cNvGraphicFramePr>
          <p:nvPr>
            <p:extLst>
              <p:ext uri="{D42A27DB-BD31-4B8C-83A1-F6EECF244321}">
                <p14:modId xmlns:p14="http://schemas.microsoft.com/office/powerpoint/2010/main" val="862812207"/>
              </p:ext>
            </p:extLst>
          </p:nvPr>
        </p:nvGraphicFramePr>
        <p:xfrm>
          <a:off x="152400" y="5638800"/>
          <a:ext cx="3095892" cy="525780"/>
        </p:xfrm>
        <a:graphic>
          <a:graphicData uri="http://schemas.openxmlformats.org/presentationml/2006/ole">
            <mc:AlternateContent xmlns:mc="http://schemas.openxmlformats.org/markup-compatibility/2006">
              <mc:Choice xmlns:v="urn:schemas-microsoft-com:vml" Requires="v">
                <p:oleObj name="Equation" r:id="rId12" imgW="1346040" imgH="228600" progId="Equation.DSMT4">
                  <p:embed/>
                </p:oleObj>
              </mc:Choice>
              <mc:Fallback>
                <p:oleObj name="Equation" r:id="rId12" imgW="1346040" imgH="228600" progId="Equation.DSMT4">
                  <p:embed/>
                  <p:pic>
                    <p:nvPicPr>
                      <p:cNvPr id="12" name="Object 5"/>
                      <p:cNvPicPr>
                        <a:picLocks noChangeAspect="1" noChangeArrowheads="1"/>
                      </p:cNvPicPr>
                      <p:nvPr/>
                    </p:nvPicPr>
                    <p:blipFill>
                      <a:blip r:embed="rId13"/>
                      <a:srcRect/>
                      <a:stretch>
                        <a:fillRect/>
                      </a:stretch>
                    </p:blipFill>
                    <p:spPr bwMode="auto">
                      <a:xfrm>
                        <a:off x="152400" y="5638800"/>
                        <a:ext cx="309589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2440179726"/>
              </p:ext>
            </p:extLst>
          </p:nvPr>
        </p:nvGraphicFramePr>
        <p:xfrm>
          <a:off x="5029200" y="5332058"/>
          <a:ext cx="2979144" cy="466992"/>
        </p:xfrm>
        <a:graphic>
          <a:graphicData uri="http://schemas.openxmlformats.org/presentationml/2006/ole">
            <mc:AlternateContent xmlns:mc="http://schemas.openxmlformats.org/markup-compatibility/2006">
              <mc:Choice xmlns:v="urn:schemas-microsoft-com:vml" Requires="v">
                <p:oleObj name="Equation" r:id="rId14" imgW="1295280" imgH="203040" progId="Equation.DSMT4">
                  <p:embed/>
                </p:oleObj>
              </mc:Choice>
              <mc:Fallback>
                <p:oleObj name="Equation" r:id="rId14" imgW="1295280" imgH="203040" progId="Equation.DSMT4">
                  <p:embed/>
                  <p:pic>
                    <p:nvPicPr>
                      <p:cNvPr id="13" name="Object 7"/>
                      <p:cNvPicPr>
                        <a:picLocks noChangeAspect="1" noChangeArrowheads="1"/>
                      </p:cNvPicPr>
                      <p:nvPr/>
                    </p:nvPicPr>
                    <p:blipFill>
                      <a:blip r:embed="rId15"/>
                      <a:srcRect/>
                      <a:stretch>
                        <a:fillRect/>
                      </a:stretch>
                    </p:blipFill>
                    <p:spPr bwMode="auto">
                      <a:xfrm>
                        <a:off x="5029200" y="5332058"/>
                        <a:ext cx="2979144"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3276600" y="5278458"/>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graphicFrame>
        <p:nvGraphicFramePr>
          <p:cNvPr id="15" name="Object 2"/>
          <p:cNvGraphicFramePr>
            <a:graphicFrameLocks noChangeAspect="1"/>
          </p:cNvGraphicFramePr>
          <p:nvPr>
            <p:extLst>
              <p:ext uri="{D42A27DB-BD31-4B8C-83A1-F6EECF244321}">
                <p14:modId xmlns:p14="http://schemas.microsoft.com/office/powerpoint/2010/main" val="1353618635"/>
              </p:ext>
            </p:extLst>
          </p:nvPr>
        </p:nvGraphicFramePr>
        <p:xfrm>
          <a:off x="5045075" y="6070847"/>
          <a:ext cx="1664280" cy="466992"/>
        </p:xfrm>
        <a:graphic>
          <a:graphicData uri="http://schemas.openxmlformats.org/presentationml/2006/ole">
            <mc:AlternateContent xmlns:mc="http://schemas.openxmlformats.org/markup-compatibility/2006">
              <mc:Choice xmlns:v="urn:schemas-microsoft-com:vml" Requires="v">
                <p:oleObj name="Equation" r:id="rId16" imgW="723600" imgH="203040" progId="Equation.DSMT4">
                  <p:embed/>
                </p:oleObj>
              </mc:Choice>
              <mc:Fallback>
                <p:oleObj name="Equation" r:id="rId16" imgW="723600" imgH="203040" progId="Equation.DSMT4">
                  <p:embed/>
                  <p:pic>
                    <p:nvPicPr>
                      <p:cNvPr id="15" name="Object 2"/>
                      <p:cNvPicPr>
                        <a:picLocks noChangeAspect="1" noChangeArrowheads="1"/>
                      </p:cNvPicPr>
                      <p:nvPr/>
                    </p:nvPicPr>
                    <p:blipFill>
                      <a:blip r:embed="rId17"/>
                      <a:srcRect/>
                      <a:stretch>
                        <a:fillRect/>
                      </a:stretch>
                    </p:blipFill>
                    <p:spPr bwMode="auto">
                      <a:xfrm>
                        <a:off x="5045075" y="6070847"/>
                        <a:ext cx="1664280" cy="466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矩形 15"/>
          <p:cNvSpPr/>
          <p:nvPr/>
        </p:nvSpPr>
        <p:spPr>
          <a:xfrm>
            <a:off x="3249431" y="6057099"/>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graphicFrame>
        <p:nvGraphicFramePr>
          <p:cNvPr id="17" name="Object 7"/>
          <p:cNvGraphicFramePr>
            <a:graphicFrameLocks noChangeAspect="1"/>
          </p:cNvGraphicFramePr>
          <p:nvPr>
            <p:extLst>
              <p:ext uri="{D42A27DB-BD31-4B8C-83A1-F6EECF244321}">
                <p14:modId xmlns:p14="http://schemas.microsoft.com/office/powerpoint/2010/main" val="4055445182"/>
              </p:ext>
            </p:extLst>
          </p:nvPr>
        </p:nvGraphicFramePr>
        <p:xfrm>
          <a:off x="5815029" y="971016"/>
          <a:ext cx="2862396" cy="933984"/>
        </p:xfrm>
        <a:graphic>
          <a:graphicData uri="http://schemas.openxmlformats.org/presentationml/2006/ole">
            <mc:AlternateContent xmlns:mc="http://schemas.openxmlformats.org/markup-compatibility/2006">
              <mc:Choice xmlns:v="urn:schemas-microsoft-com:vml" Requires="v">
                <p:oleObj name="Equation" r:id="rId18" imgW="1244520" imgH="406080" progId="Equation.DSMT4">
                  <p:embed/>
                </p:oleObj>
              </mc:Choice>
              <mc:Fallback>
                <p:oleObj name="Equation" r:id="rId18" imgW="1244520" imgH="406080" progId="Equation.DSMT4">
                  <p:embed/>
                  <p:pic>
                    <p:nvPicPr>
                      <p:cNvPr id="17" name="Object 7"/>
                      <p:cNvPicPr>
                        <a:picLocks noChangeAspect="1" noChangeArrowheads="1"/>
                      </p:cNvPicPr>
                      <p:nvPr/>
                    </p:nvPicPr>
                    <p:blipFill>
                      <a:blip r:embed="rId19"/>
                      <a:srcRect/>
                      <a:stretch>
                        <a:fillRect/>
                      </a:stretch>
                    </p:blipFill>
                    <p:spPr bwMode="auto">
                      <a:xfrm>
                        <a:off x="5815029" y="971016"/>
                        <a:ext cx="286239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48686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04654"/>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第一类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偶对称，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为奇数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57805037"/>
              </p:ext>
            </p:extLst>
          </p:nvPr>
        </p:nvGraphicFramePr>
        <p:xfrm>
          <a:off x="1295400" y="3733800"/>
          <a:ext cx="7680325" cy="906462"/>
        </p:xfrm>
        <a:graphic>
          <a:graphicData uri="http://schemas.openxmlformats.org/presentationml/2006/ole">
            <mc:AlternateContent xmlns:mc="http://schemas.openxmlformats.org/markup-compatibility/2006">
              <mc:Choice xmlns:v="urn:schemas-microsoft-com:vml" Requires="v">
                <p:oleObj name="Equation" r:id="rId2" imgW="3657600" imgH="431640" progId="Equation.DSMT4">
                  <p:embed/>
                </p:oleObj>
              </mc:Choice>
              <mc:Fallback>
                <p:oleObj name="Equation" r:id="rId2" imgW="3657600" imgH="431640" progId="Equation.DSMT4">
                  <p:embed/>
                  <p:pic>
                    <p:nvPicPr>
                      <p:cNvPr id="6" name="Object 5"/>
                      <p:cNvPicPr>
                        <a:picLocks noChangeAspect="1" noChangeArrowheads="1"/>
                      </p:cNvPicPr>
                      <p:nvPr/>
                    </p:nvPicPr>
                    <p:blipFill>
                      <a:blip r:embed="rId3"/>
                      <a:srcRect/>
                      <a:stretch>
                        <a:fillRect/>
                      </a:stretch>
                    </p:blipFill>
                    <p:spPr bwMode="auto">
                      <a:xfrm>
                        <a:off x="1295400" y="3733800"/>
                        <a:ext cx="7680325"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3498854059"/>
              </p:ext>
            </p:extLst>
          </p:nvPr>
        </p:nvGraphicFramePr>
        <p:xfrm>
          <a:off x="1962150" y="2606633"/>
          <a:ext cx="4114368" cy="1066176"/>
        </p:xfrm>
        <a:graphic>
          <a:graphicData uri="http://schemas.openxmlformats.org/presentationml/2006/ole">
            <mc:AlternateContent xmlns:mc="http://schemas.openxmlformats.org/markup-compatibility/2006">
              <mc:Choice xmlns:v="urn:schemas-microsoft-com:vml" Requires="v">
                <p:oleObj name="Equation" r:id="rId4" imgW="1714320" imgH="444240" progId="Equation.DSMT4">
                  <p:embed/>
                </p:oleObj>
              </mc:Choice>
              <mc:Fallback>
                <p:oleObj name="Equation" r:id="rId4" imgW="1714320" imgH="444240" progId="Equation.DSMT4">
                  <p:embed/>
                  <p:pic>
                    <p:nvPicPr>
                      <p:cNvPr id="9" name="Object 7"/>
                      <p:cNvPicPr>
                        <a:picLocks noChangeAspect="1" noChangeArrowheads="1"/>
                      </p:cNvPicPr>
                      <p:nvPr/>
                    </p:nvPicPr>
                    <p:blipFill>
                      <a:blip r:embed="rId5"/>
                      <a:srcRect/>
                      <a:stretch>
                        <a:fillRect/>
                      </a:stretch>
                    </p:blipFill>
                    <p:spPr bwMode="auto">
                      <a:xfrm>
                        <a:off x="1962150" y="2606633"/>
                        <a:ext cx="4114368" cy="1066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3022108255"/>
              </p:ext>
            </p:extLst>
          </p:nvPr>
        </p:nvGraphicFramePr>
        <p:xfrm>
          <a:off x="2092292" y="1676400"/>
          <a:ext cx="2681288" cy="941387"/>
        </p:xfrm>
        <a:graphic>
          <a:graphicData uri="http://schemas.openxmlformats.org/presentationml/2006/ole">
            <mc:AlternateContent xmlns:mc="http://schemas.openxmlformats.org/markup-compatibility/2006">
              <mc:Choice xmlns:v="urn:schemas-microsoft-com:vml" Requires="v">
                <p:oleObj name="Equation" r:id="rId6" imgW="1117440" imgH="393480" progId="Equation.DSMT4">
                  <p:embed/>
                </p:oleObj>
              </mc:Choice>
              <mc:Fallback>
                <p:oleObj name="Equation" r:id="rId6" imgW="1117440" imgH="393480" progId="Equation.DSMT4">
                  <p:embed/>
                  <p:pic>
                    <p:nvPicPr>
                      <p:cNvPr id="10" name="Object 2"/>
                      <p:cNvPicPr>
                        <a:picLocks noChangeAspect="1" noChangeArrowheads="1"/>
                      </p:cNvPicPr>
                      <p:nvPr/>
                    </p:nvPicPr>
                    <p:blipFill>
                      <a:blip r:embed="rId7"/>
                      <a:srcRect/>
                      <a:stretch>
                        <a:fillRect/>
                      </a:stretch>
                    </p:blipFill>
                    <p:spPr bwMode="auto">
                      <a:xfrm>
                        <a:off x="2092292" y="1676400"/>
                        <a:ext cx="2681288"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9"/>
          <p:cNvSpPr>
            <a:spLocks noChangeArrowheads="1"/>
          </p:cNvSpPr>
          <p:nvPr/>
        </p:nvSpPr>
        <p:spPr bwMode="auto">
          <a:xfrm>
            <a:off x="808612" y="4775537"/>
            <a:ext cx="8229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由于               关于                         偶对称，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lnSpc>
                <a:spcPct val="150000"/>
              </a:lnSpc>
              <a:spcBef>
                <a:spcPct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因此             关于                          也呈偶对称。</a:t>
            </a:r>
          </a:p>
        </p:txBody>
      </p:sp>
      <p:graphicFrame>
        <p:nvGraphicFramePr>
          <p:cNvPr id="12" name="Object 10"/>
          <p:cNvGraphicFramePr>
            <a:graphicFrameLocks noChangeAspect="1"/>
          </p:cNvGraphicFramePr>
          <p:nvPr>
            <p:extLst>
              <p:ext uri="{D42A27DB-BD31-4B8C-83A1-F6EECF244321}">
                <p14:modId xmlns:p14="http://schemas.microsoft.com/office/powerpoint/2010/main" val="1093860667"/>
              </p:ext>
            </p:extLst>
          </p:nvPr>
        </p:nvGraphicFramePr>
        <p:xfrm>
          <a:off x="1466328" y="4793393"/>
          <a:ext cx="1200672" cy="446688"/>
        </p:xfrm>
        <a:graphic>
          <a:graphicData uri="http://schemas.openxmlformats.org/presentationml/2006/ole">
            <mc:AlternateContent xmlns:mc="http://schemas.openxmlformats.org/markup-compatibility/2006">
              <mc:Choice xmlns:v="urn:schemas-microsoft-com:vml" Requires="v">
                <p:oleObj name="Equation" r:id="rId8" imgW="545760" imgH="203040" progId="Equation.DSMT4">
                  <p:embed/>
                </p:oleObj>
              </mc:Choice>
              <mc:Fallback>
                <p:oleObj name="Equation" r:id="rId8" imgW="545760" imgH="203040" progId="Equation.DSMT4">
                  <p:embed/>
                  <p:pic>
                    <p:nvPicPr>
                      <p:cNvPr id="12" name="Object 10"/>
                      <p:cNvPicPr>
                        <a:picLocks noChangeAspect="1" noChangeArrowheads="1"/>
                      </p:cNvPicPr>
                      <p:nvPr/>
                    </p:nvPicPr>
                    <p:blipFill>
                      <a:blip r:embed="rId9">
                        <a:grayscl/>
                        <a:biLevel thresh="50000"/>
                      </a:blip>
                      <a:srcRect/>
                      <a:stretch>
                        <a:fillRect/>
                      </a:stretch>
                    </p:blipFill>
                    <p:spPr bwMode="auto">
                      <a:xfrm>
                        <a:off x="1466328" y="4793393"/>
                        <a:ext cx="1200672"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1"/>
          <p:cNvGraphicFramePr>
            <a:graphicFrameLocks noChangeAspect="1"/>
          </p:cNvGraphicFramePr>
          <p:nvPr>
            <p:extLst>
              <p:ext uri="{D42A27DB-BD31-4B8C-83A1-F6EECF244321}">
                <p14:modId xmlns:p14="http://schemas.microsoft.com/office/powerpoint/2010/main" val="2489954007"/>
              </p:ext>
            </p:extLst>
          </p:nvPr>
        </p:nvGraphicFramePr>
        <p:xfrm>
          <a:off x="1549924" y="5283368"/>
          <a:ext cx="893376" cy="446688"/>
        </p:xfrm>
        <a:graphic>
          <a:graphicData uri="http://schemas.openxmlformats.org/presentationml/2006/ole">
            <mc:AlternateContent xmlns:mc="http://schemas.openxmlformats.org/markup-compatibility/2006">
              <mc:Choice xmlns:v="urn:schemas-microsoft-com:vml" Requires="v">
                <p:oleObj name="Equation" r:id="rId10" imgW="406080" imgH="203040" progId="Equation.DSMT4">
                  <p:embed/>
                </p:oleObj>
              </mc:Choice>
              <mc:Fallback>
                <p:oleObj name="Equation" r:id="rId10" imgW="406080" imgH="203040" progId="Equation.DSMT4">
                  <p:embed/>
                  <p:pic>
                    <p:nvPicPr>
                      <p:cNvPr id="13" name="Object 11"/>
                      <p:cNvPicPr>
                        <a:picLocks noChangeAspect="1" noChangeArrowheads="1"/>
                      </p:cNvPicPr>
                      <p:nvPr/>
                    </p:nvPicPr>
                    <p:blipFill>
                      <a:blip r:embed="rId11">
                        <a:grayscl/>
                        <a:biLevel thresh="50000"/>
                      </a:blip>
                      <a:srcRect/>
                      <a:stretch>
                        <a:fillRect/>
                      </a:stretch>
                    </p:blipFill>
                    <p:spPr bwMode="auto">
                      <a:xfrm>
                        <a:off x="1549924" y="5283368"/>
                        <a:ext cx="893376"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0"/>
          <p:cNvGraphicFramePr>
            <a:graphicFrameLocks noChangeAspect="1"/>
          </p:cNvGraphicFramePr>
          <p:nvPr>
            <p:extLst>
              <p:ext uri="{D42A27DB-BD31-4B8C-83A1-F6EECF244321}">
                <p14:modId xmlns:p14="http://schemas.microsoft.com/office/powerpoint/2010/main" val="3167035986"/>
              </p:ext>
            </p:extLst>
          </p:nvPr>
        </p:nvGraphicFramePr>
        <p:xfrm>
          <a:off x="3232665" y="4777532"/>
          <a:ext cx="1781028" cy="438012"/>
        </p:xfrm>
        <a:graphic>
          <a:graphicData uri="http://schemas.openxmlformats.org/presentationml/2006/ole">
            <mc:AlternateContent xmlns:mc="http://schemas.openxmlformats.org/markup-compatibility/2006">
              <mc:Choice xmlns:v="urn:schemas-microsoft-com:vml" Requires="v">
                <p:oleObj name="Equation" r:id="rId12" imgW="774360" imgH="190440" progId="Equation.DSMT4">
                  <p:embed/>
                </p:oleObj>
              </mc:Choice>
              <mc:Fallback>
                <p:oleObj name="Equation" r:id="rId12" imgW="774360" imgH="190440" progId="Equation.DSMT4">
                  <p:embed/>
                  <p:pic>
                    <p:nvPicPr>
                      <p:cNvPr id="14" name="Object 10"/>
                      <p:cNvPicPr>
                        <a:picLocks noChangeAspect="1" noChangeArrowheads="1"/>
                      </p:cNvPicPr>
                      <p:nvPr/>
                    </p:nvPicPr>
                    <p:blipFill>
                      <a:blip r:embed="rId13">
                        <a:grayscl/>
                        <a:biLevel thresh="50000"/>
                      </a:blip>
                      <a:srcRect/>
                      <a:stretch>
                        <a:fillRect/>
                      </a:stretch>
                    </p:blipFill>
                    <p:spPr bwMode="auto">
                      <a:xfrm>
                        <a:off x="3232665" y="4777532"/>
                        <a:ext cx="1781028" cy="4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0"/>
          <p:cNvGraphicFramePr>
            <a:graphicFrameLocks noChangeAspect="1"/>
          </p:cNvGraphicFramePr>
          <p:nvPr>
            <p:extLst>
              <p:ext uri="{D42A27DB-BD31-4B8C-83A1-F6EECF244321}">
                <p14:modId xmlns:p14="http://schemas.microsoft.com/office/powerpoint/2010/main" val="3201707617"/>
              </p:ext>
            </p:extLst>
          </p:nvPr>
        </p:nvGraphicFramePr>
        <p:xfrm>
          <a:off x="3200400" y="5253920"/>
          <a:ext cx="1781028" cy="438012"/>
        </p:xfrm>
        <a:graphic>
          <a:graphicData uri="http://schemas.openxmlformats.org/presentationml/2006/ole">
            <mc:AlternateContent xmlns:mc="http://schemas.openxmlformats.org/markup-compatibility/2006">
              <mc:Choice xmlns:v="urn:schemas-microsoft-com:vml" Requires="v">
                <p:oleObj name="Equation" r:id="rId12" imgW="774360" imgH="190440" progId="Equation.DSMT4">
                  <p:embed/>
                </p:oleObj>
              </mc:Choice>
              <mc:Fallback>
                <p:oleObj name="Equation" r:id="rId12" imgW="774360" imgH="190440" progId="Equation.DSMT4">
                  <p:embed/>
                  <p:pic>
                    <p:nvPicPr>
                      <p:cNvPr id="15" name="Object 10"/>
                      <p:cNvPicPr>
                        <a:picLocks noChangeAspect="1" noChangeArrowheads="1"/>
                      </p:cNvPicPr>
                      <p:nvPr/>
                    </p:nvPicPr>
                    <p:blipFill>
                      <a:blip r:embed="rId13">
                        <a:grayscl/>
                        <a:biLevel thresh="50000"/>
                      </a:blip>
                      <a:srcRect/>
                      <a:stretch>
                        <a:fillRect/>
                      </a:stretch>
                    </p:blipFill>
                    <p:spPr bwMode="auto">
                      <a:xfrm>
                        <a:off x="3200400" y="5253920"/>
                        <a:ext cx="1781028" cy="4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381000" y="1885483"/>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sp>
        <p:nvSpPr>
          <p:cNvPr id="17" name="矩形 16"/>
          <p:cNvSpPr/>
          <p:nvPr/>
        </p:nvSpPr>
        <p:spPr>
          <a:xfrm>
            <a:off x="381000" y="2881815"/>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sp>
        <p:nvSpPr>
          <p:cNvPr id="19" name="矩形 18"/>
          <p:cNvSpPr/>
          <p:nvPr/>
        </p:nvSpPr>
        <p:spPr>
          <a:xfrm>
            <a:off x="389383" y="3901571"/>
            <a:ext cx="906017" cy="523220"/>
          </a:xfrm>
          <a:prstGeom prst="rect">
            <a:avLst/>
          </a:prstGeom>
        </p:spPr>
        <p:txBody>
          <a:bodyPr wrap="none">
            <a:spAutoFit/>
          </a:bodyPr>
          <a:lstStyle/>
          <a:p>
            <a:r>
              <a:rPr lang="zh-CN" altLang="en-US" sz="2800" b="1" dirty="0"/>
              <a:t>式中</a:t>
            </a:r>
            <a:endParaRPr lang="zh-CN" altLang="en-US" sz="2800" dirty="0"/>
          </a:p>
        </p:txBody>
      </p:sp>
      <p:sp>
        <p:nvSpPr>
          <p:cNvPr id="20" name="文本框 19"/>
          <p:cNvSpPr txBox="1"/>
          <p:nvPr/>
        </p:nvSpPr>
        <p:spPr>
          <a:xfrm>
            <a:off x="770384" y="5713180"/>
            <a:ext cx="8145016" cy="1112805"/>
          </a:xfrm>
          <a:prstGeom prst="rect">
            <a:avLst/>
          </a:prstGeom>
          <a:noFill/>
        </p:spPr>
        <p:txBody>
          <a:bodyPr wrap="square" rtlCol="0">
            <a:spAutoFit/>
          </a:bodyPr>
          <a:lstStyle/>
          <a:p>
            <a:pPr>
              <a:lnSpc>
                <a:spcPct val="125000"/>
              </a:lnSpc>
            </a:pPr>
            <a:r>
              <a:rPr lang="zh-CN" altLang="en-US" sz="2800" b="1" dirty="0"/>
              <a:t>调整</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lang="zh-CN" altLang="en-US" sz="2800" b="1" dirty="0"/>
              <a:t>的值，可以使其成为低通，高通，带通，带阻滤波器</a:t>
            </a:r>
          </a:p>
        </p:txBody>
      </p:sp>
      <p:graphicFrame>
        <p:nvGraphicFramePr>
          <p:cNvPr id="21" name="Object 7"/>
          <p:cNvGraphicFramePr>
            <a:graphicFrameLocks noChangeAspect="1"/>
          </p:cNvGraphicFramePr>
          <p:nvPr>
            <p:extLst>
              <p:ext uri="{D42A27DB-BD31-4B8C-83A1-F6EECF244321}">
                <p14:modId xmlns:p14="http://schemas.microsoft.com/office/powerpoint/2010/main" val="4055445182"/>
              </p:ext>
            </p:extLst>
          </p:nvPr>
        </p:nvGraphicFramePr>
        <p:xfrm>
          <a:off x="5815029" y="971016"/>
          <a:ext cx="2862396" cy="933984"/>
        </p:xfrm>
        <a:graphic>
          <a:graphicData uri="http://schemas.openxmlformats.org/presentationml/2006/ole">
            <mc:AlternateContent xmlns:mc="http://schemas.openxmlformats.org/markup-compatibility/2006">
              <mc:Choice xmlns:v="urn:schemas-microsoft-com:vml" Requires="v">
                <p:oleObj name="Equation" r:id="rId14" imgW="1244520" imgH="406080" progId="Equation.DSMT4">
                  <p:embed/>
                </p:oleObj>
              </mc:Choice>
              <mc:Fallback>
                <p:oleObj name="Equation" r:id="rId14" imgW="1244520" imgH="406080" progId="Equation.DSMT4">
                  <p:embed/>
                  <p:pic>
                    <p:nvPicPr>
                      <p:cNvPr id="21" name="Object 7"/>
                      <p:cNvPicPr>
                        <a:picLocks noChangeAspect="1" noChangeArrowheads="1"/>
                      </p:cNvPicPr>
                      <p:nvPr/>
                    </p:nvPicPr>
                    <p:blipFill>
                      <a:blip r:embed="rId15"/>
                      <a:srcRect/>
                      <a:stretch>
                        <a:fillRect/>
                      </a:stretch>
                    </p:blipFill>
                    <p:spPr bwMode="auto">
                      <a:xfrm>
                        <a:off x="5815029" y="971016"/>
                        <a:ext cx="286239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68849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14400"/>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第二类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偶对称，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为偶数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18" name="对象 18"/>
          <p:cNvGraphicFramePr>
            <a:graphicFrameLocks noChangeAspect="1"/>
          </p:cNvGraphicFramePr>
          <p:nvPr>
            <p:extLst>
              <p:ext uri="{D42A27DB-BD31-4B8C-83A1-F6EECF244321}">
                <p14:modId xmlns:p14="http://schemas.microsoft.com/office/powerpoint/2010/main" val="1960862218"/>
              </p:ext>
            </p:extLst>
          </p:nvPr>
        </p:nvGraphicFramePr>
        <p:xfrm>
          <a:off x="1682750" y="2100263"/>
          <a:ext cx="4059238" cy="466725"/>
        </p:xfrm>
        <a:graphic>
          <a:graphicData uri="http://schemas.openxmlformats.org/presentationml/2006/ole">
            <mc:AlternateContent xmlns:mc="http://schemas.openxmlformats.org/markup-compatibility/2006">
              <mc:Choice xmlns:v="urn:schemas-microsoft-com:vml" Requires="v">
                <p:oleObj name="Equation" r:id="rId2" imgW="1765080" imgH="203040" progId="Equation.DSMT4">
                  <p:embed/>
                </p:oleObj>
              </mc:Choice>
              <mc:Fallback>
                <p:oleObj name="Equation" r:id="rId2" imgW="1765080" imgH="203040" progId="Equation.DSMT4">
                  <p:embed/>
                  <p:pic>
                    <p:nvPicPr>
                      <p:cNvPr id="18" name="对象 18"/>
                      <p:cNvPicPr>
                        <a:picLocks noChangeAspect="1" noChangeArrowheads="1"/>
                      </p:cNvPicPr>
                      <p:nvPr/>
                    </p:nvPicPr>
                    <p:blipFill>
                      <a:blip r:embed="rId3"/>
                      <a:srcRect/>
                      <a:stretch>
                        <a:fillRect/>
                      </a:stretch>
                    </p:blipFill>
                    <p:spPr bwMode="auto">
                      <a:xfrm>
                        <a:off x="1682750" y="2100263"/>
                        <a:ext cx="40592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p:nvPr/>
        </p:nvSpPr>
        <p:spPr>
          <a:xfrm>
            <a:off x="6126413" y="2039422"/>
            <a:ext cx="1576072" cy="523220"/>
          </a:xfrm>
          <a:prstGeom prst="rect">
            <a:avLst/>
          </a:prstGeom>
        </p:spPr>
        <p:txBody>
          <a:bodyPr wrap="none">
            <a:spAutoFit/>
          </a:bodyPr>
          <a:lstStyle/>
          <a:p>
            <a:r>
              <a:rPr lang="zh-CN" altLang="en-US" sz="2800" b="1" kern="0" dirty="0">
                <a:ea typeface="宋体" panose="02010600030101010101" pitchFamily="2" charset="-122"/>
              </a:rPr>
              <a:t>长度</a:t>
            </a:r>
            <a:r>
              <a:rPr lang="en-US" altLang="zh-CN" sz="2800" b="1" i="1" kern="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kern="0" dirty="0">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25" name="矩形 24"/>
          <p:cNvSpPr/>
          <p:nvPr/>
        </p:nvSpPr>
        <p:spPr>
          <a:xfrm>
            <a:off x="389383" y="2022656"/>
            <a:ext cx="906017" cy="523220"/>
          </a:xfrm>
          <a:prstGeom prst="rect">
            <a:avLst/>
          </a:prstGeom>
        </p:spPr>
        <p:txBody>
          <a:bodyPr wrap="none">
            <a:spAutoFit/>
          </a:bodyPr>
          <a:lstStyle/>
          <a:p>
            <a:r>
              <a:rPr lang="zh-CN" altLang="en-US" sz="2800" b="1" kern="0" dirty="0">
                <a:solidFill>
                  <a:prstClr val="black"/>
                </a:solidFill>
                <a:latin typeface="宋体" panose="02010600030101010101" pitchFamily="2" charset="-122"/>
                <a:ea typeface="宋体" panose="02010600030101010101" pitchFamily="2" charset="-122"/>
              </a:rPr>
              <a:t>例：</a:t>
            </a:r>
            <a:endParaRPr lang="zh-CN" altLang="en-US" sz="2800" dirty="0">
              <a:latin typeface="宋体" panose="02010600030101010101" pitchFamily="2" charset="-122"/>
              <a:ea typeface="宋体" panose="02010600030101010101" pitchFamily="2" charset="-122"/>
            </a:endParaRPr>
          </a:p>
        </p:txBody>
      </p:sp>
      <p:graphicFrame>
        <p:nvGraphicFramePr>
          <p:cNvPr id="26" name="Object 5"/>
          <p:cNvGraphicFramePr>
            <a:graphicFrameLocks noChangeAspect="1"/>
          </p:cNvGraphicFramePr>
          <p:nvPr>
            <p:extLst>
              <p:ext uri="{D42A27DB-BD31-4B8C-83A1-F6EECF244321}">
                <p14:modId xmlns:p14="http://schemas.microsoft.com/office/powerpoint/2010/main" val="1112975407"/>
              </p:ext>
            </p:extLst>
          </p:nvPr>
        </p:nvGraphicFramePr>
        <p:xfrm>
          <a:off x="333108" y="5036820"/>
          <a:ext cx="3095892" cy="525780"/>
        </p:xfrm>
        <a:graphic>
          <a:graphicData uri="http://schemas.openxmlformats.org/presentationml/2006/ole">
            <mc:AlternateContent xmlns:mc="http://schemas.openxmlformats.org/markup-compatibility/2006">
              <mc:Choice xmlns:v="urn:schemas-microsoft-com:vml" Requires="v">
                <p:oleObj name="Equation" r:id="rId4" imgW="1346040" imgH="228600" progId="Equation.DSMT4">
                  <p:embed/>
                </p:oleObj>
              </mc:Choice>
              <mc:Fallback>
                <p:oleObj name="Equation" r:id="rId4" imgW="1346040" imgH="228600" progId="Equation.DSMT4">
                  <p:embed/>
                  <p:pic>
                    <p:nvPicPr>
                      <p:cNvPr id="26" name="Object 5"/>
                      <p:cNvPicPr>
                        <a:picLocks noChangeAspect="1" noChangeArrowheads="1"/>
                      </p:cNvPicPr>
                      <p:nvPr/>
                    </p:nvPicPr>
                    <p:blipFill>
                      <a:blip r:embed="rId5"/>
                      <a:srcRect/>
                      <a:stretch>
                        <a:fillRect/>
                      </a:stretch>
                    </p:blipFill>
                    <p:spPr bwMode="auto">
                      <a:xfrm>
                        <a:off x="333108" y="5036820"/>
                        <a:ext cx="309589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7"/>
          <p:cNvGraphicFramePr>
            <a:graphicFrameLocks noChangeAspect="1"/>
          </p:cNvGraphicFramePr>
          <p:nvPr>
            <p:extLst>
              <p:ext uri="{D42A27DB-BD31-4B8C-83A1-F6EECF244321}">
                <p14:modId xmlns:p14="http://schemas.microsoft.com/office/powerpoint/2010/main" val="2767595355"/>
              </p:ext>
            </p:extLst>
          </p:nvPr>
        </p:nvGraphicFramePr>
        <p:xfrm>
          <a:off x="2952750" y="5597686"/>
          <a:ext cx="5200650" cy="466725"/>
        </p:xfrm>
        <a:graphic>
          <a:graphicData uri="http://schemas.openxmlformats.org/presentationml/2006/ole">
            <mc:AlternateContent xmlns:mc="http://schemas.openxmlformats.org/markup-compatibility/2006">
              <mc:Choice xmlns:v="urn:schemas-microsoft-com:vml" Requires="v">
                <p:oleObj name="Equation" r:id="rId6" imgW="2260440" imgH="203040" progId="Equation.DSMT4">
                  <p:embed/>
                </p:oleObj>
              </mc:Choice>
              <mc:Fallback>
                <p:oleObj name="Equation" r:id="rId6" imgW="2260440" imgH="203040" progId="Equation.DSMT4">
                  <p:embed/>
                  <p:pic>
                    <p:nvPicPr>
                      <p:cNvPr id="27" name="Object 7"/>
                      <p:cNvPicPr>
                        <a:picLocks noChangeAspect="1" noChangeArrowheads="1"/>
                      </p:cNvPicPr>
                      <p:nvPr/>
                    </p:nvPicPr>
                    <p:blipFill>
                      <a:blip r:embed="rId7"/>
                      <a:srcRect/>
                      <a:stretch>
                        <a:fillRect/>
                      </a:stretch>
                    </p:blipFill>
                    <p:spPr bwMode="auto">
                      <a:xfrm>
                        <a:off x="2952750" y="5597686"/>
                        <a:ext cx="52006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矩形 27"/>
          <p:cNvSpPr/>
          <p:nvPr/>
        </p:nvSpPr>
        <p:spPr>
          <a:xfrm>
            <a:off x="1319656" y="5541191"/>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graphicFrame>
        <p:nvGraphicFramePr>
          <p:cNvPr id="29" name="Object 2"/>
          <p:cNvGraphicFramePr>
            <a:graphicFrameLocks noChangeAspect="1"/>
          </p:cNvGraphicFramePr>
          <p:nvPr>
            <p:extLst>
              <p:ext uri="{D42A27DB-BD31-4B8C-83A1-F6EECF244321}">
                <p14:modId xmlns:p14="http://schemas.microsoft.com/office/powerpoint/2010/main" val="1157398457"/>
              </p:ext>
            </p:extLst>
          </p:nvPr>
        </p:nvGraphicFramePr>
        <p:xfrm>
          <a:off x="2967038" y="5953125"/>
          <a:ext cx="1985962" cy="904875"/>
        </p:xfrm>
        <a:graphic>
          <a:graphicData uri="http://schemas.openxmlformats.org/presentationml/2006/ole">
            <mc:AlternateContent xmlns:mc="http://schemas.openxmlformats.org/markup-compatibility/2006">
              <mc:Choice xmlns:v="urn:schemas-microsoft-com:vml" Requires="v">
                <p:oleObj name="Equation" r:id="rId8" imgW="863280" imgH="393480" progId="Equation.DSMT4">
                  <p:embed/>
                </p:oleObj>
              </mc:Choice>
              <mc:Fallback>
                <p:oleObj name="Equation" r:id="rId8" imgW="863280" imgH="393480" progId="Equation.DSMT4">
                  <p:embed/>
                  <p:pic>
                    <p:nvPicPr>
                      <p:cNvPr id="29" name="Object 2"/>
                      <p:cNvPicPr>
                        <a:picLocks noChangeAspect="1" noChangeArrowheads="1"/>
                      </p:cNvPicPr>
                      <p:nvPr/>
                    </p:nvPicPr>
                    <p:blipFill>
                      <a:blip r:embed="rId9"/>
                      <a:srcRect/>
                      <a:stretch>
                        <a:fillRect/>
                      </a:stretch>
                    </p:blipFill>
                    <p:spPr bwMode="auto">
                      <a:xfrm>
                        <a:off x="2967038" y="5953125"/>
                        <a:ext cx="1985962"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 name="矩形 29"/>
          <p:cNvSpPr/>
          <p:nvPr/>
        </p:nvSpPr>
        <p:spPr>
          <a:xfrm>
            <a:off x="1311718" y="6158699"/>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graphicFrame>
        <p:nvGraphicFramePr>
          <p:cNvPr id="31" name="对象 30"/>
          <p:cNvGraphicFramePr>
            <a:graphicFrameLocks noChangeAspect="1"/>
          </p:cNvGraphicFramePr>
          <p:nvPr>
            <p:extLst>
              <p:ext uri="{D42A27DB-BD31-4B8C-83A1-F6EECF244321}">
                <p14:modId xmlns:p14="http://schemas.microsoft.com/office/powerpoint/2010/main" val="4032036781"/>
              </p:ext>
            </p:extLst>
          </p:nvPr>
        </p:nvGraphicFramePr>
        <p:xfrm>
          <a:off x="1375026" y="3147914"/>
          <a:ext cx="4751387" cy="503238"/>
        </p:xfrm>
        <a:graphic>
          <a:graphicData uri="http://schemas.openxmlformats.org/presentationml/2006/ole">
            <mc:AlternateContent xmlns:mc="http://schemas.openxmlformats.org/markup-compatibility/2006">
              <mc:Choice xmlns:v="urn:schemas-microsoft-com:vml" Requires="v">
                <p:oleObj name="Equation" r:id="rId10" imgW="2158920" imgH="228600" progId="Equation.DSMT4">
                  <p:embed/>
                </p:oleObj>
              </mc:Choice>
              <mc:Fallback>
                <p:oleObj name="Equation" r:id="rId10" imgW="2158920" imgH="228600" progId="Equation.DSMT4">
                  <p:embed/>
                  <p:pic>
                    <p:nvPicPr>
                      <p:cNvPr id="31" name="对象 30"/>
                      <p:cNvPicPr>
                        <a:picLocks noChangeAspect="1" noChangeArrowheads="1"/>
                      </p:cNvPicPr>
                      <p:nvPr/>
                    </p:nvPicPr>
                    <p:blipFill>
                      <a:blip r:embed="rId11"/>
                      <a:srcRect/>
                      <a:stretch>
                        <a:fillRect/>
                      </a:stretch>
                    </p:blipFill>
                    <p:spPr bwMode="auto">
                      <a:xfrm>
                        <a:off x="1375026" y="3147914"/>
                        <a:ext cx="475138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197975439"/>
              </p:ext>
            </p:extLst>
          </p:nvPr>
        </p:nvGraphicFramePr>
        <p:xfrm>
          <a:off x="1629556" y="2576563"/>
          <a:ext cx="3744913" cy="501650"/>
        </p:xfrm>
        <a:graphic>
          <a:graphicData uri="http://schemas.openxmlformats.org/presentationml/2006/ole">
            <mc:AlternateContent xmlns:mc="http://schemas.openxmlformats.org/markup-compatibility/2006">
              <mc:Choice xmlns:v="urn:schemas-microsoft-com:vml" Requires="v">
                <p:oleObj name="Equation" r:id="rId12" imgW="1701720" imgH="228600" progId="Equation.DSMT4">
                  <p:embed/>
                </p:oleObj>
              </mc:Choice>
              <mc:Fallback>
                <p:oleObj name="Equation" r:id="rId12" imgW="1701720" imgH="228600" progId="Equation.DSMT4">
                  <p:embed/>
                  <p:pic>
                    <p:nvPicPr>
                      <p:cNvPr id="32" name="对象 31"/>
                      <p:cNvPicPr>
                        <a:picLocks noChangeAspect="1" noChangeArrowheads="1"/>
                      </p:cNvPicPr>
                      <p:nvPr/>
                    </p:nvPicPr>
                    <p:blipFill>
                      <a:blip r:embed="rId13"/>
                      <a:srcRect/>
                      <a:stretch>
                        <a:fillRect/>
                      </a:stretch>
                    </p:blipFill>
                    <p:spPr bwMode="auto">
                      <a:xfrm>
                        <a:off x="1629556" y="2576563"/>
                        <a:ext cx="3744913"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596964437"/>
              </p:ext>
            </p:extLst>
          </p:nvPr>
        </p:nvGraphicFramePr>
        <p:xfrm>
          <a:off x="1375026" y="3598764"/>
          <a:ext cx="7042150" cy="727075"/>
        </p:xfrm>
        <a:graphic>
          <a:graphicData uri="http://schemas.openxmlformats.org/presentationml/2006/ole">
            <mc:AlternateContent xmlns:mc="http://schemas.openxmlformats.org/markup-compatibility/2006">
              <mc:Choice xmlns:v="urn:schemas-microsoft-com:vml" Requires="v">
                <p:oleObj name="Equation" r:id="rId14" imgW="3200400" imgH="330120" progId="Equation.DSMT4">
                  <p:embed/>
                </p:oleObj>
              </mc:Choice>
              <mc:Fallback>
                <p:oleObj name="Equation" r:id="rId14" imgW="3200400" imgH="330120" progId="Equation.DSMT4">
                  <p:embed/>
                  <p:pic>
                    <p:nvPicPr>
                      <p:cNvPr id="33" name="对象 32"/>
                      <p:cNvPicPr>
                        <a:picLocks noChangeAspect="1" noChangeArrowheads="1"/>
                      </p:cNvPicPr>
                      <p:nvPr/>
                    </p:nvPicPr>
                    <p:blipFill>
                      <a:blip r:embed="rId15"/>
                      <a:srcRect/>
                      <a:stretch>
                        <a:fillRect/>
                      </a:stretch>
                    </p:blipFill>
                    <p:spPr bwMode="auto">
                      <a:xfrm>
                        <a:off x="1375026" y="3598764"/>
                        <a:ext cx="7042150"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2579140993"/>
              </p:ext>
            </p:extLst>
          </p:nvPr>
        </p:nvGraphicFramePr>
        <p:xfrm>
          <a:off x="1329179" y="4225925"/>
          <a:ext cx="6091237" cy="727075"/>
        </p:xfrm>
        <a:graphic>
          <a:graphicData uri="http://schemas.openxmlformats.org/presentationml/2006/ole">
            <mc:AlternateContent xmlns:mc="http://schemas.openxmlformats.org/markup-compatibility/2006">
              <mc:Choice xmlns:v="urn:schemas-microsoft-com:vml" Requires="v">
                <p:oleObj name="Equation" r:id="rId16" imgW="2768400" imgH="330120" progId="Equation.DSMT4">
                  <p:embed/>
                </p:oleObj>
              </mc:Choice>
              <mc:Fallback>
                <p:oleObj name="Equation" r:id="rId16" imgW="2768400" imgH="330120" progId="Equation.DSMT4">
                  <p:embed/>
                  <p:pic>
                    <p:nvPicPr>
                      <p:cNvPr id="34" name="对象 33"/>
                      <p:cNvPicPr>
                        <a:picLocks noChangeAspect="1" noChangeArrowheads="1"/>
                      </p:cNvPicPr>
                      <p:nvPr/>
                    </p:nvPicPr>
                    <p:blipFill>
                      <a:blip r:embed="rId17"/>
                      <a:srcRect/>
                      <a:stretch>
                        <a:fillRect/>
                      </a:stretch>
                    </p:blipFill>
                    <p:spPr bwMode="auto">
                      <a:xfrm>
                        <a:off x="1329179" y="4225925"/>
                        <a:ext cx="6091237"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7"/>
          <p:cNvGraphicFramePr>
            <a:graphicFrameLocks noChangeAspect="1"/>
          </p:cNvGraphicFramePr>
          <p:nvPr>
            <p:extLst>
              <p:ext uri="{D42A27DB-BD31-4B8C-83A1-F6EECF244321}">
                <p14:modId xmlns:p14="http://schemas.microsoft.com/office/powerpoint/2010/main" val="4055445182"/>
              </p:ext>
            </p:extLst>
          </p:nvPr>
        </p:nvGraphicFramePr>
        <p:xfrm>
          <a:off x="5815029" y="971016"/>
          <a:ext cx="2862396" cy="933984"/>
        </p:xfrm>
        <a:graphic>
          <a:graphicData uri="http://schemas.openxmlformats.org/presentationml/2006/ole">
            <mc:AlternateContent xmlns:mc="http://schemas.openxmlformats.org/markup-compatibility/2006">
              <mc:Choice xmlns:v="urn:schemas-microsoft-com:vml" Requires="v">
                <p:oleObj name="Equation" r:id="rId18" imgW="1244520" imgH="406080" progId="Equation.DSMT4">
                  <p:embed/>
                </p:oleObj>
              </mc:Choice>
              <mc:Fallback>
                <p:oleObj name="Equation" r:id="rId18" imgW="1244520" imgH="406080" progId="Equation.DSMT4">
                  <p:embed/>
                  <p:pic>
                    <p:nvPicPr>
                      <p:cNvPr id="35" name="Object 7"/>
                      <p:cNvPicPr>
                        <a:picLocks noChangeAspect="1" noChangeArrowheads="1"/>
                      </p:cNvPicPr>
                      <p:nvPr/>
                    </p:nvPicPr>
                    <p:blipFill>
                      <a:blip r:embed="rId19"/>
                      <a:srcRect/>
                      <a:stretch>
                        <a:fillRect/>
                      </a:stretch>
                    </p:blipFill>
                    <p:spPr bwMode="auto">
                      <a:xfrm>
                        <a:off x="5815029" y="971016"/>
                        <a:ext cx="286239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417063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14400"/>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第二类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偶对称，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为偶数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2408155903"/>
              </p:ext>
            </p:extLst>
          </p:nvPr>
        </p:nvGraphicFramePr>
        <p:xfrm>
          <a:off x="5815029" y="971016"/>
          <a:ext cx="2862396" cy="933984"/>
        </p:xfrm>
        <a:graphic>
          <a:graphicData uri="http://schemas.openxmlformats.org/presentationml/2006/ole">
            <mc:AlternateContent xmlns:mc="http://schemas.openxmlformats.org/markup-compatibility/2006">
              <mc:Choice xmlns:v="urn:schemas-microsoft-com:vml" Requires="v">
                <p:oleObj name="Equation" r:id="rId2" imgW="1244520" imgH="406080" progId="Equation.DSMT4">
                  <p:embed/>
                </p:oleObj>
              </mc:Choice>
              <mc:Fallback>
                <p:oleObj name="Equation" r:id="rId2" imgW="1244520" imgH="406080" progId="Equation.DSMT4">
                  <p:embed/>
                  <p:pic>
                    <p:nvPicPr>
                      <p:cNvPr id="5" name="Object 7"/>
                      <p:cNvPicPr>
                        <a:picLocks noChangeAspect="1" noChangeArrowheads="1"/>
                      </p:cNvPicPr>
                      <p:nvPr/>
                    </p:nvPicPr>
                    <p:blipFill>
                      <a:blip r:embed="rId3"/>
                      <a:srcRect/>
                      <a:stretch>
                        <a:fillRect/>
                      </a:stretch>
                    </p:blipFill>
                    <p:spPr bwMode="auto">
                      <a:xfrm>
                        <a:off x="5815029" y="971016"/>
                        <a:ext cx="286239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512948937"/>
              </p:ext>
            </p:extLst>
          </p:nvPr>
        </p:nvGraphicFramePr>
        <p:xfrm>
          <a:off x="3656013" y="3465787"/>
          <a:ext cx="2959100" cy="906462"/>
        </p:xfrm>
        <a:graphic>
          <a:graphicData uri="http://schemas.openxmlformats.org/presentationml/2006/ole">
            <mc:AlternateContent xmlns:mc="http://schemas.openxmlformats.org/markup-compatibility/2006">
              <mc:Choice xmlns:v="urn:schemas-microsoft-com:vml" Requires="v">
                <p:oleObj name="Equation" r:id="rId4" imgW="1409400" imgH="431640" progId="Equation.DSMT4">
                  <p:embed/>
                </p:oleObj>
              </mc:Choice>
              <mc:Fallback>
                <p:oleObj name="Equation" r:id="rId4" imgW="1409400" imgH="431640" progId="Equation.DSMT4">
                  <p:embed/>
                  <p:pic>
                    <p:nvPicPr>
                      <p:cNvPr id="6" name="Object 5"/>
                      <p:cNvPicPr>
                        <a:picLocks noChangeAspect="1" noChangeArrowheads="1"/>
                      </p:cNvPicPr>
                      <p:nvPr/>
                    </p:nvPicPr>
                    <p:blipFill>
                      <a:blip r:embed="rId5"/>
                      <a:srcRect/>
                      <a:stretch>
                        <a:fillRect/>
                      </a:stretch>
                    </p:blipFill>
                    <p:spPr bwMode="auto">
                      <a:xfrm>
                        <a:off x="3656013" y="3465787"/>
                        <a:ext cx="295910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2991978584"/>
              </p:ext>
            </p:extLst>
          </p:nvPr>
        </p:nvGraphicFramePr>
        <p:xfrm>
          <a:off x="2075704" y="2362200"/>
          <a:ext cx="4585464" cy="1051560"/>
        </p:xfrm>
        <a:graphic>
          <a:graphicData uri="http://schemas.openxmlformats.org/presentationml/2006/ole">
            <mc:AlternateContent xmlns:mc="http://schemas.openxmlformats.org/markup-compatibility/2006">
              <mc:Choice xmlns:v="urn:schemas-microsoft-com:vml" Requires="v">
                <p:oleObj name="Equation" r:id="rId6" imgW="1993680" imgH="457200" progId="Equation.DSMT4">
                  <p:embed/>
                </p:oleObj>
              </mc:Choice>
              <mc:Fallback>
                <p:oleObj name="Equation" r:id="rId6" imgW="1993680" imgH="457200" progId="Equation.DSMT4">
                  <p:embed/>
                  <p:pic>
                    <p:nvPicPr>
                      <p:cNvPr id="9" name="Object 7"/>
                      <p:cNvPicPr>
                        <a:picLocks noChangeAspect="1" noChangeArrowheads="1"/>
                      </p:cNvPicPr>
                      <p:nvPr/>
                    </p:nvPicPr>
                    <p:blipFill>
                      <a:blip r:embed="rId7"/>
                      <a:srcRect/>
                      <a:stretch>
                        <a:fillRect/>
                      </a:stretch>
                    </p:blipFill>
                    <p:spPr bwMode="auto">
                      <a:xfrm>
                        <a:off x="2075704" y="2362200"/>
                        <a:ext cx="4585464" cy="105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2488635253"/>
              </p:ext>
            </p:extLst>
          </p:nvPr>
        </p:nvGraphicFramePr>
        <p:xfrm>
          <a:off x="2092292" y="1524000"/>
          <a:ext cx="2570112" cy="905004"/>
        </p:xfrm>
        <a:graphic>
          <a:graphicData uri="http://schemas.openxmlformats.org/presentationml/2006/ole">
            <mc:AlternateContent xmlns:mc="http://schemas.openxmlformats.org/markup-compatibility/2006">
              <mc:Choice xmlns:v="urn:schemas-microsoft-com:vml" Requires="v">
                <p:oleObj name="Equation" r:id="rId8" imgW="1117440" imgH="393480" progId="Equation.DSMT4">
                  <p:embed/>
                </p:oleObj>
              </mc:Choice>
              <mc:Fallback>
                <p:oleObj name="Equation" r:id="rId8" imgW="1117440" imgH="393480" progId="Equation.DSMT4">
                  <p:embed/>
                  <p:pic>
                    <p:nvPicPr>
                      <p:cNvPr id="10" name="Object 2"/>
                      <p:cNvPicPr>
                        <a:picLocks noChangeAspect="1" noChangeArrowheads="1"/>
                      </p:cNvPicPr>
                      <p:nvPr/>
                    </p:nvPicPr>
                    <p:blipFill>
                      <a:blip r:embed="rId9"/>
                      <a:srcRect/>
                      <a:stretch>
                        <a:fillRect/>
                      </a:stretch>
                    </p:blipFill>
                    <p:spPr bwMode="auto">
                      <a:xfrm>
                        <a:off x="2092292" y="1524000"/>
                        <a:ext cx="2570112" cy="9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9"/>
          <p:cNvSpPr>
            <a:spLocks noChangeArrowheads="1"/>
          </p:cNvSpPr>
          <p:nvPr/>
        </p:nvSpPr>
        <p:spPr bwMode="auto">
          <a:xfrm>
            <a:off x="381000" y="4551307"/>
            <a:ext cx="82296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由于                              关于             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lnSpc>
                <a:spcPct val="150000"/>
              </a:lnSpc>
              <a:spcBef>
                <a:spcPts val="120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因此             关于              也呈奇对称。</a:t>
            </a:r>
          </a:p>
        </p:txBody>
      </p:sp>
      <p:graphicFrame>
        <p:nvGraphicFramePr>
          <p:cNvPr id="12" name="Object 10"/>
          <p:cNvGraphicFramePr>
            <a:graphicFrameLocks noChangeAspect="1"/>
          </p:cNvGraphicFramePr>
          <p:nvPr>
            <p:extLst>
              <p:ext uri="{D42A27DB-BD31-4B8C-83A1-F6EECF244321}">
                <p14:modId xmlns:p14="http://schemas.microsoft.com/office/powerpoint/2010/main" val="3408698951"/>
              </p:ext>
            </p:extLst>
          </p:nvPr>
        </p:nvGraphicFramePr>
        <p:xfrm>
          <a:off x="1173614" y="4277380"/>
          <a:ext cx="2106216" cy="960120"/>
        </p:xfrm>
        <a:graphic>
          <a:graphicData uri="http://schemas.openxmlformats.org/presentationml/2006/ole">
            <mc:AlternateContent xmlns:mc="http://schemas.openxmlformats.org/markup-compatibility/2006">
              <mc:Choice xmlns:v="urn:schemas-microsoft-com:vml" Requires="v">
                <p:oleObj name="Equation" r:id="rId10" imgW="1002960" imgH="457200" progId="Equation.DSMT4">
                  <p:embed/>
                </p:oleObj>
              </mc:Choice>
              <mc:Fallback>
                <p:oleObj name="Equation" r:id="rId10" imgW="1002960" imgH="457200" progId="Equation.DSMT4">
                  <p:embed/>
                  <p:pic>
                    <p:nvPicPr>
                      <p:cNvPr id="12" name="Object 10"/>
                      <p:cNvPicPr>
                        <a:picLocks noChangeAspect="1" noChangeArrowheads="1"/>
                      </p:cNvPicPr>
                      <p:nvPr/>
                    </p:nvPicPr>
                    <p:blipFill>
                      <a:blip r:embed="rId11">
                        <a:grayscl/>
                        <a:biLevel thresh="50000"/>
                      </a:blip>
                      <a:srcRect/>
                      <a:stretch>
                        <a:fillRect/>
                      </a:stretch>
                    </p:blipFill>
                    <p:spPr bwMode="auto">
                      <a:xfrm>
                        <a:off x="1173614" y="4277380"/>
                        <a:ext cx="2106216" cy="96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1"/>
          <p:cNvGraphicFramePr>
            <a:graphicFrameLocks noChangeAspect="1"/>
          </p:cNvGraphicFramePr>
          <p:nvPr>
            <p:extLst>
              <p:ext uri="{D42A27DB-BD31-4B8C-83A1-F6EECF244321}">
                <p14:modId xmlns:p14="http://schemas.microsoft.com/office/powerpoint/2010/main" val="2019078662"/>
              </p:ext>
            </p:extLst>
          </p:nvPr>
        </p:nvGraphicFramePr>
        <p:xfrm>
          <a:off x="1134359" y="5223270"/>
          <a:ext cx="893376" cy="446688"/>
        </p:xfrm>
        <a:graphic>
          <a:graphicData uri="http://schemas.openxmlformats.org/presentationml/2006/ole">
            <mc:AlternateContent xmlns:mc="http://schemas.openxmlformats.org/markup-compatibility/2006">
              <mc:Choice xmlns:v="urn:schemas-microsoft-com:vml" Requires="v">
                <p:oleObj name="Equation" r:id="rId12" imgW="406080" imgH="203040" progId="Equation.DSMT4">
                  <p:embed/>
                </p:oleObj>
              </mc:Choice>
              <mc:Fallback>
                <p:oleObj name="Equation" r:id="rId12" imgW="406080" imgH="203040" progId="Equation.DSMT4">
                  <p:embed/>
                  <p:pic>
                    <p:nvPicPr>
                      <p:cNvPr id="13" name="Object 11"/>
                      <p:cNvPicPr>
                        <a:picLocks noChangeAspect="1" noChangeArrowheads="1"/>
                      </p:cNvPicPr>
                      <p:nvPr/>
                    </p:nvPicPr>
                    <p:blipFill>
                      <a:blip r:embed="rId13">
                        <a:grayscl/>
                        <a:biLevel thresh="50000"/>
                      </a:blip>
                      <a:srcRect/>
                      <a:stretch>
                        <a:fillRect/>
                      </a:stretch>
                    </p:blipFill>
                    <p:spPr bwMode="auto">
                      <a:xfrm>
                        <a:off x="1134359" y="5223270"/>
                        <a:ext cx="893376"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0"/>
          <p:cNvGraphicFramePr>
            <a:graphicFrameLocks noChangeAspect="1"/>
          </p:cNvGraphicFramePr>
          <p:nvPr>
            <p:extLst>
              <p:ext uri="{D42A27DB-BD31-4B8C-83A1-F6EECF244321}">
                <p14:modId xmlns:p14="http://schemas.microsoft.com/office/powerpoint/2010/main" val="916214041"/>
              </p:ext>
            </p:extLst>
          </p:nvPr>
        </p:nvGraphicFramePr>
        <p:xfrm>
          <a:off x="4021480" y="4639574"/>
          <a:ext cx="935038" cy="320675"/>
        </p:xfrm>
        <a:graphic>
          <a:graphicData uri="http://schemas.openxmlformats.org/presentationml/2006/ole">
            <mc:AlternateContent xmlns:mc="http://schemas.openxmlformats.org/markup-compatibility/2006">
              <mc:Choice xmlns:v="urn:schemas-microsoft-com:vml" Requires="v">
                <p:oleObj name="Equation" r:id="rId14" imgW="406080" imgH="139680" progId="Equation.DSMT4">
                  <p:embed/>
                </p:oleObj>
              </mc:Choice>
              <mc:Fallback>
                <p:oleObj name="Equation" r:id="rId14" imgW="406080" imgH="139680" progId="Equation.DSMT4">
                  <p:embed/>
                  <p:pic>
                    <p:nvPicPr>
                      <p:cNvPr id="14" name="Object 10"/>
                      <p:cNvPicPr>
                        <a:picLocks noChangeAspect="1" noChangeArrowheads="1"/>
                      </p:cNvPicPr>
                      <p:nvPr/>
                    </p:nvPicPr>
                    <p:blipFill>
                      <a:blip r:embed="rId15">
                        <a:grayscl/>
                        <a:biLevel thresh="50000"/>
                      </a:blip>
                      <a:srcRect/>
                      <a:stretch>
                        <a:fillRect/>
                      </a:stretch>
                    </p:blipFill>
                    <p:spPr bwMode="auto">
                      <a:xfrm>
                        <a:off x="4021480" y="4639574"/>
                        <a:ext cx="935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381000" y="1743263"/>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sp>
        <p:nvSpPr>
          <p:cNvPr id="17" name="矩形 16"/>
          <p:cNvSpPr/>
          <p:nvPr/>
        </p:nvSpPr>
        <p:spPr>
          <a:xfrm>
            <a:off x="381000" y="2613802"/>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sp>
        <p:nvSpPr>
          <p:cNvPr id="19" name="矩形 18"/>
          <p:cNvSpPr/>
          <p:nvPr/>
        </p:nvSpPr>
        <p:spPr>
          <a:xfrm>
            <a:off x="2703978" y="3656875"/>
            <a:ext cx="906017" cy="523220"/>
          </a:xfrm>
          <a:prstGeom prst="rect">
            <a:avLst/>
          </a:prstGeom>
        </p:spPr>
        <p:txBody>
          <a:bodyPr wrap="none">
            <a:spAutoFit/>
          </a:bodyPr>
          <a:lstStyle/>
          <a:p>
            <a:r>
              <a:rPr lang="zh-CN" altLang="en-US" sz="2800" b="1" dirty="0"/>
              <a:t>式中</a:t>
            </a:r>
            <a:endParaRPr lang="zh-CN" altLang="en-US" sz="2800" dirty="0"/>
          </a:p>
        </p:txBody>
      </p:sp>
      <p:graphicFrame>
        <p:nvGraphicFramePr>
          <p:cNvPr id="18" name="Object 10"/>
          <p:cNvGraphicFramePr>
            <a:graphicFrameLocks noChangeAspect="1"/>
          </p:cNvGraphicFramePr>
          <p:nvPr>
            <p:extLst>
              <p:ext uri="{D42A27DB-BD31-4B8C-83A1-F6EECF244321}">
                <p14:modId xmlns:p14="http://schemas.microsoft.com/office/powerpoint/2010/main" val="4038065056"/>
              </p:ext>
            </p:extLst>
          </p:nvPr>
        </p:nvGraphicFramePr>
        <p:xfrm>
          <a:off x="2762839" y="5276765"/>
          <a:ext cx="935038" cy="320675"/>
        </p:xfrm>
        <a:graphic>
          <a:graphicData uri="http://schemas.openxmlformats.org/presentationml/2006/ole">
            <mc:AlternateContent xmlns:mc="http://schemas.openxmlformats.org/markup-compatibility/2006">
              <mc:Choice xmlns:v="urn:schemas-microsoft-com:vml" Requires="v">
                <p:oleObj name="Equation" r:id="rId14" imgW="406080" imgH="139680" progId="Equation.DSMT4">
                  <p:embed/>
                </p:oleObj>
              </mc:Choice>
              <mc:Fallback>
                <p:oleObj name="Equation" r:id="rId14" imgW="406080" imgH="139680" progId="Equation.DSMT4">
                  <p:embed/>
                  <p:pic>
                    <p:nvPicPr>
                      <p:cNvPr id="18" name="Object 10"/>
                      <p:cNvPicPr>
                        <a:picLocks noChangeAspect="1" noChangeArrowheads="1"/>
                      </p:cNvPicPr>
                      <p:nvPr/>
                    </p:nvPicPr>
                    <p:blipFill>
                      <a:blip r:embed="rId15">
                        <a:grayscl/>
                        <a:biLevel thresh="50000"/>
                      </a:blip>
                      <a:srcRect/>
                      <a:stretch>
                        <a:fillRect/>
                      </a:stretch>
                    </p:blipFill>
                    <p:spPr bwMode="auto">
                      <a:xfrm>
                        <a:off x="2762839" y="5276765"/>
                        <a:ext cx="935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1"/>
          <p:cNvGraphicFramePr>
            <a:graphicFrameLocks noChangeAspect="1"/>
          </p:cNvGraphicFramePr>
          <p:nvPr>
            <p:extLst>
              <p:ext uri="{D42A27DB-BD31-4B8C-83A1-F6EECF244321}">
                <p14:modId xmlns:p14="http://schemas.microsoft.com/office/powerpoint/2010/main" val="3339134731"/>
              </p:ext>
            </p:extLst>
          </p:nvPr>
        </p:nvGraphicFramePr>
        <p:xfrm>
          <a:off x="381000" y="5791200"/>
          <a:ext cx="1397000" cy="446088"/>
        </p:xfrm>
        <a:graphic>
          <a:graphicData uri="http://schemas.openxmlformats.org/presentationml/2006/ole">
            <mc:AlternateContent xmlns:mc="http://schemas.openxmlformats.org/markup-compatibility/2006">
              <mc:Choice xmlns:v="urn:schemas-microsoft-com:vml" Requires="v">
                <p:oleObj name="Equation" r:id="rId16" imgW="634680" imgH="203040" progId="Equation.DSMT4">
                  <p:embed/>
                </p:oleObj>
              </mc:Choice>
              <mc:Fallback>
                <p:oleObj name="Equation" r:id="rId16" imgW="634680" imgH="203040" progId="Equation.DSMT4">
                  <p:embed/>
                  <p:pic>
                    <p:nvPicPr>
                      <p:cNvPr id="20" name="Object 11"/>
                      <p:cNvPicPr>
                        <a:picLocks noChangeAspect="1" noChangeArrowheads="1"/>
                      </p:cNvPicPr>
                      <p:nvPr/>
                    </p:nvPicPr>
                    <p:blipFill>
                      <a:blip r:embed="rId17">
                        <a:grayscl/>
                        <a:biLevel thresh="50000"/>
                      </a:blip>
                      <a:srcRect/>
                      <a:stretch>
                        <a:fillRect/>
                      </a:stretch>
                    </p:blipFill>
                    <p:spPr bwMode="auto">
                      <a:xfrm>
                        <a:off x="381000" y="5791200"/>
                        <a:ext cx="13970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4529635" y="5720858"/>
            <a:ext cx="3760966"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z</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lang="en-US" altLang="zh-CN" sz="3200" b="1" i="1" dirty="0">
                <a:solidFill>
                  <a:srgbClr val="0000CC"/>
                </a:solidFill>
                <a:latin typeface="Times New Roman"/>
                <a:ea typeface="宋体" panose="02010600030101010101" pitchFamily="2" charset="-122"/>
              </a:rPr>
              <a:t>z = −</a:t>
            </a:r>
            <a:r>
              <a:rPr lang="en-US" altLang="zh-CN" sz="3200" b="1" dirty="0">
                <a:solidFill>
                  <a:srgbClr val="0000CC"/>
                </a:solidFill>
                <a:latin typeface="Times New Roman"/>
                <a:ea typeface="宋体" panose="02010600030101010101" pitchFamily="2" charset="-122"/>
              </a:rPr>
              <a:t>1</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必有零点</a:t>
            </a:r>
            <a:endParaRPr kumimoji="0" lang="zh-CN" altLang="en-US" sz="1800" b="1" i="0" u="none" strike="noStrike" kern="0" cap="none" spc="0" normalizeH="0" baseline="0" noProof="0" dirty="0">
              <a:ln>
                <a:noFill/>
              </a:ln>
              <a:solidFill>
                <a:srgbClr val="0000CC"/>
              </a:solidFill>
              <a:effectLst/>
              <a:uLnTx/>
              <a:uFillTx/>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3289144241"/>
              </p:ext>
            </p:extLst>
          </p:nvPr>
        </p:nvGraphicFramePr>
        <p:xfrm>
          <a:off x="2209800" y="5771108"/>
          <a:ext cx="1901825" cy="557213"/>
        </p:xfrm>
        <a:graphic>
          <a:graphicData uri="http://schemas.openxmlformats.org/presentationml/2006/ole">
            <mc:AlternateContent xmlns:mc="http://schemas.openxmlformats.org/markup-compatibility/2006">
              <mc:Choice xmlns:v="urn:schemas-microsoft-com:vml" Requires="v">
                <p:oleObj name="Equation" r:id="rId18" imgW="863280" imgH="253800" progId="Equation.DSMT4">
                  <p:embed/>
                </p:oleObj>
              </mc:Choice>
              <mc:Fallback>
                <p:oleObj name="Equation" r:id="rId18" imgW="863280" imgH="253800" progId="Equation.DSMT4">
                  <p:embed/>
                  <p:pic>
                    <p:nvPicPr>
                      <p:cNvPr id="21" name="对象 20"/>
                      <p:cNvPicPr>
                        <a:picLocks noChangeAspect="1" noChangeArrowheads="1"/>
                      </p:cNvPicPr>
                      <p:nvPr/>
                    </p:nvPicPr>
                    <p:blipFill>
                      <a:blip r:embed="rId19"/>
                      <a:srcRect/>
                      <a:stretch>
                        <a:fillRect/>
                      </a:stretch>
                    </p:blipFill>
                    <p:spPr bwMode="auto">
                      <a:xfrm>
                        <a:off x="2209800" y="5771108"/>
                        <a:ext cx="1901825"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p:cNvSpPr/>
          <p:nvPr/>
        </p:nvSpPr>
        <p:spPr>
          <a:xfrm>
            <a:off x="2133600" y="6340638"/>
            <a:ext cx="5234125"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不能</a:t>
            </a:r>
            <a:r>
              <a:rPr kumimoji="1" lang="zh-CN" altLang="en-US" sz="2800" b="1" kern="0" dirty="0">
                <a:solidFill>
                  <a:srgbClr val="0000CC"/>
                </a:solidFill>
                <a:latin typeface="Times New Roman" panose="02020603050405020304" pitchFamily="18" charset="0"/>
                <a:ea typeface="宋体" panose="02010600030101010101" pitchFamily="2" charset="-122"/>
              </a:rPr>
              <a:t>用于设计高通、带阻滤波器</a:t>
            </a:r>
            <a:endParaRPr kumimoji="0" lang="zh-CN" altLang="en-US" sz="1800" b="1" i="0" u="none" strike="noStrike" kern="0" cap="none" spc="0" normalizeH="0" baseline="0" noProof="0" dirty="0">
              <a:ln>
                <a:noFill/>
              </a:ln>
              <a:solidFill>
                <a:srgbClr val="0000CC"/>
              </a:solidFill>
              <a:effectLst/>
              <a:uLnTx/>
              <a:uFillTx/>
            </a:endParaRPr>
          </a:p>
        </p:txBody>
      </p:sp>
      <p:sp>
        <p:nvSpPr>
          <p:cNvPr id="2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196946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14400"/>
            <a:ext cx="5181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第三类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奇对称，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为奇数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18" name="Object 7"/>
          <p:cNvGraphicFramePr>
            <a:graphicFrameLocks noChangeAspect="1"/>
          </p:cNvGraphicFramePr>
          <p:nvPr>
            <p:extLst>
              <p:ext uri="{D42A27DB-BD31-4B8C-83A1-F6EECF244321}">
                <p14:modId xmlns:p14="http://schemas.microsoft.com/office/powerpoint/2010/main" val="200832288"/>
              </p:ext>
            </p:extLst>
          </p:nvPr>
        </p:nvGraphicFramePr>
        <p:xfrm>
          <a:off x="5713413" y="971550"/>
          <a:ext cx="3065462" cy="933450"/>
        </p:xfrm>
        <a:graphic>
          <a:graphicData uri="http://schemas.openxmlformats.org/presentationml/2006/ole">
            <mc:AlternateContent xmlns:mc="http://schemas.openxmlformats.org/markup-compatibility/2006">
              <mc:Choice xmlns:v="urn:schemas-microsoft-com:vml" Requires="v">
                <p:oleObj name="Equation" r:id="rId2" imgW="1333440" imgH="406080" progId="Equation.DSMT4">
                  <p:embed/>
                </p:oleObj>
              </mc:Choice>
              <mc:Fallback>
                <p:oleObj name="Equation" r:id="rId2" imgW="1333440" imgH="406080" progId="Equation.DSMT4">
                  <p:embed/>
                  <p:pic>
                    <p:nvPicPr>
                      <p:cNvPr id="18" name="Object 7"/>
                      <p:cNvPicPr>
                        <a:picLocks noChangeAspect="1" noChangeArrowheads="1"/>
                      </p:cNvPicPr>
                      <p:nvPr/>
                    </p:nvPicPr>
                    <p:blipFill>
                      <a:blip r:embed="rId3"/>
                      <a:srcRect/>
                      <a:stretch>
                        <a:fillRect/>
                      </a:stretch>
                    </p:blipFill>
                    <p:spPr bwMode="auto">
                      <a:xfrm>
                        <a:off x="5713413" y="971550"/>
                        <a:ext cx="306546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8"/>
          <p:cNvGraphicFramePr>
            <a:graphicFrameLocks noChangeAspect="1"/>
          </p:cNvGraphicFramePr>
          <p:nvPr>
            <p:extLst>
              <p:ext uri="{D42A27DB-BD31-4B8C-83A1-F6EECF244321}">
                <p14:modId xmlns:p14="http://schemas.microsoft.com/office/powerpoint/2010/main" val="3715841038"/>
              </p:ext>
            </p:extLst>
          </p:nvPr>
        </p:nvGraphicFramePr>
        <p:xfrm>
          <a:off x="1333500" y="2146970"/>
          <a:ext cx="4759325" cy="466725"/>
        </p:xfrm>
        <a:graphic>
          <a:graphicData uri="http://schemas.openxmlformats.org/presentationml/2006/ole">
            <mc:AlternateContent xmlns:mc="http://schemas.openxmlformats.org/markup-compatibility/2006">
              <mc:Choice xmlns:v="urn:schemas-microsoft-com:vml" Requires="v">
                <p:oleObj name="Equation" r:id="rId4" imgW="2070000" imgH="203040" progId="Equation.DSMT4">
                  <p:embed/>
                </p:oleObj>
              </mc:Choice>
              <mc:Fallback>
                <p:oleObj name="Equation" r:id="rId4" imgW="2070000" imgH="203040" progId="Equation.DSMT4">
                  <p:embed/>
                  <p:pic>
                    <p:nvPicPr>
                      <p:cNvPr id="20" name="对象 18"/>
                      <p:cNvPicPr>
                        <a:picLocks noChangeAspect="1" noChangeArrowheads="1"/>
                      </p:cNvPicPr>
                      <p:nvPr/>
                    </p:nvPicPr>
                    <p:blipFill>
                      <a:blip r:embed="rId5"/>
                      <a:srcRect/>
                      <a:stretch>
                        <a:fillRect/>
                      </a:stretch>
                    </p:blipFill>
                    <p:spPr bwMode="auto">
                      <a:xfrm>
                        <a:off x="1333500" y="2146970"/>
                        <a:ext cx="47593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p:cNvSpPr/>
          <p:nvPr/>
        </p:nvSpPr>
        <p:spPr>
          <a:xfrm>
            <a:off x="6221976" y="2057400"/>
            <a:ext cx="1550424" cy="523220"/>
          </a:xfrm>
          <a:prstGeom prst="rect">
            <a:avLst/>
          </a:prstGeom>
        </p:spPr>
        <p:txBody>
          <a:bodyPr wrap="none">
            <a:spAutoFit/>
          </a:bodyPr>
          <a:lstStyle/>
          <a:p>
            <a:r>
              <a:rPr lang="zh-CN" altLang="en-US" sz="2800" b="1" kern="0" dirty="0">
                <a:ea typeface="宋体" panose="02010600030101010101" pitchFamily="2" charset="-122"/>
              </a:rPr>
              <a:t>长度</a:t>
            </a:r>
            <a:r>
              <a:rPr lang="en-US" altLang="zh-CN" sz="2800" b="1" i="1" kern="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kern="0" dirty="0">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26" name="矩形 25"/>
          <p:cNvSpPr/>
          <p:nvPr/>
        </p:nvSpPr>
        <p:spPr>
          <a:xfrm>
            <a:off x="389383" y="2069363"/>
            <a:ext cx="906017" cy="523220"/>
          </a:xfrm>
          <a:prstGeom prst="rect">
            <a:avLst/>
          </a:prstGeom>
        </p:spPr>
        <p:txBody>
          <a:bodyPr wrap="none">
            <a:spAutoFit/>
          </a:bodyPr>
          <a:lstStyle/>
          <a:p>
            <a:r>
              <a:rPr lang="zh-CN" altLang="en-US" sz="2800" b="1" kern="0" dirty="0">
                <a:solidFill>
                  <a:prstClr val="black"/>
                </a:solidFill>
                <a:latin typeface="宋体" panose="02010600030101010101" pitchFamily="2" charset="-122"/>
                <a:ea typeface="宋体" panose="02010600030101010101" pitchFamily="2" charset="-122"/>
              </a:rPr>
              <a:t>例：</a:t>
            </a:r>
            <a:endParaRPr lang="zh-CN" altLang="en-US" sz="2800" dirty="0">
              <a:latin typeface="宋体" panose="02010600030101010101" pitchFamily="2" charset="-122"/>
              <a:ea typeface="宋体" panose="02010600030101010101" pitchFamily="2" charset="-122"/>
            </a:endParaRPr>
          </a:p>
        </p:txBody>
      </p:sp>
      <p:graphicFrame>
        <p:nvGraphicFramePr>
          <p:cNvPr id="27" name="Object 5"/>
          <p:cNvGraphicFramePr>
            <a:graphicFrameLocks noChangeAspect="1"/>
          </p:cNvGraphicFramePr>
          <p:nvPr>
            <p:extLst>
              <p:ext uri="{D42A27DB-BD31-4B8C-83A1-F6EECF244321}">
                <p14:modId xmlns:p14="http://schemas.microsoft.com/office/powerpoint/2010/main" val="1520769608"/>
              </p:ext>
            </p:extLst>
          </p:nvPr>
        </p:nvGraphicFramePr>
        <p:xfrm>
          <a:off x="76200" y="5658388"/>
          <a:ext cx="3095892" cy="525780"/>
        </p:xfrm>
        <a:graphic>
          <a:graphicData uri="http://schemas.openxmlformats.org/presentationml/2006/ole">
            <mc:AlternateContent xmlns:mc="http://schemas.openxmlformats.org/markup-compatibility/2006">
              <mc:Choice xmlns:v="urn:schemas-microsoft-com:vml" Requires="v">
                <p:oleObj name="Equation" r:id="rId6" imgW="1346040" imgH="228600" progId="Equation.DSMT4">
                  <p:embed/>
                </p:oleObj>
              </mc:Choice>
              <mc:Fallback>
                <p:oleObj name="Equation" r:id="rId6" imgW="1346040" imgH="228600" progId="Equation.DSMT4">
                  <p:embed/>
                  <p:pic>
                    <p:nvPicPr>
                      <p:cNvPr id="27" name="Object 5"/>
                      <p:cNvPicPr>
                        <a:picLocks noChangeAspect="1" noChangeArrowheads="1"/>
                      </p:cNvPicPr>
                      <p:nvPr/>
                    </p:nvPicPr>
                    <p:blipFill>
                      <a:blip r:embed="rId7"/>
                      <a:srcRect/>
                      <a:stretch>
                        <a:fillRect/>
                      </a:stretch>
                    </p:blipFill>
                    <p:spPr bwMode="auto">
                      <a:xfrm>
                        <a:off x="76200" y="5658388"/>
                        <a:ext cx="309589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7"/>
          <p:cNvGraphicFramePr>
            <a:graphicFrameLocks noChangeAspect="1"/>
          </p:cNvGraphicFramePr>
          <p:nvPr>
            <p:extLst>
              <p:ext uri="{D42A27DB-BD31-4B8C-83A1-F6EECF244321}">
                <p14:modId xmlns:p14="http://schemas.microsoft.com/office/powerpoint/2010/main" val="3375442480"/>
              </p:ext>
            </p:extLst>
          </p:nvPr>
        </p:nvGraphicFramePr>
        <p:xfrm>
          <a:off x="4727938" y="5439483"/>
          <a:ext cx="4274424" cy="446688"/>
        </p:xfrm>
        <a:graphic>
          <a:graphicData uri="http://schemas.openxmlformats.org/presentationml/2006/ole">
            <mc:AlternateContent xmlns:mc="http://schemas.openxmlformats.org/markup-compatibility/2006">
              <mc:Choice xmlns:v="urn:schemas-microsoft-com:vml" Requires="v">
                <p:oleObj name="Equation" r:id="rId8" imgW="1942920" imgH="203040" progId="Equation.DSMT4">
                  <p:embed/>
                </p:oleObj>
              </mc:Choice>
              <mc:Fallback>
                <p:oleObj name="Equation" r:id="rId8" imgW="1942920" imgH="203040" progId="Equation.DSMT4">
                  <p:embed/>
                  <p:pic>
                    <p:nvPicPr>
                      <p:cNvPr id="28" name="Object 7"/>
                      <p:cNvPicPr>
                        <a:picLocks noChangeAspect="1" noChangeArrowheads="1"/>
                      </p:cNvPicPr>
                      <p:nvPr/>
                    </p:nvPicPr>
                    <p:blipFill>
                      <a:blip r:embed="rId9"/>
                      <a:srcRect/>
                      <a:stretch>
                        <a:fillRect/>
                      </a:stretch>
                    </p:blipFill>
                    <p:spPr bwMode="auto">
                      <a:xfrm>
                        <a:off x="4727938" y="5439483"/>
                        <a:ext cx="4274424"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矩形 28"/>
          <p:cNvSpPr/>
          <p:nvPr/>
        </p:nvSpPr>
        <p:spPr>
          <a:xfrm>
            <a:off x="3151369" y="5380707"/>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graphicFrame>
        <p:nvGraphicFramePr>
          <p:cNvPr id="30" name="Object 2"/>
          <p:cNvGraphicFramePr>
            <a:graphicFrameLocks noChangeAspect="1"/>
          </p:cNvGraphicFramePr>
          <p:nvPr>
            <p:extLst>
              <p:ext uri="{D42A27DB-BD31-4B8C-83A1-F6EECF244321}">
                <p14:modId xmlns:p14="http://schemas.microsoft.com/office/powerpoint/2010/main" val="3152566058"/>
              </p:ext>
            </p:extLst>
          </p:nvPr>
        </p:nvGraphicFramePr>
        <p:xfrm>
          <a:off x="4967288" y="5851525"/>
          <a:ext cx="2422525" cy="904875"/>
        </p:xfrm>
        <a:graphic>
          <a:graphicData uri="http://schemas.openxmlformats.org/presentationml/2006/ole">
            <mc:AlternateContent xmlns:mc="http://schemas.openxmlformats.org/markup-compatibility/2006">
              <mc:Choice xmlns:v="urn:schemas-microsoft-com:vml" Requires="v">
                <p:oleObj name="Equation" r:id="rId10" imgW="1054080" imgH="393480" progId="Equation.DSMT4">
                  <p:embed/>
                </p:oleObj>
              </mc:Choice>
              <mc:Fallback>
                <p:oleObj name="Equation" r:id="rId10" imgW="1054080" imgH="393480" progId="Equation.DSMT4">
                  <p:embed/>
                  <p:pic>
                    <p:nvPicPr>
                      <p:cNvPr id="30" name="Object 2"/>
                      <p:cNvPicPr>
                        <a:picLocks noChangeAspect="1" noChangeArrowheads="1"/>
                      </p:cNvPicPr>
                      <p:nvPr/>
                    </p:nvPicPr>
                    <p:blipFill>
                      <a:blip r:embed="rId11"/>
                      <a:srcRect/>
                      <a:stretch>
                        <a:fillRect/>
                      </a:stretch>
                    </p:blipFill>
                    <p:spPr bwMode="auto">
                      <a:xfrm>
                        <a:off x="4967288" y="5851525"/>
                        <a:ext cx="24225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矩形 30"/>
          <p:cNvSpPr/>
          <p:nvPr/>
        </p:nvSpPr>
        <p:spPr>
          <a:xfrm>
            <a:off x="3124200" y="5990307"/>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graphicFrame>
        <p:nvGraphicFramePr>
          <p:cNvPr id="32" name="对象 31"/>
          <p:cNvGraphicFramePr>
            <a:graphicFrameLocks noChangeAspect="1"/>
          </p:cNvGraphicFramePr>
          <p:nvPr>
            <p:extLst>
              <p:ext uri="{D42A27DB-BD31-4B8C-83A1-F6EECF244321}">
                <p14:modId xmlns:p14="http://schemas.microsoft.com/office/powerpoint/2010/main" val="2608108583"/>
              </p:ext>
            </p:extLst>
          </p:nvPr>
        </p:nvGraphicFramePr>
        <p:xfrm>
          <a:off x="1023311" y="3183070"/>
          <a:ext cx="4751388" cy="503238"/>
        </p:xfrm>
        <a:graphic>
          <a:graphicData uri="http://schemas.openxmlformats.org/presentationml/2006/ole">
            <mc:AlternateContent xmlns:mc="http://schemas.openxmlformats.org/markup-compatibility/2006">
              <mc:Choice xmlns:v="urn:schemas-microsoft-com:vml" Requires="v">
                <p:oleObj name="Equation" r:id="rId12" imgW="2158920" imgH="228600" progId="Equation.DSMT4">
                  <p:embed/>
                </p:oleObj>
              </mc:Choice>
              <mc:Fallback>
                <p:oleObj name="Equation" r:id="rId12" imgW="2158920" imgH="228600" progId="Equation.DSMT4">
                  <p:embed/>
                  <p:pic>
                    <p:nvPicPr>
                      <p:cNvPr id="32" name="对象 31"/>
                      <p:cNvPicPr>
                        <a:picLocks noChangeAspect="1" noChangeArrowheads="1"/>
                      </p:cNvPicPr>
                      <p:nvPr/>
                    </p:nvPicPr>
                    <p:blipFill>
                      <a:blip r:embed="rId13"/>
                      <a:srcRect/>
                      <a:stretch>
                        <a:fillRect/>
                      </a:stretch>
                    </p:blipFill>
                    <p:spPr bwMode="auto">
                      <a:xfrm>
                        <a:off x="1023311" y="3183070"/>
                        <a:ext cx="4751388"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907143810"/>
              </p:ext>
            </p:extLst>
          </p:nvPr>
        </p:nvGraphicFramePr>
        <p:xfrm>
          <a:off x="1295400" y="2647978"/>
          <a:ext cx="3744913" cy="501650"/>
        </p:xfrm>
        <a:graphic>
          <a:graphicData uri="http://schemas.openxmlformats.org/presentationml/2006/ole">
            <mc:AlternateContent xmlns:mc="http://schemas.openxmlformats.org/markup-compatibility/2006">
              <mc:Choice xmlns:v="urn:schemas-microsoft-com:vml" Requires="v">
                <p:oleObj name="Equation" r:id="rId14" imgW="1701720" imgH="228600" progId="Equation.DSMT4">
                  <p:embed/>
                </p:oleObj>
              </mc:Choice>
              <mc:Fallback>
                <p:oleObj name="Equation" r:id="rId14" imgW="1701720" imgH="228600" progId="Equation.DSMT4">
                  <p:embed/>
                  <p:pic>
                    <p:nvPicPr>
                      <p:cNvPr id="33" name="对象 32"/>
                      <p:cNvPicPr>
                        <a:picLocks noChangeAspect="1" noChangeArrowheads="1"/>
                      </p:cNvPicPr>
                      <p:nvPr/>
                    </p:nvPicPr>
                    <p:blipFill>
                      <a:blip r:embed="rId15"/>
                      <a:srcRect/>
                      <a:stretch>
                        <a:fillRect/>
                      </a:stretch>
                    </p:blipFill>
                    <p:spPr bwMode="auto">
                      <a:xfrm>
                        <a:off x="1295400" y="2647978"/>
                        <a:ext cx="3744913"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3175276185"/>
              </p:ext>
            </p:extLst>
          </p:nvPr>
        </p:nvGraphicFramePr>
        <p:xfrm>
          <a:off x="990600" y="3673207"/>
          <a:ext cx="6677025" cy="503238"/>
        </p:xfrm>
        <a:graphic>
          <a:graphicData uri="http://schemas.openxmlformats.org/presentationml/2006/ole">
            <mc:AlternateContent xmlns:mc="http://schemas.openxmlformats.org/markup-compatibility/2006">
              <mc:Choice xmlns:v="urn:schemas-microsoft-com:vml" Requires="v">
                <p:oleObj name="Equation" r:id="rId16" imgW="3035160" imgH="228600" progId="Equation.DSMT4">
                  <p:embed/>
                </p:oleObj>
              </mc:Choice>
              <mc:Fallback>
                <p:oleObj name="Equation" r:id="rId16" imgW="3035160" imgH="228600" progId="Equation.DSMT4">
                  <p:embed/>
                  <p:pic>
                    <p:nvPicPr>
                      <p:cNvPr id="34" name="对象 33"/>
                      <p:cNvPicPr>
                        <a:picLocks noChangeAspect="1" noChangeArrowheads="1"/>
                      </p:cNvPicPr>
                      <p:nvPr/>
                    </p:nvPicPr>
                    <p:blipFill>
                      <a:blip r:embed="rId17"/>
                      <a:srcRect/>
                      <a:stretch>
                        <a:fillRect/>
                      </a:stretch>
                    </p:blipFill>
                    <p:spPr bwMode="auto">
                      <a:xfrm>
                        <a:off x="990600" y="3673207"/>
                        <a:ext cx="6677025"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4188648077"/>
              </p:ext>
            </p:extLst>
          </p:nvPr>
        </p:nvGraphicFramePr>
        <p:xfrm>
          <a:off x="990600" y="4201195"/>
          <a:ext cx="5337175" cy="503237"/>
        </p:xfrm>
        <a:graphic>
          <a:graphicData uri="http://schemas.openxmlformats.org/presentationml/2006/ole">
            <mc:AlternateContent xmlns:mc="http://schemas.openxmlformats.org/markup-compatibility/2006">
              <mc:Choice xmlns:v="urn:schemas-microsoft-com:vml" Requires="v">
                <p:oleObj name="Equation" r:id="rId18" imgW="2425680" imgH="228600" progId="Equation.DSMT4">
                  <p:embed/>
                </p:oleObj>
              </mc:Choice>
              <mc:Fallback>
                <p:oleObj name="Equation" r:id="rId18" imgW="2425680" imgH="228600" progId="Equation.DSMT4">
                  <p:embed/>
                  <p:pic>
                    <p:nvPicPr>
                      <p:cNvPr id="35" name="对象 34"/>
                      <p:cNvPicPr>
                        <a:picLocks noChangeAspect="1" noChangeArrowheads="1"/>
                      </p:cNvPicPr>
                      <p:nvPr/>
                    </p:nvPicPr>
                    <p:blipFill>
                      <a:blip r:embed="rId19"/>
                      <a:srcRect/>
                      <a:stretch>
                        <a:fillRect/>
                      </a:stretch>
                    </p:blipFill>
                    <p:spPr bwMode="auto">
                      <a:xfrm>
                        <a:off x="990600" y="4201195"/>
                        <a:ext cx="533717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3045645624"/>
              </p:ext>
            </p:extLst>
          </p:nvPr>
        </p:nvGraphicFramePr>
        <p:xfrm>
          <a:off x="990600" y="4648133"/>
          <a:ext cx="5813425" cy="727075"/>
        </p:xfrm>
        <a:graphic>
          <a:graphicData uri="http://schemas.openxmlformats.org/presentationml/2006/ole">
            <mc:AlternateContent xmlns:mc="http://schemas.openxmlformats.org/markup-compatibility/2006">
              <mc:Choice xmlns:v="urn:schemas-microsoft-com:vml" Requires="v">
                <p:oleObj name="Equation" r:id="rId20" imgW="2641320" imgH="330120" progId="Equation.DSMT4">
                  <p:embed/>
                </p:oleObj>
              </mc:Choice>
              <mc:Fallback>
                <p:oleObj name="Equation" r:id="rId20" imgW="2641320" imgH="330120" progId="Equation.DSMT4">
                  <p:embed/>
                  <p:pic>
                    <p:nvPicPr>
                      <p:cNvPr id="36" name="对象 35"/>
                      <p:cNvPicPr>
                        <a:picLocks noChangeAspect="1" noChangeArrowheads="1"/>
                      </p:cNvPicPr>
                      <p:nvPr/>
                    </p:nvPicPr>
                    <p:blipFill>
                      <a:blip r:embed="rId21"/>
                      <a:srcRect/>
                      <a:stretch>
                        <a:fillRect/>
                      </a:stretch>
                    </p:blipFill>
                    <p:spPr bwMode="auto">
                      <a:xfrm>
                        <a:off x="990600" y="4648133"/>
                        <a:ext cx="5813425"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52292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14400"/>
            <a:ext cx="5181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第三类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奇对称，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为奇数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258074720"/>
              </p:ext>
            </p:extLst>
          </p:nvPr>
        </p:nvGraphicFramePr>
        <p:xfrm>
          <a:off x="4000500" y="3276600"/>
          <a:ext cx="2933700" cy="906463"/>
        </p:xfrm>
        <a:graphic>
          <a:graphicData uri="http://schemas.openxmlformats.org/presentationml/2006/ole">
            <mc:AlternateContent xmlns:mc="http://schemas.openxmlformats.org/markup-compatibility/2006">
              <mc:Choice xmlns:v="urn:schemas-microsoft-com:vml" Requires="v">
                <p:oleObj name="Equation" r:id="rId2" imgW="1396800" imgH="431640" progId="Equation.DSMT4">
                  <p:embed/>
                </p:oleObj>
              </mc:Choice>
              <mc:Fallback>
                <p:oleObj name="Equation" r:id="rId2" imgW="1396800" imgH="431640" progId="Equation.DSMT4">
                  <p:embed/>
                  <p:pic>
                    <p:nvPicPr>
                      <p:cNvPr id="6" name="Object 5"/>
                      <p:cNvPicPr>
                        <a:picLocks noChangeAspect="1" noChangeArrowheads="1"/>
                      </p:cNvPicPr>
                      <p:nvPr/>
                    </p:nvPicPr>
                    <p:blipFill>
                      <a:blip r:embed="rId3"/>
                      <a:srcRect/>
                      <a:stretch>
                        <a:fillRect/>
                      </a:stretch>
                    </p:blipFill>
                    <p:spPr bwMode="auto">
                      <a:xfrm>
                        <a:off x="4000500" y="3276600"/>
                        <a:ext cx="29337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2422824004"/>
              </p:ext>
            </p:extLst>
          </p:nvPr>
        </p:nvGraphicFramePr>
        <p:xfrm>
          <a:off x="1992313" y="2438400"/>
          <a:ext cx="3884148" cy="1021752"/>
        </p:xfrm>
        <a:graphic>
          <a:graphicData uri="http://schemas.openxmlformats.org/presentationml/2006/ole">
            <mc:AlternateContent xmlns:mc="http://schemas.openxmlformats.org/markup-compatibility/2006">
              <mc:Choice xmlns:v="urn:schemas-microsoft-com:vml" Requires="v">
                <p:oleObj name="Equation" r:id="rId4" imgW="1688760" imgH="444240" progId="Equation.DSMT4">
                  <p:embed/>
                </p:oleObj>
              </mc:Choice>
              <mc:Fallback>
                <p:oleObj name="Equation" r:id="rId4" imgW="1688760" imgH="444240" progId="Equation.DSMT4">
                  <p:embed/>
                  <p:pic>
                    <p:nvPicPr>
                      <p:cNvPr id="9" name="Object 7"/>
                      <p:cNvPicPr>
                        <a:picLocks noChangeAspect="1" noChangeArrowheads="1"/>
                      </p:cNvPicPr>
                      <p:nvPr/>
                    </p:nvPicPr>
                    <p:blipFill>
                      <a:blip r:embed="rId5"/>
                      <a:srcRect/>
                      <a:stretch>
                        <a:fillRect/>
                      </a:stretch>
                    </p:blipFill>
                    <p:spPr bwMode="auto">
                      <a:xfrm>
                        <a:off x="1992313" y="2438400"/>
                        <a:ext cx="3884148" cy="102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3266240621"/>
              </p:ext>
            </p:extLst>
          </p:nvPr>
        </p:nvGraphicFramePr>
        <p:xfrm>
          <a:off x="2074975" y="1524000"/>
          <a:ext cx="3183660" cy="905004"/>
        </p:xfrm>
        <a:graphic>
          <a:graphicData uri="http://schemas.openxmlformats.org/presentationml/2006/ole">
            <mc:AlternateContent xmlns:mc="http://schemas.openxmlformats.org/markup-compatibility/2006">
              <mc:Choice xmlns:v="urn:schemas-microsoft-com:vml" Requires="v">
                <p:oleObj name="Equation" r:id="rId6" imgW="1384200" imgH="393480" progId="Equation.DSMT4">
                  <p:embed/>
                </p:oleObj>
              </mc:Choice>
              <mc:Fallback>
                <p:oleObj name="Equation" r:id="rId6" imgW="1384200" imgH="393480" progId="Equation.DSMT4">
                  <p:embed/>
                  <p:pic>
                    <p:nvPicPr>
                      <p:cNvPr id="10" name="Object 2"/>
                      <p:cNvPicPr>
                        <a:picLocks noChangeAspect="1" noChangeArrowheads="1"/>
                      </p:cNvPicPr>
                      <p:nvPr/>
                    </p:nvPicPr>
                    <p:blipFill>
                      <a:blip r:embed="rId7"/>
                      <a:srcRect/>
                      <a:stretch>
                        <a:fillRect/>
                      </a:stretch>
                    </p:blipFill>
                    <p:spPr bwMode="auto">
                      <a:xfrm>
                        <a:off x="2074975" y="1524000"/>
                        <a:ext cx="3183660" cy="9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9"/>
          <p:cNvSpPr>
            <a:spLocks noChangeArrowheads="1"/>
          </p:cNvSpPr>
          <p:nvPr/>
        </p:nvSpPr>
        <p:spPr bwMode="auto">
          <a:xfrm>
            <a:off x="381000" y="4165937"/>
            <a:ext cx="8229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由于              关于                         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lnSpc>
                <a:spcPct val="150000"/>
              </a:lnSpc>
              <a:spcBef>
                <a:spcPct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因此             关于                          也呈奇对称。</a:t>
            </a:r>
          </a:p>
        </p:txBody>
      </p:sp>
      <p:graphicFrame>
        <p:nvGraphicFramePr>
          <p:cNvPr id="12" name="Object 10"/>
          <p:cNvGraphicFramePr>
            <a:graphicFrameLocks noChangeAspect="1"/>
          </p:cNvGraphicFramePr>
          <p:nvPr>
            <p:extLst>
              <p:ext uri="{D42A27DB-BD31-4B8C-83A1-F6EECF244321}">
                <p14:modId xmlns:p14="http://schemas.microsoft.com/office/powerpoint/2010/main" val="1395535754"/>
              </p:ext>
            </p:extLst>
          </p:nvPr>
        </p:nvGraphicFramePr>
        <p:xfrm>
          <a:off x="1034476" y="4220361"/>
          <a:ext cx="1172952" cy="446688"/>
        </p:xfrm>
        <a:graphic>
          <a:graphicData uri="http://schemas.openxmlformats.org/presentationml/2006/ole">
            <mc:AlternateContent xmlns:mc="http://schemas.openxmlformats.org/markup-compatibility/2006">
              <mc:Choice xmlns:v="urn:schemas-microsoft-com:vml" Requires="v">
                <p:oleObj name="Equation" r:id="rId8" imgW="533160" imgH="203040" progId="Equation.DSMT4">
                  <p:embed/>
                </p:oleObj>
              </mc:Choice>
              <mc:Fallback>
                <p:oleObj name="Equation" r:id="rId8" imgW="533160" imgH="203040" progId="Equation.DSMT4">
                  <p:embed/>
                  <p:pic>
                    <p:nvPicPr>
                      <p:cNvPr id="12" name="Object 10"/>
                      <p:cNvPicPr>
                        <a:picLocks noChangeAspect="1" noChangeArrowheads="1"/>
                      </p:cNvPicPr>
                      <p:nvPr/>
                    </p:nvPicPr>
                    <p:blipFill>
                      <a:blip r:embed="rId9">
                        <a:grayscl/>
                        <a:biLevel thresh="50000"/>
                      </a:blip>
                      <a:srcRect/>
                      <a:stretch>
                        <a:fillRect/>
                      </a:stretch>
                    </p:blipFill>
                    <p:spPr bwMode="auto">
                      <a:xfrm>
                        <a:off x="1034476" y="4220361"/>
                        <a:ext cx="1172952"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1"/>
          <p:cNvGraphicFramePr>
            <a:graphicFrameLocks noChangeAspect="1"/>
          </p:cNvGraphicFramePr>
          <p:nvPr>
            <p:extLst>
              <p:ext uri="{D42A27DB-BD31-4B8C-83A1-F6EECF244321}">
                <p14:modId xmlns:p14="http://schemas.microsoft.com/office/powerpoint/2010/main" val="2900043176"/>
              </p:ext>
            </p:extLst>
          </p:nvPr>
        </p:nvGraphicFramePr>
        <p:xfrm>
          <a:off x="1122312" y="4673768"/>
          <a:ext cx="893376" cy="446688"/>
        </p:xfrm>
        <a:graphic>
          <a:graphicData uri="http://schemas.openxmlformats.org/presentationml/2006/ole">
            <mc:AlternateContent xmlns:mc="http://schemas.openxmlformats.org/markup-compatibility/2006">
              <mc:Choice xmlns:v="urn:schemas-microsoft-com:vml" Requires="v">
                <p:oleObj name="Equation" r:id="rId10" imgW="406080" imgH="203040" progId="Equation.DSMT4">
                  <p:embed/>
                </p:oleObj>
              </mc:Choice>
              <mc:Fallback>
                <p:oleObj name="Equation" r:id="rId10" imgW="406080" imgH="203040" progId="Equation.DSMT4">
                  <p:embed/>
                  <p:pic>
                    <p:nvPicPr>
                      <p:cNvPr id="13" name="Object 11"/>
                      <p:cNvPicPr>
                        <a:picLocks noChangeAspect="1" noChangeArrowheads="1"/>
                      </p:cNvPicPr>
                      <p:nvPr/>
                    </p:nvPicPr>
                    <p:blipFill>
                      <a:blip r:embed="rId11">
                        <a:grayscl/>
                        <a:biLevel thresh="50000"/>
                      </a:blip>
                      <a:srcRect/>
                      <a:stretch>
                        <a:fillRect/>
                      </a:stretch>
                    </p:blipFill>
                    <p:spPr bwMode="auto">
                      <a:xfrm>
                        <a:off x="1122312" y="4673768"/>
                        <a:ext cx="893376"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0"/>
          <p:cNvGraphicFramePr>
            <a:graphicFrameLocks noChangeAspect="1"/>
          </p:cNvGraphicFramePr>
          <p:nvPr>
            <p:extLst>
              <p:ext uri="{D42A27DB-BD31-4B8C-83A1-F6EECF244321}">
                <p14:modId xmlns:p14="http://schemas.microsoft.com/office/powerpoint/2010/main" val="937649272"/>
              </p:ext>
            </p:extLst>
          </p:nvPr>
        </p:nvGraphicFramePr>
        <p:xfrm>
          <a:off x="2805053" y="4167932"/>
          <a:ext cx="1781028" cy="438012"/>
        </p:xfrm>
        <a:graphic>
          <a:graphicData uri="http://schemas.openxmlformats.org/presentationml/2006/ole">
            <mc:AlternateContent xmlns:mc="http://schemas.openxmlformats.org/markup-compatibility/2006">
              <mc:Choice xmlns:v="urn:schemas-microsoft-com:vml" Requires="v">
                <p:oleObj name="Equation" r:id="rId12" imgW="774360" imgH="190440" progId="Equation.DSMT4">
                  <p:embed/>
                </p:oleObj>
              </mc:Choice>
              <mc:Fallback>
                <p:oleObj name="Equation" r:id="rId12" imgW="774360" imgH="190440" progId="Equation.DSMT4">
                  <p:embed/>
                  <p:pic>
                    <p:nvPicPr>
                      <p:cNvPr id="14" name="Object 10"/>
                      <p:cNvPicPr>
                        <a:picLocks noChangeAspect="1" noChangeArrowheads="1"/>
                      </p:cNvPicPr>
                      <p:nvPr/>
                    </p:nvPicPr>
                    <p:blipFill>
                      <a:blip r:embed="rId13">
                        <a:grayscl/>
                        <a:biLevel thresh="50000"/>
                      </a:blip>
                      <a:srcRect/>
                      <a:stretch>
                        <a:fillRect/>
                      </a:stretch>
                    </p:blipFill>
                    <p:spPr bwMode="auto">
                      <a:xfrm>
                        <a:off x="2805053" y="4167932"/>
                        <a:ext cx="1781028" cy="4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0"/>
          <p:cNvGraphicFramePr>
            <a:graphicFrameLocks noChangeAspect="1"/>
          </p:cNvGraphicFramePr>
          <p:nvPr>
            <p:extLst>
              <p:ext uri="{D42A27DB-BD31-4B8C-83A1-F6EECF244321}">
                <p14:modId xmlns:p14="http://schemas.microsoft.com/office/powerpoint/2010/main" val="3488804547"/>
              </p:ext>
            </p:extLst>
          </p:nvPr>
        </p:nvGraphicFramePr>
        <p:xfrm>
          <a:off x="2805053" y="4644320"/>
          <a:ext cx="1781028" cy="438012"/>
        </p:xfrm>
        <a:graphic>
          <a:graphicData uri="http://schemas.openxmlformats.org/presentationml/2006/ole">
            <mc:AlternateContent xmlns:mc="http://schemas.openxmlformats.org/markup-compatibility/2006">
              <mc:Choice xmlns:v="urn:schemas-microsoft-com:vml" Requires="v">
                <p:oleObj name="Equation" r:id="rId12" imgW="774360" imgH="190440" progId="Equation.DSMT4">
                  <p:embed/>
                </p:oleObj>
              </mc:Choice>
              <mc:Fallback>
                <p:oleObj name="Equation" r:id="rId12" imgW="774360" imgH="190440" progId="Equation.DSMT4">
                  <p:embed/>
                  <p:pic>
                    <p:nvPicPr>
                      <p:cNvPr id="15" name="Object 10"/>
                      <p:cNvPicPr>
                        <a:picLocks noChangeAspect="1" noChangeArrowheads="1"/>
                      </p:cNvPicPr>
                      <p:nvPr/>
                    </p:nvPicPr>
                    <p:blipFill>
                      <a:blip r:embed="rId13">
                        <a:grayscl/>
                        <a:biLevel thresh="50000"/>
                      </a:blip>
                      <a:srcRect/>
                      <a:stretch>
                        <a:fillRect/>
                      </a:stretch>
                    </p:blipFill>
                    <p:spPr bwMode="auto">
                      <a:xfrm>
                        <a:off x="2805053" y="4644320"/>
                        <a:ext cx="1781028" cy="4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381000" y="1733084"/>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sp>
        <p:nvSpPr>
          <p:cNvPr id="17" name="矩形 16"/>
          <p:cNvSpPr/>
          <p:nvPr/>
        </p:nvSpPr>
        <p:spPr>
          <a:xfrm>
            <a:off x="381000" y="2677180"/>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sp>
        <p:nvSpPr>
          <p:cNvPr id="19" name="矩形 18"/>
          <p:cNvSpPr/>
          <p:nvPr/>
        </p:nvSpPr>
        <p:spPr>
          <a:xfrm>
            <a:off x="3014681" y="3453944"/>
            <a:ext cx="906017" cy="523220"/>
          </a:xfrm>
          <a:prstGeom prst="rect">
            <a:avLst/>
          </a:prstGeom>
        </p:spPr>
        <p:txBody>
          <a:bodyPr wrap="none">
            <a:spAutoFit/>
          </a:bodyPr>
          <a:lstStyle/>
          <a:p>
            <a:r>
              <a:rPr lang="zh-CN" altLang="en-US" sz="2800" b="1" dirty="0"/>
              <a:t>式中</a:t>
            </a:r>
            <a:endParaRPr lang="zh-CN" altLang="en-US" sz="2800" dirty="0"/>
          </a:p>
        </p:txBody>
      </p:sp>
      <p:graphicFrame>
        <p:nvGraphicFramePr>
          <p:cNvPr id="18" name="Object 7"/>
          <p:cNvGraphicFramePr>
            <a:graphicFrameLocks noChangeAspect="1"/>
          </p:cNvGraphicFramePr>
          <p:nvPr>
            <p:extLst>
              <p:ext uri="{D42A27DB-BD31-4B8C-83A1-F6EECF244321}">
                <p14:modId xmlns:p14="http://schemas.microsoft.com/office/powerpoint/2010/main" val="3408523859"/>
              </p:ext>
            </p:extLst>
          </p:nvPr>
        </p:nvGraphicFramePr>
        <p:xfrm>
          <a:off x="5713413" y="971550"/>
          <a:ext cx="3065462" cy="933450"/>
        </p:xfrm>
        <a:graphic>
          <a:graphicData uri="http://schemas.openxmlformats.org/presentationml/2006/ole">
            <mc:AlternateContent xmlns:mc="http://schemas.openxmlformats.org/markup-compatibility/2006">
              <mc:Choice xmlns:v="urn:schemas-microsoft-com:vml" Requires="v">
                <p:oleObj name="Equation" r:id="rId14" imgW="1333440" imgH="406080" progId="Equation.DSMT4">
                  <p:embed/>
                </p:oleObj>
              </mc:Choice>
              <mc:Fallback>
                <p:oleObj name="Equation" r:id="rId14" imgW="1333440" imgH="406080" progId="Equation.DSMT4">
                  <p:embed/>
                  <p:pic>
                    <p:nvPicPr>
                      <p:cNvPr id="18" name="Object 7"/>
                      <p:cNvPicPr>
                        <a:picLocks noChangeAspect="1" noChangeArrowheads="1"/>
                      </p:cNvPicPr>
                      <p:nvPr/>
                    </p:nvPicPr>
                    <p:blipFill>
                      <a:blip r:embed="rId15"/>
                      <a:srcRect/>
                      <a:stretch>
                        <a:fillRect/>
                      </a:stretch>
                    </p:blipFill>
                    <p:spPr bwMode="auto">
                      <a:xfrm>
                        <a:off x="5713413" y="971550"/>
                        <a:ext cx="306546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1"/>
          <p:cNvGraphicFramePr>
            <a:graphicFrameLocks noChangeAspect="1"/>
          </p:cNvGraphicFramePr>
          <p:nvPr>
            <p:extLst>
              <p:ext uri="{D42A27DB-BD31-4B8C-83A1-F6EECF244321}">
                <p14:modId xmlns:p14="http://schemas.microsoft.com/office/powerpoint/2010/main" val="2798712849"/>
              </p:ext>
            </p:extLst>
          </p:nvPr>
        </p:nvGraphicFramePr>
        <p:xfrm>
          <a:off x="335002" y="5776406"/>
          <a:ext cx="1397000" cy="446088"/>
        </p:xfrm>
        <a:graphic>
          <a:graphicData uri="http://schemas.openxmlformats.org/presentationml/2006/ole">
            <mc:AlternateContent xmlns:mc="http://schemas.openxmlformats.org/markup-compatibility/2006">
              <mc:Choice xmlns:v="urn:schemas-microsoft-com:vml" Requires="v">
                <p:oleObj name="Equation" r:id="rId16" imgW="634680" imgH="203040" progId="Equation.DSMT4">
                  <p:embed/>
                </p:oleObj>
              </mc:Choice>
              <mc:Fallback>
                <p:oleObj name="Equation" r:id="rId16" imgW="634680" imgH="203040" progId="Equation.DSMT4">
                  <p:embed/>
                  <p:pic>
                    <p:nvPicPr>
                      <p:cNvPr id="20" name="Object 11"/>
                      <p:cNvPicPr>
                        <a:picLocks noChangeAspect="1" noChangeArrowheads="1"/>
                      </p:cNvPicPr>
                      <p:nvPr/>
                    </p:nvPicPr>
                    <p:blipFill>
                      <a:blip r:embed="rId17">
                        <a:grayscl/>
                        <a:biLevel thresh="50000"/>
                      </a:blip>
                      <a:srcRect/>
                      <a:stretch>
                        <a:fillRect/>
                      </a:stretch>
                    </p:blipFill>
                    <p:spPr bwMode="auto">
                      <a:xfrm>
                        <a:off x="335002" y="5776406"/>
                        <a:ext cx="13970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p:cNvSpPr/>
          <p:nvPr/>
        </p:nvSpPr>
        <p:spPr>
          <a:xfrm>
            <a:off x="4126280" y="5390517"/>
            <a:ext cx="5017720"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z</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lang="en-US" altLang="zh-CN" sz="3200" b="1" i="1" dirty="0">
                <a:solidFill>
                  <a:srgbClr val="0000CC"/>
                </a:solidFill>
                <a:latin typeface="Times New Roman"/>
                <a:ea typeface="宋体" panose="02010600030101010101" pitchFamily="2" charset="-122"/>
              </a:rPr>
              <a:t>z = </a:t>
            </a:r>
            <a:r>
              <a:rPr lang="en-US" altLang="zh-CN" sz="3200" b="1" dirty="0">
                <a:solidFill>
                  <a:srgbClr val="0000CC"/>
                </a:solidFill>
                <a:latin typeface="Times New Roman"/>
                <a:ea typeface="宋体" panose="02010600030101010101" pitchFamily="2" charset="-122"/>
              </a:rPr>
              <a:t>1</a:t>
            </a:r>
            <a:r>
              <a:rPr lang="zh-CN" altLang="en-US" sz="3200" b="1" dirty="0">
                <a:latin typeface="Times New Roman"/>
                <a:ea typeface="宋体" panose="02010600030101010101" pitchFamily="2" charset="-122"/>
              </a:rPr>
              <a:t>和</a:t>
            </a:r>
            <a:r>
              <a:rPr lang="en-US" altLang="zh-CN" sz="3200" b="1" dirty="0">
                <a:solidFill>
                  <a:srgbClr val="FF0000"/>
                </a:solidFill>
                <a:latin typeface="Times New Roman"/>
                <a:ea typeface="宋体" panose="02010600030101010101" pitchFamily="2" charset="-122"/>
              </a:rPr>
              <a:t> </a:t>
            </a:r>
            <a:r>
              <a:rPr lang="en-US" altLang="zh-CN" sz="3200" b="1" i="1" dirty="0">
                <a:solidFill>
                  <a:srgbClr val="0000CC"/>
                </a:solidFill>
                <a:latin typeface="Times New Roman"/>
                <a:ea typeface="宋体" panose="02010600030101010101" pitchFamily="2" charset="-122"/>
              </a:rPr>
              <a:t>z = −</a:t>
            </a:r>
            <a:r>
              <a:rPr lang="en-US" altLang="zh-CN" sz="3200" b="1" dirty="0">
                <a:solidFill>
                  <a:srgbClr val="0000CC"/>
                </a:solidFill>
                <a:latin typeface="Times New Roman"/>
                <a:ea typeface="宋体" panose="02010600030101010101" pitchFamily="2" charset="-122"/>
              </a:rPr>
              <a:t>1</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必有零点</a:t>
            </a:r>
            <a:endParaRPr kumimoji="0" lang="zh-CN" altLang="en-US" sz="1800" b="1" i="0" u="none" strike="noStrike" kern="0" cap="none" spc="0" normalizeH="0" baseline="0" noProof="0" dirty="0">
              <a:ln>
                <a:noFill/>
              </a:ln>
              <a:solidFill>
                <a:srgbClr val="0000CC"/>
              </a:solidFill>
              <a:effectLst/>
              <a:uLnTx/>
              <a:uFillTx/>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2381001280"/>
              </p:ext>
            </p:extLst>
          </p:nvPr>
        </p:nvGraphicFramePr>
        <p:xfrm>
          <a:off x="1984375" y="5720843"/>
          <a:ext cx="1901825" cy="557213"/>
        </p:xfrm>
        <a:graphic>
          <a:graphicData uri="http://schemas.openxmlformats.org/presentationml/2006/ole">
            <mc:AlternateContent xmlns:mc="http://schemas.openxmlformats.org/markup-compatibility/2006">
              <mc:Choice xmlns:v="urn:schemas-microsoft-com:vml" Requires="v">
                <p:oleObj name="Equation" r:id="rId18" imgW="863280" imgH="253800" progId="Equation.DSMT4">
                  <p:embed/>
                </p:oleObj>
              </mc:Choice>
              <mc:Fallback>
                <p:oleObj name="Equation" r:id="rId18" imgW="863280" imgH="253800" progId="Equation.DSMT4">
                  <p:embed/>
                  <p:pic>
                    <p:nvPicPr>
                      <p:cNvPr id="22" name="对象 21"/>
                      <p:cNvPicPr>
                        <a:picLocks noChangeAspect="1" noChangeArrowheads="1"/>
                      </p:cNvPicPr>
                      <p:nvPr/>
                    </p:nvPicPr>
                    <p:blipFill>
                      <a:blip r:embed="rId19"/>
                      <a:srcRect/>
                      <a:stretch>
                        <a:fillRect/>
                      </a:stretch>
                    </p:blipFill>
                    <p:spPr bwMode="auto">
                      <a:xfrm>
                        <a:off x="1984375" y="5720843"/>
                        <a:ext cx="1901825"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1"/>
          <p:cNvGraphicFramePr>
            <a:graphicFrameLocks noChangeAspect="1"/>
          </p:cNvGraphicFramePr>
          <p:nvPr>
            <p:extLst>
              <p:ext uri="{D42A27DB-BD31-4B8C-83A1-F6EECF244321}">
                <p14:modId xmlns:p14="http://schemas.microsoft.com/office/powerpoint/2010/main" val="437856481"/>
              </p:ext>
            </p:extLst>
          </p:nvPr>
        </p:nvGraphicFramePr>
        <p:xfrm>
          <a:off x="334544" y="5237163"/>
          <a:ext cx="1339850" cy="446087"/>
        </p:xfrm>
        <a:graphic>
          <a:graphicData uri="http://schemas.openxmlformats.org/presentationml/2006/ole">
            <mc:AlternateContent xmlns:mc="http://schemas.openxmlformats.org/markup-compatibility/2006">
              <mc:Choice xmlns:v="urn:schemas-microsoft-com:vml" Requires="v">
                <p:oleObj name="Equation" r:id="rId20" imgW="609480" imgH="203040" progId="Equation.DSMT4">
                  <p:embed/>
                </p:oleObj>
              </mc:Choice>
              <mc:Fallback>
                <p:oleObj name="Equation" r:id="rId20" imgW="609480" imgH="203040" progId="Equation.DSMT4">
                  <p:embed/>
                  <p:pic>
                    <p:nvPicPr>
                      <p:cNvPr id="23" name="Object 11"/>
                      <p:cNvPicPr>
                        <a:picLocks noChangeAspect="1" noChangeArrowheads="1"/>
                      </p:cNvPicPr>
                      <p:nvPr/>
                    </p:nvPicPr>
                    <p:blipFill>
                      <a:blip r:embed="rId21">
                        <a:grayscl/>
                        <a:biLevel thresh="50000"/>
                      </a:blip>
                      <a:srcRect/>
                      <a:stretch>
                        <a:fillRect/>
                      </a:stretch>
                    </p:blipFill>
                    <p:spPr bwMode="auto">
                      <a:xfrm>
                        <a:off x="334544" y="5237163"/>
                        <a:ext cx="13398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180987831"/>
              </p:ext>
            </p:extLst>
          </p:nvPr>
        </p:nvGraphicFramePr>
        <p:xfrm>
          <a:off x="2041107" y="5181600"/>
          <a:ext cx="1789112" cy="557213"/>
        </p:xfrm>
        <a:graphic>
          <a:graphicData uri="http://schemas.openxmlformats.org/presentationml/2006/ole">
            <mc:AlternateContent xmlns:mc="http://schemas.openxmlformats.org/markup-compatibility/2006">
              <mc:Choice xmlns:v="urn:schemas-microsoft-com:vml" Requires="v">
                <p:oleObj name="Equation" r:id="rId22" imgW="812520" imgH="253800" progId="Equation.DSMT4">
                  <p:embed/>
                </p:oleObj>
              </mc:Choice>
              <mc:Fallback>
                <p:oleObj name="Equation" r:id="rId22" imgW="812520" imgH="253800" progId="Equation.DSMT4">
                  <p:embed/>
                  <p:pic>
                    <p:nvPicPr>
                      <p:cNvPr id="24" name="对象 23"/>
                      <p:cNvPicPr>
                        <a:picLocks noChangeAspect="1" noChangeArrowheads="1"/>
                      </p:cNvPicPr>
                      <p:nvPr/>
                    </p:nvPicPr>
                    <p:blipFill>
                      <a:blip r:embed="rId23"/>
                      <a:srcRect/>
                      <a:stretch>
                        <a:fillRect/>
                      </a:stretch>
                    </p:blipFill>
                    <p:spPr bwMode="auto">
                      <a:xfrm>
                        <a:off x="2041107" y="5181600"/>
                        <a:ext cx="1789112"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051283" y="6016446"/>
            <a:ext cx="352853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只能设计带通滤波器</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25"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101977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14400"/>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第四类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奇对称，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为偶数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18" name="对象 18"/>
          <p:cNvGraphicFramePr>
            <a:graphicFrameLocks noChangeAspect="1"/>
          </p:cNvGraphicFramePr>
          <p:nvPr>
            <p:extLst>
              <p:ext uri="{D42A27DB-BD31-4B8C-83A1-F6EECF244321}">
                <p14:modId xmlns:p14="http://schemas.microsoft.com/office/powerpoint/2010/main" val="2888769335"/>
              </p:ext>
            </p:extLst>
          </p:nvPr>
        </p:nvGraphicFramePr>
        <p:xfrm>
          <a:off x="1479550" y="2100263"/>
          <a:ext cx="4467225" cy="466725"/>
        </p:xfrm>
        <a:graphic>
          <a:graphicData uri="http://schemas.openxmlformats.org/presentationml/2006/ole">
            <mc:AlternateContent xmlns:mc="http://schemas.openxmlformats.org/markup-compatibility/2006">
              <mc:Choice xmlns:v="urn:schemas-microsoft-com:vml" Requires="v">
                <p:oleObj name="Equation" r:id="rId2" imgW="1942920" imgH="203040" progId="Equation.DSMT4">
                  <p:embed/>
                </p:oleObj>
              </mc:Choice>
              <mc:Fallback>
                <p:oleObj name="Equation" r:id="rId2" imgW="1942920" imgH="203040" progId="Equation.DSMT4">
                  <p:embed/>
                  <p:pic>
                    <p:nvPicPr>
                      <p:cNvPr id="18" name="对象 18"/>
                      <p:cNvPicPr>
                        <a:picLocks noChangeAspect="1" noChangeArrowheads="1"/>
                      </p:cNvPicPr>
                      <p:nvPr/>
                    </p:nvPicPr>
                    <p:blipFill>
                      <a:blip r:embed="rId3"/>
                      <a:srcRect/>
                      <a:stretch>
                        <a:fillRect/>
                      </a:stretch>
                    </p:blipFill>
                    <p:spPr bwMode="auto">
                      <a:xfrm>
                        <a:off x="1479550" y="2100263"/>
                        <a:ext cx="44672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p:nvPr/>
        </p:nvSpPr>
        <p:spPr>
          <a:xfrm>
            <a:off x="6126413" y="2039422"/>
            <a:ext cx="1576072" cy="523220"/>
          </a:xfrm>
          <a:prstGeom prst="rect">
            <a:avLst/>
          </a:prstGeom>
        </p:spPr>
        <p:txBody>
          <a:bodyPr wrap="none">
            <a:spAutoFit/>
          </a:bodyPr>
          <a:lstStyle/>
          <a:p>
            <a:r>
              <a:rPr lang="zh-CN" altLang="en-US" sz="2800" b="1" kern="0" dirty="0">
                <a:ea typeface="宋体" panose="02010600030101010101" pitchFamily="2" charset="-122"/>
              </a:rPr>
              <a:t>长度</a:t>
            </a:r>
            <a:r>
              <a:rPr lang="en-US" altLang="zh-CN" sz="2800" b="1" i="1" kern="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kern="0" dirty="0">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25" name="矩形 24"/>
          <p:cNvSpPr/>
          <p:nvPr/>
        </p:nvSpPr>
        <p:spPr>
          <a:xfrm>
            <a:off x="389383" y="2022656"/>
            <a:ext cx="906017" cy="523220"/>
          </a:xfrm>
          <a:prstGeom prst="rect">
            <a:avLst/>
          </a:prstGeom>
        </p:spPr>
        <p:txBody>
          <a:bodyPr wrap="none">
            <a:spAutoFit/>
          </a:bodyPr>
          <a:lstStyle/>
          <a:p>
            <a:r>
              <a:rPr lang="zh-CN" altLang="en-US" sz="2800" b="1" kern="0" dirty="0">
                <a:solidFill>
                  <a:prstClr val="black"/>
                </a:solidFill>
                <a:latin typeface="宋体" panose="02010600030101010101" pitchFamily="2" charset="-122"/>
                <a:ea typeface="宋体" panose="02010600030101010101" pitchFamily="2" charset="-122"/>
              </a:rPr>
              <a:t>例：</a:t>
            </a:r>
            <a:endParaRPr lang="zh-CN" altLang="en-US" sz="2800" dirty="0">
              <a:latin typeface="宋体" panose="02010600030101010101" pitchFamily="2" charset="-122"/>
              <a:ea typeface="宋体" panose="02010600030101010101" pitchFamily="2" charset="-122"/>
            </a:endParaRPr>
          </a:p>
        </p:txBody>
      </p:sp>
      <p:graphicFrame>
        <p:nvGraphicFramePr>
          <p:cNvPr id="26" name="Object 5"/>
          <p:cNvGraphicFramePr>
            <a:graphicFrameLocks noChangeAspect="1"/>
          </p:cNvGraphicFramePr>
          <p:nvPr>
            <p:extLst>
              <p:ext uri="{D42A27DB-BD31-4B8C-83A1-F6EECF244321}">
                <p14:modId xmlns:p14="http://schemas.microsoft.com/office/powerpoint/2010/main" val="2072159183"/>
              </p:ext>
            </p:extLst>
          </p:nvPr>
        </p:nvGraphicFramePr>
        <p:xfrm>
          <a:off x="333108" y="5036820"/>
          <a:ext cx="2961288" cy="502920"/>
        </p:xfrm>
        <a:graphic>
          <a:graphicData uri="http://schemas.openxmlformats.org/presentationml/2006/ole">
            <mc:AlternateContent xmlns:mc="http://schemas.openxmlformats.org/markup-compatibility/2006">
              <mc:Choice xmlns:v="urn:schemas-microsoft-com:vml" Requires="v">
                <p:oleObj name="Equation" r:id="rId4" imgW="1346040" imgH="228600" progId="Equation.DSMT4">
                  <p:embed/>
                </p:oleObj>
              </mc:Choice>
              <mc:Fallback>
                <p:oleObj name="Equation" r:id="rId4" imgW="1346040" imgH="228600" progId="Equation.DSMT4">
                  <p:embed/>
                  <p:pic>
                    <p:nvPicPr>
                      <p:cNvPr id="26" name="Object 5"/>
                      <p:cNvPicPr>
                        <a:picLocks noChangeAspect="1" noChangeArrowheads="1"/>
                      </p:cNvPicPr>
                      <p:nvPr/>
                    </p:nvPicPr>
                    <p:blipFill>
                      <a:blip r:embed="rId5"/>
                      <a:srcRect/>
                      <a:stretch>
                        <a:fillRect/>
                      </a:stretch>
                    </p:blipFill>
                    <p:spPr bwMode="auto">
                      <a:xfrm>
                        <a:off x="333108" y="5036820"/>
                        <a:ext cx="2961288"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7"/>
          <p:cNvGraphicFramePr>
            <a:graphicFrameLocks noChangeAspect="1"/>
          </p:cNvGraphicFramePr>
          <p:nvPr>
            <p:extLst>
              <p:ext uri="{D42A27DB-BD31-4B8C-83A1-F6EECF244321}">
                <p14:modId xmlns:p14="http://schemas.microsoft.com/office/powerpoint/2010/main" val="2219818015"/>
              </p:ext>
            </p:extLst>
          </p:nvPr>
        </p:nvGraphicFramePr>
        <p:xfrm>
          <a:off x="3200400" y="5601549"/>
          <a:ext cx="5084640" cy="446688"/>
        </p:xfrm>
        <a:graphic>
          <a:graphicData uri="http://schemas.openxmlformats.org/presentationml/2006/ole">
            <mc:AlternateContent xmlns:mc="http://schemas.openxmlformats.org/markup-compatibility/2006">
              <mc:Choice xmlns:v="urn:schemas-microsoft-com:vml" Requires="v">
                <p:oleObj name="Equation" r:id="rId6" imgW="2311200" imgH="203040" progId="Equation.DSMT4">
                  <p:embed/>
                </p:oleObj>
              </mc:Choice>
              <mc:Fallback>
                <p:oleObj name="Equation" r:id="rId6" imgW="2311200" imgH="203040" progId="Equation.DSMT4">
                  <p:embed/>
                  <p:pic>
                    <p:nvPicPr>
                      <p:cNvPr id="27" name="Object 7"/>
                      <p:cNvPicPr>
                        <a:picLocks noChangeAspect="1" noChangeArrowheads="1"/>
                      </p:cNvPicPr>
                      <p:nvPr/>
                    </p:nvPicPr>
                    <p:blipFill>
                      <a:blip r:embed="rId7"/>
                      <a:srcRect/>
                      <a:stretch>
                        <a:fillRect/>
                      </a:stretch>
                    </p:blipFill>
                    <p:spPr bwMode="auto">
                      <a:xfrm>
                        <a:off x="3200400" y="5601549"/>
                        <a:ext cx="5084640"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矩形 27"/>
          <p:cNvSpPr/>
          <p:nvPr/>
        </p:nvSpPr>
        <p:spPr>
          <a:xfrm>
            <a:off x="1319656" y="5541191"/>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graphicFrame>
        <p:nvGraphicFramePr>
          <p:cNvPr id="29" name="Object 2"/>
          <p:cNvGraphicFramePr>
            <a:graphicFrameLocks noChangeAspect="1"/>
          </p:cNvGraphicFramePr>
          <p:nvPr>
            <p:extLst>
              <p:ext uri="{D42A27DB-BD31-4B8C-83A1-F6EECF244321}">
                <p14:modId xmlns:p14="http://schemas.microsoft.com/office/powerpoint/2010/main" val="3011283701"/>
              </p:ext>
            </p:extLst>
          </p:nvPr>
        </p:nvGraphicFramePr>
        <p:xfrm>
          <a:off x="3256632" y="5992344"/>
          <a:ext cx="2458368" cy="865656"/>
        </p:xfrm>
        <a:graphic>
          <a:graphicData uri="http://schemas.openxmlformats.org/presentationml/2006/ole">
            <mc:AlternateContent xmlns:mc="http://schemas.openxmlformats.org/markup-compatibility/2006">
              <mc:Choice xmlns:v="urn:schemas-microsoft-com:vml" Requires="v">
                <p:oleObj name="Equation" r:id="rId8" imgW="1117440" imgH="393480" progId="Equation.DSMT4">
                  <p:embed/>
                </p:oleObj>
              </mc:Choice>
              <mc:Fallback>
                <p:oleObj name="Equation" r:id="rId8" imgW="1117440" imgH="393480" progId="Equation.DSMT4">
                  <p:embed/>
                  <p:pic>
                    <p:nvPicPr>
                      <p:cNvPr id="29" name="Object 2"/>
                      <p:cNvPicPr>
                        <a:picLocks noChangeAspect="1" noChangeArrowheads="1"/>
                      </p:cNvPicPr>
                      <p:nvPr/>
                    </p:nvPicPr>
                    <p:blipFill>
                      <a:blip r:embed="rId9"/>
                      <a:srcRect/>
                      <a:stretch>
                        <a:fillRect/>
                      </a:stretch>
                    </p:blipFill>
                    <p:spPr bwMode="auto">
                      <a:xfrm>
                        <a:off x="3256632" y="5992344"/>
                        <a:ext cx="2458368" cy="865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 name="矩形 29"/>
          <p:cNvSpPr/>
          <p:nvPr/>
        </p:nvSpPr>
        <p:spPr>
          <a:xfrm>
            <a:off x="1311718" y="6158699"/>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graphicFrame>
        <p:nvGraphicFramePr>
          <p:cNvPr id="17" name="Object 7"/>
          <p:cNvGraphicFramePr>
            <a:graphicFrameLocks noChangeAspect="1"/>
          </p:cNvGraphicFramePr>
          <p:nvPr>
            <p:extLst>
              <p:ext uri="{D42A27DB-BD31-4B8C-83A1-F6EECF244321}">
                <p14:modId xmlns:p14="http://schemas.microsoft.com/office/powerpoint/2010/main" val="2463084667"/>
              </p:ext>
            </p:extLst>
          </p:nvPr>
        </p:nvGraphicFramePr>
        <p:xfrm>
          <a:off x="5713413" y="971550"/>
          <a:ext cx="3065462" cy="933450"/>
        </p:xfrm>
        <a:graphic>
          <a:graphicData uri="http://schemas.openxmlformats.org/presentationml/2006/ole">
            <mc:AlternateContent xmlns:mc="http://schemas.openxmlformats.org/markup-compatibility/2006">
              <mc:Choice xmlns:v="urn:schemas-microsoft-com:vml" Requires="v">
                <p:oleObj name="Equation" r:id="rId10" imgW="1333440" imgH="406080" progId="Equation.DSMT4">
                  <p:embed/>
                </p:oleObj>
              </mc:Choice>
              <mc:Fallback>
                <p:oleObj name="Equation" r:id="rId10" imgW="1333440" imgH="406080" progId="Equation.DSMT4">
                  <p:embed/>
                  <p:pic>
                    <p:nvPicPr>
                      <p:cNvPr id="17" name="Object 7"/>
                      <p:cNvPicPr>
                        <a:picLocks noChangeAspect="1" noChangeArrowheads="1"/>
                      </p:cNvPicPr>
                      <p:nvPr/>
                    </p:nvPicPr>
                    <p:blipFill>
                      <a:blip r:embed="rId11"/>
                      <a:srcRect/>
                      <a:stretch>
                        <a:fillRect/>
                      </a:stretch>
                    </p:blipFill>
                    <p:spPr bwMode="auto">
                      <a:xfrm>
                        <a:off x="5713413" y="971550"/>
                        <a:ext cx="306546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934656161"/>
              </p:ext>
            </p:extLst>
          </p:nvPr>
        </p:nvGraphicFramePr>
        <p:xfrm>
          <a:off x="1187450" y="3255962"/>
          <a:ext cx="4751387" cy="503238"/>
        </p:xfrm>
        <a:graphic>
          <a:graphicData uri="http://schemas.openxmlformats.org/presentationml/2006/ole">
            <mc:AlternateContent xmlns:mc="http://schemas.openxmlformats.org/markup-compatibility/2006">
              <mc:Choice xmlns:v="urn:schemas-microsoft-com:vml" Requires="v">
                <p:oleObj name="Equation" r:id="rId12" imgW="2158920" imgH="228600" progId="Equation.DSMT4">
                  <p:embed/>
                </p:oleObj>
              </mc:Choice>
              <mc:Fallback>
                <p:oleObj name="Equation" r:id="rId12" imgW="2158920" imgH="228600" progId="Equation.DSMT4">
                  <p:embed/>
                  <p:pic>
                    <p:nvPicPr>
                      <p:cNvPr id="19" name="对象 18"/>
                      <p:cNvPicPr>
                        <a:picLocks noChangeAspect="1" noChangeArrowheads="1"/>
                      </p:cNvPicPr>
                      <p:nvPr/>
                    </p:nvPicPr>
                    <p:blipFill>
                      <a:blip r:embed="rId13"/>
                      <a:srcRect/>
                      <a:stretch>
                        <a:fillRect/>
                      </a:stretch>
                    </p:blipFill>
                    <p:spPr bwMode="auto">
                      <a:xfrm>
                        <a:off x="1187450" y="3255962"/>
                        <a:ext cx="475138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679785014"/>
              </p:ext>
            </p:extLst>
          </p:nvPr>
        </p:nvGraphicFramePr>
        <p:xfrm>
          <a:off x="1441980" y="2651359"/>
          <a:ext cx="3744913" cy="501650"/>
        </p:xfrm>
        <a:graphic>
          <a:graphicData uri="http://schemas.openxmlformats.org/presentationml/2006/ole">
            <mc:AlternateContent xmlns:mc="http://schemas.openxmlformats.org/markup-compatibility/2006">
              <mc:Choice xmlns:v="urn:schemas-microsoft-com:vml" Requires="v">
                <p:oleObj name="Equation" r:id="rId14" imgW="1701720" imgH="228600" progId="Equation.DSMT4">
                  <p:embed/>
                </p:oleObj>
              </mc:Choice>
              <mc:Fallback>
                <p:oleObj name="Equation" r:id="rId14" imgW="1701720" imgH="228600" progId="Equation.DSMT4">
                  <p:embed/>
                  <p:pic>
                    <p:nvPicPr>
                      <p:cNvPr id="20" name="对象 19"/>
                      <p:cNvPicPr>
                        <a:picLocks noChangeAspect="1" noChangeArrowheads="1"/>
                      </p:cNvPicPr>
                      <p:nvPr/>
                    </p:nvPicPr>
                    <p:blipFill>
                      <a:blip r:embed="rId15"/>
                      <a:srcRect/>
                      <a:stretch>
                        <a:fillRect/>
                      </a:stretch>
                    </p:blipFill>
                    <p:spPr bwMode="auto">
                      <a:xfrm>
                        <a:off x="1441980" y="2651359"/>
                        <a:ext cx="3744913"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059132383"/>
              </p:ext>
            </p:extLst>
          </p:nvPr>
        </p:nvGraphicFramePr>
        <p:xfrm>
          <a:off x="1187450" y="3706812"/>
          <a:ext cx="7042150" cy="727075"/>
        </p:xfrm>
        <a:graphic>
          <a:graphicData uri="http://schemas.openxmlformats.org/presentationml/2006/ole">
            <mc:AlternateContent xmlns:mc="http://schemas.openxmlformats.org/markup-compatibility/2006">
              <mc:Choice xmlns:v="urn:schemas-microsoft-com:vml" Requires="v">
                <p:oleObj name="Equation" r:id="rId16" imgW="3200400" imgH="330120" progId="Equation.DSMT4">
                  <p:embed/>
                </p:oleObj>
              </mc:Choice>
              <mc:Fallback>
                <p:oleObj name="Equation" r:id="rId16" imgW="3200400" imgH="330120" progId="Equation.DSMT4">
                  <p:embed/>
                  <p:pic>
                    <p:nvPicPr>
                      <p:cNvPr id="21" name="对象 20"/>
                      <p:cNvPicPr>
                        <a:picLocks noChangeAspect="1" noChangeArrowheads="1"/>
                      </p:cNvPicPr>
                      <p:nvPr/>
                    </p:nvPicPr>
                    <p:blipFill>
                      <a:blip r:embed="rId17"/>
                      <a:srcRect/>
                      <a:stretch>
                        <a:fillRect/>
                      </a:stretch>
                    </p:blipFill>
                    <p:spPr bwMode="auto">
                      <a:xfrm>
                        <a:off x="1187450" y="3706812"/>
                        <a:ext cx="7042150"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940664484"/>
              </p:ext>
            </p:extLst>
          </p:nvPr>
        </p:nvGraphicFramePr>
        <p:xfrm>
          <a:off x="1146175" y="4302125"/>
          <a:ext cx="6707188" cy="727075"/>
        </p:xfrm>
        <a:graphic>
          <a:graphicData uri="http://schemas.openxmlformats.org/presentationml/2006/ole">
            <mc:AlternateContent xmlns:mc="http://schemas.openxmlformats.org/markup-compatibility/2006">
              <mc:Choice xmlns:v="urn:schemas-microsoft-com:vml" Requires="v">
                <p:oleObj name="Equation" r:id="rId18" imgW="3047760" imgH="330120" progId="Equation.DSMT4">
                  <p:embed/>
                </p:oleObj>
              </mc:Choice>
              <mc:Fallback>
                <p:oleObj name="Equation" r:id="rId18" imgW="3047760" imgH="330120" progId="Equation.DSMT4">
                  <p:embed/>
                  <p:pic>
                    <p:nvPicPr>
                      <p:cNvPr id="22" name="对象 21"/>
                      <p:cNvPicPr>
                        <a:picLocks noChangeAspect="1" noChangeArrowheads="1"/>
                      </p:cNvPicPr>
                      <p:nvPr/>
                    </p:nvPicPr>
                    <p:blipFill>
                      <a:blip r:embed="rId19"/>
                      <a:srcRect/>
                      <a:stretch>
                        <a:fillRect/>
                      </a:stretch>
                    </p:blipFill>
                    <p:spPr bwMode="auto">
                      <a:xfrm>
                        <a:off x="1146175" y="4302125"/>
                        <a:ext cx="6707188"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141814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4800" y="914400"/>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第四类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奇对称， </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为偶数</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320018524"/>
              </p:ext>
            </p:extLst>
          </p:nvPr>
        </p:nvGraphicFramePr>
        <p:xfrm>
          <a:off x="5713413" y="971550"/>
          <a:ext cx="3065462" cy="933450"/>
        </p:xfrm>
        <a:graphic>
          <a:graphicData uri="http://schemas.openxmlformats.org/presentationml/2006/ole">
            <mc:AlternateContent xmlns:mc="http://schemas.openxmlformats.org/markup-compatibility/2006">
              <mc:Choice xmlns:v="urn:schemas-microsoft-com:vml" Requires="v">
                <p:oleObj name="Equation" r:id="rId2" imgW="1333440" imgH="406080" progId="Equation.DSMT4">
                  <p:embed/>
                </p:oleObj>
              </mc:Choice>
              <mc:Fallback>
                <p:oleObj name="Equation" r:id="rId2" imgW="1333440" imgH="406080" progId="Equation.DSMT4">
                  <p:embed/>
                  <p:pic>
                    <p:nvPicPr>
                      <p:cNvPr id="5" name="Object 7"/>
                      <p:cNvPicPr>
                        <a:picLocks noChangeAspect="1" noChangeArrowheads="1"/>
                      </p:cNvPicPr>
                      <p:nvPr/>
                    </p:nvPicPr>
                    <p:blipFill>
                      <a:blip r:embed="rId3"/>
                      <a:srcRect/>
                      <a:stretch>
                        <a:fillRect/>
                      </a:stretch>
                    </p:blipFill>
                    <p:spPr bwMode="auto">
                      <a:xfrm>
                        <a:off x="5713413" y="971550"/>
                        <a:ext cx="306546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910567845"/>
              </p:ext>
            </p:extLst>
          </p:nvPr>
        </p:nvGraphicFramePr>
        <p:xfrm>
          <a:off x="3656013" y="3465787"/>
          <a:ext cx="2959100" cy="906462"/>
        </p:xfrm>
        <a:graphic>
          <a:graphicData uri="http://schemas.openxmlformats.org/presentationml/2006/ole">
            <mc:AlternateContent xmlns:mc="http://schemas.openxmlformats.org/markup-compatibility/2006">
              <mc:Choice xmlns:v="urn:schemas-microsoft-com:vml" Requires="v">
                <p:oleObj name="Equation" r:id="rId4" imgW="1409400" imgH="431640" progId="Equation.DSMT4">
                  <p:embed/>
                </p:oleObj>
              </mc:Choice>
              <mc:Fallback>
                <p:oleObj name="Equation" r:id="rId4" imgW="1409400" imgH="431640" progId="Equation.DSMT4">
                  <p:embed/>
                  <p:pic>
                    <p:nvPicPr>
                      <p:cNvPr id="6" name="Object 5"/>
                      <p:cNvPicPr>
                        <a:picLocks noChangeAspect="1" noChangeArrowheads="1"/>
                      </p:cNvPicPr>
                      <p:nvPr/>
                    </p:nvPicPr>
                    <p:blipFill>
                      <a:blip r:embed="rId5"/>
                      <a:srcRect/>
                      <a:stretch>
                        <a:fillRect/>
                      </a:stretch>
                    </p:blipFill>
                    <p:spPr bwMode="auto">
                      <a:xfrm>
                        <a:off x="3656013" y="3465787"/>
                        <a:ext cx="295910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3178726875"/>
              </p:ext>
            </p:extLst>
          </p:nvPr>
        </p:nvGraphicFramePr>
        <p:xfrm>
          <a:off x="2075704" y="2438400"/>
          <a:ext cx="4585464" cy="1051560"/>
        </p:xfrm>
        <a:graphic>
          <a:graphicData uri="http://schemas.openxmlformats.org/presentationml/2006/ole">
            <mc:AlternateContent xmlns:mc="http://schemas.openxmlformats.org/markup-compatibility/2006">
              <mc:Choice xmlns:v="urn:schemas-microsoft-com:vml" Requires="v">
                <p:oleObj name="Equation" r:id="rId6" imgW="1993680" imgH="457200" progId="Equation.DSMT4">
                  <p:embed/>
                </p:oleObj>
              </mc:Choice>
              <mc:Fallback>
                <p:oleObj name="Equation" r:id="rId6" imgW="1993680" imgH="457200" progId="Equation.DSMT4">
                  <p:embed/>
                  <p:pic>
                    <p:nvPicPr>
                      <p:cNvPr id="9" name="Object 7"/>
                      <p:cNvPicPr>
                        <a:picLocks noChangeAspect="1" noChangeArrowheads="1"/>
                      </p:cNvPicPr>
                      <p:nvPr/>
                    </p:nvPicPr>
                    <p:blipFill>
                      <a:blip r:embed="rId7"/>
                      <a:srcRect/>
                      <a:stretch>
                        <a:fillRect/>
                      </a:stretch>
                    </p:blipFill>
                    <p:spPr bwMode="auto">
                      <a:xfrm>
                        <a:off x="2075704" y="2438400"/>
                        <a:ext cx="4585464" cy="105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9"/>
          <p:cNvSpPr>
            <a:spLocks noChangeArrowheads="1"/>
          </p:cNvSpPr>
          <p:nvPr/>
        </p:nvSpPr>
        <p:spPr bwMode="auto">
          <a:xfrm>
            <a:off x="381000" y="4551307"/>
            <a:ext cx="82296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由于                              关于                   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lnSpc>
                <a:spcPct val="150000"/>
              </a:lnSpc>
              <a:spcBef>
                <a:spcPts val="120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因此             关于                    也呈奇对称。</a:t>
            </a:r>
          </a:p>
        </p:txBody>
      </p:sp>
      <p:graphicFrame>
        <p:nvGraphicFramePr>
          <p:cNvPr id="12" name="Object 10"/>
          <p:cNvGraphicFramePr>
            <a:graphicFrameLocks noChangeAspect="1"/>
          </p:cNvGraphicFramePr>
          <p:nvPr>
            <p:extLst>
              <p:ext uri="{D42A27DB-BD31-4B8C-83A1-F6EECF244321}">
                <p14:modId xmlns:p14="http://schemas.microsoft.com/office/powerpoint/2010/main" val="2178473662"/>
              </p:ext>
            </p:extLst>
          </p:nvPr>
        </p:nvGraphicFramePr>
        <p:xfrm>
          <a:off x="1198563" y="4276725"/>
          <a:ext cx="2054225" cy="960438"/>
        </p:xfrm>
        <a:graphic>
          <a:graphicData uri="http://schemas.openxmlformats.org/presentationml/2006/ole">
            <mc:AlternateContent xmlns:mc="http://schemas.openxmlformats.org/markup-compatibility/2006">
              <mc:Choice xmlns:v="urn:schemas-microsoft-com:vml" Requires="v">
                <p:oleObj name="Equation" r:id="rId8" imgW="977760" imgH="457200" progId="Equation.DSMT4">
                  <p:embed/>
                </p:oleObj>
              </mc:Choice>
              <mc:Fallback>
                <p:oleObj name="Equation" r:id="rId8" imgW="977760" imgH="457200" progId="Equation.DSMT4">
                  <p:embed/>
                  <p:pic>
                    <p:nvPicPr>
                      <p:cNvPr id="12" name="Object 10"/>
                      <p:cNvPicPr>
                        <a:picLocks noChangeAspect="1" noChangeArrowheads="1"/>
                      </p:cNvPicPr>
                      <p:nvPr/>
                    </p:nvPicPr>
                    <p:blipFill>
                      <a:blip r:embed="rId9">
                        <a:grayscl/>
                        <a:biLevel thresh="50000"/>
                      </a:blip>
                      <a:srcRect/>
                      <a:stretch>
                        <a:fillRect/>
                      </a:stretch>
                    </p:blipFill>
                    <p:spPr bwMode="auto">
                      <a:xfrm>
                        <a:off x="1198563" y="4276725"/>
                        <a:ext cx="2054225"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1"/>
          <p:cNvGraphicFramePr>
            <a:graphicFrameLocks noChangeAspect="1"/>
          </p:cNvGraphicFramePr>
          <p:nvPr/>
        </p:nvGraphicFramePr>
        <p:xfrm>
          <a:off x="1134359" y="5223270"/>
          <a:ext cx="893376" cy="446688"/>
        </p:xfrm>
        <a:graphic>
          <a:graphicData uri="http://schemas.openxmlformats.org/presentationml/2006/ole">
            <mc:AlternateContent xmlns:mc="http://schemas.openxmlformats.org/markup-compatibility/2006">
              <mc:Choice xmlns:v="urn:schemas-microsoft-com:vml" Requires="v">
                <p:oleObj name="Equation" r:id="rId10" imgW="406080" imgH="203040" progId="Equation.DSMT4">
                  <p:embed/>
                </p:oleObj>
              </mc:Choice>
              <mc:Fallback>
                <p:oleObj name="Equation" r:id="rId10" imgW="406080" imgH="203040" progId="Equation.DSMT4">
                  <p:embed/>
                  <p:pic>
                    <p:nvPicPr>
                      <p:cNvPr id="13" name="Object 11"/>
                      <p:cNvPicPr>
                        <a:picLocks noChangeAspect="1" noChangeArrowheads="1"/>
                      </p:cNvPicPr>
                      <p:nvPr/>
                    </p:nvPicPr>
                    <p:blipFill>
                      <a:blip r:embed="rId11">
                        <a:grayscl/>
                        <a:biLevel thresh="50000"/>
                      </a:blip>
                      <a:srcRect/>
                      <a:stretch>
                        <a:fillRect/>
                      </a:stretch>
                    </p:blipFill>
                    <p:spPr bwMode="auto">
                      <a:xfrm>
                        <a:off x="1134359" y="5223270"/>
                        <a:ext cx="893376"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0"/>
          <p:cNvGraphicFramePr>
            <a:graphicFrameLocks noChangeAspect="1"/>
          </p:cNvGraphicFramePr>
          <p:nvPr>
            <p:extLst>
              <p:ext uri="{D42A27DB-BD31-4B8C-83A1-F6EECF244321}">
                <p14:modId xmlns:p14="http://schemas.microsoft.com/office/powerpoint/2010/main" val="2878343849"/>
              </p:ext>
            </p:extLst>
          </p:nvPr>
        </p:nvGraphicFramePr>
        <p:xfrm>
          <a:off x="3978275" y="4583113"/>
          <a:ext cx="1431925" cy="436562"/>
        </p:xfrm>
        <a:graphic>
          <a:graphicData uri="http://schemas.openxmlformats.org/presentationml/2006/ole">
            <mc:AlternateContent xmlns:mc="http://schemas.openxmlformats.org/markup-compatibility/2006">
              <mc:Choice xmlns:v="urn:schemas-microsoft-com:vml" Requires="v">
                <p:oleObj name="Equation" r:id="rId12" imgW="622080" imgH="190440" progId="Equation.DSMT4">
                  <p:embed/>
                </p:oleObj>
              </mc:Choice>
              <mc:Fallback>
                <p:oleObj name="Equation" r:id="rId12" imgW="622080" imgH="190440" progId="Equation.DSMT4">
                  <p:embed/>
                  <p:pic>
                    <p:nvPicPr>
                      <p:cNvPr id="14" name="Object 10"/>
                      <p:cNvPicPr>
                        <a:picLocks noChangeAspect="1" noChangeArrowheads="1"/>
                      </p:cNvPicPr>
                      <p:nvPr/>
                    </p:nvPicPr>
                    <p:blipFill>
                      <a:blip r:embed="rId13">
                        <a:grayscl/>
                        <a:biLevel thresh="50000"/>
                      </a:blip>
                      <a:srcRect/>
                      <a:stretch>
                        <a:fillRect/>
                      </a:stretch>
                    </p:blipFill>
                    <p:spPr bwMode="auto">
                      <a:xfrm>
                        <a:off x="3978275" y="4583113"/>
                        <a:ext cx="143192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381000" y="1743263"/>
            <a:ext cx="1627369" cy="523220"/>
          </a:xfrm>
          <a:prstGeom prst="rect">
            <a:avLst/>
          </a:prstGeom>
        </p:spPr>
        <p:txBody>
          <a:bodyPr wrap="none">
            <a:spAutoFit/>
          </a:bodyPr>
          <a:lstStyle/>
          <a:p>
            <a:r>
              <a:rPr lang="zh-CN" altLang="en-US" sz="2800" b="1" dirty="0">
                <a:solidFill>
                  <a:srgbClr val="FF0000"/>
                </a:solidFill>
              </a:rPr>
              <a:t>相位</a:t>
            </a:r>
            <a:r>
              <a:rPr kumimoji="1" lang="zh-CN" altLang="en-US" sz="2800" b="1" dirty="0">
                <a:solidFill>
                  <a:srgbClr val="FF0000"/>
                </a:solidFill>
                <a:latin typeface="Times New Roman" panose="02020603050405020304" pitchFamily="18" charset="0"/>
                <a:ea typeface="宋体" panose="02010600030101010101" pitchFamily="2" charset="-122"/>
              </a:rPr>
              <a:t>函数</a:t>
            </a:r>
            <a:endParaRPr lang="zh-CN" altLang="en-US" sz="2800" dirty="0">
              <a:solidFill>
                <a:srgbClr val="FF0000"/>
              </a:solidFill>
            </a:endParaRPr>
          </a:p>
        </p:txBody>
      </p:sp>
      <p:sp>
        <p:nvSpPr>
          <p:cNvPr id="17" name="矩形 16"/>
          <p:cNvSpPr/>
          <p:nvPr/>
        </p:nvSpPr>
        <p:spPr>
          <a:xfrm>
            <a:off x="381000" y="2677180"/>
            <a:ext cx="1627369" cy="523220"/>
          </a:xfrm>
          <a:prstGeom prst="rect">
            <a:avLst/>
          </a:prstGeom>
        </p:spPr>
        <p:txBody>
          <a:bodyPr wrap="none">
            <a:spAutoFit/>
          </a:bodyPr>
          <a:lstStyle/>
          <a:p>
            <a:r>
              <a:rPr lang="zh-CN" altLang="en-US" sz="2800" b="1" dirty="0"/>
              <a:t>幅度</a:t>
            </a:r>
            <a:r>
              <a:rPr kumimoji="1" lang="zh-CN" altLang="en-US" sz="2800" b="1" dirty="0">
                <a:latin typeface="Times New Roman" panose="02020603050405020304" pitchFamily="18" charset="0"/>
                <a:ea typeface="宋体" panose="02010600030101010101" pitchFamily="2" charset="-122"/>
              </a:rPr>
              <a:t>函数</a:t>
            </a:r>
            <a:endParaRPr lang="zh-CN" altLang="en-US" sz="2800" dirty="0"/>
          </a:p>
        </p:txBody>
      </p:sp>
      <p:sp>
        <p:nvSpPr>
          <p:cNvPr id="19" name="矩形 18"/>
          <p:cNvSpPr/>
          <p:nvPr/>
        </p:nvSpPr>
        <p:spPr>
          <a:xfrm>
            <a:off x="2703978" y="3656875"/>
            <a:ext cx="906017" cy="523220"/>
          </a:xfrm>
          <a:prstGeom prst="rect">
            <a:avLst/>
          </a:prstGeom>
        </p:spPr>
        <p:txBody>
          <a:bodyPr wrap="none">
            <a:spAutoFit/>
          </a:bodyPr>
          <a:lstStyle/>
          <a:p>
            <a:r>
              <a:rPr lang="zh-CN" altLang="en-US" sz="2800" b="1" dirty="0"/>
              <a:t>式中</a:t>
            </a:r>
            <a:endParaRPr lang="zh-CN" altLang="en-US" sz="2800" dirty="0"/>
          </a:p>
        </p:txBody>
      </p:sp>
      <p:graphicFrame>
        <p:nvGraphicFramePr>
          <p:cNvPr id="18" name="Object 10"/>
          <p:cNvGraphicFramePr>
            <a:graphicFrameLocks noChangeAspect="1"/>
          </p:cNvGraphicFramePr>
          <p:nvPr>
            <p:extLst>
              <p:ext uri="{D42A27DB-BD31-4B8C-83A1-F6EECF244321}">
                <p14:modId xmlns:p14="http://schemas.microsoft.com/office/powerpoint/2010/main" val="2178767676"/>
              </p:ext>
            </p:extLst>
          </p:nvPr>
        </p:nvGraphicFramePr>
        <p:xfrm>
          <a:off x="2743200" y="5219700"/>
          <a:ext cx="1431925" cy="436563"/>
        </p:xfrm>
        <a:graphic>
          <a:graphicData uri="http://schemas.openxmlformats.org/presentationml/2006/ole">
            <mc:AlternateContent xmlns:mc="http://schemas.openxmlformats.org/markup-compatibility/2006">
              <mc:Choice xmlns:v="urn:schemas-microsoft-com:vml" Requires="v">
                <p:oleObj name="Equation" r:id="rId14" imgW="622080" imgH="190440" progId="Equation.DSMT4">
                  <p:embed/>
                </p:oleObj>
              </mc:Choice>
              <mc:Fallback>
                <p:oleObj name="Equation" r:id="rId14" imgW="622080" imgH="190440" progId="Equation.DSMT4">
                  <p:embed/>
                  <p:pic>
                    <p:nvPicPr>
                      <p:cNvPr id="18" name="Object 10"/>
                      <p:cNvPicPr>
                        <a:picLocks noChangeAspect="1" noChangeArrowheads="1"/>
                      </p:cNvPicPr>
                      <p:nvPr/>
                    </p:nvPicPr>
                    <p:blipFill>
                      <a:blip r:embed="rId15">
                        <a:grayscl/>
                        <a:biLevel thresh="50000"/>
                      </a:blip>
                      <a:srcRect/>
                      <a:stretch>
                        <a:fillRect/>
                      </a:stretch>
                    </p:blipFill>
                    <p:spPr bwMode="auto">
                      <a:xfrm>
                        <a:off x="2743200" y="5219700"/>
                        <a:ext cx="143192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4320814" y="5638800"/>
            <a:ext cx="3451586"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z</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lang="en-US" altLang="zh-CN" sz="3200" b="1" i="1" dirty="0">
                <a:solidFill>
                  <a:srgbClr val="0000CC"/>
                </a:solidFill>
                <a:latin typeface="Times New Roman"/>
                <a:ea typeface="宋体" panose="02010600030101010101" pitchFamily="2" charset="-122"/>
              </a:rPr>
              <a:t>z = </a:t>
            </a:r>
            <a:r>
              <a:rPr lang="en-US" altLang="zh-CN" sz="3200" b="1" dirty="0">
                <a:solidFill>
                  <a:srgbClr val="0000CC"/>
                </a:solidFill>
                <a:latin typeface="Times New Roman"/>
                <a:ea typeface="宋体" panose="02010600030101010101" pitchFamily="2" charset="-122"/>
              </a:rPr>
              <a:t>1</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必有零点</a:t>
            </a:r>
            <a:endParaRPr kumimoji="0" lang="zh-CN" altLang="en-US" sz="1800" b="1" i="0" u="none" strike="noStrike" kern="0" cap="none" spc="0" normalizeH="0" baseline="0" noProof="0" dirty="0">
              <a:ln>
                <a:noFill/>
              </a:ln>
              <a:solidFill>
                <a:srgbClr val="0000CC"/>
              </a:solidFill>
              <a:effectLst/>
              <a:uLnTx/>
              <a:uFillTx/>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3170696582"/>
              </p:ext>
            </p:extLst>
          </p:nvPr>
        </p:nvGraphicFramePr>
        <p:xfrm>
          <a:off x="2056574" y="5689600"/>
          <a:ext cx="1789112" cy="557213"/>
        </p:xfrm>
        <a:graphic>
          <a:graphicData uri="http://schemas.openxmlformats.org/presentationml/2006/ole">
            <mc:AlternateContent xmlns:mc="http://schemas.openxmlformats.org/markup-compatibility/2006">
              <mc:Choice xmlns:v="urn:schemas-microsoft-com:vml" Requires="v">
                <p:oleObj name="Equation" r:id="rId16" imgW="812520" imgH="253800" progId="Equation.DSMT4">
                  <p:embed/>
                </p:oleObj>
              </mc:Choice>
              <mc:Fallback>
                <p:oleObj name="Equation" r:id="rId16" imgW="812520" imgH="253800" progId="Equation.DSMT4">
                  <p:embed/>
                  <p:pic>
                    <p:nvPicPr>
                      <p:cNvPr id="21" name="对象 20"/>
                      <p:cNvPicPr>
                        <a:picLocks noChangeAspect="1" noChangeArrowheads="1"/>
                      </p:cNvPicPr>
                      <p:nvPr/>
                    </p:nvPicPr>
                    <p:blipFill>
                      <a:blip r:embed="rId17"/>
                      <a:srcRect/>
                      <a:stretch>
                        <a:fillRect/>
                      </a:stretch>
                    </p:blipFill>
                    <p:spPr bwMode="auto">
                      <a:xfrm>
                        <a:off x="2056574" y="5689600"/>
                        <a:ext cx="1789112"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p:cNvSpPr/>
          <p:nvPr/>
        </p:nvSpPr>
        <p:spPr>
          <a:xfrm>
            <a:off x="1921636" y="6258580"/>
            <a:ext cx="5234125"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不能</a:t>
            </a:r>
            <a:r>
              <a:rPr kumimoji="1" lang="zh-CN" altLang="en-US" sz="2800" b="1" kern="0" dirty="0">
                <a:solidFill>
                  <a:srgbClr val="0000CC"/>
                </a:solidFill>
                <a:latin typeface="Times New Roman" panose="02020603050405020304" pitchFamily="18" charset="0"/>
                <a:ea typeface="宋体" panose="02010600030101010101" pitchFamily="2" charset="-122"/>
              </a:rPr>
              <a:t>用于设计低通、带阻滤波器</a:t>
            </a:r>
            <a:endParaRPr kumimoji="0" lang="zh-CN" altLang="en-US" sz="1800" b="1" i="0" u="none" strike="noStrike" kern="0" cap="none" spc="0" normalizeH="0" baseline="0" noProof="0" dirty="0">
              <a:ln>
                <a:noFill/>
              </a:ln>
              <a:solidFill>
                <a:srgbClr val="0000CC"/>
              </a:solidFill>
              <a:effectLst/>
              <a:uLnTx/>
              <a:uFillTx/>
            </a:endParaRPr>
          </a:p>
        </p:txBody>
      </p:sp>
      <p:graphicFrame>
        <p:nvGraphicFramePr>
          <p:cNvPr id="23" name="Object 2"/>
          <p:cNvGraphicFramePr>
            <a:graphicFrameLocks noChangeAspect="1"/>
          </p:cNvGraphicFramePr>
          <p:nvPr>
            <p:extLst>
              <p:ext uri="{D42A27DB-BD31-4B8C-83A1-F6EECF244321}">
                <p14:modId xmlns:p14="http://schemas.microsoft.com/office/powerpoint/2010/main" val="1732886451"/>
              </p:ext>
            </p:extLst>
          </p:nvPr>
        </p:nvGraphicFramePr>
        <p:xfrm>
          <a:off x="2106047" y="1539742"/>
          <a:ext cx="3183660" cy="905004"/>
        </p:xfrm>
        <a:graphic>
          <a:graphicData uri="http://schemas.openxmlformats.org/presentationml/2006/ole">
            <mc:AlternateContent xmlns:mc="http://schemas.openxmlformats.org/markup-compatibility/2006">
              <mc:Choice xmlns:v="urn:schemas-microsoft-com:vml" Requires="v">
                <p:oleObj name="Equation" r:id="rId18" imgW="1384200" imgH="393480" progId="Equation.DSMT4">
                  <p:embed/>
                </p:oleObj>
              </mc:Choice>
              <mc:Fallback>
                <p:oleObj name="Equation" r:id="rId18" imgW="1384200" imgH="393480" progId="Equation.DSMT4">
                  <p:embed/>
                  <p:pic>
                    <p:nvPicPr>
                      <p:cNvPr id="23" name="Object 2"/>
                      <p:cNvPicPr>
                        <a:picLocks noChangeAspect="1" noChangeArrowheads="1"/>
                      </p:cNvPicPr>
                      <p:nvPr/>
                    </p:nvPicPr>
                    <p:blipFill>
                      <a:blip r:embed="rId19"/>
                      <a:srcRect/>
                      <a:stretch>
                        <a:fillRect/>
                      </a:stretch>
                    </p:blipFill>
                    <p:spPr bwMode="auto">
                      <a:xfrm>
                        <a:off x="2106047" y="1539742"/>
                        <a:ext cx="3183660" cy="9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11"/>
          <p:cNvGraphicFramePr>
            <a:graphicFrameLocks noChangeAspect="1"/>
          </p:cNvGraphicFramePr>
          <p:nvPr>
            <p:extLst>
              <p:ext uri="{D42A27DB-BD31-4B8C-83A1-F6EECF244321}">
                <p14:modId xmlns:p14="http://schemas.microsoft.com/office/powerpoint/2010/main" val="3788776957"/>
              </p:ext>
            </p:extLst>
          </p:nvPr>
        </p:nvGraphicFramePr>
        <p:xfrm>
          <a:off x="421850" y="5777488"/>
          <a:ext cx="1339850" cy="446087"/>
        </p:xfrm>
        <a:graphic>
          <a:graphicData uri="http://schemas.openxmlformats.org/presentationml/2006/ole">
            <mc:AlternateContent xmlns:mc="http://schemas.openxmlformats.org/markup-compatibility/2006">
              <mc:Choice xmlns:v="urn:schemas-microsoft-com:vml" Requires="v">
                <p:oleObj name="Equation" r:id="rId20" imgW="609480" imgH="203040" progId="Equation.DSMT4">
                  <p:embed/>
                </p:oleObj>
              </mc:Choice>
              <mc:Fallback>
                <p:oleObj name="Equation" r:id="rId20" imgW="609480" imgH="203040" progId="Equation.DSMT4">
                  <p:embed/>
                  <p:pic>
                    <p:nvPicPr>
                      <p:cNvPr id="24" name="Object 11"/>
                      <p:cNvPicPr>
                        <a:picLocks noChangeAspect="1" noChangeArrowheads="1"/>
                      </p:cNvPicPr>
                      <p:nvPr/>
                    </p:nvPicPr>
                    <p:blipFill>
                      <a:blip r:embed="rId21">
                        <a:grayscl/>
                        <a:biLevel thresh="50000"/>
                      </a:blip>
                      <a:srcRect/>
                      <a:stretch>
                        <a:fillRect/>
                      </a:stretch>
                    </p:blipFill>
                    <p:spPr bwMode="auto">
                      <a:xfrm>
                        <a:off x="421850" y="5777488"/>
                        <a:ext cx="13398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297889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752600" y="718321"/>
            <a:ext cx="5867400" cy="558225"/>
          </a:xfrm>
          <a:prstGeom prst="rect">
            <a:avLst/>
          </a:prstGeom>
          <a:noFill/>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eaLnBrk="1" hangingPunct="1"/>
            <a:r>
              <a:rPr lang="zh-CN" altLang="en-US" sz="2400" b="1" i="0" dirty="0">
                <a:solidFill>
                  <a:srgbClr val="000000"/>
                </a:solidFill>
                <a:ea typeface="宋体" panose="02010600030101010101" pitchFamily="2" charset="-122"/>
              </a:rPr>
              <a:t>表</a:t>
            </a:r>
            <a:r>
              <a:rPr lang="en-US" altLang="zh-CN" sz="2400" b="1" i="0" dirty="0">
                <a:solidFill>
                  <a:srgbClr val="000000"/>
                </a:solidFill>
                <a:ea typeface="宋体" panose="02010600030101010101" pitchFamily="2" charset="-122"/>
              </a:rPr>
              <a:t>5.1</a:t>
            </a:r>
            <a:r>
              <a:rPr lang="zh-CN" altLang="en-US" sz="2400" b="1" i="0" dirty="0">
                <a:solidFill>
                  <a:srgbClr val="000000"/>
                </a:solidFill>
                <a:ea typeface="宋体" panose="02010600030101010101" pitchFamily="2" charset="-122"/>
              </a:rPr>
              <a:t> 四种线性相位</a:t>
            </a:r>
            <a:r>
              <a:rPr lang="en-US" altLang="zh-CN" sz="2400" b="1" i="0" dirty="0">
                <a:solidFill>
                  <a:srgbClr val="000000"/>
                </a:solidFill>
                <a:ea typeface="宋体" panose="02010600030101010101" pitchFamily="2" charset="-122"/>
              </a:rPr>
              <a:t>FIR</a:t>
            </a:r>
            <a:r>
              <a:rPr lang="zh-CN" altLang="en-US" sz="2400" b="1" i="0" dirty="0">
                <a:solidFill>
                  <a:srgbClr val="000000"/>
                </a:solidFill>
                <a:ea typeface="宋体" panose="02010600030101010101" pitchFamily="2" charset="-122"/>
              </a:rPr>
              <a:t>滤波器特性的归纳</a:t>
            </a:r>
          </a:p>
        </p:txBody>
      </p:sp>
      <p:pic>
        <p:nvPicPr>
          <p:cNvPr id="5" name="图片 4"/>
          <p:cNvPicPr>
            <a:picLocks noChangeAspect="1"/>
          </p:cNvPicPr>
          <p:nvPr/>
        </p:nvPicPr>
        <p:blipFill>
          <a:blip r:embed="rId2"/>
          <a:stretch>
            <a:fillRect/>
          </a:stretch>
        </p:blipFill>
        <p:spPr>
          <a:xfrm>
            <a:off x="1447800" y="1143000"/>
            <a:ext cx="5953125" cy="5734050"/>
          </a:xfrm>
          <a:prstGeom prst="rect">
            <a:avLst/>
          </a:prstGeom>
        </p:spPr>
      </p:pic>
      <p:graphicFrame>
        <p:nvGraphicFramePr>
          <p:cNvPr id="7" name="Object 11"/>
          <p:cNvGraphicFramePr>
            <a:graphicFrameLocks noChangeAspect="1"/>
          </p:cNvGraphicFramePr>
          <p:nvPr>
            <p:extLst>
              <p:ext uri="{D42A27DB-BD31-4B8C-83A1-F6EECF244321}">
                <p14:modId xmlns:p14="http://schemas.microsoft.com/office/powerpoint/2010/main" val="627972519"/>
              </p:ext>
            </p:extLst>
          </p:nvPr>
        </p:nvGraphicFramePr>
        <p:xfrm>
          <a:off x="7401383" y="4953000"/>
          <a:ext cx="1397000" cy="446088"/>
        </p:xfrm>
        <a:graphic>
          <a:graphicData uri="http://schemas.openxmlformats.org/presentationml/2006/ole">
            <mc:AlternateContent xmlns:mc="http://schemas.openxmlformats.org/markup-compatibility/2006">
              <mc:Choice xmlns:v="urn:schemas-microsoft-com:vml" Requires="v">
                <p:oleObj name="Equation" r:id="rId3" imgW="634680" imgH="203040" progId="Equation.DSMT4">
                  <p:embed/>
                </p:oleObj>
              </mc:Choice>
              <mc:Fallback>
                <p:oleObj name="Equation" r:id="rId3" imgW="634680" imgH="203040" progId="Equation.DSMT4">
                  <p:embed/>
                  <p:pic>
                    <p:nvPicPr>
                      <p:cNvPr id="7" name="Object 11"/>
                      <p:cNvPicPr>
                        <a:picLocks noChangeAspect="1" noChangeArrowheads="1"/>
                      </p:cNvPicPr>
                      <p:nvPr/>
                    </p:nvPicPr>
                    <p:blipFill>
                      <a:blip r:embed="rId4">
                        <a:grayscl/>
                        <a:biLevel thresh="50000"/>
                      </a:blip>
                      <a:srcRect/>
                      <a:stretch>
                        <a:fillRect/>
                      </a:stretch>
                    </p:blipFill>
                    <p:spPr bwMode="auto">
                      <a:xfrm>
                        <a:off x="7401383" y="4953000"/>
                        <a:ext cx="13970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2372948014"/>
              </p:ext>
            </p:extLst>
          </p:nvPr>
        </p:nvGraphicFramePr>
        <p:xfrm>
          <a:off x="7400925" y="4572000"/>
          <a:ext cx="1339850" cy="446087"/>
        </p:xfrm>
        <a:graphic>
          <a:graphicData uri="http://schemas.openxmlformats.org/presentationml/2006/ole">
            <mc:AlternateContent xmlns:mc="http://schemas.openxmlformats.org/markup-compatibility/2006">
              <mc:Choice xmlns:v="urn:schemas-microsoft-com:vml" Requires="v">
                <p:oleObj name="Equation" r:id="rId5" imgW="609480" imgH="203040" progId="Equation.DSMT4">
                  <p:embed/>
                </p:oleObj>
              </mc:Choice>
              <mc:Fallback>
                <p:oleObj name="Equation" r:id="rId5" imgW="609480" imgH="203040" progId="Equation.DSMT4">
                  <p:embed/>
                  <p:pic>
                    <p:nvPicPr>
                      <p:cNvPr id="8" name="Object 11"/>
                      <p:cNvPicPr>
                        <a:picLocks noChangeAspect="1" noChangeArrowheads="1"/>
                      </p:cNvPicPr>
                      <p:nvPr/>
                    </p:nvPicPr>
                    <p:blipFill>
                      <a:blip r:embed="rId6">
                        <a:grayscl/>
                        <a:biLevel thresh="50000"/>
                      </a:blip>
                      <a:srcRect/>
                      <a:stretch>
                        <a:fillRect/>
                      </a:stretch>
                    </p:blipFill>
                    <p:spPr bwMode="auto">
                      <a:xfrm>
                        <a:off x="7400925" y="4572000"/>
                        <a:ext cx="13398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1"/>
          <p:cNvGraphicFramePr>
            <a:graphicFrameLocks noChangeAspect="1"/>
          </p:cNvGraphicFramePr>
          <p:nvPr>
            <p:extLst>
              <p:ext uri="{D42A27DB-BD31-4B8C-83A1-F6EECF244321}">
                <p14:modId xmlns:p14="http://schemas.microsoft.com/office/powerpoint/2010/main" val="655786564"/>
              </p:ext>
            </p:extLst>
          </p:nvPr>
        </p:nvGraphicFramePr>
        <p:xfrm>
          <a:off x="7482886" y="6096000"/>
          <a:ext cx="1339850" cy="446087"/>
        </p:xfrm>
        <a:graphic>
          <a:graphicData uri="http://schemas.openxmlformats.org/presentationml/2006/ole">
            <mc:AlternateContent xmlns:mc="http://schemas.openxmlformats.org/markup-compatibility/2006">
              <mc:Choice xmlns:v="urn:schemas-microsoft-com:vml" Requires="v">
                <p:oleObj name="Equation" r:id="rId5" imgW="609480" imgH="203040" progId="Equation.DSMT4">
                  <p:embed/>
                </p:oleObj>
              </mc:Choice>
              <mc:Fallback>
                <p:oleObj name="Equation" r:id="rId5" imgW="609480" imgH="203040" progId="Equation.DSMT4">
                  <p:embed/>
                  <p:pic>
                    <p:nvPicPr>
                      <p:cNvPr id="9" name="Object 11"/>
                      <p:cNvPicPr>
                        <a:picLocks noChangeAspect="1" noChangeArrowheads="1"/>
                      </p:cNvPicPr>
                      <p:nvPr/>
                    </p:nvPicPr>
                    <p:blipFill>
                      <a:blip r:embed="rId6">
                        <a:grayscl/>
                        <a:biLevel thresh="50000"/>
                      </a:blip>
                      <a:srcRect/>
                      <a:stretch>
                        <a:fillRect/>
                      </a:stretch>
                    </p:blipFill>
                    <p:spPr bwMode="auto">
                      <a:xfrm>
                        <a:off x="7482886" y="6096000"/>
                        <a:ext cx="13398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1"/>
          <p:cNvGraphicFramePr>
            <a:graphicFrameLocks noChangeAspect="1"/>
          </p:cNvGraphicFramePr>
          <p:nvPr>
            <p:extLst>
              <p:ext uri="{D42A27DB-BD31-4B8C-83A1-F6EECF244321}">
                <p14:modId xmlns:p14="http://schemas.microsoft.com/office/powerpoint/2010/main" val="3808440711"/>
              </p:ext>
            </p:extLst>
          </p:nvPr>
        </p:nvGraphicFramePr>
        <p:xfrm>
          <a:off x="7397783" y="3352800"/>
          <a:ext cx="1397000" cy="446088"/>
        </p:xfrm>
        <a:graphic>
          <a:graphicData uri="http://schemas.openxmlformats.org/presentationml/2006/ole">
            <mc:AlternateContent xmlns:mc="http://schemas.openxmlformats.org/markup-compatibility/2006">
              <mc:Choice xmlns:v="urn:schemas-microsoft-com:vml" Requires="v">
                <p:oleObj name="Equation" r:id="rId3" imgW="634680" imgH="203040" progId="Equation.DSMT4">
                  <p:embed/>
                </p:oleObj>
              </mc:Choice>
              <mc:Fallback>
                <p:oleObj name="Equation" r:id="rId3" imgW="634680" imgH="203040" progId="Equation.DSMT4">
                  <p:embed/>
                  <p:pic>
                    <p:nvPicPr>
                      <p:cNvPr id="10" name="Object 11"/>
                      <p:cNvPicPr>
                        <a:picLocks noChangeAspect="1" noChangeArrowheads="1"/>
                      </p:cNvPicPr>
                      <p:nvPr/>
                    </p:nvPicPr>
                    <p:blipFill>
                      <a:blip r:embed="rId4">
                        <a:grayscl/>
                        <a:biLevel thresh="50000"/>
                      </a:blip>
                      <a:srcRect/>
                      <a:stretch>
                        <a:fillRect/>
                      </a:stretch>
                    </p:blipFill>
                    <p:spPr bwMode="auto">
                      <a:xfrm>
                        <a:off x="7397783" y="3352800"/>
                        <a:ext cx="13970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7"/>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8"/>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3756362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3430" y="1723294"/>
            <a:ext cx="1996440" cy="5067300"/>
          </a:xfrm>
          <a:prstGeom prst="rect">
            <a:avLst/>
          </a:prstGeom>
        </p:spPr>
      </p:pic>
      <p:sp>
        <p:nvSpPr>
          <p:cNvPr id="39" name="矩形 1"/>
          <p:cNvSpPr>
            <a:spLocks noChangeArrowheads="1"/>
          </p:cNvSpPr>
          <p:nvPr/>
        </p:nvSpPr>
        <p:spPr bwMode="auto">
          <a:xfrm>
            <a:off x="1828330" y="2246162"/>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rPr>
              <a:t>低通</a:t>
            </a:r>
          </a:p>
        </p:txBody>
      </p:sp>
      <p:sp>
        <p:nvSpPr>
          <p:cNvPr id="40" name="矩形 1"/>
          <p:cNvSpPr>
            <a:spLocks noChangeArrowheads="1"/>
          </p:cNvSpPr>
          <p:nvPr/>
        </p:nvSpPr>
        <p:spPr bwMode="auto">
          <a:xfrm>
            <a:off x="1811749" y="3410462"/>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rPr>
              <a:t>高通</a:t>
            </a:r>
          </a:p>
        </p:txBody>
      </p:sp>
      <p:sp>
        <p:nvSpPr>
          <p:cNvPr id="41" name="矩形 1"/>
          <p:cNvSpPr>
            <a:spLocks noChangeArrowheads="1"/>
          </p:cNvSpPr>
          <p:nvPr/>
        </p:nvSpPr>
        <p:spPr bwMode="auto">
          <a:xfrm>
            <a:off x="1778766" y="4524667"/>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rPr>
              <a:t>带通</a:t>
            </a:r>
          </a:p>
        </p:txBody>
      </p:sp>
      <p:sp>
        <p:nvSpPr>
          <p:cNvPr id="42" name="矩形 1"/>
          <p:cNvSpPr>
            <a:spLocks noChangeArrowheads="1"/>
          </p:cNvSpPr>
          <p:nvPr/>
        </p:nvSpPr>
        <p:spPr bwMode="auto">
          <a:xfrm>
            <a:off x="1778650" y="5763688"/>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rPr>
              <a:t>带阻</a:t>
            </a:r>
          </a:p>
        </p:txBody>
      </p:sp>
      <p:sp>
        <p:nvSpPr>
          <p:cNvPr id="43" name="文本框 5"/>
          <p:cNvSpPr txBox="1">
            <a:spLocks noChangeArrowheads="1"/>
          </p:cNvSpPr>
          <p:nvPr/>
        </p:nvSpPr>
        <p:spPr bwMode="auto">
          <a:xfrm>
            <a:off x="2454457" y="781050"/>
            <a:ext cx="13145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第一类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44" name="文本框 5"/>
          <p:cNvSpPr txBox="1">
            <a:spLocks noChangeArrowheads="1"/>
          </p:cNvSpPr>
          <p:nvPr/>
        </p:nvSpPr>
        <p:spPr bwMode="auto">
          <a:xfrm>
            <a:off x="3934828" y="771525"/>
            <a:ext cx="14861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第二类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45" name="文本框 5"/>
          <p:cNvSpPr txBox="1">
            <a:spLocks noChangeArrowheads="1"/>
          </p:cNvSpPr>
          <p:nvPr/>
        </p:nvSpPr>
        <p:spPr bwMode="auto">
          <a:xfrm>
            <a:off x="5458829" y="771525"/>
            <a:ext cx="1314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第三类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46" name="文本框 5"/>
          <p:cNvSpPr txBox="1">
            <a:spLocks noChangeArrowheads="1"/>
          </p:cNvSpPr>
          <p:nvPr/>
        </p:nvSpPr>
        <p:spPr bwMode="auto">
          <a:xfrm>
            <a:off x="6929173" y="762000"/>
            <a:ext cx="12584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第四类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47" name="对象 46"/>
          <p:cNvGraphicFramePr>
            <a:graphicFrameLocks noChangeAspect="1"/>
          </p:cNvGraphicFramePr>
          <p:nvPr>
            <p:extLst>
              <p:ext uri="{D42A27DB-BD31-4B8C-83A1-F6EECF244321}">
                <p14:modId xmlns:p14="http://schemas.microsoft.com/office/powerpoint/2010/main" val="3142714482"/>
              </p:ext>
            </p:extLst>
          </p:nvPr>
        </p:nvGraphicFramePr>
        <p:xfrm>
          <a:off x="3905027" y="1311814"/>
          <a:ext cx="1302480" cy="411480"/>
        </p:xfrm>
        <a:graphic>
          <a:graphicData uri="http://schemas.openxmlformats.org/presentationml/2006/ole">
            <mc:AlternateContent xmlns:mc="http://schemas.openxmlformats.org/markup-compatibility/2006">
              <mc:Choice xmlns:v="urn:schemas-microsoft-com:vml" Requires="v">
                <p:oleObj name="Equation" r:id="rId3" imgW="723600" imgH="228600" progId="Equation.DSMT4">
                  <p:embed/>
                </p:oleObj>
              </mc:Choice>
              <mc:Fallback>
                <p:oleObj name="Equation" r:id="rId3" imgW="723600" imgH="228600" progId="Equation.DSMT4">
                  <p:embed/>
                  <p:pic>
                    <p:nvPicPr>
                      <p:cNvPr id="47" name="对象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5027" y="1311814"/>
                        <a:ext cx="1302480" cy="41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1832416950"/>
              </p:ext>
            </p:extLst>
          </p:nvPr>
        </p:nvGraphicFramePr>
        <p:xfrm>
          <a:off x="5458829" y="1294745"/>
          <a:ext cx="1302480" cy="868320"/>
        </p:xfrm>
        <a:graphic>
          <a:graphicData uri="http://schemas.openxmlformats.org/presentationml/2006/ole">
            <mc:AlternateContent xmlns:mc="http://schemas.openxmlformats.org/markup-compatibility/2006">
              <mc:Choice xmlns:v="urn:schemas-microsoft-com:vml" Requires="v">
                <p:oleObj name="Equation" r:id="rId5" imgW="723600" imgH="482400" progId="Equation.DSMT4">
                  <p:embed/>
                </p:oleObj>
              </mc:Choice>
              <mc:Fallback>
                <p:oleObj name="Equation" r:id="rId5" imgW="723600" imgH="482400" progId="Equation.DSMT4">
                  <p:embed/>
                  <p:pic>
                    <p:nvPicPr>
                      <p:cNvPr id="48" name="对象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8829" y="1294745"/>
                        <a:ext cx="1302480" cy="86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1836894360"/>
              </p:ext>
            </p:extLst>
          </p:nvPr>
        </p:nvGraphicFramePr>
        <p:xfrm>
          <a:off x="7001743" y="1311814"/>
          <a:ext cx="1279800" cy="411480"/>
        </p:xfrm>
        <a:graphic>
          <a:graphicData uri="http://schemas.openxmlformats.org/presentationml/2006/ole">
            <mc:AlternateContent xmlns:mc="http://schemas.openxmlformats.org/markup-compatibility/2006">
              <mc:Choice xmlns:v="urn:schemas-microsoft-com:vml" Requires="v">
                <p:oleObj name="Equation" r:id="rId7" imgW="711000" imgH="228600" progId="Equation.DSMT4">
                  <p:embed/>
                </p:oleObj>
              </mc:Choice>
              <mc:Fallback>
                <p:oleObj name="Equation" r:id="rId7" imgW="711000" imgH="228600" progId="Equation.DSMT4">
                  <p:embed/>
                  <p:pic>
                    <p:nvPicPr>
                      <p:cNvPr id="49" name="对象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01743" y="1311814"/>
                        <a:ext cx="1279800" cy="41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0" name="直接连接符 49"/>
          <p:cNvCxnSpPr/>
          <p:nvPr/>
        </p:nvCxnSpPr>
        <p:spPr>
          <a:xfrm>
            <a:off x="2454457" y="2130964"/>
            <a:ext cx="5946593" cy="0"/>
          </a:xfrm>
          <a:prstGeom prst="line">
            <a:avLst/>
          </a:prstGeom>
          <a:noFill/>
          <a:ln w="6350" cap="flat" cmpd="sng" algn="ctr">
            <a:solidFill>
              <a:srgbClr val="4472C4"/>
            </a:solidFill>
            <a:prstDash val="solid"/>
            <a:miter lim="800000"/>
          </a:ln>
          <a:effectLst/>
        </p:spPr>
      </p:cxnSp>
      <p:cxnSp>
        <p:nvCxnSpPr>
          <p:cNvPr id="51" name="直接连接符 50"/>
          <p:cNvCxnSpPr/>
          <p:nvPr/>
        </p:nvCxnSpPr>
        <p:spPr>
          <a:xfrm>
            <a:off x="2454456" y="3079654"/>
            <a:ext cx="5946594" cy="0"/>
          </a:xfrm>
          <a:prstGeom prst="line">
            <a:avLst/>
          </a:prstGeom>
          <a:noFill/>
          <a:ln w="6350" cap="flat" cmpd="sng" algn="ctr">
            <a:solidFill>
              <a:srgbClr val="4472C4"/>
            </a:solidFill>
            <a:prstDash val="solid"/>
            <a:miter lim="800000"/>
          </a:ln>
          <a:effectLst/>
        </p:spPr>
      </p:cxnSp>
      <p:cxnSp>
        <p:nvCxnSpPr>
          <p:cNvPr id="52" name="直接连接符 51"/>
          <p:cNvCxnSpPr/>
          <p:nvPr/>
        </p:nvCxnSpPr>
        <p:spPr>
          <a:xfrm>
            <a:off x="2399807" y="4188364"/>
            <a:ext cx="6001243" cy="0"/>
          </a:xfrm>
          <a:prstGeom prst="line">
            <a:avLst/>
          </a:prstGeom>
          <a:noFill/>
          <a:ln w="6350" cap="flat" cmpd="sng" algn="ctr">
            <a:solidFill>
              <a:srgbClr val="4472C4"/>
            </a:solidFill>
            <a:prstDash val="solid"/>
            <a:miter lim="800000"/>
          </a:ln>
          <a:effectLst/>
        </p:spPr>
      </p:cxnSp>
      <p:cxnSp>
        <p:nvCxnSpPr>
          <p:cNvPr id="53" name="直接连接符 52"/>
          <p:cNvCxnSpPr/>
          <p:nvPr/>
        </p:nvCxnSpPr>
        <p:spPr>
          <a:xfrm>
            <a:off x="2454455" y="5417089"/>
            <a:ext cx="5946595" cy="0"/>
          </a:xfrm>
          <a:prstGeom prst="line">
            <a:avLst/>
          </a:prstGeom>
          <a:noFill/>
          <a:ln w="6350" cap="flat" cmpd="sng" algn="ctr">
            <a:solidFill>
              <a:srgbClr val="4472C4"/>
            </a:solidFill>
            <a:prstDash val="solid"/>
            <a:miter lim="800000"/>
          </a:ln>
          <a:effectLst/>
        </p:spPr>
      </p:cxnSp>
      <p:cxnSp>
        <p:nvCxnSpPr>
          <p:cNvPr id="54" name="直接连接符 53"/>
          <p:cNvCxnSpPr/>
          <p:nvPr/>
        </p:nvCxnSpPr>
        <p:spPr>
          <a:xfrm>
            <a:off x="2445936" y="6645814"/>
            <a:ext cx="5955114" cy="0"/>
          </a:xfrm>
          <a:prstGeom prst="line">
            <a:avLst/>
          </a:prstGeom>
          <a:noFill/>
          <a:ln w="6350" cap="flat" cmpd="sng" algn="ctr">
            <a:solidFill>
              <a:srgbClr val="4472C4"/>
            </a:solidFill>
            <a:prstDash val="solid"/>
            <a:miter lim="800000"/>
          </a:ln>
          <a:effectLst/>
        </p:spPr>
      </p:cxnSp>
      <p:cxnSp>
        <p:nvCxnSpPr>
          <p:cNvPr id="55" name="直接连接符 54"/>
          <p:cNvCxnSpPr/>
          <p:nvPr/>
        </p:nvCxnSpPr>
        <p:spPr>
          <a:xfrm>
            <a:off x="3686175" y="854614"/>
            <a:ext cx="0" cy="5791200"/>
          </a:xfrm>
          <a:prstGeom prst="line">
            <a:avLst/>
          </a:prstGeom>
          <a:noFill/>
          <a:ln w="6350" cap="flat" cmpd="sng" algn="ctr">
            <a:solidFill>
              <a:srgbClr val="4472C4"/>
            </a:solidFill>
            <a:prstDash val="solid"/>
            <a:miter lim="800000"/>
          </a:ln>
          <a:effectLst/>
        </p:spPr>
      </p:cxnSp>
      <p:cxnSp>
        <p:nvCxnSpPr>
          <p:cNvPr id="56" name="直接连接符 55"/>
          <p:cNvCxnSpPr/>
          <p:nvPr/>
        </p:nvCxnSpPr>
        <p:spPr>
          <a:xfrm>
            <a:off x="5286375" y="854614"/>
            <a:ext cx="0" cy="5791200"/>
          </a:xfrm>
          <a:prstGeom prst="line">
            <a:avLst/>
          </a:prstGeom>
          <a:noFill/>
          <a:ln w="6350" cap="flat" cmpd="sng" algn="ctr">
            <a:solidFill>
              <a:srgbClr val="4472C4"/>
            </a:solidFill>
            <a:prstDash val="solid"/>
            <a:miter lim="800000"/>
          </a:ln>
          <a:effectLst/>
        </p:spPr>
      </p:cxnSp>
      <p:cxnSp>
        <p:nvCxnSpPr>
          <p:cNvPr id="57" name="直接连接符 56"/>
          <p:cNvCxnSpPr/>
          <p:nvPr/>
        </p:nvCxnSpPr>
        <p:spPr>
          <a:xfrm>
            <a:off x="6773367" y="854614"/>
            <a:ext cx="0" cy="5791200"/>
          </a:xfrm>
          <a:prstGeom prst="line">
            <a:avLst/>
          </a:prstGeom>
          <a:noFill/>
          <a:ln w="6350" cap="flat" cmpd="sng" algn="ctr">
            <a:solidFill>
              <a:srgbClr val="4472C4"/>
            </a:solidFill>
            <a:prstDash val="solid"/>
            <a:miter lim="800000"/>
          </a:ln>
          <a:effectLst/>
        </p:spPr>
      </p:cxnSp>
      <p:cxnSp>
        <p:nvCxnSpPr>
          <p:cNvPr id="58" name="直接连接符 57"/>
          <p:cNvCxnSpPr/>
          <p:nvPr/>
        </p:nvCxnSpPr>
        <p:spPr>
          <a:xfrm>
            <a:off x="8401050" y="846848"/>
            <a:ext cx="0" cy="5798966"/>
          </a:xfrm>
          <a:prstGeom prst="line">
            <a:avLst/>
          </a:prstGeom>
          <a:noFill/>
          <a:ln w="6350" cap="flat" cmpd="sng" algn="ctr">
            <a:solidFill>
              <a:srgbClr val="4472C4"/>
            </a:solidFill>
            <a:prstDash val="solid"/>
            <a:miter lim="800000"/>
          </a:ln>
          <a:effectLst/>
        </p:spPr>
      </p:cxnSp>
      <p:graphicFrame>
        <p:nvGraphicFramePr>
          <p:cNvPr id="59" name="对象 58"/>
          <p:cNvGraphicFramePr>
            <a:graphicFrameLocks noChangeAspect="1"/>
          </p:cNvGraphicFramePr>
          <p:nvPr>
            <p:extLst>
              <p:ext uri="{D42A27DB-BD31-4B8C-83A1-F6EECF244321}">
                <p14:modId xmlns:p14="http://schemas.microsoft.com/office/powerpoint/2010/main" val="2778788454"/>
              </p:ext>
            </p:extLst>
          </p:nvPr>
        </p:nvGraphicFramePr>
        <p:xfrm>
          <a:off x="4318412" y="3424201"/>
          <a:ext cx="342360" cy="380160"/>
        </p:xfrm>
        <a:graphic>
          <a:graphicData uri="http://schemas.openxmlformats.org/presentationml/2006/ole">
            <mc:AlternateContent xmlns:mc="http://schemas.openxmlformats.org/markup-compatibility/2006">
              <mc:Choice xmlns:v="urn:schemas-microsoft-com:vml" Requires="v">
                <p:oleObj name="Equation" r:id="rId9" imgW="114120" imgH="126720" progId="Equation.DSMT4">
                  <p:embed/>
                </p:oleObj>
              </mc:Choice>
              <mc:Fallback>
                <p:oleObj name="Equation" r:id="rId9" imgW="114120" imgH="126720" progId="Equation.DSMT4">
                  <p:embed/>
                  <p:pic>
                    <p:nvPicPr>
                      <p:cNvPr id="59" name="对象 58"/>
                      <p:cNvPicPr/>
                      <p:nvPr/>
                    </p:nvPicPr>
                    <p:blipFill>
                      <a:blip r:embed="rId10"/>
                      <a:stretch>
                        <a:fillRect/>
                      </a:stretch>
                    </p:blipFill>
                    <p:spPr>
                      <a:xfrm>
                        <a:off x="4318412" y="3424201"/>
                        <a:ext cx="342360" cy="380160"/>
                      </a:xfrm>
                      <a:prstGeom prst="rect">
                        <a:avLst/>
                      </a:prstGeom>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3741303846"/>
              </p:ext>
            </p:extLst>
          </p:nvPr>
        </p:nvGraphicFramePr>
        <p:xfrm>
          <a:off x="4308475" y="5811128"/>
          <a:ext cx="342900" cy="379412"/>
        </p:xfrm>
        <a:graphic>
          <a:graphicData uri="http://schemas.openxmlformats.org/presentationml/2006/ole">
            <mc:AlternateContent xmlns:mc="http://schemas.openxmlformats.org/markup-compatibility/2006">
              <mc:Choice xmlns:v="urn:schemas-microsoft-com:vml" Requires="v">
                <p:oleObj name="Equation" r:id="rId11" imgW="114120" imgH="126720" progId="Equation.DSMT4">
                  <p:embed/>
                </p:oleObj>
              </mc:Choice>
              <mc:Fallback>
                <p:oleObj name="Equation" r:id="rId11" imgW="114120" imgH="126720" progId="Equation.DSMT4">
                  <p:embed/>
                  <p:pic>
                    <p:nvPicPr>
                      <p:cNvPr id="60" name="对象 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08475" y="5811128"/>
                        <a:ext cx="342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2002006005"/>
              </p:ext>
            </p:extLst>
          </p:nvPr>
        </p:nvGraphicFramePr>
        <p:xfrm>
          <a:off x="5861050" y="2450548"/>
          <a:ext cx="342900" cy="379412"/>
        </p:xfrm>
        <a:graphic>
          <a:graphicData uri="http://schemas.openxmlformats.org/presentationml/2006/ole">
            <mc:AlternateContent xmlns:mc="http://schemas.openxmlformats.org/markup-compatibility/2006">
              <mc:Choice xmlns:v="urn:schemas-microsoft-com:vml" Requires="v">
                <p:oleObj name="Equation" r:id="rId13" imgW="114120" imgH="126720" progId="Equation.DSMT4">
                  <p:embed/>
                </p:oleObj>
              </mc:Choice>
              <mc:Fallback>
                <p:oleObj name="Equation" r:id="rId13" imgW="114120" imgH="126720" progId="Equation.DSMT4">
                  <p:embed/>
                  <p:pic>
                    <p:nvPicPr>
                      <p:cNvPr id="61" name="对象 6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1050" y="2450548"/>
                        <a:ext cx="342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2187402651"/>
              </p:ext>
            </p:extLst>
          </p:nvPr>
        </p:nvGraphicFramePr>
        <p:xfrm>
          <a:off x="5858923" y="3379528"/>
          <a:ext cx="342900" cy="379412"/>
        </p:xfrm>
        <a:graphic>
          <a:graphicData uri="http://schemas.openxmlformats.org/presentationml/2006/ole">
            <mc:AlternateContent xmlns:mc="http://schemas.openxmlformats.org/markup-compatibility/2006">
              <mc:Choice xmlns:v="urn:schemas-microsoft-com:vml" Requires="v">
                <p:oleObj name="Equation" r:id="rId15" imgW="114120" imgH="126720" progId="Equation.DSMT4">
                  <p:embed/>
                </p:oleObj>
              </mc:Choice>
              <mc:Fallback>
                <p:oleObj name="Equation" r:id="rId15" imgW="114120" imgH="126720" progId="Equation.DSMT4">
                  <p:embed/>
                  <p:pic>
                    <p:nvPicPr>
                      <p:cNvPr id="62" name="对象 6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58923" y="3379528"/>
                        <a:ext cx="342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 name="对象 62"/>
          <p:cNvGraphicFramePr>
            <a:graphicFrameLocks noChangeAspect="1"/>
          </p:cNvGraphicFramePr>
          <p:nvPr>
            <p:extLst>
              <p:ext uri="{D42A27DB-BD31-4B8C-83A1-F6EECF244321}">
                <p14:modId xmlns:p14="http://schemas.microsoft.com/office/powerpoint/2010/main" val="1037084503"/>
              </p:ext>
            </p:extLst>
          </p:nvPr>
        </p:nvGraphicFramePr>
        <p:xfrm>
          <a:off x="5822950" y="5775644"/>
          <a:ext cx="342900" cy="379412"/>
        </p:xfrm>
        <a:graphic>
          <a:graphicData uri="http://schemas.openxmlformats.org/presentationml/2006/ole">
            <mc:AlternateContent xmlns:mc="http://schemas.openxmlformats.org/markup-compatibility/2006">
              <mc:Choice xmlns:v="urn:schemas-microsoft-com:vml" Requires="v">
                <p:oleObj name="Equation" r:id="rId15" imgW="114120" imgH="126720" progId="Equation.DSMT4">
                  <p:embed/>
                </p:oleObj>
              </mc:Choice>
              <mc:Fallback>
                <p:oleObj name="Equation" r:id="rId15" imgW="114120" imgH="126720" progId="Equation.DSMT4">
                  <p:embed/>
                  <p:pic>
                    <p:nvPicPr>
                      <p:cNvPr id="63" name="对象 6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22950" y="5775644"/>
                        <a:ext cx="342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对象 63"/>
          <p:cNvGraphicFramePr>
            <a:graphicFrameLocks noChangeAspect="1"/>
          </p:cNvGraphicFramePr>
          <p:nvPr>
            <p:extLst>
              <p:ext uri="{D42A27DB-BD31-4B8C-83A1-F6EECF244321}">
                <p14:modId xmlns:p14="http://schemas.microsoft.com/office/powerpoint/2010/main" val="1233632031"/>
              </p:ext>
            </p:extLst>
          </p:nvPr>
        </p:nvGraphicFramePr>
        <p:xfrm>
          <a:off x="7461250" y="2378297"/>
          <a:ext cx="342900" cy="379412"/>
        </p:xfrm>
        <a:graphic>
          <a:graphicData uri="http://schemas.openxmlformats.org/presentationml/2006/ole">
            <mc:AlternateContent xmlns:mc="http://schemas.openxmlformats.org/markup-compatibility/2006">
              <mc:Choice xmlns:v="urn:schemas-microsoft-com:vml" Requires="v">
                <p:oleObj name="Equation" r:id="rId15" imgW="114120" imgH="126720" progId="Equation.DSMT4">
                  <p:embed/>
                </p:oleObj>
              </mc:Choice>
              <mc:Fallback>
                <p:oleObj name="Equation" r:id="rId15" imgW="114120" imgH="126720" progId="Equation.DSMT4">
                  <p:embed/>
                  <p:pic>
                    <p:nvPicPr>
                      <p:cNvPr id="64" name="对象 6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61250" y="2378297"/>
                        <a:ext cx="342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对象 64"/>
          <p:cNvGraphicFramePr>
            <a:graphicFrameLocks noChangeAspect="1"/>
          </p:cNvGraphicFramePr>
          <p:nvPr>
            <p:extLst>
              <p:ext uri="{D42A27DB-BD31-4B8C-83A1-F6EECF244321}">
                <p14:modId xmlns:p14="http://schemas.microsoft.com/office/powerpoint/2010/main" val="2057237160"/>
              </p:ext>
            </p:extLst>
          </p:nvPr>
        </p:nvGraphicFramePr>
        <p:xfrm>
          <a:off x="7470775" y="5725707"/>
          <a:ext cx="342900" cy="379412"/>
        </p:xfrm>
        <a:graphic>
          <a:graphicData uri="http://schemas.openxmlformats.org/presentationml/2006/ole">
            <mc:AlternateContent xmlns:mc="http://schemas.openxmlformats.org/markup-compatibility/2006">
              <mc:Choice xmlns:v="urn:schemas-microsoft-com:vml" Requires="v">
                <p:oleObj name="Equation" r:id="rId15" imgW="114120" imgH="126720" progId="Equation.DSMT4">
                  <p:embed/>
                </p:oleObj>
              </mc:Choice>
              <mc:Fallback>
                <p:oleObj name="Equation" r:id="rId15" imgW="114120" imgH="126720" progId="Equation.DSMT4">
                  <p:embed/>
                  <p:pic>
                    <p:nvPicPr>
                      <p:cNvPr id="65" name="对象 6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70775" y="5725707"/>
                        <a:ext cx="342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7"/>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8"/>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69095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5"/>
          <p:cNvSpPr txBox="1">
            <a:spLocks noChangeArrowheads="1"/>
          </p:cNvSpPr>
          <p:nvPr/>
        </p:nvSpPr>
        <p:spPr bwMode="auto">
          <a:xfrm>
            <a:off x="1219200" y="1028986"/>
            <a:ext cx="13145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第一类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31" name="文本框 5"/>
          <p:cNvSpPr txBox="1">
            <a:spLocks noChangeArrowheads="1"/>
          </p:cNvSpPr>
          <p:nvPr/>
        </p:nvSpPr>
        <p:spPr bwMode="auto">
          <a:xfrm>
            <a:off x="3009677" y="1019461"/>
            <a:ext cx="14861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第二类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32" name="文本框 5"/>
          <p:cNvSpPr txBox="1">
            <a:spLocks noChangeArrowheads="1"/>
          </p:cNvSpPr>
          <p:nvPr/>
        </p:nvSpPr>
        <p:spPr bwMode="auto">
          <a:xfrm>
            <a:off x="5010062" y="1019461"/>
            <a:ext cx="1314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第三类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33" name="文本框 5"/>
          <p:cNvSpPr txBox="1">
            <a:spLocks noChangeArrowheads="1"/>
          </p:cNvSpPr>
          <p:nvPr/>
        </p:nvSpPr>
        <p:spPr bwMode="auto">
          <a:xfrm>
            <a:off x="6971168" y="1009936"/>
            <a:ext cx="12584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第四类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cxnSp>
        <p:nvCxnSpPr>
          <p:cNvPr id="37" name="直接连接符 36"/>
          <p:cNvCxnSpPr/>
          <p:nvPr/>
        </p:nvCxnSpPr>
        <p:spPr>
          <a:xfrm>
            <a:off x="914400" y="1628406"/>
            <a:ext cx="7747200" cy="0"/>
          </a:xfrm>
          <a:prstGeom prst="line">
            <a:avLst/>
          </a:prstGeom>
          <a:noFill/>
          <a:ln w="6350" cap="flat" cmpd="sng" algn="ctr">
            <a:solidFill>
              <a:srgbClr val="4472C4"/>
            </a:solidFill>
            <a:prstDash val="solid"/>
            <a:miter lim="800000"/>
          </a:ln>
          <a:effectLst/>
        </p:spPr>
      </p:cxnSp>
      <p:cxnSp>
        <p:nvCxnSpPr>
          <p:cNvPr id="38" name="直接连接符 37"/>
          <p:cNvCxnSpPr/>
          <p:nvPr/>
        </p:nvCxnSpPr>
        <p:spPr>
          <a:xfrm>
            <a:off x="914400" y="2955460"/>
            <a:ext cx="7747200" cy="0"/>
          </a:xfrm>
          <a:prstGeom prst="line">
            <a:avLst/>
          </a:prstGeom>
          <a:noFill/>
          <a:ln w="6350" cap="flat" cmpd="sng" algn="ctr">
            <a:solidFill>
              <a:srgbClr val="4472C4"/>
            </a:solidFill>
            <a:prstDash val="solid"/>
            <a:miter lim="800000"/>
          </a:ln>
          <a:effectLst/>
        </p:spPr>
      </p:cxnSp>
      <p:cxnSp>
        <p:nvCxnSpPr>
          <p:cNvPr id="39" name="直接连接符 38"/>
          <p:cNvCxnSpPr/>
          <p:nvPr/>
        </p:nvCxnSpPr>
        <p:spPr>
          <a:xfrm>
            <a:off x="921600" y="4064170"/>
            <a:ext cx="7765200" cy="0"/>
          </a:xfrm>
          <a:prstGeom prst="line">
            <a:avLst/>
          </a:prstGeom>
          <a:noFill/>
          <a:ln w="6350" cap="flat" cmpd="sng" algn="ctr">
            <a:solidFill>
              <a:srgbClr val="4472C4"/>
            </a:solidFill>
            <a:prstDash val="solid"/>
            <a:miter lim="800000"/>
          </a:ln>
          <a:effectLst/>
        </p:spPr>
      </p:cxnSp>
      <p:cxnSp>
        <p:nvCxnSpPr>
          <p:cNvPr id="40" name="直接连接符 39"/>
          <p:cNvCxnSpPr/>
          <p:nvPr/>
        </p:nvCxnSpPr>
        <p:spPr>
          <a:xfrm>
            <a:off x="918600" y="5292895"/>
            <a:ext cx="7747200" cy="0"/>
          </a:xfrm>
          <a:prstGeom prst="line">
            <a:avLst/>
          </a:prstGeom>
          <a:noFill/>
          <a:ln w="6350" cap="flat" cmpd="sng" algn="ctr">
            <a:solidFill>
              <a:srgbClr val="4472C4"/>
            </a:solidFill>
            <a:prstDash val="solid"/>
            <a:miter lim="800000"/>
          </a:ln>
          <a:effectLst/>
        </p:spPr>
      </p:cxnSp>
      <p:cxnSp>
        <p:nvCxnSpPr>
          <p:cNvPr id="41" name="直接连接符 40"/>
          <p:cNvCxnSpPr/>
          <p:nvPr/>
        </p:nvCxnSpPr>
        <p:spPr>
          <a:xfrm>
            <a:off x="911400" y="6733806"/>
            <a:ext cx="7754400" cy="0"/>
          </a:xfrm>
          <a:prstGeom prst="line">
            <a:avLst/>
          </a:prstGeom>
          <a:noFill/>
          <a:ln w="6350" cap="flat" cmpd="sng" algn="ctr">
            <a:solidFill>
              <a:srgbClr val="4472C4"/>
            </a:solidFill>
            <a:prstDash val="solid"/>
            <a:miter lim="800000"/>
          </a:ln>
          <a:effectLst/>
        </p:spPr>
      </p:cxnSp>
      <p:cxnSp>
        <p:nvCxnSpPr>
          <p:cNvPr id="42" name="直接连接符 41"/>
          <p:cNvCxnSpPr/>
          <p:nvPr/>
        </p:nvCxnSpPr>
        <p:spPr>
          <a:xfrm>
            <a:off x="2819400" y="912006"/>
            <a:ext cx="0" cy="2052000"/>
          </a:xfrm>
          <a:prstGeom prst="line">
            <a:avLst/>
          </a:prstGeom>
          <a:noFill/>
          <a:ln w="6350" cap="flat" cmpd="sng" algn="ctr">
            <a:solidFill>
              <a:srgbClr val="4472C4"/>
            </a:solidFill>
            <a:prstDash val="solid"/>
            <a:miter lim="800000"/>
          </a:ln>
          <a:effectLst/>
        </p:spPr>
      </p:cxnSp>
      <p:cxnSp>
        <p:nvCxnSpPr>
          <p:cNvPr id="43" name="直接连接符 42"/>
          <p:cNvCxnSpPr/>
          <p:nvPr/>
        </p:nvCxnSpPr>
        <p:spPr>
          <a:xfrm>
            <a:off x="4800600" y="942606"/>
            <a:ext cx="0" cy="5791200"/>
          </a:xfrm>
          <a:prstGeom prst="line">
            <a:avLst/>
          </a:prstGeom>
          <a:noFill/>
          <a:ln w="6350" cap="flat" cmpd="sng" algn="ctr">
            <a:solidFill>
              <a:srgbClr val="4472C4"/>
            </a:solidFill>
            <a:prstDash val="solid"/>
            <a:miter lim="800000"/>
          </a:ln>
          <a:effectLst/>
        </p:spPr>
      </p:cxnSp>
      <p:cxnSp>
        <p:nvCxnSpPr>
          <p:cNvPr id="45" name="直接连接符 44"/>
          <p:cNvCxnSpPr/>
          <p:nvPr/>
        </p:nvCxnSpPr>
        <p:spPr>
          <a:xfrm>
            <a:off x="8686800" y="942606"/>
            <a:ext cx="0" cy="5798966"/>
          </a:xfrm>
          <a:prstGeom prst="line">
            <a:avLst/>
          </a:prstGeom>
          <a:noFill/>
          <a:ln w="6350" cap="flat" cmpd="sng" algn="ctr">
            <a:solidFill>
              <a:srgbClr val="4472C4"/>
            </a:solidFill>
            <a:prstDash val="solid"/>
            <a:miter lim="800000"/>
          </a:ln>
          <a:effectLst/>
        </p:spPr>
      </p:cxnSp>
      <p:sp>
        <p:nvSpPr>
          <p:cNvPr id="2" name="矩形 1"/>
          <p:cNvSpPr/>
          <p:nvPr/>
        </p:nvSpPr>
        <p:spPr>
          <a:xfrm>
            <a:off x="914400" y="1780806"/>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偶对称，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为奇数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sp>
        <p:nvSpPr>
          <p:cNvPr id="53" name="矩形 52"/>
          <p:cNvSpPr/>
          <p:nvPr/>
        </p:nvSpPr>
        <p:spPr>
          <a:xfrm>
            <a:off x="2830189" y="1767263"/>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偶对称，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为偶数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sp>
        <p:nvSpPr>
          <p:cNvPr id="54" name="矩形 53"/>
          <p:cNvSpPr/>
          <p:nvPr/>
        </p:nvSpPr>
        <p:spPr>
          <a:xfrm>
            <a:off x="4724400" y="1750178"/>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为奇数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sp>
        <p:nvSpPr>
          <p:cNvPr id="55" name="矩形 54"/>
          <p:cNvSpPr/>
          <p:nvPr/>
        </p:nvSpPr>
        <p:spPr>
          <a:xfrm>
            <a:off x="6705600" y="1736635"/>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为偶数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cxnSp>
        <p:nvCxnSpPr>
          <p:cNvPr id="56" name="直接连接符 55"/>
          <p:cNvCxnSpPr/>
          <p:nvPr/>
        </p:nvCxnSpPr>
        <p:spPr>
          <a:xfrm>
            <a:off x="914400" y="942606"/>
            <a:ext cx="0" cy="5791200"/>
          </a:xfrm>
          <a:prstGeom prst="line">
            <a:avLst/>
          </a:prstGeom>
          <a:noFill/>
          <a:ln w="6350" cap="flat" cmpd="sng" algn="ctr">
            <a:solidFill>
              <a:srgbClr val="4472C4"/>
            </a:solidFill>
            <a:prstDash val="solid"/>
            <a:miter lim="800000"/>
          </a:ln>
          <a:effectLst/>
        </p:spPr>
      </p:cxnSp>
      <p:graphicFrame>
        <p:nvGraphicFramePr>
          <p:cNvPr id="57" name="Object 2"/>
          <p:cNvGraphicFramePr>
            <a:graphicFrameLocks noChangeAspect="1"/>
          </p:cNvGraphicFramePr>
          <p:nvPr>
            <p:extLst>
              <p:ext uri="{D42A27DB-BD31-4B8C-83A1-F6EECF244321}">
                <p14:modId xmlns:p14="http://schemas.microsoft.com/office/powerpoint/2010/main" val="396646794"/>
              </p:ext>
            </p:extLst>
          </p:nvPr>
        </p:nvGraphicFramePr>
        <p:xfrm>
          <a:off x="5181600" y="3076206"/>
          <a:ext cx="3183660" cy="905004"/>
        </p:xfrm>
        <a:graphic>
          <a:graphicData uri="http://schemas.openxmlformats.org/presentationml/2006/ole">
            <mc:AlternateContent xmlns:mc="http://schemas.openxmlformats.org/markup-compatibility/2006">
              <mc:Choice xmlns:v="urn:schemas-microsoft-com:vml" Requires="v">
                <p:oleObj name="Equation" r:id="rId2" imgW="1384200" imgH="393480" progId="Equation.DSMT4">
                  <p:embed/>
                </p:oleObj>
              </mc:Choice>
              <mc:Fallback>
                <p:oleObj name="Equation" r:id="rId2" imgW="1384200" imgH="393480" progId="Equation.DSMT4">
                  <p:embed/>
                  <p:pic>
                    <p:nvPicPr>
                      <p:cNvPr id="57" name="Object 2"/>
                      <p:cNvPicPr>
                        <a:picLocks noChangeAspect="1" noChangeArrowheads="1"/>
                      </p:cNvPicPr>
                      <p:nvPr/>
                    </p:nvPicPr>
                    <p:blipFill>
                      <a:blip r:embed="rId3"/>
                      <a:srcRect/>
                      <a:stretch>
                        <a:fillRect/>
                      </a:stretch>
                    </p:blipFill>
                    <p:spPr bwMode="auto">
                      <a:xfrm>
                        <a:off x="5181600" y="3076206"/>
                        <a:ext cx="3183660" cy="9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 name="Object 2"/>
          <p:cNvGraphicFramePr>
            <a:graphicFrameLocks noChangeAspect="1"/>
          </p:cNvGraphicFramePr>
          <p:nvPr>
            <p:extLst>
              <p:ext uri="{D42A27DB-BD31-4B8C-83A1-F6EECF244321}">
                <p14:modId xmlns:p14="http://schemas.microsoft.com/office/powerpoint/2010/main" val="3712887998"/>
              </p:ext>
            </p:extLst>
          </p:nvPr>
        </p:nvGraphicFramePr>
        <p:xfrm>
          <a:off x="1600200" y="3076206"/>
          <a:ext cx="2570112" cy="905004"/>
        </p:xfrm>
        <a:graphic>
          <a:graphicData uri="http://schemas.openxmlformats.org/presentationml/2006/ole">
            <mc:AlternateContent xmlns:mc="http://schemas.openxmlformats.org/markup-compatibility/2006">
              <mc:Choice xmlns:v="urn:schemas-microsoft-com:vml" Requires="v">
                <p:oleObj name="Equation" r:id="rId4" imgW="1117440" imgH="393480" progId="Equation.DSMT4">
                  <p:embed/>
                </p:oleObj>
              </mc:Choice>
              <mc:Fallback>
                <p:oleObj name="Equation" r:id="rId4" imgW="1117440" imgH="393480" progId="Equation.DSMT4">
                  <p:embed/>
                  <p:pic>
                    <p:nvPicPr>
                      <p:cNvPr id="58" name="Object 2"/>
                      <p:cNvPicPr>
                        <a:picLocks noChangeAspect="1" noChangeArrowheads="1"/>
                      </p:cNvPicPr>
                      <p:nvPr/>
                    </p:nvPicPr>
                    <p:blipFill>
                      <a:blip r:embed="rId5"/>
                      <a:srcRect/>
                      <a:stretch>
                        <a:fillRect/>
                      </a:stretch>
                    </p:blipFill>
                    <p:spPr bwMode="auto">
                      <a:xfrm>
                        <a:off x="1600200" y="3076206"/>
                        <a:ext cx="2570112" cy="9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9" name="直接连接符 58"/>
          <p:cNvCxnSpPr/>
          <p:nvPr/>
        </p:nvCxnSpPr>
        <p:spPr>
          <a:xfrm>
            <a:off x="2819400" y="4066806"/>
            <a:ext cx="0" cy="2660400"/>
          </a:xfrm>
          <a:prstGeom prst="line">
            <a:avLst/>
          </a:prstGeom>
          <a:noFill/>
          <a:ln w="6350" cap="flat" cmpd="sng" algn="ctr">
            <a:solidFill>
              <a:srgbClr val="4472C4"/>
            </a:solidFill>
            <a:prstDash val="solid"/>
            <a:miter lim="800000"/>
          </a:ln>
          <a:effectLst/>
        </p:spPr>
      </p:cxnSp>
      <p:cxnSp>
        <p:nvCxnSpPr>
          <p:cNvPr id="61" name="直接连接符 60"/>
          <p:cNvCxnSpPr/>
          <p:nvPr/>
        </p:nvCxnSpPr>
        <p:spPr>
          <a:xfrm>
            <a:off x="6705600" y="4060806"/>
            <a:ext cx="0" cy="2660400"/>
          </a:xfrm>
          <a:prstGeom prst="line">
            <a:avLst/>
          </a:prstGeom>
          <a:noFill/>
          <a:ln w="6350" cap="flat" cmpd="sng" algn="ctr">
            <a:solidFill>
              <a:srgbClr val="4472C4"/>
            </a:solidFill>
            <a:prstDash val="solid"/>
            <a:miter lim="800000"/>
          </a:ln>
          <a:effectLst/>
        </p:spPr>
      </p:cxnSp>
      <p:sp>
        <p:nvSpPr>
          <p:cNvPr id="62" name="矩形 61"/>
          <p:cNvSpPr/>
          <p:nvPr/>
        </p:nvSpPr>
        <p:spPr>
          <a:xfrm>
            <a:off x="6778905" y="4194143"/>
            <a:ext cx="1661032" cy="83099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1" dirty="0">
                <a:latin typeface="Times New Roman" panose="02020603050405020304" pitchFamily="18" charset="0"/>
                <a:ea typeface="宋体" panose="02010600030101010101" pitchFamily="2" charset="-122"/>
              </a:rPr>
              <a:t>H</a:t>
            </a:r>
            <a:r>
              <a:rPr kumimoji="1" lang="en-US" altLang="zh-CN" sz="2400" b="1" dirty="0">
                <a:latin typeface="Times New Roman" panose="02020603050405020304" pitchFamily="18" charset="0"/>
                <a:ea typeface="宋体" panose="02010600030101010101" pitchFamily="2" charset="-122"/>
              </a:rPr>
              <a:t>(</a:t>
            </a:r>
            <a:r>
              <a:rPr kumimoji="1" lang="en-US" altLang="zh-CN" sz="2400" b="1" i="1" dirty="0">
                <a:latin typeface="Times New Roman" panose="02020603050405020304" pitchFamily="18" charset="0"/>
                <a:ea typeface="宋体" panose="02010600030101010101" pitchFamily="2" charset="-122"/>
              </a:rPr>
              <a:t>z</a:t>
            </a:r>
            <a:r>
              <a:rPr kumimoji="1" lang="en-US" altLang="zh-CN" sz="2400" b="1" dirty="0">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在</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必有零点</a:t>
            </a:r>
            <a:endParaRPr kumimoji="0" lang="zh-CN" altLang="en-US" sz="2400" b="1" i="0" u="none" strike="noStrike" kern="0" cap="none" spc="0" normalizeH="0" baseline="0" noProof="0" dirty="0">
              <a:ln>
                <a:noFill/>
              </a:ln>
              <a:effectLst/>
              <a:uLnTx/>
              <a:uFillTx/>
            </a:endParaRPr>
          </a:p>
        </p:txBody>
      </p:sp>
      <p:sp>
        <p:nvSpPr>
          <p:cNvPr id="63" name="矩形 62"/>
          <p:cNvSpPr/>
          <p:nvPr/>
        </p:nvSpPr>
        <p:spPr>
          <a:xfrm>
            <a:off x="6722057" y="5303310"/>
            <a:ext cx="2040943" cy="120032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不能</a:t>
            </a:r>
            <a:r>
              <a:rPr kumimoji="1" lang="zh-CN" altLang="en-US" sz="2400" b="1" kern="0" dirty="0">
                <a:latin typeface="Times New Roman" panose="02020603050405020304" pitchFamily="18" charset="0"/>
                <a:ea typeface="宋体" panose="02010600030101010101" pitchFamily="2" charset="-122"/>
              </a:rPr>
              <a:t>用于设计</a:t>
            </a:r>
            <a:endParaRPr kumimoji="1" lang="en-US" altLang="zh-CN" sz="2400" b="1" kern="0" dirty="0">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kern="0" dirty="0">
                <a:latin typeface="Times New Roman" panose="02020603050405020304" pitchFamily="18" charset="0"/>
                <a:ea typeface="宋体" panose="02010600030101010101" pitchFamily="2" charset="-122"/>
              </a:rPr>
              <a:t>低通、带阻</a:t>
            </a:r>
            <a:endParaRPr kumimoji="1" lang="en-US" altLang="zh-CN" sz="2400" b="1" kern="0" dirty="0">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kern="0" dirty="0">
                <a:latin typeface="Times New Roman" panose="02020603050405020304" pitchFamily="18" charset="0"/>
                <a:ea typeface="宋体" panose="02010600030101010101" pitchFamily="2" charset="-122"/>
              </a:rPr>
              <a:t>滤波器</a:t>
            </a:r>
            <a:endParaRPr kumimoji="0" lang="zh-CN" altLang="en-US" sz="1600" b="1" i="0" u="none" strike="noStrike" kern="0" cap="none" spc="0" normalizeH="0" baseline="0" noProof="0" dirty="0">
              <a:ln>
                <a:noFill/>
              </a:ln>
              <a:effectLst/>
              <a:uLnTx/>
              <a:uFillTx/>
            </a:endParaRPr>
          </a:p>
        </p:txBody>
      </p:sp>
      <p:sp>
        <p:nvSpPr>
          <p:cNvPr id="64" name="矩形 63"/>
          <p:cNvSpPr/>
          <p:nvPr/>
        </p:nvSpPr>
        <p:spPr>
          <a:xfrm>
            <a:off x="2867917" y="4208816"/>
            <a:ext cx="1846980" cy="83099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z</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在</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必有零点</a:t>
            </a:r>
            <a:endParaRPr kumimoji="0" lang="zh-CN" altLang="en-US" sz="2400" b="1" i="0" u="none" strike="noStrike" kern="0" cap="none" spc="0" normalizeH="0" baseline="0" noProof="0" dirty="0">
              <a:ln>
                <a:noFill/>
              </a:ln>
              <a:effectLst/>
              <a:uLnTx/>
              <a:uFillTx/>
            </a:endParaRPr>
          </a:p>
        </p:txBody>
      </p:sp>
      <p:sp>
        <p:nvSpPr>
          <p:cNvPr id="65" name="矩形 64"/>
          <p:cNvSpPr/>
          <p:nvPr/>
        </p:nvSpPr>
        <p:spPr>
          <a:xfrm>
            <a:off x="2835857" y="5339611"/>
            <a:ext cx="2040943" cy="120032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不能</a:t>
            </a:r>
            <a:r>
              <a:rPr kumimoji="1" lang="zh-CN" altLang="en-US" sz="2400" b="1" kern="0" dirty="0">
                <a:latin typeface="Times New Roman" panose="02020603050405020304" pitchFamily="18" charset="0"/>
                <a:ea typeface="宋体" panose="02010600030101010101" pitchFamily="2" charset="-122"/>
              </a:rPr>
              <a:t>用于设计</a:t>
            </a:r>
            <a:endParaRPr kumimoji="1" lang="en-US" altLang="zh-CN" sz="2400" b="1" kern="0" dirty="0">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kern="0" dirty="0">
                <a:latin typeface="Times New Roman" panose="02020603050405020304" pitchFamily="18" charset="0"/>
                <a:ea typeface="宋体" panose="02010600030101010101" pitchFamily="2" charset="-122"/>
              </a:rPr>
              <a:t>高通、带阻</a:t>
            </a:r>
            <a:endParaRPr kumimoji="1" lang="en-US" altLang="zh-CN" sz="2400" b="1" kern="0" dirty="0">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kern="0" dirty="0">
                <a:latin typeface="Times New Roman" panose="02020603050405020304" pitchFamily="18" charset="0"/>
                <a:ea typeface="宋体" panose="02010600030101010101" pitchFamily="2" charset="-122"/>
              </a:rPr>
              <a:t>滤波器</a:t>
            </a:r>
            <a:endParaRPr kumimoji="0" lang="zh-CN" altLang="en-US" sz="1600" b="1" i="0" u="none" strike="noStrike" kern="0" cap="none" spc="0" normalizeH="0" baseline="0" noProof="0" dirty="0">
              <a:ln>
                <a:noFill/>
              </a:ln>
              <a:effectLst/>
              <a:uLnTx/>
              <a:uFillTx/>
            </a:endParaRPr>
          </a:p>
        </p:txBody>
      </p:sp>
      <p:sp>
        <p:nvSpPr>
          <p:cNvPr id="66" name="矩形 65"/>
          <p:cNvSpPr/>
          <p:nvPr/>
        </p:nvSpPr>
        <p:spPr>
          <a:xfrm>
            <a:off x="4889273" y="4085677"/>
            <a:ext cx="1661032" cy="120032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1" dirty="0">
                <a:latin typeface="Times New Roman" panose="02020603050405020304" pitchFamily="18" charset="0"/>
                <a:ea typeface="宋体" panose="02010600030101010101" pitchFamily="2" charset="-122"/>
              </a:rPr>
              <a:t>H</a:t>
            </a:r>
            <a:r>
              <a:rPr kumimoji="1" lang="en-US" altLang="zh-CN" sz="2400" b="1" dirty="0">
                <a:latin typeface="Times New Roman" panose="02020603050405020304" pitchFamily="18" charset="0"/>
                <a:ea typeface="宋体" panose="02010600030101010101" pitchFamily="2" charset="-122"/>
              </a:rPr>
              <a:t>(</a:t>
            </a:r>
            <a:r>
              <a:rPr kumimoji="1" lang="en-US" altLang="zh-CN" sz="2400" b="1" i="1" dirty="0">
                <a:latin typeface="Times New Roman" panose="02020603050405020304" pitchFamily="18" charset="0"/>
                <a:ea typeface="宋体" panose="02010600030101010101" pitchFamily="2" charset="-122"/>
              </a:rPr>
              <a:t>z</a:t>
            </a:r>
            <a:r>
              <a:rPr kumimoji="1" lang="en-US" altLang="zh-CN" sz="2400" b="1" dirty="0">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在</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eaLnBrk="1" fontAlgn="auto" hangingPunct="1">
              <a:spcBef>
                <a:spcPts val="0"/>
              </a:spcBef>
              <a:spcAft>
                <a:spcPts val="0"/>
              </a:spcAft>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和</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必有零点</a:t>
            </a:r>
            <a:endParaRPr kumimoji="0" lang="zh-CN" altLang="en-US" sz="2400" b="1" i="0" u="none" strike="noStrike" kern="0" cap="none" spc="0" normalizeH="0" baseline="0" noProof="0" dirty="0">
              <a:ln>
                <a:noFill/>
              </a:ln>
              <a:effectLst/>
              <a:uLnTx/>
              <a:uFillTx/>
            </a:endParaRPr>
          </a:p>
        </p:txBody>
      </p:sp>
      <p:sp>
        <p:nvSpPr>
          <p:cNvPr id="67" name="矩形 66"/>
          <p:cNvSpPr/>
          <p:nvPr/>
        </p:nvSpPr>
        <p:spPr>
          <a:xfrm>
            <a:off x="4886760" y="5362206"/>
            <a:ext cx="1731564" cy="83099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只能设计</a:t>
            </a:r>
            <a:endPar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带通滤波器</a:t>
            </a:r>
            <a:endParaRPr kumimoji="0" lang="zh-CN" altLang="en-US" sz="1600" b="0" i="0" u="none" strike="noStrike" kern="0" cap="none" spc="0" normalizeH="0" baseline="0" noProof="0" dirty="0">
              <a:ln>
                <a:noFill/>
              </a:ln>
              <a:effectLst/>
              <a:uLnTx/>
              <a:uFillTx/>
            </a:endParaRPr>
          </a:p>
        </p:txBody>
      </p:sp>
      <p:sp>
        <p:nvSpPr>
          <p:cNvPr id="69" name="矩形 68"/>
          <p:cNvSpPr/>
          <p:nvPr/>
        </p:nvSpPr>
        <p:spPr>
          <a:xfrm>
            <a:off x="939601" y="5286006"/>
            <a:ext cx="2070075" cy="1495794"/>
          </a:xfrm>
          <a:prstGeom prst="rect">
            <a:avLst/>
          </a:prstGeom>
        </p:spPr>
        <p:txBody>
          <a:bodyPr wrap="square">
            <a:spAutoFit/>
          </a:bodyPr>
          <a:lstStyle/>
          <a:p>
            <a:pPr lvl="0">
              <a:lnSpc>
                <a:spcPct val="95000"/>
              </a:lnSpc>
            </a:pPr>
            <a:r>
              <a:rPr lang="zh-CN" altLang="en-US" sz="2400" b="1" dirty="0">
                <a:solidFill>
                  <a:srgbClr val="000000"/>
                </a:solidFill>
              </a:rPr>
              <a:t>低通，高通，</a:t>
            </a:r>
            <a:endParaRPr lang="en-US" altLang="zh-CN" sz="2400" b="1" dirty="0">
              <a:solidFill>
                <a:srgbClr val="000000"/>
              </a:solidFill>
            </a:endParaRPr>
          </a:p>
          <a:p>
            <a:pPr lvl="0">
              <a:lnSpc>
                <a:spcPct val="95000"/>
              </a:lnSpc>
            </a:pPr>
            <a:r>
              <a:rPr lang="zh-CN" altLang="en-US" sz="2400" b="1" dirty="0">
                <a:solidFill>
                  <a:srgbClr val="000000"/>
                </a:solidFill>
              </a:rPr>
              <a:t>带通，带阻</a:t>
            </a:r>
            <a:endParaRPr lang="en-US" altLang="zh-CN" sz="2400" b="1" dirty="0">
              <a:solidFill>
                <a:srgbClr val="000000"/>
              </a:solidFill>
            </a:endParaRPr>
          </a:p>
          <a:p>
            <a:pPr lvl="0">
              <a:lnSpc>
                <a:spcPct val="95000"/>
              </a:lnSpc>
            </a:pPr>
            <a:r>
              <a:rPr lang="zh-CN" altLang="en-US" sz="2400" b="1" dirty="0">
                <a:solidFill>
                  <a:srgbClr val="000000"/>
                </a:solidFill>
              </a:rPr>
              <a:t>滤波器都可</a:t>
            </a:r>
            <a:endParaRPr lang="en-US" altLang="zh-CN" sz="2400" b="1" dirty="0">
              <a:solidFill>
                <a:srgbClr val="000000"/>
              </a:solidFill>
            </a:endParaRPr>
          </a:p>
          <a:p>
            <a:pPr lvl="0">
              <a:lnSpc>
                <a:spcPct val="95000"/>
              </a:lnSpc>
            </a:pPr>
            <a:r>
              <a:rPr lang="zh-CN" altLang="en-US" sz="2400" b="1" dirty="0">
                <a:solidFill>
                  <a:srgbClr val="000000"/>
                </a:solidFill>
              </a:rPr>
              <a:t>设计</a:t>
            </a:r>
          </a:p>
        </p:txBody>
      </p:sp>
      <p:cxnSp>
        <p:nvCxnSpPr>
          <p:cNvPr id="70" name="直接连接符 69"/>
          <p:cNvCxnSpPr/>
          <p:nvPr/>
        </p:nvCxnSpPr>
        <p:spPr>
          <a:xfrm>
            <a:off x="6705600" y="912006"/>
            <a:ext cx="0" cy="2052000"/>
          </a:xfrm>
          <a:prstGeom prst="line">
            <a:avLst/>
          </a:prstGeom>
          <a:noFill/>
          <a:ln w="6350" cap="flat" cmpd="sng" algn="ctr">
            <a:solidFill>
              <a:srgbClr val="4472C4"/>
            </a:solidFill>
            <a:prstDash val="solid"/>
            <a:miter lim="800000"/>
          </a:ln>
          <a:effectLst/>
        </p:spPr>
      </p:cxnSp>
      <p:sp>
        <p:nvSpPr>
          <p:cNvPr id="71" name="矩形 70"/>
          <p:cNvSpPr/>
          <p:nvPr/>
        </p:nvSpPr>
        <p:spPr>
          <a:xfrm>
            <a:off x="344155" y="981012"/>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sp>
        <p:nvSpPr>
          <p:cNvPr id="34"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2885763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6705600" y="5151120"/>
            <a:ext cx="2453640" cy="1706880"/>
          </a:xfrm>
          <a:prstGeom prst="rect">
            <a:avLst/>
          </a:prstGeom>
        </p:spPr>
      </p:pic>
      <p:sp>
        <p:nvSpPr>
          <p:cNvPr id="4" name="Text Box 2"/>
          <p:cNvSpPr txBox="1">
            <a:spLocks noChangeArrowheads="1"/>
          </p:cNvSpPr>
          <p:nvPr/>
        </p:nvSpPr>
        <p:spPr bwMode="auto">
          <a:xfrm>
            <a:off x="762000" y="838200"/>
            <a:ext cx="8077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例</a:t>
            </a:r>
            <a:r>
              <a:rPr kumimoji="1" lang="en-US" altLang="zh-CN" sz="2800" b="1" dirty="0">
                <a:solidFill>
                  <a:srgbClr val="000000"/>
                </a:solidFill>
                <a:latin typeface="Times New Roman" panose="02020603050405020304" pitchFamily="18" charset="0"/>
                <a:ea typeface="宋体" panose="02010600030101010101" pitchFamily="2" charset="-122"/>
              </a:rPr>
              <a:t>5.1  </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=5,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(0) =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(1) =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(3) =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(4) = -1/2,</a:t>
            </a:r>
            <a:r>
              <a:rPr kumimoji="1" lang="en-US" altLang="zh-CN" sz="2800" b="1" i="1" dirty="0">
                <a:solidFill>
                  <a:srgbClr val="000000"/>
                </a:solidFill>
                <a:latin typeface="Times New Roman" panose="02020603050405020304" pitchFamily="18" charset="0"/>
                <a:ea typeface="宋体" panose="02010600030101010101" pitchFamily="2" charset="-122"/>
              </a:rPr>
              <a:t> h</a:t>
            </a:r>
            <a:r>
              <a:rPr kumimoji="1" lang="en-US" altLang="zh-CN" sz="2800" b="1" dirty="0">
                <a:solidFill>
                  <a:srgbClr val="000000"/>
                </a:solidFill>
                <a:latin typeface="Times New Roman" panose="02020603050405020304" pitchFamily="18" charset="0"/>
                <a:ea typeface="宋体" panose="02010600030101010101" pitchFamily="2" charset="-122"/>
              </a:rPr>
              <a:t>(2) = 2</a:t>
            </a:r>
            <a:r>
              <a:rPr kumimoji="1" lang="zh-CN" altLang="en-US" sz="2800" b="1" dirty="0">
                <a:solidFill>
                  <a:srgbClr val="000000"/>
                </a:solidFill>
                <a:latin typeface="Times New Roman" panose="02020603050405020304" pitchFamily="18" charset="0"/>
                <a:ea typeface="宋体" panose="02010600030101010101" pitchFamily="2" charset="-122"/>
              </a:rPr>
              <a:t>， </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eaLnBrk="1" hangingPunct="1">
              <a:spcBef>
                <a:spcPct val="0"/>
              </a:spcBef>
              <a:buFontTx/>
              <a:buNone/>
            </a:pP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zh-CN" altLang="en-US" sz="2800" b="1" dirty="0">
                <a:solidFill>
                  <a:srgbClr val="000000"/>
                </a:solidFill>
                <a:latin typeface="Times New Roman" panose="02020603050405020304" pitchFamily="18" charset="0"/>
                <a:ea typeface="宋体" panose="02010600030101010101" pitchFamily="2" charset="-122"/>
              </a:rPr>
              <a:t>求幅度函数</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en-US" altLang="zh-CN" sz="2800" b="1" i="1" dirty="0">
                <a:solidFill>
                  <a:srgbClr val="000000"/>
                </a:solidFill>
                <a:latin typeface="Times New Roman" panose="02020603050405020304" pitchFamily="18" charset="0"/>
                <a:ea typeface="宋体" panose="02010600030101010101" pitchFamily="2" charset="-122"/>
              </a:rPr>
              <a:t>ω</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a:t>
            </a:r>
          </a:p>
        </p:txBody>
      </p:sp>
      <p:sp>
        <p:nvSpPr>
          <p:cNvPr id="5" name="矩形 4"/>
          <p:cNvSpPr/>
          <p:nvPr/>
        </p:nvSpPr>
        <p:spPr>
          <a:xfrm>
            <a:off x="762000" y="1789093"/>
            <a:ext cx="7127240" cy="954107"/>
          </a:xfrm>
          <a:prstGeom prst="rect">
            <a:avLst/>
          </a:prstGeom>
        </p:spPr>
        <p:txBody>
          <a:bodyPr wrap="square">
            <a:spAutoFit/>
          </a:bodyPr>
          <a:lstStyle/>
          <a:p>
            <a:pPr lvl="0" eaLnBrk="1" hangingPunct="1"/>
            <a:r>
              <a:rPr kumimoji="1" lang="zh-CN" altLang="en-US" sz="2800" b="1" dirty="0">
                <a:solidFill>
                  <a:srgbClr val="000000"/>
                </a:solidFill>
                <a:latin typeface="Times New Roman" panose="02020603050405020304" pitchFamily="18" charset="0"/>
                <a:ea typeface="宋体" panose="02010600030101010101" pitchFamily="2" charset="-122"/>
              </a:rPr>
              <a:t>解： </a:t>
            </a:r>
            <a:r>
              <a:rPr kumimoji="1" lang="en-US" altLang="zh-CN" sz="2800" b="1" i="1" dirty="0">
                <a:solidFill>
                  <a:srgbClr val="000000"/>
                </a:solidFill>
                <a:latin typeface="Times New Roman" panose="02020603050405020304" pitchFamily="18" charset="0"/>
                <a:ea typeface="宋体" panose="02010600030101010101" pitchFamily="2" charset="-122"/>
              </a:rPr>
              <a:t>h</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 偶对称，</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zh-CN" altLang="en-US" sz="2800" b="1" dirty="0">
                <a:solidFill>
                  <a:srgbClr val="000000"/>
                </a:solidFill>
                <a:latin typeface="Times New Roman" panose="02020603050405020304" pitchFamily="18" charset="0"/>
                <a:ea typeface="宋体" panose="02010600030101010101" pitchFamily="2" charset="-122"/>
              </a:rPr>
              <a:t>为奇数，</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lvl="0" eaLnBrk="1" hangingPunct="1"/>
            <a:r>
              <a:rPr kumimoji="1" lang="zh-CN" altLang="en-US" sz="2800" b="1" dirty="0">
                <a:solidFill>
                  <a:srgbClr val="000000"/>
                </a:solidFill>
                <a:latin typeface="Times New Roman" panose="02020603050405020304" pitchFamily="18" charset="0"/>
                <a:ea typeface="宋体" panose="02010600030101010101" pitchFamily="2" charset="-122"/>
              </a:rPr>
              <a:t>        是第一类线性相位</a:t>
            </a:r>
            <a:r>
              <a:rPr kumimoji="1" lang="en-US" altLang="zh-CN" sz="2800" b="1" dirty="0">
                <a:solidFill>
                  <a:srgbClr val="000000"/>
                </a:solidFill>
                <a:latin typeface="Times New Roman" panose="02020603050405020304" pitchFamily="18" charset="0"/>
                <a:ea typeface="宋体" panose="02010600030101010101" pitchFamily="2" charset="-122"/>
              </a:rPr>
              <a:t>FIR</a:t>
            </a:r>
            <a:r>
              <a:rPr kumimoji="1" lang="zh-CN" altLang="en-US" sz="2800" b="1" dirty="0">
                <a:solidFill>
                  <a:srgbClr val="000000"/>
                </a:solidFill>
                <a:latin typeface="Times New Roman" panose="02020603050405020304" pitchFamily="18" charset="0"/>
                <a:ea typeface="宋体" panose="02010600030101010101" pitchFamily="2" charset="-122"/>
              </a:rPr>
              <a:t>滤波器</a:t>
            </a:r>
            <a:endParaRPr kumimoji="1" lang="zh-CN" altLang="en-US" sz="2800" b="1" i="1" dirty="0">
              <a:solidFill>
                <a:srgbClr val="000000"/>
              </a:solidFill>
              <a:latin typeface="Times New Roman" panose="02020603050405020304" pitchFamily="18" charset="0"/>
              <a:ea typeface="宋体" panose="02010600030101010101" pitchFamily="2" charset="-122"/>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954258290"/>
              </p:ext>
            </p:extLst>
          </p:nvPr>
        </p:nvGraphicFramePr>
        <p:xfrm>
          <a:off x="533400" y="2667000"/>
          <a:ext cx="7227360" cy="2986956"/>
        </p:xfrm>
        <a:graphic>
          <a:graphicData uri="http://schemas.openxmlformats.org/presentationml/2006/ole">
            <mc:AlternateContent xmlns:mc="http://schemas.openxmlformats.org/markup-compatibility/2006">
              <mc:Choice xmlns:v="urn:schemas-microsoft-com:vml" Requires="v">
                <p:oleObj name="Equation" r:id="rId3" imgW="3441600" imgH="1422360" progId="Equation.DSMT4">
                  <p:embed/>
                </p:oleObj>
              </mc:Choice>
              <mc:Fallback>
                <p:oleObj name="Equation" r:id="rId3" imgW="3441600" imgH="1422360" progId="Equation.DSMT4">
                  <p:embed/>
                  <p:pic>
                    <p:nvPicPr>
                      <p:cNvPr id="6" name="Object 5"/>
                      <p:cNvPicPr>
                        <a:picLocks noChangeAspect="1" noChangeArrowheads="1"/>
                      </p:cNvPicPr>
                      <p:nvPr/>
                    </p:nvPicPr>
                    <p:blipFill>
                      <a:blip r:embed="rId4"/>
                      <a:srcRect/>
                      <a:stretch>
                        <a:fillRect/>
                      </a:stretch>
                    </p:blipFill>
                    <p:spPr bwMode="auto">
                      <a:xfrm>
                        <a:off x="533400" y="2667000"/>
                        <a:ext cx="7227360" cy="298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748900221"/>
              </p:ext>
            </p:extLst>
          </p:nvPr>
        </p:nvGraphicFramePr>
        <p:xfrm>
          <a:off x="339725" y="5867400"/>
          <a:ext cx="4079875" cy="446088"/>
        </p:xfrm>
        <a:graphic>
          <a:graphicData uri="http://schemas.openxmlformats.org/presentationml/2006/ole">
            <mc:AlternateContent xmlns:mc="http://schemas.openxmlformats.org/markup-compatibility/2006">
              <mc:Choice xmlns:v="urn:schemas-microsoft-com:vml" Requires="v">
                <p:oleObj name="Equation" r:id="rId5" imgW="1854000" imgH="203040" progId="Equation.DSMT4">
                  <p:embed/>
                </p:oleObj>
              </mc:Choice>
              <mc:Fallback>
                <p:oleObj name="Equation" r:id="rId5" imgW="1854000" imgH="203040" progId="Equation.DSMT4">
                  <p:embed/>
                  <p:pic>
                    <p:nvPicPr>
                      <p:cNvPr id="7" name="Object 7"/>
                      <p:cNvPicPr>
                        <a:picLocks noChangeAspect="1" noChangeArrowheads="1"/>
                      </p:cNvPicPr>
                      <p:nvPr/>
                    </p:nvPicPr>
                    <p:blipFill>
                      <a:blip r:embed="rId6"/>
                      <a:srcRect/>
                      <a:stretch>
                        <a:fillRect/>
                      </a:stretch>
                    </p:blipFill>
                    <p:spPr bwMode="auto">
                      <a:xfrm>
                        <a:off x="339725" y="5867400"/>
                        <a:ext cx="4079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7"/>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8"/>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5.1.2 </a:t>
            </a:r>
            <a:r>
              <a:rPr lang="zh-CN" altLang="en-US" b="1" dirty="0">
                <a:solidFill>
                  <a:srgbClr val="993300"/>
                </a:solidFill>
                <a:latin typeface="+mj-lt"/>
                <a:ea typeface="楷体_GB2312" pitchFamily="49" charset="-122"/>
              </a:rPr>
              <a:t>幅度特性</a:t>
            </a:r>
          </a:p>
        </p:txBody>
      </p:sp>
    </p:spTree>
    <p:extLst>
      <p:ext uri="{BB962C8B-B14F-4D97-AF65-F5344CB8AC3E}">
        <p14:creationId xmlns:p14="http://schemas.microsoft.com/office/powerpoint/2010/main" val="254819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graphicFrame>
        <p:nvGraphicFramePr>
          <p:cNvPr id="5" name="对象 9"/>
          <p:cNvGraphicFramePr>
            <a:graphicFrameLocks noChangeAspect="1"/>
          </p:cNvGraphicFramePr>
          <p:nvPr>
            <p:extLst>
              <p:ext uri="{D42A27DB-BD31-4B8C-83A1-F6EECF244321}">
                <p14:modId xmlns:p14="http://schemas.microsoft.com/office/powerpoint/2010/main" val="2044333385"/>
              </p:ext>
            </p:extLst>
          </p:nvPr>
        </p:nvGraphicFramePr>
        <p:xfrm>
          <a:off x="754557" y="2057400"/>
          <a:ext cx="5899150" cy="992188"/>
        </p:xfrm>
        <a:graphic>
          <a:graphicData uri="http://schemas.openxmlformats.org/presentationml/2006/ole">
            <mc:AlternateContent xmlns:mc="http://schemas.openxmlformats.org/markup-compatibility/2006">
              <mc:Choice xmlns:v="urn:schemas-microsoft-com:vml" Requires="v">
                <p:oleObj name="Equation" r:id="rId4" imgW="2565360" imgH="431640" progId="Equation.DSMT4">
                  <p:embed/>
                </p:oleObj>
              </mc:Choice>
              <mc:Fallback>
                <p:oleObj name="Equation" r:id="rId4" imgW="2565360" imgH="431640" progId="Equation.DSMT4">
                  <p:embed/>
                  <p:pic>
                    <p:nvPicPr>
                      <p:cNvPr id="5" name="对象 9"/>
                      <p:cNvPicPr>
                        <a:picLocks noChangeAspect="1" noChangeArrowheads="1"/>
                      </p:cNvPicPr>
                      <p:nvPr/>
                    </p:nvPicPr>
                    <p:blipFill>
                      <a:blip r:embed="rId5"/>
                      <a:srcRect/>
                      <a:stretch>
                        <a:fillRect/>
                      </a:stretch>
                    </p:blipFill>
                    <p:spPr bwMode="auto">
                      <a:xfrm>
                        <a:off x="754557" y="2057400"/>
                        <a:ext cx="589915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1265975980"/>
              </p:ext>
            </p:extLst>
          </p:nvPr>
        </p:nvGraphicFramePr>
        <p:xfrm>
          <a:off x="1666875" y="892175"/>
          <a:ext cx="2863850" cy="936625"/>
        </p:xfrm>
        <a:graphic>
          <a:graphicData uri="http://schemas.openxmlformats.org/presentationml/2006/ole">
            <mc:AlternateContent xmlns:mc="http://schemas.openxmlformats.org/markup-compatibility/2006">
              <mc:Choice xmlns:v="urn:schemas-microsoft-com:vml" Requires="v">
                <p:oleObj name="Equation" r:id="rId6" imgW="1244520" imgH="406080" progId="Equation.DSMT4">
                  <p:embed/>
                </p:oleObj>
              </mc:Choice>
              <mc:Fallback>
                <p:oleObj name="Equation" r:id="rId6" imgW="1244520" imgH="406080" progId="Equation.DSMT4">
                  <p:embed/>
                  <p:pic>
                    <p:nvPicPr>
                      <p:cNvPr id="6" name="Object 7"/>
                      <p:cNvPicPr>
                        <a:picLocks noChangeAspect="1" noChangeArrowheads="1"/>
                      </p:cNvPicPr>
                      <p:nvPr/>
                    </p:nvPicPr>
                    <p:blipFill>
                      <a:blip r:embed="rId7"/>
                      <a:srcRect/>
                      <a:stretch>
                        <a:fillRect/>
                      </a:stretch>
                    </p:blipFill>
                    <p:spPr bwMode="auto">
                      <a:xfrm>
                        <a:off x="1666875" y="892175"/>
                        <a:ext cx="28638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734875446"/>
              </p:ext>
            </p:extLst>
          </p:nvPr>
        </p:nvGraphicFramePr>
        <p:xfrm>
          <a:off x="1593387" y="5549172"/>
          <a:ext cx="3063875" cy="933450"/>
        </p:xfrm>
        <a:graphic>
          <a:graphicData uri="http://schemas.openxmlformats.org/presentationml/2006/ole">
            <mc:AlternateContent xmlns:mc="http://schemas.openxmlformats.org/markup-compatibility/2006">
              <mc:Choice xmlns:v="urn:schemas-microsoft-com:vml" Requires="v">
                <p:oleObj name="Equation" r:id="rId8" imgW="1333440" imgH="406080" progId="Equation.DSMT4">
                  <p:embed/>
                </p:oleObj>
              </mc:Choice>
              <mc:Fallback>
                <p:oleObj name="Equation" r:id="rId8" imgW="1333440" imgH="406080" progId="Equation.DSMT4">
                  <p:embed/>
                  <p:pic>
                    <p:nvPicPr>
                      <p:cNvPr id="7" name="Object 7"/>
                      <p:cNvPicPr>
                        <a:picLocks noChangeAspect="1" noChangeArrowheads="1"/>
                      </p:cNvPicPr>
                      <p:nvPr/>
                    </p:nvPicPr>
                    <p:blipFill>
                      <a:blip r:embed="rId9"/>
                      <a:srcRect/>
                      <a:stretch>
                        <a:fillRect/>
                      </a:stretch>
                    </p:blipFill>
                    <p:spPr bwMode="auto">
                      <a:xfrm>
                        <a:off x="1593387" y="5549172"/>
                        <a:ext cx="306387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9"/>
          <p:cNvGraphicFramePr>
            <a:graphicFrameLocks noChangeAspect="1"/>
          </p:cNvGraphicFramePr>
          <p:nvPr>
            <p:extLst>
              <p:ext uri="{D42A27DB-BD31-4B8C-83A1-F6EECF244321}">
                <p14:modId xmlns:p14="http://schemas.microsoft.com/office/powerpoint/2010/main" val="3779050411"/>
              </p:ext>
            </p:extLst>
          </p:nvPr>
        </p:nvGraphicFramePr>
        <p:xfrm>
          <a:off x="754557" y="3614136"/>
          <a:ext cx="3736975" cy="993775"/>
        </p:xfrm>
        <a:graphic>
          <a:graphicData uri="http://schemas.openxmlformats.org/presentationml/2006/ole">
            <mc:AlternateContent xmlns:mc="http://schemas.openxmlformats.org/markup-compatibility/2006">
              <mc:Choice xmlns:v="urn:schemas-microsoft-com:vml" Requires="v">
                <p:oleObj name="Equation" r:id="rId10" imgW="1625400" imgH="431640" progId="Equation.DSMT4">
                  <p:embed/>
                </p:oleObj>
              </mc:Choice>
              <mc:Fallback>
                <p:oleObj name="Equation" r:id="rId10" imgW="1625400" imgH="431640" progId="Equation.DSMT4">
                  <p:embed/>
                  <p:pic>
                    <p:nvPicPr>
                      <p:cNvPr id="8" name="对象 9"/>
                      <p:cNvPicPr>
                        <a:picLocks noChangeAspect="1" noChangeArrowheads="1"/>
                      </p:cNvPicPr>
                      <p:nvPr/>
                    </p:nvPicPr>
                    <p:blipFill>
                      <a:blip r:embed="rId11"/>
                      <a:srcRect/>
                      <a:stretch>
                        <a:fillRect/>
                      </a:stretch>
                    </p:blipFill>
                    <p:spPr bwMode="auto">
                      <a:xfrm>
                        <a:off x="754557" y="3614136"/>
                        <a:ext cx="373697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9"/>
          <p:cNvGraphicFramePr>
            <a:graphicFrameLocks noChangeAspect="1"/>
          </p:cNvGraphicFramePr>
          <p:nvPr>
            <p:extLst>
              <p:ext uri="{D42A27DB-BD31-4B8C-83A1-F6EECF244321}">
                <p14:modId xmlns:p14="http://schemas.microsoft.com/office/powerpoint/2010/main" val="3249188951"/>
              </p:ext>
            </p:extLst>
          </p:nvPr>
        </p:nvGraphicFramePr>
        <p:xfrm>
          <a:off x="4181096" y="3103317"/>
          <a:ext cx="2073275" cy="407987"/>
        </p:xfrm>
        <a:graphic>
          <a:graphicData uri="http://schemas.openxmlformats.org/presentationml/2006/ole">
            <mc:AlternateContent xmlns:mc="http://schemas.openxmlformats.org/markup-compatibility/2006">
              <mc:Choice xmlns:v="urn:schemas-microsoft-com:vml" Requires="v">
                <p:oleObj name="Equation" r:id="rId12" imgW="901440" imgH="177480" progId="Equation.DSMT4">
                  <p:embed/>
                </p:oleObj>
              </mc:Choice>
              <mc:Fallback>
                <p:oleObj name="Equation" r:id="rId12" imgW="901440" imgH="177480" progId="Equation.DSMT4">
                  <p:embed/>
                  <p:pic>
                    <p:nvPicPr>
                      <p:cNvPr id="9" name="对象 9"/>
                      <p:cNvPicPr>
                        <a:picLocks noChangeAspect="1" noChangeArrowheads="1"/>
                      </p:cNvPicPr>
                      <p:nvPr/>
                    </p:nvPicPr>
                    <p:blipFill>
                      <a:blip r:embed="rId13"/>
                      <a:srcRect/>
                      <a:stretch>
                        <a:fillRect/>
                      </a:stretch>
                    </p:blipFill>
                    <p:spPr bwMode="auto">
                      <a:xfrm>
                        <a:off x="4181096" y="3103317"/>
                        <a:ext cx="207327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矩形 9"/>
          <p:cNvSpPr/>
          <p:nvPr/>
        </p:nvSpPr>
        <p:spPr>
          <a:xfrm>
            <a:off x="3505200" y="3058180"/>
            <a:ext cx="545342"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panose="02010600030101010101" pitchFamily="2" charset="-122"/>
              </a:rPr>
              <a:t>令</a:t>
            </a:r>
            <a:endParaRPr lang="zh-CN" altLang="en-US" dirty="0"/>
          </a:p>
        </p:txBody>
      </p:sp>
      <p:graphicFrame>
        <p:nvGraphicFramePr>
          <p:cNvPr id="11" name="对象 9"/>
          <p:cNvGraphicFramePr>
            <a:graphicFrameLocks noChangeAspect="1"/>
          </p:cNvGraphicFramePr>
          <p:nvPr>
            <p:extLst>
              <p:ext uri="{D42A27DB-BD31-4B8C-83A1-F6EECF244321}">
                <p14:modId xmlns:p14="http://schemas.microsoft.com/office/powerpoint/2010/main" val="3971466113"/>
              </p:ext>
            </p:extLst>
          </p:nvPr>
        </p:nvGraphicFramePr>
        <p:xfrm>
          <a:off x="4454874" y="3602038"/>
          <a:ext cx="3622675" cy="1579562"/>
        </p:xfrm>
        <a:graphic>
          <a:graphicData uri="http://schemas.openxmlformats.org/presentationml/2006/ole">
            <mc:AlternateContent xmlns:mc="http://schemas.openxmlformats.org/markup-compatibility/2006">
              <mc:Choice xmlns:v="urn:schemas-microsoft-com:vml" Requires="v">
                <p:oleObj name="Equation" r:id="rId14" imgW="1574640" imgH="685800" progId="Equation.DSMT4">
                  <p:embed/>
                </p:oleObj>
              </mc:Choice>
              <mc:Fallback>
                <p:oleObj name="Equation" r:id="rId14" imgW="1574640" imgH="685800" progId="Equation.DSMT4">
                  <p:embed/>
                  <p:pic>
                    <p:nvPicPr>
                      <p:cNvPr id="11" name="对象 9"/>
                      <p:cNvPicPr>
                        <a:picLocks noChangeAspect="1" noChangeArrowheads="1"/>
                      </p:cNvPicPr>
                      <p:nvPr/>
                    </p:nvPicPr>
                    <p:blipFill>
                      <a:blip r:embed="rId15"/>
                      <a:srcRect/>
                      <a:stretch>
                        <a:fillRect/>
                      </a:stretch>
                    </p:blipFill>
                    <p:spPr bwMode="auto">
                      <a:xfrm>
                        <a:off x="4454874" y="3602038"/>
                        <a:ext cx="3622675" cy="157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对象 9"/>
          <p:cNvGraphicFramePr>
            <a:graphicFrameLocks noChangeAspect="1"/>
          </p:cNvGraphicFramePr>
          <p:nvPr>
            <p:extLst>
              <p:ext uri="{D42A27DB-BD31-4B8C-83A1-F6EECF244321}">
                <p14:modId xmlns:p14="http://schemas.microsoft.com/office/powerpoint/2010/main" val="11499905"/>
              </p:ext>
            </p:extLst>
          </p:nvPr>
        </p:nvGraphicFramePr>
        <p:xfrm>
          <a:off x="4657262" y="5792167"/>
          <a:ext cx="3740150" cy="527050"/>
        </p:xfrm>
        <a:graphic>
          <a:graphicData uri="http://schemas.openxmlformats.org/presentationml/2006/ole">
            <mc:AlternateContent xmlns:mc="http://schemas.openxmlformats.org/markup-compatibility/2006">
              <mc:Choice xmlns:v="urn:schemas-microsoft-com:vml" Requires="v">
                <p:oleObj name="Equation" r:id="rId16" imgW="1625400" imgH="228600" progId="Equation.DSMT4">
                  <p:embed/>
                </p:oleObj>
              </mc:Choice>
              <mc:Fallback>
                <p:oleObj name="Equation" r:id="rId16" imgW="1625400" imgH="228600" progId="Equation.DSMT4">
                  <p:embed/>
                  <p:pic>
                    <p:nvPicPr>
                      <p:cNvPr id="12" name="对象 9"/>
                      <p:cNvPicPr>
                        <a:picLocks noChangeAspect="1" noChangeArrowheads="1"/>
                      </p:cNvPicPr>
                      <p:nvPr/>
                    </p:nvPicPr>
                    <p:blipFill>
                      <a:blip r:embed="rId17"/>
                      <a:srcRect/>
                      <a:stretch>
                        <a:fillRect/>
                      </a:stretch>
                    </p:blipFill>
                    <p:spPr bwMode="auto">
                      <a:xfrm>
                        <a:off x="4657262" y="5792167"/>
                        <a:ext cx="37401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矩形 14"/>
          <p:cNvSpPr/>
          <p:nvPr/>
        </p:nvSpPr>
        <p:spPr>
          <a:xfrm>
            <a:off x="389383" y="5638800"/>
            <a:ext cx="1266693"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panose="02010600030101010101" pitchFamily="2" charset="-122"/>
              </a:rPr>
              <a:t>同理，</a:t>
            </a:r>
            <a:endParaRPr lang="zh-CN" altLang="en-US" dirty="0"/>
          </a:p>
        </p:txBody>
      </p:sp>
      <p:graphicFrame>
        <p:nvGraphicFramePr>
          <p:cNvPr id="16" name="对象 9"/>
          <p:cNvGraphicFramePr>
            <a:graphicFrameLocks noChangeAspect="1"/>
          </p:cNvGraphicFramePr>
          <p:nvPr>
            <p:extLst>
              <p:ext uri="{D42A27DB-BD31-4B8C-83A1-F6EECF244321}">
                <p14:modId xmlns:p14="http://schemas.microsoft.com/office/powerpoint/2010/main" val="964036133"/>
              </p:ext>
            </p:extLst>
          </p:nvPr>
        </p:nvGraphicFramePr>
        <p:xfrm>
          <a:off x="4819650" y="1103313"/>
          <a:ext cx="3536950" cy="527050"/>
        </p:xfrm>
        <a:graphic>
          <a:graphicData uri="http://schemas.openxmlformats.org/presentationml/2006/ole">
            <mc:AlternateContent xmlns:mc="http://schemas.openxmlformats.org/markup-compatibility/2006">
              <mc:Choice xmlns:v="urn:schemas-microsoft-com:vml" Requires="v">
                <p:oleObj name="Equation" r:id="rId18" imgW="1536480" imgH="228600" progId="Equation.DSMT4">
                  <p:embed/>
                </p:oleObj>
              </mc:Choice>
              <mc:Fallback>
                <p:oleObj name="Equation" r:id="rId18" imgW="1536480" imgH="228600" progId="Equation.DSMT4">
                  <p:embed/>
                  <p:pic>
                    <p:nvPicPr>
                      <p:cNvPr id="16" name="对象 9"/>
                      <p:cNvPicPr>
                        <a:picLocks noChangeAspect="1" noChangeArrowheads="1"/>
                      </p:cNvPicPr>
                      <p:nvPr/>
                    </p:nvPicPr>
                    <p:blipFill>
                      <a:blip r:embed="rId19"/>
                      <a:srcRect/>
                      <a:stretch>
                        <a:fillRect/>
                      </a:stretch>
                    </p:blipFill>
                    <p:spPr bwMode="auto">
                      <a:xfrm>
                        <a:off x="4819650" y="1103313"/>
                        <a:ext cx="35369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195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1517122598"/>
              </p:ext>
            </p:extLst>
          </p:nvPr>
        </p:nvGraphicFramePr>
        <p:xfrm>
          <a:off x="2546397" y="1981200"/>
          <a:ext cx="3329388" cy="525780"/>
        </p:xfrm>
        <a:graphic>
          <a:graphicData uri="http://schemas.openxmlformats.org/presentationml/2006/ole">
            <mc:AlternateContent xmlns:mc="http://schemas.openxmlformats.org/markup-compatibility/2006">
              <mc:Choice xmlns:v="urn:schemas-microsoft-com:vml" Requires="v">
                <p:oleObj name="Equation" r:id="rId2" imgW="1447560" imgH="228600" progId="Equation.DSMT4">
                  <p:embed/>
                </p:oleObj>
              </mc:Choice>
              <mc:Fallback>
                <p:oleObj name="Equation" r:id="rId2" imgW="1447560" imgH="228600" progId="Equation.DSMT4">
                  <p:embed/>
                  <p:pic>
                    <p:nvPicPr>
                      <p:cNvPr id="4" name="Object 3"/>
                      <p:cNvPicPr>
                        <a:picLocks noChangeAspect="1" noChangeArrowheads="1"/>
                      </p:cNvPicPr>
                      <p:nvPr/>
                    </p:nvPicPr>
                    <p:blipFill>
                      <a:blip r:embed="rId3"/>
                      <a:srcRect/>
                      <a:stretch>
                        <a:fillRect/>
                      </a:stretch>
                    </p:blipFill>
                    <p:spPr bwMode="auto">
                      <a:xfrm>
                        <a:off x="2546397" y="1981200"/>
                        <a:ext cx="3329388" cy="525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矩形 4"/>
          <p:cNvSpPr/>
          <p:nvPr/>
        </p:nvSpPr>
        <p:spPr>
          <a:xfrm>
            <a:off x="381000" y="1219200"/>
            <a:ext cx="3328155" cy="523220"/>
          </a:xfrm>
          <a:prstGeom prst="rect">
            <a:avLst/>
          </a:prstGeom>
        </p:spPr>
        <p:txBody>
          <a:bodyPr wrap="none">
            <a:spAutoFit/>
          </a:bodyPr>
          <a:lstStyle/>
          <a:p>
            <a:pPr lvl="0" eaLnBrk="1" hangingPunct="1"/>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线性相位</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a:t>
            </a:r>
          </a:p>
        </p:txBody>
      </p:sp>
      <p:graphicFrame>
        <p:nvGraphicFramePr>
          <p:cNvPr id="9" name="对象 27"/>
          <p:cNvGraphicFramePr>
            <a:graphicFrameLocks noChangeAspect="1"/>
          </p:cNvGraphicFramePr>
          <p:nvPr>
            <p:extLst>
              <p:ext uri="{D42A27DB-BD31-4B8C-83A1-F6EECF244321}">
                <p14:modId xmlns:p14="http://schemas.microsoft.com/office/powerpoint/2010/main" val="3520775285"/>
              </p:ext>
            </p:extLst>
          </p:nvPr>
        </p:nvGraphicFramePr>
        <p:xfrm>
          <a:off x="381000" y="4678363"/>
          <a:ext cx="1036637" cy="579437"/>
        </p:xfrm>
        <a:graphic>
          <a:graphicData uri="http://schemas.openxmlformats.org/presentationml/2006/ole">
            <mc:AlternateContent xmlns:mc="http://schemas.openxmlformats.org/markup-compatibility/2006">
              <mc:Choice xmlns:v="urn:schemas-microsoft-com:vml" Requires="v">
                <p:oleObj name="Equation" r:id="rId4" imgW="431640" imgH="241200" progId="Equation.DSMT4">
                  <p:embed/>
                </p:oleObj>
              </mc:Choice>
              <mc:Fallback>
                <p:oleObj name="Equation" r:id="rId4" imgW="431640" imgH="241200" progId="Equation.DSMT4">
                  <p:embed/>
                  <p:pic>
                    <p:nvPicPr>
                      <p:cNvPr id="9" name="对象 27"/>
                      <p:cNvPicPr>
                        <a:picLocks noChangeAspect="1" noChangeArrowheads="1"/>
                      </p:cNvPicPr>
                      <p:nvPr/>
                    </p:nvPicPr>
                    <p:blipFill>
                      <a:blip r:embed="rId5"/>
                      <a:srcRect/>
                      <a:stretch>
                        <a:fillRect/>
                      </a:stretch>
                    </p:blipFill>
                    <p:spPr bwMode="auto">
                      <a:xfrm>
                        <a:off x="381000" y="4678363"/>
                        <a:ext cx="10366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29"/>
          <p:cNvGraphicFramePr>
            <a:graphicFrameLocks noChangeAspect="1"/>
          </p:cNvGraphicFramePr>
          <p:nvPr>
            <p:extLst>
              <p:ext uri="{D42A27DB-BD31-4B8C-83A1-F6EECF244321}">
                <p14:modId xmlns:p14="http://schemas.microsoft.com/office/powerpoint/2010/main" val="3757547796"/>
              </p:ext>
            </p:extLst>
          </p:nvPr>
        </p:nvGraphicFramePr>
        <p:xfrm>
          <a:off x="1524000" y="4525963"/>
          <a:ext cx="1038225" cy="1036637"/>
        </p:xfrm>
        <a:graphic>
          <a:graphicData uri="http://schemas.openxmlformats.org/presentationml/2006/ole">
            <mc:AlternateContent xmlns:mc="http://schemas.openxmlformats.org/markup-compatibility/2006">
              <mc:Choice xmlns:v="urn:schemas-microsoft-com:vml" Requires="v">
                <p:oleObj name="Equation" r:id="rId6" imgW="431640" imgH="431640" progId="Equation.DSMT4">
                  <p:embed/>
                </p:oleObj>
              </mc:Choice>
              <mc:Fallback>
                <p:oleObj name="Equation" r:id="rId6" imgW="431640" imgH="431640" progId="Equation.DSMT4">
                  <p:embed/>
                  <p:pic>
                    <p:nvPicPr>
                      <p:cNvPr id="10" name="对象 29"/>
                      <p:cNvPicPr>
                        <a:picLocks noChangeAspect="1" noChangeArrowheads="1"/>
                      </p:cNvPicPr>
                      <p:nvPr/>
                    </p:nvPicPr>
                    <p:blipFill>
                      <a:blip r:embed="rId7"/>
                      <a:srcRect/>
                      <a:stretch>
                        <a:fillRect/>
                      </a:stretch>
                    </p:blipFill>
                    <p:spPr bwMode="auto">
                      <a:xfrm>
                        <a:off x="1524000" y="4525963"/>
                        <a:ext cx="103822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2"/>
          <p:cNvGrpSpPr>
            <a:grpSpLocks/>
          </p:cNvGrpSpPr>
          <p:nvPr/>
        </p:nvGrpSpPr>
        <p:grpSpPr bwMode="auto">
          <a:xfrm>
            <a:off x="302743" y="2936591"/>
            <a:ext cx="8765057" cy="1506839"/>
            <a:chOff x="304800" y="1285898"/>
            <a:chExt cx="8713787" cy="1506226"/>
          </a:xfrm>
        </p:grpSpPr>
        <p:sp>
          <p:nvSpPr>
            <p:cNvPr id="12" name="Rectangle 7"/>
            <p:cNvSpPr>
              <a:spLocks noChangeArrowheads="1"/>
            </p:cNvSpPr>
            <p:nvPr/>
          </p:nvSpPr>
          <p:spPr bwMode="auto">
            <a:xfrm>
              <a:off x="304800" y="1335651"/>
              <a:ext cx="8713787" cy="1456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1200"/>
                </a:spcBef>
                <a:buClrTx/>
                <a:buSzTx/>
                <a:buFontTx/>
                <a:buNone/>
                <a:defRPr/>
              </a:pP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若</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 </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     </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是</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H</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的零点，则 </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 </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     </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也一定是</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H</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的零点；</a:t>
              </a:r>
              <a:endParaRPr kumimoji="1" lang="en-US" altLang="zh-CN" sz="2800" b="1" dirty="0">
                <a:solidFill>
                  <a:srgbClr val="000000"/>
                </a:solidFill>
                <a:latin typeface="Times New Roman" panose="02020603050405020304" pitchFamily="18" charset="0"/>
                <a:ea typeface="宋体"/>
                <a:cs typeface="Times New Roman" panose="02020603050405020304" pitchFamily="18" charset="0"/>
              </a:endParaRPr>
            </a:p>
            <a:p>
              <a:pPr eaLnBrk="1" hangingPunct="1">
                <a:lnSpc>
                  <a:spcPct val="150000"/>
                </a:lnSpc>
                <a:spcBef>
                  <a:spcPts val="1200"/>
                </a:spcBef>
                <a:buClrTx/>
                <a:buSzTx/>
                <a:buFontTx/>
                <a:buNone/>
                <a:defRPr/>
              </a:pP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另由于</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h</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n</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是实序列，</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 H</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的零点共轭成对出现，所以 </a:t>
              </a:r>
            </a:p>
          </p:txBody>
        </p:sp>
        <p:graphicFrame>
          <p:nvGraphicFramePr>
            <p:cNvPr id="13" name="Object 8"/>
            <p:cNvGraphicFramePr>
              <a:graphicFrameLocks noChangeAspect="1"/>
            </p:cNvGraphicFramePr>
            <p:nvPr>
              <p:extLst>
                <p:ext uri="{D42A27DB-BD31-4B8C-83A1-F6EECF244321}">
                  <p14:modId xmlns:p14="http://schemas.microsoft.com/office/powerpoint/2010/main" val="1677593782"/>
                </p:ext>
              </p:extLst>
            </p:nvPr>
          </p:nvGraphicFramePr>
          <p:xfrm>
            <a:off x="1244712" y="1486401"/>
            <a:ext cx="306174" cy="503033"/>
          </p:xfrm>
          <a:graphic>
            <a:graphicData uri="http://schemas.openxmlformats.org/presentationml/2006/ole">
              <mc:AlternateContent xmlns:mc="http://schemas.openxmlformats.org/markup-compatibility/2006">
                <mc:Choice xmlns:v="urn:schemas-microsoft-com:vml" Requires="v">
                  <p:oleObj name="Equation" r:id="rId8" imgW="139680" imgH="228600" progId="Equation.DSMT4">
                    <p:embed/>
                  </p:oleObj>
                </mc:Choice>
                <mc:Fallback>
                  <p:oleObj name="Equation" r:id="rId8" imgW="139680" imgH="228600" progId="Equation.DSMT4">
                    <p:embed/>
                    <p:pic>
                      <p:nvPicPr>
                        <p:cNvPr id="13" name="Object 8"/>
                        <p:cNvPicPr>
                          <a:picLocks noChangeAspect="1" noChangeArrowheads="1"/>
                        </p:cNvPicPr>
                        <p:nvPr/>
                      </p:nvPicPr>
                      <p:blipFill>
                        <a:blip r:embed="rId9"/>
                        <a:srcRect/>
                        <a:stretch>
                          <a:fillRect/>
                        </a:stretch>
                      </p:blipFill>
                      <p:spPr bwMode="auto">
                        <a:xfrm>
                          <a:off x="1244712" y="1486401"/>
                          <a:ext cx="306174" cy="5030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9"/>
            <p:cNvGraphicFramePr>
              <a:graphicFrameLocks noChangeAspect="1"/>
            </p:cNvGraphicFramePr>
            <p:nvPr>
              <p:extLst>
                <p:ext uri="{D42A27DB-BD31-4B8C-83A1-F6EECF244321}">
                  <p14:modId xmlns:p14="http://schemas.microsoft.com/office/powerpoint/2010/main" val="2614522456"/>
                </p:ext>
              </p:extLst>
            </p:nvPr>
          </p:nvGraphicFramePr>
          <p:xfrm>
            <a:off x="4944046" y="1285898"/>
            <a:ext cx="388172" cy="949221"/>
          </p:xfrm>
          <a:graphic>
            <a:graphicData uri="http://schemas.openxmlformats.org/presentationml/2006/ole">
              <mc:AlternateContent xmlns:mc="http://schemas.openxmlformats.org/markup-compatibility/2006">
                <mc:Choice xmlns:v="urn:schemas-microsoft-com:vml" Requires="v">
                  <p:oleObj name="Equation" r:id="rId10" imgW="177480" imgH="431640" progId="Equation.DSMT4">
                    <p:embed/>
                  </p:oleObj>
                </mc:Choice>
                <mc:Fallback>
                  <p:oleObj name="Equation" r:id="rId10" imgW="177480" imgH="431640" progId="Equation.DSMT4">
                    <p:embed/>
                    <p:pic>
                      <p:nvPicPr>
                        <p:cNvPr id="14" name="Object 9"/>
                        <p:cNvPicPr>
                          <a:picLocks noChangeAspect="1" noChangeArrowheads="1"/>
                        </p:cNvPicPr>
                        <p:nvPr/>
                      </p:nvPicPr>
                      <p:blipFill>
                        <a:blip r:embed="rId11"/>
                        <a:srcRect/>
                        <a:stretch>
                          <a:fillRect/>
                        </a:stretch>
                      </p:blipFill>
                      <p:spPr bwMode="auto">
                        <a:xfrm>
                          <a:off x="4944046" y="1285898"/>
                          <a:ext cx="388172" cy="949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矩形 15"/>
          <p:cNvSpPr/>
          <p:nvPr/>
        </p:nvSpPr>
        <p:spPr>
          <a:xfrm>
            <a:off x="2590800" y="4706471"/>
            <a:ext cx="234872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也是其零点。</a:t>
            </a:r>
            <a:endParaRPr kumimoji="0" lang="zh-CN" altLang="en-US" sz="2000" b="1"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15"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3807802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4419600" y="2669201"/>
            <a:ext cx="4699216" cy="3807799"/>
            <a:chOff x="49761" y="2638721"/>
            <a:chExt cx="4699216" cy="3807799"/>
          </a:xfrm>
        </p:grpSpPr>
        <p:sp>
          <p:nvSpPr>
            <p:cNvPr id="17" name="Oval 8"/>
            <p:cNvSpPr>
              <a:spLocks noChangeArrowheads="1"/>
            </p:cNvSpPr>
            <p:nvPr/>
          </p:nvSpPr>
          <p:spPr bwMode="auto">
            <a:xfrm>
              <a:off x="676241" y="3786186"/>
              <a:ext cx="2344737" cy="2209800"/>
            </a:xfrm>
            <a:prstGeom prst="ellipse">
              <a:avLst/>
            </a:prstGeom>
            <a:noFill/>
            <a:ln w="9525">
              <a:solidFill>
                <a:sysClr val="windowText" lastClr="000000"/>
              </a:solidFill>
              <a:round/>
              <a:headEnd/>
              <a:tailEnd/>
            </a:ln>
          </p:spPr>
          <p:txBody>
            <a:bodyPr wrap="none" anchor="ct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ea typeface="宋体"/>
              </a:endParaRPr>
            </a:p>
          </p:txBody>
        </p:sp>
        <p:sp>
          <p:nvSpPr>
            <p:cNvPr id="18" name="Line 9"/>
            <p:cNvSpPr>
              <a:spLocks noChangeShapeType="1"/>
            </p:cNvSpPr>
            <p:nvPr/>
          </p:nvSpPr>
          <p:spPr bwMode="auto">
            <a:xfrm>
              <a:off x="1801782" y="3100386"/>
              <a:ext cx="8723" cy="3346134"/>
            </a:xfrm>
            <a:prstGeom prst="line">
              <a:avLst/>
            </a:prstGeom>
            <a:noFill/>
            <a:ln w="9525">
              <a:solidFill>
                <a:sysClr val="windowText" lastClr="00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19" name="Line 10"/>
            <p:cNvSpPr>
              <a:spLocks noChangeShapeType="1"/>
            </p:cNvSpPr>
            <p:nvPr/>
          </p:nvSpPr>
          <p:spPr bwMode="auto">
            <a:xfrm>
              <a:off x="49761" y="4915822"/>
              <a:ext cx="3809428" cy="14952"/>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0" name="Text Box 11"/>
            <p:cNvSpPr txBox="1">
              <a:spLocks noChangeArrowheads="1"/>
            </p:cNvSpPr>
            <p:nvPr/>
          </p:nvSpPr>
          <p:spPr bwMode="auto">
            <a:xfrm>
              <a:off x="1801783" y="4915822"/>
              <a:ext cx="25082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a:ea typeface="宋体" panose="02010600030101010101" pitchFamily="2" charset="-122"/>
                </a:rPr>
                <a:t>0</a:t>
              </a:r>
            </a:p>
          </p:txBody>
        </p:sp>
        <p:sp>
          <p:nvSpPr>
            <p:cNvPr id="21" name="Text Box 17"/>
            <p:cNvSpPr txBox="1">
              <a:spLocks noChangeArrowheads="1"/>
            </p:cNvSpPr>
            <p:nvPr/>
          </p:nvSpPr>
          <p:spPr bwMode="auto">
            <a:xfrm>
              <a:off x="3869499" y="4702472"/>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a:ea typeface="宋体" panose="02010600030101010101" pitchFamily="2" charset="-122"/>
                </a:rPr>
                <a:t>Re[</a:t>
              </a:r>
              <a:r>
                <a:rPr kumimoji="0" lang="en-US" altLang="zh-CN" sz="2400" b="1" i="1" u="none" strike="noStrike" kern="0" cap="none" spc="0" normalizeH="0" baseline="0" noProof="0" dirty="0">
                  <a:ln>
                    <a:noFill/>
                  </a:ln>
                  <a:solidFill>
                    <a:prstClr val="black"/>
                  </a:solidFill>
                  <a:effectLst/>
                  <a:uLnTx/>
                  <a:uFillTx/>
                  <a:latin typeface="Times New Roman"/>
                  <a:ea typeface="宋体" panose="02010600030101010101" pitchFamily="2" charset="-122"/>
                </a:rPr>
                <a:t>z</a:t>
              </a:r>
              <a:r>
                <a:rPr kumimoji="0" lang="en-US" altLang="zh-CN" sz="2400" b="1" u="none" strike="noStrike" kern="0" cap="none" spc="0" normalizeH="0" baseline="0" noProof="0" dirty="0">
                  <a:ln>
                    <a:noFill/>
                  </a:ln>
                  <a:solidFill>
                    <a:prstClr val="black"/>
                  </a:solidFill>
                  <a:effectLst/>
                  <a:uLnTx/>
                  <a:uFillTx/>
                  <a:latin typeface="Times New Roman"/>
                  <a:ea typeface="宋体" panose="02010600030101010101" pitchFamily="2" charset="-122"/>
                </a:rPr>
                <a:t>]</a:t>
              </a:r>
              <a:endParaRPr kumimoji="0" lang="en-US" altLang="zh-CN" sz="2000" b="1" u="none" strike="noStrike" kern="0" cap="none" spc="0" normalizeH="0" baseline="0" noProof="0" dirty="0">
                <a:ln>
                  <a:noFill/>
                </a:ln>
                <a:solidFill>
                  <a:prstClr val="black"/>
                </a:solidFill>
                <a:effectLst/>
                <a:uLnTx/>
                <a:uFillTx/>
                <a:latin typeface="Times New Roman"/>
                <a:ea typeface="宋体" panose="02010600030101010101" pitchFamily="2" charset="-122"/>
              </a:endParaRPr>
            </a:p>
          </p:txBody>
        </p:sp>
        <p:sp>
          <p:nvSpPr>
            <p:cNvPr id="22" name="Text Box 17"/>
            <p:cNvSpPr txBox="1">
              <a:spLocks noChangeArrowheads="1"/>
            </p:cNvSpPr>
            <p:nvPr/>
          </p:nvSpPr>
          <p:spPr bwMode="auto">
            <a:xfrm>
              <a:off x="1408870" y="2638721"/>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1" u="none" strike="noStrike" kern="0" cap="none" spc="0" normalizeH="0" baseline="0" noProof="0" dirty="0">
                  <a:ln>
                    <a:noFill/>
                  </a:ln>
                  <a:solidFill>
                    <a:prstClr val="black"/>
                  </a:solidFill>
                  <a:effectLst/>
                  <a:uLnTx/>
                  <a:uFillTx/>
                  <a:latin typeface="Times New Roman"/>
                  <a:ea typeface="宋体" panose="02010600030101010101" pitchFamily="2" charset="-122"/>
                </a:rPr>
                <a:t>j</a:t>
              </a:r>
              <a:r>
                <a:rPr kumimoji="0" lang="en-US" altLang="zh-CN" sz="900" b="1" i="1" u="none" strike="noStrike" kern="0" cap="none" spc="0" normalizeH="0" baseline="0" noProof="0" dirty="0">
                  <a:ln>
                    <a:noFill/>
                  </a:ln>
                  <a:solidFill>
                    <a:prstClr val="black"/>
                  </a:solidFill>
                  <a:effectLst/>
                  <a:uLnTx/>
                  <a:uFillTx/>
                  <a:latin typeface="Times New Roman"/>
                  <a:ea typeface="宋体" panose="02010600030101010101" pitchFamily="2" charset="-122"/>
                </a:rPr>
                <a:t> </a:t>
              </a:r>
              <a:r>
                <a:rPr kumimoji="0" lang="en-US" altLang="zh-CN" sz="2400" b="1" i="0" u="none" strike="noStrike" kern="0" cap="none" spc="0" normalizeH="0" baseline="0" noProof="0" dirty="0" err="1">
                  <a:ln>
                    <a:noFill/>
                  </a:ln>
                  <a:solidFill>
                    <a:prstClr val="black"/>
                  </a:solidFill>
                  <a:effectLst/>
                  <a:uLnTx/>
                  <a:uFillTx/>
                  <a:latin typeface="Times New Roman"/>
                  <a:ea typeface="宋体" panose="02010600030101010101" pitchFamily="2" charset="-122"/>
                </a:rPr>
                <a:t>Im</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endParaRPr lang="en-US" altLang="zh-CN" b="1" kern="0" dirty="0">
                <a:solidFill>
                  <a:prstClr val="black"/>
                </a:solidFill>
                <a:latin typeface="Times New Roman"/>
              </a:endParaRPr>
            </a:p>
          </p:txBody>
        </p:sp>
      </p:grpSp>
      <p:graphicFrame>
        <p:nvGraphicFramePr>
          <p:cNvPr id="23" name="对象 22"/>
          <p:cNvGraphicFramePr>
            <a:graphicFrameLocks noChangeAspect="1"/>
          </p:cNvGraphicFramePr>
          <p:nvPr>
            <p:extLst>
              <p:ext uri="{D42A27DB-BD31-4B8C-83A1-F6EECF244321}">
                <p14:modId xmlns:p14="http://schemas.microsoft.com/office/powerpoint/2010/main" val="2266792646"/>
              </p:ext>
            </p:extLst>
          </p:nvPr>
        </p:nvGraphicFramePr>
        <p:xfrm>
          <a:off x="7287466" y="3708608"/>
          <a:ext cx="197856" cy="212976"/>
        </p:xfrm>
        <a:graphic>
          <a:graphicData uri="http://schemas.openxmlformats.org/presentationml/2006/ole">
            <mc:AlternateContent xmlns:mc="http://schemas.openxmlformats.org/markup-compatibility/2006">
              <mc:Choice xmlns:v="urn:schemas-microsoft-com:vml" Requires="v">
                <p:oleObj name="Equation" r:id="rId2" imgW="164880" imgH="177480" progId="Equation.DSMT4">
                  <p:embed/>
                </p:oleObj>
              </mc:Choice>
              <mc:Fallback>
                <p:oleObj name="Equation" r:id="rId2" imgW="164880" imgH="177480" progId="Equation.DSMT4">
                  <p:embed/>
                  <p:pic>
                    <p:nvPicPr>
                      <p:cNvPr id="23" name="对象 22"/>
                      <p:cNvPicPr/>
                      <p:nvPr/>
                    </p:nvPicPr>
                    <p:blipFill>
                      <a:blip r:embed="rId3"/>
                      <a:stretch>
                        <a:fillRect/>
                      </a:stretch>
                    </p:blipFill>
                    <p:spPr>
                      <a:xfrm>
                        <a:off x="7287466" y="3708608"/>
                        <a:ext cx="197856" cy="212976"/>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732707476"/>
              </p:ext>
            </p:extLst>
          </p:nvPr>
        </p:nvGraphicFramePr>
        <p:xfrm>
          <a:off x="6712266" y="5372304"/>
          <a:ext cx="197856" cy="212976"/>
        </p:xfrm>
        <a:graphic>
          <a:graphicData uri="http://schemas.openxmlformats.org/presentationml/2006/ole">
            <mc:AlternateContent xmlns:mc="http://schemas.openxmlformats.org/markup-compatibility/2006">
              <mc:Choice xmlns:v="urn:schemas-microsoft-com:vml" Requires="v">
                <p:oleObj name="Equation" r:id="rId4" imgW="164880" imgH="177480" progId="Equation.DSMT4">
                  <p:embed/>
                </p:oleObj>
              </mc:Choice>
              <mc:Fallback>
                <p:oleObj name="Equation" r:id="rId4" imgW="164880" imgH="177480" progId="Equation.DSMT4">
                  <p:embed/>
                  <p:pic>
                    <p:nvPicPr>
                      <p:cNvPr id="24" name="对象 23"/>
                      <p:cNvPicPr/>
                      <p:nvPr/>
                    </p:nvPicPr>
                    <p:blipFill>
                      <a:blip r:embed="rId5"/>
                      <a:stretch>
                        <a:fillRect/>
                      </a:stretch>
                    </p:blipFill>
                    <p:spPr>
                      <a:xfrm>
                        <a:off x="6712266" y="5372304"/>
                        <a:ext cx="197856" cy="212976"/>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534119986"/>
              </p:ext>
            </p:extLst>
          </p:nvPr>
        </p:nvGraphicFramePr>
        <p:xfrm>
          <a:off x="7305885" y="5911747"/>
          <a:ext cx="197856" cy="212976"/>
        </p:xfrm>
        <a:graphic>
          <a:graphicData uri="http://schemas.openxmlformats.org/presentationml/2006/ole">
            <mc:AlternateContent xmlns:mc="http://schemas.openxmlformats.org/markup-compatibility/2006">
              <mc:Choice xmlns:v="urn:schemas-microsoft-com:vml" Requires="v">
                <p:oleObj name="Equation" r:id="rId6" imgW="164880" imgH="177480" progId="Equation.DSMT4">
                  <p:embed/>
                </p:oleObj>
              </mc:Choice>
              <mc:Fallback>
                <p:oleObj name="Equation" r:id="rId6" imgW="164880" imgH="177480" progId="Equation.DSMT4">
                  <p:embed/>
                  <p:pic>
                    <p:nvPicPr>
                      <p:cNvPr id="25" name="对象 24"/>
                      <p:cNvPicPr/>
                      <p:nvPr/>
                    </p:nvPicPr>
                    <p:blipFill>
                      <a:blip r:embed="rId7"/>
                      <a:stretch>
                        <a:fillRect/>
                      </a:stretch>
                    </p:blipFill>
                    <p:spPr>
                      <a:xfrm>
                        <a:off x="7305885" y="5911747"/>
                        <a:ext cx="197856" cy="212976"/>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159006717"/>
              </p:ext>
            </p:extLst>
          </p:nvPr>
        </p:nvGraphicFramePr>
        <p:xfrm>
          <a:off x="6712416" y="4260044"/>
          <a:ext cx="197856" cy="212976"/>
        </p:xfrm>
        <a:graphic>
          <a:graphicData uri="http://schemas.openxmlformats.org/presentationml/2006/ole">
            <mc:AlternateContent xmlns:mc="http://schemas.openxmlformats.org/markup-compatibility/2006">
              <mc:Choice xmlns:v="urn:schemas-microsoft-com:vml" Requires="v">
                <p:oleObj name="Equation" r:id="rId8" imgW="164880" imgH="177480" progId="Equation.DSMT4">
                  <p:embed/>
                </p:oleObj>
              </mc:Choice>
              <mc:Fallback>
                <p:oleObj name="Equation" r:id="rId8" imgW="164880" imgH="177480" progId="Equation.DSMT4">
                  <p:embed/>
                  <p:pic>
                    <p:nvPicPr>
                      <p:cNvPr id="26" name="对象 25"/>
                      <p:cNvPicPr/>
                      <p:nvPr/>
                    </p:nvPicPr>
                    <p:blipFill>
                      <a:blip r:embed="rId9"/>
                      <a:stretch>
                        <a:fillRect/>
                      </a:stretch>
                    </p:blipFill>
                    <p:spPr>
                      <a:xfrm>
                        <a:off x="6712416" y="4260044"/>
                        <a:ext cx="197856" cy="212976"/>
                      </a:xfrm>
                      <a:prstGeom prst="rect">
                        <a:avLst/>
                      </a:prstGeom>
                    </p:spPr>
                  </p:pic>
                </p:oleObj>
              </mc:Fallback>
            </mc:AlternateContent>
          </a:graphicData>
        </a:graphic>
      </p:graphicFrame>
      <p:sp>
        <p:nvSpPr>
          <p:cNvPr id="28" name="矩形 27"/>
          <p:cNvSpPr/>
          <p:nvPr/>
        </p:nvSpPr>
        <p:spPr>
          <a:xfrm>
            <a:off x="533400" y="847272"/>
            <a:ext cx="3430747" cy="523220"/>
          </a:xfrm>
          <a:prstGeom prst="rect">
            <a:avLst/>
          </a:prstGeom>
        </p:spPr>
        <p:txBody>
          <a:bodyPr wrap="none">
            <a:spAutoFit/>
          </a:bodyPr>
          <a:lstStyle/>
          <a:p>
            <a:pPr lvl="0" algn="just" eaLnBrk="1" hangingPunct="1"/>
            <a:r>
              <a:rPr kumimoji="1" lang="zh-CN" altLang="en-US" sz="2800" b="1" dirty="0">
                <a:solidFill>
                  <a:srgbClr val="000000"/>
                </a:solidFill>
                <a:latin typeface="Times New Roman" panose="02020603050405020304" pitchFamily="18" charset="0"/>
                <a:ea typeface="宋体" panose="02010600030101010101" pitchFamily="2" charset="-122"/>
              </a:rPr>
              <a:t>有四种可能的情况：</a:t>
            </a:r>
          </a:p>
        </p:txBody>
      </p:sp>
      <p:sp>
        <p:nvSpPr>
          <p:cNvPr id="29" name="矩形 28"/>
          <p:cNvSpPr/>
          <p:nvPr/>
        </p:nvSpPr>
        <p:spPr>
          <a:xfrm>
            <a:off x="488996" y="1366771"/>
            <a:ext cx="8350204" cy="95410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①</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zh-CN" altLang="en-US" sz="2800" b="1" kern="0" dirty="0">
                <a:solidFill>
                  <a:srgbClr val="000000"/>
                </a:solidFill>
                <a:latin typeface="Times New Roman" panose="02020603050405020304" pitchFamily="18" charset="0"/>
                <a:ea typeface="宋体" panose="02010600030101010101" pitchFamily="2" charset="-122"/>
              </a:rPr>
              <a:t>既不在实轴上</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，也不在</a:t>
            </a:r>
            <a:r>
              <a:rPr kumimoji="1" lang="zh-CN" altLang="en-US" sz="2800" b="1" kern="0" dirty="0">
                <a:solidFill>
                  <a:srgbClr val="000000"/>
                </a:solidFill>
                <a:latin typeface="Times New Roman" panose="02020603050405020304" pitchFamily="18" charset="0"/>
                <a:ea typeface="宋体" panose="02010600030101010101" pitchFamily="2" charset="-122"/>
              </a:rPr>
              <a:t>单位圆上，</a:t>
            </a:r>
            <a:endParaRPr kumimoji="1" lang="en-US" altLang="zh-CN" sz="2800" b="1" kern="0" dirty="0">
              <a:solidFill>
                <a:srgbClr val="000000"/>
              </a:solidFill>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dirty="0">
                <a:solidFill>
                  <a:srgbClr val="1306BA"/>
                </a:solidFill>
                <a:latin typeface="Times New Roman" panose="02020603050405020304" pitchFamily="18" charset="0"/>
                <a:ea typeface="宋体"/>
                <a:cs typeface="Times New Roman" panose="02020603050405020304" pitchFamily="18" charset="0"/>
              </a:rPr>
              <a:t>     四零点组：</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互为倒数的两组共轭对</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0" lang="zh-CN" altLang="en-US" sz="2400" b="1" i="0" u="none" strike="noStrike" kern="0" cap="none" spc="0" normalizeH="0" baseline="0" noProof="0" dirty="0">
              <a:ln>
                <a:noFill/>
              </a:ln>
              <a:solidFill>
                <a:sysClr val="windowText" lastClr="000000"/>
              </a:solidFill>
              <a:effectLst/>
              <a:uLnTx/>
              <a:uFillTx/>
            </a:endParaRPr>
          </a:p>
        </p:txBody>
      </p:sp>
      <p:graphicFrame>
        <p:nvGraphicFramePr>
          <p:cNvPr id="30" name="Object 8"/>
          <p:cNvGraphicFramePr>
            <a:graphicFrameLocks noChangeAspect="1"/>
          </p:cNvGraphicFramePr>
          <p:nvPr>
            <p:extLst>
              <p:ext uri="{D42A27DB-BD31-4B8C-83A1-F6EECF244321}">
                <p14:modId xmlns:p14="http://schemas.microsoft.com/office/powerpoint/2010/main" val="137030862"/>
              </p:ext>
            </p:extLst>
          </p:nvPr>
        </p:nvGraphicFramePr>
        <p:xfrm>
          <a:off x="1066800" y="1340586"/>
          <a:ext cx="307975" cy="503238"/>
        </p:xfrm>
        <a:graphic>
          <a:graphicData uri="http://schemas.openxmlformats.org/presentationml/2006/ole">
            <mc:AlternateContent xmlns:mc="http://schemas.openxmlformats.org/markup-compatibility/2006">
              <mc:Choice xmlns:v="urn:schemas-microsoft-com:vml" Requires="v">
                <p:oleObj name="Equation" r:id="rId10" imgW="139680" imgH="228600" progId="Equation.DSMT4">
                  <p:embed/>
                </p:oleObj>
              </mc:Choice>
              <mc:Fallback>
                <p:oleObj name="Equation" r:id="rId10" imgW="139680" imgH="228600" progId="Equation.DSMT4">
                  <p:embed/>
                  <p:pic>
                    <p:nvPicPr>
                      <p:cNvPr id="30" name="Object 8"/>
                      <p:cNvPicPr>
                        <a:picLocks noChangeAspect="1" noChangeArrowheads="1"/>
                      </p:cNvPicPr>
                      <p:nvPr/>
                    </p:nvPicPr>
                    <p:blipFill>
                      <a:blip r:embed="rId11"/>
                      <a:srcRect/>
                      <a:stretch>
                        <a:fillRect/>
                      </a:stretch>
                    </p:blipFill>
                    <p:spPr bwMode="auto">
                      <a:xfrm>
                        <a:off x="1066800" y="1340586"/>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矩形 30"/>
          <p:cNvSpPr/>
          <p:nvPr/>
        </p:nvSpPr>
        <p:spPr>
          <a:xfrm>
            <a:off x="58617" y="3124200"/>
            <a:ext cx="4584384" cy="1107996"/>
          </a:xfrm>
          <a:prstGeom prst="rect">
            <a:avLst/>
          </a:prstGeom>
        </p:spPr>
        <p:txBody>
          <a:bodyPr wrap="square">
            <a:spAutoFit/>
          </a:bodyPr>
          <a:lstStyle/>
          <a:p>
            <a:pPr marL="0" marR="0" lvl="0" indent="0" defTabSz="914400" eaLnBrk="1" fontAlgn="auto" latinLnBrk="0" hangingPunct="1">
              <a:lnSpc>
                <a:spcPct val="100000"/>
              </a:lnSpc>
              <a:spcBef>
                <a:spcPts val="120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实系数线性相位</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FIR</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滤波器</a:t>
            </a:r>
            <a:endPar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defTabSz="914400" eaLnBrk="1" fontAlgn="auto" latinLnBrk="0" hangingPunct="1">
              <a:lnSpc>
                <a:spcPct val="100000"/>
              </a:lnSpc>
              <a:spcBef>
                <a:spcPts val="120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有一个零点           </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32" name="对象 31"/>
          <p:cNvGraphicFramePr>
            <a:graphicFrameLocks noChangeAspect="1"/>
          </p:cNvGraphicFramePr>
          <p:nvPr>
            <p:extLst>
              <p:ext uri="{D42A27DB-BD31-4B8C-83A1-F6EECF244321}">
                <p14:modId xmlns:p14="http://schemas.microsoft.com/office/powerpoint/2010/main" val="1190808660"/>
              </p:ext>
            </p:extLst>
          </p:nvPr>
        </p:nvGraphicFramePr>
        <p:xfrm>
          <a:off x="533400" y="5670370"/>
          <a:ext cx="758825" cy="466725"/>
        </p:xfrm>
        <a:graphic>
          <a:graphicData uri="http://schemas.openxmlformats.org/presentationml/2006/ole">
            <mc:AlternateContent xmlns:mc="http://schemas.openxmlformats.org/markup-compatibility/2006">
              <mc:Choice xmlns:v="urn:schemas-microsoft-com:vml" Requires="v">
                <p:oleObj name="Equation" r:id="rId12" imgW="330120" imgH="203040" progId="Equation.DSMT4">
                  <p:embed/>
                </p:oleObj>
              </mc:Choice>
              <mc:Fallback>
                <p:oleObj name="Equation" r:id="rId12" imgW="330120" imgH="203040" progId="Equation.DSMT4">
                  <p:embed/>
                  <p:pic>
                    <p:nvPicPr>
                      <p:cNvPr id="32" name="对象 31"/>
                      <p:cNvPicPr>
                        <a:picLocks noChangeAspect="1" noChangeArrowheads="1"/>
                      </p:cNvPicPr>
                      <p:nvPr/>
                    </p:nvPicPr>
                    <p:blipFill>
                      <a:blip r:embed="rId13"/>
                      <a:srcRect/>
                      <a:stretch>
                        <a:fillRect/>
                      </a:stretch>
                    </p:blipFill>
                    <p:spPr bwMode="auto">
                      <a:xfrm>
                        <a:off x="533400" y="5670370"/>
                        <a:ext cx="7588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矩形 32"/>
          <p:cNvSpPr/>
          <p:nvPr/>
        </p:nvSpPr>
        <p:spPr>
          <a:xfrm>
            <a:off x="3032368" y="3723020"/>
            <a:ext cx="545342"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则</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34" name="矩形 33"/>
          <p:cNvSpPr/>
          <p:nvPr/>
        </p:nvSpPr>
        <p:spPr>
          <a:xfrm>
            <a:off x="58617" y="4676279"/>
            <a:ext cx="4670352" cy="1692771"/>
          </a:xfrm>
          <a:prstGeom prst="rect">
            <a:avLst/>
          </a:prstGeom>
        </p:spPr>
        <p:txBody>
          <a:bodyPr wrap="square">
            <a:spAutoFit/>
          </a:bodyPr>
          <a:lstStyle/>
          <a:p>
            <a:pPr marL="0" marR="0" lvl="0" indent="0" defTabSz="914400" eaLnBrk="0" fontAlgn="base" latinLnBrk="0" hangingPunct="0">
              <a:lnSpc>
                <a:spcPct val="15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sng"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sng"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endPar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defTabSz="914400" eaLnBrk="0" fontAlgn="base" latinLnBrk="0" hangingPunct="0">
              <a:lnSpc>
                <a:spcPct val="150000"/>
              </a:lnSpc>
              <a:spcBef>
                <a:spcPts val="2400"/>
              </a:spcBef>
              <a:spcAft>
                <a:spcPct val="0"/>
              </a:spcAft>
              <a:buClrTx/>
              <a:buSzTx/>
              <a:buFontTx/>
              <a:buNone/>
              <a:tabLst/>
              <a:defRPr/>
            </a:pPr>
            <a:r>
              <a:rPr kumimoji="0" lang="en-US" altLang="zh-CN" sz="2800" b="1" i="0" u="sng"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必然也是其零点。</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35" name="对象 31"/>
          <p:cNvGraphicFramePr>
            <a:graphicFrameLocks noChangeAspect="1"/>
          </p:cNvGraphicFramePr>
          <p:nvPr>
            <p:extLst>
              <p:ext uri="{D42A27DB-BD31-4B8C-83A1-F6EECF244321}">
                <p14:modId xmlns:p14="http://schemas.microsoft.com/office/powerpoint/2010/main" val="3115869886"/>
              </p:ext>
            </p:extLst>
          </p:nvPr>
        </p:nvGraphicFramePr>
        <p:xfrm>
          <a:off x="2799696" y="4343400"/>
          <a:ext cx="781704" cy="865656"/>
        </p:xfrm>
        <a:graphic>
          <a:graphicData uri="http://schemas.openxmlformats.org/presentationml/2006/ole">
            <mc:AlternateContent xmlns:mc="http://schemas.openxmlformats.org/markup-compatibility/2006">
              <mc:Choice xmlns:v="urn:schemas-microsoft-com:vml" Requires="v">
                <p:oleObj name="Equation" r:id="rId14" imgW="355320" imgH="393480" progId="Equation.DSMT4">
                  <p:embed/>
                </p:oleObj>
              </mc:Choice>
              <mc:Fallback>
                <p:oleObj name="Equation" r:id="rId14" imgW="355320" imgH="393480" progId="Equation.DSMT4">
                  <p:embed/>
                  <p:pic>
                    <p:nvPicPr>
                      <p:cNvPr id="35" name="对象 31"/>
                      <p:cNvPicPr>
                        <a:picLocks noChangeAspect="1" noChangeArrowheads="1"/>
                      </p:cNvPicPr>
                      <p:nvPr/>
                    </p:nvPicPr>
                    <p:blipFill>
                      <a:blip r:embed="rId15"/>
                      <a:srcRect/>
                      <a:stretch>
                        <a:fillRect/>
                      </a:stretch>
                    </p:blipFill>
                    <p:spPr bwMode="auto">
                      <a:xfrm>
                        <a:off x="2799696" y="4343400"/>
                        <a:ext cx="781704" cy="86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对象 30"/>
          <p:cNvGraphicFramePr>
            <a:graphicFrameLocks noChangeAspect="1"/>
          </p:cNvGraphicFramePr>
          <p:nvPr>
            <p:extLst>
              <p:ext uri="{D42A27DB-BD31-4B8C-83A1-F6EECF244321}">
                <p14:modId xmlns:p14="http://schemas.microsoft.com/office/powerpoint/2010/main" val="2566663575"/>
              </p:ext>
            </p:extLst>
          </p:nvPr>
        </p:nvGraphicFramePr>
        <p:xfrm>
          <a:off x="172896" y="4292600"/>
          <a:ext cx="1653372" cy="879984"/>
        </p:xfrm>
        <a:graphic>
          <a:graphicData uri="http://schemas.openxmlformats.org/presentationml/2006/ole">
            <mc:AlternateContent xmlns:mc="http://schemas.openxmlformats.org/markup-compatibility/2006">
              <mc:Choice xmlns:v="urn:schemas-microsoft-com:vml" Requires="v">
                <p:oleObj name="Equation" r:id="rId16" imgW="787320" imgH="419040" progId="Equation.DSMT4">
                  <p:embed/>
                </p:oleObj>
              </mc:Choice>
              <mc:Fallback>
                <p:oleObj name="Equation" r:id="rId16" imgW="787320" imgH="419040" progId="Equation.DSMT4">
                  <p:embed/>
                  <p:pic>
                    <p:nvPicPr>
                      <p:cNvPr id="37" name="对象 30"/>
                      <p:cNvPicPr>
                        <a:picLocks noChangeAspect="1" noChangeArrowheads="1"/>
                      </p:cNvPicPr>
                      <p:nvPr/>
                    </p:nvPicPr>
                    <p:blipFill>
                      <a:blip r:embed="rId17"/>
                      <a:srcRect/>
                      <a:stretch>
                        <a:fillRect/>
                      </a:stretch>
                    </p:blipFill>
                    <p:spPr bwMode="auto">
                      <a:xfrm>
                        <a:off x="172896" y="4292600"/>
                        <a:ext cx="1653372" cy="87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矩形 37"/>
          <p:cNvSpPr/>
          <p:nvPr/>
        </p:nvSpPr>
        <p:spPr>
          <a:xfrm>
            <a:off x="76200" y="2524780"/>
            <a:ext cx="906017" cy="523220"/>
          </a:xfrm>
          <a:prstGeom prst="rect">
            <a:avLst/>
          </a:prstGeom>
        </p:spPr>
        <p:txBody>
          <a:bodyPr wrap="none">
            <a:spAutoFit/>
          </a:bodyPr>
          <a:lstStyle/>
          <a:p>
            <a:r>
              <a:rPr lang="zh-CN" altLang="en-US" sz="28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例如</a:t>
            </a:r>
            <a:endParaRPr lang="zh-CN" altLang="en-US" dirty="0"/>
          </a:p>
        </p:txBody>
      </p:sp>
      <p:graphicFrame>
        <p:nvGraphicFramePr>
          <p:cNvPr id="39" name="Object 8"/>
          <p:cNvGraphicFramePr>
            <a:graphicFrameLocks noChangeAspect="1"/>
          </p:cNvGraphicFramePr>
          <p:nvPr>
            <p:extLst>
              <p:ext uri="{D42A27DB-BD31-4B8C-83A1-F6EECF244321}">
                <p14:modId xmlns:p14="http://schemas.microsoft.com/office/powerpoint/2010/main" val="2619339087"/>
              </p:ext>
            </p:extLst>
          </p:nvPr>
        </p:nvGraphicFramePr>
        <p:xfrm>
          <a:off x="6400800" y="3911057"/>
          <a:ext cx="307975" cy="503238"/>
        </p:xfrm>
        <a:graphic>
          <a:graphicData uri="http://schemas.openxmlformats.org/presentationml/2006/ole">
            <mc:AlternateContent xmlns:mc="http://schemas.openxmlformats.org/markup-compatibility/2006">
              <mc:Choice xmlns:v="urn:schemas-microsoft-com:vml" Requires="v">
                <p:oleObj name="Equation" r:id="rId18" imgW="139680" imgH="228600" progId="Equation.DSMT4">
                  <p:embed/>
                </p:oleObj>
              </mc:Choice>
              <mc:Fallback>
                <p:oleObj name="Equation" r:id="rId18" imgW="139680" imgH="228600" progId="Equation.DSMT4">
                  <p:embed/>
                  <p:pic>
                    <p:nvPicPr>
                      <p:cNvPr id="39" name="Object 8"/>
                      <p:cNvPicPr>
                        <a:picLocks noChangeAspect="1" noChangeArrowheads="1"/>
                      </p:cNvPicPr>
                      <p:nvPr/>
                    </p:nvPicPr>
                    <p:blipFill>
                      <a:blip r:embed="rId19"/>
                      <a:srcRect/>
                      <a:stretch>
                        <a:fillRect/>
                      </a:stretch>
                    </p:blipFill>
                    <p:spPr bwMode="auto">
                      <a:xfrm>
                        <a:off x="6400800" y="3911057"/>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对象 27"/>
          <p:cNvGraphicFramePr>
            <a:graphicFrameLocks noChangeAspect="1"/>
          </p:cNvGraphicFramePr>
          <p:nvPr>
            <p:extLst>
              <p:ext uri="{D42A27DB-BD31-4B8C-83A1-F6EECF244321}">
                <p14:modId xmlns:p14="http://schemas.microsoft.com/office/powerpoint/2010/main" val="2560376464"/>
              </p:ext>
            </p:extLst>
          </p:nvPr>
        </p:nvGraphicFramePr>
        <p:xfrm>
          <a:off x="6388705" y="5023219"/>
          <a:ext cx="396875" cy="579437"/>
        </p:xfrm>
        <a:graphic>
          <a:graphicData uri="http://schemas.openxmlformats.org/presentationml/2006/ole">
            <mc:AlternateContent xmlns:mc="http://schemas.openxmlformats.org/markup-compatibility/2006">
              <mc:Choice xmlns:v="urn:schemas-microsoft-com:vml" Requires="v">
                <p:oleObj name="Equation" r:id="rId20" imgW="164880" imgH="241200" progId="Equation.DSMT4">
                  <p:embed/>
                </p:oleObj>
              </mc:Choice>
              <mc:Fallback>
                <p:oleObj name="Equation" r:id="rId20" imgW="164880" imgH="241200" progId="Equation.DSMT4">
                  <p:embed/>
                  <p:pic>
                    <p:nvPicPr>
                      <p:cNvPr id="40" name="对象 27"/>
                      <p:cNvPicPr>
                        <a:picLocks noChangeAspect="1" noChangeArrowheads="1"/>
                      </p:cNvPicPr>
                      <p:nvPr/>
                    </p:nvPicPr>
                    <p:blipFill>
                      <a:blip r:embed="rId21"/>
                      <a:srcRect/>
                      <a:stretch>
                        <a:fillRect/>
                      </a:stretch>
                    </p:blipFill>
                    <p:spPr bwMode="auto">
                      <a:xfrm>
                        <a:off x="6388705" y="5023219"/>
                        <a:ext cx="396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9"/>
          <p:cNvGraphicFramePr>
            <a:graphicFrameLocks noChangeAspect="1"/>
          </p:cNvGraphicFramePr>
          <p:nvPr>
            <p:extLst>
              <p:ext uri="{D42A27DB-BD31-4B8C-83A1-F6EECF244321}">
                <p14:modId xmlns:p14="http://schemas.microsoft.com/office/powerpoint/2010/main" val="3660112363"/>
              </p:ext>
            </p:extLst>
          </p:nvPr>
        </p:nvGraphicFramePr>
        <p:xfrm>
          <a:off x="7513901" y="5602656"/>
          <a:ext cx="390456" cy="949607"/>
        </p:xfrm>
        <a:graphic>
          <a:graphicData uri="http://schemas.openxmlformats.org/presentationml/2006/ole">
            <mc:AlternateContent xmlns:mc="http://schemas.openxmlformats.org/markup-compatibility/2006">
              <mc:Choice xmlns:v="urn:schemas-microsoft-com:vml" Requires="v">
                <p:oleObj name="Equation" r:id="rId22" imgW="177480" imgH="431640" progId="Equation.DSMT4">
                  <p:embed/>
                </p:oleObj>
              </mc:Choice>
              <mc:Fallback>
                <p:oleObj name="Equation" r:id="rId22" imgW="177480" imgH="431640" progId="Equation.DSMT4">
                  <p:embed/>
                  <p:pic>
                    <p:nvPicPr>
                      <p:cNvPr id="41" name="Object 9"/>
                      <p:cNvPicPr>
                        <a:picLocks noChangeAspect="1" noChangeArrowheads="1"/>
                      </p:cNvPicPr>
                      <p:nvPr/>
                    </p:nvPicPr>
                    <p:blipFill>
                      <a:blip r:embed="rId23"/>
                      <a:srcRect/>
                      <a:stretch>
                        <a:fillRect/>
                      </a:stretch>
                    </p:blipFill>
                    <p:spPr bwMode="auto">
                      <a:xfrm>
                        <a:off x="7513901" y="5602656"/>
                        <a:ext cx="390456" cy="9496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对象 29"/>
          <p:cNvGraphicFramePr>
            <a:graphicFrameLocks noChangeAspect="1"/>
          </p:cNvGraphicFramePr>
          <p:nvPr>
            <p:extLst>
              <p:ext uri="{D42A27DB-BD31-4B8C-83A1-F6EECF244321}">
                <p14:modId xmlns:p14="http://schemas.microsoft.com/office/powerpoint/2010/main" val="3526451002"/>
              </p:ext>
            </p:extLst>
          </p:nvPr>
        </p:nvGraphicFramePr>
        <p:xfrm>
          <a:off x="7543800" y="3276600"/>
          <a:ext cx="488950" cy="1036637"/>
        </p:xfrm>
        <a:graphic>
          <a:graphicData uri="http://schemas.openxmlformats.org/presentationml/2006/ole">
            <mc:AlternateContent xmlns:mc="http://schemas.openxmlformats.org/markup-compatibility/2006">
              <mc:Choice xmlns:v="urn:schemas-microsoft-com:vml" Requires="v">
                <p:oleObj name="Equation" r:id="rId24" imgW="203040" imgH="431640" progId="Equation.DSMT4">
                  <p:embed/>
                </p:oleObj>
              </mc:Choice>
              <mc:Fallback>
                <p:oleObj name="Equation" r:id="rId24" imgW="203040" imgH="431640" progId="Equation.DSMT4">
                  <p:embed/>
                  <p:pic>
                    <p:nvPicPr>
                      <p:cNvPr id="42" name="对象 29"/>
                      <p:cNvPicPr>
                        <a:picLocks noChangeAspect="1" noChangeArrowheads="1"/>
                      </p:cNvPicPr>
                      <p:nvPr/>
                    </p:nvPicPr>
                    <p:blipFill>
                      <a:blip r:embed="rId25"/>
                      <a:srcRect/>
                      <a:stretch>
                        <a:fillRect/>
                      </a:stretch>
                    </p:blipFill>
                    <p:spPr bwMode="auto">
                      <a:xfrm>
                        <a:off x="7543800" y="3276600"/>
                        <a:ext cx="488950"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1752758371"/>
              </p:ext>
            </p:extLst>
          </p:nvPr>
        </p:nvGraphicFramePr>
        <p:xfrm>
          <a:off x="2039697" y="3514725"/>
          <a:ext cx="817563" cy="904875"/>
        </p:xfrm>
        <a:graphic>
          <a:graphicData uri="http://schemas.openxmlformats.org/presentationml/2006/ole">
            <mc:AlternateContent xmlns:mc="http://schemas.openxmlformats.org/markup-compatibility/2006">
              <mc:Choice xmlns:v="urn:schemas-microsoft-com:vml" Requires="v">
                <p:oleObj name="Equation" r:id="rId26" imgW="355320" imgH="393480" progId="Equation.DSMT4">
                  <p:embed/>
                </p:oleObj>
              </mc:Choice>
              <mc:Fallback>
                <p:oleObj name="Equation" r:id="rId26" imgW="355320" imgH="393480" progId="Equation.DSMT4">
                  <p:embed/>
                  <p:pic>
                    <p:nvPicPr>
                      <p:cNvPr id="43" name="对象 42"/>
                      <p:cNvPicPr>
                        <a:picLocks noChangeAspect="1" noChangeArrowheads="1"/>
                      </p:cNvPicPr>
                      <p:nvPr/>
                    </p:nvPicPr>
                    <p:blipFill>
                      <a:blip r:embed="rId27"/>
                      <a:srcRect/>
                      <a:stretch>
                        <a:fillRect/>
                      </a:stretch>
                    </p:blipFill>
                    <p:spPr bwMode="auto">
                      <a:xfrm>
                        <a:off x="2039697" y="3514725"/>
                        <a:ext cx="81756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124906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9600" y="990600"/>
            <a:ext cx="8350204" cy="95410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2800" b="1" dirty="0">
                <a:latin typeface="Times New Roman" panose="02020603050405020304" pitchFamily="18" charset="0"/>
                <a:cs typeface="Times New Roman" panose="02020603050405020304" pitchFamily="18" charset="0"/>
              </a:rPr>
              <a:t>②     </a:t>
            </a:r>
            <a:r>
              <a:rPr kumimoji="1" lang="zh-CN" altLang="en-US" sz="2800" b="1" kern="0" dirty="0">
                <a:solidFill>
                  <a:srgbClr val="000000"/>
                </a:solidFill>
                <a:latin typeface="Times New Roman" panose="02020603050405020304" pitchFamily="18" charset="0"/>
                <a:ea typeface="宋体" panose="02010600030101010101" pitchFamily="2" charset="-122"/>
              </a:rPr>
              <a:t>在单位圆上，但不在实轴上</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800" b="1" kern="0" dirty="0">
              <a:solidFill>
                <a:srgbClr val="000000"/>
              </a:solidFill>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dirty="0">
                <a:solidFill>
                  <a:srgbClr val="1306BA"/>
                </a:solidFill>
                <a:latin typeface="Times New Roman" panose="02020603050405020304" pitchFamily="18" charset="0"/>
                <a:ea typeface="宋体"/>
                <a:cs typeface="Times New Roman" panose="02020603050405020304" pitchFamily="18" charset="0"/>
              </a:rPr>
              <a:t>      两零点组：</a:t>
            </a:r>
            <a:r>
              <a:rPr kumimoji="1" lang="zh-CN" altLang="en-US" sz="2800" b="1" kern="0" dirty="0">
                <a:solidFill>
                  <a:srgbClr val="000000"/>
                </a:solidFill>
                <a:latin typeface="Times New Roman" panose="02020603050405020304" pitchFamily="18" charset="0"/>
                <a:ea typeface="宋体" panose="02010600030101010101" pitchFamily="2" charset="-122"/>
              </a:rPr>
              <a:t>一对</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共轭</a:t>
            </a:r>
            <a:r>
              <a:rPr kumimoji="1" lang="zh-CN" altLang="en-US" sz="2800" b="1" kern="0" dirty="0">
                <a:solidFill>
                  <a:srgbClr val="000000"/>
                </a:solidFill>
                <a:latin typeface="Times New Roman" panose="02020603050405020304" pitchFamily="18" charset="0"/>
                <a:ea typeface="宋体" panose="02010600030101010101" pitchFamily="2" charset="-122"/>
              </a:rPr>
              <a:t>零点</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0" lang="zh-CN" altLang="en-US" sz="2400" b="1" i="0" u="none" strike="noStrike" kern="0" cap="none" spc="0" normalizeH="0" baseline="0" noProof="0" dirty="0">
              <a:ln>
                <a:noFill/>
              </a:ln>
              <a:solidFill>
                <a:sysClr val="windowText" lastClr="000000"/>
              </a:solidFill>
              <a:effectLst/>
              <a:uLnTx/>
              <a:uFillTx/>
            </a:endParaRPr>
          </a:p>
        </p:txBody>
      </p:sp>
      <p:graphicFrame>
        <p:nvGraphicFramePr>
          <p:cNvPr id="5" name="Object 8"/>
          <p:cNvGraphicFramePr>
            <a:graphicFrameLocks noChangeAspect="1"/>
          </p:cNvGraphicFramePr>
          <p:nvPr>
            <p:extLst>
              <p:ext uri="{D42A27DB-BD31-4B8C-83A1-F6EECF244321}">
                <p14:modId xmlns:p14="http://schemas.microsoft.com/office/powerpoint/2010/main" val="403283433"/>
              </p:ext>
            </p:extLst>
          </p:nvPr>
        </p:nvGraphicFramePr>
        <p:xfrm>
          <a:off x="1187404" y="964415"/>
          <a:ext cx="307975" cy="503238"/>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5" name="Object 8"/>
                      <p:cNvPicPr>
                        <a:picLocks noChangeAspect="1" noChangeArrowheads="1"/>
                      </p:cNvPicPr>
                      <p:nvPr/>
                    </p:nvPicPr>
                    <p:blipFill>
                      <a:blip r:embed="rId3"/>
                      <a:srcRect/>
                      <a:stretch>
                        <a:fillRect/>
                      </a:stretch>
                    </p:blipFill>
                    <p:spPr bwMode="auto">
                      <a:xfrm>
                        <a:off x="1187404" y="964415"/>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 name="组合 17"/>
          <p:cNvGrpSpPr/>
          <p:nvPr/>
        </p:nvGrpSpPr>
        <p:grpSpPr>
          <a:xfrm>
            <a:off x="4495800" y="2895600"/>
            <a:ext cx="4555282" cy="3807799"/>
            <a:chOff x="49761" y="2638721"/>
            <a:chExt cx="4555282" cy="3807799"/>
          </a:xfrm>
        </p:grpSpPr>
        <p:sp>
          <p:nvSpPr>
            <p:cNvPr id="19" name="Oval 8"/>
            <p:cNvSpPr>
              <a:spLocks noChangeArrowheads="1"/>
            </p:cNvSpPr>
            <p:nvPr/>
          </p:nvSpPr>
          <p:spPr bwMode="auto">
            <a:xfrm>
              <a:off x="676241" y="3786186"/>
              <a:ext cx="2344737" cy="2209800"/>
            </a:xfrm>
            <a:prstGeom prst="ellipse">
              <a:avLst/>
            </a:prstGeom>
            <a:noFill/>
            <a:ln w="9525">
              <a:solidFill>
                <a:sysClr val="windowText" lastClr="000000"/>
              </a:solidFill>
              <a:round/>
              <a:headEnd/>
              <a:tailEnd/>
            </a:ln>
          </p:spPr>
          <p:txBody>
            <a:bodyPr wrap="none" anchor="ct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ea typeface="宋体"/>
              </a:endParaRPr>
            </a:p>
          </p:txBody>
        </p:sp>
        <p:sp>
          <p:nvSpPr>
            <p:cNvPr id="20" name="Line 9"/>
            <p:cNvSpPr>
              <a:spLocks noChangeShapeType="1"/>
            </p:cNvSpPr>
            <p:nvPr/>
          </p:nvSpPr>
          <p:spPr bwMode="auto">
            <a:xfrm>
              <a:off x="1801782" y="3100386"/>
              <a:ext cx="8723" cy="3346134"/>
            </a:xfrm>
            <a:prstGeom prst="line">
              <a:avLst/>
            </a:prstGeom>
            <a:noFill/>
            <a:ln w="9525">
              <a:solidFill>
                <a:sysClr val="windowText" lastClr="00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1" name="Line 10"/>
            <p:cNvSpPr>
              <a:spLocks noChangeShapeType="1"/>
            </p:cNvSpPr>
            <p:nvPr/>
          </p:nvSpPr>
          <p:spPr bwMode="auto">
            <a:xfrm>
              <a:off x="49761" y="4915822"/>
              <a:ext cx="3809428" cy="14952"/>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2" name="Text Box 11"/>
            <p:cNvSpPr txBox="1">
              <a:spLocks noChangeArrowheads="1"/>
            </p:cNvSpPr>
            <p:nvPr/>
          </p:nvSpPr>
          <p:spPr bwMode="auto">
            <a:xfrm>
              <a:off x="1801783" y="4915822"/>
              <a:ext cx="25082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a:ea typeface="宋体" panose="02010600030101010101" pitchFamily="2" charset="-122"/>
                </a:rPr>
                <a:t>0</a:t>
              </a:r>
            </a:p>
          </p:txBody>
        </p:sp>
        <p:sp>
          <p:nvSpPr>
            <p:cNvPr id="23" name="Text Box 17"/>
            <p:cNvSpPr txBox="1">
              <a:spLocks noChangeArrowheads="1"/>
            </p:cNvSpPr>
            <p:nvPr/>
          </p:nvSpPr>
          <p:spPr bwMode="auto">
            <a:xfrm>
              <a:off x="3725565" y="4702472"/>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a:ea typeface="宋体" panose="02010600030101010101" pitchFamily="2" charset="-122"/>
                </a:rPr>
                <a:t>Re</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endParaRPr lang="en-US" altLang="zh-CN" b="1" kern="0" dirty="0">
                <a:solidFill>
                  <a:prstClr val="black"/>
                </a:solidFill>
                <a:latin typeface="Times New Roman"/>
              </a:endParaRPr>
            </a:p>
          </p:txBody>
        </p:sp>
        <p:sp>
          <p:nvSpPr>
            <p:cNvPr id="24" name="Text Box 17"/>
            <p:cNvSpPr txBox="1">
              <a:spLocks noChangeArrowheads="1"/>
            </p:cNvSpPr>
            <p:nvPr/>
          </p:nvSpPr>
          <p:spPr bwMode="auto">
            <a:xfrm>
              <a:off x="1408870" y="2638721"/>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1" u="none" strike="noStrike" kern="0" cap="none" spc="0" normalizeH="0" baseline="0" noProof="0" dirty="0">
                  <a:ln>
                    <a:noFill/>
                  </a:ln>
                  <a:solidFill>
                    <a:prstClr val="black"/>
                  </a:solidFill>
                  <a:effectLst/>
                  <a:uLnTx/>
                  <a:uFillTx/>
                  <a:latin typeface="Times New Roman"/>
                  <a:ea typeface="宋体" panose="02010600030101010101" pitchFamily="2" charset="-122"/>
                </a:rPr>
                <a:t>j</a:t>
              </a:r>
              <a:r>
                <a:rPr kumimoji="0" lang="en-US" altLang="zh-CN" sz="900" b="1" i="1" u="none" strike="noStrike" kern="0" cap="none" spc="0" normalizeH="0" baseline="0" noProof="0" dirty="0">
                  <a:ln>
                    <a:noFill/>
                  </a:ln>
                  <a:solidFill>
                    <a:prstClr val="black"/>
                  </a:solidFill>
                  <a:effectLst/>
                  <a:uLnTx/>
                  <a:uFillTx/>
                  <a:latin typeface="Times New Roman"/>
                  <a:ea typeface="宋体" panose="02010600030101010101" pitchFamily="2" charset="-122"/>
                </a:rPr>
                <a:t> </a:t>
              </a:r>
              <a:r>
                <a:rPr kumimoji="0" lang="en-US" altLang="zh-CN" sz="2400" b="1" i="0" u="none" strike="noStrike" kern="0" cap="none" spc="0" normalizeH="0" baseline="0" noProof="0" dirty="0" err="1">
                  <a:ln>
                    <a:noFill/>
                  </a:ln>
                  <a:solidFill>
                    <a:prstClr val="black"/>
                  </a:solidFill>
                  <a:effectLst/>
                  <a:uLnTx/>
                  <a:uFillTx/>
                  <a:latin typeface="Times New Roman"/>
                  <a:ea typeface="宋体" panose="02010600030101010101" pitchFamily="2" charset="-122"/>
                </a:rPr>
                <a:t>Im</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endParaRPr lang="en-US" altLang="zh-CN" b="1" kern="0" dirty="0">
                <a:solidFill>
                  <a:prstClr val="black"/>
                </a:solidFill>
                <a:latin typeface="Times New Roman"/>
              </a:endParaRPr>
            </a:p>
          </p:txBody>
        </p:sp>
      </p:grpSp>
      <p:graphicFrame>
        <p:nvGraphicFramePr>
          <p:cNvPr id="26" name="对象 25"/>
          <p:cNvGraphicFramePr>
            <a:graphicFrameLocks noChangeAspect="1"/>
          </p:cNvGraphicFramePr>
          <p:nvPr>
            <p:extLst>
              <p:ext uri="{D42A27DB-BD31-4B8C-83A1-F6EECF244321}">
                <p14:modId xmlns:p14="http://schemas.microsoft.com/office/powerpoint/2010/main" val="1844748615"/>
              </p:ext>
            </p:extLst>
          </p:nvPr>
        </p:nvGraphicFramePr>
        <p:xfrm>
          <a:off x="6788466" y="4104115"/>
          <a:ext cx="197856" cy="212976"/>
        </p:xfrm>
        <a:graphic>
          <a:graphicData uri="http://schemas.openxmlformats.org/presentationml/2006/ole">
            <mc:AlternateContent xmlns:mc="http://schemas.openxmlformats.org/markup-compatibility/2006">
              <mc:Choice xmlns:v="urn:schemas-microsoft-com:vml" Requires="v">
                <p:oleObj name="Equation" r:id="rId4" imgW="164880" imgH="177480" progId="Equation.DSMT4">
                  <p:embed/>
                </p:oleObj>
              </mc:Choice>
              <mc:Fallback>
                <p:oleObj name="Equation" r:id="rId4" imgW="164880" imgH="177480" progId="Equation.DSMT4">
                  <p:embed/>
                  <p:pic>
                    <p:nvPicPr>
                      <p:cNvPr id="26" name="对象 25"/>
                      <p:cNvPicPr/>
                      <p:nvPr/>
                    </p:nvPicPr>
                    <p:blipFill>
                      <a:blip r:embed="rId5"/>
                      <a:stretch>
                        <a:fillRect/>
                      </a:stretch>
                    </p:blipFill>
                    <p:spPr>
                      <a:xfrm>
                        <a:off x="6788466" y="4104115"/>
                        <a:ext cx="197856" cy="212976"/>
                      </a:xfrm>
                      <a:prstGeom prst="rect">
                        <a:avLst/>
                      </a:prstGeom>
                    </p:spPr>
                  </p:pic>
                </p:oleObj>
              </mc:Fallback>
            </mc:AlternateContent>
          </a:graphicData>
        </a:graphic>
      </p:graphicFrame>
      <p:graphicFrame>
        <p:nvGraphicFramePr>
          <p:cNvPr id="30" name="Object 8"/>
          <p:cNvGraphicFramePr>
            <a:graphicFrameLocks noChangeAspect="1"/>
          </p:cNvGraphicFramePr>
          <p:nvPr>
            <p:extLst>
              <p:ext uri="{D42A27DB-BD31-4B8C-83A1-F6EECF244321}">
                <p14:modId xmlns:p14="http://schemas.microsoft.com/office/powerpoint/2010/main" val="2707732775"/>
              </p:ext>
            </p:extLst>
          </p:nvPr>
        </p:nvGraphicFramePr>
        <p:xfrm>
          <a:off x="6931025" y="3670482"/>
          <a:ext cx="307975" cy="503238"/>
        </p:xfrm>
        <a:graphic>
          <a:graphicData uri="http://schemas.openxmlformats.org/presentationml/2006/ole">
            <mc:AlternateContent xmlns:mc="http://schemas.openxmlformats.org/markup-compatibility/2006">
              <mc:Choice xmlns:v="urn:schemas-microsoft-com:vml" Requires="v">
                <p:oleObj name="Equation" r:id="rId6" imgW="139680" imgH="228600" progId="Equation.DSMT4">
                  <p:embed/>
                </p:oleObj>
              </mc:Choice>
              <mc:Fallback>
                <p:oleObj name="Equation" r:id="rId6" imgW="139680" imgH="228600" progId="Equation.DSMT4">
                  <p:embed/>
                  <p:pic>
                    <p:nvPicPr>
                      <p:cNvPr id="30" name="Object 8"/>
                      <p:cNvPicPr>
                        <a:picLocks noChangeAspect="1" noChangeArrowheads="1"/>
                      </p:cNvPicPr>
                      <p:nvPr/>
                    </p:nvPicPr>
                    <p:blipFill>
                      <a:blip r:embed="rId7"/>
                      <a:srcRect/>
                      <a:stretch>
                        <a:fillRect/>
                      </a:stretch>
                    </p:blipFill>
                    <p:spPr bwMode="auto">
                      <a:xfrm>
                        <a:off x="6931025" y="3670482"/>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对象 27"/>
          <p:cNvGraphicFramePr>
            <a:graphicFrameLocks noChangeAspect="1"/>
          </p:cNvGraphicFramePr>
          <p:nvPr>
            <p:extLst>
              <p:ext uri="{D42A27DB-BD31-4B8C-83A1-F6EECF244321}">
                <p14:modId xmlns:p14="http://schemas.microsoft.com/office/powerpoint/2010/main" val="2526855812"/>
              </p:ext>
            </p:extLst>
          </p:nvPr>
        </p:nvGraphicFramePr>
        <p:xfrm>
          <a:off x="6934200" y="6019800"/>
          <a:ext cx="396875" cy="579437"/>
        </p:xfrm>
        <a:graphic>
          <a:graphicData uri="http://schemas.openxmlformats.org/presentationml/2006/ole">
            <mc:AlternateContent xmlns:mc="http://schemas.openxmlformats.org/markup-compatibility/2006">
              <mc:Choice xmlns:v="urn:schemas-microsoft-com:vml" Requires="v">
                <p:oleObj name="Equation" r:id="rId8" imgW="164880" imgH="241200" progId="Equation.DSMT4">
                  <p:embed/>
                </p:oleObj>
              </mc:Choice>
              <mc:Fallback>
                <p:oleObj name="Equation" r:id="rId8" imgW="164880" imgH="241200" progId="Equation.DSMT4">
                  <p:embed/>
                  <p:pic>
                    <p:nvPicPr>
                      <p:cNvPr id="31" name="对象 27"/>
                      <p:cNvPicPr>
                        <a:picLocks noChangeAspect="1" noChangeArrowheads="1"/>
                      </p:cNvPicPr>
                      <p:nvPr/>
                    </p:nvPicPr>
                    <p:blipFill>
                      <a:blip r:embed="rId9"/>
                      <a:srcRect/>
                      <a:stretch>
                        <a:fillRect/>
                      </a:stretch>
                    </p:blipFill>
                    <p:spPr bwMode="auto">
                      <a:xfrm>
                        <a:off x="6934200" y="6019800"/>
                        <a:ext cx="396875" cy="579437"/>
                      </a:xfrm>
                      <a:prstGeom prst="rect">
                        <a:avLst/>
                      </a:prstGeom>
                      <a:noFill/>
                      <a:ln>
                        <a:noFill/>
                      </a:ln>
                    </p:spPr>
                  </p:pic>
                </p:oleObj>
              </mc:Fallback>
            </mc:AlternateContent>
          </a:graphicData>
        </a:graphic>
      </p:graphicFrame>
      <p:sp>
        <p:nvSpPr>
          <p:cNvPr id="33" name="矩形 32"/>
          <p:cNvSpPr/>
          <p:nvPr/>
        </p:nvSpPr>
        <p:spPr>
          <a:xfrm>
            <a:off x="0" y="2104285"/>
            <a:ext cx="2348720" cy="11695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例如</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0" marR="0" lvl="0" indent="0" defTabSz="914400" eaLnBrk="1" fontAlgn="auto" latinLnBrk="0" hangingPunct="1">
              <a:lnSpc>
                <a:spcPct val="15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有一个零点是</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34" name="对象 4"/>
          <p:cNvGraphicFramePr>
            <a:graphicFrameLocks noChangeAspect="1"/>
          </p:cNvGraphicFramePr>
          <p:nvPr>
            <p:extLst>
              <p:ext uri="{D42A27DB-BD31-4B8C-83A1-F6EECF244321}">
                <p14:modId xmlns:p14="http://schemas.microsoft.com/office/powerpoint/2010/main" val="1608193017"/>
              </p:ext>
            </p:extLst>
          </p:nvPr>
        </p:nvGraphicFramePr>
        <p:xfrm>
          <a:off x="2278039" y="2404992"/>
          <a:ext cx="2506663" cy="906463"/>
        </p:xfrm>
        <a:graphic>
          <a:graphicData uri="http://schemas.openxmlformats.org/presentationml/2006/ole">
            <mc:AlternateContent xmlns:mc="http://schemas.openxmlformats.org/markup-compatibility/2006">
              <mc:Choice xmlns:v="urn:schemas-microsoft-com:vml" Requires="v">
                <p:oleObj name="Equation" r:id="rId10" imgW="1193760" imgH="431640" progId="Equation.DSMT4">
                  <p:embed/>
                </p:oleObj>
              </mc:Choice>
              <mc:Fallback>
                <p:oleObj name="Equation" r:id="rId10" imgW="1193760" imgH="431640" progId="Equation.DSMT4">
                  <p:embed/>
                  <p:pic>
                    <p:nvPicPr>
                      <p:cNvPr id="34" name="对象 4"/>
                      <p:cNvPicPr>
                        <a:picLocks noChangeAspect="1" noChangeArrowheads="1"/>
                      </p:cNvPicPr>
                      <p:nvPr/>
                    </p:nvPicPr>
                    <p:blipFill>
                      <a:blip r:embed="rId11"/>
                      <a:srcRect/>
                      <a:stretch>
                        <a:fillRect/>
                      </a:stretch>
                    </p:blipFill>
                    <p:spPr bwMode="auto">
                      <a:xfrm>
                        <a:off x="2278039" y="2404992"/>
                        <a:ext cx="2506663"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矩形 36"/>
          <p:cNvSpPr/>
          <p:nvPr/>
        </p:nvSpPr>
        <p:spPr>
          <a:xfrm>
            <a:off x="0" y="3503912"/>
            <a:ext cx="2709396"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则还有一个零点</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39" name="对象 4"/>
          <p:cNvGraphicFramePr>
            <a:graphicFrameLocks noChangeAspect="1"/>
          </p:cNvGraphicFramePr>
          <p:nvPr>
            <p:extLst>
              <p:ext uri="{D42A27DB-BD31-4B8C-83A1-F6EECF244321}">
                <p14:modId xmlns:p14="http://schemas.microsoft.com/office/powerpoint/2010/main" val="2387243671"/>
              </p:ext>
            </p:extLst>
          </p:nvPr>
        </p:nvGraphicFramePr>
        <p:xfrm>
          <a:off x="2646096" y="3284537"/>
          <a:ext cx="2773362" cy="906463"/>
        </p:xfrm>
        <a:graphic>
          <a:graphicData uri="http://schemas.openxmlformats.org/presentationml/2006/ole">
            <mc:AlternateContent xmlns:mc="http://schemas.openxmlformats.org/markup-compatibility/2006">
              <mc:Choice xmlns:v="urn:schemas-microsoft-com:vml" Requires="v">
                <p:oleObj name="Equation" r:id="rId12" imgW="1320480" imgH="431640" progId="Equation.DSMT4">
                  <p:embed/>
                </p:oleObj>
              </mc:Choice>
              <mc:Fallback>
                <p:oleObj name="Equation" r:id="rId12" imgW="1320480" imgH="431640" progId="Equation.DSMT4">
                  <p:embed/>
                  <p:pic>
                    <p:nvPicPr>
                      <p:cNvPr id="39" name="对象 4"/>
                      <p:cNvPicPr>
                        <a:picLocks noChangeAspect="1" noChangeArrowheads="1"/>
                      </p:cNvPicPr>
                      <p:nvPr/>
                    </p:nvPicPr>
                    <p:blipFill>
                      <a:blip r:embed="rId13"/>
                      <a:srcRect/>
                      <a:stretch>
                        <a:fillRect/>
                      </a:stretch>
                    </p:blipFill>
                    <p:spPr bwMode="auto">
                      <a:xfrm>
                        <a:off x="2646096" y="3284537"/>
                        <a:ext cx="2773362"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682264772"/>
              </p:ext>
            </p:extLst>
          </p:nvPr>
        </p:nvGraphicFramePr>
        <p:xfrm>
          <a:off x="6781800" y="6019800"/>
          <a:ext cx="197856" cy="212976"/>
        </p:xfrm>
        <a:graphic>
          <a:graphicData uri="http://schemas.openxmlformats.org/presentationml/2006/ole">
            <mc:AlternateContent xmlns:mc="http://schemas.openxmlformats.org/markup-compatibility/2006">
              <mc:Choice xmlns:v="urn:schemas-microsoft-com:vml" Requires="v">
                <p:oleObj name="Equation" r:id="rId14" imgW="164880" imgH="177480" progId="Equation.DSMT4">
                  <p:embed/>
                </p:oleObj>
              </mc:Choice>
              <mc:Fallback>
                <p:oleObj name="Equation" r:id="rId14" imgW="164880" imgH="177480" progId="Equation.DSMT4">
                  <p:embed/>
                  <p:pic>
                    <p:nvPicPr>
                      <p:cNvPr id="40" name="对象 39"/>
                      <p:cNvPicPr/>
                      <p:nvPr/>
                    </p:nvPicPr>
                    <p:blipFill>
                      <a:blip r:embed="rId15"/>
                      <a:stretch>
                        <a:fillRect/>
                      </a:stretch>
                    </p:blipFill>
                    <p:spPr>
                      <a:xfrm>
                        <a:off x="6781800" y="6019800"/>
                        <a:ext cx="197856" cy="212976"/>
                      </a:xfrm>
                      <a:prstGeom prst="rect">
                        <a:avLst/>
                      </a:prstGeom>
                    </p:spPr>
                  </p:pic>
                </p:oleObj>
              </mc:Fallback>
            </mc:AlternateContent>
          </a:graphicData>
        </a:graphic>
      </p:graphicFrame>
      <p:sp>
        <p:nvSpPr>
          <p:cNvPr id="25"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89572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9"/>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9600" y="990600"/>
            <a:ext cx="8350204" cy="95410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1" dirty="0"/>
              <a:t>③</a:t>
            </a:r>
            <a:r>
              <a:rPr lang="en-US" altLang="zh-CN" sz="2800" b="1" dirty="0">
                <a:latin typeface="Times New Roman" panose="02020603050405020304" pitchFamily="18" charset="0"/>
                <a:cs typeface="Times New Roman" panose="02020603050405020304" pitchFamily="18" charset="0"/>
              </a:rPr>
              <a:t>     </a:t>
            </a:r>
            <a:r>
              <a:rPr kumimoji="1" lang="zh-CN" altLang="en-US" sz="2800" b="1" kern="0" dirty="0">
                <a:solidFill>
                  <a:srgbClr val="000000"/>
                </a:solidFill>
                <a:latin typeface="Times New Roman" panose="02020603050405020304" pitchFamily="18" charset="0"/>
                <a:ea typeface="宋体" panose="02010600030101010101" pitchFamily="2" charset="-122"/>
              </a:rPr>
              <a:t>在实轴上，但不在单位圆上</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800" b="1" kern="0" dirty="0">
              <a:solidFill>
                <a:srgbClr val="000000"/>
              </a:solidFill>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dirty="0">
                <a:solidFill>
                  <a:srgbClr val="1306BA"/>
                </a:solidFill>
                <a:latin typeface="Times New Roman" panose="02020603050405020304" pitchFamily="18" charset="0"/>
                <a:ea typeface="宋体"/>
                <a:cs typeface="Times New Roman" panose="02020603050405020304" pitchFamily="18" charset="0"/>
              </a:rPr>
              <a:t>      两零点组：</a:t>
            </a:r>
            <a:r>
              <a:rPr kumimoji="1" lang="zh-CN" altLang="en-US" sz="2800" b="1" kern="0" dirty="0">
                <a:solidFill>
                  <a:srgbClr val="000000"/>
                </a:solidFill>
                <a:latin typeface="Times New Roman" panose="02020603050405020304" pitchFamily="18" charset="0"/>
                <a:ea typeface="宋体" panose="02010600030101010101" pitchFamily="2" charset="-122"/>
              </a:rPr>
              <a:t>一对互为倒数的零点</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0" lang="zh-CN" altLang="en-US" sz="2400" b="1" i="0" u="none" strike="noStrike" kern="0" cap="none" spc="0" normalizeH="0" baseline="0" noProof="0" dirty="0">
              <a:ln>
                <a:noFill/>
              </a:ln>
              <a:solidFill>
                <a:sysClr val="windowText" lastClr="000000"/>
              </a:solidFill>
              <a:effectLst/>
              <a:uLnTx/>
              <a:uFillTx/>
            </a:endParaRPr>
          </a:p>
        </p:txBody>
      </p:sp>
      <p:graphicFrame>
        <p:nvGraphicFramePr>
          <p:cNvPr id="5" name="Object 8"/>
          <p:cNvGraphicFramePr>
            <a:graphicFrameLocks noChangeAspect="1"/>
          </p:cNvGraphicFramePr>
          <p:nvPr>
            <p:extLst>
              <p:ext uri="{D42A27DB-BD31-4B8C-83A1-F6EECF244321}">
                <p14:modId xmlns:p14="http://schemas.microsoft.com/office/powerpoint/2010/main" val="1855849533"/>
              </p:ext>
            </p:extLst>
          </p:nvPr>
        </p:nvGraphicFramePr>
        <p:xfrm>
          <a:off x="1187404" y="964415"/>
          <a:ext cx="307975" cy="503238"/>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5" name="Object 8"/>
                      <p:cNvPicPr>
                        <a:picLocks noChangeAspect="1" noChangeArrowheads="1"/>
                      </p:cNvPicPr>
                      <p:nvPr/>
                    </p:nvPicPr>
                    <p:blipFill>
                      <a:blip r:embed="rId3"/>
                      <a:srcRect/>
                      <a:stretch>
                        <a:fillRect/>
                      </a:stretch>
                    </p:blipFill>
                    <p:spPr bwMode="auto">
                      <a:xfrm>
                        <a:off x="1187404" y="964415"/>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 name="组合 16"/>
          <p:cNvGrpSpPr/>
          <p:nvPr/>
        </p:nvGrpSpPr>
        <p:grpSpPr>
          <a:xfrm>
            <a:off x="4552324" y="2590800"/>
            <a:ext cx="4580678" cy="3807799"/>
            <a:chOff x="49761" y="2638721"/>
            <a:chExt cx="4580678" cy="3807799"/>
          </a:xfrm>
        </p:grpSpPr>
        <p:sp>
          <p:nvSpPr>
            <p:cNvPr id="18" name="Oval 8"/>
            <p:cNvSpPr>
              <a:spLocks noChangeArrowheads="1"/>
            </p:cNvSpPr>
            <p:nvPr/>
          </p:nvSpPr>
          <p:spPr bwMode="auto">
            <a:xfrm>
              <a:off x="676241" y="3786186"/>
              <a:ext cx="2344737" cy="2209800"/>
            </a:xfrm>
            <a:prstGeom prst="ellipse">
              <a:avLst/>
            </a:prstGeom>
            <a:noFill/>
            <a:ln w="9525">
              <a:solidFill>
                <a:sysClr val="windowText" lastClr="000000"/>
              </a:solidFill>
              <a:round/>
              <a:headEnd/>
              <a:tailEnd/>
            </a:ln>
          </p:spPr>
          <p:txBody>
            <a:bodyPr wrap="none" anchor="ct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ea typeface="宋体"/>
              </a:endParaRPr>
            </a:p>
          </p:txBody>
        </p:sp>
        <p:sp>
          <p:nvSpPr>
            <p:cNvPr id="19" name="Line 9"/>
            <p:cNvSpPr>
              <a:spLocks noChangeShapeType="1"/>
            </p:cNvSpPr>
            <p:nvPr/>
          </p:nvSpPr>
          <p:spPr bwMode="auto">
            <a:xfrm>
              <a:off x="1801782" y="3100386"/>
              <a:ext cx="8723" cy="3346134"/>
            </a:xfrm>
            <a:prstGeom prst="line">
              <a:avLst/>
            </a:prstGeom>
            <a:noFill/>
            <a:ln w="9525">
              <a:solidFill>
                <a:sysClr val="windowText" lastClr="00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0" name="Line 10"/>
            <p:cNvSpPr>
              <a:spLocks noChangeShapeType="1"/>
            </p:cNvSpPr>
            <p:nvPr/>
          </p:nvSpPr>
          <p:spPr bwMode="auto">
            <a:xfrm>
              <a:off x="49761" y="4915822"/>
              <a:ext cx="3809428" cy="14952"/>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1" name="Text Box 11"/>
            <p:cNvSpPr txBox="1">
              <a:spLocks noChangeArrowheads="1"/>
            </p:cNvSpPr>
            <p:nvPr/>
          </p:nvSpPr>
          <p:spPr bwMode="auto">
            <a:xfrm>
              <a:off x="1801783" y="4915822"/>
              <a:ext cx="25082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a:ea typeface="宋体" panose="02010600030101010101" pitchFamily="2" charset="-122"/>
                </a:rPr>
                <a:t>0</a:t>
              </a:r>
            </a:p>
          </p:txBody>
        </p:sp>
        <p:sp>
          <p:nvSpPr>
            <p:cNvPr id="22" name="Text Box 17"/>
            <p:cNvSpPr txBox="1">
              <a:spLocks noChangeArrowheads="1"/>
            </p:cNvSpPr>
            <p:nvPr/>
          </p:nvSpPr>
          <p:spPr bwMode="auto">
            <a:xfrm>
              <a:off x="3750961" y="4694005"/>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a:ea typeface="宋体" panose="02010600030101010101" pitchFamily="2" charset="-122"/>
                </a:rPr>
                <a:t>Re</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p>
          </p:txBody>
        </p:sp>
        <p:sp>
          <p:nvSpPr>
            <p:cNvPr id="23" name="Text Box 17"/>
            <p:cNvSpPr txBox="1">
              <a:spLocks noChangeArrowheads="1"/>
            </p:cNvSpPr>
            <p:nvPr/>
          </p:nvSpPr>
          <p:spPr bwMode="auto">
            <a:xfrm>
              <a:off x="1408870" y="2638721"/>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1" u="none" strike="noStrike" kern="0" cap="none" spc="0" normalizeH="0" baseline="0" noProof="0" dirty="0">
                  <a:ln>
                    <a:noFill/>
                  </a:ln>
                  <a:solidFill>
                    <a:prstClr val="black"/>
                  </a:solidFill>
                  <a:effectLst/>
                  <a:uLnTx/>
                  <a:uFillTx/>
                  <a:latin typeface="Times New Roman"/>
                  <a:ea typeface="宋体" panose="02010600030101010101" pitchFamily="2" charset="-122"/>
                </a:rPr>
                <a:t>j</a:t>
              </a:r>
              <a:r>
                <a:rPr kumimoji="0" lang="en-US" altLang="zh-CN" sz="900" b="1" i="1" u="none" strike="noStrike" kern="0" cap="none" spc="0" normalizeH="0" baseline="0" noProof="0" dirty="0">
                  <a:ln>
                    <a:noFill/>
                  </a:ln>
                  <a:solidFill>
                    <a:prstClr val="black"/>
                  </a:solidFill>
                  <a:effectLst/>
                  <a:uLnTx/>
                  <a:uFillTx/>
                  <a:latin typeface="Times New Roman"/>
                  <a:ea typeface="宋体" panose="02010600030101010101" pitchFamily="2" charset="-122"/>
                </a:rPr>
                <a:t> </a:t>
              </a:r>
              <a:r>
                <a:rPr kumimoji="0" lang="en-US" altLang="zh-CN" sz="2400" b="1" i="0" u="none" strike="noStrike" kern="0" cap="none" spc="0" normalizeH="0" baseline="0" noProof="0" dirty="0" err="1">
                  <a:ln>
                    <a:noFill/>
                  </a:ln>
                  <a:solidFill>
                    <a:prstClr val="black"/>
                  </a:solidFill>
                  <a:effectLst/>
                  <a:uLnTx/>
                  <a:uFillTx/>
                  <a:latin typeface="Times New Roman"/>
                  <a:ea typeface="宋体" panose="02010600030101010101" pitchFamily="2" charset="-122"/>
                </a:rPr>
                <a:t>Im</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p>
          </p:txBody>
        </p:sp>
      </p:grpSp>
      <p:graphicFrame>
        <p:nvGraphicFramePr>
          <p:cNvPr id="25" name="对象 24"/>
          <p:cNvGraphicFramePr>
            <a:graphicFrameLocks noChangeAspect="1"/>
          </p:cNvGraphicFramePr>
          <p:nvPr>
            <p:extLst>
              <p:ext uri="{D42A27DB-BD31-4B8C-83A1-F6EECF244321}">
                <p14:modId xmlns:p14="http://schemas.microsoft.com/office/powerpoint/2010/main" val="1990732920"/>
              </p:ext>
            </p:extLst>
          </p:nvPr>
        </p:nvGraphicFramePr>
        <p:xfrm>
          <a:off x="7036184" y="4776993"/>
          <a:ext cx="197856" cy="212976"/>
        </p:xfrm>
        <a:graphic>
          <a:graphicData uri="http://schemas.openxmlformats.org/presentationml/2006/ole">
            <mc:AlternateContent xmlns:mc="http://schemas.openxmlformats.org/markup-compatibility/2006">
              <mc:Choice xmlns:v="urn:schemas-microsoft-com:vml" Requires="v">
                <p:oleObj name="Equation" r:id="rId4" imgW="164880" imgH="177480" progId="Equation.DSMT4">
                  <p:embed/>
                </p:oleObj>
              </mc:Choice>
              <mc:Fallback>
                <p:oleObj name="Equation" r:id="rId4" imgW="164880" imgH="177480" progId="Equation.DSMT4">
                  <p:embed/>
                  <p:pic>
                    <p:nvPicPr>
                      <p:cNvPr id="25" name="对象 24"/>
                      <p:cNvPicPr/>
                      <p:nvPr/>
                    </p:nvPicPr>
                    <p:blipFill>
                      <a:blip r:embed="rId5"/>
                      <a:stretch>
                        <a:fillRect/>
                      </a:stretch>
                    </p:blipFill>
                    <p:spPr>
                      <a:xfrm>
                        <a:off x="7036184" y="4776993"/>
                        <a:ext cx="197856" cy="212976"/>
                      </a:xfrm>
                      <a:prstGeom prst="rect">
                        <a:avLst/>
                      </a:prstGeom>
                    </p:spPr>
                  </p:pic>
                </p:oleObj>
              </mc:Fallback>
            </mc:AlternateContent>
          </a:graphicData>
        </a:graphic>
      </p:graphicFrame>
      <p:graphicFrame>
        <p:nvGraphicFramePr>
          <p:cNvPr id="26" name="对象 7"/>
          <p:cNvGraphicFramePr>
            <a:graphicFrameLocks noChangeAspect="1"/>
          </p:cNvGraphicFramePr>
          <p:nvPr>
            <p:extLst>
              <p:ext uri="{D42A27DB-BD31-4B8C-83A1-F6EECF244321}">
                <p14:modId xmlns:p14="http://schemas.microsoft.com/office/powerpoint/2010/main" val="3661943500"/>
              </p:ext>
            </p:extLst>
          </p:nvPr>
        </p:nvGraphicFramePr>
        <p:xfrm>
          <a:off x="3352800" y="2950315"/>
          <a:ext cx="1066800" cy="355600"/>
        </p:xfrm>
        <a:graphic>
          <a:graphicData uri="http://schemas.openxmlformats.org/presentationml/2006/ole">
            <mc:AlternateContent xmlns:mc="http://schemas.openxmlformats.org/markup-compatibility/2006">
              <mc:Choice xmlns:v="urn:schemas-microsoft-com:vml" Requires="v">
                <p:oleObj name="Equation" r:id="rId6" imgW="533160" imgH="177480" progId="Equation.DSMT4">
                  <p:embed/>
                </p:oleObj>
              </mc:Choice>
              <mc:Fallback>
                <p:oleObj name="Equation" r:id="rId6" imgW="533160" imgH="177480" progId="Equation.DSMT4">
                  <p:embed/>
                  <p:pic>
                    <p:nvPicPr>
                      <p:cNvPr id="26" name="对象 7"/>
                      <p:cNvPicPr>
                        <a:picLocks noChangeAspect="1" noChangeArrowheads="1"/>
                      </p:cNvPicPr>
                      <p:nvPr/>
                    </p:nvPicPr>
                    <p:blipFill>
                      <a:blip r:embed="rId7"/>
                      <a:srcRect/>
                      <a:stretch>
                        <a:fillRect/>
                      </a:stretch>
                    </p:blipFill>
                    <p:spPr bwMode="auto">
                      <a:xfrm>
                        <a:off x="3352800" y="2950315"/>
                        <a:ext cx="10668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7"/>
          <p:cNvGraphicFramePr>
            <a:graphicFrameLocks noChangeAspect="1"/>
          </p:cNvGraphicFramePr>
          <p:nvPr>
            <p:extLst>
              <p:ext uri="{D42A27DB-BD31-4B8C-83A1-F6EECF244321}">
                <p14:modId xmlns:p14="http://schemas.microsoft.com/office/powerpoint/2010/main" val="3879513428"/>
              </p:ext>
            </p:extLst>
          </p:nvPr>
        </p:nvGraphicFramePr>
        <p:xfrm>
          <a:off x="3733800" y="3845665"/>
          <a:ext cx="1066800" cy="355600"/>
        </p:xfrm>
        <a:graphic>
          <a:graphicData uri="http://schemas.openxmlformats.org/presentationml/2006/ole">
            <mc:AlternateContent xmlns:mc="http://schemas.openxmlformats.org/markup-compatibility/2006">
              <mc:Choice xmlns:v="urn:schemas-microsoft-com:vml" Requires="v">
                <p:oleObj name="Equation" r:id="rId8" imgW="533160" imgH="177480" progId="Equation.DSMT4">
                  <p:embed/>
                </p:oleObj>
              </mc:Choice>
              <mc:Fallback>
                <p:oleObj name="Equation" r:id="rId8" imgW="533160" imgH="177480" progId="Equation.DSMT4">
                  <p:embed/>
                  <p:pic>
                    <p:nvPicPr>
                      <p:cNvPr id="27" name="对象 7"/>
                      <p:cNvPicPr>
                        <a:picLocks noChangeAspect="1" noChangeArrowheads="1"/>
                      </p:cNvPicPr>
                      <p:nvPr/>
                    </p:nvPicPr>
                    <p:blipFill>
                      <a:blip r:embed="rId9"/>
                      <a:srcRect/>
                      <a:stretch>
                        <a:fillRect/>
                      </a:stretch>
                    </p:blipFill>
                    <p:spPr bwMode="auto">
                      <a:xfrm>
                        <a:off x="3733800" y="3845665"/>
                        <a:ext cx="10668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8"/>
          <p:cNvGraphicFramePr>
            <a:graphicFrameLocks noChangeAspect="1"/>
          </p:cNvGraphicFramePr>
          <p:nvPr>
            <p:extLst>
              <p:ext uri="{D42A27DB-BD31-4B8C-83A1-F6EECF244321}">
                <p14:modId xmlns:p14="http://schemas.microsoft.com/office/powerpoint/2010/main" val="1511809868"/>
              </p:ext>
            </p:extLst>
          </p:nvPr>
        </p:nvGraphicFramePr>
        <p:xfrm>
          <a:off x="6981124" y="4305355"/>
          <a:ext cx="307975" cy="503238"/>
        </p:xfrm>
        <a:graphic>
          <a:graphicData uri="http://schemas.openxmlformats.org/presentationml/2006/ole">
            <mc:AlternateContent xmlns:mc="http://schemas.openxmlformats.org/markup-compatibility/2006">
              <mc:Choice xmlns:v="urn:schemas-microsoft-com:vml" Requires="v">
                <p:oleObj name="Equation" r:id="rId10" imgW="139680" imgH="228600" progId="Equation.DSMT4">
                  <p:embed/>
                </p:oleObj>
              </mc:Choice>
              <mc:Fallback>
                <p:oleObj name="Equation" r:id="rId10" imgW="139680" imgH="228600" progId="Equation.DSMT4">
                  <p:embed/>
                  <p:pic>
                    <p:nvPicPr>
                      <p:cNvPr id="28" name="Object 8"/>
                      <p:cNvPicPr>
                        <a:picLocks noChangeAspect="1" noChangeArrowheads="1"/>
                      </p:cNvPicPr>
                      <p:nvPr/>
                    </p:nvPicPr>
                    <p:blipFill>
                      <a:blip r:embed="rId11"/>
                      <a:srcRect/>
                      <a:stretch>
                        <a:fillRect/>
                      </a:stretch>
                    </p:blipFill>
                    <p:spPr bwMode="auto">
                      <a:xfrm>
                        <a:off x="6981124" y="4305355"/>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9"/>
          <p:cNvGraphicFramePr>
            <a:graphicFrameLocks noChangeAspect="1"/>
          </p:cNvGraphicFramePr>
          <p:nvPr>
            <p:extLst>
              <p:ext uri="{D42A27DB-BD31-4B8C-83A1-F6EECF244321}">
                <p14:modId xmlns:p14="http://schemas.microsoft.com/office/powerpoint/2010/main" val="2941130923"/>
              </p:ext>
            </p:extLst>
          </p:nvPr>
        </p:nvGraphicFramePr>
        <p:xfrm>
          <a:off x="7946158" y="3846176"/>
          <a:ext cx="390456" cy="949607"/>
        </p:xfrm>
        <a:graphic>
          <a:graphicData uri="http://schemas.openxmlformats.org/presentationml/2006/ole">
            <mc:AlternateContent xmlns:mc="http://schemas.openxmlformats.org/markup-compatibility/2006">
              <mc:Choice xmlns:v="urn:schemas-microsoft-com:vml" Requires="v">
                <p:oleObj name="Equation" r:id="rId12" imgW="177480" imgH="431640" progId="Equation.DSMT4">
                  <p:embed/>
                </p:oleObj>
              </mc:Choice>
              <mc:Fallback>
                <p:oleObj name="Equation" r:id="rId12" imgW="177480" imgH="431640" progId="Equation.DSMT4">
                  <p:embed/>
                  <p:pic>
                    <p:nvPicPr>
                      <p:cNvPr id="29" name="Object 9"/>
                      <p:cNvPicPr>
                        <a:picLocks noChangeAspect="1" noChangeArrowheads="1"/>
                      </p:cNvPicPr>
                      <p:nvPr/>
                    </p:nvPicPr>
                    <p:blipFill>
                      <a:blip r:embed="rId13"/>
                      <a:srcRect/>
                      <a:stretch>
                        <a:fillRect/>
                      </a:stretch>
                    </p:blipFill>
                    <p:spPr bwMode="auto">
                      <a:xfrm>
                        <a:off x="7946158" y="3846176"/>
                        <a:ext cx="390456" cy="9496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矩形 29"/>
          <p:cNvSpPr/>
          <p:nvPr/>
        </p:nvSpPr>
        <p:spPr>
          <a:xfrm>
            <a:off x="1066800" y="2362200"/>
            <a:ext cx="2348720" cy="11695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例如</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0" marR="0" lvl="0" indent="0" defTabSz="914400" eaLnBrk="1" fontAlgn="auto" latinLnBrk="0" hangingPunct="1">
              <a:lnSpc>
                <a:spcPct val="15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有一个零点是</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31" name="矩形 30"/>
          <p:cNvSpPr/>
          <p:nvPr/>
        </p:nvSpPr>
        <p:spPr>
          <a:xfrm>
            <a:off x="1066800" y="3761827"/>
            <a:ext cx="2709396"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则还有一个零点</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32" name="对象 31"/>
          <p:cNvGraphicFramePr>
            <a:graphicFrameLocks noChangeAspect="1"/>
          </p:cNvGraphicFramePr>
          <p:nvPr>
            <p:extLst>
              <p:ext uri="{D42A27DB-BD31-4B8C-83A1-F6EECF244321}">
                <p14:modId xmlns:p14="http://schemas.microsoft.com/office/powerpoint/2010/main" val="1265314977"/>
              </p:ext>
            </p:extLst>
          </p:nvPr>
        </p:nvGraphicFramePr>
        <p:xfrm>
          <a:off x="8031744" y="4800600"/>
          <a:ext cx="197856" cy="212976"/>
        </p:xfrm>
        <a:graphic>
          <a:graphicData uri="http://schemas.openxmlformats.org/presentationml/2006/ole">
            <mc:AlternateContent xmlns:mc="http://schemas.openxmlformats.org/markup-compatibility/2006">
              <mc:Choice xmlns:v="urn:schemas-microsoft-com:vml" Requires="v">
                <p:oleObj name="Equation" r:id="rId14" imgW="164880" imgH="177480" progId="Equation.DSMT4">
                  <p:embed/>
                </p:oleObj>
              </mc:Choice>
              <mc:Fallback>
                <p:oleObj name="Equation" r:id="rId14" imgW="164880" imgH="177480" progId="Equation.DSMT4">
                  <p:embed/>
                  <p:pic>
                    <p:nvPicPr>
                      <p:cNvPr id="32" name="对象 31"/>
                      <p:cNvPicPr/>
                      <p:nvPr/>
                    </p:nvPicPr>
                    <p:blipFill>
                      <a:blip r:embed="rId15"/>
                      <a:stretch>
                        <a:fillRect/>
                      </a:stretch>
                    </p:blipFill>
                    <p:spPr>
                      <a:xfrm>
                        <a:off x="8031744" y="4800600"/>
                        <a:ext cx="197856" cy="212976"/>
                      </a:xfrm>
                      <a:prstGeom prst="rect">
                        <a:avLst/>
                      </a:prstGeom>
                    </p:spPr>
                  </p:pic>
                </p:oleObj>
              </mc:Fallback>
            </mc:AlternateContent>
          </a:graphicData>
        </a:graphic>
      </p:graphicFrame>
      <p:sp>
        <p:nvSpPr>
          <p:cNvPr id="24"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419664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9600" y="990600"/>
            <a:ext cx="8350204"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1" dirty="0"/>
              <a:t>④</a:t>
            </a: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既</a:t>
            </a:r>
            <a:r>
              <a:rPr kumimoji="1" lang="zh-CN" altLang="en-US" sz="2800" b="1" kern="0" dirty="0">
                <a:solidFill>
                  <a:srgbClr val="000000"/>
                </a:solidFill>
                <a:latin typeface="Times New Roman" panose="02020603050405020304" pitchFamily="18" charset="0"/>
                <a:ea typeface="宋体" panose="02010600030101010101" pitchFamily="2" charset="-122"/>
              </a:rPr>
              <a:t>在单位圆上，又在实轴上，可单独出现</a:t>
            </a:r>
            <a:endParaRPr kumimoji="1" lang="en-US" altLang="zh-CN" sz="2800" b="1" kern="0" dirty="0">
              <a:solidFill>
                <a:srgbClr val="000000"/>
              </a:solidFill>
              <a:latin typeface="Times New Roman" panose="02020603050405020304" pitchFamily="18" charset="0"/>
              <a:ea typeface="宋体" panose="02010600030101010101" pitchFamily="2" charset="-122"/>
            </a:endParaRPr>
          </a:p>
        </p:txBody>
      </p:sp>
      <p:graphicFrame>
        <p:nvGraphicFramePr>
          <p:cNvPr id="5" name="Object 8"/>
          <p:cNvGraphicFramePr>
            <a:graphicFrameLocks noChangeAspect="1"/>
          </p:cNvGraphicFramePr>
          <p:nvPr>
            <p:extLst>
              <p:ext uri="{D42A27DB-BD31-4B8C-83A1-F6EECF244321}">
                <p14:modId xmlns:p14="http://schemas.microsoft.com/office/powerpoint/2010/main" val="3849646322"/>
              </p:ext>
            </p:extLst>
          </p:nvPr>
        </p:nvGraphicFramePr>
        <p:xfrm>
          <a:off x="1187404" y="964415"/>
          <a:ext cx="307975" cy="503238"/>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5" name="Object 8"/>
                      <p:cNvPicPr>
                        <a:picLocks noChangeAspect="1" noChangeArrowheads="1"/>
                      </p:cNvPicPr>
                      <p:nvPr/>
                    </p:nvPicPr>
                    <p:blipFill>
                      <a:blip r:embed="rId3"/>
                      <a:srcRect/>
                      <a:stretch>
                        <a:fillRect/>
                      </a:stretch>
                    </p:blipFill>
                    <p:spPr bwMode="auto">
                      <a:xfrm>
                        <a:off x="1187404" y="964415"/>
                        <a:ext cx="3079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 name="组合 23"/>
          <p:cNvGrpSpPr/>
          <p:nvPr/>
        </p:nvGrpSpPr>
        <p:grpSpPr>
          <a:xfrm>
            <a:off x="-7856" y="1752600"/>
            <a:ext cx="4574524" cy="3807799"/>
            <a:chOff x="49761" y="2638721"/>
            <a:chExt cx="4574524" cy="3807799"/>
          </a:xfrm>
        </p:grpSpPr>
        <p:sp>
          <p:nvSpPr>
            <p:cNvPr id="25" name="Oval 8"/>
            <p:cNvSpPr>
              <a:spLocks noChangeArrowheads="1"/>
            </p:cNvSpPr>
            <p:nvPr/>
          </p:nvSpPr>
          <p:spPr bwMode="auto">
            <a:xfrm>
              <a:off x="676241" y="3786186"/>
              <a:ext cx="2344737" cy="2209800"/>
            </a:xfrm>
            <a:prstGeom prst="ellipse">
              <a:avLst/>
            </a:prstGeom>
            <a:noFill/>
            <a:ln w="9525">
              <a:solidFill>
                <a:sysClr val="windowText" lastClr="000000"/>
              </a:solidFill>
              <a:round/>
              <a:headEnd/>
              <a:tailEnd/>
            </a:ln>
          </p:spPr>
          <p:txBody>
            <a:bodyPr wrap="none" anchor="ct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ea typeface="宋体"/>
              </a:endParaRPr>
            </a:p>
          </p:txBody>
        </p:sp>
        <p:sp>
          <p:nvSpPr>
            <p:cNvPr id="26" name="Line 9"/>
            <p:cNvSpPr>
              <a:spLocks noChangeShapeType="1"/>
            </p:cNvSpPr>
            <p:nvPr/>
          </p:nvSpPr>
          <p:spPr bwMode="auto">
            <a:xfrm>
              <a:off x="1801782" y="3100386"/>
              <a:ext cx="8723" cy="3346134"/>
            </a:xfrm>
            <a:prstGeom prst="line">
              <a:avLst/>
            </a:prstGeom>
            <a:noFill/>
            <a:ln w="9525">
              <a:solidFill>
                <a:sysClr val="windowText" lastClr="00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7" name="Line 10"/>
            <p:cNvSpPr>
              <a:spLocks noChangeShapeType="1"/>
            </p:cNvSpPr>
            <p:nvPr/>
          </p:nvSpPr>
          <p:spPr bwMode="auto">
            <a:xfrm>
              <a:off x="49761" y="4915822"/>
              <a:ext cx="3809428" cy="14952"/>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28" name="Text Box 11"/>
            <p:cNvSpPr txBox="1">
              <a:spLocks noChangeArrowheads="1"/>
            </p:cNvSpPr>
            <p:nvPr/>
          </p:nvSpPr>
          <p:spPr bwMode="auto">
            <a:xfrm>
              <a:off x="1801783" y="4915822"/>
              <a:ext cx="25082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a:ea typeface="宋体" panose="02010600030101010101" pitchFamily="2" charset="-122"/>
                </a:rPr>
                <a:t>0</a:t>
              </a:r>
            </a:p>
          </p:txBody>
        </p:sp>
        <p:sp>
          <p:nvSpPr>
            <p:cNvPr id="29" name="Text Box 17"/>
            <p:cNvSpPr txBox="1">
              <a:spLocks noChangeArrowheads="1"/>
            </p:cNvSpPr>
            <p:nvPr/>
          </p:nvSpPr>
          <p:spPr bwMode="auto">
            <a:xfrm>
              <a:off x="3744807" y="4702472"/>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a:ea typeface="宋体" panose="02010600030101010101" pitchFamily="2" charset="-122"/>
                </a:rPr>
                <a:t>Re</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p>
          </p:txBody>
        </p:sp>
        <p:sp>
          <p:nvSpPr>
            <p:cNvPr id="30" name="Text Box 17"/>
            <p:cNvSpPr txBox="1">
              <a:spLocks noChangeArrowheads="1"/>
            </p:cNvSpPr>
            <p:nvPr/>
          </p:nvSpPr>
          <p:spPr bwMode="auto">
            <a:xfrm>
              <a:off x="1408870" y="2638721"/>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1" u="none" strike="noStrike" kern="0" cap="none" spc="0" normalizeH="0" baseline="0" noProof="0" dirty="0">
                  <a:ln>
                    <a:noFill/>
                  </a:ln>
                  <a:solidFill>
                    <a:prstClr val="black"/>
                  </a:solidFill>
                  <a:effectLst/>
                  <a:uLnTx/>
                  <a:uFillTx/>
                  <a:latin typeface="Times New Roman"/>
                  <a:ea typeface="宋体" panose="02010600030101010101" pitchFamily="2" charset="-122"/>
                </a:rPr>
                <a:t>j</a:t>
              </a:r>
              <a:r>
                <a:rPr kumimoji="0" lang="en-US" altLang="zh-CN" sz="900" b="1" i="1" u="none" strike="noStrike" kern="0" cap="none" spc="0" normalizeH="0" baseline="0" noProof="0" dirty="0">
                  <a:ln>
                    <a:noFill/>
                  </a:ln>
                  <a:solidFill>
                    <a:prstClr val="black"/>
                  </a:solidFill>
                  <a:effectLst/>
                  <a:uLnTx/>
                  <a:uFillTx/>
                  <a:latin typeface="Times New Roman"/>
                  <a:ea typeface="宋体" panose="02010600030101010101" pitchFamily="2" charset="-122"/>
                </a:rPr>
                <a:t> </a:t>
              </a:r>
              <a:r>
                <a:rPr kumimoji="0" lang="en-US" altLang="zh-CN" sz="2400" b="1" i="0" u="none" strike="noStrike" kern="0" cap="none" spc="0" normalizeH="0" baseline="0" noProof="0" dirty="0" err="1">
                  <a:ln>
                    <a:noFill/>
                  </a:ln>
                  <a:solidFill>
                    <a:prstClr val="black"/>
                  </a:solidFill>
                  <a:effectLst/>
                  <a:uLnTx/>
                  <a:uFillTx/>
                  <a:latin typeface="Times New Roman"/>
                  <a:ea typeface="宋体" panose="02010600030101010101" pitchFamily="2" charset="-122"/>
                </a:rPr>
                <a:t>Im</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p>
          </p:txBody>
        </p:sp>
      </p:grpSp>
      <p:graphicFrame>
        <p:nvGraphicFramePr>
          <p:cNvPr id="31" name="对象 30"/>
          <p:cNvGraphicFramePr>
            <a:graphicFrameLocks noChangeAspect="1"/>
          </p:cNvGraphicFramePr>
          <p:nvPr>
            <p:extLst>
              <p:ext uri="{D42A27DB-BD31-4B8C-83A1-F6EECF244321}">
                <p14:modId xmlns:p14="http://schemas.microsoft.com/office/powerpoint/2010/main" val="338195438"/>
              </p:ext>
            </p:extLst>
          </p:nvPr>
        </p:nvGraphicFramePr>
        <p:xfrm>
          <a:off x="2858390" y="3938793"/>
          <a:ext cx="197856" cy="212976"/>
        </p:xfrm>
        <a:graphic>
          <a:graphicData uri="http://schemas.openxmlformats.org/presentationml/2006/ole">
            <mc:AlternateContent xmlns:mc="http://schemas.openxmlformats.org/markup-compatibility/2006">
              <mc:Choice xmlns:v="urn:schemas-microsoft-com:vml" Requires="v">
                <p:oleObj name="Equation" r:id="rId4" imgW="164880" imgH="177480" progId="Equation.DSMT4">
                  <p:embed/>
                </p:oleObj>
              </mc:Choice>
              <mc:Fallback>
                <p:oleObj name="Equation" r:id="rId4" imgW="164880" imgH="177480" progId="Equation.DSMT4">
                  <p:embed/>
                  <p:pic>
                    <p:nvPicPr>
                      <p:cNvPr id="31" name="对象 30"/>
                      <p:cNvPicPr/>
                      <p:nvPr/>
                    </p:nvPicPr>
                    <p:blipFill>
                      <a:blip r:embed="rId5"/>
                      <a:stretch>
                        <a:fillRect/>
                      </a:stretch>
                    </p:blipFill>
                    <p:spPr>
                      <a:xfrm>
                        <a:off x="2858390" y="3938793"/>
                        <a:ext cx="197856" cy="212976"/>
                      </a:xfrm>
                      <a:prstGeom prst="rect">
                        <a:avLst/>
                      </a:prstGeom>
                    </p:spPr>
                  </p:pic>
                </p:oleObj>
              </mc:Fallback>
            </mc:AlternateContent>
          </a:graphicData>
        </a:graphic>
      </p:graphicFrame>
      <p:graphicFrame>
        <p:nvGraphicFramePr>
          <p:cNvPr id="32" name="对象 7"/>
          <p:cNvGraphicFramePr>
            <a:graphicFrameLocks noChangeAspect="1"/>
          </p:cNvGraphicFramePr>
          <p:nvPr>
            <p:extLst>
              <p:ext uri="{D42A27DB-BD31-4B8C-83A1-F6EECF244321}">
                <p14:modId xmlns:p14="http://schemas.microsoft.com/office/powerpoint/2010/main" val="2207220003"/>
              </p:ext>
            </p:extLst>
          </p:nvPr>
        </p:nvGraphicFramePr>
        <p:xfrm>
          <a:off x="2913485" y="4131434"/>
          <a:ext cx="228600" cy="330200"/>
        </p:xfrm>
        <a:graphic>
          <a:graphicData uri="http://schemas.openxmlformats.org/presentationml/2006/ole">
            <mc:AlternateContent xmlns:mc="http://schemas.openxmlformats.org/markup-compatibility/2006">
              <mc:Choice xmlns:v="urn:schemas-microsoft-com:vml" Requires="v">
                <p:oleObj name="Equation" r:id="rId6" imgW="114120" imgH="164880" progId="Equation.DSMT4">
                  <p:embed/>
                </p:oleObj>
              </mc:Choice>
              <mc:Fallback>
                <p:oleObj name="Equation" r:id="rId6" imgW="114120" imgH="164880" progId="Equation.DSMT4">
                  <p:embed/>
                  <p:pic>
                    <p:nvPicPr>
                      <p:cNvPr id="32" name="对象 7"/>
                      <p:cNvPicPr>
                        <a:picLocks noChangeAspect="1" noChangeArrowheads="1"/>
                      </p:cNvPicPr>
                      <p:nvPr/>
                    </p:nvPicPr>
                    <p:blipFill>
                      <a:blip r:embed="rId7"/>
                      <a:srcRect/>
                      <a:stretch>
                        <a:fillRect/>
                      </a:stretch>
                    </p:blipFill>
                    <p:spPr bwMode="auto">
                      <a:xfrm>
                        <a:off x="2913485" y="4131434"/>
                        <a:ext cx="2286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3" name="组合 32"/>
          <p:cNvGrpSpPr/>
          <p:nvPr/>
        </p:nvGrpSpPr>
        <p:grpSpPr>
          <a:xfrm>
            <a:off x="4640692" y="1777539"/>
            <a:ext cx="4541270" cy="3807799"/>
            <a:chOff x="49761" y="2638721"/>
            <a:chExt cx="4541270" cy="3807799"/>
          </a:xfrm>
        </p:grpSpPr>
        <p:sp>
          <p:nvSpPr>
            <p:cNvPr id="34" name="Oval 8"/>
            <p:cNvSpPr>
              <a:spLocks noChangeArrowheads="1"/>
            </p:cNvSpPr>
            <p:nvPr/>
          </p:nvSpPr>
          <p:spPr bwMode="auto">
            <a:xfrm>
              <a:off x="676241" y="3786186"/>
              <a:ext cx="2344737" cy="2209800"/>
            </a:xfrm>
            <a:prstGeom prst="ellipse">
              <a:avLst/>
            </a:prstGeom>
            <a:noFill/>
            <a:ln w="9525">
              <a:solidFill>
                <a:sysClr val="windowText" lastClr="000000"/>
              </a:solidFill>
              <a:round/>
              <a:headEnd/>
              <a:tailEnd/>
            </a:ln>
          </p:spPr>
          <p:txBody>
            <a:bodyPr wrap="none" anchor="ct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ea typeface="宋体"/>
              </a:endParaRPr>
            </a:p>
          </p:txBody>
        </p:sp>
        <p:sp>
          <p:nvSpPr>
            <p:cNvPr id="35" name="Line 9"/>
            <p:cNvSpPr>
              <a:spLocks noChangeShapeType="1"/>
            </p:cNvSpPr>
            <p:nvPr/>
          </p:nvSpPr>
          <p:spPr bwMode="auto">
            <a:xfrm>
              <a:off x="1801782" y="3100386"/>
              <a:ext cx="8723" cy="3346134"/>
            </a:xfrm>
            <a:prstGeom prst="line">
              <a:avLst/>
            </a:prstGeom>
            <a:noFill/>
            <a:ln w="9525">
              <a:solidFill>
                <a:sysClr val="windowText" lastClr="00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36" name="Line 10"/>
            <p:cNvSpPr>
              <a:spLocks noChangeShapeType="1"/>
            </p:cNvSpPr>
            <p:nvPr/>
          </p:nvSpPr>
          <p:spPr bwMode="auto">
            <a:xfrm>
              <a:off x="49761" y="4915822"/>
              <a:ext cx="3809428" cy="14952"/>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endParaRPr>
            </a:p>
          </p:txBody>
        </p:sp>
        <p:sp>
          <p:nvSpPr>
            <p:cNvPr id="37" name="Text Box 11"/>
            <p:cNvSpPr txBox="1">
              <a:spLocks noChangeArrowheads="1"/>
            </p:cNvSpPr>
            <p:nvPr/>
          </p:nvSpPr>
          <p:spPr bwMode="auto">
            <a:xfrm>
              <a:off x="1801783" y="4915822"/>
              <a:ext cx="25082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a:ea typeface="宋体" panose="02010600030101010101" pitchFamily="2" charset="-122"/>
                </a:rPr>
                <a:t>0</a:t>
              </a:r>
            </a:p>
          </p:txBody>
        </p:sp>
        <p:sp>
          <p:nvSpPr>
            <p:cNvPr id="38" name="Text Box 17"/>
            <p:cNvSpPr txBox="1">
              <a:spLocks noChangeArrowheads="1"/>
            </p:cNvSpPr>
            <p:nvPr/>
          </p:nvSpPr>
          <p:spPr bwMode="auto">
            <a:xfrm>
              <a:off x="3711553" y="4702472"/>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a:ea typeface="宋体" panose="02010600030101010101" pitchFamily="2" charset="-122"/>
                </a:rPr>
                <a:t>Re</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p>
          </p:txBody>
        </p:sp>
        <p:sp>
          <p:nvSpPr>
            <p:cNvPr id="39" name="Text Box 17"/>
            <p:cNvSpPr txBox="1">
              <a:spLocks noChangeArrowheads="1"/>
            </p:cNvSpPr>
            <p:nvPr/>
          </p:nvSpPr>
          <p:spPr bwMode="auto">
            <a:xfrm>
              <a:off x="1408870" y="2638721"/>
              <a:ext cx="87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ctr" latinLnBrk="0" hangingPunct="1">
                <a:lnSpc>
                  <a:spcPct val="100000"/>
                </a:lnSpc>
                <a:spcBef>
                  <a:spcPct val="50000"/>
                </a:spcBef>
                <a:spcAft>
                  <a:spcPts val="0"/>
                </a:spcAft>
                <a:buClrTx/>
                <a:buSzTx/>
                <a:buFontTx/>
                <a:buNone/>
                <a:tabLst/>
                <a:defRPr/>
              </a:pPr>
              <a:r>
                <a:rPr kumimoji="0" lang="en-US" altLang="zh-CN" sz="2400" b="1" i="1" u="none" strike="noStrike" kern="0" cap="none" spc="0" normalizeH="0" baseline="0" noProof="0" dirty="0">
                  <a:ln>
                    <a:noFill/>
                  </a:ln>
                  <a:solidFill>
                    <a:prstClr val="black"/>
                  </a:solidFill>
                  <a:effectLst/>
                  <a:uLnTx/>
                  <a:uFillTx/>
                  <a:latin typeface="Times New Roman"/>
                  <a:ea typeface="宋体" panose="02010600030101010101" pitchFamily="2" charset="-122"/>
                </a:rPr>
                <a:t>j</a:t>
              </a:r>
              <a:r>
                <a:rPr kumimoji="0" lang="en-US" altLang="zh-CN" sz="900" b="1" i="1" u="none" strike="noStrike" kern="0" cap="none" spc="0" normalizeH="0" baseline="0" noProof="0" dirty="0">
                  <a:ln>
                    <a:noFill/>
                  </a:ln>
                  <a:solidFill>
                    <a:prstClr val="black"/>
                  </a:solidFill>
                  <a:effectLst/>
                  <a:uLnTx/>
                  <a:uFillTx/>
                  <a:latin typeface="Times New Roman"/>
                  <a:ea typeface="宋体" panose="02010600030101010101" pitchFamily="2" charset="-122"/>
                </a:rPr>
                <a:t> </a:t>
              </a:r>
              <a:r>
                <a:rPr kumimoji="0" lang="en-US" altLang="zh-CN" sz="2400" b="1" i="0" u="none" strike="noStrike" kern="0" cap="none" spc="0" normalizeH="0" baseline="0" noProof="0" dirty="0" err="1">
                  <a:ln>
                    <a:noFill/>
                  </a:ln>
                  <a:solidFill>
                    <a:prstClr val="black"/>
                  </a:solidFill>
                  <a:effectLst/>
                  <a:uLnTx/>
                  <a:uFillTx/>
                  <a:latin typeface="Times New Roman"/>
                  <a:ea typeface="宋体" panose="02010600030101010101" pitchFamily="2" charset="-122"/>
                </a:rPr>
                <a:t>Im</a:t>
              </a:r>
              <a:r>
                <a:rPr lang="en-US" altLang="zh-CN" sz="2000" b="1" kern="0" dirty="0">
                  <a:solidFill>
                    <a:prstClr val="black"/>
                  </a:solidFill>
                  <a:latin typeface="Times New Roman"/>
                </a:rPr>
                <a:t>[</a:t>
              </a:r>
              <a:r>
                <a:rPr lang="en-US" altLang="zh-CN" sz="2000" b="1" i="1" kern="0" dirty="0">
                  <a:solidFill>
                    <a:prstClr val="black"/>
                  </a:solidFill>
                  <a:latin typeface="Times New Roman"/>
                </a:rPr>
                <a:t>z</a:t>
              </a:r>
              <a:r>
                <a:rPr lang="en-US" altLang="zh-CN" sz="2000" b="1" kern="0" dirty="0">
                  <a:solidFill>
                    <a:prstClr val="black"/>
                  </a:solidFill>
                  <a:latin typeface="Times New Roman"/>
                </a:rPr>
                <a:t>]</a:t>
              </a:r>
            </a:p>
          </p:txBody>
        </p:sp>
      </p:grpSp>
      <p:graphicFrame>
        <p:nvGraphicFramePr>
          <p:cNvPr id="40" name="对象 39"/>
          <p:cNvGraphicFramePr>
            <a:graphicFrameLocks noChangeAspect="1"/>
          </p:cNvGraphicFramePr>
          <p:nvPr>
            <p:extLst>
              <p:ext uri="{D42A27DB-BD31-4B8C-83A1-F6EECF244321}">
                <p14:modId xmlns:p14="http://schemas.microsoft.com/office/powerpoint/2010/main" val="1675657967"/>
              </p:ext>
            </p:extLst>
          </p:nvPr>
        </p:nvGraphicFramePr>
        <p:xfrm>
          <a:off x="5168244" y="3956506"/>
          <a:ext cx="197856" cy="212976"/>
        </p:xfrm>
        <a:graphic>
          <a:graphicData uri="http://schemas.openxmlformats.org/presentationml/2006/ole">
            <mc:AlternateContent xmlns:mc="http://schemas.openxmlformats.org/markup-compatibility/2006">
              <mc:Choice xmlns:v="urn:schemas-microsoft-com:vml" Requires="v">
                <p:oleObj name="Equation" r:id="rId4" imgW="164880" imgH="177480" progId="Equation.DSMT4">
                  <p:embed/>
                </p:oleObj>
              </mc:Choice>
              <mc:Fallback>
                <p:oleObj name="Equation" r:id="rId4" imgW="164880" imgH="177480" progId="Equation.DSMT4">
                  <p:embed/>
                  <p:pic>
                    <p:nvPicPr>
                      <p:cNvPr id="40" name="对象 39"/>
                      <p:cNvPicPr/>
                      <p:nvPr/>
                    </p:nvPicPr>
                    <p:blipFill>
                      <a:blip r:embed="rId5"/>
                      <a:stretch>
                        <a:fillRect/>
                      </a:stretch>
                    </p:blipFill>
                    <p:spPr>
                      <a:xfrm>
                        <a:off x="5168244" y="3956506"/>
                        <a:ext cx="197856" cy="212976"/>
                      </a:xfrm>
                      <a:prstGeom prst="rect">
                        <a:avLst/>
                      </a:prstGeom>
                    </p:spPr>
                  </p:pic>
                </p:oleObj>
              </mc:Fallback>
            </mc:AlternateContent>
          </a:graphicData>
        </a:graphic>
      </p:graphicFrame>
      <p:graphicFrame>
        <p:nvGraphicFramePr>
          <p:cNvPr id="41" name="对象 7"/>
          <p:cNvGraphicFramePr>
            <a:graphicFrameLocks noChangeAspect="1"/>
          </p:cNvGraphicFramePr>
          <p:nvPr>
            <p:extLst>
              <p:ext uri="{D42A27DB-BD31-4B8C-83A1-F6EECF244321}">
                <p14:modId xmlns:p14="http://schemas.microsoft.com/office/powerpoint/2010/main" val="261488862"/>
              </p:ext>
            </p:extLst>
          </p:nvPr>
        </p:nvGraphicFramePr>
        <p:xfrm>
          <a:off x="4931761" y="4165336"/>
          <a:ext cx="406400" cy="330200"/>
        </p:xfrm>
        <a:graphic>
          <a:graphicData uri="http://schemas.openxmlformats.org/presentationml/2006/ole">
            <mc:AlternateContent xmlns:mc="http://schemas.openxmlformats.org/markup-compatibility/2006">
              <mc:Choice xmlns:v="urn:schemas-microsoft-com:vml" Requires="v">
                <p:oleObj name="Equation" r:id="rId8" imgW="203040" imgH="164880" progId="Equation.DSMT4">
                  <p:embed/>
                </p:oleObj>
              </mc:Choice>
              <mc:Fallback>
                <p:oleObj name="Equation" r:id="rId8" imgW="203040" imgH="164880" progId="Equation.DSMT4">
                  <p:embed/>
                  <p:pic>
                    <p:nvPicPr>
                      <p:cNvPr id="41" name="对象 7"/>
                      <p:cNvPicPr>
                        <a:picLocks noChangeAspect="1" noChangeArrowheads="1"/>
                      </p:cNvPicPr>
                      <p:nvPr/>
                    </p:nvPicPr>
                    <p:blipFill>
                      <a:blip r:embed="rId9"/>
                      <a:srcRect/>
                      <a:stretch>
                        <a:fillRect/>
                      </a:stretch>
                    </p:blipFill>
                    <p:spPr bwMode="auto">
                      <a:xfrm>
                        <a:off x="4931761" y="4165336"/>
                        <a:ext cx="406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 name="对象 7"/>
          <p:cNvGraphicFramePr>
            <a:graphicFrameLocks noChangeAspect="1"/>
          </p:cNvGraphicFramePr>
          <p:nvPr>
            <p:extLst>
              <p:ext uri="{D42A27DB-BD31-4B8C-83A1-F6EECF244321}">
                <p14:modId xmlns:p14="http://schemas.microsoft.com/office/powerpoint/2010/main" val="2881299777"/>
              </p:ext>
            </p:extLst>
          </p:nvPr>
        </p:nvGraphicFramePr>
        <p:xfrm>
          <a:off x="1382713" y="5737225"/>
          <a:ext cx="788256" cy="408204"/>
        </p:xfrm>
        <a:graphic>
          <a:graphicData uri="http://schemas.openxmlformats.org/presentationml/2006/ole">
            <mc:AlternateContent xmlns:mc="http://schemas.openxmlformats.org/markup-compatibility/2006">
              <mc:Choice xmlns:v="urn:schemas-microsoft-com:vml" Requires="v">
                <p:oleObj name="Equation" r:id="rId10" imgW="342720" imgH="177480" progId="Equation.DSMT4">
                  <p:embed/>
                </p:oleObj>
              </mc:Choice>
              <mc:Fallback>
                <p:oleObj name="Equation" r:id="rId10" imgW="342720" imgH="177480" progId="Equation.DSMT4">
                  <p:embed/>
                  <p:pic>
                    <p:nvPicPr>
                      <p:cNvPr id="44" name="对象 7"/>
                      <p:cNvPicPr>
                        <a:picLocks noChangeAspect="1" noChangeArrowheads="1"/>
                      </p:cNvPicPr>
                      <p:nvPr/>
                    </p:nvPicPr>
                    <p:blipFill>
                      <a:blip r:embed="rId11"/>
                      <a:srcRect/>
                      <a:stretch>
                        <a:fillRect/>
                      </a:stretch>
                    </p:blipFill>
                    <p:spPr bwMode="auto">
                      <a:xfrm>
                        <a:off x="1382713" y="5737225"/>
                        <a:ext cx="788256" cy="408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 name="对象 7"/>
          <p:cNvGraphicFramePr>
            <a:graphicFrameLocks noChangeAspect="1"/>
          </p:cNvGraphicFramePr>
          <p:nvPr>
            <p:extLst>
              <p:ext uri="{D42A27DB-BD31-4B8C-83A1-F6EECF244321}">
                <p14:modId xmlns:p14="http://schemas.microsoft.com/office/powerpoint/2010/main" val="2439545479"/>
              </p:ext>
            </p:extLst>
          </p:nvPr>
        </p:nvGraphicFramePr>
        <p:xfrm>
          <a:off x="6103938" y="5675313"/>
          <a:ext cx="992772" cy="408204"/>
        </p:xfrm>
        <a:graphic>
          <a:graphicData uri="http://schemas.openxmlformats.org/presentationml/2006/ole">
            <mc:AlternateContent xmlns:mc="http://schemas.openxmlformats.org/markup-compatibility/2006">
              <mc:Choice xmlns:v="urn:schemas-microsoft-com:vml" Requires="v">
                <p:oleObj name="Equation" r:id="rId12" imgW="431640" imgH="177480" progId="Equation.DSMT4">
                  <p:embed/>
                </p:oleObj>
              </mc:Choice>
              <mc:Fallback>
                <p:oleObj name="Equation" r:id="rId12" imgW="431640" imgH="177480" progId="Equation.DSMT4">
                  <p:embed/>
                  <p:pic>
                    <p:nvPicPr>
                      <p:cNvPr id="45" name="对象 7"/>
                      <p:cNvPicPr>
                        <a:picLocks noChangeAspect="1" noChangeArrowheads="1"/>
                      </p:cNvPicPr>
                      <p:nvPr/>
                    </p:nvPicPr>
                    <p:blipFill>
                      <a:blip r:embed="rId13"/>
                      <a:srcRect/>
                      <a:stretch>
                        <a:fillRect/>
                      </a:stretch>
                    </p:blipFill>
                    <p:spPr bwMode="auto">
                      <a:xfrm>
                        <a:off x="6103938" y="5675313"/>
                        <a:ext cx="992772" cy="408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520636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5"/>
          <p:cNvSpPr txBox="1">
            <a:spLocks noChangeArrowheads="1"/>
          </p:cNvSpPr>
          <p:nvPr/>
        </p:nvSpPr>
        <p:spPr bwMode="auto">
          <a:xfrm>
            <a:off x="1219200" y="1028986"/>
            <a:ext cx="13145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第一类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24" name="文本框 5"/>
          <p:cNvSpPr txBox="1">
            <a:spLocks noChangeArrowheads="1"/>
          </p:cNvSpPr>
          <p:nvPr/>
        </p:nvSpPr>
        <p:spPr bwMode="auto">
          <a:xfrm>
            <a:off x="3009677" y="1019461"/>
            <a:ext cx="14861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第二类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25" name="文本框 5"/>
          <p:cNvSpPr txBox="1">
            <a:spLocks noChangeArrowheads="1"/>
          </p:cNvSpPr>
          <p:nvPr/>
        </p:nvSpPr>
        <p:spPr bwMode="auto">
          <a:xfrm>
            <a:off x="5010062" y="1019461"/>
            <a:ext cx="1314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第三类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26" name="文本框 5"/>
          <p:cNvSpPr txBox="1">
            <a:spLocks noChangeArrowheads="1"/>
          </p:cNvSpPr>
          <p:nvPr/>
        </p:nvSpPr>
        <p:spPr bwMode="auto">
          <a:xfrm>
            <a:off x="6971168" y="1009936"/>
            <a:ext cx="12584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spcBef>
                <a:spcPct val="0"/>
              </a:spcBef>
              <a:spcAft>
                <a:spcPts val="0"/>
              </a:spcAft>
              <a:buFontTx/>
              <a:buNone/>
            </a:pPr>
            <a:r>
              <a:rPr lang="zh-CN" altLang="en-US" sz="2800" b="1" dirty="0">
                <a:solidFill>
                  <a:prstClr val="black"/>
                </a:solidFill>
                <a:latin typeface="Times New Roman" panose="02020603050405020304" pitchFamily="18" charset="0"/>
                <a:cs typeface="Times New Roman" panose="02020603050405020304" pitchFamily="18" charset="0"/>
              </a:rPr>
              <a:t>第四类</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cxnSp>
        <p:nvCxnSpPr>
          <p:cNvPr id="27" name="直接连接符 26"/>
          <p:cNvCxnSpPr/>
          <p:nvPr/>
        </p:nvCxnSpPr>
        <p:spPr>
          <a:xfrm>
            <a:off x="914400" y="1628406"/>
            <a:ext cx="7747200" cy="0"/>
          </a:xfrm>
          <a:prstGeom prst="line">
            <a:avLst/>
          </a:prstGeom>
          <a:noFill/>
          <a:ln w="6350" cap="flat" cmpd="sng" algn="ctr">
            <a:solidFill>
              <a:srgbClr val="4472C4"/>
            </a:solidFill>
            <a:prstDash val="solid"/>
            <a:miter lim="800000"/>
          </a:ln>
          <a:effectLst/>
        </p:spPr>
      </p:cxnSp>
      <p:cxnSp>
        <p:nvCxnSpPr>
          <p:cNvPr id="28" name="直接连接符 27"/>
          <p:cNvCxnSpPr/>
          <p:nvPr/>
        </p:nvCxnSpPr>
        <p:spPr>
          <a:xfrm>
            <a:off x="914400" y="2955460"/>
            <a:ext cx="7747200" cy="0"/>
          </a:xfrm>
          <a:prstGeom prst="line">
            <a:avLst/>
          </a:prstGeom>
          <a:noFill/>
          <a:ln w="6350" cap="flat" cmpd="sng" algn="ctr">
            <a:solidFill>
              <a:srgbClr val="4472C4"/>
            </a:solidFill>
            <a:prstDash val="solid"/>
            <a:miter lim="800000"/>
          </a:ln>
          <a:effectLst/>
        </p:spPr>
      </p:cxnSp>
      <p:cxnSp>
        <p:nvCxnSpPr>
          <p:cNvPr id="29" name="直接连接符 28"/>
          <p:cNvCxnSpPr/>
          <p:nvPr/>
        </p:nvCxnSpPr>
        <p:spPr>
          <a:xfrm>
            <a:off x="921600" y="4064170"/>
            <a:ext cx="7765200" cy="0"/>
          </a:xfrm>
          <a:prstGeom prst="line">
            <a:avLst/>
          </a:prstGeom>
          <a:noFill/>
          <a:ln w="6350" cap="flat" cmpd="sng" algn="ctr">
            <a:solidFill>
              <a:srgbClr val="4472C4"/>
            </a:solidFill>
            <a:prstDash val="solid"/>
            <a:miter lim="800000"/>
          </a:ln>
          <a:effectLst/>
        </p:spPr>
      </p:cxnSp>
      <p:cxnSp>
        <p:nvCxnSpPr>
          <p:cNvPr id="31" name="直接连接符 30"/>
          <p:cNvCxnSpPr/>
          <p:nvPr/>
        </p:nvCxnSpPr>
        <p:spPr>
          <a:xfrm>
            <a:off x="907200" y="6194616"/>
            <a:ext cx="7754400" cy="0"/>
          </a:xfrm>
          <a:prstGeom prst="line">
            <a:avLst/>
          </a:prstGeom>
          <a:noFill/>
          <a:ln w="6350" cap="flat" cmpd="sng" algn="ctr">
            <a:solidFill>
              <a:srgbClr val="4472C4"/>
            </a:solidFill>
            <a:prstDash val="solid"/>
            <a:miter lim="800000"/>
          </a:ln>
          <a:effectLst/>
        </p:spPr>
      </p:cxnSp>
      <p:cxnSp>
        <p:nvCxnSpPr>
          <p:cNvPr id="32" name="直接连接符 31"/>
          <p:cNvCxnSpPr/>
          <p:nvPr/>
        </p:nvCxnSpPr>
        <p:spPr>
          <a:xfrm>
            <a:off x="2819400" y="912006"/>
            <a:ext cx="0" cy="2052000"/>
          </a:xfrm>
          <a:prstGeom prst="line">
            <a:avLst/>
          </a:prstGeom>
          <a:noFill/>
          <a:ln w="6350" cap="flat" cmpd="sng" algn="ctr">
            <a:solidFill>
              <a:srgbClr val="4472C4"/>
            </a:solidFill>
            <a:prstDash val="solid"/>
            <a:miter lim="800000"/>
          </a:ln>
          <a:effectLst/>
        </p:spPr>
      </p:cxnSp>
      <p:cxnSp>
        <p:nvCxnSpPr>
          <p:cNvPr id="33" name="直接连接符 32"/>
          <p:cNvCxnSpPr/>
          <p:nvPr/>
        </p:nvCxnSpPr>
        <p:spPr>
          <a:xfrm>
            <a:off x="4800600" y="942606"/>
            <a:ext cx="0" cy="3121564"/>
          </a:xfrm>
          <a:prstGeom prst="line">
            <a:avLst/>
          </a:prstGeom>
          <a:noFill/>
          <a:ln w="6350" cap="flat" cmpd="sng" algn="ctr">
            <a:solidFill>
              <a:srgbClr val="4472C4"/>
            </a:solidFill>
            <a:prstDash val="solid"/>
            <a:miter lim="800000"/>
          </a:ln>
          <a:effectLst/>
        </p:spPr>
      </p:cxnSp>
      <p:cxnSp>
        <p:nvCxnSpPr>
          <p:cNvPr id="34" name="直接连接符 33"/>
          <p:cNvCxnSpPr/>
          <p:nvPr/>
        </p:nvCxnSpPr>
        <p:spPr>
          <a:xfrm flipH="1">
            <a:off x="8661600" y="942606"/>
            <a:ext cx="25200" cy="5248942"/>
          </a:xfrm>
          <a:prstGeom prst="line">
            <a:avLst/>
          </a:prstGeom>
          <a:noFill/>
          <a:ln w="6350" cap="flat" cmpd="sng" algn="ctr">
            <a:solidFill>
              <a:srgbClr val="4472C4"/>
            </a:solidFill>
            <a:prstDash val="solid"/>
            <a:miter lim="800000"/>
          </a:ln>
          <a:effectLst/>
        </p:spPr>
      </p:cxnSp>
      <p:sp>
        <p:nvSpPr>
          <p:cNvPr id="35" name="矩形 34"/>
          <p:cNvSpPr/>
          <p:nvPr/>
        </p:nvSpPr>
        <p:spPr>
          <a:xfrm>
            <a:off x="914400" y="1780806"/>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偶对称，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为奇数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sp>
        <p:nvSpPr>
          <p:cNvPr id="36" name="矩形 35"/>
          <p:cNvSpPr/>
          <p:nvPr/>
        </p:nvSpPr>
        <p:spPr>
          <a:xfrm>
            <a:off x="2830189" y="1767263"/>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偶对称，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为偶数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sp>
        <p:nvSpPr>
          <p:cNvPr id="37" name="矩形 36"/>
          <p:cNvSpPr/>
          <p:nvPr/>
        </p:nvSpPr>
        <p:spPr>
          <a:xfrm>
            <a:off x="4724400" y="1750178"/>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为奇数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sp>
        <p:nvSpPr>
          <p:cNvPr id="38" name="矩形 37"/>
          <p:cNvSpPr/>
          <p:nvPr/>
        </p:nvSpPr>
        <p:spPr>
          <a:xfrm>
            <a:off x="6705600" y="1736635"/>
            <a:ext cx="1970411" cy="830997"/>
          </a:xfrm>
          <a:prstGeom prst="rect">
            <a:avLst/>
          </a:prstGeom>
        </p:spPr>
        <p:txBody>
          <a:bodyPr wrap="none">
            <a:spAutoFit/>
          </a:bodyPr>
          <a:lstStyle/>
          <a:p>
            <a:pPr>
              <a:spcBef>
                <a:spcPts val="0"/>
              </a:spcBef>
              <a:buFontTx/>
              <a:buNone/>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奇对称，</a:t>
            </a:r>
            <a:endParaRPr kumimoji="1" lang="en-US" altLang="zh-CN" sz="2400" b="1" dirty="0">
              <a:solidFill>
                <a:srgbClr val="000000"/>
              </a:solidFill>
              <a:latin typeface="Times New Roman" panose="02020603050405020304" pitchFamily="18" charset="0"/>
              <a:ea typeface="宋体" panose="02010600030101010101" pitchFamily="2" charset="-122"/>
            </a:endParaRPr>
          </a:p>
          <a:p>
            <a:pPr>
              <a:spcBef>
                <a:spcPts val="0"/>
              </a:spcBef>
              <a:buFontTx/>
              <a:buNone/>
            </a:pPr>
            <a:r>
              <a:rPr kumimoji="1" lang="zh-CN" altLang="en-US" sz="2400" b="1" dirty="0">
                <a:solidFill>
                  <a:srgbClr val="000000"/>
                </a:solidFill>
                <a:latin typeface="Times New Roman" panose="02020603050405020304" pitchFamily="18" charset="0"/>
                <a:ea typeface="宋体" panose="02010600030101010101" pitchFamily="2" charset="-122"/>
              </a:rPr>
              <a:t>长度</a:t>
            </a:r>
            <a:r>
              <a:rPr kumimoji="1" lang="en-US" altLang="zh-CN" sz="2400" b="1" i="1" dirty="0">
                <a:solidFill>
                  <a:srgbClr val="000000"/>
                </a:solidFill>
                <a:latin typeface="Times New Roman" panose="02020603050405020304" pitchFamily="18" charset="0"/>
                <a:ea typeface="宋体" panose="02010600030101010101" pitchFamily="2" charset="-122"/>
              </a:rPr>
              <a:t>N</a:t>
            </a:r>
            <a:r>
              <a:rPr kumimoji="1" lang="zh-CN" altLang="en-US" sz="2400" b="1" dirty="0">
                <a:solidFill>
                  <a:srgbClr val="000000"/>
                </a:solidFill>
                <a:latin typeface="Times New Roman" panose="02020603050405020304" pitchFamily="18" charset="0"/>
                <a:ea typeface="宋体" panose="02010600030101010101" pitchFamily="2" charset="-122"/>
              </a:rPr>
              <a:t>为偶数</a:t>
            </a:r>
            <a:endParaRPr kumimoji="1" lang="en-US" altLang="zh-CN" sz="2400" b="1" dirty="0">
              <a:solidFill>
                <a:srgbClr val="000000"/>
              </a:solidFill>
              <a:latin typeface="Times New Roman" panose="02020603050405020304" pitchFamily="18" charset="0"/>
              <a:ea typeface="宋体" panose="02010600030101010101" pitchFamily="2" charset="-122"/>
            </a:endParaRPr>
          </a:p>
        </p:txBody>
      </p:sp>
      <p:cxnSp>
        <p:nvCxnSpPr>
          <p:cNvPr id="39" name="直接连接符 38"/>
          <p:cNvCxnSpPr/>
          <p:nvPr/>
        </p:nvCxnSpPr>
        <p:spPr>
          <a:xfrm>
            <a:off x="914400" y="942606"/>
            <a:ext cx="7200" cy="5248942"/>
          </a:xfrm>
          <a:prstGeom prst="line">
            <a:avLst/>
          </a:prstGeom>
          <a:noFill/>
          <a:ln w="6350" cap="flat" cmpd="sng" algn="ctr">
            <a:solidFill>
              <a:srgbClr val="4472C4"/>
            </a:solidFill>
            <a:prstDash val="solid"/>
            <a:miter lim="800000"/>
          </a:ln>
          <a:effectLst/>
        </p:spPr>
      </p:cxnSp>
      <p:cxnSp>
        <p:nvCxnSpPr>
          <p:cNvPr id="42" name="直接连接符 41"/>
          <p:cNvCxnSpPr/>
          <p:nvPr/>
        </p:nvCxnSpPr>
        <p:spPr>
          <a:xfrm flipH="1">
            <a:off x="2815810" y="2971800"/>
            <a:ext cx="3592" cy="1092370"/>
          </a:xfrm>
          <a:prstGeom prst="line">
            <a:avLst/>
          </a:prstGeom>
          <a:noFill/>
          <a:ln w="6350" cap="flat" cmpd="sng" algn="ctr">
            <a:solidFill>
              <a:srgbClr val="4472C4"/>
            </a:solidFill>
            <a:prstDash val="solid"/>
            <a:miter lim="800000"/>
          </a:ln>
          <a:effectLst/>
        </p:spPr>
      </p:cxnSp>
      <p:cxnSp>
        <p:nvCxnSpPr>
          <p:cNvPr id="43" name="直接连接符 42"/>
          <p:cNvCxnSpPr/>
          <p:nvPr/>
        </p:nvCxnSpPr>
        <p:spPr>
          <a:xfrm flipH="1">
            <a:off x="6705600" y="2971800"/>
            <a:ext cx="1" cy="1092370"/>
          </a:xfrm>
          <a:prstGeom prst="line">
            <a:avLst/>
          </a:prstGeom>
          <a:noFill/>
          <a:ln w="6350" cap="flat" cmpd="sng" algn="ctr">
            <a:solidFill>
              <a:srgbClr val="4472C4"/>
            </a:solidFill>
            <a:prstDash val="solid"/>
            <a:miter lim="800000"/>
          </a:ln>
          <a:effectLst/>
        </p:spPr>
      </p:cxnSp>
      <p:cxnSp>
        <p:nvCxnSpPr>
          <p:cNvPr id="51" name="直接连接符 50"/>
          <p:cNvCxnSpPr/>
          <p:nvPr/>
        </p:nvCxnSpPr>
        <p:spPr>
          <a:xfrm>
            <a:off x="6705600" y="912006"/>
            <a:ext cx="0" cy="2052000"/>
          </a:xfrm>
          <a:prstGeom prst="line">
            <a:avLst/>
          </a:prstGeom>
          <a:noFill/>
          <a:ln w="6350" cap="flat" cmpd="sng" algn="ctr">
            <a:solidFill>
              <a:srgbClr val="4472C4"/>
            </a:solidFill>
            <a:prstDash val="solid"/>
            <a:miter lim="800000"/>
          </a:ln>
          <a:effectLst/>
        </p:spPr>
      </p:cxnSp>
      <p:sp>
        <p:nvSpPr>
          <p:cNvPr id="62" name="矩形 61"/>
          <p:cNvSpPr/>
          <p:nvPr/>
        </p:nvSpPr>
        <p:spPr>
          <a:xfrm>
            <a:off x="6869091" y="3063688"/>
            <a:ext cx="1661032" cy="83099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z</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在</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必有零点</a:t>
            </a:r>
            <a:endParaRPr kumimoji="0" lang="zh-CN" altLang="en-US" sz="2400" b="1" i="0" u="none" strike="noStrike" kern="0" cap="none" spc="0" normalizeH="0" baseline="0" noProof="0" dirty="0">
              <a:ln>
                <a:noFill/>
              </a:ln>
              <a:effectLst/>
              <a:uLnTx/>
              <a:uFillTx/>
            </a:endParaRPr>
          </a:p>
        </p:txBody>
      </p:sp>
      <p:sp>
        <p:nvSpPr>
          <p:cNvPr id="63" name="矩形 62"/>
          <p:cNvSpPr/>
          <p:nvPr/>
        </p:nvSpPr>
        <p:spPr>
          <a:xfrm>
            <a:off x="2958103" y="3078361"/>
            <a:ext cx="1846980" cy="83099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z</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在</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必有零点</a:t>
            </a:r>
            <a:endParaRPr kumimoji="0" lang="zh-CN" altLang="en-US" sz="2400" b="1" i="0" u="none" strike="noStrike" kern="0" cap="none" spc="0" normalizeH="0" baseline="0" noProof="0" dirty="0">
              <a:ln>
                <a:noFill/>
              </a:ln>
              <a:effectLst/>
              <a:uLnTx/>
              <a:uFillTx/>
            </a:endParaRPr>
          </a:p>
        </p:txBody>
      </p:sp>
      <p:sp>
        <p:nvSpPr>
          <p:cNvPr id="64" name="矩形 63"/>
          <p:cNvSpPr/>
          <p:nvPr/>
        </p:nvSpPr>
        <p:spPr>
          <a:xfrm>
            <a:off x="4998513" y="2927256"/>
            <a:ext cx="1661032" cy="120032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1" dirty="0">
                <a:solidFill>
                  <a:srgbClr val="000000"/>
                </a:solidFill>
                <a:latin typeface="Times New Roman" panose="02020603050405020304" pitchFamily="18" charset="0"/>
                <a:ea typeface="宋体" panose="02010600030101010101" pitchFamily="2" charset="-122"/>
              </a:rPr>
              <a:t>H</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en-US" altLang="zh-CN" sz="2400" b="1" i="1" dirty="0">
                <a:solidFill>
                  <a:srgbClr val="000000"/>
                </a:solidFill>
                <a:latin typeface="Times New Roman" panose="02020603050405020304" pitchFamily="18" charset="0"/>
                <a:ea typeface="宋体" panose="02010600030101010101" pitchFamily="2" charset="-122"/>
              </a:rPr>
              <a:t>z</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在</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eaLnBrk="1" fontAlgn="auto" hangingPunct="1">
              <a:spcBef>
                <a:spcPts val="0"/>
              </a:spcBef>
              <a:spcAft>
                <a:spcPts val="0"/>
              </a:spcAft>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和</a:t>
            </a:r>
            <a:r>
              <a:rPr lang="en-US" altLang="zh-CN" sz="2400" b="1" i="1" dirty="0">
                <a:latin typeface="Times New Roman"/>
                <a:ea typeface="宋体" panose="02010600030101010101" pitchFamily="2" charset="-122"/>
              </a:rPr>
              <a:t>z = −</a:t>
            </a:r>
            <a:r>
              <a:rPr lang="en-US" altLang="zh-CN" sz="2400" b="1" dirty="0">
                <a:latin typeface="Times New Roman"/>
                <a:ea typeface="宋体" panose="02010600030101010101"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必有零点</a:t>
            </a:r>
            <a:endParaRPr kumimoji="0" lang="zh-CN" altLang="en-US" sz="2400" b="1" i="0" u="none" strike="noStrike" kern="0" cap="none" spc="0" normalizeH="0" baseline="0" noProof="0" dirty="0">
              <a:ln>
                <a:noFill/>
              </a:ln>
              <a:effectLst/>
              <a:uLnTx/>
              <a:uFillTx/>
            </a:endParaRPr>
          </a:p>
        </p:txBody>
      </p:sp>
      <p:grpSp>
        <p:nvGrpSpPr>
          <p:cNvPr id="40" name="组合 2"/>
          <p:cNvGrpSpPr>
            <a:grpSpLocks/>
          </p:cNvGrpSpPr>
          <p:nvPr/>
        </p:nvGrpSpPr>
        <p:grpSpPr bwMode="auto">
          <a:xfrm>
            <a:off x="907200" y="4295423"/>
            <a:ext cx="8765057" cy="949607"/>
            <a:chOff x="304800" y="1285898"/>
            <a:chExt cx="8713787" cy="949221"/>
          </a:xfrm>
        </p:grpSpPr>
        <p:sp>
          <p:nvSpPr>
            <p:cNvPr id="41" name="Rectangle 7"/>
            <p:cNvSpPr>
              <a:spLocks noChangeArrowheads="1"/>
            </p:cNvSpPr>
            <p:nvPr/>
          </p:nvSpPr>
          <p:spPr bwMode="auto">
            <a:xfrm>
              <a:off x="304800" y="1335651"/>
              <a:ext cx="8713787" cy="738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1200"/>
                </a:spcBef>
                <a:buClrTx/>
                <a:buSzTx/>
                <a:buFontTx/>
                <a:buNone/>
                <a:defRPr/>
              </a:pP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若</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 </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     </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是</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H</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的零点， </a:t>
              </a:r>
              <a:r>
                <a:rPr kumimoji="1" lang="en-US" altLang="zh-CN" sz="2800" b="1" i="1" dirty="0">
                  <a:solidFill>
                    <a:srgbClr val="000000"/>
                  </a:solidFill>
                  <a:latin typeface="Times New Roman" panose="02020603050405020304" pitchFamily="18" charset="0"/>
                  <a:ea typeface="宋体"/>
                  <a:cs typeface="Times New Roman" panose="02020603050405020304" pitchFamily="18" charset="0"/>
                </a:rPr>
                <a:t>z </a:t>
              </a:r>
              <a:r>
                <a:rPr kumimoji="1" lang="en-US" altLang="zh-CN" sz="2800" b="1" dirty="0">
                  <a:solidFill>
                    <a:srgbClr val="000000"/>
                  </a:solidFill>
                  <a:latin typeface="Times New Roman" panose="02020603050405020304" pitchFamily="18" charset="0"/>
                  <a:ea typeface="宋体"/>
                  <a:cs typeface="Times New Roman" panose="02020603050405020304" pitchFamily="18" charset="0"/>
                </a:rPr>
                <a:t>=     </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也一定是零点；</a:t>
              </a:r>
              <a:endParaRPr kumimoji="1" lang="en-US" altLang="zh-CN" sz="2800" b="1" dirty="0">
                <a:solidFill>
                  <a:srgbClr val="000000"/>
                </a:solidFill>
                <a:latin typeface="Times New Roman" panose="02020603050405020304" pitchFamily="18" charset="0"/>
                <a:ea typeface="宋体"/>
                <a:cs typeface="Times New Roman" panose="02020603050405020304" pitchFamily="18" charset="0"/>
              </a:endParaRPr>
            </a:p>
          </p:txBody>
        </p:sp>
        <p:graphicFrame>
          <p:nvGraphicFramePr>
            <p:cNvPr id="44" name="Object 8"/>
            <p:cNvGraphicFramePr>
              <a:graphicFrameLocks noChangeAspect="1"/>
            </p:cNvGraphicFramePr>
            <p:nvPr>
              <p:extLst>
                <p:ext uri="{D42A27DB-BD31-4B8C-83A1-F6EECF244321}">
                  <p14:modId xmlns:p14="http://schemas.microsoft.com/office/powerpoint/2010/main" val="1560335025"/>
                </p:ext>
              </p:extLst>
            </p:nvPr>
          </p:nvGraphicFramePr>
          <p:xfrm>
            <a:off x="1244712" y="1486401"/>
            <a:ext cx="306174" cy="503033"/>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44" name="Object 8"/>
                        <p:cNvPicPr>
                          <a:picLocks noChangeAspect="1" noChangeArrowheads="1"/>
                        </p:cNvPicPr>
                        <p:nvPr/>
                      </p:nvPicPr>
                      <p:blipFill>
                        <a:blip r:embed="rId3"/>
                        <a:srcRect/>
                        <a:stretch>
                          <a:fillRect/>
                        </a:stretch>
                      </p:blipFill>
                      <p:spPr bwMode="auto">
                        <a:xfrm>
                          <a:off x="1244712" y="1486401"/>
                          <a:ext cx="306174" cy="5030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9"/>
            <p:cNvGraphicFramePr>
              <a:graphicFrameLocks noChangeAspect="1"/>
            </p:cNvGraphicFramePr>
            <p:nvPr>
              <p:extLst>
                <p:ext uri="{D42A27DB-BD31-4B8C-83A1-F6EECF244321}">
                  <p14:modId xmlns:p14="http://schemas.microsoft.com/office/powerpoint/2010/main" val="743680704"/>
                </p:ext>
              </p:extLst>
            </p:nvPr>
          </p:nvGraphicFramePr>
          <p:xfrm>
            <a:off x="4620551" y="1285898"/>
            <a:ext cx="388172" cy="949221"/>
          </p:xfrm>
          <a:graphic>
            <a:graphicData uri="http://schemas.openxmlformats.org/presentationml/2006/ole">
              <mc:AlternateContent xmlns:mc="http://schemas.openxmlformats.org/markup-compatibility/2006">
                <mc:Choice xmlns:v="urn:schemas-microsoft-com:vml" Requires="v">
                  <p:oleObj name="Equation" r:id="rId4" imgW="177480" imgH="431640" progId="Equation.DSMT4">
                    <p:embed/>
                  </p:oleObj>
                </mc:Choice>
                <mc:Fallback>
                  <p:oleObj name="Equation" r:id="rId4" imgW="177480" imgH="431640" progId="Equation.DSMT4">
                    <p:embed/>
                    <p:pic>
                      <p:nvPicPr>
                        <p:cNvPr id="45" name="Object 9"/>
                        <p:cNvPicPr>
                          <a:picLocks noChangeAspect="1" noChangeArrowheads="1"/>
                        </p:cNvPicPr>
                        <p:nvPr/>
                      </p:nvPicPr>
                      <p:blipFill>
                        <a:blip r:embed="rId5"/>
                        <a:srcRect/>
                        <a:stretch>
                          <a:fillRect/>
                        </a:stretch>
                      </p:blipFill>
                      <p:spPr bwMode="auto">
                        <a:xfrm>
                          <a:off x="4620551" y="1285898"/>
                          <a:ext cx="388172" cy="949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7" name="对象 27"/>
          <p:cNvGraphicFramePr>
            <a:graphicFrameLocks noChangeAspect="1"/>
          </p:cNvGraphicFramePr>
          <p:nvPr>
            <p:extLst>
              <p:ext uri="{D42A27DB-BD31-4B8C-83A1-F6EECF244321}">
                <p14:modId xmlns:p14="http://schemas.microsoft.com/office/powerpoint/2010/main" val="1549326929"/>
              </p:ext>
            </p:extLst>
          </p:nvPr>
        </p:nvGraphicFramePr>
        <p:xfrm>
          <a:off x="1242835" y="5252447"/>
          <a:ext cx="1036637" cy="579437"/>
        </p:xfrm>
        <a:graphic>
          <a:graphicData uri="http://schemas.openxmlformats.org/presentationml/2006/ole">
            <mc:AlternateContent xmlns:mc="http://schemas.openxmlformats.org/markup-compatibility/2006">
              <mc:Choice xmlns:v="urn:schemas-microsoft-com:vml" Requires="v">
                <p:oleObj name="Equation" r:id="rId6" imgW="431640" imgH="241200" progId="Equation.DSMT4">
                  <p:embed/>
                </p:oleObj>
              </mc:Choice>
              <mc:Fallback>
                <p:oleObj name="Equation" r:id="rId6" imgW="431640" imgH="241200" progId="Equation.DSMT4">
                  <p:embed/>
                  <p:pic>
                    <p:nvPicPr>
                      <p:cNvPr id="47" name="对象 27"/>
                      <p:cNvPicPr>
                        <a:picLocks noChangeAspect="1" noChangeArrowheads="1"/>
                      </p:cNvPicPr>
                      <p:nvPr/>
                    </p:nvPicPr>
                    <p:blipFill>
                      <a:blip r:embed="rId7"/>
                      <a:srcRect/>
                      <a:stretch>
                        <a:fillRect/>
                      </a:stretch>
                    </p:blipFill>
                    <p:spPr bwMode="auto">
                      <a:xfrm>
                        <a:off x="1242835" y="5252447"/>
                        <a:ext cx="10366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对象 29"/>
          <p:cNvGraphicFramePr>
            <a:graphicFrameLocks noChangeAspect="1"/>
          </p:cNvGraphicFramePr>
          <p:nvPr>
            <p:extLst>
              <p:ext uri="{D42A27DB-BD31-4B8C-83A1-F6EECF244321}">
                <p14:modId xmlns:p14="http://schemas.microsoft.com/office/powerpoint/2010/main" val="3982976145"/>
              </p:ext>
            </p:extLst>
          </p:nvPr>
        </p:nvGraphicFramePr>
        <p:xfrm>
          <a:off x="2385835" y="5100047"/>
          <a:ext cx="1038225" cy="1036637"/>
        </p:xfrm>
        <a:graphic>
          <a:graphicData uri="http://schemas.openxmlformats.org/presentationml/2006/ole">
            <mc:AlternateContent xmlns:mc="http://schemas.openxmlformats.org/markup-compatibility/2006">
              <mc:Choice xmlns:v="urn:schemas-microsoft-com:vml" Requires="v">
                <p:oleObj name="Equation" r:id="rId8" imgW="431640" imgH="431640" progId="Equation.DSMT4">
                  <p:embed/>
                </p:oleObj>
              </mc:Choice>
              <mc:Fallback>
                <p:oleObj name="Equation" r:id="rId8" imgW="431640" imgH="431640" progId="Equation.DSMT4">
                  <p:embed/>
                  <p:pic>
                    <p:nvPicPr>
                      <p:cNvPr id="48" name="对象 29"/>
                      <p:cNvPicPr>
                        <a:picLocks noChangeAspect="1" noChangeArrowheads="1"/>
                      </p:cNvPicPr>
                      <p:nvPr/>
                    </p:nvPicPr>
                    <p:blipFill>
                      <a:blip r:embed="rId9"/>
                      <a:srcRect/>
                      <a:stretch>
                        <a:fillRect/>
                      </a:stretch>
                    </p:blipFill>
                    <p:spPr bwMode="auto">
                      <a:xfrm>
                        <a:off x="2385835" y="5100047"/>
                        <a:ext cx="103822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 name="矩形 48"/>
          <p:cNvSpPr/>
          <p:nvPr/>
        </p:nvSpPr>
        <p:spPr>
          <a:xfrm>
            <a:off x="3452635" y="5280555"/>
            <a:ext cx="234872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也是其零点。</a:t>
            </a:r>
            <a:endParaRPr kumimoji="0" lang="zh-CN" altLang="en-US" sz="2000" b="1"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5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3381747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9291" y="848380"/>
            <a:ext cx="545342"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cs typeface="Times New Roman" panose="02020603050405020304" pitchFamily="18" charset="0"/>
              </a:rPr>
              <a:t>例</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990600" y="848380"/>
                <a:ext cx="7391400" cy="181588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u="none" strike="noStrike" kern="0" cap="none" spc="0" normalizeH="0" baseline="0" noProof="0" dirty="0">
                    <a:ln>
                      <a:noFill/>
                    </a:ln>
                    <a:solidFill>
                      <a:prstClr val="black"/>
                    </a:solidFill>
                    <a:effectLst/>
                    <a:uLnTx/>
                    <a:uFillTx/>
                    <a:latin typeface="Times New Roman"/>
                    <a:ea typeface="宋体"/>
                  </a:rPr>
                  <a:t>已知线性相位</a:t>
                </a:r>
                <a:r>
                  <a:rPr kumimoji="0" lang="en-US" altLang="zh-CN" sz="2800" b="1" u="none" strike="noStrike" kern="0" cap="none" spc="0" normalizeH="0" baseline="0" noProof="0" dirty="0">
                    <a:ln>
                      <a:noFill/>
                    </a:ln>
                    <a:solidFill>
                      <a:prstClr val="black"/>
                    </a:solidFill>
                    <a:effectLst/>
                    <a:uLnTx/>
                    <a:uFillTx/>
                    <a:latin typeface="Times New Roman"/>
                    <a:ea typeface="宋体"/>
                  </a:rPr>
                  <a:t>FIR</a:t>
                </a:r>
                <a:r>
                  <a:rPr kumimoji="0" lang="zh-CN" altLang="en-US" sz="2800" b="1" u="none" strike="noStrike" kern="0" cap="none" spc="0" normalizeH="0" baseline="0" noProof="0" dirty="0">
                    <a:ln>
                      <a:noFill/>
                    </a:ln>
                    <a:solidFill>
                      <a:prstClr val="black"/>
                    </a:solidFill>
                    <a:effectLst/>
                    <a:uLnTx/>
                    <a:uFillTx/>
                    <a:latin typeface="Times New Roman"/>
                    <a:ea typeface="宋体"/>
                  </a:rPr>
                  <a:t>滤波器的</a:t>
                </a:r>
                <a:r>
                  <a:rPr kumimoji="0" lang="en-US" altLang="zh-CN" sz="2800" b="1" i="1" u="none" strike="noStrike" kern="0" cap="none" spc="0" normalizeH="0" baseline="0" noProof="0" dirty="0">
                    <a:ln>
                      <a:noFill/>
                    </a:ln>
                    <a:solidFill>
                      <a:prstClr val="black"/>
                    </a:solidFill>
                    <a:effectLst/>
                    <a:uLnTx/>
                    <a:uFillTx/>
                    <a:latin typeface="Times New Roman"/>
                    <a:ea typeface="宋体"/>
                  </a:rPr>
                  <a:t>h</a:t>
                </a:r>
                <a:r>
                  <a:rPr kumimoji="0" lang="en-US" altLang="zh-CN" sz="2800" b="1" u="none" strike="noStrike" kern="0" cap="none" spc="0" normalizeH="0" baseline="0" noProof="0" dirty="0">
                    <a:ln>
                      <a:noFill/>
                    </a:ln>
                    <a:solidFill>
                      <a:prstClr val="black"/>
                    </a:solidFill>
                    <a:effectLst/>
                    <a:uLnTx/>
                    <a:uFillTx/>
                    <a:latin typeface="Times New Roman"/>
                    <a:ea typeface="宋体"/>
                  </a:rPr>
                  <a:t>(</a:t>
                </a:r>
                <a:r>
                  <a:rPr kumimoji="0" lang="en-US" altLang="zh-CN" sz="2800" b="1" i="1" u="none" strike="noStrike" kern="0" cap="none" spc="0" normalizeH="0" baseline="0" noProof="0" dirty="0">
                    <a:ln>
                      <a:noFill/>
                    </a:ln>
                    <a:solidFill>
                      <a:prstClr val="black"/>
                    </a:solidFill>
                    <a:effectLst/>
                    <a:uLnTx/>
                    <a:uFillTx/>
                    <a:latin typeface="Times New Roman"/>
                    <a:ea typeface="宋体"/>
                  </a:rPr>
                  <a:t>n</a:t>
                </a:r>
                <a:r>
                  <a:rPr kumimoji="0" lang="en-US" altLang="zh-CN" sz="2800" b="1" u="none" strike="noStrike" kern="0" cap="none" spc="0" normalizeH="0" baseline="0" noProof="0" dirty="0">
                    <a:ln>
                      <a:noFill/>
                    </a:ln>
                    <a:solidFill>
                      <a:prstClr val="black"/>
                    </a:solidFill>
                    <a:effectLst/>
                    <a:uLnTx/>
                    <a:uFillTx/>
                    <a:latin typeface="Times New Roman"/>
                    <a:ea typeface="宋体"/>
                  </a:rPr>
                  <a:t>)</a:t>
                </a:r>
                <a:r>
                  <a:rPr kumimoji="0" lang="zh-CN" altLang="en-US" sz="2800" b="1" u="none" strike="noStrike" kern="0" cap="none" spc="0" normalizeH="0" baseline="0" noProof="0" dirty="0">
                    <a:ln>
                      <a:noFill/>
                    </a:ln>
                    <a:solidFill>
                      <a:prstClr val="black"/>
                    </a:solidFill>
                    <a:effectLst/>
                    <a:uLnTx/>
                    <a:uFillTx/>
                    <a:latin typeface="Times New Roman"/>
                    <a:ea typeface="宋体"/>
                  </a:rPr>
                  <a:t>前两个样本为</a:t>
                </a:r>
                <a:endParaRPr kumimoji="0" lang="en-US" altLang="zh-CN" sz="2800" b="1" u="none" strike="noStrike" kern="0" cap="none" spc="0" normalizeH="0" baseline="0" noProof="0" dirty="0">
                  <a:ln>
                    <a:noFill/>
                  </a:ln>
                  <a:solidFill>
                    <a:prstClr val="black"/>
                  </a:solidFill>
                  <a:effectLst/>
                  <a:uLnTx/>
                  <a:uFillTx/>
                  <a:latin typeface="Times New Roman"/>
                  <a:ea typeface="宋体"/>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1" u="none" strike="noStrike" kern="0" cap="none" spc="0" normalizeH="0" baseline="0" noProof="0" dirty="0">
                    <a:ln>
                      <a:noFill/>
                    </a:ln>
                    <a:solidFill>
                      <a:prstClr val="black"/>
                    </a:solidFill>
                    <a:effectLst/>
                    <a:uLnTx/>
                    <a:uFillTx/>
                    <a:latin typeface="Times New Roman"/>
                    <a:ea typeface="宋体"/>
                  </a:rPr>
                  <a:t>h</a:t>
                </a:r>
                <a:r>
                  <a:rPr kumimoji="0" lang="en-US" altLang="zh-CN" sz="2800" b="1" u="none" strike="noStrike" kern="0" cap="none" spc="0" normalizeH="0" baseline="0" noProof="0" dirty="0">
                    <a:ln>
                      <a:noFill/>
                    </a:ln>
                    <a:solidFill>
                      <a:prstClr val="black"/>
                    </a:solidFill>
                    <a:effectLst/>
                    <a:uLnTx/>
                    <a:uFillTx/>
                    <a:latin typeface="Times New Roman"/>
                    <a:ea typeface="宋体"/>
                  </a:rPr>
                  <a:t>(</a:t>
                </a:r>
                <a:r>
                  <a:rPr kumimoji="0" lang="en-US" altLang="zh-CN" sz="2800" b="1" i="0" u="none" strike="noStrike" kern="0" cap="none" spc="0" normalizeH="0" baseline="0" noProof="0" dirty="0">
                    <a:ln>
                      <a:noFill/>
                    </a:ln>
                    <a:solidFill>
                      <a:prstClr val="black"/>
                    </a:solidFill>
                    <a:effectLst/>
                    <a:uLnTx/>
                    <a:uFillTx/>
                    <a:latin typeface="Times New Roman"/>
                    <a:ea typeface="宋体"/>
                  </a:rPr>
                  <a:t>0</a:t>
                </a:r>
                <a:r>
                  <a:rPr lang="en-US" altLang="zh-CN" sz="2800" b="1" kern="0" dirty="0">
                    <a:solidFill>
                      <a:prstClr val="black"/>
                    </a:solidFill>
                    <a:latin typeface="Times New Roman"/>
                    <a:ea typeface="宋体"/>
                  </a:rPr>
                  <a:t>)</a:t>
                </a:r>
                <a:r>
                  <a:rPr kumimoji="0" lang="en-US" altLang="zh-CN" sz="2800" b="1" i="0" u="none" strike="noStrike" kern="0" cap="none" spc="0" normalizeH="0" baseline="0" noProof="0" dirty="0">
                    <a:ln>
                      <a:noFill/>
                    </a:ln>
                    <a:solidFill>
                      <a:prstClr val="black"/>
                    </a:solidFill>
                    <a:effectLst/>
                    <a:uLnTx/>
                    <a:uFillTx/>
                    <a:latin typeface="Times New Roman"/>
                    <a:ea typeface="宋体"/>
                  </a:rPr>
                  <a:t> = 1, </a:t>
                </a:r>
                <a:r>
                  <a:rPr lang="en-US" altLang="zh-CN" sz="2800" b="1" i="1" kern="0" dirty="0">
                    <a:solidFill>
                      <a:prstClr val="black"/>
                    </a:solidFill>
                    <a:latin typeface="Times New Roman"/>
                    <a:ea typeface="宋体"/>
                  </a:rPr>
                  <a:t>h</a:t>
                </a:r>
                <a:r>
                  <a:rPr lang="en-US" altLang="zh-CN" sz="2800" b="1" kern="0" dirty="0">
                    <a:solidFill>
                      <a:prstClr val="black"/>
                    </a:solidFill>
                    <a:latin typeface="Times New Roman"/>
                    <a:ea typeface="宋体"/>
                  </a:rPr>
                  <a:t>(1) </a:t>
                </a:r>
                <a:r>
                  <a:rPr kumimoji="0" lang="en-US" altLang="zh-CN" sz="2800" b="1" i="0" u="none" strike="noStrike" kern="0" cap="none" spc="0" normalizeH="0" baseline="0" noProof="0" dirty="0">
                    <a:ln>
                      <a:noFill/>
                    </a:ln>
                    <a:solidFill>
                      <a:prstClr val="black"/>
                    </a:solidFill>
                    <a:effectLst/>
                    <a:uLnTx/>
                    <a:uFillTx/>
                    <a:latin typeface="Times New Roman"/>
                    <a:ea typeface="宋体"/>
                  </a:rPr>
                  <a:t>= 9</a:t>
                </a:r>
                <a:r>
                  <a:rPr lang="zh-CN" altLang="en-US" sz="2800" b="1" kern="0" dirty="0">
                    <a:solidFill>
                      <a:prstClr val="black"/>
                    </a:solidFill>
                    <a:latin typeface="Times New Roman"/>
                    <a:ea typeface="宋体"/>
                  </a:rPr>
                  <a:t>，</a:t>
                </a:r>
                <a:r>
                  <a:rPr kumimoji="0" lang="zh-CN" altLang="en-US" sz="2800" b="1" i="0" u="none" strike="noStrike" kern="0" cap="none" spc="0" normalizeH="0" baseline="0" noProof="0" dirty="0">
                    <a:ln>
                      <a:noFill/>
                    </a:ln>
                    <a:solidFill>
                      <a:prstClr val="black"/>
                    </a:solidFill>
                    <a:effectLst/>
                    <a:uLnTx/>
                    <a:uFillTx/>
                    <a:latin typeface="Times New Roman"/>
                    <a:ea typeface="宋体"/>
                  </a:rPr>
                  <a:t>分别写出最低阶数的四类</a:t>
                </a:r>
                <a:endParaRPr kumimoji="0" lang="en-US" altLang="zh-CN" sz="2800" b="1" i="0" u="none" strike="noStrike" kern="0" cap="none" spc="0" normalizeH="0" baseline="0" noProof="0" dirty="0">
                  <a:ln>
                    <a:noFill/>
                  </a:ln>
                  <a:solidFill>
                    <a:prstClr val="black"/>
                  </a:solidFill>
                  <a:effectLst/>
                  <a:uLnTx/>
                  <a:uFillTx/>
                  <a:latin typeface="Times New Roman"/>
                  <a:ea typeface="宋体"/>
                </a:endParaRPr>
              </a:p>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1" kern="0" dirty="0">
                    <a:solidFill>
                      <a:prstClr val="black"/>
                    </a:solidFill>
                    <a:latin typeface="Times New Roman"/>
                    <a:ea typeface="宋体"/>
                  </a:rPr>
                  <a:t>线性相位</a:t>
                </a:r>
                <a:r>
                  <a:rPr lang="en-US" altLang="zh-CN" sz="2800" b="1" kern="0" dirty="0">
                    <a:solidFill>
                      <a:prstClr val="black"/>
                    </a:solidFill>
                    <a:latin typeface="Times New Roman"/>
                    <a:ea typeface="宋体"/>
                  </a:rPr>
                  <a:t>FIR</a:t>
                </a:r>
                <a:r>
                  <a:rPr lang="zh-CN" altLang="en-US" sz="2800" b="1" kern="0" dirty="0">
                    <a:solidFill>
                      <a:prstClr val="black"/>
                    </a:solidFill>
                    <a:latin typeface="Times New Roman"/>
                    <a:ea typeface="宋体"/>
                  </a:rPr>
                  <a:t>滤波器的</a:t>
                </a:r>
                <a:r>
                  <a:rPr lang="en-US" altLang="zh-CN" sz="2800" b="1" i="1" kern="0" dirty="0">
                    <a:solidFill>
                      <a:prstClr val="black"/>
                    </a:solidFill>
                    <a:latin typeface="Times New Roman"/>
                    <a:ea typeface="宋体"/>
                  </a:rPr>
                  <a:t>h</a:t>
                </a:r>
                <a:r>
                  <a:rPr lang="en-US" altLang="zh-CN" sz="2800" b="1" kern="0" dirty="0">
                    <a:solidFill>
                      <a:prstClr val="black"/>
                    </a:solidFill>
                    <a:latin typeface="Times New Roman"/>
                    <a:ea typeface="宋体"/>
                  </a:rPr>
                  <a:t>(</a:t>
                </a:r>
                <a:r>
                  <a:rPr lang="en-US" altLang="zh-CN" sz="2800" b="1" i="1" kern="0" dirty="0">
                    <a:solidFill>
                      <a:prstClr val="black"/>
                    </a:solidFill>
                    <a:latin typeface="Times New Roman"/>
                    <a:ea typeface="宋体"/>
                  </a:rPr>
                  <a:t>n</a:t>
                </a:r>
                <a:r>
                  <a:rPr lang="en-US" altLang="zh-CN" sz="2800" b="1" kern="0" dirty="0">
                    <a:solidFill>
                      <a:prstClr val="black"/>
                    </a:solidFill>
                    <a:latin typeface="Times New Roman"/>
                    <a:ea typeface="宋体"/>
                  </a:rPr>
                  <a:t>)</a:t>
                </a:r>
                <a:r>
                  <a:rPr lang="zh-CN" altLang="en-US" sz="2800" b="1" kern="0" dirty="0">
                    <a:solidFill>
                      <a:prstClr val="black"/>
                    </a:solidFill>
                    <a:latin typeface="Times New Roman"/>
                    <a:ea typeface="宋体"/>
                  </a:rPr>
                  <a:t>，并分别判断对应的</a:t>
                </a:r>
                <a:r>
                  <a:rPr lang="en-US" altLang="zh-CN" sz="2800" b="1" i="1" kern="0" dirty="0">
                    <a:solidFill>
                      <a:prstClr val="black"/>
                    </a:solidFill>
                    <a:latin typeface="Times New Roman"/>
                    <a:ea typeface="宋体"/>
                  </a:rPr>
                  <a:t>H</a:t>
                </a:r>
                <a:r>
                  <a:rPr lang="en-US" altLang="zh-CN" sz="2800" b="1" kern="0" dirty="0">
                    <a:solidFill>
                      <a:prstClr val="black"/>
                    </a:solidFill>
                    <a:latin typeface="Times New Roman"/>
                    <a:ea typeface="宋体"/>
                  </a:rPr>
                  <a:t>(</a:t>
                </a:r>
                <a:r>
                  <a:rPr lang="en-US" altLang="zh-CN" sz="2800" b="1" i="1" kern="0" dirty="0">
                    <a:solidFill>
                      <a:prstClr val="black"/>
                    </a:solidFill>
                    <a:latin typeface="Times New Roman"/>
                    <a:ea typeface="宋体"/>
                  </a:rPr>
                  <a:t>z</a:t>
                </a:r>
                <a:r>
                  <a:rPr lang="en-US" altLang="zh-CN" sz="2800" b="1" kern="0" dirty="0">
                    <a:solidFill>
                      <a:prstClr val="black"/>
                    </a:solidFill>
                    <a:latin typeface="Times New Roman"/>
                    <a:ea typeface="宋体"/>
                  </a:rPr>
                  <a:t>)</a:t>
                </a:r>
                <a:r>
                  <a:rPr lang="zh-CN" altLang="en-US" sz="2800" b="1" kern="0" dirty="0">
                    <a:solidFill>
                      <a:prstClr val="black"/>
                    </a:solidFill>
                    <a:latin typeface="Times New Roman"/>
                    <a:ea typeface="宋体"/>
                  </a:rPr>
                  <a:t>在</a:t>
                </a:r>
                <a:r>
                  <a:rPr lang="en-US" altLang="zh-CN" sz="2800" b="1" i="1" dirty="0">
                    <a:solidFill>
                      <a:prstClr val="black"/>
                    </a:solidFill>
                    <a:latin typeface="Times New Roman" panose="02020603050405020304" pitchFamily="18" charset="0"/>
                    <a:ea typeface="宋体"/>
                    <a:cs typeface="Times New Roman" panose="02020603050405020304" pitchFamily="18" charset="0"/>
                  </a:rPr>
                  <a:t>z </a:t>
                </a:r>
                <a:r>
                  <a:rPr lang="en-US" altLang="zh-CN" sz="2800" b="1" dirty="0">
                    <a:solidFill>
                      <a:prstClr val="black"/>
                    </a:solidFill>
                    <a:latin typeface="Times New Roman" panose="02020603050405020304" pitchFamily="18" charset="0"/>
                    <a:ea typeface="宋体"/>
                    <a:cs typeface="Times New Roman" panose="02020603050405020304" pitchFamily="18" charset="0"/>
                  </a:rPr>
                  <a:t>= 1</a:t>
                </a:r>
                <a:r>
                  <a:rPr lang="zh-CN" altLang="en-US" sz="2800" b="1" dirty="0">
                    <a:solidFill>
                      <a:prstClr val="black"/>
                    </a:solidFill>
                    <a:latin typeface="Times New Roman" panose="02020603050405020304" pitchFamily="18" charset="0"/>
                    <a:ea typeface="宋体"/>
                    <a:cs typeface="Times New Roman" panose="02020603050405020304" pitchFamily="18" charset="0"/>
                  </a:rPr>
                  <a:t>，</a:t>
                </a:r>
                <a:r>
                  <a:rPr lang="en-US" altLang="zh-CN" sz="2800" b="1" i="1" dirty="0">
                    <a:solidFill>
                      <a:prstClr val="black"/>
                    </a:solidFill>
                    <a:latin typeface="Times New Roman" panose="02020603050405020304" pitchFamily="18" charset="0"/>
                    <a:ea typeface="宋体"/>
                    <a:cs typeface="Times New Roman" panose="02020603050405020304" pitchFamily="18" charset="0"/>
                  </a:rPr>
                  <a:t>z </a:t>
                </a:r>
                <a:r>
                  <a:rPr lang="en-US" altLang="zh-CN" sz="2800" b="1" dirty="0">
                    <a:solidFill>
                      <a:prstClr val="black"/>
                    </a:solidFill>
                    <a:latin typeface="Times New Roman" panose="02020603050405020304" pitchFamily="18" charset="0"/>
                    <a:ea typeface="宋体"/>
                    <a:cs typeface="Times New Roman" panose="02020603050405020304" pitchFamily="18" charset="0"/>
                  </a:rPr>
                  <a:t>= </a:t>
                </a:r>
                <a14:m>
                  <m:oMath xmlns:m="http://schemas.openxmlformats.org/officeDocument/2006/math">
                    <m:r>
                      <a:rPr lang="en-US" altLang="zh-CN" sz="2800" b="1" i="1" dirty="0">
                        <a:solidFill>
                          <a:prstClr val="black"/>
                        </a:solidFill>
                        <a:latin typeface="Cambria Math" panose="02040503050406030204" pitchFamily="18" charset="0"/>
                        <a:cs typeface="Times New Roman" panose="02020603050405020304" pitchFamily="18" charset="0"/>
                      </a:rPr>
                      <m:t>−</m:t>
                    </m:r>
                  </m:oMath>
                </a14:m>
                <a:r>
                  <a:rPr lang="en-US" altLang="zh-CN" sz="2800" b="1" dirty="0">
                    <a:solidFill>
                      <a:prstClr val="black"/>
                    </a:solidFill>
                    <a:latin typeface="Times New Roman" panose="02020603050405020304" pitchFamily="18" charset="0"/>
                    <a:ea typeface="宋体"/>
                    <a:cs typeface="Times New Roman" panose="02020603050405020304" pitchFamily="18" charset="0"/>
                  </a:rPr>
                  <a:t>1</a:t>
                </a:r>
                <a:r>
                  <a:rPr lang="zh-CN" altLang="en-US" sz="2800" b="1" dirty="0">
                    <a:solidFill>
                      <a:prstClr val="black"/>
                    </a:solidFill>
                    <a:latin typeface="Times New Roman" panose="02020603050405020304" pitchFamily="18" charset="0"/>
                    <a:ea typeface="宋体"/>
                    <a:cs typeface="Times New Roman" panose="02020603050405020304" pitchFamily="18" charset="0"/>
                  </a:rPr>
                  <a:t>处是否有零点？</a:t>
                </a:r>
                <a:endParaRPr lang="en-US" altLang="zh-CN" sz="2800" b="1" dirty="0">
                  <a:solidFill>
                    <a:prstClr val="black"/>
                  </a:solidFill>
                  <a:latin typeface="Times New Roman" panose="02020603050405020304" pitchFamily="18" charset="0"/>
                  <a:ea typeface="宋体"/>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990600" y="848380"/>
                <a:ext cx="7391400" cy="1815882"/>
              </a:xfrm>
              <a:prstGeom prst="rect">
                <a:avLst/>
              </a:prstGeom>
              <a:blipFill>
                <a:blip r:embed="rId5"/>
                <a:stretch>
                  <a:fillRect l="-1733" t="-4362" b="-8725"/>
                </a:stretch>
              </a:blipFill>
            </p:spPr>
            <p:txBody>
              <a:bodyPr/>
              <a:lstStyle/>
              <a:p>
                <a:r>
                  <a:rPr lang="zh-CN" altLang="en-US">
                    <a:noFill/>
                  </a:rPr>
                  <a:t> </a:t>
                </a:r>
              </a:p>
            </p:txBody>
          </p:sp>
        </mc:Fallback>
      </mc:AlternateContent>
      <p:sp>
        <p:nvSpPr>
          <p:cNvPr id="6" name="矩形 5"/>
          <p:cNvSpPr/>
          <p:nvPr/>
        </p:nvSpPr>
        <p:spPr>
          <a:xfrm>
            <a:off x="207231" y="2567311"/>
            <a:ext cx="936104" cy="523220"/>
          </a:xfrm>
          <a:prstGeom prst="rect">
            <a:avLst/>
          </a:prstGeom>
        </p:spPr>
        <p:txBody>
          <a:bodyPr wrap="square">
            <a:spAutoFit/>
          </a:bodyPr>
          <a:lstStyle/>
          <a:p>
            <a:r>
              <a:rPr lang="zh-CN" altLang="en-US" sz="2800" b="1" dirty="0">
                <a:solidFill>
                  <a:srgbClr val="000000"/>
                </a:solidFill>
              </a:rPr>
              <a:t>解：</a:t>
            </a:r>
            <a:endParaRPr lang="zh-CN" altLang="en-US" dirty="0"/>
          </a:p>
        </p:txBody>
      </p:sp>
      <p:graphicFrame>
        <p:nvGraphicFramePr>
          <p:cNvPr id="7" name="对象 18"/>
          <p:cNvGraphicFramePr>
            <a:graphicFrameLocks noChangeAspect="1"/>
          </p:cNvGraphicFramePr>
          <p:nvPr>
            <p:extLst>
              <p:ext uri="{D42A27DB-BD31-4B8C-83A1-F6EECF244321}">
                <p14:modId xmlns:p14="http://schemas.microsoft.com/office/powerpoint/2010/main" val="1625240054"/>
              </p:ext>
            </p:extLst>
          </p:nvPr>
        </p:nvGraphicFramePr>
        <p:xfrm>
          <a:off x="2197100" y="3073724"/>
          <a:ext cx="3525837" cy="434975"/>
        </p:xfrm>
        <a:graphic>
          <a:graphicData uri="http://schemas.openxmlformats.org/presentationml/2006/ole">
            <mc:AlternateContent xmlns:mc="http://schemas.openxmlformats.org/markup-compatibility/2006">
              <mc:Choice xmlns:v="urn:schemas-microsoft-com:vml" Requires="v">
                <p:oleObj name="Equation" r:id="rId6" imgW="1739880" imgH="215640" progId="Equation.DSMT4">
                  <p:embed/>
                </p:oleObj>
              </mc:Choice>
              <mc:Fallback>
                <p:oleObj name="Equation" r:id="rId6" imgW="1739880" imgH="215640" progId="Equation.DSMT4">
                  <p:embed/>
                  <p:pic>
                    <p:nvPicPr>
                      <p:cNvPr id="7" name="对象 18"/>
                      <p:cNvPicPr>
                        <a:picLocks noChangeAspect="1" noChangeArrowheads="1"/>
                      </p:cNvPicPr>
                      <p:nvPr/>
                    </p:nvPicPr>
                    <p:blipFill>
                      <a:blip r:embed="rId7"/>
                      <a:srcRect/>
                      <a:stretch>
                        <a:fillRect/>
                      </a:stretch>
                    </p:blipFill>
                    <p:spPr bwMode="auto">
                      <a:xfrm>
                        <a:off x="2197100" y="3073724"/>
                        <a:ext cx="35258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10"/>
          <p:cNvGraphicFramePr>
            <a:graphicFrameLocks noChangeAspect="1"/>
          </p:cNvGraphicFramePr>
          <p:nvPr>
            <p:extLst>
              <p:ext uri="{D42A27DB-BD31-4B8C-83A1-F6EECF244321}">
                <p14:modId xmlns:p14="http://schemas.microsoft.com/office/powerpoint/2010/main" val="3070625301"/>
              </p:ext>
            </p:extLst>
          </p:nvPr>
        </p:nvGraphicFramePr>
        <p:xfrm>
          <a:off x="2211387" y="3624586"/>
          <a:ext cx="3779838" cy="434975"/>
        </p:xfrm>
        <a:graphic>
          <a:graphicData uri="http://schemas.openxmlformats.org/presentationml/2006/ole">
            <mc:AlternateContent xmlns:mc="http://schemas.openxmlformats.org/markup-compatibility/2006">
              <mc:Choice xmlns:v="urn:schemas-microsoft-com:vml" Requires="v">
                <p:oleObj name="Equation" r:id="rId8" imgW="1866600" imgH="215640" progId="Equation.DSMT4">
                  <p:embed/>
                </p:oleObj>
              </mc:Choice>
              <mc:Fallback>
                <p:oleObj name="Equation" r:id="rId8" imgW="1866600" imgH="215640" progId="Equation.DSMT4">
                  <p:embed/>
                  <p:pic>
                    <p:nvPicPr>
                      <p:cNvPr id="9" name="对象 10"/>
                      <p:cNvPicPr>
                        <a:picLocks noChangeAspect="1" noChangeArrowheads="1"/>
                      </p:cNvPicPr>
                      <p:nvPr/>
                    </p:nvPicPr>
                    <p:blipFill>
                      <a:blip r:embed="rId9"/>
                      <a:srcRect/>
                      <a:stretch>
                        <a:fillRect/>
                      </a:stretch>
                    </p:blipFill>
                    <p:spPr bwMode="auto">
                      <a:xfrm>
                        <a:off x="2211387" y="3624586"/>
                        <a:ext cx="377983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9"/>
          <p:cNvGraphicFramePr>
            <a:graphicFrameLocks noChangeAspect="1"/>
          </p:cNvGraphicFramePr>
          <p:nvPr>
            <p:extLst>
              <p:ext uri="{D42A27DB-BD31-4B8C-83A1-F6EECF244321}">
                <p14:modId xmlns:p14="http://schemas.microsoft.com/office/powerpoint/2010/main" val="543498269"/>
              </p:ext>
            </p:extLst>
          </p:nvPr>
        </p:nvGraphicFramePr>
        <p:xfrm>
          <a:off x="2197100" y="4200849"/>
          <a:ext cx="4170362" cy="409575"/>
        </p:xfrm>
        <a:graphic>
          <a:graphicData uri="http://schemas.openxmlformats.org/presentationml/2006/ole">
            <mc:AlternateContent xmlns:mc="http://schemas.openxmlformats.org/markup-compatibility/2006">
              <mc:Choice xmlns:v="urn:schemas-microsoft-com:vml" Requires="v">
                <p:oleObj name="Equation" r:id="rId10" imgW="2057400" imgH="203040" progId="Equation.DSMT4">
                  <p:embed/>
                </p:oleObj>
              </mc:Choice>
              <mc:Fallback>
                <p:oleObj name="Equation" r:id="rId10" imgW="2057400" imgH="203040" progId="Equation.DSMT4">
                  <p:embed/>
                  <p:pic>
                    <p:nvPicPr>
                      <p:cNvPr id="11" name="对象 19"/>
                      <p:cNvPicPr>
                        <a:picLocks noChangeAspect="1" noChangeArrowheads="1"/>
                      </p:cNvPicPr>
                      <p:nvPr/>
                    </p:nvPicPr>
                    <p:blipFill>
                      <a:blip r:embed="rId11"/>
                      <a:srcRect/>
                      <a:stretch>
                        <a:fillRect/>
                      </a:stretch>
                    </p:blipFill>
                    <p:spPr bwMode="auto">
                      <a:xfrm>
                        <a:off x="2197100" y="4200849"/>
                        <a:ext cx="4170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21"/>
          <p:cNvGraphicFramePr>
            <a:graphicFrameLocks noChangeAspect="1"/>
          </p:cNvGraphicFramePr>
          <p:nvPr>
            <p:extLst>
              <p:ext uri="{D42A27DB-BD31-4B8C-83A1-F6EECF244321}">
                <p14:modId xmlns:p14="http://schemas.microsoft.com/office/powerpoint/2010/main" val="449807521"/>
              </p:ext>
            </p:extLst>
          </p:nvPr>
        </p:nvGraphicFramePr>
        <p:xfrm>
          <a:off x="2185987" y="4723136"/>
          <a:ext cx="4168775" cy="434975"/>
        </p:xfrm>
        <a:graphic>
          <a:graphicData uri="http://schemas.openxmlformats.org/presentationml/2006/ole">
            <mc:AlternateContent xmlns:mc="http://schemas.openxmlformats.org/markup-compatibility/2006">
              <mc:Choice xmlns:v="urn:schemas-microsoft-com:vml" Requires="v">
                <p:oleObj name="Equation" r:id="rId12" imgW="2057400" imgH="215640" progId="Equation.DSMT4">
                  <p:embed/>
                </p:oleObj>
              </mc:Choice>
              <mc:Fallback>
                <p:oleObj name="Equation" r:id="rId12" imgW="2057400" imgH="215640" progId="Equation.DSMT4">
                  <p:embed/>
                  <p:pic>
                    <p:nvPicPr>
                      <p:cNvPr id="13" name="对象 21"/>
                      <p:cNvPicPr>
                        <a:picLocks noChangeAspect="1" noChangeArrowheads="1"/>
                      </p:cNvPicPr>
                      <p:nvPr/>
                    </p:nvPicPr>
                    <p:blipFill>
                      <a:blip r:embed="rId13"/>
                      <a:srcRect/>
                      <a:stretch>
                        <a:fillRect/>
                      </a:stretch>
                    </p:blipFill>
                    <p:spPr bwMode="auto">
                      <a:xfrm>
                        <a:off x="2185987" y="4723136"/>
                        <a:ext cx="41687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5"/>
          <p:cNvSpPr txBox="1">
            <a:spLocks noChangeArrowheads="1"/>
          </p:cNvSpPr>
          <p:nvPr/>
        </p:nvSpPr>
        <p:spPr bwMode="auto">
          <a:xfrm>
            <a:off x="852487" y="3056609"/>
            <a:ext cx="13160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800" b="1" dirty="0">
                <a:latin typeface="Times New Roman" panose="02020603050405020304" pitchFamily="18" charset="0"/>
                <a:cs typeface="Times New Roman" panose="02020603050405020304" pitchFamily="18" charset="0"/>
              </a:rPr>
              <a:t>第一类</a:t>
            </a:r>
            <a:endParaRPr lang="en-US" altLang="zh-CN" sz="2800" b="1" dirty="0">
              <a:latin typeface="Times New Roman" panose="02020603050405020304" pitchFamily="18" charset="0"/>
              <a:cs typeface="Times New Roman" panose="02020603050405020304" pitchFamily="18" charset="0"/>
            </a:endParaRPr>
          </a:p>
        </p:txBody>
      </p:sp>
      <p:sp>
        <p:nvSpPr>
          <p:cNvPr id="16" name="文本框 5"/>
          <p:cNvSpPr txBox="1">
            <a:spLocks noChangeArrowheads="1"/>
          </p:cNvSpPr>
          <p:nvPr/>
        </p:nvSpPr>
        <p:spPr bwMode="auto">
          <a:xfrm>
            <a:off x="852487" y="3567436"/>
            <a:ext cx="1392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800" b="1" dirty="0">
                <a:latin typeface="Times New Roman" panose="02020603050405020304" pitchFamily="18" charset="0"/>
                <a:cs typeface="Times New Roman" panose="02020603050405020304" pitchFamily="18" charset="0"/>
              </a:rPr>
              <a:t>第二类</a:t>
            </a:r>
            <a:endParaRPr lang="en-US" altLang="zh-CN" sz="2800" b="1" dirty="0">
              <a:latin typeface="Times New Roman" panose="02020603050405020304" pitchFamily="18" charset="0"/>
              <a:cs typeface="Times New Roman" panose="02020603050405020304" pitchFamily="18" charset="0"/>
            </a:endParaRPr>
          </a:p>
        </p:txBody>
      </p:sp>
      <p:sp>
        <p:nvSpPr>
          <p:cNvPr id="17" name="文本框 5"/>
          <p:cNvSpPr txBox="1">
            <a:spLocks noChangeArrowheads="1"/>
          </p:cNvSpPr>
          <p:nvPr/>
        </p:nvSpPr>
        <p:spPr bwMode="auto">
          <a:xfrm>
            <a:off x="852487" y="4091311"/>
            <a:ext cx="13160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800" b="1" dirty="0">
                <a:latin typeface="Times New Roman" panose="02020603050405020304" pitchFamily="18" charset="0"/>
                <a:cs typeface="Times New Roman" panose="02020603050405020304" pitchFamily="18" charset="0"/>
              </a:rPr>
              <a:t>第三类</a:t>
            </a:r>
            <a:endParaRPr lang="en-US" altLang="zh-CN" sz="2800" b="1" dirty="0">
              <a:latin typeface="Times New Roman" panose="02020603050405020304" pitchFamily="18" charset="0"/>
              <a:cs typeface="Times New Roman" panose="02020603050405020304" pitchFamily="18" charset="0"/>
            </a:endParaRPr>
          </a:p>
        </p:txBody>
      </p:sp>
      <p:sp>
        <p:nvSpPr>
          <p:cNvPr id="18" name="文本框 5"/>
          <p:cNvSpPr txBox="1">
            <a:spLocks noChangeArrowheads="1"/>
          </p:cNvSpPr>
          <p:nvPr/>
        </p:nvSpPr>
        <p:spPr bwMode="auto">
          <a:xfrm>
            <a:off x="838200" y="4634236"/>
            <a:ext cx="1257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800" b="1" dirty="0">
                <a:latin typeface="Times New Roman" panose="02020603050405020304" pitchFamily="18" charset="0"/>
                <a:cs typeface="Times New Roman" panose="02020603050405020304" pitchFamily="18" charset="0"/>
              </a:rPr>
              <a:t>第四类</a:t>
            </a:r>
            <a:endParaRPr lang="en-US" altLang="zh-CN" sz="2800" b="1" dirty="0">
              <a:latin typeface="Times New Roman" panose="02020603050405020304" pitchFamily="18" charset="0"/>
              <a:cs typeface="Times New Roman" panose="02020603050405020304" pitchFamily="18" charset="0"/>
            </a:endParaRPr>
          </a:p>
        </p:txBody>
      </p:sp>
      <p:sp>
        <p:nvSpPr>
          <p:cNvPr id="20" name="矩形 19"/>
          <p:cNvSpPr/>
          <p:nvPr/>
        </p:nvSpPr>
        <p:spPr>
          <a:xfrm>
            <a:off x="6858000" y="2507884"/>
            <a:ext cx="888385" cy="523220"/>
          </a:xfrm>
          <a:prstGeom prst="rect">
            <a:avLst/>
          </a:prstGeom>
        </p:spPr>
        <p:txBody>
          <a:bodyPr wrap="none">
            <a:spAutoFit/>
          </a:bodyPr>
          <a:lstStyle/>
          <a:p>
            <a:r>
              <a:rPr lang="en-US" altLang="zh-CN" sz="2800" b="1" i="1" dirty="0">
                <a:solidFill>
                  <a:prstClr val="black"/>
                </a:solidFill>
                <a:latin typeface="Times New Roman" panose="02020603050405020304" pitchFamily="18" charset="0"/>
                <a:ea typeface="宋体"/>
                <a:cs typeface="Times New Roman" panose="02020603050405020304" pitchFamily="18" charset="0"/>
              </a:rPr>
              <a:t>z </a:t>
            </a:r>
            <a:r>
              <a:rPr lang="en-US" altLang="zh-CN" sz="2800" b="1" dirty="0">
                <a:solidFill>
                  <a:prstClr val="black"/>
                </a:solidFill>
                <a:latin typeface="Times New Roman" panose="02020603050405020304" pitchFamily="18" charset="0"/>
                <a:ea typeface="宋体"/>
                <a:cs typeface="Times New Roman" panose="02020603050405020304" pitchFamily="18" charset="0"/>
              </a:rPr>
              <a:t>= 1</a:t>
            </a:r>
            <a:endParaRPr lang="zh-CN" altLang="en-US" dirty="0"/>
          </a:p>
        </p:txBody>
      </p:sp>
      <mc:AlternateContent xmlns:mc="http://schemas.openxmlformats.org/markup-compatibility/2006" xmlns:a14="http://schemas.microsoft.com/office/drawing/2010/main">
        <mc:Choice Requires="a14">
          <p:sp>
            <p:nvSpPr>
              <p:cNvPr id="23" name="矩形 22"/>
              <p:cNvSpPr/>
              <p:nvPr/>
            </p:nvSpPr>
            <p:spPr>
              <a:xfrm>
                <a:off x="7987914" y="2472781"/>
                <a:ext cx="1156086" cy="523220"/>
              </a:xfrm>
              <a:prstGeom prst="rect">
                <a:avLst/>
              </a:prstGeom>
            </p:spPr>
            <p:txBody>
              <a:bodyPr wrap="none">
                <a:spAutoFit/>
              </a:bodyPr>
              <a:lstStyle/>
              <a:p>
                <a:r>
                  <a:rPr lang="en-US" altLang="zh-CN" sz="2800" b="1" i="1" dirty="0">
                    <a:solidFill>
                      <a:prstClr val="black"/>
                    </a:solidFill>
                    <a:latin typeface="Times New Roman" panose="02020603050405020304" pitchFamily="18" charset="0"/>
                    <a:ea typeface="宋体"/>
                    <a:cs typeface="Times New Roman" panose="02020603050405020304" pitchFamily="18" charset="0"/>
                  </a:rPr>
                  <a:t>z </a:t>
                </a:r>
                <a:r>
                  <a:rPr lang="en-US" altLang="zh-CN" sz="2800" b="1" dirty="0">
                    <a:solidFill>
                      <a:prstClr val="black"/>
                    </a:solidFill>
                    <a:latin typeface="Times New Roman" panose="02020603050405020304" pitchFamily="18" charset="0"/>
                    <a:ea typeface="宋体"/>
                    <a:cs typeface="Times New Roman" panose="02020603050405020304" pitchFamily="18" charset="0"/>
                  </a:rPr>
                  <a:t>= </a:t>
                </a:r>
                <a14:m>
                  <m:oMath xmlns:m="http://schemas.openxmlformats.org/officeDocument/2006/math">
                    <m:r>
                      <a:rPr lang="en-US" altLang="zh-CN" sz="2800" b="1" i="1" dirty="0">
                        <a:solidFill>
                          <a:prstClr val="black"/>
                        </a:solidFill>
                        <a:latin typeface="Cambria Math" panose="02040503050406030204" pitchFamily="18" charset="0"/>
                        <a:cs typeface="Times New Roman" panose="02020603050405020304" pitchFamily="18" charset="0"/>
                      </a:rPr>
                      <m:t>−</m:t>
                    </m:r>
                  </m:oMath>
                </a14:m>
                <a:r>
                  <a:rPr lang="en-US" altLang="zh-CN" sz="2800" b="1" dirty="0">
                    <a:solidFill>
                      <a:prstClr val="black"/>
                    </a:solidFill>
                    <a:latin typeface="Times New Roman" panose="02020603050405020304" pitchFamily="18" charset="0"/>
                    <a:ea typeface="宋体"/>
                    <a:cs typeface="Times New Roman" panose="02020603050405020304" pitchFamily="18" charset="0"/>
                  </a:rPr>
                  <a:t>1</a:t>
                </a:r>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7987914" y="2472781"/>
                <a:ext cx="1156086" cy="523220"/>
              </a:xfrm>
              <a:prstGeom prst="rect">
                <a:avLst/>
              </a:prstGeom>
              <a:blipFill>
                <a:blip r:embed="rId14"/>
                <a:stretch>
                  <a:fillRect l="-10526" t="-12941" r="-9474" b="-32941"/>
                </a:stretch>
              </a:blipFill>
            </p:spPr>
            <p:txBody>
              <a:bodyPr/>
              <a:lstStyle/>
              <a:p>
                <a:r>
                  <a:rPr lang="zh-CN" altLang="en-US">
                    <a:noFill/>
                  </a:rPr>
                  <a:t> </a:t>
                </a:r>
              </a:p>
            </p:txBody>
          </p:sp>
        </mc:Fallback>
      </mc:AlternateContent>
      <p:sp>
        <p:nvSpPr>
          <p:cNvPr id="25" name="矩形 24"/>
          <p:cNvSpPr/>
          <p:nvPr/>
        </p:nvSpPr>
        <p:spPr>
          <a:xfrm>
            <a:off x="6781800" y="4104338"/>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有零点</a:t>
            </a:r>
            <a:endParaRPr lang="zh-CN" altLang="en-US" sz="1600" dirty="0"/>
          </a:p>
        </p:txBody>
      </p:sp>
      <p:sp>
        <p:nvSpPr>
          <p:cNvPr id="26" name="矩形 25"/>
          <p:cNvSpPr/>
          <p:nvPr/>
        </p:nvSpPr>
        <p:spPr>
          <a:xfrm>
            <a:off x="7987914" y="4091311"/>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有零点</a:t>
            </a:r>
            <a:endParaRPr lang="zh-CN" altLang="en-US" sz="1600" dirty="0"/>
          </a:p>
        </p:txBody>
      </p:sp>
      <p:sp>
        <p:nvSpPr>
          <p:cNvPr id="27" name="矩形 26"/>
          <p:cNvSpPr/>
          <p:nvPr/>
        </p:nvSpPr>
        <p:spPr>
          <a:xfrm>
            <a:off x="6798909" y="4652798"/>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有零点</a:t>
            </a:r>
            <a:endParaRPr lang="zh-CN" altLang="en-US" sz="1600" dirty="0"/>
          </a:p>
        </p:txBody>
      </p:sp>
      <p:sp>
        <p:nvSpPr>
          <p:cNvPr id="28" name="矩形 27"/>
          <p:cNvSpPr/>
          <p:nvPr/>
        </p:nvSpPr>
        <p:spPr>
          <a:xfrm>
            <a:off x="7970805" y="3576935"/>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有零点</a:t>
            </a:r>
            <a:endParaRPr lang="zh-CN" altLang="en-US" sz="1600" dirty="0"/>
          </a:p>
        </p:txBody>
      </p:sp>
      <p:sp>
        <p:nvSpPr>
          <p:cNvPr id="29" name="矩形 28"/>
          <p:cNvSpPr/>
          <p:nvPr/>
        </p:nvSpPr>
        <p:spPr>
          <a:xfrm>
            <a:off x="6783908" y="3573221"/>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无零点</a:t>
            </a:r>
            <a:endParaRPr lang="zh-CN" altLang="en-US" sz="1600" dirty="0"/>
          </a:p>
        </p:txBody>
      </p:sp>
      <p:sp>
        <p:nvSpPr>
          <p:cNvPr id="30" name="矩形 29"/>
          <p:cNvSpPr/>
          <p:nvPr/>
        </p:nvSpPr>
        <p:spPr>
          <a:xfrm>
            <a:off x="6813938" y="3027423"/>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无零点</a:t>
            </a:r>
            <a:endParaRPr lang="zh-CN" altLang="en-US" sz="1600" dirty="0"/>
          </a:p>
        </p:txBody>
      </p:sp>
      <p:sp>
        <p:nvSpPr>
          <p:cNvPr id="31" name="矩形 30"/>
          <p:cNvSpPr/>
          <p:nvPr/>
        </p:nvSpPr>
        <p:spPr>
          <a:xfrm>
            <a:off x="7970805" y="3034764"/>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无零点</a:t>
            </a:r>
            <a:endParaRPr lang="zh-CN" altLang="en-US" sz="1600" dirty="0"/>
          </a:p>
        </p:txBody>
      </p:sp>
      <p:sp>
        <p:nvSpPr>
          <p:cNvPr id="32" name="矩形 31"/>
          <p:cNvSpPr/>
          <p:nvPr/>
        </p:nvSpPr>
        <p:spPr>
          <a:xfrm>
            <a:off x="7993760" y="4652797"/>
            <a:ext cx="1112805"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a:cs typeface="Times New Roman" panose="02020603050405020304" pitchFamily="18" charset="0"/>
              </a:rPr>
              <a:t>无零点</a:t>
            </a:r>
            <a:endParaRPr lang="zh-CN" altLang="en-US" sz="1600" dirty="0"/>
          </a:p>
        </p:txBody>
      </p:sp>
      <p:graphicFrame>
        <p:nvGraphicFramePr>
          <p:cNvPr id="33" name="对象 2"/>
          <p:cNvGraphicFramePr>
            <a:graphicFrameLocks noChangeAspect="1"/>
          </p:cNvGraphicFramePr>
          <p:nvPr>
            <p:extLst>
              <p:ext uri="{D42A27DB-BD31-4B8C-83A1-F6EECF244321}">
                <p14:modId xmlns:p14="http://schemas.microsoft.com/office/powerpoint/2010/main" val="2348535969"/>
              </p:ext>
            </p:extLst>
          </p:nvPr>
        </p:nvGraphicFramePr>
        <p:xfrm>
          <a:off x="3200400" y="5219233"/>
          <a:ext cx="3487738" cy="468312"/>
        </p:xfrm>
        <a:graphic>
          <a:graphicData uri="http://schemas.openxmlformats.org/presentationml/2006/ole">
            <mc:AlternateContent xmlns:mc="http://schemas.openxmlformats.org/markup-compatibility/2006">
              <mc:Choice xmlns:v="urn:schemas-microsoft-com:vml" Requires="v">
                <p:oleObj name="Equation" r:id="rId15" imgW="1701720" imgH="228600" progId="Equation.DSMT4">
                  <p:embed/>
                </p:oleObj>
              </mc:Choice>
              <mc:Fallback>
                <p:oleObj name="Equation" r:id="rId15" imgW="1701720" imgH="228600" progId="Equation.DSMT4">
                  <p:embed/>
                  <p:pic>
                    <p:nvPicPr>
                      <p:cNvPr id="33" name="对象 2"/>
                      <p:cNvPicPr>
                        <a:picLocks noChangeAspect="1" noChangeArrowheads="1"/>
                      </p:cNvPicPr>
                      <p:nvPr/>
                    </p:nvPicPr>
                    <p:blipFill>
                      <a:blip r:embed="rId16"/>
                      <a:srcRect/>
                      <a:stretch>
                        <a:fillRect/>
                      </a:stretch>
                    </p:blipFill>
                    <p:spPr bwMode="auto">
                      <a:xfrm>
                        <a:off x="3200400" y="5219233"/>
                        <a:ext cx="3487738"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4" name="组合 1"/>
          <p:cNvGrpSpPr>
            <a:grpSpLocks/>
          </p:cNvGrpSpPr>
          <p:nvPr/>
        </p:nvGrpSpPr>
        <p:grpSpPr bwMode="auto">
          <a:xfrm>
            <a:off x="756261" y="5649895"/>
            <a:ext cx="7581899" cy="969325"/>
            <a:chOff x="388938" y="5733713"/>
            <a:chExt cx="7581899" cy="969325"/>
          </a:xfrm>
        </p:grpSpPr>
        <p:graphicFrame>
          <p:nvGraphicFramePr>
            <p:cNvPr id="35" name="对象 2"/>
            <p:cNvGraphicFramePr>
              <a:graphicFrameLocks noChangeAspect="1"/>
            </p:cNvGraphicFramePr>
            <p:nvPr/>
          </p:nvGraphicFramePr>
          <p:xfrm>
            <a:off x="418513" y="5841210"/>
            <a:ext cx="2968625" cy="415925"/>
          </p:xfrm>
          <a:graphic>
            <a:graphicData uri="http://schemas.openxmlformats.org/presentationml/2006/ole">
              <mc:AlternateContent xmlns:mc="http://schemas.openxmlformats.org/markup-compatibility/2006">
                <mc:Choice xmlns:v="urn:schemas-microsoft-com:vml" Requires="v">
                  <p:oleObj name="Equation" r:id="rId17" imgW="1447560" imgH="203040" progId="Equation.DSMT4">
                    <p:embed/>
                  </p:oleObj>
                </mc:Choice>
                <mc:Fallback>
                  <p:oleObj name="Equation" r:id="rId17" imgW="1447560" imgH="203040" progId="Equation.DSMT4">
                    <p:embed/>
                    <p:pic>
                      <p:nvPicPr>
                        <p:cNvPr id="35" name="对象 2"/>
                        <p:cNvPicPr>
                          <a:picLocks noChangeAspect="1" noChangeArrowheads="1"/>
                        </p:cNvPicPr>
                        <p:nvPr/>
                      </p:nvPicPr>
                      <p:blipFill>
                        <a:blip r:embed="rId18"/>
                        <a:srcRect/>
                        <a:stretch>
                          <a:fillRect/>
                        </a:stretch>
                      </p:blipFill>
                      <p:spPr bwMode="auto">
                        <a:xfrm>
                          <a:off x="418513" y="5841210"/>
                          <a:ext cx="29686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对象 2"/>
            <p:cNvGraphicFramePr>
              <a:graphicFrameLocks noChangeAspect="1"/>
            </p:cNvGraphicFramePr>
            <p:nvPr>
              <p:extLst>
                <p:ext uri="{D42A27DB-BD31-4B8C-83A1-F6EECF244321}">
                  <p14:modId xmlns:p14="http://schemas.microsoft.com/office/powerpoint/2010/main" val="3474129067"/>
                </p:ext>
              </p:extLst>
            </p:nvPr>
          </p:nvGraphicFramePr>
          <p:xfrm>
            <a:off x="388938" y="6268383"/>
            <a:ext cx="3149600" cy="415925"/>
          </p:xfrm>
          <a:graphic>
            <a:graphicData uri="http://schemas.openxmlformats.org/presentationml/2006/ole">
              <mc:AlternateContent xmlns:mc="http://schemas.openxmlformats.org/markup-compatibility/2006">
                <mc:Choice xmlns:v="urn:schemas-microsoft-com:vml" Requires="v">
                  <p:oleObj name="Equation" r:id="rId19" imgW="1536480" imgH="203040" progId="Equation.DSMT4">
                    <p:embed/>
                  </p:oleObj>
                </mc:Choice>
                <mc:Fallback>
                  <p:oleObj name="Equation" r:id="rId19" imgW="1536480" imgH="203040" progId="Equation.DSMT4">
                    <p:embed/>
                    <p:pic>
                      <p:nvPicPr>
                        <p:cNvPr id="36" name="对象 2"/>
                        <p:cNvPicPr>
                          <a:picLocks noChangeAspect="1" noChangeArrowheads="1"/>
                        </p:cNvPicPr>
                        <p:nvPr/>
                      </p:nvPicPr>
                      <p:blipFill>
                        <a:blip r:embed="rId20"/>
                        <a:srcRect/>
                        <a:stretch>
                          <a:fillRect/>
                        </a:stretch>
                      </p:blipFill>
                      <p:spPr bwMode="auto">
                        <a:xfrm>
                          <a:off x="388938" y="6268383"/>
                          <a:ext cx="31496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对象 4"/>
            <p:cNvGraphicFramePr>
              <a:graphicFrameLocks noChangeAspect="1"/>
            </p:cNvGraphicFramePr>
            <p:nvPr/>
          </p:nvGraphicFramePr>
          <p:xfrm>
            <a:off x="4483701" y="5791321"/>
            <a:ext cx="735012" cy="382587"/>
          </p:xfrm>
          <a:graphic>
            <a:graphicData uri="http://schemas.openxmlformats.org/presentationml/2006/ole">
              <mc:AlternateContent xmlns:mc="http://schemas.openxmlformats.org/markup-compatibility/2006">
                <mc:Choice xmlns:v="urn:schemas-microsoft-com:vml" Requires="v">
                  <p:oleObj name="Equation" r:id="rId21" imgW="342603" imgH="177646" progId="Equation.DSMT4">
                    <p:embed/>
                  </p:oleObj>
                </mc:Choice>
                <mc:Fallback>
                  <p:oleObj name="Equation" r:id="rId21" imgW="342603" imgH="177646" progId="Equation.DSMT4">
                    <p:embed/>
                    <p:pic>
                      <p:nvPicPr>
                        <p:cNvPr id="37" name="对象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83701" y="5791321"/>
                          <a:ext cx="735012"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 name="对象 4"/>
            <p:cNvGraphicFramePr>
              <a:graphicFrameLocks noChangeAspect="1"/>
            </p:cNvGraphicFramePr>
            <p:nvPr>
              <p:extLst>
                <p:ext uri="{D42A27DB-BD31-4B8C-83A1-F6EECF244321}">
                  <p14:modId xmlns:p14="http://schemas.microsoft.com/office/powerpoint/2010/main" val="2389912135"/>
                </p:ext>
              </p:extLst>
            </p:nvPr>
          </p:nvGraphicFramePr>
          <p:xfrm>
            <a:off x="4454455" y="6252886"/>
            <a:ext cx="925512" cy="382587"/>
          </p:xfrm>
          <a:graphic>
            <a:graphicData uri="http://schemas.openxmlformats.org/presentationml/2006/ole">
              <mc:AlternateContent xmlns:mc="http://schemas.openxmlformats.org/markup-compatibility/2006">
                <mc:Choice xmlns:v="urn:schemas-microsoft-com:vml" Requires="v">
                  <p:oleObj name="Equation" r:id="rId23" imgW="431425" imgH="177646" progId="Equation.DSMT4">
                    <p:embed/>
                  </p:oleObj>
                </mc:Choice>
                <mc:Fallback>
                  <p:oleObj name="Equation" r:id="rId23" imgW="431425" imgH="177646" progId="Equation.DSMT4">
                    <p:embed/>
                    <p:pic>
                      <p:nvPicPr>
                        <p:cNvPr id="38" name="对象 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54455" y="6252886"/>
                          <a:ext cx="925512"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文本框 5"/>
            <p:cNvSpPr txBox="1">
              <a:spLocks noChangeArrowheads="1"/>
            </p:cNvSpPr>
            <p:nvPr/>
          </p:nvSpPr>
          <p:spPr bwMode="auto">
            <a:xfrm>
              <a:off x="3946525" y="5733713"/>
              <a:ext cx="40243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dirty="0">
                  <a:latin typeface="Times New Roman" panose="02020603050405020304" pitchFamily="18" charset="0"/>
                  <a:cs typeface="Times New Roman" panose="02020603050405020304" pitchFamily="18" charset="0"/>
                </a:rPr>
                <a:t>在          处没有零点</a:t>
              </a:r>
              <a:endParaRPr lang="en-US" altLang="zh-CN" sz="2800" b="1" dirty="0">
                <a:latin typeface="Times New Roman" panose="02020603050405020304" pitchFamily="18" charset="0"/>
                <a:cs typeface="Times New Roman" panose="02020603050405020304" pitchFamily="18" charset="0"/>
              </a:endParaRPr>
            </a:p>
          </p:txBody>
        </p:sp>
        <p:sp>
          <p:nvSpPr>
            <p:cNvPr id="40" name="文本框 5"/>
            <p:cNvSpPr txBox="1">
              <a:spLocks noChangeArrowheads="1"/>
            </p:cNvSpPr>
            <p:nvPr/>
          </p:nvSpPr>
          <p:spPr bwMode="auto">
            <a:xfrm>
              <a:off x="3948112" y="6179818"/>
              <a:ext cx="40227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dirty="0">
                  <a:latin typeface="Times New Roman" panose="02020603050405020304" pitchFamily="18" charset="0"/>
                  <a:cs typeface="Times New Roman" panose="02020603050405020304" pitchFamily="18" charset="0"/>
                </a:rPr>
                <a:t>在           处有零点</a:t>
              </a:r>
              <a:endParaRPr lang="en-US" altLang="zh-CN" sz="2800" b="1" dirty="0">
                <a:latin typeface="Times New Roman" panose="02020603050405020304" pitchFamily="18" charset="0"/>
                <a:cs typeface="Times New Roman" panose="02020603050405020304" pitchFamily="18" charset="0"/>
              </a:endParaRPr>
            </a:p>
          </p:txBody>
        </p:sp>
      </p:grpSp>
      <p:sp>
        <p:nvSpPr>
          <p:cNvPr id="41" name="文本框 5"/>
          <p:cNvSpPr txBox="1">
            <a:spLocks noChangeArrowheads="1"/>
          </p:cNvSpPr>
          <p:nvPr/>
        </p:nvSpPr>
        <p:spPr bwMode="auto">
          <a:xfrm>
            <a:off x="756261" y="5191780"/>
            <a:ext cx="2740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dirty="0">
                <a:latin typeface="Times New Roman" panose="02020603050405020304" pitchFamily="18" charset="0"/>
                <a:cs typeface="Times New Roman" panose="02020603050405020304" pitchFamily="18" charset="0"/>
              </a:rPr>
              <a:t>以第二类为例，</a:t>
            </a:r>
            <a:endParaRPr lang="en-US" altLang="zh-CN" sz="2800" b="1" dirty="0">
              <a:latin typeface="Times New Roman" panose="02020603050405020304" pitchFamily="18" charset="0"/>
              <a:cs typeface="Times New Roman" panose="02020603050405020304" pitchFamily="18" charset="0"/>
            </a:endParaRPr>
          </a:p>
        </p:txBody>
      </p:sp>
      <p:sp>
        <p:nvSpPr>
          <p:cNvPr id="4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49317" y="228600"/>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6"/>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5.1.3 </a:t>
            </a:r>
            <a:r>
              <a:rPr lang="zh-CN" altLang="en-US" b="1" dirty="0">
                <a:solidFill>
                  <a:srgbClr val="993300"/>
                </a:solidFill>
                <a:latin typeface="+mj-lt"/>
                <a:ea typeface="楷体_GB2312" pitchFamily="49" charset="-122"/>
              </a:rPr>
              <a:t>零点特性</a:t>
            </a:r>
          </a:p>
        </p:txBody>
      </p:sp>
    </p:spTree>
    <p:extLst>
      <p:ext uri="{BB962C8B-B14F-4D97-AF65-F5344CB8AC3E}">
        <p14:creationId xmlns:p14="http://schemas.microsoft.com/office/powerpoint/2010/main" val="81360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31" grpId="0"/>
      <p:bldP spid="32" grpId="0"/>
      <p:bldP spid="4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268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5.1</a:t>
            </a:r>
            <a:r>
              <a:rPr lang="zh-CN" altLang="en-US" b="1" dirty="0">
                <a:solidFill>
                  <a:srgbClr val="993300"/>
                </a:solidFill>
                <a:latin typeface="+mj-lt"/>
                <a:ea typeface="楷体_GB2312" pitchFamily="49" charset="-122"/>
              </a:rPr>
              <a:t> 线性相位</a:t>
            </a:r>
            <a:r>
              <a:rPr lang="en-US" altLang="zh-CN" b="1" dirty="0">
                <a:solidFill>
                  <a:srgbClr val="993300"/>
                </a:solidFill>
                <a:latin typeface="+mj-lt"/>
                <a:ea typeface="楷体_GB2312" pitchFamily="49" charset="-122"/>
              </a:rPr>
              <a:t>FIR</a:t>
            </a:r>
            <a:r>
              <a:rPr lang="zh-CN" altLang="en-US" b="1" dirty="0">
                <a:solidFill>
                  <a:srgbClr val="993300"/>
                </a:solidFill>
                <a:latin typeface="+mj-lt"/>
                <a:ea typeface="楷体_GB2312" pitchFamily="49" charset="-122"/>
              </a:rPr>
              <a:t>滤波器的特点</a:t>
            </a:r>
            <a:endParaRPr lang="zh-CN" altLang="en-US" b="1" dirty="0">
              <a:solidFill>
                <a:srgbClr val="993300"/>
              </a:solidFill>
              <a:latin typeface="+mj-ea"/>
              <a:ea typeface="+mj-ea"/>
            </a:endParaRPr>
          </a:p>
        </p:txBody>
      </p:sp>
      <p:sp>
        <p:nvSpPr>
          <p:cNvPr id="5" name="Rectangle 3"/>
          <p:cNvSpPr txBox="1">
            <a:spLocks noRot="1" noChangeArrowheads="1"/>
          </p:cNvSpPr>
          <p:nvPr/>
        </p:nvSpPr>
        <p:spPr>
          <a:xfrm>
            <a:off x="627271" y="1600200"/>
            <a:ext cx="7013575" cy="4498975"/>
          </a:xfrm>
          <a:prstGeom prst="rect">
            <a:avLst/>
          </a:prstGeom>
        </p:spPr>
        <p:txBody>
          <a:bodyPr/>
          <a:lstStyle>
            <a:lvl1pPr marL="342900" indent="-342900" algn="l" rtl="0" eaLnBrk="0" fontAlgn="base" hangingPunct="0">
              <a:spcBef>
                <a:spcPct val="20000"/>
              </a:spcBef>
              <a:spcAft>
                <a:spcPct val="0"/>
              </a:spcAft>
              <a:buBlip>
                <a:blip r:embed="rId2"/>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Wingdings 2" panose="05020102010507070707" pitchFamily="18" charset="2"/>
              <a:buNone/>
            </a:pP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线性相位</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滤波器的条件   </a:t>
            </a:r>
          </a:p>
          <a:p>
            <a:pPr eaLnBrk="1" hangingPunct="1">
              <a:buFont typeface="Wingdings 2" panose="05020102010507070707" pitchFamily="18" charset="2"/>
              <a:buNone/>
            </a:pPr>
            <a:r>
              <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四类线性相位</a:t>
            </a:r>
            <a:r>
              <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滤波器的特点</a:t>
            </a:r>
            <a:r>
              <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a:t>
            </a:r>
          </a:p>
          <a:p>
            <a:pPr eaLnBrk="1" hangingPunct="1">
              <a:buFont typeface="Wingdings 2" panose="05020102010507070707" pitchFamily="18" charset="2"/>
              <a:buNone/>
            </a:pPr>
            <a:r>
              <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i="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i="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长度</a:t>
            </a:r>
            <a:r>
              <a:rPr lang="en-US" altLang="zh-CN" sz="2800" b="1" i="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N</a:t>
            </a:r>
          </a:p>
          <a:p>
            <a:pPr eaLnBrk="1" hangingPunct="1">
              <a:buFont typeface="Wingdings 2" panose="05020102010507070707" pitchFamily="18" charset="2"/>
              <a:buNone/>
            </a:pPr>
            <a:r>
              <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  相位函数及曲线</a:t>
            </a:r>
            <a:endPar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2" panose="05020102010507070707" pitchFamily="18" charset="2"/>
              <a:buNone/>
            </a:pPr>
            <a:r>
              <a:rPr lang="zh-CN" altLang="en-US"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  适用性</a:t>
            </a:r>
            <a:endParaRPr lang="en-US" altLang="zh-CN" sz="28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2" panose="05020102010507070707" pitchFamily="18" charset="2"/>
              <a:buNone/>
            </a:pP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线性相位</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滤波器的零点特性</a:t>
            </a:r>
          </a:p>
          <a:p>
            <a:pPr eaLnBrk="1" hangingPunct="1">
              <a:buFont typeface="Wingdings 2" panose="05020102010507070707" pitchFamily="18" charset="2"/>
              <a:buNone/>
            </a:pPr>
            <a:endParaRPr lang="en-US" altLang="zh-CN" sz="2800" b="1" dirty="0">
              <a:solidFill>
                <a:srgbClr val="000000"/>
              </a:solidFill>
              <a:latin typeface="黑体" panose="02010609060101010101" pitchFamily="49" charset="-122"/>
              <a:ea typeface="黑体" panose="02010609060101010101" pitchFamily="49" charset="-122"/>
            </a:endParaRPr>
          </a:p>
        </p:txBody>
      </p:sp>
      <p:sp>
        <p:nvSpPr>
          <p:cNvPr id="6" name="Rectangle 2"/>
          <p:cNvSpPr txBox="1">
            <a:spLocks noChangeArrowheads="1"/>
          </p:cNvSpPr>
          <p:nvPr/>
        </p:nvSpPr>
        <p:spPr>
          <a:xfrm>
            <a:off x="611560" y="908720"/>
            <a:ext cx="3101801" cy="842541"/>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eaLnBrk="1" hangingPunct="1"/>
            <a:r>
              <a:rPr lang="en-US" altLang="zh-CN" sz="3200" b="1" i="0" dirty="0">
                <a:solidFill>
                  <a:srgbClr val="000000"/>
                </a:solidFill>
                <a:ea typeface="宋体" panose="02010600030101010101" pitchFamily="2" charset="-122"/>
              </a:rPr>
              <a:t>5.1</a:t>
            </a:r>
            <a:r>
              <a:rPr lang="zh-CN" altLang="en-US" sz="3200" b="1" i="0" dirty="0">
                <a:solidFill>
                  <a:srgbClr val="000000"/>
                </a:solidFill>
                <a:ea typeface="宋体" panose="02010600030101010101" pitchFamily="2" charset="-122"/>
              </a:rPr>
              <a:t>要点</a:t>
            </a:r>
          </a:p>
        </p:txBody>
      </p:sp>
    </p:spTree>
    <p:extLst>
      <p:ext uri="{BB962C8B-B14F-4D97-AF65-F5344CB8AC3E}">
        <p14:creationId xmlns:p14="http://schemas.microsoft.com/office/powerpoint/2010/main" val="3022944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3746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  </a:t>
            </a:r>
            <a:r>
              <a:rPr lang="zh-CN" altLang="en-US" b="1" dirty="0">
                <a:solidFill>
                  <a:srgbClr val="993300"/>
                </a:solidFill>
                <a:latin typeface="+mj-lt"/>
                <a:ea typeface="楷体_GB2312" pitchFamily="49" charset="-122"/>
              </a:rPr>
              <a:t>窗函数设计法</a:t>
            </a:r>
          </a:p>
        </p:txBody>
      </p:sp>
      <p:sp>
        <p:nvSpPr>
          <p:cNvPr id="3" name="Rectangle 3"/>
          <p:cNvSpPr>
            <a:spLocks noChangeArrowheads="1"/>
          </p:cNvSpPr>
          <p:nvPr/>
        </p:nvSpPr>
        <p:spPr bwMode="auto">
          <a:xfrm>
            <a:off x="533400" y="990600"/>
            <a:ext cx="8534400" cy="2623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indent="0" algn="just" eaLnBrk="1" hangingPunct="1">
              <a:lnSpc>
                <a:spcPct val="125000"/>
              </a:lnSpc>
              <a:spcBef>
                <a:spcPct val="0"/>
              </a:spcBef>
              <a:buFontTx/>
              <a:buNone/>
            </a:pPr>
            <a:r>
              <a:rPr kumimoji="1" lang="zh-CN" altLang="en-US" sz="3000" b="1" dirty="0">
                <a:solidFill>
                  <a:srgbClr val="000000"/>
                </a:solidFill>
                <a:latin typeface="Times New Roman" panose="02020603050405020304" pitchFamily="18" charset="0"/>
                <a:ea typeface="宋体" panose="02010600030101010101" pitchFamily="2" charset="-122"/>
              </a:rPr>
              <a:t>如果希望得到的滤波器的理想频率响应为          </a:t>
            </a:r>
            <a:endParaRPr kumimoji="1" lang="en-US" altLang="zh-CN" sz="3000" b="1" dirty="0">
              <a:solidFill>
                <a:srgbClr val="000000"/>
              </a:solidFill>
              <a:latin typeface="Times New Roman" panose="02020603050405020304" pitchFamily="18" charset="0"/>
              <a:ea typeface="宋体" panose="02010600030101010101" pitchFamily="2" charset="-122"/>
            </a:endParaRPr>
          </a:p>
          <a:p>
            <a:pPr indent="0" algn="just" eaLnBrk="1" hangingPunct="1">
              <a:lnSpc>
                <a:spcPct val="125000"/>
              </a:lnSpc>
              <a:spcBef>
                <a:spcPct val="0"/>
              </a:spcBef>
              <a:buFontTx/>
              <a:buNone/>
            </a:pPr>
            <a:r>
              <a:rPr kumimoji="1" lang="zh-CN" altLang="en-US" sz="3000" b="1" dirty="0">
                <a:solidFill>
                  <a:srgbClr val="000000"/>
                </a:solidFill>
                <a:latin typeface="Times New Roman" panose="02020603050405020304" pitchFamily="18" charset="0"/>
                <a:ea typeface="宋体" panose="02010600030101010101" pitchFamily="2" charset="-122"/>
              </a:rPr>
              <a:t>那么</a:t>
            </a:r>
            <a:r>
              <a:rPr kumimoji="1" lang="en-US" altLang="zh-CN" sz="3000" b="1" dirty="0">
                <a:solidFill>
                  <a:srgbClr val="000000"/>
                </a:solidFill>
                <a:latin typeface="Times New Roman" panose="02020603050405020304" pitchFamily="18" charset="0"/>
                <a:ea typeface="宋体" panose="02010600030101010101" pitchFamily="2" charset="-122"/>
              </a:rPr>
              <a:t>FIR</a:t>
            </a:r>
            <a:r>
              <a:rPr kumimoji="1" lang="zh-CN" altLang="en-US" sz="3000" b="1" dirty="0">
                <a:solidFill>
                  <a:srgbClr val="000000"/>
                </a:solidFill>
                <a:latin typeface="Times New Roman" panose="02020603050405020304" pitchFamily="18" charset="0"/>
                <a:ea typeface="宋体" panose="02010600030101010101" pitchFamily="2" charset="-122"/>
              </a:rPr>
              <a:t>滤波器的设计就在于寻找一个系统函数，</a:t>
            </a:r>
            <a:endParaRPr kumimoji="1" lang="en-US" altLang="zh-CN" sz="3000" b="1" dirty="0">
              <a:solidFill>
                <a:srgbClr val="000000"/>
              </a:solidFill>
              <a:latin typeface="Times New Roman" panose="02020603050405020304" pitchFamily="18" charset="0"/>
              <a:ea typeface="宋体" panose="02010600030101010101" pitchFamily="2" charset="-122"/>
            </a:endParaRPr>
          </a:p>
          <a:p>
            <a:pPr indent="0" algn="just" eaLnBrk="1" hangingPunct="1">
              <a:lnSpc>
                <a:spcPct val="125000"/>
              </a:lnSpc>
              <a:spcBef>
                <a:spcPct val="0"/>
              </a:spcBef>
              <a:buNone/>
            </a:pPr>
            <a:r>
              <a:rPr lang="zh-CN" altLang="en-US" sz="2800" b="1" dirty="0"/>
              <a:t>使其频率响应                                </a:t>
            </a:r>
            <a:r>
              <a:rPr kumimoji="1" lang="zh-CN" altLang="en-US" sz="3000" b="1" dirty="0">
                <a:solidFill>
                  <a:srgbClr val="000000"/>
                </a:solidFill>
                <a:latin typeface="Times New Roman" panose="02020603050405020304" pitchFamily="18" charset="0"/>
                <a:ea typeface="宋体" panose="02010600030101010101" pitchFamily="2" charset="-122"/>
              </a:rPr>
              <a:t>逼近            。               </a:t>
            </a:r>
            <a:endParaRPr kumimoji="1" lang="zh-CN" altLang="en-US" b="1" dirty="0">
              <a:solidFill>
                <a:srgbClr val="000000"/>
              </a:solidFill>
              <a:latin typeface="Times New Roman" panose="02020603050405020304" pitchFamily="18" charset="0"/>
              <a:ea typeface="宋体" panose="02010600030101010101" pitchFamily="2" charset="-122"/>
            </a:endParaRPr>
          </a:p>
          <a:p>
            <a:pPr algn="just" eaLnBrk="1" hangingPunct="1">
              <a:spcBef>
                <a:spcPct val="0"/>
              </a:spcBef>
              <a:buFontTx/>
              <a:buNone/>
            </a:pPr>
            <a:r>
              <a:rPr kumimoji="1" lang="zh-CN" altLang="en-US" b="1" dirty="0">
                <a:solidFill>
                  <a:srgbClr val="000000"/>
                </a:solidFill>
                <a:latin typeface="Times New Roman" panose="02020603050405020304" pitchFamily="18" charset="0"/>
                <a:ea typeface="宋体" panose="02010600030101010101" pitchFamily="2" charset="-122"/>
              </a:rPr>
              <a:t>                       </a:t>
            </a:r>
            <a:r>
              <a:rPr kumimoji="1" lang="zh-CN" altLang="en-US" sz="2400" b="1" dirty="0">
                <a:solidFill>
                  <a:srgbClr val="000000"/>
                </a:solidFill>
                <a:latin typeface="Times New Roman" panose="02020603050405020304" pitchFamily="18" charset="0"/>
                <a:ea typeface="宋体" panose="02010600030101010101" pitchFamily="2" charset="-122"/>
              </a:rPr>
              <a:t>        </a:t>
            </a:r>
            <a:r>
              <a:rPr kumimoji="1" lang="zh-CN" altLang="en-US" sz="2000" b="1" dirty="0">
                <a:solidFill>
                  <a:srgbClr val="000000"/>
                </a:solidFill>
                <a:latin typeface="Times New Roman" panose="02020603050405020304" pitchFamily="18" charset="0"/>
                <a:ea typeface="宋体" panose="02010600030101010101" pitchFamily="2" charset="-122"/>
              </a:rPr>
              <a:t>      </a:t>
            </a:r>
          </a:p>
          <a:p>
            <a:pPr algn="just">
              <a:spcBef>
                <a:spcPct val="0"/>
              </a:spcBef>
              <a:buFontTx/>
              <a:buNone/>
            </a:pPr>
            <a:r>
              <a:rPr kumimoji="1" lang="zh-CN" altLang="en-US" sz="2000" b="1" dirty="0">
                <a:solidFill>
                  <a:srgbClr val="000000"/>
                </a:solidFill>
                <a:latin typeface="Times New Roman" panose="02020603050405020304" pitchFamily="18" charset="0"/>
                <a:ea typeface="宋体" panose="02010600030101010101" pitchFamily="2" charset="-122"/>
              </a:rPr>
              <a:t>        </a:t>
            </a:r>
          </a:p>
        </p:txBody>
      </p:sp>
      <p:sp>
        <p:nvSpPr>
          <p:cNvPr id="4" name="AutoShape 8"/>
          <p:cNvSpPr>
            <a:spLocks/>
          </p:cNvSpPr>
          <p:nvPr/>
        </p:nvSpPr>
        <p:spPr bwMode="auto">
          <a:xfrm>
            <a:off x="1600200" y="3124200"/>
            <a:ext cx="162492" cy="1219200"/>
          </a:xfrm>
          <a:prstGeom prst="leftBrace">
            <a:avLst>
              <a:gd name="adj1" fmla="val 125000"/>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5" name="Text Box 9"/>
          <p:cNvSpPr txBox="1">
            <a:spLocks noChangeArrowheads="1"/>
          </p:cNvSpPr>
          <p:nvPr/>
        </p:nvSpPr>
        <p:spPr bwMode="auto">
          <a:xfrm>
            <a:off x="1762692" y="2957513"/>
            <a:ext cx="5257800" cy="191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kumimoji="1" lang="zh-CN" altLang="en-US" sz="3000" b="1" dirty="0">
                <a:solidFill>
                  <a:srgbClr val="000000"/>
                </a:solidFill>
                <a:latin typeface="Times New Roman" panose="02020603050405020304" pitchFamily="18" charset="0"/>
                <a:ea typeface="宋体" panose="02010600030101010101" pitchFamily="2" charset="-122"/>
              </a:rPr>
              <a:t>窗函数设计法（时域逼近）</a:t>
            </a:r>
          </a:p>
          <a:p>
            <a:pPr algn="just" eaLnBrk="1" hangingPunct="1">
              <a:spcBef>
                <a:spcPct val="0"/>
              </a:spcBef>
              <a:buFontTx/>
              <a:buNone/>
            </a:pPr>
            <a:r>
              <a:rPr kumimoji="1" lang="zh-CN" altLang="en-US" sz="3000" b="1" dirty="0">
                <a:solidFill>
                  <a:srgbClr val="000000"/>
                </a:solidFill>
                <a:latin typeface="Times New Roman" panose="02020603050405020304" pitchFamily="18" charset="0"/>
                <a:ea typeface="宋体" panose="02010600030101010101" pitchFamily="2" charset="-122"/>
              </a:rPr>
              <a:t>频率采样设计法（频域逼近）</a:t>
            </a:r>
          </a:p>
          <a:p>
            <a:pPr algn="just" eaLnBrk="1" hangingPunct="1">
              <a:spcBef>
                <a:spcPct val="0"/>
              </a:spcBef>
              <a:buFontTx/>
              <a:buNone/>
            </a:pPr>
            <a:r>
              <a:rPr kumimoji="1" lang="zh-CN" altLang="en-US" sz="3000" b="1" dirty="0">
                <a:solidFill>
                  <a:srgbClr val="000000"/>
                </a:solidFill>
                <a:latin typeface="Times New Roman" panose="02020603050405020304" pitchFamily="18" charset="0"/>
                <a:ea typeface="宋体" panose="02010600030101010101" pitchFamily="2" charset="-122"/>
              </a:rPr>
              <a:t>最优化设计</a:t>
            </a:r>
          </a:p>
          <a:p>
            <a:pPr algn="just" eaLnBrk="1" hangingPunct="1">
              <a:spcBef>
                <a:spcPct val="0"/>
              </a:spcBef>
              <a:buFontTx/>
              <a:buNone/>
            </a:pPr>
            <a:endParaRPr lang="zh-CN" altLang="en-US" sz="2400" b="1" dirty="0">
              <a:latin typeface="Century Gothic" panose="020B0502020202020204" pitchFamily="34" charset="0"/>
              <a:ea typeface="宋体" panose="02010600030101010101" pitchFamily="2" charset="-122"/>
            </a:endParaRPr>
          </a:p>
        </p:txBody>
      </p:sp>
      <p:graphicFrame>
        <p:nvGraphicFramePr>
          <p:cNvPr id="6" name="Object 9"/>
          <p:cNvGraphicFramePr>
            <a:graphicFrameLocks noChangeAspect="1"/>
          </p:cNvGraphicFramePr>
          <p:nvPr>
            <p:extLst>
              <p:ext uri="{D42A27DB-BD31-4B8C-83A1-F6EECF244321}">
                <p14:modId xmlns:p14="http://schemas.microsoft.com/office/powerpoint/2010/main" val="2585847489"/>
              </p:ext>
            </p:extLst>
          </p:nvPr>
        </p:nvGraphicFramePr>
        <p:xfrm>
          <a:off x="7505700" y="1074738"/>
          <a:ext cx="1253448" cy="506520"/>
        </p:xfrm>
        <a:graphic>
          <a:graphicData uri="http://schemas.openxmlformats.org/presentationml/2006/ole">
            <mc:AlternateContent xmlns:mc="http://schemas.openxmlformats.org/markup-compatibility/2006">
              <mc:Choice xmlns:v="urn:schemas-microsoft-com:vml" Requires="v">
                <p:oleObj name="Equation" r:id="rId4" imgW="596880" imgH="241200" progId="Equation.DSMT4">
                  <p:embed/>
                </p:oleObj>
              </mc:Choice>
              <mc:Fallback>
                <p:oleObj name="Equation" r:id="rId4" imgW="596880" imgH="241200" progId="Equation.DSMT4">
                  <p:embed/>
                  <p:pic>
                    <p:nvPicPr>
                      <p:cNvPr id="6" name="Object 9"/>
                      <p:cNvPicPr>
                        <a:picLocks noChangeAspect="1" noChangeArrowheads="1"/>
                      </p:cNvPicPr>
                      <p:nvPr/>
                    </p:nvPicPr>
                    <p:blipFill>
                      <a:blip r:embed="rId5"/>
                      <a:srcRect/>
                      <a:stretch>
                        <a:fillRect/>
                      </a:stretch>
                    </p:blipFill>
                    <p:spPr bwMode="auto">
                      <a:xfrm>
                        <a:off x="7505700" y="1074738"/>
                        <a:ext cx="1253448" cy="506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1945802812"/>
              </p:ext>
            </p:extLst>
          </p:nvPr>
        </p:nvGraphicFramePr>
        <p:xfrm>
          <a:off x="6675628" y="2233049"/>
          <a:ext cx="1172972" cy="506510"/>
        </p:xfrm>
        <a:graphic>
          <a:graphicData uri="http://schemas.openxmlformats.org/presentationml/2006/ole">
            <mc:AlternateContent xmlns:mc="http://schemas.openxmlformats.org/markup-compatibility/2006">
              <mc:Choice xmlns:v="urn:schemas-microsoft-com:vml" Requires="v">
                <p:oleObj name="Equation" r:id="rId6" imgW="558558" imgH="241195" progId="Equation.DSMT4">
                  <p:embed/>
                </p:oleObj>
              </mc:Choice>
              <mc:Fallback>
                <p:oleObj name="Equation" r:id="rId6" imgW="558558" imgH="241195" progId="Equation.DSMT4">
                  <p:embed/>
                  <p:pic>
                    <p:nvPicPr>
                      <p:cNvPr id="7"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628" y="2233049"/>
                        <a:ext cx="1172972" cy="5065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575326205"/>
              </p:ext>
            </p:extLst>
          </p:nvPr>
        </p:nvGraphicFramePr>
        <p:xfrm>
          <a:off x="2853984" y="2056922"/>
          <a:ext cx="3013416" cy="906444"/>
        </p:xfrm>
        <a:graphic>
          <a:graphicData uri="http://schemas.openxmlformats.org/presentationml/2006/ole">
            <mc:AlternateContent xmlns:mc="http://schemas.openxmlformats.org/markup-compatibility/2006">
              <mc:Choice xmlns:v="urn:schemas-microsoft-com:vml" Requires="v">
                <p:oleObj name="Equation" r:id="rId8" imgW="1434960" imgH="431640" progId="Equation.DSMT4">
                  <p:embed/>
                </p:oleObj>
              </mc:Choice>
              <mc:Fallback>
                <p:oleObj name="Equation" r:id="rId8" imgW="1434960" imgH="431640" progId="Equation.DSMT4">
                  <p:embed/>
                  <p:pic>
                    <p:nvPicPr>
                      <p:cNvPr id="8" name="Object 11"/>
                      <p:cNvPicPr>
                        <a:picLocks noChangeAspect="1" noChangeArrowheads="1"/>
                      </p:cNvPicPr>
                      <p:nvPr/>
                    </p:nvPicPr>
                    <p:blipFill>
                      <a:blip r:embed="rId9"/>
                      <a:srcRect/>
                      <a:stretch>
                        <a:fillRect/>
                      </a:stretch>
                    </p:blipFill>
                    <p:spPr bwMode="auto">
                      <a:xfrm>
                        <a:off x="2853984" y="2056922"/>
                        <a:ext cx="3013416" cy="906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2"/>
          <p:cNvSpPr>
            <a:spLocks noChangeArrowheads="1"/>
          </p:cNvSpPr>
          <p:nvPr/>
        </p:nvSpPr>
        <p:spPr bwMode="auto">
          <a:xfrm>
            <a:off x="266972" y="4850249"/>
            <a:ext cx="864842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25000"/>
              </a:lnSpc>
              <a:spcBef>
                <a:spcPts val="0"/>
              </a:spcBef>
              <a:spcAft>
                <a:spcPts val="0"/>
              </a:spcAft>
              <a:buFontTx/>
              <a:buNone/>
            </a:pPr>
            <a:r>
              <a:rPr kumimoji="1" lang="zh-CN" altLang="en-US" sz="2800" b="1" dirty="0">
                <a:solidFill>
                  <a:schemeClr val="tx2"/>
                </a:solidFill>
                <a:latin typeface="Times New Roman" panose="02020603050405020304" pitchFamily="18" charset="0"/>
                <a:ea typeface="宋体" panose="02010600030101010101" pitchFamily="2" charset="-122"/>
              </a:rPr>
              <a:t>窗函数设计法</a:t>
            </a:r>
            <a:r>
              <a:rPr kumimoji="1"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cs typeface="Times New Roman" panose="02020603050405020304" pitchFamily="18" charset="0"/>
              </a:rPr>
              <a:t>窗口设计法</a:t>
            </a:r>
            <a:r>
              <a:rPr kumimoji="1" lang="en-US" altLang="zh-CN" sz="2800" b="1" dirty="0">
                <a:latin typeface="Times New Roman" panose="02020603050405020304" pitchFamily="18" charset="0"/>
                <a:ea typeface="宋体" panose="02010600030101010101" pitchFamily="2" charset="-122"/>
              </a:rPr>
              <a:t>)</a:t>
            </a:r>
            <a:r>
              <a:rPr kumimoji="1" lang="zh-CN" altLang="en-US" sz="2800" b="1" dirty="0">
                <a:solidFill>
                  <a:schemeClr val="tx2"/>
                </a:solidFill>
                <a:latin typeface="Times New Roman" panose="02020603050405020304" pitchFamily="18" charset="0"/>
                <a:ea typeface="宋体" panose="02010600030101010101" pitchFamily="2" charset="-122"/>
              </a:rPr>
              <a:t>思路：</a:t>
            </a:r>
            <a:endParaRPr kumimoji="1" lang="en-US" altLang="zh-CN" sz="2800" b="1" dirty="0">
              <a:solidFill>
                <a:schemeClr val="tx2"/>
              </a:solidFill>
              <a:latin typeface="Times New Roman" panose="02020603050405020304" pitchFamily="18" charset="0"/>
              <a:ea typeface="宋体" panose="02010600030101010101" pitchFamily="2" charset="-122"/>
            </a:endParaRPr>
          </a:p>
          <a:p>
            <a:pPr algn="just" eaLnBrk="1" hangingPunct="1">
              <a:lnSpc>
                <a:spcPct val="125000"/>
              </a:lnSpc>
              <a:spcBef>
                <a:spcPts val="0"/>
              </a:spcBef>
              <a:spcAft>
                <a:spcPts val="0"/>
              </a:spcAft>
              <a:buFontTx/>
              <a:buNone/>
            </a:pPr>
            <a:r>
              <a:rPr kumimoji="1" lang="zh-CN" altLang="en-US" sz="2800" b="1" dirty="0">
                <a:latin typeface="Times New Roman" panose="02020603050405020304" pitchFamily="18" charset="0"/>
                <a:ea typeface="宋体" panose="02010600030101010101" pitchFamily="2" charset="-122"/>
              </a:rPr>
              <a:t>使单位脉冲响应 </a:t>
            </a:r>
            <a:r>
              <a:rPr kumimoji="1" lang="en-US" altLang="zh-CN" sz="2800" b="1" i="1" dirty="0">
                <a:solidFill>
                  <a:srgbClr val="0000CC"/>
                </a:solidFill>
                <a:latin typeface="Times New Roman" panose="02020603050405020304" pitchFamily="18" charset="0"/>
                <a:ea typeface="宋体" panose="02010600030101010101" pitchFamily="2" charset="-122"/>
              </a:rPr>
              <a:t>h</a:t>
            </a:r>
            <a:r>
              <a:rPr kumimoji="1" lang="en-US" altLang="zh-CN" sz="2800" b="1" dirty="0">
                <a:solidFill>
                  <a:srgbClr val="0000CC"/>
                </a:solidFill>
                <a:latin typeface="Times New Roman" panose="02020603050405020304" pitchFamily="18" charset="0"/>
                <a:ea typeface="宋体" panose="02010600030101010101" pitchFamily="2" charset="-122"/>
              </a:rPr>
              <a:t>(</a:t>
            </a:r>
            <a:r>
              <a:rPr kumimoji="1" lang="en-US" altLang="zh-CN" sz="2800" b="1" i="1" dirty="0">
                <a:solidFill>
                  <a:srgbClr val="0000CC"/>
                </a:solidFill>
                <a:latin typeface="Times New Roman" panose="02020603050405020304" pitchFamily="18" charset="0"/>
                <a:ea typeface="宋体" panose="02010600030101010101" pitchFamily="2" charset="-122"/>
              </a:rPr>
              <a:t>n</a:t>
            </a:r>
            <a:r>
              <a:rPr kumimoji="1" lang="en-US" altLang="zh-CN" sz="2800" b="1" dirty="0">
                <a:solidFill>
                  <a:srgbClr val="0000CC"/>
                </a:solidFill>
                <a:latin typeface="Times New Roman" panose="02020603050405020304" pitchFamily="18" charset="0"/>
                <a:ea typeface="宋体" panose="02010600030101010101" pitchFamily="2" charset="-122"/>
              </a:rPr>
              <a:t>)</a:t>
            </a:r>
            <a:r>
              <a:rPr kumimoji="1" lang="en-US" altLang="zh-CN" sz="2800" b="1" dirty="0">
                <a:latin typeface="Times New Roman" panose="02020603050405020304" pitchFamily="18" charset="0"/>
                <a:ea typeface="宋体" panose="02010600030101010101" pitchFamily="2" charset="-122"/>
              </a:rPr>
              <a:t> </a:t>
            </a:r>
            <a:r>
              <a:rPr kumimoji="1" lang="zh-CN" altLang="en-US" sz="2800" b="1" dirty="0">
                <a:solidFill>
                  <a:srgbClr val="FF0000"/>
                </a:solidFill>
                <a:latin typeface="Times New Roman" panose="02020603050405020304" pitchFamily="18" charset="0"/>
                <a:ea typeface="宋体" panose="02010600030101010101" pitchFamily="2" charset="-122"/>
              </a:rPr>
              <a:t>逼近</a:t>
            </a:r>
            <a:r>
              <a:rPr kumimoji="1" lang="zh-CN" altLang="en-US" sz="2800" b="1" dirty="0">
                <a:latin typeface="Times New Roman" panose="02020603050405020304" pitchFamily="18" charset="0"/>
                <a:ea typeface="宋体" panose="02010600030101010101" pitchFamily="2" charset="-122"/>
              </a:rPr>
              <a:t>理想的单位脉冲响应 </a:t>
            </a:r>
            <a:r>
              <a:rPr kumimoji="1" lang="en-US" altLang="zh-CN" sz="2800" b="1" i="1" dirty="0" err="1">
                <a:solidFill>
                  <a:srgbClr val="0000CC"/>
                </a:solidFill>
                <a:latin typeface="Times New Roman" panose="02020603050405020304" pitchFamily="18" charset="0"/>
                <a:ea typeface="宋体" panose="02010600030101010101" pitchFamily="2" charset="-122"/>
              </a:rPr>
              <a:t>h</a:t>
            </a:r>
            <a:r>
              <a:rPr kumimoji="1" lang="en-US" altLang="zh-CN" sz="2800" b="1" i="1" baseline="-30000" dirty="0" err="1">
                <a:solidFill>
                  <a:srgbClr val="0000CC"/>
                </a:solidFill>
                <a:latin typeface="Times New Roman" panose="02020603050405020304" pitchFamily="18" charset="0"/>
                <a:ea typeface="宋体" panose="02010600030101010101" pitchFamily="2" charset="-122"/>
              </a:rPr>
              <a:t>d</a:t>
            </a:r>
            <a:r>
              <a:rPr kumimoji="1" lang="en-US" altLang="zh-CN" sz="2800" b="1" dirty="0">
                <a:solidFill>
                  <a:srgbClr val="0000CC"/>
                </a:solidFill>
                <a:latin typeface="Times New Roman" panose="02020603050405020304" pitchFamily="18" charset="0"/>
                <a:ea typeface="宋体" panose="02010600030101010101" pitchFamily="2" charset="-122"/>
              </a:rPr>
              <a:t>(</a:t>
            </a:r>
            <a:r>
              <a:rPr kumimoji="1" lang="en-US" altLang="zh-CN" sz="2800" b="1" i="1" dirty="0">
                <a:solidFill>
                  <a:srgbClr val="0000CC"/>
                </a:solidFill>
                <a:latin typeface="Times New Roman" panose="02020603050405020304" pitchFamily="18" charset="0"/>
                <a:ea typeface="宋体" panose="02010600030101010101" pitchFamily="2" charset="-122"/>
              </a:rPr>
              <a:t>n</a:t>
            </a:r>
            <a:r>
              <a:rPr kumimoji="1" lang="en-US" altLang="zh-CN" sz="2800" b="1" dirty="0">
                <a:solidFill>
                  <a:srgbClr val="0000CC"/>
                </a:solidFill>
                <a:latin typeface="Times New Roman" panose="02020603050405020304" pitchFamily="18" charset="0"/>
                <a:ea typeface="宋体" panose="02010600030101010101" pitchFamily="2" charset="-122"/>
              </a:rPr>
              <a:t>)</a:t>
            </a:r>
            <a:r>
              <a:rPr kumimoji="1" lang="zh-CN" altLang="en-US" sz="2800" b="1" dirty="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136324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4"/>
          <p:cNvGraphicFramePr>
            <a:graphicFrameLocks noChangeAspect="1"/>
          </p:cNvGraphicFramePr>
          <p:nvPr>
            <p:extLst>
              <p:ext uri="{D42A27DB-BD31-4B8C-83A1-F6EECF244321}">
                <p14:modId xmlns:p14="http://schemas.microsoft.com/office/powerpoint/2010/main" val="1696636459"/>
              </p:ext>
            </p:extLst>
          </p:nvPr>
        </p:nvGraphicFramePr>
        <p:xfrm>
          <a:off x="856766" y="1066800"/>
          <a:ext cx="1285056" cy="554760"/>
        </p:xfrm>
        <a:graphic>
          <a:graphicData uri="http://schemas.openxmlformats.org/presentationml/2006/ole">
            <mc:AlternateContent xmlns:mc="http://schemas.openxmlformats.org/markup-compatibility/2006">
              <mc:Choice xmlns:v="urn:schemas-microsoft-com:vml" Requires="v">
                <p:oleObj name="Equation" r:id="rId2" imgW="558720" imgH="241200" progId="Equation.DSMT4">
                  <p:embed/>
                </p:oleObj>
              </mc:Choice>
              <mc:Fallback>
                <p:oleObj name="Equation" r:id="rId2" imgW="558720" imgH="241200" progId="Equation.DSMT4">
                  <p:embed/>
                  <p:pic>
                    <p:nvPicPr>
                      <p:cNvPr id="7" name="Object 4"/>
                      <p:cNvPicPr>
                        <a:picLocks noChangeAspect="1" noChangeArrowheads="1"/>
                      </p:cNvPicPr>
                      <p:nvPr/>
                    </p:nvPicPr>
                    <p:blipFill>
                      <a:blip r:embed="rId3"/>
                      <a:srcRect/>
                      <a:stretch>
                        <a:fillRect/>
                      </a:stretch>
                    </p:blipFill>
                    <p:spPr bwMode="auto">
                      <a:xfrm>
                        <a:off x="856766" y="1066800"/>
                        <a:ext cx="1285056" cy="554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4060863423"/>
              </p:ext>
            </p:extLst>
          </p:nvPr>
        </p:nvGraphicFramePr>
        <p:xfrm>
          <a:off x="3552825" y="1066800"/>
          <a:ext cx="2687638" cy="525463"/>
        </p:xfrm>
        <a:graphic>
          <a:graphicData uri="http://schemas.openxmlformats.org/presentationml/2006/ole">
            <mc:AlternateContent xmlns:mc="http://schemas.openxmlformats.org/markup-compatibility/2006">
              <mc:Choice xmlns:v="urn:schemas-microsoft-com:vml" Requires="v">
                <p:oleObj name="Equation" r:id="rId4" imgW="1168200" imgH="228600" progId="Equation.DSMT4">
                  <p:embed/>
                </p:oleObj>
              </mc:Choice>
              <mc:Fallback>
                <p:oleObj name="Equation" r:id="rId4" imgW="1168200" imgH="228600" progId="Equation.DSMT4">
                  <p:embed/>
                  <p:pic>
                    <p:nvPicPr>
                      <p:cNvPr id="8" name="Object 3"/>
                      <p:cNvPicPr>
                        <a:picLocks noChangeAspect="1" noChangeArrowheads="1"/>
                      </p:cNvPicPr>
                      <p:nvPr/>
                    </p:nvPicPr>
                    <p:blipFill>
                      <a:blip r:embed="rId5"/>
                      <a:srcRect/>
                      <a:stretch>
                        <a:fillRect/>
                      </a:stretch>
                    </p:blipFill>
                    <p:spPr bwMode="auto">
                      <a:xfrm>
                        <a:off x="3552825" y="1066800"/>
                        <a:ext cx="2687638"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a:spLocks noChangeArrowheads="1"/>
          </p:cNvSpPr>
          <p:nvPr/>
        </p:nvSpPr>
        <p:spPr bwMode="auto">
          <a:xfrm>
            <a:off x="6483853" y="914400"/>
            <a:ext cx="126669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无限长</a:t>
            </a:r>
            <a:endParaRPr kumimoji="0"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ct val="0"/>
              </a:spcBef>
              <a:spcAft>
                <a:spcPts val="0"/>
              </a:spcAft>
              <a:buClrTx/>
              <a:buSzTx/>
              <a:buFontTx/>
              <a:buNone/>
              <a:tabLst/>
              <a:defRPr/>
            </a:pPr>
            <a:r>
              <a:rPr lang="zh-CN" altLang="en-US" sz="2800" b="1" kern="0" dirty="0">
                <a:solidFill>
                  <a:srgbClr val="C00000"/>
                </a:solidFill>
                <a:latin typeface="Times New Roman" panose="02020603050405020304" pitchFamily="18" charset="0"/>
              </a:rPr>
              <a:t>非因果</a:t>
            </a:r>
            <a:endParaRPr kumimoji="0" lang="zh-CN" altLang="en-US" sz="2800" b="0" i="0" u="none" strike="noStrike" kern="0" cap="none" spc="0" normalizeH="0" baseline="0" noProof="0" dirty="0">
              <a:ln>
                <a:noFill/>
              </a:ln>
              <a:solidFill>
                <a:srgbClr val="C00000"/>
              </a:solidFill>
              <a:effectLst/>
              <a:uLnTx/>
              <a:uFillTx/>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212392486"/>
              </p:ext>
            </p:extLst>
          </p:nvPr>
        </p:nvGraphicFramePr>
        <p:xfrm>
          <a:off x="2231210" y="1091738"/>
          <a:ext cx="1244600" cy="406400"/>
        </p:xfrm>
        <a:graphic>
          <a:graphicData uri="http://schemas.openxmlformats.org/presentationml/2006/ole">
            <mc:AlternateContent xmlns:mc="http://schemas.openxmlformats.org/markup-compatibility/2006">
              <mc:Choice xmlns:v="urn:schemas-microsoft-com:vml" Requires="v">
                <p:oleObj name="Equation" r:id="rId6" imgW="622080" imgH="203040" progId="Equation.DSMT4">
                  <p:embed/>
                </p:oleObj>
              </mc:Choice>
              <mc:Fallback>
                <p:oleObj name="Equation" r:id="rId6" imgW="622080" imgH="203040" progId="Equation.DSMT4">
                  <p:embed/>
                  <p:pic>
                    <p:nvPicPr>
                      <p:cNvPr id="1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1210" y="1091738"/>
                        <a:ext cx="1244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7"/>
          <p:cNvGraphicFramePr>
            <a:graphicFrameLocks noChangeAspect="1"/>
          </p:cNvGraphicFramePr>
          <p:nvPr>
            <p:extLst>
              <p:ext uri="{D42A27DB-BD31-4B8C-83A1-F6EECF244321}">
                <p14:modId xmlns:p14="http://schemas.microsoft.com/office/powerpoint/2010/main" val="2149429814"/>
              </p:ext>
            </p:extLst>
          </p:nvPr>
        </p:nvGraphicFramePr>
        <p:xfrm>
          <a:off x="4249738" y="2286000"/>
          <a:ext cx="2913062" cy="592137"/>
        </p:xfrm>
        <a:graphic>
          <a:graphicData uri="http://schemas.openxmlformats.org/presentationml/2006/ole">
            <mc:AlternateContent xmlns:mc="http://schemas.openxmlformats.org/markup-compatibility/2006">
              <mc:Choice xmlns:v="urn:schemas-microsoft-com:vml" Requires="v">
                <p:oleObj name="Equation" r:id="rId8" imgW="1130040" imgH="228600" progId="Equation.DSMT4">
                  <p:embed/>
                </p:oleObj>
              </mc:Choice>
              <mc:Fallback>
                <p:oleObj name="Equation" r:id="rId8" imgW="1130040" imgH="228600" progId="Equation.DSMT4">
                  <p:embed/>
                  <p:pic>
                    <p:nvPicPr>
                      <p:cNvPr id="11" name="Object 7"/>
                      <p:cNvPicPr>
                        <a:picLocks noChangeAspect="1" noChangeArrowheads="1"/>
                      </p:cNvPicPr>
                      <p:nvPr/>
                    </p:nvPicPr>
                    <p:blipFill>
                      <a:blip r:embed="rId9"/>
                      <a:srcRect/>
                      <a:stretch>
                        <a:fillRect/>
                      </a:stretch>
                    </p:blipFill>
                    <p:spPr bwMode="auto">
                      <a:xfrm>
                        <a:off x="4249738" y="2286000"/>
                        <a:ext cx="2913062"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7"/>
          <p:cNvGraphicFramePr>
            <a:graphicFrameLocks noChangeAspect="1"/>
          </p:cNvGraphicFramePr>
          <p:nvPr>
            <p:extLst>
              <p:ext uri="{D42A27DB-BD31-4B8C-83A1-F6EECF244321}">
                <p14:modId xmlns:p14="http://schemas.microsoft.com/office/powerpoint/2010/main" val="3882758705"/>
              </p:ext>
            </p:extLst>
          </p:nvPr>
        </p:nvGraphicFramePr>
        <p:xfrm>
          <a:off x="3552825" y="3337729"/>
          <a:ext cx="3076575" cy="527050"/>
        </p:xfrm>
        <a:graphic>
          <a:graphicData uri="http://schemas.openxmlformats.org/presentationml/2006/ole">
            <mc:AlternateContent xmlns:mc="http://schemas.openxmlformats.org/markup-compatibility/2006">
              <mc:Choice xmlns:v="urn:schemas-microsoft-com:vml" Requires="v">
                <p:oleObj name="Equation" r:id="rId10" imgW="1193760" imgH="203040" progId="Equation.DSMT4">
                  <p:embed/>
                </p:oleObj>
              </mc:Choice>
              <mc:Fallback>
                <p:oleObj name="Equation" r:id="rId10" imgW="1193760" imgH="203040" progId="Equation.DSMT4">
                  <p:embed/>
                  <p:pic>
                    <p:nvPicPr>
                      <p:cNvPr id="12" name="Object 7"/>
                      <p:cNvPicPr>
                        <a:picLocks noChangeAspect="1" noChangeArrowheads="1"/>
                      </p:cNvPicPr>
                      <p:nvPr/>
                    </p:nvPicPr>
                    <p:blipFill>
                      <a:blip r:embed="rId11"/>
                      <a:srcRect/>
                      <a:stretch>
                        <a:fillRect/>
                      </a:stretch>
                    </p:blipFill>
                    <p:spPr bwMode="auto">
                      <a:xfrm>
                        <a:off x="3552825" y="3337729"/>
                        <a:ext cx="30765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a:spLocks noChangeArrowheads="1"/>
          </p:cNvSpPr>
          <p:nvPr/>
        </p:nvSpPr>
        <p:spPr bwMode="auto">
          <a:xfrm>
            <a:off x="6629400" y="3124200"/>
            <a:ext cx="126669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lang="zh-CN" altLang="en-US" sz="2800" b="1" kern="0" dirty="0">
                <a:solidFill>
                  <a:srgbClr val="0000FF"/>
                </a:solidFill>
                <a:latin typeface="Times New Roman" panose="02020603050405020304" pitchFamily="18" charset="0"/>
              </a:rPr>
              <a:t>有</a:t>
            </a:r>
            <a:r>
              <a:rPr kumimoji="0"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限长</a:t>
            </a:r>
            <a:endParaRPr kumimoji="0"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ct val="0"/>
              </a:spcBef>
              <a:spcAft>
                <a:spcPts val="0"/>
              </a:spcAft>
              <a:buClrTx/>
              <a:buSzTx/>
              <a:buFontTx/>
              <a:buNone/>
              <a:tabLst/>
              <a:defRPr/>
            </a:pPr>
            <a:r>
              <a:rPr lang="zh-CN" altLang="en-US" sz="2800" b="1" kern="0" dirty="0">
                <a:solidFill>
                  <a:srgbClr val="C00000"/>
                </a:solidFill>
                <a:latin typeface="Times New Roman" panose="02020603050405020304" pitchFamily="18" charset="0"/>
              </a:rPr>
              <a:t>因果</a:t>
            </a:r>
            <a:endParaRPr kumimoji="0" lang="zh-CN" altLang="en-US" sz="2800" b="0" i="0" u="none" strike="noStrike" kern="0" cap="none" spc="0" normalizeH="0" baseline="0" noProof="0" dirty="0">
              <a:ln>
                <a:noFill/>
              </a:ln>
              <a:solidFill>
                <a:srgbClr val="C00000"/>
              </a:solidFill>
              <a:effectLst/>
              <a:uLnTx/>
              <a:uFillTx/>
            </a:endParaRPr>
          </a:p>
        </p:txBody>
      </p:sp>
      <p:sp>
        <p:nvSpPr>
          <p:cNvPr id="15" name="矩形 14"/>
          <p:cNvSpPr/>
          <p:nvPr/>
        </p:nvSpPr>
        <p:spPr>
          <a:xfrm>
            <a:off x="4191000" y="1752600"/>
            <a:ext cx="90601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rPr>
              <a:t>截取</a:t>
            </a:r>
            <a:endParaRPr kumimoji="0" lang="zh-CN" altLang="en-US" sz="1800" b="0" i="0" u="none" strike="noStrike" kern="0" cap="none" spc="0" normalizeH="0" baseline="0" noProof="0" dirty="0">
              <a:ln>
                <a:noFill/>
              </a:ln>
              <a:solidFill>
                <a:sysClr val="windowText" lastClr="000000"/>
              </a:solidFill>
              <a:effectLst/>
              <a:uLnTx/>
              <a:uFillTx/>
            </a:endParaRPr>
          </a:p>
        </p:txBody>
      </p:sp>
      <p:cxnSp>
        <p:nvCxnSpPr>
          <p:cNvPr id="16" name="直接箭头连接符 15"/>
          <p:cNvCxnSpPr/>
          <p:nvPr/>
        </p:nvCxnSpPr>
        <p:spPr>
          <a:xfrm rot="5400000">
            <a:off x="3242400" y="2507795"/>
            <a:ext cx="1440000"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 Box 6"/>
          <p:cNvSpPr txBox="1">
            <a:spLocks noChangeArrowheads="1"/>
          </p:cNvSpPr>
          <p:nvPr/>
        </p:nvSpPr>
        <p:spPr bwMode="auto">
          <a:xfrm>
            <a:off x="434564" y="5894927"/>
            <a:ext cx="87014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800000"/>
                </a:solidFill>
                <a:latin typeface="Times New Roman" panose="02020603050405020304" pitchFamily="18" charset="0"/>
                <a:cs typeface="Times New Roman" panose="02020603050405020304" pitchFamily="18" charset="0"/>
              </a:rPr>
              <a:t>窗函数的</a:t>
            </a:r>
            <a:r>
              <a:rPr lang="zh-CN" altLang="en-US" sz="2800" b="1" dirty="0">
                <a:solidFill>
                  <a:srgbClr val="FF0066"/>
                </a:solidFill>
                <a:latin typeface="Times New Roman" panose="02020603050405020304" pitchFamily="18" charset="0"/>
                <a:cs typeface="Times New Roman" panose="02020603050405020304" pitchFamily="18" charset="0"/>
              </a:rPr>
              <a:t>形状</a:t>
            </a:r>
            <a:r>
              <a:rPr lang="zh-CN" altLang="en-US" sz="2800" b="1" dirty="0">
                <a:solidFill>
                  <a:srgbClr val="800000"/>
                </a:solidFill>
                <a:latin typeface="Times New Roman" panose="02020603050405020304" pitchFamily="18" charset="0"/>
                <a:cs typeface="Times New Roman" panose="02020603050405020304" pitchFamily="18" charset="0"/>
              </a:rPr>
              <a:t>和</a:t>
            </a:r>
            <a:r>
              <a:rPr lang="zh-CN" altLang="en-US" sz="2800" b="1" dirty="0">
                <a:solidFill>
                  <a:srgbClr val="FF0066"/>
                </a:solidFill>
                <a:latin typeface="Times New Roman" panose="02020603050405020304" pitchFamily="18" charset="0"/>
                <a:cs typeface="Times New Roman" panose="02020603050405020304" pitchFamily="18" charset="0"/>
              </a:rPr>
              <a:t>长度</a:t>
            </a:r>
            <a:r>
              <a:rPr lang="en-US" altLang="zh-CN" sz="2800" b="1" i="1" dirty="0">
                <a:solidFill>
                  <a:srgbClr val="FF0066"/>
                </a:solidFill>
                <a:latin typeface="Times New Roman" panose="02020603050405020304" pitchFamily="18" charset="0"/>
                <a:cs typeface="Times New Roman" panose="02020603050405020304" pitchFamily="18" charset="0"/>
              </a:rPr>
              <a:t>N</a:t>
            </a:r>
            <a:r>
              <a:rPr lang="zh-CN" altLang="en-US" sz="2800" b="1" dirty="0">
                <a:solidFill>
                  <a:srgbClr val="800000"/>
                </a:solidFill>
                <a:latin typeface="Times New Roman" panose="02020603050405020304" pitchFamily="18" charset="0"/>
                <a:cs typeface="Times New Roman" panose="02020603050405020304" pitchFamily="18" charset="0"/>
              </a:rPr>
              <a:t>的选择是窗函数设计法的关键 </a:t>
            </a:r>
            <a:r>
              <a:rPr lang="zh-CN" altLang="en-US" b="1" dirty="0">
                <a:solidFill>
                  <a:srgbClr val="FF0066"/>
                </a:solidFill>
                <a:latin typeface="Times New Roman" panose="02020603050405020304" pitchFamily="18" charset="0"/>
                <a:cs typeface="Times New Roman" panose="02020603050405020304" pitchFamily="18" charset="0"/>
              </a:rPr>
              <a:t>★</a:t>
            </a:r>
          </a:p>
        </p:txBody>
      </p:sp>
      <p:sp>
        <p:nvSpPr>
          <p:cNvPr id="18" name="矩形 17"/>
          <p:cNvSpPr/>
          <p:nvPr/>
        </p:nvSpPr>
        <p:spPr>
          <a:xfrm>
            <a:off x="434564" y="4061727"/>
            <a:ext cx="8252236" cy="1708160"/>
          </a:xfrm>
          <a:prstGeom prst="rect">
            <a:avLst/>
          </a:prstGeom>
        </p:spPr>
        <p:txBody>
          <a:bodyPr wrap="square">
            <a:spAutoFit/>
          </a:bodyPr>
          <a:lstStyle/>
          <a:p>
            <a:pPr>
              <a:lnSpc>
                <a:spcPct val="125000"/>
              </a:lnSpc>
            </a:pPr>
            <a:r>
              <a:rPr lang="zh-CN" altLang="en-US" sz="2800" b="1" dirty="0">
                <a:solidFill>
                  <a:srgbClr val="000000"/>
                </a:solidFill>
                <a:latin typeface="Times New Roman" panose="02020603050405020304" pitchFamily="18" charset="0"/>
                <a:cs typeface="Times New Roman" panose="02020603050405020304" pitchFamily="18" charset="0"/>
              </a:rPr>
              <a:t>这种截取可以形象地想象为</a:t>
            </a:r>
            <a:r>
              <a:rPr lang="en-US" altLang="zh-CN" sz="2800" b="1" i="1" dirty="0">
                <a:solidFill>
                  <a:srgbClr val="000000"/>
                </a:solidFill>
                <a:latin typeface="Times New Roman" panose="02020603050405020304" pitchFamily="18" charset="0"/>
                <a:cs typeface="Times New Roman" panose="02020603050405020304" pitchFamily="18" charset="0"/>
              </a:rPr>
              <a:t>h</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是通过一个“窗”所看到的一段</a:t>
            </a:r>
            <a:r>
              <a:rPr lang="en-US" altLang="zh-CN" sz="2800" b="1" i="1" dirty="0" err="1">
                <a:solidFill>
                  <a:srgbClr val="000000"/>
                </a:solidFill>
                <a:latin typeface="Times New Roman" panose="02020603050405020304" pitchFamily="18" charset="0"/>
                <a:cs typeface="Times New Roman" panose="02020603050405020304" pitchFamily="18" charset="0"/>
              </a:rPr>
              <a:t>h</a:t>
            </a:r>
            <a:r>
              <a:rPr lang="en-US" altLang="zh-CN" sz="2800" b="1" i="1" baseline="-30000" dirty="0" err="1">
                <a:solidFill>
                  <a:srgbClr val="000000"/>
                </a:solidFill>
                <a:latin typeface="Times New Roman" panose="02020603050405020304" pitchFamily="18" charset="0"/>
                <a:cs typeface="Times New Roman" panose="02020603050405020304" pitchFamily="18" charset="0"/>
              </a:rPr>
              <a:t>d</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，因此 ，</a:t>
            </a:r>
            <a:r>
              <a:rPr lang="en-US" altLang="zh-CN" sz="2800" b="1" i="1" dirty="0">
                <a:solidFill>
                  <a:srgbClr val="000000"/>
                </a:solidFill>
                <a:latin typeface="Times New Roman" panose="02020603050405020304" pitchFamily="18" charset="0"/>
                <a:cs typeface="Times New Roman" panose="02020603050405020304" pitchFamily="18" charset="0"/>
              </a:rPr>
              <a:t>h</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可表达为</a:t>
            </a:r>
            <a:r>
              <a:rPr lang="en-US" altLang="zh-CN" sz="2800" b="1" i="1" dirty="0" err="1">
                <a:solidFill>
                  <a:srgbClr val="000000"/>
                </a:solidFill>
                <a:latin typeface="Times New Roman" panose="02020603050405020304" pitchFamily="18" charset="0"/>
                <a:cs typeface="Times New Roman" panose="02020603050405020304" pitchFamily="18" charset="0"/>
              </a:rPr>
              <a:t>h</a:t>
            </a:r>
            <a:r>
              <a:rPr lang="en-US" altLang="zh-CN" sz="2800" b="1" i="1" baseline="-25000" dirty="0" err="1">
                <a:solidFill>
                  <a:srgbClr val="000000"/>
                </a:solidFill>
                <a:latin typeface="Times New Roman" panose="02020603050405020304" pitchFamily="18" charset="0"/>
                <a:cs typeface="Times New Roman" panose="02020603050405020304" pitchFamily="18" charset="0"/>
              </a:rPr>
              <a:t>d</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和</a:t>
            </a:r>
            <a:endParaRPr lang="en-US" altLang="zh-CN" sz="2800" b="1" dirty="0">
              <a:solidFill>
                <a:srgbClr val="000000"/>
              </a:solidFill>
              <a:latin typeface="Times New Roman" panose="02020603050405020304" pitchFamily="18" charset="0"/>
              <a:cs typeface="Times New Roman" panose="02020603050405020304" pitchFamily="18" charset="0"/>
            </a:endParaRPr>
          </a:p>
          <a:p>
            <a:pPr>
              <a:lnSpc>
                <a:spcPct val="125000"/>
              </a:lnSpc>
            </a:pPr>
            <a:r>
              <a:rPr lang="zh-CN" altLang="en-US" sz="2800" b="1" dirty="0">
                <a:solidFill>
                  <a:srgbClr val="000000"/>
                </a:solidFill>
                <a:latin typeface="Times New Roman" panose="02020603050405020304" pitchFamily="18" charset="0"/>
                <a:cs typeface="Times New Roman" panose="02020603050405020304" pitchFamily="18" charset="0"/>
              </a:rPr>
              <a:t>一个“窗函数”</a:t>
            </a:r>
            <a:r>
              <a:rPr lang="en-US" altLang="zh-CN" sz="2800" b="1" i="1" dirty="0">
                <a:solidFill>
                  <a:srgbClr val="000000"/>
                </a:solidFill>
                <a:latin typeface="Times New Roman" panose="02020603050405020304" pitchFamily="18" charset="0"/>
                <a:cs typeface="Times New Roman" panose="02020603050405020304" pitchFamily="18" charset="0"/>
              </a:rPr>
              <a:t>w</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的乘积。</a:t>
            </a:r>
            <a:endParaRPr lang="zh-CN" altLang="en-US" sz="2800" b="1" dirty="0">
              <a:latin typeface="Times New Roman" panose="02020603050405020304" pitchFamily="18" charset="0"/>
              <a:cs typeface="Times New Roman" panose="02020603050405020304" pitchFamily="18" charset="0"/>
            </a:endParaRPr>
          </a:p>
        </p:txBody>
      </p:sp>
      <p:sp>
        <p:nvSpPr>
          <p:cNvPr id="14"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3746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  </a:t>
            </a:r>
            <a:r>
              <a:rPr lang="zh-CN" altLang="en-US" b="1" dirty="0">
                <a:solidFill>
                  <a:srgbClr val="993300"/>
                </a:solidFill>
                <a:latin typeface="+mj-lt"/>
                <a:ea typeface="楷体_GB2312" pitchFamily="49" charset="-122"/>
              </a:rPr>
              <a:t>窗函数设计法</a:t>
            </a:r>
          </a:p>
        </p:txBody>
      </p:sp>
    </p:spTree>
    <p:extLst>
      <p:ext uri="{BB962C8B-B14F-4D97-AF65-F5344CB8AC3E}">
        <p14:creationId xmlns:p14="http://schemas.microsoft.com/office/powerpoint/2010/main" val="295555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
        <p:nvSpPr>
          <p:cNvPr id="3" name="矩形 2"/>
          <p:cNvSpPr/>
          <p:nvPr/>
        </p:nvSpPr>
        <p:spPr>
          <a:xfrm>
            <a:off x="914400" y="838200"/>
            <a:ext cx="7848600" cy="1169551"/>
          </a:xfrm>
          <a:prstGeom prst="rect">
            <a:avLst/>
          </a:prstGeom>
        </p:spPr>
        <p:txBody>
          <a:bodyPr wrap="square">
            <a:spAutoFit/>
          </a:bodyPr>
          <a:lstStyle/>
          <a:p>
            <a:pPr>
              <a:lnSpc>
                <a:spcPct val="125000"/>
              </a:lnSpc>
              <a:spcBef>
                <a:spcPts val="0"/>
              </a:spcBef>
            </a:pPr>
            <a:r>
              <a:rPr lang="zh-CN" altLang="en-US" sz="2800" b="1" dirty="0">
                <a:solidFill>
                  <a:srgbClr val="000000"/>
                </a:solidFill>
                <a:latin typeface="Times New Roman" panose="02020603050405020304" pitchFamily="18" charset="0"/>
                <a:cs typeface="Times New Roman" panose="02020603050405020304" pitchFamily="18" charset="0"/>
              </a:rPr>
              <a:t>以一个截止频率为 </a:t>
            </a:r>
            <a:r>
              <a:rPr lang="en-US" altLang="zh-CN" sz="2800" b="1" i="1" dirty="0" err="1">
                <a:solidFill>
                  <a:srgbClr val="000000"/>
                </a:solidFill>
                <a:latin typeface="Times New Roman" panose="02020603050405020304" pitchFamily="18" charset="0"/>
                <a:cs typeface="Times New Roman" panose="02020603050405020304" pitchFamily="18" charset="0"/>
              </a:rPr>
              <a:t>ω</a:t>
            </a:r>
            <a:r>
              <a:rPr lang="en-US" altLang="zh-CN" sz="2800" b="1" i="1" baseline="-30000" dirty="0" err="1">
                <a:solidFill>
                  <a:srgbClr val="000000"/>
                </a:solidFill>
                <a:latin typeface="Times New Roman" panose="02020603050405020304" pitchFamily="18" charset="0"/>
                <a:cs typeface="Times New Roman" panose="02020603050405020304" pitchFamily="18" charset="0"/>
              </a:rPr>
              <a:t>c</a:t>
            </a:r>
            <a:r>
              <a:rPr lang="zh-CN" altLang="en-US" sz="2800" b="1" dirty="0">
                <a:solidFill>
                  <a:srgbClr val="000000"/>
                </a:solidFill>
                <a:latin typeface="Times New Roman" panose="02020603050405020304" pitchFamily="18" charset="0"/>
                <a:cs typeface="Times New Roman" panose="02020603050405020304" pitchFamily="18" charset="0"/>
              </a:rPr>
              <a:t>的线性相位理想低通滤波器为例</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讨论</a:t>
            </a:r>
            <a:r>
              <a:rPr lang="en-US" altLang="zh-CN" sz="2800" b="1" dirty="0">
                <a:solidFill>
                  <a:srgbClr val="000000"/>
                </a:solidFill>
                <a:latin typeface="Times New Roman" panose="02020603050405020304" pitchFamily="18" charset="0"/>
                <a:cs typeface="Times New Roman" panose="02020603050405020304" pitchFamily="18" charset="0"/>
              </a:rPr>
              <a:t>FIR</a:t>
            </a:r>
            <a:r>
              <a:rPr lang="zh-CN" altLang="en-US" sz="2800" b="1" dirty="0">
                <a:solidFill>
                  <a:srgbClr val="000000"/>
                </a:solidFill>
                <a:latin typeface="Times New Roman" panose="02020603050405020304" pitchFamily="18" charset="0"/>
                <a:cs typeface="Times New Roman" panose="02020603050405020304" pitchFamily="18" charset="0"/>
              </a:rPr>
              <a:t>的设计问题。</a:t>
            </a:r>
          </a:p>
        </p:txBody>
      </p:sp>
      <p:sp>
        <p:nvSpPr>
          <p:cNvPr id="4" name="Rectangle 9"/>
          <p:cNvSpPr>
            <a:spLocks noChangeArrowheads="1"/>
          </p:cNvSpPr>
          <p:nvPr/>
        </p:nvSpPr>
        <p:spPr bwMode="auto">
          <a:xfrm>
            <a:off x="6698755" y="2115060"/>
            <a:ext cx="198804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低通滤波器</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eaLnBrk="1" hangingPunct="1">
              <a:spcBef>
                <a:spcPct val="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的延时</a:t>
            </a:r>
          </a:p>
        </p:txBody>
      </p:sp>
      <p:graphicFrame>
        <p:nvGraphicFramePr>
          <p:cNvPr id="5" name="Object 12"/>
          <p:cNvGraphicFramePr>
            <a:graphicFrameLocks noChangeAspect="1"/>
          </p:cNvGraphicFramePr>
          <p:nvPr>
            <p:extLst>
              <p:ext uri="{D42A27DB-BD31-4B8C-83A1-F6EECF244321}">
                <p14:modId xmlns:p14="http://schemas.microsoft.com/office/powerpoint/2010/main" val="2792202002"/>
              </p:ext>
            </p:extLst>
          </p:nvPr>
        </p:nvGraphicFramePr>
        <p:xfrm>
          <a:off x="896928" y="1981200"/>
          <a:ext cx="4665672" cy="1172952"/>
        </p:xfrm>
        <a:graphic>
          <a:graphicData uri="http://schemas.openxmlformats.org/presentationml/2006/ole">
            <mc:AlternateContent xmlns:mc="http://schemas.openxmlformats.org/markup-compatibility/2006">
              <mc:Choice xmlns:v="urn:schemas-microsoft-com:vml" Requires="v">
                <p:oleObj name="Equation" r:id="rId4" imgW="2120760" imgH="533160" progId="Equation.DSMT4">
                  <p:embed/>
                </p:oleObj>
              </mc:Choice>
              <mc:Fallback>
                <p:oleObj name="Equation" r:id="rId4" imgW="2120760" imgH="533160" progId="Equation.DSMT4">
                  <p:embed/>
                  <p:pic>
                    <p:nvPicPr>
                      <p:cNvPr id="5" name="Object 12"/>
                      <p:cNvPicPr>
                        <a:picLocks noChangeAspect="1" noChangeArrowheads="1"/>
                      </p:cNvPicPr>
                      <p:nvPr/>
                    </p:nvPicPr>
                    <p:blipFill>
                      <a:blip r:embed="rId5"/>
                      <a:srcRect/>
                      <a:stretch>
                        <a:fillRect/>
                      </a:stretch>
                    </p:blipFill>
                    <p:spPr bwMode="auto">
                      <a:xfrm>
                        <a:off x="896928" y="1981200"/>
                        <a:ext cx="4665672" cy="1172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3"/>
          <p:cNvGraphicFramePr>
            <a:graphicFrameLocks noChangeAspect="1"/>
          </p:cNvGraphicFramePr>
          <p:nvPr>
            <p:extLst>
              <p:ext uri="{D42A27DB-BD31-4B8C-83A1-F6EECF244321}">
                <p14:modId xmlns:p14="http://schemas.microsoft.com/office/powerpoint/2010/main" val="965914296"/>
              </p:ext>
            </p:extLst>
          </p:nvPr>
        </p:nvGraphicFramePr>
        <p:xfrm>
          <a:off x="6328999" y="2286689"/>
          <a:ext cx="433387" cy="280987"/>
        </p:xfrm>
        <a:graphic>
          <a:graphicData uri="http://schemas.openxmlformats.org/presentationml/2006/ole">
            <mc:AlternateContent xmlns:mc="http://schemas.openxmlformats.org/markup-compatibility/2006">
              <mc:Choice xmlns:v="urn:schemas-microsoft-com:vml" Requires="v">
                <p:oleObj name="Equation" r:id="rId6" imgW="215640" imgH="139680" progId="Equation.DSMT4">
                  <p:embed/>
                </p:oleObj>
              </mc:Choice>
              <mc:Fallback>
                <p:oleObj name="Equation" r:id="rId6" imgW="215640" imgH="139680" progId="Equation.DSMT4">
                  <p:embed/>
                  <p:pic>
                    <p:nvPicPr>
                      <p:cNvPr id="6" name="Object 13"/>
                      <p:cNvPicPr>
                        <a:picLocks noChangeAspect="1" noChangeArrowheads="1"/>
                      </p:cNvPicPr>
                      <p:nvPr/>
                    </p:nvPicPr>
                    <p:blipFill>
                      <a:blip r:embed="rId7"/>
                      <a:srcRect/>
                      <a:stretch>
                        <a:fillRect/>
                      </a:stretch>
                    </p:blipFill>
                    <p:spPr bwMode="auto">
                      <a:xfrm>
                        <a:off x="6328999" y="2286689"/>
                        <a:ext cx="433387"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2953925878"/>
              </p:ext>
            </p:extLst>
          </p:nvPr>
        </p:nvGraphicFramePr>
        <p:xfrm>
          <a:off x="937560" y="3581400"/>
          <a:ext cx="1285056" cy="554760"/>
        </p:xfrm>
        <a:graphic>
          <a:graphicData uri="http://schemas.openxmlformats.org/presentationml/2006/ole">
            <mc:AlternateContent xmlns:mc="http://schemas.openxmlformats.org/markup-compatibility/2006">
              <mc:Choice xmlns:v="urn:schemas-microsoft-com:vml" Requires="v">
                <p:oleObj name="Equation" r:id="rId8" imgW="558720" imgH="241200" progId="Equation.DSMT4">
                  <p:embed/>
                </p:oleObj>
              </mc:Choice>
              <mc:Fallback>
                <p:oleObj name="Equation" r:id="rId8" imgW="558720" imgH="241200" progId="Equation.DSMT4">
                  <p:embed/>
                  <p:pic>
                    <p:nvPicPr>
                      <p:cNvPr id="7" name="Object 4"/>
                      <p:cNvPicPr>
                        <a:picLocks noChangeAspect="1" noChangeArrowheads="1"/>
                      </p:cNvPicPr>
                      <p:nvPr/>
                    </p:nvPicPr>
                    <p:blipFill>
                      <a:blip r:embed="rId9"/>
                      <a:srcRect/>
                      <a:stretch>
                        <a:fillRect/>
                      </a:stretch>
                    </p:blipFill>
                    <p:spPr bwMode="auto">
                      <a:xfrm>
                        <a:off x="937560" y="3581400"/>
                        <a:ext cx="1285056" cy="554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3052376494"/>
              </p:ext>
            </p:extLst>
          </p:nvPr>
        </p:nvGraphicFramePr>
        <p:xfrm>
          <a:off x="3657776" y="3610697"/>
          <a:ext cx="935037" cy="525463"/>
        </p:xfrm>
        <a:graphic>
          <a:graphicData uri="http://schemas.openxmlformats.org/presentationml/2006/ole">
            <mc:AlternateContent xmlns:mc="http://schemas.openxmlformats.org/markup-compatibility/2006">
              <mc:Choice xmlns:v="urn:schemas-microsoft-com:vml" Requires="v">
                <p:oleObj name="Equation" r:id="rId10" imgW="406080" imgH="228600" progId="Equation.DSMT4">
                  <p:embed/>
                </p:oleObj>
              </mc:Choice>
              <mc:Fallback>
                <p:oleObj name="Equation" r:id="rId10" imgW="406080" imgH="228600" progId="Equation.DSMT4">
                  <p:embed/>
                  <p:pic>
                    <p:nvPicPr>
                      <p:cNvPr id="8" name="Object 3"/>
                      <p:cNvPicPr>
                        <a:picLocks noChangeAspect="1" noChangeArrowheads="1"/>
                      </p:cNvPicPr>
                      <p:nvPr/>
                    </p:nvPicPr>
                    <p:blipFill>
                      <a:blip r:embed="rId11"/>
                      <a:srcRect/>
                      <a:stretch>
                        <a:fillRect/>
                      </a:stretch>
                    </p:blipFill>
                    <p:spPr bwMode="auto">
                      <a:xfrm>
                        <a:off x="3657776" y="3610697"/>
                        <a:ext cx="935037"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762827026"/>
              </p:ext>
            </p:extLst>
          </p:nvPr>
        </p:nvGraphicFramePr>
        <p:xfrm>
          <a:off x="2312004" y="3606338"/>
          <a:ext cx="1244600" cy="406400"/>
        </p:xfrm>
        <a:graphic>
          <a:graphicData uri="http://schemas.openxmlformats.org/presentationml/2006/ole">
            <mc:AlternateContent xmlns:mc="http://schemas.openxmlformats.org/markup-compatibility/2006">
              <mc:Choice xmlns:v="urn:schemas-microsoft-com:vml" Requires="v">
                <p:oleObj name="Equation" r:id="rId12" imgW="622080" imgH="203040" progId="Equation.DSMT4">
                  <p:embed/>
                </p:oleObj>
              </mc:Choice>
              <mc:Fallback>
                <p:oleObj name="Equation" r:id="rId12" imgW="622080" imgH="203040" progId="Equation.DSMT4">
                  <p:embed/>
                  <p:pic>
                    <p:nvPicPr>
                      <p:cNvPr id="9"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12004" y="3606338"/>
                        <a:ext cx="1244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6"/>
          <p:cNvGraphicFramePr>
            <a:graphicFrameLocks noChangeAspect="1"/>
          </p:cNvGraphicFramePr>
          <p:nvPr>
            <p:extLst>
              <p:ext uri="{D42A27DB-BD31-4B8C-83A1-F6EECF244321}">
                <p14:modId xmlns:p14="http://schemas.microsoft.com/office/powerpoint/2010/main" val="568860152"/>
              </p:ext>
            </p:extLst>
          </p:nvPr>
        </p:nvGraphicFramePr>
        <p:xfrm>
          <a:off x="914400" y="4191000"/>
          <a:ext cx="7475538" cy="906462"/>
        </p:xfrm>
        <a:graphic>
          <a:graphicData uri="http://schemas.openxmlformats.org/presentationml/2006/ole">
            <mc:AlternateContent xmlns:mc="http://schemas.openxmlformats.org/markup-compatibility/2006">
              <mc:Choice xmlns:v="urn:schemas-microsoft-com:vml" Requires="v">
                <p:oleObj name="Equation" r:id="rId14" imgW="3251160" imgH="393480" progId="Equation.DSMT4">
                  <p:embed/>
                </p:oleObj>
              </mc:Choice>
              <mc:Fallback>
                <p:oleObj name="Equation" r:id="rId14" imgW="3251160" imgH="393480" progId="Equation.DSMT4">
                  <p:embed/>
                  <p:pic>
                    <p:nvPicPr>
                      <p:cNvPr id="10" name="Object 6"/>
                      <p:cNvPicPr>
                        <a:picLocks noChangeAspect="1" noChangeArrowheads="1"/>
                      </p:cNvPicPr>
                      <p:nvPr/>
                    </p:nvPicPr>
                    <p:blipFill>
                      <a:blip r:embed="rId15"/>
                      <a:srcRect/>
                      <a:stretch>
                        <a:fillRect/>
                      </a:stretch>
                    </p:blipFill>
                    <p:spPr bwMode="auto">
                      <a:xfrm>
                        <a:off x="914400" y="4191000"/>
                        <a:ext cx="7475538"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2446226924"/>
              </p:ext>
            </p:extLst>
          </p:nvPr>
        </p:nvGraphicFramePr>
        <p:xfrm>
          <a:off x="5410200" y="5208588"/>
          <a:ext cx="2511425" cy="963612"/>
        </p:xfrm>
        <a:graphic>
          <a:graphicData uri="http://schemas.openxmlformats.org/presentationml/2006/ole">
            <mc:AlternateContent xmlns:mc="http://schemas.openxmlformats.org/markup-compatibility/2006">
              <mc:Choice xmlns:v="urn:schemas-microsoft-com:vml" Requires="v">
                <p:oleObj name="Equation" r:id="rId16" imgW="1091880" imgH="419040" progId="Equation.DSMT4">
                  <p:embed/>
                </p:oleObj>
              </mc:Choice>
              <mc:Fallback>
                <p:oleObj name="Equation" r:id="rId16" imgW="1091880" imgH="419040" progId="Equation.DSMT4">
                  <p:embed/>
                  <p:pic>
                    <p:nvPicPr>
                      <p:cNvPr id="11" name="Object 6"/>
                      <p:cNvPicPr>
                        <a:picLocks noChangeAspect="1" noChangeArrowheads="1"/>
                      </p:cNvPicPr>
                      <p:nvPr/>
                    </p:nvPicPr>
                    <p:blipFill>
                      <a:blip r:embed="rId17"/>
                      <a:srcRect/>
                      <a:stretch>
                        <a:fillRect/>
                      </a:stretch>
                    </p:blipFill>
                    <p:spPr bwMode="auto">
                      <a:xfrm>
                        <a:off x="5410200" y="5208588"/>
                        <a:ext cx="2511425"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3"/>
          <p:cNvGraphicFramePr>
            <a:graphicFrameLocks noChangeAspect="1"/>
          </p:cNvGraphicFramePr>
          <p:nvPr>
            <p:extLst>
              <p:ext uri="{D42A27DB-BD31-4B8C-83A1-F6EECF244321}">
                <p14:modId xmlns:p14="http://schemas.microsoft.com/office/powerpoint/2010/main" val="1370444992"/>
              </p:ext>
            </p:extLst>
          </p:nvPr>
        </p:nvGraphicFramePr>
        <p:xfrm>
          <a:off x="1752600" y="5149850"/>
          <a:ext cx="3622675" cy="1022350"/>
        </p:xfrm>
        <a:graphic>
          <a:graphicData uri="http://schemas.openxmlformats.org/presentationml/2006/ole">
            <mc:AlternateContent xmlns:mc="http://schemas.openxmlformats.org/markup-compatibility/2006">
              <mc:Choice xmlns:v="urn:schemas-microsoft-com:vml" Requires="v">
                <p:oleObj name="Equation" r:id="rId18" imgW="1574640" imgH="444240" progId="Equation.DSMT4">
                  <p:embed/>
                </p:oleObj>
              </mc:Choice>
              <mc:Fallback>
                <p:oleObj name="Equation" r:id="rId18" imgW="1574640" imgH="444240" progId="Equation.DSMT4">
                  <p:embed/>
                  <p:pic>
                    <p:nvPicPr>
                      <p:cNvPr id="12" name="对象 3"/>
                      <p:cNvPicPr>
                        <a:picLocks noChangeAspect="1" noChangeArrowheads="1"/>
                      </p:cNvPicPr>
                      <p:nvPr/>
                    </p:nvPicPr>
                    <p:blipFill>
                      <a:blip r:embed="rId19"/>
                      <a:srcRect/>
                      <a:stretch>
                        <a:fillRect/>
                      </a:stretch>
                    </p:blipFill>
                    <p:spPr bwMode="auto">
                      <a:xfrm>
                        <a:off x="1752600" y="5149850"/>
                        <a:ext cx="36226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381000" y="3591883"/>
            <a:ext cx="54373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kumimoji="0" lang="zh-CN" altLang="en-US" sz="20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67752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7000" y="1549400"/>
            <a:ext cx="5588000" cy="1943100"/>
          </a:xfrm>
          <a:prstGeom prst="rect">
            <a:avLst/>
          </a:prstGeom>
        </p:spPr>
      </p:pic>
      <p:sp>
        <p:nvSpPr>
          <p:cNvPr id="6" name="Rectangle 4"/>
          <p:cNvSpPr>
            <a:spLocks noChangeArrowheads="1"/>
          </p:cNvSpPr>
          <p:nvPr/>
        </p:nvSpPr>
        <p:spPr bwMode="auto">
          <a:xfrm>
            <a:off x="4953000" y="838200"/>
            <a:ext cx="3793026" cy="987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kumimoji="1" lang="zh-CN" altLang="en-US" sz="2800" b="1" dirty="0">
                <a:solidFill>
                  <a:srgbClr val="000000"/>
                </a:solidFill>
                <a:latin typeface="宋体" panose="02010600030101010101" pitchFamily="2" charset="-122"/>
                <a:ea typeface="宋体" panose="02010600030101010101" pitchFamily="2" charset="-122"/>
              </a:rPr>
              <a:t>以  为中心的偶对称的</a:t>
            </a:r>
            <a:endParaRPr kumimoji="1" lang="en-US" altLang="zh-CN" sz="2800" b="1" dirty="0">
              <a:solidFill>
                <a:srgbClr val="000000"/>
              </a:solidFill>
              <a:latin typeface="宋体" panose="02010600030101010101" pitchFamily="2" charset="-122"/>
              <a:ea typeface="宋体" panose="02010600030101010101" pitchFamily="2" charset="-122"/>
            </a:endParaRPr>
          </a:p>
          <a:p>
            <a:pPr eaLnBrk="1" hangingPunct="1">
              <a:lnSpc>
                <a:spcPct val="125000"/>
              </a:lnSpc>
              <a:spcBef>
                <a:spcPts val="0"/>
              </a:spcBef>
              <a:buFontTx/>
              <a:buNone/>
            </a:pPr>
            <a:r>
              <a:rPr kumimoji="1" lang="zh-CN" altLang="en-US" sz="2800" b="1" dirty="0">
                <a:solidFill>
                  <a:srgbClr val="000000"/>
                </a:solidFill>
                <a:latin typeface="宋体" panose="02010600030101010101" pitchFamily="2" charset="-122"/>
                <a:ea typeface="宋体" panose="02010600030101010101" pitchFamily="2" charset="-122"/>
              </a:rPr>
              <a:t>无限长非因果序列</a:t>
            </a:r>
          </a:p>
        </p:txBody>
      </p:sp>
      <p:graphicFrame>
        <p:nvGraphicFramePr>
          <p:cNvPr id="8" name="Object 13"/>
          <p:cNvGraphicFramePr>
            <a:graphicFrameLocks noChangeAspect="1"/>
          </p:cNvGraphicFramePr>
          <p:nvPr>
            <p:extLst>
              <p:ext uri="{D42A27DB-BD31-4B8C-83A1-F6EECF244321}">
                <p14:modId xmlns:p14="http://schemas.microsoft.com/office/powerpoint/2010/main" val="3128639178"/>
              </p:ext>
            </p:extLst>
          </p:nvPr>
        </p:nvGraphicFramePr>
        <p:xfrm>
          <a:off x="5437134" y="974808"/>
          <a:ext cx="335016" cy="307296"/>
        </p:xfrm>
        <a:graphic>
          <a:graphicData uri="http://schemas.openxmlformats.org/presentationml/2006/ole">
            <mc:AlternateContent xmlns:mc="http://schemas.openxmlformats.org/markup-compatibility/2006">
              <mc:Choice xmlns:v="urn:schemas-microsoft-com:vml" Requires="v">
                <p:oleObj name="Equation" r:id="rId3" imgW="152280" imgH="139680" progId="Equation.DSMT4">
                  <p:embed/>
                </p:oleObj>
              </mc:Choice>
              <mc:Fallback>
                <p:oleObj name="Equation" r:id="rId3" imgW="152280" imgH="139680" progId="Equation.DSMT4">
                  <p:embed/>
                  <p:pic>
                    <p:nvPicPr>
                      <p:cNvPr id="8" name="Object 13"/>
                      <p:cNvPicPr>
                        <a:picLocks noChangeAspect="1" noChangeArrowheads="1"/>
                      </p:cNvPicPr>
                      <p:nvPr/>
                    </p:nvPicPr>
                    <p:blipFill>
                      <a:blip r:embed="rId4"/>
                      <a:srcRect/>
                      <a:stretch>
                        <a:fillRect/>
                      </a:stretch>
                    </p:blipFill>
                    <p:spPr bwMode="auto">
                      <a:xfrm>
                        <a:off x="5437134" y="974808"/>
                        <a:ext cx="335016" cy="307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2470176409"/>
              </p:ext>
            </p:extLst>
          </p:nvPr>
        </p:nvGraphicFramePr>
        <p:xfrm>
          <a:off x="1205706" y="838200"/>
          <a:ext cx="3357563" cy="963612"/>
        </p:xfrm>
        <a:graphic>
          <a:graphicData uri="http://schemas.openxmlformats.org/presentationml/2006/ole">
            <mc:AlternateContent xmlns:mc="http://schemas.openxmlformats.org/markup-compatibility/2006">
              <mc:Choice xmlns:v="urn:schemas-microsoft-com:vml" Requires="v">
                <p:oleObj name="Equation" r:id="rId5" imgW="1460160" imgH="419040" progId="Equation.DSMT4">
                  <p:embed/>
                </p:oleObj>
              </mc:Choice>
              <mc:Fallback>
                <p:oleObj name="Equation" r:id="rId5" imgW="1460160" imgH="419040" progId="Equation.DSMT4">
                  <p:embed/>
                  <p:pic>
                    <p:nvPicPr>
                      <p:cNvPr id="9" name="Object 6"/>
                      <p:cNvPicPr>
                        <a:picLocks noChangeAspect="1" noChangeArrowheads="1"/>
                      </p:cNvPicPr>
                      <p:nvPr/>
                    </p:nvPicPr>
                    <p:blipFill>
                      <a:blip r:embed="rId6"/>
                      <a:srcRect/>
                      <a:stretch>
                        <a:fillRect/>
                      </a:stretch>
                    </p:blipFill>
                    <p:spPr bwMode="auto">
                      <a:xfrm>
                        <a:off x="1205706" y="838200"/>
                        <a:ext cx="3357563"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9"/>
          <p:cNvGraphicFramePr>
            <a:graphicFrameLocks noChangeAspect="1"/>
          </p:cNvGraphicFramePr>
          <p:nvPr>
            <p:extLst>
              <p:ext uri="{D42A27DB-BD31-4B8C-83A1-F6EECF244321}">
                <p14:modId xmlns:p14="http://schemas.microsoft.com/office/powerpoint/2010/main" val="1259991601"/>
              </p:ext>
            </p:extLst>
          </p:nvPr>
        </p:nvGraphicFramePr>
        <p:xfrm>
          <a:off x="5852230" y="1972017"/>
          <a:ext cx="1614816" cy="944352"/>
        </p:xfrm>
        <a:graphic>
          <a:graphicData uri="http://schemas.openxmlformats.org/presentationml/2006/ole">
            <mc:AlternateContent xmlns:mc="http://schemas.openxmlformats.org/markup-compatibility/2006">
              <mc:Choice xmlns:v="urn:schemas-microsoft-com:vml" Requires="v">
                <p:oleObj name="Equation" r:id="rId7" imgW="672840" imgH="393480" progId="Equation.DSMT4">
                  <p:embed/>
                </p:oleObj>
              </mc:Choice>
              <mc:Fallback>
                <p:oleObj name="Equation" r:id="rId7" imgW="672840" imgH="393480" progId="Equation.DSMT4">
                  <p:embed/>
                  <p:pic>
                    <p:nvPicPr>
                      <p:cNvPr id="11" name="Object 9"/>
                      <p:cNvPicPr>
                        <a:picLocks noChangeAspect="1" noChangeArrowheads="1"/>
                      </p:cNvPicPr>
                      <p:nvPr/>
                    </p:nvPicPr>
                    <p:blipFill>
                      <a:blip r:embed="rId8"/>
                      <a:srcRect/>
                      <a:stretch>
                        <a:fillRect/>
                      </a:stretch>
                    </p:blipFill>
                    <p:spPr bwMode="auto">
                      <a:xfrm>
                        <a:off x="5852230" y="1972017"/>
                        <a:ext cx="1614816" cy="94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7"/>
          <p:cNvGraphicFramePr>
            <a:graphicFrameLocks noChangeAspect="1"/>
          </p:cNvGraphicFramePr>
          <p:nvPr>
            <p:extLst>
              <p:ext uri="{D42A27DB-BD31-4B8C-83A1-F6EECF244321}">
                <p14:modId xmlns:p14="http://schemas.microsoft.com/office/powerpoint/2010/main" val="3600057023"/>
              </p:ext>
            </p:extLst>
          </p:nvPr>
        </p:nvGraphicFramePr>
        <p:xfrm>
          <a:off x="1057277" y="5105400"/>
          <a:ext cx="7270750" cy="1246188"/>
        </p:xfrm>
        <a:graphic>
          <a:graphicData uri="http://schemas.openxmlformats.org/presentationml/2006/ole">
            <mc:AlternateContent xmlns:mc="http://schemas.openxmlformats.org/markup-compatibility/2006">
              <mc:Choice xmlns:v="urn:schemas-microsoft-com:vml" Requires="v">
                <p:oleObj name="Equation" r:id="rId9" imgW="2819160" imgH="482400" progId="Equation.DSMT4">
                  <p:embed/>
                </p:oleObj>
              </mc:Choice>
              <mc:Fallback>
                <p:oleObj name="Equation" r:id="rId9" imgW="2819160" imgH="482400" progId="Equation.DSMT4">
                  <p:embed/>
                  <p:pic>
                    <p:nvPicPr>
                      <p:cNvPr id="12" name="Object 7"/>
                      <p:cNvPicPr>
                        <a:picLocks noChangeAspect="1" noChangeArrowheads="1"/>
                      </p:cNvPicPr>
                      <p:nvPr/>
                    </p:nvPicPr>
                    <p:blipFill>
                      <a:blip r:embed="rId10"/>
                      <a:srcRect/>
                      <a:stretch>
                        <a:fillRect/>
                      </a:stretch>
                    </p:blipFill>
                    <p:spPr bwMode="auto">
                      <a:xfrm>
                        <a:off x="1057277" y="5105400"/>
                        <a:ext cx="7270750"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513538" y="5466884"/>
            <a:ext cx="54373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2.</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kumimoji="0" lang="zh-CN" altLang="en-US" sz="2000" b="0" i="0" u="none" strike="noStrike" kern="0" cap="none" spc="0" normalizeH="0" baseline="0" noProof="0" dirty="0">
              <a:ln>
                <a:noFill/>
              </a:ln>
              <a:solidFill>
                <a:sysClr val="windowText" lastClr="000000"/>
              </a:solidFill>
              <a:effectLst/>
              <a:uLnTx/>
              <a:uFillTx/>
            </a:endParaRPr>
          </a:p>
        </p:txBody>
      </p:sp>
      <p:graphicFrame>
        <p:nvGraphicFramePr>
          <p:cNvPr id="14" name="Object 8"/>
          <p:cNvGraphicFramePr>
            <a:graphicFrameLocks noChangeAspect="1"/>
          </p:cNvGraphicFramePr>
          <p:nvPr>
            <p:extLst>
              <p:ext uri="{D42A27DB-BD31-4B8C-83A1-F6EECF244321}">
                <p14:modId xmlns:p14="http://schemas.microsoft.com/office/powerpoint/2010/main" val="85614635"/>
              </p:ext>
            </p:extLst>
          </p:nvPr>
        </p:nvGraphicFramePr>
        <p:xfrm>
          <a:off x="5924550" y="3889892"/>
          <a:ext cx="2281238" cy="533400"/>
        </p:xfrm>
        <a:graphic>
          <a:graphicData uri="http://schemas.openxmlformats.org/presentationml/2006/ole">
            <mc:AlternateContent xmlns:mc="http://schemas.openxmlformats.org/markup-compatibility/2006">
              <mc:Choice xmlns:v="urn:schemas-microsoft-com:vml" Requires="v">
                <p:oleObj name="Equation" r:id="rId11" imgW="977900" imgH="228600" progId="Equation.DSMT4">
                  <p:embed/>
                </p:oleObj>
              </mc:Choice>
              <mc:Fallback>
                <p:oleObj name="Equation" r:id="rId11" imgW="977900" imgH="228600" progId="Equation.DSMT4">
                  <p:embed/>
                  <p:pic>
                    <p:nvPicPr>
                      <p:cNvPr id="1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24550" y="3889892"/>
                        <a:ext cx="22812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Group 216"/>
          <p:cNvGrpSpPr>
            <a:grpSpLocks/>
          </p:cNvGrpSpPr>
          <p:nvPr/>
        </p:nvGrpSpPr>
        <p:grpSpPr bwMode="auto">
          <a:xfrm>
            <a:off x="304800" y="3352800"/>
            <a:ext cx="5132388" cy="1187450"/>
            <a:chOff x="192" y="1776"/>
            <a:chExt cx="3233" cy="748"/>
          </a:xfrm>
        </p:grpSpPr>
        <p:grpSp>
          <p:nvGrpSpPr>
            <p:cNvPr id="48" name="Group 184"/>
            <p:cNvGrpSpPr>
              <a:grpSpLocks/>
            </p:cNvGrpSpPr>
            <p:nvPr/>
          </p:nvGrpSpPr>
          <p:grpSpPr bwMode="auto">
            <a:xfrm>
              <a:off x="279" y="1776"/>
              <a:ext cx="2937" cy="748"/>
              <a:chOff x="279" y="1776"/>
              <a:chExt cx="2937" cy="748"/>
            </a:xfrm>
          </p:grpSpPr>
          <p:sp>
            <p:nvSpPr>
              <p:cNvPr id="49" name="Line 86"/>
              <p:cNvSpPr>
                <a:spLocks noChangeShapeType="1"/>
              </p:cNvSpPr>
              <p:nvPr/>
            </p:nvSpPr>
            <p:spPr bwMode="auto">
              <a:xfrm flipV="1">
                <a:off x="671" y="1908"/>
                <a:ext cx="0" cy="616"/>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50" name="Group 177"/>
              <p:cNvGrpSpPr>
                <a:grpSpLocks/>
              </p:cNvGrpSpPr>
              <p:nvPr/>
            </p:nvGrpSpPr>
            <p:grpSpPr bwMode="auto">
              <a:xfrm>
                <a:off x="279" y="1776"/>
                <a:ext cx="2937" cy="660"/>
                <a:chOff x="279" y="1776"/>
                <a:chExt cx="2937" cy="660"/>
              </a:xfrm>
            </p:grpSpPr>
            <p:sp>
              <p:nvSpPr>
                <p:cNvPr id="51" name="Line 88"/>
                <p:cNvSpPr>
                  <a:spLocks noChangeShapeType="1"/>
                </p:cNvSpPr>
                <p:nvPr/>
              </p:nvSpPr>
              <p:spPr bwMode="auto">
                <a:xfrm flipV="1">
                  <a:off x="80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89"/>
                <p:cNvSpPr>
                  <a:spLocks noChangeShapeType="1"/>
                </p:cNvSpPr>
                <p:nvPr/>
              </p:nvSpPr>
              <p:spPr bwMode="auto">
                <a:xfrm flipV="1">
                  <a:off x="932"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90"/>
                <p:cNvSpPr>
                  <a:spLocks noChangeShapeType="1"/>
                </p:cNvSpPr>
                <p:nvPr/>
              </p:nvSpPr>
              <p:spPr bwMode="auto">
                <a:xfrm flipV="1">
                  <a:off x="1062"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91"/>
                <p:cNvSpPr>
                  <a:spLocks noChangeShapeType="1"/>
                </p:cNvSpPr>
                <p:nvPr/>
              </p:nvSpPr>
              <p:spPr bwMode="auto">
                <a:xfrm flipV="1">
                  <a:off x="1193"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92"/>
                <p:cNvSpPr>
                  <a:spLocks noChangeShapeType="1"/>
                </p:cNvSpPr>
                <p:nvPr/>
              </p:nvSpPr>
              <p:spPr bwMode="auto">
                <a:xfrm flipV="1">
                  <a:off x="1323"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93"/>
                <p:cNvSpPr>
                  <a:spLocks noChangeShapeType="1"/>
                </p:cNvSpPr>
                <p:nvPr/>
              </p:nvSpPr>
              <p:spPr bwMode="auto">
                <a:xfrm flipV="1">
                  <a:off x="1455"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94"/>
                <p:cNvSpPr>
                  <a:spLocks noChangeShapeType="1"/>
                </p:cNvSpPr>
                <p:nvPr/>
              </p:nvSpPr>
              <p:spPr bwMode="auto">
                <a:xfrm flipV="1">
                  <a:off x="1585"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95"/>
                <p:cNvSpPr>
                  <a:spLocks noChangeShapeType="1"/>
                </p:cNvSpPr>
                <p:nvPr/>
              </p:nvSpPr>
              <p:spPr bwMode="auto">
                <a:xfrm flipV="1">
                  <a:off x="1716"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96"/>
                <p:cNvSpPr>
                  <a:spLocks noChangeShapeType="1"/>
                </p:cNvSpPr>
                <p:nvPr/>
              </p:nvSpPr>
              <p:spPr bwMode="auto">
                <a:xfrm flipV="1">
                  <a:off x="1846"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97"/>
                <p:cNvSpPr>
                  <a:spLocks noChangeShapeType="1"/>
                </p:cNvSpPr>
                <p:nvPr/>
              </p:nvSpPr>
              <p:spPr bwMode="auto">
                <a:xfrm flipV="1">
                  <a:off x="1977"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98"/>
                <p:cNvSpPr>
                  <a:spLocks noChangeShapeType="1"/>
                </p:cNvSpPr>
                <p:nvPr/>
              </p:nvSpPr>
              <p:spPr bwMode="auto">
                <a:xfrm flipV="1">
                  <a:off x="2107"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99"/>
                <p:cNvSpPr>
                  <a:spLocks noChangeShapeType="1"/>
                </p:cNvSpPr>
                <p:nvPr/>
              </p:nvSpPr>
              <p:spPr bwMode="auto">
                <a:xfrm flipV="1">
                  <a:off x="2238"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100"/>
                <p:cNvSpPr>
                  <a:spLocks noChangeShapeType="1"/>
                </p:cNvSpPr>
                <p:nvPr/>
              </p:nvSpPr>
              <p:spPr bwMode="auto">
                <a:xfrm flipV="1">
                  <a:off x="2368"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101"/>
                <p:cNvSpPr>
                  <a:spLocks noChangeShapeType="1"/>
                </p:cNvSpPr>
                <p:nvPr/>
              </p:nvSpPr>
              <p:spPr bwMode="auto">
                <a:xfrm flipV="1">
                  <a:off x="2499"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102"/>
                <p:cNvSpPr>
                  <a:spLocks noChangeShapeType="1"/>
                </p:cNvSpPr>
                <p:nvPr/>
              </p:nvSpPr>
              <p:spPr bwMode="auto">
                <a:xfrm flipV="1">
                  <a:off x="2630"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6" name="Line 103"/>
                <p:cNvSpPr>
                  <a:spLocks noChangeShapeType="1"/>
                </p:cNvSpPr>
                <p:nvPr/>
              </p:nvSpPr>
              <p:spPr bwMode="auto">
                <a:xfrm flipV="1">
                  <a:off x="276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104"/>
                <p:cNvSpPr>
                  <a:spLocks noChangeShapeType="1"/>
                </p:cNvSpPr>
                <p:nvPr/>
              </p:nvSpPr>
              <p:spPr bwMode="auto">
                <a:xfrm flipV="1">
                  <a:off x="289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106"/>
                <p:cNvSpPr>
                  <a:spLocks noChangeShapeType="1"/>
                </p:cNvSpPr>
                <p:nvPr/>
              </p:nvSpPr>
              <p:spPr bwMode="auto">
                <a:xfrm flipV="1">
                  <a:off x="67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71" name="AutoShape 108"/>
                <p:cNvSpPr>
                  <a:spLocks noChangeArrowheads="1"/>
                </p:cNvSpPr>
                <p:nvPr/>
              </p:nvSpPr>
              <p:spPr bwMode="auto">
                <a:xfrm>
                  <a:off x="540"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72" name="AutoShape 109"/>
                <p:cNvSpPr>
                  <a:spLocks noChangeArrowheads="1"/>
                </p:cNvSpPr>
                <p:nvPr/>
              </p:nvSpPr>
              <p:spPr bwMode="auto">
                <a:xfrm>
                  <a:off x="410"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73" name="AutoShape 110"/>
                <p:cNvSpPr>
                  <a:spLocks noChangeArrowheads="1"/>
                </p:cNvSpPr>
                <p:nvPr/>
              </p:nvSpPr>
              <p:spPr bwMode="auto">
                <a:xfrm>
                  <a:off x="279"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74" name="AutoShape 111"/>
                <p:cNvSpPr>
                  <a:spLocks noChangeArrowheads="1"/>
                </p:cNvSpPr>
                <p:nvPr/>
              </p:nvSpPr>
              <p:spPr bwMode="auto">
                <a:xfrm>
                  <a:off x="3173"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75" name="Object 113"/>
                <p:cNvGraphicFramePr>
                  <a:graphicFrameLocks noChangeAspect="1"/>
                </p:cNvGraphicFramePr>
                <p:nvPr/>
              </p:nvGraphicFramePr>
              <p:xfrm>
                <a:off x="714" y="1776"/>
                <a:ext cx="479" cy="262"/>
              </p:xfrm>
              <a:graphic>
                <a:graphicData uri="http://schemas.openxmlformats.org/presentationml/2006/ole">
                  <mc:AlternateContent xmlns:mc="http://schemas.openxmlformats.org/markup-compatibility/2006">
                    <mc:Choice xmlns:v="urn:schemas-microsoft-com:vml" Requires="v">
                      <p:oleObj name="公式" r:id="rId13" imgW="312407" imgH="122010" progId="Equation.3">
                        <p:embed/>
                      </p:oleObj>
                    </mc:Choice>
                    <mc:Fallback>
                      <p:oleObj name="公式" r:id="rId13" imgW="312407" imgH="122010" progId="Equation.3">
                        <p:embed/>
                        <p:pic>
                          <p:nvPicPr>
                            <p:cNvPr id="75" name="Object 1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 y="1776"/>
                              <a:ext cx="47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sp>
          <p:nvSpPr>
            <p:cNvPr id="18" name="Line 187"/>
            <p:cNvSpPr>
              <a:spLocks noChangeShapeType="1"/>
            </p:cNvSpPr>
            <p:nvPr/>
          </p:nvSpPr>
          <p:spPr bwMode="auto">
            <a:xfrm>
              <a:off x="192" y="2392"/>
              <a:ext cx="323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9" name="Group 188"/>
            <p:cNvGrpSpPr>
              <a:grpSpLocks/>
            </p:cNvGrpSpPr>
            <p:nvPr/>
          </p:nvGrpSpPr>
          <p:grpSpPr bwMode="auto">
            <a:xfrm>
              <a:off x="279" y="1776"/>
              <a:ext cx="2793" cy="748"/>
              <a:chOff x="279" y="1776"/>
              <a:chExt cx="2793" cy="748"/>
            </a:xfrm>
          </p:grpSpPr>
          <p:sp>
            <p:nvSpPr>
              <p:cNvPr id="20" name="Line 189"/>
              <p:cNvSpPr>
                <a:spLocks noChangeShapeType="1"/>
              </p:cNvSpPr>
              <p:nvPr/>
            </p:nvSpPr>
            <p:spPr bwMode="auto">
              <a:xfrm flipV="1">
                <a:off x="671" y="1908"/>
                <a:ext cx="0" cy="616"/>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21" name="Group 190"/>
              <p:cNvGrpSpPr>
                <a:grpSpLocks/>
              </p:cNvGrpSpPr>
              <p:nvPr/>
            </p:nvGrpSpPr>
            <p:grpSpPr bwMode="auto">
              <a:xfrm>
                <a:off x="279" y="1776"/>
                <a:ext cx="2793" cy="660"/>
                <a:chOff x="279" y="1776"/>
                <a:chExt cx="2793" cy="660"/>
              </a:xfrm>
            </p:grpSpPr>
            <p:sp>
              <p:nvSpPr>
                <p:cNvPr id="22" name="Line 191"/>
                <p:cNvSpPr>
                  <a:spLocks noChangeShapeType="1"/>
                </p:cNvSpPr>
                <p:nvPr/>
              </p:nvSpPr>
              <p:spPr bwMode="auto">
                <a:xfrm flipV="1">
                  <a:off x="80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92"/>
                <p:cNvSpPr>
                  <a:spLocks noChangeShapeType="1"/>
                </p:cNvSpPr>
                <p:nvPr/>
              </p:nvSpPr>
              <p:spPr bwMode="auto">
                <a:xfrm flipV="1">
                  <a:off x="932"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193"/>
                <p:cNvSpPr>
                  <a:spLocks noChangeShapeType="1"/>
                </p:cNvSpPr>
                <p:nvPr/>
              </p:nvSpPr>
              <p:spPr bwMode="auto">
                <a:xfrm flipV="1">
                  <a:off x="1062"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94"/>
                <p:cNvSpPr>
                  <a:spLocks noChangeShapeType="1"/>
                </p:cNvSpPr>
                <p:nvPr/>
              </p:nvSpPr>
              <p:spPr bwMode="auto">
                <a:xfrm flipV="1">
                  <a:off x="1193"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195"/>
                <p:cNvSpPr>
                  <a:spLocks noChangeShapeType="1"/>
                </p:cNvSpPr>
                <p:nvPr/>
              </p:nvSpPr>
              <p:spPr bwMode="auto">
                <a:xfrm flipV="1">
                  <a:off x="1323"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196"/>
                <p:cNvSpPr>
                  <a:spLocks noChangeShapeType="1"/>
                </p:cNvSpPr>
                <p:nvPr/>
              </p:nvSpPr>
              <p:spPr bwMode="auto">
                <a:xfrm flipV="1">
                  <a:off x="1455"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197"/>
                <p:cNvSpPr>
                  <a:spLocks noChangeShapeType="1"/>
                </p:cNvSpPr>
                <p:nvPr/>
              </p:nvSpPr>
              <p:spPr bwMode="auto">
                <a:xfrm flipV="1">
                  <a:off x="1585"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198"/>
                <p:cNvSpPr>
                  <a:spLocks noChangeShapeType="1"/>
                </p:cNvSpPr>
                <p:nvPr/>
              </p:nvSpPr>
              <p:spPr bwMode="auto">
                <a:xfrm flipV="1">
                  <a:off x="1716"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99"/>
                <p:cNvSpPr>
                  <a:spLocks noChangeShapeType="1"/>
                </p:cNvSpPr>
                <p:nvPr/>
              </p:nvSpPr>
              <p:spPr bwMode="auto">
                <a:xfrm flipV="1">
                  <a:off x="1846"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200"/>
                <p:cNvSpPr>
                  <a:spLocks noChangeShapeType="1"/>
                </p:cNvSpPr>
                <p:nvPr/>
              </p:nvSpPr>
              <p:spPr bwMode="auto">
                <a:xfrm flipV="1">
                  <a:off x="1977"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01"/>
                <p:cNvSpPr>
                  <a:spLocks noChangeShapeType="1"/>
                </p:cNvSpPr>
                <p:nvPr/>
              </p:nvSpPr>
              <p:spPr bwMode="auto">
                <a:xfrm flipV="1">
                  <a:off x="2107"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202"/>
                <p:cNvSpPr>
                  <a:spLocks noChangeShapeType="1"/>
                </p:cNvSpPr>
                <p:nvPr/>
              </p:nvSpPr>
              <p:spPr bwMode="auto">
                <a:xfrm flipV="1">
                  <a:off x="2238"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203"/>
                <p:cNvSpPr>
                  <a:spLocks noChangeShapeType="1"/>
                </p:cNvSpPr>
                <p:nvPr/>
              </p:nvSpPr>
              <p:spPr bwMode="auto">
                <a:xfrm flipV="1">
                  <a:off x="2368"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204"/>
                <p:cNvSpPr>
                  <a:spLocks noChangeShapeType="1"/>
                </p:cNvSpPr>
                <p:nvPr/>
              </p:nvSpPr>
              <p:spPr bwMode="auto">
                <a:xfrm flipV="1">
                  <a:off x="2499"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6" name="Line 205"/>
                <p:cNvSpPr>
                  <a:spLocks noChangeShapeType="1"/>
                </p:cNvSpPr>
                <p:nvPr/>
              </p:nvSpPr>
              <p:spPr bwMode="auto">
                <a:xfrm flipV="1">
                  <a:off x="2630"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206"/>
                <p:cNvSpPr>
                  <a:spLocks noChangeShapeType="1"/>
                </p:cNvSpPr>
                <p:nvPr/>
              </p:nvSpPr>
              <p:spPr bwMode="auto">
                <a:xfrm flipV="1">
                  <a:off x="276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07"/>
                <p:cNvSpPr>
                  <a:spLocks noChangeShapeType="1"/>
                </p:cNvSpPr>
                <p:nvPr/>
              </p:nvSpPr>
              <p:spPr bwMode="auto">
                <a:xfrm flipV="1">
                  <a:off x="289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209"/>
                <p:cNvSpPr>
                  <a:spLocks noChangeShapeType="1"/>
                </p:cNvSpPr>
                <p:nvPr/>
              </p:nvSpPr>
              <p:spPr bwMode="auto">
                <a:xfrm flipV="1">
                  <a:off x="671" y="2128"/>
                  <a:ext cx="0" cy="264"/>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2" name="AutoShape 211"/>
                <p:cNvSpPr>
                  <a:spLocks noChangeArrowheads="1"/>
                </p:cNvSpPr>
                <p:nvPr/>
              </p:nvSpPr>
              <p:spPr bwMode="auto">
                <a:xfrm>
                  <a:off x="540"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43" name="AutoShape 212"/>
                <p:cNvSpPr>
                  <a:spLocks noChangeArrowheads="1"/>
                </p:cNvSpPr>
                <p:nvPr/>
              </p:nvSpPr>
              <p:spPr bwMode="auto">
                <a:xfrm>
                  <a:off x="410"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44" name="AutoShape 213"/>
                <p:cNvSpPr>
                  <a:spLocks noChangeArrowheads="1"/>
                </p:cNvSpPr>
                <p:nvPr/>
              </p:nvSpPr>
              <p:spPr bwMode="auto">
                <a:xfrm>
                  <a:off x="279"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45" name="AutoShape 214"/>
                <p:cNvSpPr>
                  <a:spLocks noChangeArrowheads="1"/>
                </p:cNvSpPr>
                <p:nvPr/>
              </p:nvSpPr>
              <p:spPr bwMode="auto">
                <a:xfrm>
                  <a:off x="3029" y="2348"/>
                  <a:ext cx="43" cy="88"/>
                </a:xfrm>
                <a:prstGeom prst="octagon">
                  <a:avLst>
                    <a:gd name="adj" fmla="val 50000"/>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46" name="Object 215"/>
                <p:cNvGraphicFramePr>
                  <a:graphicFrameLocks noChangeAspect="1"/>
                </p:cNvGraphicFramePr>
                <p:nvPr/>
              </p:nvGraphicFramePr>
              <p:xfrm>
                <a:off x="714" y="1776"/>
                <a:ext cx="479" cy="262"/>
              </p:xfrm>
              <a:graphic>
                <a:graphicData uri="http://schemas.openxmlformats.org/presentationml/2006/ole">
                  <mc:AlternateContent xmlns:mc="http://schemas.openxmlformats.org/markup-compatibility/2006">
                    <mc:Choice xmlns:v="urn:schemas-microsoft-com:vml" Requires="v">
                      <p:oleObj name="公式" r:id="rId13" imgW="312407" imgH="122010" progId="Equation.3">
                        <p:embed/>
                      </p:oleObj>
                    </mc:Choice>
                    <mc:Fallback>
                      <p:oleObj name="公式" r:id="rId13" imgW="312407" imgH="122010" progId="Equation.3">
                        <p:embed/>
                        <p:pic>
                          <p:nvPicPr>
                            <p:cNvPr id="46" name="Object 2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4" y="1776"/>
                              <a:ext cx="47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grpSp>
      <p:graphicFrame>
        <p:nvGraphicFramePr>
          <p:cNvPr id="77" name="Object 9"/>
          <p:cNvGraphicFramePr>
            <a:graphicFrameLocks noChangeAspect="1"/>
          </p:cNvGraphicFramePr>
          <p:nvPr>
            <p:extLst>
              <p:ext uri="{D42A27DB-BD31-4B8C-83A1-F6EECF244321}">
                <p14:modId xmlns:p14="http://schemas.microsoft.com/office/powerpoint/2010/main" val="50971754"/>
              </p:ext>
            </p:extLst>
          </p:nvPr>
        </p:nvGraphicFramePr>
        <p:xfrm>
          <a:off x="4134405" y="4499887"/>
          <a:ext cx="708264" cy="296784"/>
        </p:xfrm>
        <a:graphic>
          <a:graphicData uri="http://schemas.openxmlformats.org/presentationml/2006/ole">
            <mc:AlternateContent xmlns:mc="http://schemas.openxmlformats.org/markup-compatibility/2006">
              <mc:Choice xmlns:v="urn:schemas-microsoft-com:vml" Requires="v">
                <p:oleObj name="Equation" r:id="rId16" imgW="393480" imgH="164880" progId="Equation.DSMT4">
                  <p:embed/>
                </p:oleObj>
              </mc:Choice>
              <mc:Fallback>
                <p:oleObj name="Equation" r:id="rId16" imgW="393480" imgH="164880" progId="Equation.DSMT4">
                  <p:embed/>
                  <p:pic>
                    <p:nvPicPr>
                      <p:cNvPr id="77" name="Object 9"/>
                      <p:cNvPicPr>
                        <a:picLocks noChangeAspect="1" noChangeArrowheads="1"/>
                      </p:cNvPicPr>
                      <p:nvPr/>
                    </p:nvPicPr>
                    <p:blipFill>
                      <a:blip r:embed="rId17"/>
                      <a:srcRect/>
                      <a:stretch>
                        <a:fillRect/>
                      </a:stretch>
                    </p:blipFill>
                    <p:spPr bwMode="auto">
                      <a:xfrm>
                        <a:off x="4134405" y="4499887"/>
                        <a:ext cx="708264" cy="296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 name="Object 9"/>
          <p:cNvGraphicFramePr>
            <a:graphicFrameLocks noChangeAspect="1"/>
          </p:cNvGraphicFramePr>
          <p:nvPr>
            <p:extLst>
              <p:ext uri="{D42A27DB-BD31-4B8C-83A1-F6EECF244321}">
                <p14:modId xmlns:p14="http://schemas.microsoft.com/office/powerpoint/2010/main" val="3318443961"/>
              </p:ext>
            </p:extLst>
          </p:nvPr>
        </p:nvGraphicFramePr>
        <p:xfrm>
          <a:off x="990600" y="4525963"/>
          <a:ext cx="228600" cy="319087"/>
        </p:xfrm>
        <a:graphic>
          <a:graphicData uri="http://schemas.openxmlformats.org/presentationml/2006/ole">
            <mc:AlternateContent xmlns:mc="http://schemas.openxmlformats.org/markup-compatibility/2006">
              <mc:Choice xmlns:v="urn:schemas-microsoft-com:vml" Requires="v">
                <p:oleObj name="Equation" r:id="rId18" imgW="126720" imgH="177480" progId="Equation.DSMT4">
                  <p:embed/>
                </p:oleObj>
              </mc:Choice>
              <mc:Fallback>
                <p:oleObj name="Equation" r:id="rId18" imgW="126720" imgH="177480" progId="Equation.DSMT4">
                  <p:embed/>
                  <p:pic>
                    <p:nvPicPr>
                      <p:cNvPr id="78" name="Object 9"/>
                      <p:cNvPicPr>
                        <a:picLocks noChangeAspect="1" noChangeArrowheads="1"/>
                      </p:cNvPicPr>
                      <p:nvPr/>
                    </p:nvPicPr>
                    <p:blipFill>
                      <a:blip r:embed="rId19"/>
                      <a:srcRect/>
                      <a:stretch>
                        <a:fillRect/>
                      </a:stretch>
                    </p:blipFill>
                    <p:spPr bwMode="auto">
                      <a:xfrm>
                        <a:off x="990600" y="4525963"/>
                        <a:ext cx="22860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40891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257800" y="5091771"/>
            <a:ext cx="3571875" cy="1219200"/>
          </a:xfrm>
          <a:prstGeom prst="rect">
            <a:avLst/>
          </a:prstGeom>
        </p:spPr>
      </p:pic>
      <p:graphicFrame>
        <p:nvGraphicFramePr>
          <p:cNvPr id="15" name="Object 7"/>
          <p:cNvGraphicFramePr>
            <a:graphicFrameLocks noChangeAspect="1"/>
          </p:cNvGraphicFramePr>
          <p:nvPr>
            <p:extLst>
              <p:ext uri="{D42A27DB-BD31-4B8C-83A1-F6EECF244321}">
                <p14:modId xmlns:p14="http://schemas.microsoft.com/office/powerpoint/2010/main" val="1401227295"/>
              </p:ext>
            </p:extLst>
          </p:nvPr>
        </p:nvGraphicFramePr>
        <p:xfrm>
          <a:off x="3581400" y="990600"/>
          <a:ext cx="3078163" cy="590550"/>
        </p:xfrm>
        <a:graphic>
          <a:graphicData uri="http://schemas.openxmlformats.org/presentationml/2006/ole">
            <mc:AlternateContent xmlns:mc="http://schemas.openxmlformats.org/markup-compatibility/2006">
              <mc:Choice xmlns:v="urn:schemas-microsoft-com:vml" Requires="v">
                <p:oleObj name="Equation" r:id="rId3" imgW="1193760" imgH="228600" progId="Equation.DSMT4">
                  <p:embed/>
                </p:oleObj>
              </mc:Choice>
              <mc:Fallback>
                <p:oleObj name="Equation" r:id="rId3" imgW="1193760" imgH="228600" progId="Equation.DSMT4">
                  <p:embed/>
                  <p:pic>
                    <p:nvPicPr>
                      <p:cNvPr id="15" name="Object 7"/>
                      <p:cNvPicPr>
                        <a:picLocks noChangeAspect="1" noChangeArrowheads="1"/>
                      </p:cNvPicPr>
                      <p:nvPr/>
                    </p:nvPicPr>
                    <p:blipFill>
                      <a:blip r:embed="rId4"/>
                      <a:srcRect/>
                      <a:stretch>
                        <a:fillRect/>
                      </a:stretch>
                    </p:blipFill>
                    <p:spPr bwMode="auto">
                      <a:xfrm>
                        <a:off x="3581400" y="990600"/>
                        <a:ext cx="30781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990600" y="990600"/>
            <a:ext cx="234872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dirty="0">
                <a:solidFill>
                  <a:srgbClr val="000000"/>
                </a:solidFill>
                <a:latin typeface="Times New Roman" panose="02020603050405020304" pitchFamily="18" charset="0"/>
                <a:ea typeface="宋体" panose="02010600030101010101" pitchFamily="2" charset="-122"/>
              </a:rPr>
              <a:t>时域加窗</a:t>
            </a:r>
            <a:r>
              <a:rPr kumimoji="1" lang="zh-CN" altLang="en-US" sz="2800" b="1"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rPr>
              <a:t>截取</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5" name="矩形 4"/>
          <p:cNvSpPr/>
          <p:nvPr/>
        </p:nvSpPr>
        <p:spPr>
          <a:xfrm>
            <a:off x="914400" y="1915180"/>
            <a:ext cx="1627369"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panose="02010600030101010101" pitchFamily="2" charset="-122"/>
              </a:rPr>
              <a:t>频域卷积</a:t>
            </a:r>
            <a:endParaRPr lang="zh-CN" altLang="en-US" dirty="0"/>
          </a:p>
        </p:txBody>
      </p:sp>
      <p:graphicFrame>
        <p:nvGraphicFramePr>
          <p:cNvPr id="17" name="Object 5"/>
          <p:cNvGraphicFramePr>
            <a:graphicFrameLocks noChangeAspect="1"/>
          </p:cNvGraphicFramePr>
          <p:nvPr>
            <p:extLst>
              <p:ext uri="{D42A27DB-BD31-4B8C-83A1-F6EECF244321}">
                <p14:modId xmlns:p14="http://schemas.microsoft.com/office/powerpoint/2010/main" val="3835741673"/>
              </p:ext>
            </p:extLst>
          </p:nvPr>
        </p:nvGraphicFramePr>
        <p:xfrm>
          <a:off x="3048000" y="1761996"/>
          <a:ext cx="5307984" cy="865656"/>
        </p:xfrm>
        <a:graphic>
          <a:graphicData uri="http://schemas.openxmlformats.org/presentationml/2006/ole">
            <mc:AlternateContent xmlns:mc="http://schemas.openxmlformats.org/markup-compatibility/2006">
              <mc:Choice xmlns:v="urn:schemas-microsoft-com:vml" Requires="v">
                <p:oleObj name="Equation" r:id="rId5" imgW="2412720" imgH="393480" progId="Equation.DSMT4">
                  <p:embed/>
                </p:oleObj>
              </mc:Choice>
              <mc:Fallback>
                <p:oleObj name="Equation" r:id="rId5" imgW="2412720" imgH="393480" progId="Equation.DSMT4">
                  <p:embed/>
                  <p:pic>
                    <p:nvPicPr>
                      <p:cNvPr id="17" name="Object 5"/>
                      <p:cNvPicPr>
                        <a:picLocks noChangeAspect="1" noChangeArrowheads="1"/>
                      </p:cNvPicPr>
                      <p:nvPr/>
                    </p:nvPicPr>
                    <p:blipFill>
                      <a:blip r:embed="rId6"/>
                      <a:srcRect/>
                      <a:stretch>
                        <a:fillRect/>
                      </a:stretch>
                    </p:blipFill>
                    <p:spPr bwMode="auto">
                      <a:xfrm>
                        <a:off x="3048000" y="1761996"/>
                        <a:ext cx="5307984" cy="86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35"/>
          <p:cNvGraphicFramePr>
            <a:graphicFrameLocks noChangeAspect="1"/>
          </p:cNvGraphicFramePr>
          <p:nvPr>
            <p:extLst>
              <p:ext uri="{D42A27DB-BD31-4B8C-83A1-F6EECF244321}">
                <p14:modId xmlns:p14="http://schemas.microsoft.com/office/powerpoint/2010/main" val="1289085231"/>
              </p:ext>
            </p:extLst>
          </p:nvPr>
        </p:nvGraphicFramePr>
        <p:xfrm>
          <a:off x="990600" y="5305014"/>
          <a:ext cx="3813264" cy="1119636"/>
        </p:xfrm>
        <a:graphic>
          <a:graphicData uri="http://schemas.openxmlformats.org/presentationml/2006/ole">
            <mc:AlternateContent xmlns:mc="http://schemas.openxmlformats.org/markup-compatibility/2006">
              <mc:Choice xmlns:v="urn:schemas-microsoft-com:vml" Requires="v">
                <p:oleObj name="Equation" r:id="rId7" imgW="1815840" imgH="533160" progId="Equation.DSMT4">
                  <p:embed/>
                </p:oleObj>
              </mc:Choice>
              <mc:Fallback>
                <p:oleObj name="Equation" r:id="rId7" imgW="1815840" imgH="533160" progId="Equation.DSMT4">
                  <p:embed/>
                  <p:pic>
                    <p:nvPicPr>
                      <p:cNvPr id="25" name="Object 35"/>
                      <p:cNvPicPr>
                        <a:picLocks noGrp="1" noChangeAspect="1" noChangeArrowheads="1"/>
                      </p:cNvPicPr>
                      <p:nvPr/>
                    </p:nvPicPr>
                    <p:blipFill>
                      <a:blip r:embed="rId8"/>
                      <a:srcRect/>
                      <a:stretch>
                        <a:fillRect/>
                      </a:stretch>
                    </p:blipFill>
                    <p:spPr bwMode="auto">
                      <a:xfrm>
                        <a:off x="990600" y="5305014"/>
                        <a:ext cx="3813264" cy="11196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4"/>
          <p:cNvGraphicFramePr>
            <a:graphicFrameLocks noChangeAspect="1"/>
          </p:cNvGraphicFramePr>
          <p:nvPr>
            <p:extLst>
              <p:ext uri="{D42A27DB-BD31-4B8C-83A1-F6EECF244321}">
                <p14:modId xmlns:p14="http://schemas.microsoft.com/office/powerpoint/2010/main" val="1027644450"/>
              </p:ext>
            </p:extLst>
          </p:nvPr>
        </p:nvGraphicFramePr>
        <p:xfrm>
          <a:off x="990600" y="4596989"/>
          <a:ext cx="3303588" cy="555625"/>
        </p:xfrm>
        <a:graphic>
          <a:graphicData uri="http://schemas.openxmlformats.org/presentationml/2006/ole">
            <mc:AlternateContent xmlns:mc="http://schemas.openxmlformats.org/markup-compatibility/2006">
              <mc:Choice xmlns:v="urn:schemas-microsoft-com:vml" Requires="v">
                <p:oleObj name="Equation" r:id="rId9" imgW="1434960" imgH="241200" progId="Equation.DSMT4">
                  <p:embed/>
                </p:oleObj>
              </mc:Choice>
              <mc:Fallback>
                <p:oleObj name="Equation" r:id="rId9" imgW="1434960" imgH="241200" progId="Equation.DSMT4">
                  <p:embed/>
                  <p:pic>
                    <p:nvPicPr>
                      <p:cNvPr id="26" name="Object 4"/>
                      <p:cNvPicPr>
                        <a:picLocks noChangeAspect="1" noChangeArrowheads="1"/>
                      </p:cNvPicPr>
                      <p:nvPr/>
                    </p:nvPicPr>
                    <p:blipFill>
                      <a:blip r:embed="rId10"/>
                      <a:srcRect/>
                      <a:stretch>
                        <a:fillRect/>
                      </a:stretch>
                    </p:blipFill>
                    <p:spPr bwMode="auto">
                      <a:xfrm>
                        <a:off x="990600" y="4596989"/>
                        <a:ext cx="3303588"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2"/>
          <p:cNvGraphicFramePr>
            <a:graphicFrameLocks noChangeAspect="1"/>
          </p:cNvGraphicFramePr>
          <p:nvPr>
            <p:extLst>
              <p:ext uri="{D42A27DB-BD31-4B8C-83A1-F6EECF244321}">
                <p14:modId xmlns:p14="http://schemas.microsoft.com/office/powerpoint/2010/main" val="1785497139"/>
              </p:ext>
            </p:extLst>
          </p:nvPr>
        </p:nvGraphicFramePr>
        <p:xfrm>
          <a:off x="2787645" y="2761361"/>
          <a:ext cx="4665672" cy="1172952"/>
        </p:xfrm>
        <a:graphic>
          <a:graphicData uri="http://schemas.openxmlformats.org/presentationml/2006/ole">
            <mc:AlternateContent xmlns:mc="http://schemas.openxmlformats.org/markup-compatibility/2006">
              <mc:Choice xmlns:v="urn:schemas-microsoft-com:vml" Requires="v">
                <p:oleObj name="Equation" r:id="rId11" imgW="2120760" imgH="533160" progId="Equation.DSMT4">
                  <p:embed/>
                </p:oleObj>
              </mc:Choice>
              <mc:Fallback>
                <p:oleObj name="Equation" r:id="rId11" imgW="2120760" imgH="533160" progId="Equation.DSMT4">
                  <p:embed/>
                  <p:pic>
                    <p:nvPicPr>
                      <p:cNvPr id="27" name="Object 12"/>
                      <p:cNvPicPr>
                        <a:picLocks noChangeAspect="1" noChangeArrowheads="1"/>
                      </p:cNvPicPr>
                      <p:nvPr/>
                    </p:nvPicPr>
                    <p:blipFill>
                      <a:blip r:embed="rId12"/>
                      <a:srcRect/>
                      <a:stretch>
                        <a:fillRect/>
                      </a:stretch>
                    </p:blipFill>
                    <p:spPr bwMode="auto">
                      <a:xfrm>
                        <a:off x="2787645" y="2761361"/>
                        <a:ext cx="4665672" cy="1172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矩形 29"/>
          <p:cNvSpPr/>
          <p:nvPr/>
        </p:nvSpPr>
        <p:spPr>
          <a:xfrm>
            <a:off x="891381" y="3998353"/>
            <a:ext cx="7414419" cy="523220"/>
          </a:xfrm>
          <a:prstGeom prst="rect">
            <a:avLst/>
          </a:prstGeom>
        </p:spPr>
        <p:txBody>
          <a:bodyPr wrap="square">
            <a:spAutoFit/>
          </a:bodyPr>
          <a:lstStyle/>
          <a:p>
            <a:pPr lvl="0">
              <a:spcBef>
                <a:spcPct val="50000"/>
              </a:spcBef>
            </a:pPr>
            <a:r>
              <a:rPr kumimoji="1" lang="zh-CN" altLang="en-US" sz="2800" b="1" dirty="0">
                <a:solidFill>
                  <a:srgbClr val="000000"/>
                </a:solidFill>
                <a:latin typeface="Times New Roman" panose="02020603050405020304" pitchFamily="18" charset="0"/>
                <a:ea typeface="宋体" panose="02010600030101010101" pitchFamily="2" charset="-122"/>
              </a:rPr>
              <a:t>也可以写成幅度函数和相位函数的表示形式</a:t>
            </a:r>
          </a:p>
        </p:txBody>
      </p:sp>
      <p:sp>
        <p:nvSpPr>
          <p:cNvPr id="32" name="矩形 31"/>
          <p:cNvSpPr/>
          <p:nvPr/>
        </p:nvSpPr>
        <p:spPr>
          <a:xfrm>
            <a:off x="894080" y="3062113"/>
            <a:ext cx="1627369"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panose="02010600030101010101" pitchFamily="2" charset="-122"/>
              </a:rPr>
              <a:t>理想频响</a:t>
            </a:r>
            <a:endParaRPr lang="zh-CN" altLang="en-US" dirty="0"/>
          </a:p>
        </p:txBody>
      </p:sp>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266828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14"/>
          <p:cNvGraphicFramePr>
            <a:graphicFrameLocks noChangeAspect="1"/>
          </p:cNvGraphicFramePr>
          <p:nvPr>
            <p:extLst>
              <p:ext uri="{D42A27DB-BD31-4B8C-83A1-F6EECF244321}">
                <p14:modId xmlns:p14="http://schemas.microsoft.com/office/powerpoint/2010/main" val="1913137065"/>
              </p:ext>
            </p:extLst>
          </p:nvPr>
        </p:nvGraphicFramePr>
        <p:xfrm>
          <a:off x="812885" y="4244747"/>
          <a:ext cx="3125787" cy="963613"/>
        </p:xfrm>
        <a:graphic>
          <a:graphicData uri="http://schemas.openxmlformats.org/presentationml/2006/ole">
            <mc:AlternateContent xmlns:mc="http://schemas.openxmlformats.org/markup-compatibility/2006">
              <mc:Choice xmlns:v="urn:schemas-microsoft-com:vml" Requires="v">
                <p:oleObj name="Equation" r:id="rId2" imgW="1358640" imgH="419040" progId="Equation.DSMT4">
                  <p:embed/>
                </p:oleObj>
              </mc:Choice>
              <mc:Fallback>
                <p:oleObj name="Equation" r:id="rId2" imgW="1358640" imgH="419040" progId="Equation.DSMT4">
                  <p:embed/>
                  <p:pic>
                    <p:nvPicPr>
                      <p:cNvPr id="5" name="Object 14"/>
                      <p:cNvPicPr>
                        <a:picLocks noChangeAspect="1" noChangeArrowheads="1"/>
                      </p:cNvPicPr>
                      <p:nvPr/>
                    </p:nvPicPr>
                    <p:blipFill>
                      <a:blip r:embed="rId3"/>
                      <a:srcRect/>
                      <a:stretch>
                        <a:fillRect/>
                      </a:stretch>
                    </p:blipFill>
                    <p:spPr bwMode="auto">
                      <a:xfrm>
                        <a:off x="812885" y="4244747"/>
                        <a:ext cx="3125787"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812885" y="3641268"/>
            <a:ext cx="1627369" cy="523220"/>
          </a:xfrm>
          <a:prstGeom prst="rect">
            <a:avLst/>
          </a:prstGeom>
        </p:spPr>
        <p:txBody>
          <a:bodyPr wrap="none">
            <a:spAutoFit/>
          </a:bodyPr>
          <a:lstStyle/>
          <a:p>
            <a:pPr lvl="0" eaLnBrk="1" hangingPunct="1">
              <a:spcBef>
                <a:spcPct val="50000"/>
              </a:spcBef>
            </a:pPr>
            <a:r>
              <a:rPr kumimoji="1" lang="zh-CN" altLang="en-US" sz="2800" b="1" dirty="0">
                <a:solidFill>
                  <a:srgbClr val="000000"/>
                </a:solidFill>
                <a:latin typeface="Times New Roman" panose="02020603050405020304" pitchFamily="18" charset="0"/>
                <a:ea typeface="宋体" panose="02010600030101010101" pitchFamily="2" charset="-122"/>
              </a:rPr>
              <a:t>幅度函数</a:t>
            </a:r>
          </a:p>
        </p:txBody>
      </p:sp>
      <p:pic>
        <p:nvPicPr>
          <p:cNvPr id="8" name="图片 7"/>
          <p:cNvPicPr>
            <a:picLocks noChangeAspect="1"/>
          </p:cNvPicPr>
          <p:nvPr/>
        </p:nvPicPr>
        <p:blipFill>
          <a:blip r:embed="rId4"/>
          <a:stretch>
            <a:fillRect/>
          </a:stretch>
        </p:blipFill>
        <p:spPr>
          <a:xfrm>
            <a:off x="4091940" y="2895600"/>
            <a:ext cx="5052060" cy="2687003"/>
          </a:xfrm>
          <a:prstGeom prst="rect">
            <a:avLst/>
          </a:prstGeom>
        </p:spPr>
      </p:pic>
      <p:sp>
        <p:nvSpPr>
          <p:cNvPr id="9" name="矩形 8"/>
          <p:cNvSpPr/>
          <p:nvPr/>
        </p:nvSpPr>
        <p:spPr>
          <a:xfrm>
            <a:off x="6019800" y="4829536"/>
            <a:ext cx="803425"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rPr>
              <a:t>主瓣</a:t>
            </a:r>
            <a:endParaRPr kumimoji="0" lang="zh-CN" altLang="en-US" sz="1600" b="1" i="0" u="none" strike="noStrike" kern="0" cap="none" spc="0" normalizeH="0" baseline="0" noProof="0" dirty="0">
              <a:ln>
                <a:noFill/>
              </a:ln>
              <a:solidFill>
                <a:srgbClr val="0000CC"/>
              </a:solidFill>
              <a:effectLst/>
              <a:uLnTx/>
              <a:uFillTx/>
            </a:endParaRPr>
          </a:p>
        </p:txBody>
      </p:sp>
      <p:sp>
        <p:nvSpPr>
          <p:cNvPr id="11" name="矩形 10"/>
          <p:cNvSpPr/>
          <p:nvPr/>
        </p:nvSpPr>
        <p:spPr>
          <a:xfrm>
            <a:off x="4949254" y="6147832"/>
            <a:ext cx="162736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主瓣宽度</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814519739"/>
              </p:ext>
            </p:extLst>
          </p:nvPr>
        </p:nvGraphicFramePr>
        <p:xfrm>
          <a:off x="6441452" y="6097012"/>
          <a:ext cx="419100" cy="684213"/>
        </p:xfrm>
        <a:graphic>
          <a:graphicData uri="http://schemas.openxmlformats.org/presentationml/2006/ole">
            <mc:AlternateContent xmlns:mc="http://schemas.openxmlformats.org/markup-compatibility/2006">
              <mc:Choice xmlns:v="urn:schemas-microsoft-com:vml" Requires="v">
                <p:oleObj name="Equation" r:id="rId5" imgW="241200" imgH="393480" progId="Equation.DSMT4">
                  <p:embed/>
                </p:oleObj>
              </mc:Choice>
              <mc:Fallback>
                <p:oleObj name="Equation" r:id="rId5" imgW="241200" imgH="393480" progId="Equation.DSMT4">
                  <p:embed/>
                  <p:pic>
                    <p:nvPicPr>
                      <p:cNvPr id="12" name="Object 11"/>
                      <p:cNvPicPr>
                        <a:picLocks noChangeAspect="1" noChangeArrowheads="1"/>
                      </p:cNvPicPr>
                      <p:nvPr/>
                    </p:nvPicPr>
                    <p:blipFill>
                      <a:blip r:embed="rId6"/>
                      <a:srcRect/>
                      <a:stretch>
                        <a:fillRect/>
                      </a:stretch>
                    </p:blipFill>
                    <p:spPr bwMode="auto">
                      <a:xfrm>
                        <a:off x="6441452" y="6097012"/>
                        <a:ext cx="4191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Line 9"/>
          <p:cNvSpPr>
            <a:spLocks noChangeShapeType="1"/>
          </p:cNvSpPr>
          <p:nvPr/>
        </p:nvSpPr>
        <p:spPr bwMode="auto">
          <a:xfrm>
            <a:off x="5968027" y="5556000"/>
            <a:ext cx="8723" cy="540000"/>
          </a:xfrm>
          <a:prstGeom prst="line">
            <a:avLst/>
          </a:prstGeom>
          <a:noFill/>
          <a:ln w="19050">
            <a:solidFill>
              <a:schemeClr val="tx1"/>
            </a:solidFill>
            <a:round/>
            <a:headEnd type="non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9"/>
          <p:cNvSpPr>
            <a:spLocks noChangeShapeType="1"/>
          </p:cNvSpPr>
          <p:nvPr/>
        </p:nvSpPr>
        <p:spPr bwMode="auto">
          <a:xfrm>
            <a:off x="6851829" y="5556000"/>
            <a:ext cx="8723" cy="540000"/>
          </a:xfrm>
          <a:prstGeom prst="line">
            <a:avLst/>
          </a:prstGeom>
          <a:noFill/>
          <a:ln w="19050">
            <a:solidFill>
              <a:schemeClr val="tx1"/>
            </a:solidFill>
            <a:round/>
            <a:headEnd type="non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9"/>
          <p:cNvSpPr>
            <a:spLocks noChangeShapeType="1"/>
          </p:cNvSpPr>
          <p:nvPr/>
        </p:nvSpPr>
        <p:spPr bwMode="auto">
          <a:xfrm rot="5400000">
            <a:off x="5758578" y="5561565"/>
            <a:ext cx="8723" cy="4680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9"/>
          <p:cNvSpPr>
            <a:spLocks noChangeShapeType="1"/>
          </p:cNvSpPr>
          <p:nvPr/>
        </p:nvSpPr>
        <p:spPr bwMode="auto">
          <a:xfrm rot="16200000">
            <a:off x="7064779" y="5561562"/>
            <a:ext cx="8723" cy="4680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 name="Object 8"/>
          <p:cNvGraphicFramePr>
            <a:graphicFrameLocks noChangeAspect="1"/>
          </p:cNvGraphicFramePr>
          <p:nvPr>
            <p:extLst>
              <p:ext uri="{D42A27DB-BD31-4B8C-83A1-F6EECF244321}">
                <p14:modId xmlns:p14="http://schemas.microsoft.com/office/powerpoint/2010/main" val="1289837527"/>
              </p:ext>
            </p:extLst>
          </p:nvPr>
        </p:nvGraphicFramePr>
        <p:xfrm>
          <a:off x="2362200" y="853572"/>
          <a:ext cx="2281238" cy="533400"/>
        </p:xfrm>
        <a:graphic>
          <a:graphicData uri="http://schemas.openxmlformats.org/presentationml/2006/ole">
            <mc:AlternateContent xmlns:mc="http://schemas.openxmlformats.org/markup-compatibility/2006">
              <mc:Choice xmlns:v="urn:schemas-microsoft-com:vml" Requires="v">
                <p:oleObj name="Equation" r:id="rId7" imgW="977900" imgH="228600" progId="Equation.DSMT4">
                  <p:embed/>
                </p:oleObj>
              </mc:Choice>
              <mc:Fallback>
                <p:oleObj name="Equation" r:id="rId7" imgW="977900" imgH="228600" progId="Equation.DSMT4">
                  <p:embed/>
                  <p:pic>
                    <p:nvPicPr>
                      <p:cNvPr id="1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853572"/>
                        <a:ext cx="22812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5"/>
          <p:cNvGraphicFramePr>
            <a:graphicFrameLocks noChangeAspect="1"/>
          </p:cNvGraphicFramePr>
          <p:nvPr>
            <p:extLst>
              <p:ext uri="{D42A27DB-BD31-4B8C-83A1-F6EECF244321}">
                <p14:modId xmlns:p14="http://schemas.microsoft.com/office/powerpoint/2010/main" val="62620348"/>
              </p:ext>
            </p:extLst>
          </p:nvPr>
        </p:nvGraphicFramePr>
        <p:xfrm>
          <a:off x="928688" y="1873250"/>
          <a:ext cx="4410075" cy="1022350"/>
        </p:xfrm>
        <a:graphic>
          <a:graphicData uri="http://schemas.openxmlformats.org/presentationml/2006/ole">
            <mc:AlternateContent xmlns:mc="http://schemas.openxmlformats.org/markup-compatibility/2006">
              <mc:Choice xmlns:v="urn:schemas-microsoft-com:vml" Requires="v">
                <p:oleObj name="Equation" r:id="rId9" imgW="1917360" imgH="444240" progId="Equation.DSMT4">
                  <p:embed/>
                </p:oleObj>
              </mc:Choice>
              <mc:Fallback>
                <p:oleObj name="Equation" r:id="rId9" imgW="1917360" imgH="444240" progId="Equation.DSMT4">
                  <p:embed/>
                  <p:pic>
                    <p:nvPicPr>
                      <p:cNvPr id="18" name="Object 15"/>
                      <p:cNvPicPr>
                        <a:picLocks noChangeAspect="1" noChangeArrowheads="1"/>
                      </p:cNvPicPr>
                      <p:nvPr/>
                    </p:nvPicPr>
                    <p:blipFill>
                      <a:blip r:embed="rId10"/>
                      <a:srcRect/>
                      <a:stretch>
                        <a:fillRect/>
                      </a:stretch>
                    </p:blipFill>
                    <p:spPr bwMode="auto">
                      <a:xfrm>
                        <a:off x="928688" y="1873250"/>
                        <a:ext cx="44100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4"/>
          <p:cNvGraphicFramePr>
            <a:graphicFrameLocks noChangeAspect="1"/>
          </p:cNvGraphicFramePr>
          <p:nvPr>
            <p:extLst>
              <p:ext uri="{D42A27DB-BD31-4B8C-83A1-F6EECF244321}">
                <p14:modId xmlns:p14="http://schemas.microsoft.com/office/powerpoint/2010/main" val="2237726291"/>
              </p:ext>
            </p:extLst>
          </p:nvPr>
        </p:nvGraphicFramePr>
        <p:xfrm>
          <a:off x="5280660" y="1828800"/>
          <a:ext cx="3358368" cy="1080540"/>
        </p:xfrm>
        <a:graphic>
          <a:graphicData uri="http://schemas.openxmlformats.org/presentationml/2006/ole">
            <mc:AlternateContent xmlns:mc="http://schemas.openxmlformats.org/markup-compatibility/2006">
              <mc:Choice xmlns:v="urn:schemas-microsoft-com:vml" Requires="v">
                <p:oleObj name="Equation" r:id="rId11" imgW="1460160" imgH="469800" progId="Equation.DSMT4">
                  <p:embed/>
                </p:oleObj>
              </mc:Choice>
              <mc:Fallback>
                <p:oleObj name="Equation" r:id="rId11" imgW="1460160" imgH="469800" progId="Equation.DSMT4">
                  <p:embed/>
                  <p:pic>
                    <p:nvPicPr>
                      <p:cNvPr id="19" name="Object 14"/>
                      <p:cNvPicPr>
                        <a:picLocks noChangeAspect="1" noChangeArrowheads="1"/>
                      </p:cNvPicPr>
                      <p:nvPr/>
                    </p:nvPicPr>
                    <p:blipFill>
                      <a:blip r:embed="rId12"/>
                      <a:srcRect/>
                      <a:stretch>
                        <a:fillRect/>
                      </a:stretch>
                    </p:blipFill>
                    <p:spPr bwMode="auto">
                      <a:xfrm>
                        <a:off x="5280660" y="1828800"/>
                        <a:ext cx="3358368" cy="1080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矩形 19"/>
          <p:cNvSpPr/>
          <p:nvPr/>
        </p:nvSpPr>
        <p:spPr>
          <a:xfrm>
            <a:off x="977100" y="834667"/>
            <a:ext cx="1266693" cy="523220"/>
          </a:xfrm>
          <a:prstGeom prst="rect">
            <a:avLst/>
          </a:prstGeom>
        </p:spPr>
        <p:txBody>
          <a:bodyPr wrap="none">
            <a:spAutoFit/>
          </a:bodyPr>
          <a:lstStyle/>
          <a:p>
            <a:r>
              <a:rPr lang="zh-CN" altLang="en-US" sz="2800" b="1" dirty="0">
                <a:solidFill>
                  <a:srgbClr val="000000"/>
                </a:solidFill>
                <a:latin typeface="Century Gothic" panose="020B0502020202020204" pitchFamily="34" charset="0"/>
                <a:ea typeface="宋体" panose="02010600030101010101" pitchFamily="2" charset="-122"/>
              </a:rPr>
              <a:t>矩形窗</a:t>
            </a:r>
            <a:endParaRPr lang="zh-CN" altLang="en-US" sz="2800" dirty="0"/>
          </a:p>
        </p:txBody>
      </p:sp>
      <p:sp>
        <p:nvSpPr>
          <p:cNvPr id="21" name="矩形 20"/>
          <p:cNvSpPr/>
          <p:nvPr/>
        </p:nvSpPr>
        <p:spPr>
          <a:xfrm>
            <a:off x="982180" y="1438146"/>
            <a:ext cx="2348720" cy="523220"/>
          </a:xfrm>
          <a:prstGeom prst="rect">
            <a:avLst/>
          </a:prstGeom>
        </p:spPr>
        <p:txBody>
          <a:bodyPr wrap="none">
            <a:spAutoFit/>
          </a:bodyPr>
          <a:lstStyle/>
          <a:p>
            <a:r>
              <a:rPr lang="zh-CN" altLang="en-US" sz="2800" b="1" dirty="0">
                <a:solidFill>
                  <a:srgbClr val="000000"/>
                </a:solidFill>
                <a:latin typeface="Century Gothic" panose="020B0502020202020204" pitchFamily="34" charset="0"/>
                <a:ea typeface="宋体" panose="02010600030101010101" pitchFamily="2" charset="-122"/>
              </a:rPr>
              <a:t>矩形窗的频谱</a:t>
            </a:r>
            <a:endParaRPr lang="zh-CN" altLang="en-US" sz="2800" dirty="0"/>
          </a:p>
        </p:txBody>
      </p:sp>
      <p:graphicFrame>
        <p:nvGraphicFramePr>
          <p:cNvPr id="22" name="Object 7"/>
          <p:cNvGraphicFramePr>
            <a:graphicFrameLocks noChangeAspect="1"/>
          </p:cNvGraphicFramePr>
          <p:nvPr>
            <p:extLst>
              <p:ext uri="{D42A27DB-BD31-4B8C-83A1-F6EECF244321}">
                <p14:modId xmlns:p14="http://schemas.microsoft.com/office/powerpoint/2010/main" val="3062710588"/>
              </p:ext>
            </p:extLst>
          </p:nvPr>
        </p:nvGraphicFramePr>
        <p:xfrm>
          <a:off x="2111333" y="2893457"/>
          <a:ext cx="2495550" cy="587375"/>
        </p:xfrm>
        <a:graphic>
          <a:graphicData uri="http://schemas.openxmlformats.org/presentationml/2006/ole">
            <mc:AlternateContent xmlns:mc="http://schemas.openxmlformats.org/markup-compatibility/2006">
              <mc:Choice xmlns:v="urn:schemas-microsoft-com:vml" Requires="v">
                <p:oleObj name="Equation" r:id="rId13" imgW="888840" imgH="241200" progId="Equation.DSMT4">
                  <p:embed/>
                </p:oleObj>
              </mc:Choice>
              <mc:Fallback>
                <p:oleObj name="Equation" r:id="rId13" imgW="888840" imgH="241200" progId="Equation.DSMT4">
                  <p:embed/>
                  <p:pic>
                    <p:nvPicPr>
                      <p:cNvPr id="22" name="Object 7"/>
                      <p:cNvPicPr>
                        <a:picLocks noChangeAspect="1" noChangeArrowheads="1"/>
                      </p:cNvPicPr>
                      <p:nvPr/>
                    </p:nvPicPr>
                    <p:blipFill>
                      <a:blip r:embed="rId14"/>
                      <a:srcRect/>
                      <a:stretch>
                        <a:fillRect/>
                      </a:stretch>
                    </p:blipFill>
                    <p:spPr bwMode="auto">
                      <a:xfrm>
                        <a:off x="2111333" y="2893457"/>
                        <a:ext cx="24955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6"/>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387200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animBg="1"/>
      <p:bldP spid="14" grpId="0" animBg="1"/>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extLst>
              <p:ext uri="{D42A27DB-BD31-4B8C-83A1-F6EECF244321}">
                <p14:modId xmlns:p14="http://schemas.microsoft.com/office/powerpoint/2010/main" val="2952565472"/>
              </p:ext>
            </p:extLst>
          </p:nvPr>
        </p:nvGraphicFramePr>
        <p:xfrm>
          <a:off x="983376" y="1437940"/>
          <a:ext cx="6789024" cy="1787544"/>
        </p:xfrm>
        <a:graphic>
          <a:graphicData uri="http://schemas.openxmlformats.org/presentationml/2006/ole">
            <mc:AlternateContent xmlns:mc="http://schemas.openxmlformats.org/markup-compatibility/2006">
              <mc:Choice xmlns:v="urn:schemas-microsoft-com:vml" Requires="v">
                <p:oleObj name="Equation" r:id="rId2" imgW="3085920" imgH="812520" progId="Equation.DSMT4">
                  <p:embed/>
                </p:oleObj>
              </mc:Choice>
              <mc:Fallback>
                <p:oleObj name="Equation" r:id="rId2" imgW="3085920" imgH="812520" progId="Equation.DSMT4">
                  <p:embed/>
                  <p:pic>
                    <p:nvPicPr>
                      <p:cNvPr id="3" name="Object 5"/>
                      <p:cNvPicPr>
                        <a:picLocks noChangeAspect="1" noChangeArrowheads="1"/>
                      </p:cNvPicPr>
                      <p:nvPr/>
                    </p:nvPicPr>
                    <p:blipFill>
                      <a:blip r:embed="rId3"/>
                      <a:srcRect/>
                      <a:stretch>
                        <a:fillRect/>
                      </a:stretch>
                    </p:blipFill>
                    <p:spPr bwMode="auto">
                      <a:xfrm>
                        <a:off x="983376" y="1437940"/>
                        <a:ext cx="6789024" cy="178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13"/>
          <p:cNvGraphicFramePr>
            <a:graphicFrameLocks noChangeAspect="1"/>
          </p:cNvGraphicFramePr>
          <p:nvPr>
            <p:extLst>
              <p:ext uri="{D42A27DB-BD31-4B8C-83A1-F6EECF244321}">
                <p14:modId xmlns:p14="http://schemas.microsoft.com/office/powerpoint/2010/main" val="2429066618"/>
              </p:ext>
            </p:extLst>
          </p:nvPr>
        </p:nvGraphicFramePr>
        <p:xfrm>
          <a:off x="2057400" y="3361990"/>
          <a:ext cx="5001260" cy="977900"/>
        </p:xfrm>
        <a:graphic>
          <a:graphicData uri="http://schemas.openxmlformats.org/presentationml/2006/ole">
            <mc:AlternateContent xmlns:mc="http://schemas.openxmlformats.org/markup-compatibility/2006">
              <mc:Choice xmlns:v="urn:schemas-microsoft-com:vml" Requires="v">
                <p:oleObj name="公式" r:id="rId4" imgW="2273300" imgH="444500" progId="Equation.3">
                  <p:embed/>
                </p:oleObj>
              </mc:Choice>
              <mc:Fallback>
                <p:oleObj name="公式" r:id="rId4" imgW="2273300" imgH="444500" progId="Equation.3">
                  <p:embed/>
                  <p:pic>
                    <p:nvPicPr>
                      <p:cNvPr id="4"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3361990"/>
                        <a:ext cx="500126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7"/>
          <p:cNvGraphicFramePr>
            <a:graphicFrameLocks noChangeAspect="1"/>
          </p:cNvGraphicFramePr>
          <p:nvPr>
            <p:extLst>
              <p:ext uri="{D42A27DB-BD31-4B8C-83A1-F6EECF244321}">
                <p14:modId xmlns:p14="http://schemas.microsoft.com/office/powerpoint/2010/main" val="2230734892"/>
              </p:ext>
            </p:extLst>
          </p:nvPr>
        </p:nvGraphicFramePr>
        <p:xfrm>
          <a:off x="997824" y="5181600"/>
          <a:ext cx="4889500" cy="894080"/>
        </p:xfrm>
        <a:graphic>
          <a:graphicData uri="http://schemas.openxmlformats.org/presentationml/2006/ole">
            <mc:AlternateContent xmlns:mc="http://schemas.openxmlformats.org/markup-compatibility/2006">
              <mc:Choice xmlns:v="urn:schemas-microsoft-com:vml" Requires="v">
                <p:oleObj name="公式" r:id="rId6" imgW="2222500" imgH="406400" progId="Equation.3">
                  <p:embed/>
                </p:oleObj>
              </mc:Choice>
              <mc:Fallback>
                <p:oleObj name="公式" r:id="rId6" imgW="2222500" imgH="406400" progId="Equation.3">
                  <p:embed/>
                  <p:pic>
                    <p:nvPicPr>
                      <p:cNvPr id="5"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7824" y="5181600"/>
                        <a:ext cx="4889500" cy="89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914400" y="4547395"/>
            <a:ext cx="8077200" cy="523220"/>
          </a:xfrm>
          <a:prstGeom prst="rect">
            <a:avLst/>
          </a:prstGeom>
        </p:spPr>
        <p:txBody>
          <a:bodyPr wrap="square">
            <a:spAutoFit/>
          </a:bodyPr>
          <a:lstStyle/>
          <a:p>
            <a:pPr lvl="0" eaLnBrk="1" hangingPunct="1">
              <a:spcBef>
                <a:spcPct val="50000"/>
              </a:spcBef>
            </a:pPr>
            <a:r>
              <a:rPr kumimoji="1"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则实际</a:t>
            </a:r>
            <a:r>
              <a:rPr kumimoji="1"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kumimoji="1"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滤波器的幅度函数为</a:t>
            </a:r>
          </a:p>
        </p:txBody>
      </p:sp>
      <p:sp>
        <p:nvSpPr>
          <p:cNvPr id="9" name="矩形 8"/>
          <p:cNvSpPr/>
          <p:nvPr/>
        </p:nvSpPr>
        <p:spPr>
          <a:xfrm>
            <a:off x="914400" y="848380"/>
            <a:ext cx="4410182"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实际</a:t>
            </a:r>
            <a:r>
              <a:rPr kumimoji="1"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kumimoji="1"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滤波器的频率响应</a:t>
            </a:r>
            <a:endParaRPr lang="zh-CN" altLang="en-US" dirty="0"/>
          </a:p>
        </p:txBody>
      </p:sp>
      <p:sp>
        <p:nvSpPr>
          <p:cNvPr id="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168993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5410200" y="6411575"/>
            <a:ext cx="3962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 </a:t>
            </a:r>
            <a:r>
              <a:rPr lang="zh-CN" altLang="en-US" b="1" dirty="0">
                <a:solidFill>
                  <a:srgbClr val="000000"/>
                </a:solidFill>
              </a:rPr>
              <a:t>图</a:t>
            </a:r>
            <a:r>
              <a:rPr lang="en-US" altLang="zh-CN" b="1" dirty="0">
                <a:solidFill>
                  <a:srgbClr val="000000"/>
                </a:solidFill>
              </a:rPr>
              <a:t>5.5  </a:t>
            </a:r>
            <a:r>
              <a:rPr lang="zh-CN" altLang="en-US" b="1" dirty="0">
                <a:solidFill>
                  <a:srgbClr val="000000"/>
                </a:solidFill>
              </a:rPr>
              <a:t>矩形窗的卷积过程</a:t>
            </a:r>
          </a:p>
        </p:txBody>
      </p:sp>
      <p:pic>
        <p:nvPicPr>
          <p:cNvPr id="4" name="Picture 5" descr="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5240"/>
            <a:ext cx="4267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5"/>
          <p:cNvGraphicFramePr>
            <a:graphicFrameLocks noChangeAspect="1"/>
          </p:cNvGraphicFramePr>
          <p:nvPr>
            <p:extLst>
              <p:ext uri="{D42A27DB-BD31-4B8C-83A1-F6EECF244321}">
                <p14:modId xmlns:p14="http://schemas.microsoft.com/office/powerpoint/2010/main" val="2523122221"/>
              </p:ext>
            </p:extLst>
          </p:nvPr>
        </p:nvGraphicFramePr>
        <p:xfrm>
          <a:off x="5181600" y="2997393"/>
          <a:ext cx="1787383" cy="893693"/>
        </p:xfrm>
        <a:graphic>
          <a:graphicData uri="http://schemas.openxmlformats.org/presentationml/2006/ole">
            <mc:AlternateContent xmlns:mc="http://schemas.openxmlformats.org/markup-compatibility/2006">
              <mc:Choice xmlns:v="urn:schemas-microsoft-com:vml" Requires="v">
                <p:oleObj name="Equation" r:id="rId3" imgW="812447" imgH="406224" progId="Equation.DSMT4">
                  <p:embed/>
                </p:oleObj>
              </mc:Choice>
              <mc:Fallback>
                <p:oleObj name="Equation" r:id="rId3" imgW="812447" imgH="406224" progId="Equation.DSMT4">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2997393"/>
                        <a:ext cx="1787383" cy="8936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6"/>
          <p:cNvGraphicFramePr>
            <a:graphicFrameLocks noChangeAspect="1"/>
          </p:cNvGraphicFramePr>
          <p:nvPr>
            <p:extLst>
              <p:ext uri="{D42A27DB-BD31-4B8C-83A1-F6EECF244321}">
                <p14:modId xmlns:p14="http://schemas.microsoft.com/office/powerpoint/2010/main" val="3419035425"/>
              </p:ext>
            </p:extLst>
          </p:nvPr>
        </p:nvGraphicFramePr>
        <p:xfrm>
          <a:off x="5181600" y="4419600"/>
          <a:ext cx="1787383" cy="893693"/>
        </p:xfrm>
        <a:graphic>
          <a:graphicData uri="http://schemas.openxmlformats.org/presentationml/2006/ole">
            <mc:AlternateContent xmlns:mc="http://schemas.openxmlformats.org/markup-compatibility/2006">
              <mc:Choice xmlns:v="urn:schemas-microsoft-com:vml" Requires="v">
                <p:oleObj name="Equation" r:id="rId5" imgW="812447" imgH="406224" progId="Equation.DSMT4">
                  <p:embed/>
                </p:oleObj>
              </mc:Choice>
              <mc:Fallback>
                <p:oleObj name="Equation" r:id="rId5" imgW="812447" imgH="406224" progId="Equation.DSMT4">
                  <p:embed/>
                  <p:pic>
                    <p:nvPicPr>
                      <p:cNvPr id="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4419600"/>
                        <a:ext cx="1787383" cy="8936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矩形 7"/>
          <p:cNvSpPr/>
          <p:nvPr/>
        </p:nvSpPr>
        <p:spPr>
          <a:xfrm>
            <a:off x="7239000" y="2971800"/>
            <a:ext cx="1627369" cy="95410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频响出现</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正肩峰</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9" name="矩形 8"/>
          <p:cNvSpPr/>
          <p:nvPr/>
        </p:nvSpPr>
        <p:spPr>
          <a:xfrm>
            <a:off x="7288031" y="4431274"/>
            <a:ext cx="1627369" cy="95410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频响出现</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负肩峰</a:t>
            </a:r>
            <a:endParaRPr kumimoji="0" lang="zh-CN" altLang="en-US" sz="1800" b="0" i="0" u="none" strike="noStrike" kern="0" cap="none" spc="0" normalizeH="0" baseline="0" noProof="0" dirty="0">
              <a:ln>
                <a:noFill/>
              </a:ln>
              <a:solidFill>
                <a:sysClr val="windowText" lastClr="000000"/>
              </a:solidFill>
              <a:effectLst/>
              <a:uLnTx/>
              <a:uFillTx/>
            </a:endParaRPr>
          </a:p>
        </p:txBody>
      </p:sp>
      <p:graphicFrame>
        <p:nvGraphicFramePr>
          <p:cNvPr id="10" name="Object 5"/>
          <p:cNvGraphicFramePr>
            <a:graphicFrameLocks noChangeAspect="1"/>
          </p:cNvGraphicFramePr>
          <p:nvPr>
            <p:extLst>
              <p:ext uri="{D42A27DB-BD31-4B8C-83A1-F6EECF244321}">
                <p14:modId xmlns:p14="http://schemas.microsoft.com/office/powerpoint/2010/main" val="2907988143"/>
              </p:ext>
            </p:extLst>
          </p:nvPr>
        </p:nvGraphicFramePr>
        <p:xfrm>
          <a:off x="5181600" y="2066340"/>
          <a:ext cx="1004888" cy="501650"/>
        </p:xfrm>
        <a:graphic>
          <a:graphicData uri="http://schemas.openxmlformats.org/presentationml/2006/ole">
            <mc:AlternateContent xmlns:mc="http://schemas.openxmlformats.org/markup-compatibility/2006">
              <mc:Choice xmlns:v="urn:schemas-microsoft-com:vml" Requires="v">
                <p:oleObj name="Equation" r:id="rId7" imgW="457200" imgH="228600" progId="Equation.DSMT4">
                  <p:embed/>
                </p:oleObj>
              </mc:Choice>
              <mc:Fallback>
                <p:oleObj name="Equation" r:id="rId7" imgW="457200" imgH="228600" progId="Equation.DSMT4">
                  <p:embed/>
                  <p:pic>
                    <p:nvPicPr>
                      <p:cNvPr id="10" name="Object 5"/>
                      <p:cNvPicPr>
                        <a:picLocks noChangeAspect="1" noChangeArrowheads="1"/>
                      </p:cNvPicPr>
                      <p:nvPr/>
                    </p:nvPicPr>
                    <p:blipFill>
                      <a:blip r:embed="rId8"/>
                      <a:srcRect/>
                      <a:stretch>
                        <a:fillRect/>
                      </a:stretch>
                    </p:blipFill>
                    <p:spPr bwMode="auto">
                      <a:xfrm>
                        <a:off x="5181600" y="2066340"/>
                        <a:ext cx="10048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7"/>
          <p:cNvGraphicFramePr>
            <a:graphicFrameLocks noChangeAspect="1"/>
          </p:cNvGraphicFramePr>
          <p:nvPr>
            <p:extLst>
              <p:ext uri="{D42A27DB-BD31-4B8C-83A1-F6EECF244321}">
                <p14:modId xmlns:p14="http://schemas.microsoft.com/office/powerpoint/2010/main" val="844328762"/>
              </p:ext>
            </p:extLst>
          </p:nvPr>
        </p:nvGraphicFramePr>
        <p:xfrm>
          <a:off x="6477000" y="2110790"/>
          <a:ext cx="2286000" cy="457200"/>
        </p:xfrm>
        <a:graphic>
          <a:graphicData uri="http://schemas.openxmlformats.org/presentationml/2006/ole">
            <mc:AlternateContent xmlns:mc="http://schemas.openxmlformats.org/markup-compatibility/2006">
              <mc:Choice xmlns:v="urn:schemas-microsoft-com:vml" Requires="v">
                <p:oleObj name="Equation" r:id="rId9" imgW="1143000" imgH="228600" progId="Equation.DSMT4">
                  <p:embed/>
                </p:oleObj>
              </mc:Choice>
              <mc:Fallback>
                <p:oleObj name="Equation" r:id="rId9" imgW="1143000" imgH="228600" progId="Equation.DSMT4">
                  <p:embed/>
                  <p:pic>
                    <p:nvPicPr>
                      <p:cNvPr id="11" name="Object 17"/>
                      <p:cNvPicPr>
                        <a:picLocks noChangeAspect="1" noChangeArrowheads="1"/>
                      </p:cNvPicPr>
                      <p:nvPr/>
                    </p:nvPicPr>
                    <p:blipFill>
                      <a:blip r:embed="rId10"/>
                      <a:srcRect/>
                      <a:stretch>
                        <a:fillRect/>
                      </a:stretch>
                    </p:blipFill>
                    <p:spPr bwMode="auto">
                      <a:xfrm>
                        <a:off x="6477000" y="211079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p:cNvGraphicFramePr>
            <a:graphicFrameLocks noChangeAspect="1"/>
          </p:cNvGraphicFramePr>
          <p:nvPr>
            <p:extLst>
              <p:ext uri="{D42A27DB-BD31-4B8C-83A1-F6EECF244321}">
                <p14:modId xmlns:p14="http://schemas.microsoft.com/office/powerpoint/2010/main" val="1650950645"/>
              </p:ext>
            </p:extLst>
          </p:nvPr>
        </p:nvGraphicFramePr>
        <p:xfrm>
          <a:off x="5105400" y="66675"/>
          <a:ext cx="838200" cy="390525"/>
        </p:xfrm>
        <a:graphic>
          <a:graphicData uri="http://schemas.openxmlformats.org/presentationml/2006/ole">
            <mc:AlternateContent xmlns:mc="http://schemas.openxmlformats.org/markup-compatibility/2006">
              <mc:Choice xmlns:v="urn:schemas-microsoft-com:vml" Requires="v">
                <p:oleObj name="Equation" r:id="rId11" imgW="380880" imgH="177480" progId="Equation.DSMT4">
                  <p:embed/>
                </p:oleObj>
              </mc:Choice>
              <mc:Fallback>
                <p:oleObj name="Equation" r:id="rId11" imgW="380880" imgH="177480" progId="Equation.DSMT4">
                  <p:embed/>
                  <p:pic>
                    <p:nvPicPr>
                      <p:cNvPr id="12" name="Object 5"/>
                      <p:cNvPicPr>
                        <a:picLocks noChangeAspect="1" noChangeArrowheads="1"/>
                      </p:cNvPicPr>
                      <p:nvPr/>
                    </p:nvPicPr>
                    <p:blipFill>
                      <a:blip r:embed="rId12"/>
                      <a:srcRect/>
                      <a:stretch>
                        <a:fillRect/>
                      </a:stretch>
                    </p:blipFill>
                    <p:spPr bwMode="auto">
                      <a:xfrm>
                        <a:off x="5105400" y="66675"/>
                        <a:ext cx="8382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7"/>
          <p:cNvGraphicFramePr>
            <a:graphicFrameLocks noChangeAspect="1"/>
          </p:cNvGraphicFramePr>
          <p:nvPr>
            <p:extLst>
              <p:ext uri="{D42A27DB-BD31-4B8C-83A1-F6EECF244321}">
                <p14:modId xmlns:p14="http://schemas.microsoft.com/office/powerpoint/2010/main" val="1582842278"/>
              </p:ext>
            </p:extLst>
          </p:nvPr>
        </p:nvGraphicFramePr>
        <p:xfrm>
          <a:off x="5105400" y="377758"/>
          <a:ext cx="3454128" cy="1381284"/>
        </p:xfrm>
        <a:graphic>
          <a:graphicData uri="http://schemas.openxmlformats.org/presentationml/2006/ole">
            <mc:AlternateContent xmlns:mc="http://schemas.openxmlformats.org/markup-compatibility/2006">
              <mc:Choice xmlns:v="urn:schemas-microsoft-com:vml" Requires="v">
                <p:oleObj name="Equation" r:id="rId13" imgW="2031840" imgH="812520" progId="Equation.DSMT4">
                  <p:embed/>
                </p:oleObj>
              </mc:Choice>
              <mc:Fallback>
                <p:oleObj name="Equation" r:id="rId13" imgW="2031840" imgH="812520" progId="Equation.DSMT4">
                  <p:embed/>
                  <p:pic>
                    <p:nvPicPr>
                      <p:cNvPr id="13" name="Object 17"/>
                      <p:cNvPicPr>
                        <a:picLocks noChangeAspect="1" noChangeArrowheads="1"/>
                      </p:cNvPicPr>
                      <p:nvPr/>
                    </p:nvPicPr>
                    <p:blipFill>
                      <a:blip r:embed="rId14"/>
                      <a:srcRect/>
                      <a:stretch>
                        <a:fillRect/>
                      </a:stretch>
                    </p:blipFill>
                    <p:spPr bwMode="auto">
                      <a:xfrm>
                        <a:off x="5105400" y="377758"/>
                        <a:ext cx="3454128" cy="1381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1778435927"/>
              </p:ext>
            </p:extLst>
          </p:nvPr>
        </p:nvGraphicFramePr>
        <p:xfrm>
          <a:off x="7924800" y="1219200"/>
          <a:ext cx="503237" cy="363538"/>
        </p:xfrm>
        <a:graphic>
          <a:graphicData uri="http://schemas.openxmlformats.org/presentationml/2006/ole">
            <mc:AlternateContent xmlns:mc="http://schemas.openxmlformats.org/markup-compatibility/2006">
              <mc:Choice xmlns:v="urn:schemas-microsoft-com:vml" Requires="v">
                <p:oleObj name="Equation" r:id="rId15" imgW="228600" imgH="164880" progId="Equation.DSMT4">
                  <p:embed/>
                </p:oleObj>
              </mc:Choice>
              <mc:Fallback>
                <p:oleObj name="Equation" r:id="rId15" imgW="228600" imgH="164880" progId="Equation.DSMT4">
                  <p:embed/>
                  <p:pic>
                    <p:nvPicPr>
                      <p:cNvPr id="14" name="Object 5"/>
                      <p:cNvPicPr>
                        <a:picLocks noChangeAspect="1" noChangeArrowheads="1"/>
                      </p:cNvPicPr>
                      <p:nvPr/>
                    </p:nvPicPr>
                    <p:blipFill>
                      <a:blip r:embed="rId16"/>
                      <a:srcRect/>
                      <a:stretch>
                        <a:fillRect/>
                      </a:stretch>
                    </p:blipFill>
                    <p:spPr bwMode="auto">
                      <a:xfrm>
                        <a:off x="7924800" y="1219200"/>
                        <a:ext cx="503237"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2486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1000"/>
                                        <p:tgtEl>
                                          <p:spTgt spid="5"/>
                                        </p:tgtEl>
                                      </p:cBhvr>
                                    </p:animEffect>
                                    <p:anim calcmode="lin" valueType="num">
                                      <p:cBhvr>
                                        <p:cTn id="39" dur="1000" fill="hold"/>
                                        <p:tgtEl>
                                          <p:spTgt spid="5"/>
                                        </p:tgtEl>
                                        <p:attrNameLst>
                                          <p:attrName>ppt_x</p:attrName>
                                        </p:attrNameLst>
                                      </p:cBhvr>
                                      <p:tavLst>
                                        <p:tav tm="0">
                                          <p:val>
                                            <p:strVal val="#ppt_x"/>
                                          </p:val>
                                        </p:tav>
                                        <p:tav tm="100000">
                                          <p:val>
                                            <p:strVal val="#ppt_x"/>
                                          </p:val>
                                        </p:tav>
                                      </p:tavLst>
                                    </p:anim>
                                    <p:anim calcmode="lin" valueType="num">
                                      <p:cBhvr>
                                        <p:cTn id="40" dur="1000" fill="hold"/>
                                        <p:tgtEl>
                                          <p:spTgt spid="5"/>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1000"/>
                                        <p:tgtEl>
                                          <p:spTgt spid="6"/>
                                        </p:tgtEl>
                                      </p:cBhvr>
                                    </p:animEffect>
                                    <p:anim calcmode="lin" valueType="num">
                                      <p:cBhvr>
                                        <p:cTn id="51" dur="1000" fill="hold"/>
                                        <p:tgtEl>
                                          <p:spTgt spid="6"/>
                                        </p:tgtEl>
                                        <p:attrNameLst>
                                          <p:attrName>ppt_x</p:attrName>
                                        </p:attrNameLst>
                                      </p:cBhvr>
                                      <p:tavLst>
                                        <p:tav tm="0">
                                          <p:val>
                                            <p:strVal val="#ppt_x"/>
                                          </p:val>
                                        </p:tav>
                                        <p:tav tm="100000">
                                          <p:val>
                                            <p:strVal val="#ppt_x"/>
                                          </p:val>
                                        </p:tav>
                                      </p:tavLst>
                                    </p:anim>
                                    <p:anim calcmode="lin" valueType="num">
                                      <p:cBhvr>
                                        <p:cTn id="52" dur="1000" fill="hold"/>
                                        <p:tgtEl>
                                          <p:spTgt spid="6"/>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1000"/>
                                        <p:tgtEl>
                                          <p:spTgt spid="9"/>
                                        </p:tgtEl>
                                      </p:cBhvr>
                                    </p:animEffect>
                                    <p:anim calcmode="lin" valueType="num">
                                      <p:cBhvr>
                                        <p:cTn id="56" dur="1000" fill="hold"/>
                                        <p:tgtEl>
                                          <p:spTgt spid="9"/>
                                        </p:tgtEl>
                                        <p:attrNameLst>
                                          <p:attrName>ppt_x</p:attrName>
                                        </p:attrNameLst>
                                      </p:cBhvr>
                                      <p:tavLst>
                                        <p:tav tm="0">
                                          <p:val>
                                            <p:strVal val="#ppt_x"/>
                                          </p:val>
                                        </p:tav>
                                        <p:tav tm="100000">
                                          <p:val>
                                            <p:strVal val="#ppt_x"/>
                                          </p:val>
                                        </p:tav>
                                      </p:tavLst>
                                    </p:anim>
                                    <p:anim calcmode="lin" valueType="num">
                                      <p:cBhvr>
                                        <p:cTn id="5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381000" y="880170"/>
            <a:ext cx="86868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窗口函数对理想特性的影响：</a:t>
            </a:r>
          </a:p>
          <a:p>
            <a:pPr>
              <a:spcBef>
                <a:spcPts val="6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   ①</a:t>
            </a:r>
            <a:r>
              <a:rPr kumimoji="1" lang="zh-CN" altLang="en-US" sz="2800" b="1" dirty="0">
                <a:solidFill>
                  <a:srgbClr val="0000CC"/>
                </a:solidFill>
                <a:latin typeface="Times New Roman" panose="02020603050405020304" pitchFamily="18" charset="0"/>
                <a:ea typeface="宋体" panose="02010600030101010101" pitchFamily="2" charset="-122"/>
              </a:rPr>
              <a:t>形成过渡带</a:t>
            </a:r>
            <a:r>
              <a:rPr kumimoji="1" lang="zh-CN" altLang="en-US" sz="2800" b="1" dirty="0">
                <a:solidFill>
                  <a:srgbClr val="000000"/>
                </a:solidFill>
                <a:latin typeface="Times New Roman" panose="02020603050405020304" pitchFamily="18" charset="0"/>
                <a:ea typeface="宋体" panose="02010600030101010101" pitchFamily="2" charset="-122"/>
              </a:rPr>
              <a:t>，过渡带宽度取决于窗函数频谱的</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a:spcBef>
                <a:spcPts val="600"/>
              </a:spcBef>
              <a:buFontTx/>
              <a:buNone/>
            </a:pP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zh-CN" altLang="en-US" sz="2800" b="1" dirty="0">
                <a:solidFill>
                  <a:srgbClr val="000000"/>
                </a:solidFill>
                <a:latin typeface="Times New Roman" panose="02020603050405020304" pitchFamily="18" charset="0"/>
                <a:ea typeface="宋体" panose="02010600030101010101" pitchFamily="2" charset="-122"/>
              </a:rPr>
              <a:t>主瓣宽度；</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a:spcBef>
                <a:spcPts val="600"/>
              </a:spcBef>
              <a:buFontTx/>
              <a:buNone/>
            </a:pPr>
            <a:r>
              <a:rPr kumimoji="1" lang="zh-CN" altLang="en-US" sz="2800" b="1" dirty="0">
                <a:solidFill>
                  <a:srgbClr val="000000"/>
                </a:solidFill>
                <a:latin typeface="Times New Roman" panose="02020603050405020304" pitchFamily="18" charset="0"/>
                <a:ea typeface="宋体" panose="02010600030101010101" pitchFamily="2" charset="-122"/>
              </a:rPr>
              <a:t>   ②</a:t>
            </a:r>
            <a:r>
              <a:rPr kumimoji="1" lang="zh-CN" altLang="en-US" sz="2800" b="1" dirty="0">
                <a:solidFill>
                  <a:srgbClr val="C00000"/>
                </a:solidFill>
                <a:latin typeface="Times New Roman" panose="02020603050405020304" pitchFamily="18" charset="0"/>
                <a:ea typeface="宋体" panose="02010600030101010101" pitchFamily="2" charset="-122"/>
              </a:rPr>
              <a:t>过渡带两旁产生肩峰和余振</a:t>
            </a:r>
            <a:r>
              <a:rPr kumimoji="1" lang="zh-CN" altLang="en-US" sz="2800" b="1" dirty="0">
                <a:solidFill>
                  <a:srgbClr val="000000"/>
                </a:solidFill>
                <a:latin typeface="Times New Roman" panose="02020603050405020304" pitchFamily="18" charset="0"/>
                <a:ea typeface="宋体" panose="02010600030101010101" pitchFamily="2" charset="-122"/>
              </a:rPr>
              <a:t>，取决于窗函数频谱</a:t>
            </a:r>
            <a:endParaRPr kumimoji="1" lang="en-US" altLang="zh-CN" sz="2800" b="1" dirty="0">
              <a:solidFill>
                <a:srgbClr val="000000"/>
              </a:solidFill>
              <a:latin typeface="Times New Roman" panose="02020603050405020304" pitchFamily="18" charset="0"/>
              <a:ea typeface="宋体" panose="02010600030101010101" pitchFamily="2" charset="-122"/>
            </a:endParaRPr>
          </a:p>
          <a:p>
            <a:pPr>
              <a:spcBef>
                <a:spcPts val="600"/>
              </a:spcBef>
              <a:buFontTx/>
              <a:buNone/>
            </a:pP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zh-CN" altLang="en-US" sz="2800" b="1" dirty="0">
                <a:solidFill>
                  <a:srgbClr val="000000"/>
                </a:solidFill>
                <a:latin typeface="Times New Roman" panose="02020603050405020304" pitchFamily="18" charset="0"/>
                <a:ea typeface="宋体" panose="02010600030101010101" pitchFamily="2" charset="-122"/>
              </a:rPr>
              <a:t>的旁瓣；</a:t>
            </a:r>
          </a:p>
        </p:txBody>
      </p:sp>
      <p:sp>
        <p:nvSpPr>
          <p:cNvPr id="6" name="矩形 5"/>
          <p:cNvSpPr/>
          <p:nvPr/>
        </p:nvSpPr>
        <p:spPr>
          <a:xfrm>
            <a:off x="609600" y="3362980"/>
            <a:ext cx="6858000" cy="523220"/>
          </a:xfrm>
          <a:prstGeom prst="rect">
            <a:avLst/>
          </a:prstGeom>
        </p:spPr>
        <p:txBody>
          <a:bodyPr wrap="square">
            <a:spAutoFit/>
          </a:bodyPr>
          <a:lstStyle/>
          <a:p>
            <a:pPr marL="342900" lvl="0" indent="-342900" eaLnBrk="1" hangingPunct="1">
              <a:spcBef>
                <a:spcPct val="20000"/>
              </a:spcBef>
            </a:pPr>
            <a:r>
              <a:rPr kumimoji="1" lang="zh-CN" altLang="en-US" sz="2800" b="1" kern="0" dirty="0">
                <a:solidFill>
                  <a:srgbClr val="000000"/>
                </a:solidFill>
                <a:latin typeface="Arial"/>
                <a:ea typeface="宋体" panose="02010600030101010101" pitchFamily="2" charset="-122"/>
              </a:rPr>
              <a:t>③增加</a:t>
            </a:r>
            <a:r>
              <a:rPr kumimoji="1" lang="en-US" altLang="zh-CN" sz="2800" b="1" i="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800" b="1" kern="0" dirty="0">
                <a:solidFill>
                  <a:srgbClr val="000000"/>
                </a:solidFill>
                <a:latin typeface="宋体" panose="02010600030101010101" pitchFamily="2" charset="-122"/>
                <a:ea typeface="宋体" panose="02010600030101010101" pitchFamily="2" charset="-122"/>
              </a:rPr>
              <a:t>,</a:t>
            </a:r>
            <a:r>
              <a:rPr kumimoji="1" lang="zh-CN" altLang="en-US" sz="2800" b="1" kern="0" dirty="0">
                <a:solidFill>
                  <a:srgbClr val="000000"/>
                </a:solidFill>
                <a:latin typeface="宋体" panose="02010600030101010101" pitchFamily="2" charset="-122"/>
                <a:ea typeface="宋体" panose="02010600030101010101" pitchFamily="2" charset="-122"/>
              </a:rPr>
              <a:t>过渡带宽减小</a:t>
            </a:r>
            <a:r>
              <a:rPr kumimoji="1" lang="en-US" altLang="zh-CN" sz="2800" b="1" kern="0" dirty="0">
                <a:solidFill>
                  <a:srgbClr val="000000"/>
                </a:solidFill>
                <a:latin typeface="宋体" panose="02010600030101010101" pitchFamily="2" charset="-122"/>
                <a:ea typeface="宋体" panose="02010600030101010101" pitchFamily="2" charset="-122"/>
              </a:rPr>
              <a:t>,</a:t>
            </a:r>
            <a:r>
              <a:rPr kumimoji="1" lang="zh-CN" altLang="en-US" sz="2800" b="1" kern="0" dirty="0">
                <a:solidFill>
                  <a:srgbClr val="000000"/>
                </a:solidFill>
                <a:latin typeface="宋体" panose="02010600030101010101" pitchFamily="2" charset="-122"/>
                <a:ea typeface="宋体" panose="02010600030101010101" pitchFamily="2" charset="-122"/>
              </a:rPr>
              <a:t>肩峰值不变。</a:t>
            </a:r>
          </a:p>
        </p:txBody>
      </p:sp>
      <p:sp>
        <p:nvSpPr>
          <p:cNvPr id="8" name="矩形 7"/>
          <p:cNvSpPr/>
          <p:nvPr/>
        </p:nvSpPr>
        <p:spPr>
          <a:xfrm>
            <a:off x="929640" y="3886200"/>
            <a:ext cx="7985760" cy="1384995"/>
          </a:xfrm>
          <a:prstGeom prst="rect">
            <a:avLst/>
          </a:prstGeom>
        </p:spPr>
        <p:txBody>
          <a:bodyPr wrap="square">
            <a:spAutoFit/>
          </a:bodyPr>
          <a:lstStyle/>
          <a:p>
            <a:pPr>
              <a:spcBef>
                <a:spcPct val="50000"/>
              </a:spcBef>
            </a:pPr>
            <a:r>
              <a:rPr kumimoji="1" lang="en-US" altLang="zh-CN" sz="2800" b="1" i="1" dirty="0">
                <a:solidFill>
                  <a:srgbClr val="000000"/>
                </a:solidFill>
                <a:latin typeface="Times New Roman" panose="02020603050405020304" pitchFamily="18" charset="0"/>
              </a:rPr>
              <a:t>N</a:t>
            </a:r>
            <a:r>
              <a:rPr kumimoji="1" lang="zh-CN" altLang="en-US" sz="2800" b="1" dirty="0">
                <a:solidFill>
                  <a:srgbClr val="000000"/>
                </a:solidFill>
                <a:latin typeface="Times New Roman" panose="02020603050405020304" pitchFamily="18" charset="0"/>
              </a:rPr>
              <a:t>的改变不能改变主瓣与旁瓣的比例关系，例如，</a:t>
            </a:r>
            <a:r>
              <a:rPr kumimoji="1" lang="zh-CN" altLang="en-US" sz="2800" b="1" dirty="0">
                <a:solidFill>
                  <a:srgbClr val="FF0000"/>
                </a:solidFill>
                <a:latin typeface="Times New Roman" panose="02020603050405020304" pitchFamily="18" charset="0"/>
              </a:rPr>
              <a:t>在矩形窗情况下，</a:t>
            </a:r>
            <a:r>
              <a:rPr kumimoji="1" lang="en-US" altLang="zh-CN" sz="2800" b="1" i="1" dirty="0">
                <a:solidFill>
                  <a:srgbClr val="FF0000"/>
                </a:solidFill>
                <a:latin typeface="Times New Roman" panose="02020603050405020304" pitchFamily="18" charset="0"/>
              </a:rPr>
              <a:t>N</a:t>
            </a:r>
            <a:r>
              <a:rPr kumimoji="1" lang="zh-CN" altLang="en-US" sz="2800" b="1" dirty="0">
                <a:solidFill>
                  <a:srgbClr val="FF0000"/>
                </a:solidFill>
                <a:latin typeface="Times New Roman" panose="02020603050405020304" pitchFamily="18" charset="0"/>
              </a:rPr>
              <a:t>增加时，最大肩峰值总是</a:t>
            </a:r>
            <a:r>
              <a:rPr kumimoji="1" lang="en-US" altLang="zh-CN" sz="2800" b="1" dirty="0">
                <a:solidFill>
                  <a:srgbClr val="FF0000"/>
                </a:solidFill>
                <a:latin typeface="Times New Roman" panose="02020603050405020304" pitchFamily="18" charset="0"/>
              </a:rPr>
              <a:t>8.95%</a:t>
            </a:r>
            <a:r>
              <a:rPr kumimoji="1" lang="zh-CN" altLang="en-US" sz="2800" b="1" dirty="0">
                <a:solidFill>
                  <a:srgbClr val="FF0000"/>
                </a:solidFill>
                <a:latin typeface="Times New Roman" panose="02020603050405020304" pitchFamily="18" charset="0"/>
              </a:rPr>
              <a:t>，这种现象称为吉布斯（</a:t>
            </a:r>
            <a:r>
              <a:rPr kumimoji="1" lang="en-US" altLang="zh-CN" sz="2800" b="1" dirty="0">
                <a:solidFill>
                  <a:srgbClr val="FF0000"/>
                </a:solidFill>
                <a:latin typeface="Times New Roman" panose="02020603050405020304" pitchFamily="18" charset="0"/>
              </a:rPr>
              <a:t>Gibbs</a:t>
            </a:r>
            <a:r>
              <a:rPr kumimoji="1" lang="zh-CN" altLang="en-US" sz="2800" b="1" dirty="0">
                <a:solidFill>
                  <a:srgbClr val="FF0000"/>
                </a:solidFill>
                <a:latin typeface="Times New Roman" panose="02020603050405020304" pitchFamily="18" charset="0"/>
              </a:rPr>
              <a:t>）效应。</a:t>
            </a:r>
            <a:r>
              <a:rPr kumimoji="1" lang="en-US" altLang="zh-CN" sz="2800" dirty="0">
                <a:solidFill>
                  <a:srgbClr val="FF0066"/>
                </a:solidFill>
              </a:rPr>
              <a:t>★</a:t>
            </a:r>
          </a:p>
        </p:txBody>
      </p:sp>
      <p:pic>
        <p:nvPicPr>
          <p:cNvPr id="9" name="Picture 5" descr="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9293" b="1764"/>
          <a:stretch/>
        </p:blipFill>
        <p:spPr bwMode="auto">
          <a:xfrm>
            <a:off x="4375090" y="5410200"/>
            <a:ext cx="4540310" cy="138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26232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extLst>
              <p:ext uri="{D42A27DB-BD31-4B8C-83A1-F6EECF244321}">
                <p14:modId xmlns:p14="http://schemas.microsoft.com/office/powerpoint/2010/main" val="1578860689"/>
              </p:ext>
            </p:extLst>
          </p:nvPr>
        </p:nvGraphicFramePr>
        <p:xfrm>
          <a:off x="788987" y="5746754"/>
          <a:ext cx="3679825" cy="479425"/>
        </p:xfrm>
        <a:graphic>
          <a:graphicData uri="http://schemas.openxmlformats.org/presentationml/2006/ole">
            <mc:AlternateContent xmlns:mc="http://schemas.openxmlformats.org/markup-compatibility/2006">
              <mc:Choice xmlns:v="urn:schemas-microsoft-com:vml" Requires="v">
                <p:oleObj name="Equation" r:id="rId2" imgW="1752480" imgH="228600" progId="Equation.DSMT4">
                  <p:embed/>
                </p:oleObj>
              </mc:Choice>
              <mc:Fallback>
                <p:oleObj name="Equation" r:id="rId2" imgW="1752480" imgH="228600" progId="Equation.DSMT4">
                  <p:embed/>
                  <p:pic>
                    <p:nvPicPr>
                      <p:cNvPr id="6" name="Object 5"/>
                      <p:cNvPicPr>
                        <a:picLocks noChangeAspect="1" noChangeArrowheads="1"/>
                      </p:cNvPicPr>
                      <p:nvPr/>
                    </p:nvPicPr>
                    <p:blipFill>
                      <a:blip r:embed="rId3"/>
                      <a:srcRect/>
                      <a:stretch>
                        <a:fillRect/>
                      </a:stretch>
                    </p:blipFill>
                    <p:spPr bwMode="auto">
                      <a:xfrm>
                        <a:off x="788987" y="5746754"/>
                        <a:ext cx="36798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73"/>
          <p:cNvSpPr txBox="1">
            <a:spLocks noChangeArrowheads="1"/>
          </p:cNvSpPr>
          <p:nvPr/>
        </p:nvSpPr>
        <p:spPr bwMode="auto">
          <a:xfrm>
            <a:off x="228600" y="1172485"/>
            <a:ext cx="4800600" cy="165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25000"/>
              </a:lnSpc>
              <a:spcBef>
                <a:spcPts val="0"/>
              </a:spcBef>
              <a:buFontTx/>
              <a:buNone/>
            </a:pPr>
            <a:r>
              <a:rPr kumimoji="1" lang="zh-CN" altLang="en-US" sz="2800" b="1" dirty="0">
                <a:latin typeface="Symbol" panose="05050102010706020507" pitchFamily="18" charset="2"/>
                <a:ea typeface="宋体" panose="02010600030101010101" pitchFamily="2" charset="-122"/>
                <a:sym typeface="Symbol" panose="05050102010706020507" pitchFamily="18" charset="2"/>
              </a:rPr>
              <a:t>低通滤波器 </a:t>
            </a:r>
            <a:r>
              <a:rPr kumimoji="1" lang="zh-CN" altLang="en-US" sz="2800" b="1" i="1" dirty="0">
                <a:latin typeface="Symbol" panose="05050102010706020507" pitchFamily="18" charset="2"/>
                <a:ea typeface="宋体" panose="02010600030101010101" pitchFamily="2" charset="-122"/>
                <a:sym typeface="Symbol" panose="05050102010706020507" pitchFamily="18" charset="2"/>
              </a:rPr>
              <a:t></a:t>
            </a:r>
            <a:r>
              <a:rPr kumimoji="1" lang="en-US" altLang="zh-CN" sz="2800" b="1" baseline="-25000" dirty="0">
                <a:latin typeface="Times New Roman" panose="02020603050405020304" pitchFamily="18" charset="0"/>
                <a:ea typeface="宋体" panose="02010600030101010101" pitchFamily="2" charset="-122"/>
              </a:rPr>
              <a:t>c</a:t>
            </a:r>
            <a:r>
              <a:rPr kumimoji="1" lang="en-US" altLang="zh-CN" sz="2800" b="1" dirty="0">
                <a:latin typeface="Times New Roman" panose="02020603050405020304" pitchFamily="18" charset="0"/>
                <a:ea typeface="宋体" panose="02010600030101010101" pitchFamily="2" charset="-122"/>
              </a:rPr>
              <a:t>=</a:t>
            </a:r>
            <a:r>
              <a:rPr kumimoji="1" lang="en-US" altLang="zh-CN" sz="2800" b="1" i="1" dirty="0">
                <a:latin typeface="Symbol" panose="05050102010706020507" pitchFamily="18" charset="2"/>
                <a:ea typeface="宋体" panose="02010600030101010101" pitchFamily="2" charset="-122"/>
              </a:rPr>
              <a:t>p</a:t>
            </a:r>
            <a:r>
              <a:rPr kumimoji="1" lang="zh-CN" altLang="en-US" sz="2800" b="1" i="1" dirty="0">
                <a:latin typeface="Symbol" panose="05050102010706020507" pitchFamily="18" charset="2"/>
                <a:ea typeface="宋体" panose="02010600030101010101" pitchFamily="2" charset="-122"/>
              </a:rPr>
              <a:t> </a:t>
            </a:r>
            <a:r>
              <a:rPr kumimoji="1" lang="en-US" altLang="zh-CN" sz="2800" b="1" dirty="0">
                <a:latin typeface="Times New Roman" panose="02020603050405020304" pitchFamily="18" charset="0"/>
                <a:ea typeface="宋体" panose="02010600030101010101" pitchFamily="2" charset="-122"/>
              </a:rPr>
              <a:t>/2</a:t>
            </a:r>
            <a:r>
              <a:rPr kumimoji="1" lang="zh-CN" altLang="en-US" sz="2800" b="1" dirty="0">
                <a:latin typeface="Times New Roman" panose="02020603050405020304" pitchFamily="18" charset="0"/>
                <a:ea typeface="宋体" panose="02010600030101010101" pitchFamily="2" charset="-122"/>
              </a:rPr>
              <a:t>，分别用</a:t>
            </a:r>
            <a:r>
              <a:rPr kumimoji="1" lang="en-US" altLang="zh-CN" sz="2800" b="1" i="1" dirty="0">
                <a:latin typeface="Times New Roman" panose="02020603050405020304" pitchFamily="18" charset="0"/>
                <a:ea typeface="宋体" panose="02010600030101010101" pitchFamily="2" charset="-122"/>
              </a:rPr>
              <a:t>N</a:t>
            </a:r>
            <a:r>
              <a:rPr kumimoji="1" lang="en-US" altLang="zh-CN" sz="2800" b="1" dirty="0">
                <a:latin typeface="Times New Roman" panose="02020603050405020304" pitchFamily="18" charset="0"/>
                <a:ea typeface="宋体" panose="02010600030101010101" pitchFamily="2" charset="-122"/>
              </a:rPr>
              <a:t>=51</a:t>
            </a:r>
            <a:r>
              <a:rPr kumimoji="1" lang="zh-CN" altLang="en-US" sz="2800" b="1" dirty="0">
                <a:latin typeface="Times New Roman" panose="02020603050405020304" pitchFamily="18" charset="0"/>
                <a:ea typeface="宋体" panose="02010600030101010101" pitchFamily="2" charset="-122"/>
              </a:rPr>
              <a:t>和</a:t>
            </a:r>
            <a:r>
              <a:rPr kumimoji="1" lang="en-US" altLang="zh-CN" sz="2800" b="1" i="1" dirty="0">
                <a:latin typeface="Times New Roman" panose="02020603050405020304" pitchFamily="18" charset="0"/>
                <a:ea typeface="宋体" panose="02010600030101010101" pitchFamily="2" charset="-122"/>
              </a:rPr>
              <a:t>N</a:t>
            </a:r>
            <a:r>
              <a:rPr kumimoji="1" lang="en-US" altLang="zh-CN" sz="2800" b="1" dirty="0">
                <a:latin typeface="Times New Roman" panose="02020603050405020304" pitchFamily="18" charset="0"/>
                <a:ea typeface="宋体" panose="02010600030101010101" pitchFamily="2" charset="-122"/>
              </a:rPr>
              <a:t>=17</a:t>
            </a:r>
            <a:r>
              <a:rPr kumimoji="1" lang="zh-CN" altLang="en-US" sz="2800" b="1" dirty="0">
                <a:latin typeface="Times New Roman" panose="02020603050405020304" pitchFamily="18" charset="0"/>
                <a:ea typeface="宋体" panose="02010600030101010101" pitchFamily="2" charset="-122"/>
              </a:rPr>
              <a:t>的矩形窗所设计的</a:t>
            </a:r>
            <a:r>
              <a:rPr kumimoji="1" lang="en-US" altLang="zh-CN" sz="2800" b="1" dirty="0">
                <a:latin typeface="Times New Roman" panose="02020603050405020304" pitchFamily="18" charset="0"/>
                <a:ea typeface="宋体" panose="02010600030101010101" pitchFamily="2" charset="-122"/>
              </a:rPr>
              <a:t>FIR</a:t>
            </a:r>
            <a:r>
              <a:rPr kumimoji="1" lang="zh-CN" altLang="zh-CN" sz="2800" b="1" dirty="0">
                <a:latin typeface="Times New Roman" panose="02020603050405020304" pitchFamily="18" charset="0"/>
                <a:ea typeface="宋体" panose="02010600030101010101" pitchFamily="2" charset="-122"/>
              </a:rPr>
              <a:t>滤波器</a:t>
            </a:r>
            <a:endParaRPr kumimoji="1" lang="zh-CN" altLang="en-US" sz="2800" b="1" dirty="0">
              <a:latin typeface="Times New Roman" panose="02020603050405020304" pitchFamily="18" charset="0"/>
              <a:ea typeface="宋体" panose="02010600030101010101" pitchFamily="2" charset="-122"/>
            </a:endParaRPr>
          </a:p>
        </p:txBody>
      </p:sp>
      <p:pic>
        <p:nvPicPr>
          <p:cNvPr id="10" name="图片 9"/>
          <p:cNvPicPr>
            <a:picLocks noChangeAspect="1"/>
          </p:cNvPicPr>
          <p:nvPr/>
        </p:nvPicPr>
        <p:blipFill>
          <a:blip r:embed="rId4"/>
          <a:stretch>
            <a:fillRect/>
          </a:stretch>
        </p:blipFill>
        <p:spPr>
          <a:xfrm>
            <a:off x="4800600" y="685800"/>
            <a:ext cx="4267200" cy="3200400"/>
          </a:xfrm>
          <a:prstGeom prst="rect">
            <a:avLst/>
          </a:prstGeom>
        </p:spPr>
      </p:pic>
      <p:pic>
        <p:nvPicPr>
          <p:cNvPr id="11" name="图片 10"/>
          <p:cNvPicPr>
            <a:picLocks noChangeAspect="1"/>
          </p:cNvPicPr>
          <p:nvPr/>
        </p:nvPicPr>
        <p:blipFill>
          <a:blip r:embed="rId5"/>
          <a:stretch>
            <a:fillRect/>
          </a:stretch>
        </p:blipFill>
        <p:spPr>
          <a:xfrm>
            <a:off x="4800600" y="3657600"/>
            <a:ext cx="4267200" cy="3200400"/>
          </a:xfrm>
          <a:prstGeom prst="rect">
            <a:avLst/>
          </a:prstGeom>
        </p:spPr>
      </p:pic>
      <p:sp>
        <p:nvSpPr>
          <p:cNvPr id="12" name="Rectangle 5"/>
          <p:cNvSpPr>
            <a:spLocks noChangeArrowheads="1"/>
          </p:cNvSpPr>
          <p:nvPr/>
        </p:nvSpPr>
        <p:spPr bwMode="auto">
          <a:xfrm>
            <a:off x="228600" y="3886200"/>
            <a:ext cx="4746200"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ts val="0"/>
              </a:spcBef>
            </a:pPr>
            <a:r>
              <a:rPr lang="en-US" altLang="zh-CN" sz="2800" b="1" i="1" dirty="0">
                <a:solidFill>
                  <a:srgbClr val="000000"/>
                </a:solidFill>
              </a:rPr>
              <a:t>N</a:t>
            </a:r>
            <a:r>
              <a:rPr lang="zh-CN" altLang="en-US" sz="2800" b="1" dirty="0">
                <a:solidFill>
                  <a:srgbClr val="000000"/>
                </a:solidFill>
              </a:rPr>
              <a:t>增加，可以减少过渡带宽，</a:t>
            </a:r>
            <a:endParaRPr lang="en-US" altLang="zh-CN" sz="2800" b="1" dirty="0">
              <a:solidFill>
                <a:srgbClr val="000000"/>
              </a:solidFill>
            </a:endParaRPr>
          </a:p>
          <a:p>
            <a:pPr algn="just">
              <a:lnSpc>
                <a:spcPct val="125000"/>
              </a:lnSpc>
              <a:spcBef>
                <a:spcPts val="0"/>
              </a:spcBef>
            </a:pPr>
            <a:r>
              <a:rPr lang="zh-CN" altLang="en-US" sz="2800" b="1" dirty="0">
                <a:solidFill>
                  <a:srgbClr val="000000"/>
                </a:solidFill>
              </a:rPr>
              <a:t>但通带波动和阻带最小衰减</a:t>
            </a:r>
            <a:endParaRPr lang="en-US" altLang="zh-CN" sz="2800" b="1" dirty="0">
              <a:solidFill>
                <a:srgbClr val="000000"/>
              </a:solidFill>
            </a:endParaRPr>
          </a:p>
          <a:p>
            <a:pPr algn="just">
              <a:lnSpc>
                <a:spcPct val="125000"/>
              </a:lnSpc>
              <a:spcBef>
                <a:spcPts val="0"/>
              </a:spcBef>
            </a:pPr>
            <a:r>
              <a:rPr lang="zh-CN" altLang="en-US" sz="2800" b="1" dirty="0">
                <a:solidFill>
                  <a:srgbClr val="000000"/>
                </a:solidFill>
              </a:rPr>
              <a:t>均未得到改善。</a:t>
            </a:r>
          </a:p>
        </p:txBody>
      </p:sp>
      <p:sp>
        <p:nvSpPr>
          <p:cNvPr id="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172598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914400" y="990600"/>
            <a:ext cx="70375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zh-CN" altLang="en-US" sz="2800" b="1" dirty="0">
                <a:latin typeface="Times New Roman" panose="02020603050405020304" pitchFamily="18" charset="0"/>
                <a:ea typeface="宋体" panose="02010600030101010101" pitchFamily="2" charset="-122"/>
              </a:rPr>
              <a:t>改变窗函数的形状，可改善滤波器的特性。</a:t>
            </a:r>
          </a:p>
        </p:txBody>
      </p:sp>
      <p:sp>
        <p:nvSpPr>
          <p:cNvPr id="4" name="Rectangle 3"/>
          <p:cNvSpPr>
            <a:spLocks noChangeArrowheads="1"/>
          </p:cNvSpPr>
          <p:nvPr/>
        </p:nvSpPr>
        <p:spPr bwMode="auto">
          <a:xfrm>
            <a:off x="914400" y="1691045"/>
            <a:ext cx="52341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800" b="1" dirty="0">
                <a:solidFill>
                  <a:srgbClr val="000000"/>
                </a:solidFill>
                <a:latin typeface="Times New Roman" panose="02020603050405020304" pitchFamily="18" charset="0"/>
              </a:rPr>
              <a:t>一般希望窗函数满足两项要求：</a:t>
            </a:r>
          </a:p>
        </p:txBody>
      </p:sp>
      <p:sp>
        <p:nvSpPr>
          <p:cNvPr id="5" name="Rectangle 4"/>
          <p:cNvSpPr>
            <a:spLocks noChangeArrowheads="1"/>
          </p:cNvSpPr>
          <p:nvPr/>
        </p:nvSpPr>
        <p:spPr bwMode="auto">
          <a:xfrm>
            <a:off x="838200" y="2057400"/>
            <a:ext cx="7924800" cy="207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endParaRPr kumimoji="1" lang="en-US" altLang="zh-CN" sz="2400" dirty="0">
              <a:latin typeface="Times New Roman" panose="02020603050405020304" pitchFamily="18" charset="0"/>
            </a:endParaRPr>
          </a:p>
          <a:p>
            <a:pPr>
              <a:lnSpc>
                <a:spcPct val="125000"/>
              </a:lnSpc>
              <a:spcBef>
                <a:spcPts val="0"/>
              </a:spcBef>
            </a:pPr>
            <a:r>
              <a:rPr kumimoji="1" lang="en-US" altLang="zh-CN" sz="2800" b="1" dirty="0">
                <a:solidFill>
                  <a:srgbClr val="000000"/>
                </a:solidFill>
                <a:latin typeface="Times New Roman" panose="02020603050405020304" pitchFamily="18" charset="0"/>
              </a:rPr>
              <a:t>①</a:t>
            </a:r>
            <a:r>
              <a:rPr kumimoji="1" lang="zh-CN" altLang="en-US" sz="2800" b="1" dirty="0">
                <a:solidFill>
                  <a:srgbClr val="000000"/>
                </a:solidFill>
                <a:latin typeface="Times New Roman" panose="02020603050405020304" pitchFamily="18" charset="0"/>
              </a:rPr>
              <a:t>窗谱</a:t>
            </a:r>
            <a:r>
              <a:rPr kumimoji="1" lang="zh-CN" altLang="en-US" sz="2800" b="1" dirty="0">
                <a:solidFill>
                  <a:schemeClr val="tx2">
                    <a:lumMod val="60000"/>
                    <a:lumOff val="40000"/>
                  </a:schemeClr>
                </a:solidFill>
                <a:latin typeface="Times New Roman" panose="02020603050405020304" pitchFamily="18" charset="0"/>
              </a:rPr>
              <a:t>主瓣宽度要小</a:t>
            </a:r>
            <a:r>
              <a:rPr kumimoji="1" lang="zh-CN" altLang="en-US" sz="2800" b="1" dirty="0">
                <a:solidFill>
                  <a:srgbClr val="000000"/>
                </a:solidFill>
                <a:latin typeface="Times New Roman" panose="02020603050405020304" pitchFamily="18" charset="0"/>
              </a:rPr>
              <a:t>，以获得</a:t>
            </a:r>
            <a:r>
              <a:rPr kumimoji="1" lang="zh-CN" altLang="en-US" sz="2800" b="1" dirty="0">
                <a:solidFill>
                  <a:schemeClr val="tx2">
                    <a:lumMod val="60000"/>
                    <a:lumOff val="40000"/>
                  </a:schemeClr>
                </a:solidFill>
                <a:latin typeface="Times New Roman" panose="02020603050405020304" pitchFamily="18" charset="0"/>
              </a:rPr>
              <a:t>较陡的过渡带</a:t>
            </a:r>
            <a:r>
              <a:rPr kumimoji="1" lang="zh-CN" altLang="en-US" sz="2800" b="1" dirty="0">
                <a:solidFill>
                  <a:srgbClr val="000000"/>
                </a:solidFill>
                <a:latin typeface="Times New Roman" panose="02020603050405020304" pitchFamily="18" charset="0"/>
              </a:rPr>
              <a:t>；</a:t>
            </a:r>
          </a:p>
          <a:p>
            <a:pPr>
              <a:lnSpc>
                <a:spcPct val="125000"/>
              </a:lnSpc>
              <a:spcBef>
                <a:spcPts val="0"/>
              </a:spcBef>
            </a:pPr>
            <a:r>
              <a:rPr kumimoji="1" lang="zh-CN" altLang="en-US" sz="2800" b="1" dirty="0">
                <a:solidFill>
                  <a:srgbClr val="000000"/>
                </a:solidFill>
                <a:latin typeface="Times New Roman" panose="02020603050405020304" pitchFamily="18" charset="0"/>
              </a:rPr>
              <a:t>②与主瓣的幅度相比，</a:t>
            </a:r>
            <a:r>
              <a:rPr kumimoji="1" lang="zh-CN" altLang="en-US" sz="2800" b="1" dirty="0">
                <a:solidFill>
                  <a:srgbClr val="FF0000"/>
                </a:solidFill>
                <a:latin typeface="Times New Roman" panose="02020603050405020304" pitchFamily="18" charset="0"/>
              </a:rPr>
              <a:t>旁瓣应尽可能小</a:t>
            </a:r>
            <a:r>
              <a:rPr kumimoji="1" lang="zh-CN" altLang="en-US" sz="2800" b="1" dirty="0">
                <a:solidFill>
                  <a:srgbClr val="000000"/>
                </a:solidFill>
                <a:latin typeface="Times New Roman" panose="02020603050405020304" pitchFamily="18" charset="0"/>
              </a:rPr>
              <a:t>，</a:t>
            </a:r>
            <a:r>
              <a:rPr kumimoji="1" lang="zh-CN" altLang="en-US" sz="2800" b="1" dirty="0">
                <a:solidFill>
                  <a:srgbClr val="FF0000"/>
                </a:solidFill>
                <a:latin typeface="Times New Roman" panose="02020603050405020304" pitchFamily="18" charset="0"/>
              </a:rPr>
              <a:t>以减小</a:t>
            </a:r>
            <a:endParaRPr kumimoji="1" lang="en-US" altLang="zh-CN" sz="2800" b="1" dirty="0">
              <a:solidFill>
                <a:srgbClr val="FF0000"/>
              </a:solidFill>
              <a:latin typeface="Times New Roman" panose="02020603050405020304" pitchFamily="18" charset="0"/>
            </a:endParaRPr>
          </a:p>
          <a:p>
            <a:pPr>
              <a:lnSpc>
                <a:spcPct val="125000"/>
              </a:lnSpc>
              <a:spcBef>
                <a:spcPts val="0"/>
              </a:spcBef>
            </a:pPr>
            <a:r>
              <a:rPr kumimoji="1" lang="en-US" altLang="zh-CN" sz="2800" b="1" dirty="0">
                <a:solidFill>
                  <a:srgbClr val="FF0000"/>
                </a:solidFill>
                <a:latin typeface="Times New Roman" panose="02020603050405020304" pitchFamily="18" charset="0"/>
              </a:rPr>
              <a:t>    </a:t>
            </a:r>
            <a:r>
              <a:rPr kumimoji="1" lang="zh-CN" altLang="en-US" sz="2800" b="1" dirty="0">
                <a:solidFill>
                  <a:srgbClr val="FF0000"/>
                </a:solidFill>
                <a:latin typeface="Times New Roman" panose="02020603050405020304" pitchFamily="18" charset="0"/>
              </a:rPr>
              <a:t>带内、带外波动的最大振幅</a:t>
            </a:r>
            <a:r>
              <a:rPr kumimoji="1" lang="zh-CN" altLang="en-US" sz="2800" b="1" dirty="0">
                <a:solidFill>
                  <a:srgbClr val="000000"/>
                </a:solidFill>
                <a:latin typeface="Times New Roman" panose="02020603050405020304" pitchFamily="18" charset="0"/>
              </a:rPr>
              <a:t>。</a:t>
            </a:r>
          </a:p>
        </p:txBody>
      </p:sp>
      <p:sp>
        <p:nvSpPr>
          <p:cNvPr id="7" name="矩形 6"/>
          <p:cNvSpPr/>
          <p:nvPr/>
        </p:nvSpPr>
        <p:spPr>
          <a:xfrm>
            <a:off x="914400" y="4343400"/>
            <a:ext cx="7543800" cy="1708160"/>
          </a:xfrm>
          <a:prstGeom prst="rect">
            <a:avLst/>
          </a:prstGeom>
        </p:spPr>
        <p:txBody>
          <a:bodyPr wrap="square">
            <a:spAutoFit/>
          </a:bodyPr>
          <a:lstStyle/>
          <a:p>
            <a:pPr lvl="0" eaLnBrk="1" hangingPunct="1">
              <a:lnSpc>
                <a:spcPct val="125000"/>
              </a:lnSpc>
              <a:spcBef>
                <a:spcPts val="0"/>
              </a:spcBef>
            </a:pPr>
            <a:r>
              <a:rPr kumimoji="1" lang="zh-CN" altLang="en-US" sz="2800" b="1" dirty="0">
                <a:solidFill>
                  <a:srgbClr val="000000"/>
                </a:solidFill>
                <a:latin typeface="Times New Roman" panose="02020603050405020304" pitchFamily="18" charset="0"/>
              </a:rPr>
              <a:t>但实际上这</a:t>
            </a:r>
            <a:r>
              <a:rPr kumimoji="1" lang="zh-CN" altLang="en-US" sz="2800" b="1" dirty="0">
                <a:solidFill>
                  <a:srgbClr val="FF33CC"/>
                </a:solidFill>
                <a:latin typeface="Times New Roman" panose="02020603050405020304" pitchFamily="18" charset="0"/>
              </a:rPr>
              <a:t>两点不能兼得</a:t>
            </a:r>
            <a:r>
              <a:rPr kumimoji="1" lang="zh-CN" altLang="en-US" sz="2800" b="1" dirty="0">
                <a:solidFill>
                  <a:srgbClr val="000000"/>
                </a:solidFill>
                <a:latin typeface="Times New Roman" panose="02020603050405020304" pitchFamily="18" charset="0"/>
              </a:rPr>
              <a:t>，实际采用的窗函数其特性往往是两者的折中，通过</a:t>
            </a:r>
            <a:r>
              <a:rPr kumimoji="1" lang="zh-CN" altLang="en-US" sz="2800" b="1" dirty="0">
                <a:latin typeface="Times New Roman" panose="02020603050405020304" pitchFamily="18" charset="0"/>
              </a:rPr>
              <a:t>增加主瓣宽度</a:t>
            </a:r>
            <a:r>
              <a:rPr kumimoji="1" lang="zh-CN" altLang="en-US" sz="2800" b="1" dirty="0">
                <a:solidFill>
                  <a:srgbClr val="000000"/>
                </a:solidFill>
                <a:latin typeface="Times New Roman" panose="02020603050405020304" pitchFamily="18" charset="0"/>
              </a:rPr>
              <a:t>来换取旁瓣波动的减小。</a:t>
            </a:r>
          </a:p>
        </p:txBody>
      </p:sp>
      <p:sp>
        <p:nvSpPr>
          <p:cNvPr id="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639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5.2.1 </a:t>
            </a:r>
            <a:r>
              <a:rPr lang="zh-CN" altLang="en-US" b="1" dirty="0">
                <a:solidFill>
                  <a:srgbClr val="993300"/>
                </a:solidFill>
                <a:latin typeface="+mj-lt"/>
                <a:ea typeface="楷体_GB2312" pitchFamily="49" charset="-122"/>
              </a:rPr>
              <a:t>窗函数对幅频特性的影响</a:t>
            </a:r>
          </a:p>
        </p:txBody>
      </p:sp>
    </p:spTree>
    <p:extLst>
      <p:ext uri="{BB962C8B-B14F-4D97-AF65-F5344CB8AC3E}">
        <p14:creationId xmlns:p14="http://schemas.microsoft.com/office/powerpoint/2010/main" val="250493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1000"/>
                                        <p:tgtEl>
                                          <p:spTgt spid="5">
                                            <p:txEl>
                                              <p:pRg st="3" end="3"/>
                                            </p:txEl>
                                          </p:spTgt>
                                        </p:tgtEl>
                                      </p:cBhvr>
                                    </p:animEffect>
                                    <p:anim calcmode="lin" valueType="num">
                                      <p:cBhvr>
                                        <p:cTn id="2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
        <p:nvSpPr>
          <p:cNvPr id="3" name="Rectangle 2"/>
          <p:cNvSpPr>
            <a:spLocks noChangeArrowheads="1"/>
          </p:cNvSpPr>
          <p:nvPr/>
        </p:nvSpPr>
        <p:spPr bwMode="auto">
          <a:xfrm>
            <a:off x="715963" y="1219200"/>
            <a:ext cx="4465637" cy="4985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200000"/>
              </a:lnSpc>
              <a:spcBef>
                <a:spcPts val="0"/>
              </a:spcBef>
              <a:buFontTx/>
              <a:buNone/>
            </a:pP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矩形窗</a:t>
            </a:r>
          </a:p>
          <a:p>
            <a:pPr>
              <a:lnSpc>
                <a:spcPct val="200000"/>
              </a:lnSpc>
              <a:spcBef>
                <a:spcPts val="0"/>
              </a:spcBef>
              <a:buFontTx/>
              <a:buNone/>
            </a:pP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汉宁</a:t>
            </a: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dirty="0" err="1">
                <a:latin typeface="Times New Roman" panose="02020603050405020304" pitchFamily="18" charset="0"/>
                <a:ea typeface="宋体" panose="02010600030101010101" pitchFamily="2" charset="-122"/>
                <a:cs typeface="Times New Roman" panose="02020603050405020304" pitchFamily="18" charset="0"/>
              </a:rPr>
              <a:t>Hanning</a:t>
            </a: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窗</a:t>
            </a:r>
          </a:p>
          <a:p>
            <a:pPr>
              <a:lnSpc>
                <a:spcPct val="200000"/>
              </a:lnSpc>
              <a:spcBef>
                <a:spcPts val="0"/>
              </a:spcBef>
              <a:buFontTx/>
              <a:buNone/>
            </a:pP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(3)</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汉明</a:t>
            </a: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(Hamming)</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窗</a:t>
            </a:r>
          </a:p>
          <a:p>
            <a:pPr>
              <a:lnSpc>
                <a:spcPct val="200000"/>
              </a:lnSpc>
              <a:spcBef>
                <a:spcPts val="0"/>
              </a:spcBef>
              <a:buFontTx/>
              <a:buNone/>
            </a:pP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(4)</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布莱克曼</a:t>
            </a: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(Blackman)</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窗</a:t>
            </a:r>
          </a:p>
          <a:p>
            <a:pPr>
              <a:spcBef>
                <a:spcPts val="0"/>
              </a:spcBef>
              <a:buFontTx/>
              <a:buNone/>
            </a:pPr>
            <a:endPar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200000"/>
              </a:lnSpc>
              <a:spcBef>
                <a:spcPts val="1200"/>
              </a:spcBef>
              <a:buFontTx/>
              <a:buNone/>
            </a:pP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凯塞</a:t>
            </a:r>
            <a:r>
              <a:rPr kumimoji="1" lang="en-US" altLang="zh-CN" sz="2800" b="1" dirty="0">
                <a:latin typeface="Times New Roman" panose="02020603050405020304" pitchFamily="18" charset="0"/>
                <a:ea typeface="宋体" panose="02010600030101010101" pitchFamily="2" charset="-122"/>
                <a:cs typeface="Times New Roman" panose="02020603050405020304" pitchFamily="18" charset="0"/>
              </a:rPr>
              <a:t>(Kaiser)</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窗</a:t>
            </a:r>
          </a:p>
        </p:txBody>
      </p:sp>
      <p:sp>
        <p:nvSpPr>
          <p:cNvPr id="5" name="矩形 4"/>
          <p:cNvSpPr/>
          <p:nvPr/>
        </p:nvSpPr>
        <p:spPr>
          <a:xfrm>
            <a:off x="836453" y="838200"/>
            <a:ext cx="3430747" cy="523220"/>
          </a:xfrm>
          <a:prstGeom prst="rect">
            <a:avLst/>
          </a:prstGeom>
        </p:spPr>
        <p:txBody>
          <a:bodyPr wrap="none">
            <a:spAutoFit/>
          </a:bodyPr>
          <a:lstStyle/>
          <a:p>
            <a:pPr lvl="0"/>
            <a:r>
              <a:rPr lang="zh-CN" altLang="en-US" sz="2800" b="1" dirty="0">
                <a:latin typeface="宋体" panose="02010600030101010101" pitchFamily="2" charset="-122"/>
                <a:ea typeface="宋体" panose="02010600030101010101" pitchFamily="2" charset="-122"/>
              </a:rPr>
              <a:t>几种常用的窗函数：</a:t>
            </a:r>
          </a:p>
        </p:txBody>
      </p:sp>
      <p:graphicFrame>
        <p:nvGraphicFramePr>
          <p:cNvPr id="6" name="Object 5"/>
          <p:cNvGraphicFramePr>
            <a:graphicFrameLocks noChangeAspect="1"/>
          </p:cNvGraphicFramePr>
          <p:nvPr>
            <p:extLst>
              <p:ext uri="{D42A27DB-BD31-4B8C-83A1-F6EECF244321}">
                <p14:modId xmlns:p14="http://schemas.microsoft.com/office/powerpoint/2010/main" val="1385324001"/>
              </p:ext>
            </p:extLst>
          </p:nvPr>
        </p:nvGraphicFramePr>
        <p:xfrm>
          <a:off x="4152900" y="2184400"/>
          <a:ext cx="4191000" cy="914400"/>
        </p:xfrm>
        <a:graphic>
          <a:graphicData uri="http://schemas.openxmlformats.org/presentationml/2006/ole">
            <mc:AlternateContent xmlns:mc="http://schemas.openxmlformats.org/markup-compatibility/2006">
              <mc:Choice xmlns:v="urn:schemas-microsoft-com:vml" Requires="v">
                <p:oleObj name="Equation" r:id="rId4" imgW="2095200" imgH="457200" progId="Equation.DSMT4">
                  <p:embed/>
                </p:oleObj>
              </mc:Choice>
              <mc:Fallback>
                <p:oleObj name="Equation" r:id="rId4" imgW="2095200" imgH="457200" progId="Equation.DSMT4">
                  <p:embed/>
                  <p:pic>
                    <p:nvPicPr>
                      <p:cNvPr id="6" name="Object 5"/>
                      <p:cNvPicPr>
                        <a:picLocks noChangeAspect="1" noChangeArrowheads="1"/>
                      </p:cNvPicPr>
                      <p:nvPr/>
                    </p:nvPicPr>
                    <p:blipFill>
                      <a:blip r:embed="rId5"/>
                      <a:srcRect/>
                      <a:stretch>
                        <a:fillRect/>
                      </a:stretch>
                    </p:blipFill>
                    <p:spPr bwMode="auto">
                      <a:xfrm>
                        <a:off x="4152900" y="2184400"/>
                        <a:ext cx="4191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587146035"/>
              </p:ext>
            </p:extLst>
          </p:nvPr>
        </p:nvGraphicFramePr>
        <p:xfrm>
          <a:off x="4217988" y="1546513"/>
          <a:ext cx="1893024" cy="480060"/>
        </p:xfrm>
        <a:graphic>
          <a:graphicData uri="http://schemas.openxmlformats.org/presentationml/2006/ole">
            <mc:AlternateContent xmlns:mc="http://schemas.openxmlformats.org/markup-compatibility/2006">
              <mc:Choice xmlns:v="urn:schemas-microsoft-com:vml" Requires="v">
                <p:oleObj name="Equation" r:id="rId6" imgW="901440" imgH="228600" progId="Equation.DSMT4">
                  <p:embed/>
                </p:oleObj>
              </mc:Choice>
              <mc:Fallback>
                <p:oleObj name="Equation" r:id="rId6" imgW="901440" imgH="228600" progId="Equation.DSMT4">
                  <p:embed/>
                  <p:pic>
                    <p:nvPicPr>
                      <p:cNvPr id="7" name="Object 5"/>
                      <p:cNvPicPr>
                        <a:picLocks noChangeAspect="1" noChangeArrowheads="1"/>
                      </p:cNvPicPr>
                      <p:nvPr/>
                    </p:nvPicPr>
                    <p:blipFill>
                      <a:blip r:embed="rId7"/>
                      <a:srcRect/>
                      <a:stretch>
                        <a:fillRect/>
                      </a:stretch>
                    </p:blipFill>
                    <p:spPr bwMode="auto">
                      <a:xfrm>
                        <a:off x="4217988" y="1546513"/>
                        <a:ext cx="1893024"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3208668930"/>
              </p:ext>
            </p:extLst>
          </p:nvPr>
        </p:nvGraphicFramePr>
        <p:xfrm>
          <a:off x="4191000" y="3093720"/>
          <a:ext cx="4729480" cy="868680"/>
        </p:xfrm>
        <a:graphic>
          <a:graphicData uri="http://schemas.openxmlformats.org/presentationml/2006/ole">
            <mc:AlternateContent xmlns:mc="http://schemas.openxmlformats.org/markup-compatibility/2006">
              <mc:Choice xmlns:v="urn:schemas-microsoft-com:vml" Requires="v">
                <p:oleObj name="Equation" r:id="rId8" imgW="2489200" imgH="457200" progId="Equation.DSMT4">
                  <p:embed/>
                </p:oleObj>
              </mc:Choice>
              <mc:Fallback>
                <p:oleObj name="Equation" r:id="rId8" imgW="2489200" imgH="457200" progId="Equation.DSMT4">
                  <p:embed/>
                  <p:pic>
                    <p:nvPicPr>
                      <p:cNvPr id="8"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1000" y="3093720"/>
                        <a:ext cx="4729480" cy="86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3643161697"/>
              </p:ext>
            </p:extLst>
          </p:nvPr>
        </p:nvGraphicFramePr>
        <p:xfrm>
          <a:off x="1829040" y="4572000"/>
          <a:ext cx="7162560" cy="914400"/>
        </p:xfrm>
        <a:graphic>
          <a:graphicData uri="http://schemas.openxmlformats.org/presentationml/2006/ole">
            <mc:AlternateContent xmlns:mc="http://schemas.openxmlformats.org/markup-compatibility/2006">
              <mc:Choice xmlns:v="urn:schemas-microsoft-com:vml" Requires="v">
                <p:oleObj name="Equation" r:id="rId10" imgW="3581280" imgH="457200" progId="Equation.DSMT4">
                  <p:embed/>
                </p:oleObj>
              </mc:Choice>
              <mc:Fallback>
                <p:oleObj name="Equation" r:id="rId10" imgW="3581280" imgH="457200" progId="Equation.DSMT4">
                  <p:embed/>
                  <p:pic>
                    <p:nvPicPr>
                      <p:cNvPr id="9" name="Object 5"/>
                      <p:cNvPicPr>
                        <a:picLocks noChangeAspect="1" noChangeArrowheads="1"/>
                      </p:cNvPicPr>
                      <p:nvPr/>
                    </p:nvPicPr>
                    <p:blipFill>
                      <a:blip r:embed="rId11"/>
                      <a:srcRect/>
                      <a:stretch>
                        <a:fillRect/>
                      </a:stretch>
                    </p:blipFill>
                    <p:spPr bwMode="auto">
                      <a:xfrm>
                        <a:off x="1829040" y="4572000"/>
                        <a:ext cx="716256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736695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1524000"/>
            <a:ext cx="6444703" cy="456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a:spLocks/>
          </p:cNvSpPr>
          <p:nvPr/>
        </p:nvSpPr>
        <p:spPr>
          <a:xfrm>
            <a:off x="2421457" y="6172200"/>
            <a:ext cx="4649787" cy="533400"/>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r>
              <a:rPr lang="zh-CN" altLang="en-US" sz="2400" b="1"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图</a:t>
            </a:r>
            <a:r>
              <a:rPr lang="en-US" altLang="zh-CN" sz="2400" b="1"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5.8	</a:t>
            </a:r>
            <a:r>
              <a:rPr lang="zh-CN" altLang="en-US" sz="2400" b="1"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四种常用的窗口函数</a:t>
            </a:r>
          </a:p>
        </p:txBody>
      </p:sp>
      <p:sp>
        <p:nvSpPr>
          <p:cNvPr id="6" name="矩形 5"/>
          <p:cNvSpPr/>
          <p:nvPr/>
        </p:nvSpPr>
        <p:spPr>
          <a:xfrm>
            <a:off x="2209800" y="924580"/>
            <a:ext cx="4512774"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四种窗函数的序列包络形状</a:t>
            </a:r>
          </a:p>
        </p:txBody>
      </p:sp>
      <p:sp>
        <p:nvSpPr>
          <p:cNvPr id="7"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18580217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标题 1"/>
          <p:cNvSpPr>
            <a:spLocks noGrp="1"/>
          </p:cNvSpPr>
          <p:nvPr>
            <p:ph type="title"/>
          </p:nvPr>
        </p:nvSpPr>
        <p:spPr>
          <a:xfrm>
            <a:off x="1523999" y="838200"/>
            <a:ext cx="5562601" cy="746125"/>
          </a:xfrm>
        </p:spPr>
        <p:txBody>
          <a:bodyPr/>
          <a:lstStyle/>
          <a:p>
            <a:pPr algn="ctr"/>
            <a:r>
              <a:rPr lang="zh-CN" altLang="en-US" sz="2800" b="1" i="0" dirty="0">
                <a:solidFill>
                  <a:srgbClr val="000000"/>
                </a:solidFill>
              </a:rPr>
              <a:t>表</a:t>
            </a:r>
            <a:r>
              <a:rPr lang="en-US" altLang="zh-CN" sz="2800" b="1" i="0" dirty="0">
                <a:solidFill>
                  <a:srgbClr val="000000"/>
                </a:solidFill>
              </a:rPr>
              <a:t>5.2	</a:t>
            </a:r>
            <a:r>
              <a:rPr lang="zh-CN" altLang="en-US" sz="2800" b="1" i="0" dirty="0">
                <a:solidFill>
                  <a:srgbClr val="000000"/>
                </a:solidFill>
              </a:rPr>
              <a:t>几种窗函数的性能比较</a:t>
            </a:r>
          </a:p>
        </p:txBody>
      </p:sp>
      <p:graphicFrame>
        <p:nvGraphicFramePr>
          <p:cNvPr id="16" name="内容占位符 4"/>
          <p:cNvGraphicFramePr>
            <a:graphicFrameLocks/>
          </p:cNvGraphicFramePr>
          <p:nvPr>
            <p:extLst>
              <p:ext uri="{D42A27DB-BD31-4B8C-83A1-F6EECF244321}">
                <p14:modId xmlns:p14="http://schemas.microsoft.com/office/powerpoint/2010/main" val="3380850676"/>
              </p:ext>
            </p:extLst>
          </p:nvPr>
        </p:nvGraphicFramePr>
        <p:xfrm>
          <a:off x="76200" y="1600200"/>
          <a:ext cx="8915400" cy="2621305"/>
        </p:xfrm>
        <a:graphic>
          <a:graphicData uri="http://schemas.openxmlformats.org/drawingml/2006/table">
            <a:tbl>
              <a:tblPr/>
              <a:tblGrid>
                <a:gridCol w="2209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56972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310295">
                <a:tc>
                  <a:txBody>
                    <a:bodyPr/>
                    <a:lstStyle/>
                    <a:p>
                      <a:pPr indent="0" algn="ctr">
                        <a:spcAft>
                          <a:spcPts val="0"/>
                        </a:spcAft>
                      </a:pPr>
                      <a:r>
                        <a:rPr lang="zh-CN" sz="2600" b="1" kern="1050" dirty="0">
                          <a:effectLst/>
                          <a:latin typeface="Times New Roman" panose="02020603050405020304" pitchFamily="18" charset="0"/>
                          <a:ea typeface="宋体" panose="02010600030101010101" pitchFamily="2" charset="-122"/>
                        </a:rPr>
                        <a:t>窗函数</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zh-CN" altLang="en-US" sz="2600" b="1" kern="1050" dirty="0">
                          <a:solidFill>
                            <a:srgbClr val="0000CC"/>
                          </a:solidFill>
                          <a:effectLst/>
                          <a:latin typeface="Times New Roman" panose="02020603050405020304" pitchFamily="18" charset="0"/>
                          <a:ea typeface="宋体" panose="02010600030101010101" pitchFamily="2" charset="-122"/>
                        </a:rPr>
                        <a:t>主瓣宽度</a:t>
                      </a:r>
                      <a:endParaRPr lang="zh-CN" sz="2600" b="1" kern="1050" dirty="0">
                        <a:solidFill>
                          <a:srgbClr val="0000CC"/>
                        </a:solidFill>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zh-CN" sz="2600" b="1" kern="1050" dirty="0">
                          <a:solidFill>
                            <a:srgbClr val="0000CC"/>
                          </a:solidFill>
                          <a:effectLst/>
                          <a:latin typeface="Times New Roman" panose="02020603050405020304" pitchFamily="18" charset="0"/>
                          <a:ea typeface="宋体" panose="02010600030101010101" pitchFamily="2" charset="-122"/>
                        </a:rPr>
                        <a:t>过渡带宽</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altLang="zh-CN" sz="2600" b="1" kern="1200" dirty="0">
                          <a:solidFill>
                            <a:srgbClr val="FF0000"/>
                          </a:solidFill>
                          <a:effectLst/>
                          <a:latin typeface="Times New Roman" panose="02020603050405020304" pitchFamily="18" charset="0"/>
                          <a:ea typeface="+mn-ea"/>
                          <a:cs typeface="Times New Roman" panose="02020603050405020304" pitchFamily="18" charset="0"/>
                        </a:rPr>
                        <a:t>旁瓣峰值衰减</a:t>
                      </a:r>
                      <a:r>
                        <a:rPr lang="en-US" altLang="zh-CN" sz="2600" b="1" kern="1200" dirty="0">
                          <a:solidFill>
                            <a:srgbClr val="FF0000"/>
                          </a:solidFill>
                          <a:effectLst/>
                          <a:latin typeface="Times New Roman" panose="02020603050405020304" pitchFamily="18" charset="0"/>
                          <a:ea typeface="+mn-ea"/>
                          <a:cs typeface="Times New Roman" panose="02020603050405020304" pitchFamily="18" charset="0"/>
                        </a:rPr>
                        <a:t>/dB</a:t>
                      </a:r>
                      <a:endParaRPr lang="zh-CN" sz="2600" b="1" kern="105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altLang="zh-CN" sz="2600" b="1" kern="100" dirty="0">
                          <a:solidFill>
                            <a:srgbClr val="FF0000"/>
                          </a:solidFill>
                          <a:effectLst/>
                          <a:latin typeface="Times New Roman" panose="02020603050405020304" pitchFamily="18" charset="0"/>
                          <a:ea typeface="宋体" panose="02010600030101010101" pitchFamily="2" charset="-122"/>
                          <a:cs typeface="Courier New" panose="02070309020205020404" pitchFamily="49" charset="0"/>
                        </a:rPr>
                        <a:t>阻带最小衰减</a:t>
                      </a:r>
                      <a:r>
                        <a:rPr lang="en-US" altLang="zh-CN" sz="2600" b="1" kern="1200" dirty="0">
                          <a:solidFill>
                            <a:srgbClr val="FF0000"/>
                          </a:solidFill>
                          <a:effectLst/>
                          <a:latin typeface="Times New Roman" panose="02020603050405020304" pitchFamily="18" charset="0"/>
                          <a:ea typeface="+mn-ea"/>
                          <a:cs typeface="Times New Roman" panose="02020603050405020304" pitchFamily="18" charset="0"/>
                        </a:rPr>
                        <a:t>/dB</a:t>
                      </a:r>
                      <a:endParaRPr lang="zh-CN" altLang="zh-CN" sz="2600" b="1" kern="105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0295">
                <a:tc>
                  <a:txBody>
                    <a:bodyPr/>
                    <a:lstStyle/>
                    <a:p>
                      <a:pPr indent="0" algn="ctr">
                        <a:spcAft>
                          <a:spcPts val="0"/>
                        </a:spcAft>
                      </a:pPr>
                      <a:r>
                        <a:rPr lang="zh-CN" sz="2600" b="1" kern="1050" dirty="0">
                          <a:effectLst/>
                          <a:latin typeface="Times New Roman" panose="02020603050405020304" pitchFamily="18" charset="0"/>
                          <a:ea typeface="宋体" panose="02010600030101010101" pitchFamily="2" charset="-122"/>
                        </a:rPr>
                        <a:t>矩形窗</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endParaRPr lang="zh-CN" altLang="en-US" dirty="0"/>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1.8</a:t>
                      </a:r>
                      <a:r>
                        <a:rPr lang="en-US" altLang="zh-CN" sz="2800" b="1" kern="1050" dirty="0">
                          <a:effectLst/>
                          <a:latin typeface="Times New Roman" panose="02020603050405020304" pitchFamily="18" charset="0"/>
                          <a:ea typeface="宋体" panose="02010600030101010101" pitchFamily="2" charset="-122"/>
                          <a:sym typeface="Symbol" panose="05050102010706020507" pitchFamily="18" charset="2"/>
                        </a:rPr>
                        <a:t></a:t>
                      </a:r>
                      <a:r>
                        <a:rPr lang="en-US" altLang="zh-CN" sz="2800" b="1" kern="1050" dirty="0">
                          <a:effectLst/>
                          <a:latin typeface="Times New Roman" panose="02020603050405020304" pitchFamily="18" charset="0"/>
                          <a:ea typeface="宋体" panose="02010600030101010101" pitchFamily="2" charset="-122"/>
                        </a:rPr>
                        <a:t>/</a:t>
                      </a:r>
                      <a:r>
                        <a:rPr lang="en-US" altLang="zh-CN" sz="2800" b="1" i="1" kern="1050" dirty="0">
                          <a:effectLst/>
                          <a:latin typeface="Times New Roman" panose="02020603050405020304" pitchFamily="18" charset="0"/>
                          <a:ea typeface="宋体" panose="02010600030101010101" pitchFamily="2" charset="-122"/>
                        </a:rPr>
                        <a:t>N</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-13</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altLang="zh-CN" sz="2800" b="1" kern="1050" dirty="0">
                          <a:effectLst/>
                          <a:latin typeface="Times New Roman" panose="02020603050405020304" pitchFamily="18" charset="0"/>
                          <a:ea typeface="宋体" panose="02010600030101010101" pitchFamily="2" charset="-122"/>
                        </a:rPr>
                        <a:t>-</a:t>
                      </a:r>
                      <a:r>
                        <a:rPr lang="en-US" sz="2800" b="1" kern="1050" dirty="0">
                          <a:effectLst/>
                          <a:latin typeface="Times New Roman" panose="02020603050405020304" pitchFamily="18" charset="0"/>
                          <a:ea typeface="宋体" panose="02010600030101010101" pitchFamily="2" charset="-122"/>
                        </a:rPr>
                        <a:t>21</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0295">
                <a:tc>
                  <a:txBody>
                    <a:bodyPr/>
                    <a:lstStyle/>
                    <a:p>
                      <a:pPr indent="0" algn="ctr">
                        <a:spcAft>
                          <a:spcPts val="0"/>
                        </a:spcAft>
                      </a:pPr>
                      <a:r>
                        <a:rPr lang="zh-CN" sz="2600" b="1" kern="1050" dirty="0">
                          <a:effectLst/>
                          <a:latin typeface="Times New Roman" panose="02020603050405020304" pitchFamily="18" charset="0"/>
                          <a:ea typeface="宋体" panose="02010600030101010101" pitchFamily="2" charset="-122"/>
                        </a:rPr>
                        <a:t>汉宁窗</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endParaRPr lang="zh-CN" altLang="en-US" dirty="0"/>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6.2</a:t>
                      </a:r>
                      <a:r>
                        <a:rPr lang="en-US" altLang="zh-CN" sz="2800" b="1" kern="1050" dirty="0">
                          <a:effectLst/>
                          <a:latin typeface="Times New Roman" panose="02020603050405020304" pitchFamily="18" charset="0"/>
                          <a:ea typeface="宋体" panose="02010600030101010101" pitchFamily="2" charset="-122"/>
                          <a:sym typeface="Symbol" panose="05050102010706020507" pitchFamily="18" charset="2"/>
                        </a:rPr>
                        <a:t></a:t>
                      </a:r>
                      <a:r>
                        <a:rPr lang="en-US" altLang="zh-CN" sz="2800" b="1" kern="1050" dirty="0">
                          <a:effectLst/>
                          <a:latin typeface="Times New Roman" panose="02020603050405020304" pitchFamily="18" charset="0"/>
                          <a:ea typeface="宋体" panose="02010600030101010101" pitchFamily="2" charset="-122"/>
                        </a:rPr>
                        <a:t>/</a:t>
                      </a:r>
                      <a:r>
                        <a:rPr lang="en-US" altLang="zh-CN" sz="2800" b="1" i="1" kern="1050" dirty="0">
                          <a:effectLst/>
                          <a:latin typeface="Times New Roman" panose="02020603050405020304" pitchFamily="18" charset="0"/>
                          <a:ea typeface="宋体" panose="02010600030101010101" pitchFamily="2" charset="-122"/>
                        </a:rPr>
                        <a:t>N</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-31</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altLang="zh-CN" sz="2800" b="1" kern="1050" dirty="0">
                          <a:effectLst/>
                          <a:latin typeface="Times New Roman" panose="02020603050405020304" pitchFamily="18" charset="0"/>
                          <a:ea typeface="宋体" panose="02010600030101010101" pitchFamily="2" charset="-122"/>
                        </a:rPr>
                        <a:t>-</a:t>
                      </a:r>
                      <a:r>
                        <a:rPr lang="en-US" sz="2800" b="1" kern="1050" dirty="0">
                          <a:effectLst/>
                          <a:latin typeface="Times New Roman" panose="02020603050405020304" pitchFamily="18" charset="0"/>
                          <a:ea typeface="宋体" panose="02010600030101010101" pitchFamily="2" charset="-122"/>
                        </a:rPr>
                        <a:t>44</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0295">
                <a:tc>
                  <a:txBody>
                    <a:bodyPr/>
                    <a:lstStyle/>
                    <a:p>
                      <a:pPr indent="0" algn="ctr">
                        <a:spcAft>
                          <a:spcPts val="0"/>
                        </a:spcAft>
                      </a:pPr>
                      <a:r>
                        <a:rPr lang="zh-CN" altLang="zh-CN" sz="2600" b="1" kern="1050" dirty="0">
                          <a:effectLst/>
                          <a:latin typeface="Times New Roman" panose="02020603050405020304" pitchFamily="18" charset="0"/>
                          <a:ea typeface="宋体" panose="02010600030101010101" pitchFamily="2" charset="-122"/>
                        </a:rPr>
                        <a:t>汉</a:t>
                      </a:r>
                      <a:r>
                        <a:rPr lang="zh-CN" sz="2600" b="1" kern="1050" dirty="0">
                          <a:effectLst/>
                          <a:latin typeface="Times New Roman" panose="02020603050405020304" pitchFamily="18" charset="0"/>
                          <a:ea typeface="宋体" panose="02010600030101010101" pitchFamily="2" charset="-122"/>
                        </a:rPr>
                        <a:t>明窗</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endParaRPr lang="zh-CN" altLang="en-US" dirty="0"/>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altLang="zh-CN" sz="2800" b="1" kern="1050" dirty="0">
                          <a:effectLst/>
                          <a:latin typeface="Times New Roman" panose="02020603050405020304" pitchFamily="18" charset="0"/>
                          <a:ea typeface="宋体" panose="02010600030101010101" pitchFamily="2" charset="-122"/>
                        </a:rPr>
                        <a:t>6.6</a:t>
                      </a:r>
                      <a:r>
                        <a:rPr lang="en-US" altLang="zh-CN" sz="2800" b="1" kern="1050" dirty="0">
                          <a:effectLst/>
                          <a:latin typeface="Times New Roman" panose="02020603050405020304" pitchFamily="18" charset="0"/>
                          <a:ea typeface="宋体" panose="02010600030101010101" pitchFamily="2" charset="-122"/>
                          <a:sym typeface="Symbol" panose="05050102010706020507" pitchFamily="18" charset="2"/>
                        </a:rPr>
                        <a:t></a:t>
                      </a:r>
                      <a:r>
                        <a:rPr lang="en-US" altLang="zh-CN" sz="2800" b="1" kern="1050" dirty="0">
                          <a:effectLst/>
                          <a:latin typeface="Times New Roman" panose="02020603050405020304" pitchFamily="18" charset="0"/>
                          <a:ea typeface="宋体" panose="02010600030101010101" pitchFamily="2" charset="-122"/>
                        </a:rPr>
                        <a:t>/</a:t>
                      </a:r>
                      <a:r>
                        <a:rPr lang="en-US" altLang="zh-CN" sz="2800" b="1" i="1" kern="1050" dirty="0">
                          <a:effectLst/>
                          <a:latin typeface="Times New Roman" panose="02020603050405020304" pitchFamily="18" charset="0"/>
                          <a:ea typeface="宋体" panose="02010600030101010101" pitchFamily="2" charset="-122"/>
                        </a:rPr>
                        <a:t>N</a:t>
                      </a:r>
                      <a:endParaRPr lang="zh-CN" alt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-41</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altLang="zh-CN" sz="2800" b="1" kern="1050" dirty="0">
                          <a:effectLst/>
                          <a:latin typeface="Times New Roman" panose="02020603050405020304" pitchFamily="18" charset="0"/>
                          <a:ea typeface="宋体" panose="02010600030101010101" pitchFamily="2" charset="-122"/>
                        </a:rPr>
                        <a:t>-</a:t>
                      </a:r>
                      <a:r>
                        <a:rPr lang="en-US" sz="2800" b="1" kern="1050" dirty="0">
                          <a:effectLst/>
                          <a:latin typeface="Times New Roman" panose="02020603050405020304" pitchFamily="18" charset="0"/>
                          <a:ea typeface="宋体" panose="02010600030101010101" pitchFamily="2" charset="-122"/>
                        </a:rPr>
                        <a:t>53</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8665">
                <a:tc>
                  <a:txBody>
                    <a:bodyPr/>
                    <a:lstStyle/>
                    <a:p>
                      <a:pPr indent="0" algn="ctr">
                        <a:spcAft>
                          <a:spcPts val="0"/>
                        </a:spcAft>
                      </a:pPr>
                      <a:r>
                        <a:rPr lang="zh-CN" sz="2600" b="1" kern="1050" dirty="0">
                          <a:effectLst/>
                          <a:latin typeface="Times New Roman" panose="02020603050405020304" pitchFamily="18" charset="0"/>
                          <a:ea typeface="宋体" panose="02010600030101010101" pitchFamily="2" charset="-122"/>
                        </a:rPr>
                        <a:t>布莱克曼窗</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12</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05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endParaRPr lang="zh-CN" altLang="en-US" dirty="0"/>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11</a:t>
                      </a:r>
                      <a:r>
                        <a:rPr lang="en-US" altLang="zh-CN" sz="2800" b="1" kern="1050" dirty="0">
                          <a:effectLst/>
                          <a:latin typeface="Times New Roman" panose="02020603050405020304" pitchFamily="18" charset="0"/>
                          <a:ea typeface="宋体" panose="02010600030101010101" pitchFamily="2" charset="-122"/>
                          <a:sym typeface="Symbol" panose="05050102010706020507" pitchFamily="18" charset="2"/>
                        </a:rPr>
                        <a:t></a:t>
                      </a:r>
                      <a:r>
                        <a:rPr lang="en-US" altLang="zh-CN" sz="2800" b="1" kern="1050" dirty="0">
                          <a:effectLst/>
                          <a:latin typeface="Times New Roman" panose="02020603050405020304" pitchFamily="18" charset="0"/>
                          <a:ea typeface="宋体" panose="02010600030101010101" pitchFamily="2" charset="-122"/>
                        </a:rPr>
                        <a:t>/</a:t>
                      </a:r>
                      <a:r>
                        <a:rPr lang="en-US" altLang="zh-CN" sz="2800" b="1" i="1" kern="1050" dirty="0">
                          <a:effectLst/>
                          <a:latin typeface="Times New Roman" panose="02020603050405020304" pitchFamily="18" charset="0"/>
                          <a:ea typeface="宋体" panose="02010600030101010101" pitchFamily="2" charset="-122"/>
                        </a:rPr>
                        <a:t>N</a:t>
                      </a:r>
                      <a:endParaRPr lang="zh-CN" alt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kern="1050" dirty="0">
                          <a:effectLst/>
                          <a:latin typeface="Times New Roman" panose="02020603050405020304" pitchFamily="18" charset="0"/>
                          <a:ea typeface="宋体" panose="02010600030101010101" pitchFamily="2" charset="-122"/>
                        </a:rPr>
                        <a:t>-57</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altLang="zh-CN" sz="2800" b="1" kern="1050" dirty="0">
                          <a:effectLst/>
                          <a:latin typeface="Times New Roman" panose="02020603050405020304" pitchFamily="18" charset="0"/>
                          <a:ea typeface="宋体" panose="02010600030101010101" pitchFamily="2" charset="-122"/>
                        </a:rPr>
                        <a:t>-</a:t>
                      </a:r>
                      <a:r>
                        <a:rPr lang="en-US" sz="2800" b="1" kern="1050" dirty="0">
                          <a:effectLst/>
                          <a:latin typeface="Times New Roman" panose="02020603050405020304" pitchFamily="18" charset="0"/>
                          <a:ea typeface="宋体" panose="02010600030101010101" pitchFamily="2" charset="-122"/>
                        </a:rPr>
                        <a:t>74</a:t>
                      </a:r>
                      <a:endParaRPr lang="zh-CN" sz="2800" b="1" kern="1050" dirty="0">
                        <a:effectLst/>
                        <a:latin typeface="Times New Roman" panose="02020603050405020304" pitchFamily="18" charset="0"/>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3147360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533400" y="6096000"/>
            <a:ext cx="5791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b="1" dirty="0">
                <a:solidFill>
                  <a:srgbClr val="000000"/>
                </a:solidFill>
              </a:rPr>
              <a:t>图</a:t>
            </a:r>
            <a:r>
              <a:rPr lang="en-US" altLang="zh-CN" b="1" dirty="0">
                <a:solidFill>
                  <a:srgbClr val="000000"/>
                </a:solidFill>
              </a:rPr>
              <a:t>5.9  </a:t>
            </a:r>
            <a:r>
              <a:rPr lang="zh-CN" altLang="en-US" b="1" dirty="0">
                <a:solidFill>
                  <a:srgbClr val="000000"/>
                </a:solidFill>
              </a:rPr>
              <a:t>四种窗口函数的频谱 </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=51)</a:t>
            </a:r>
            <a:endParaRPr lang="en-US" altLang="zh-CN" b="1" dirty="0"/>
          </a:p>
        </p:txBody>
      </p:sp>
      <p:pic>
        <p:nvPicPr>
          <p:cNvPr id="4" name="Picture 6" descr="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613" y="1057275"/>
            <a:ext cx="6840537"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15"/>
          <p:cNvGraphicFramePr>
            <a:graphicFrameLocks noChangeAspect="1"/>
          </p:cNvGraphicFramePr>
          <p:nvPr>
            <p:extLst>
              <p:ext uri="{D42A27DB-BD31-4B8C-83A1-F6EECF244321}">
                <p14:modId xmlns:p14="http://schemas.microsoft.com/office/powerpoint/2010/main" val="3537913651"/>
              </p:ext>
            </p:extLst>
          </p:nvPr>
        </p:nvGraphicFramePr>
        <p:xfrm>
          <a:off x="5943600" y="6113621"/>
          <a:ext cx="2971440" cy="457200"/>
        </p:xfrm>
        <a:graphic>
          <a:graphicData uri="http://schemas.openxmlformats.org/presentationml/2006/ole">
            <mc:AlternateContent xmlns:mc="http://schemas.openxmlformats.org/markup-compatibility/2006">
              <mc:Choice xmlns:v="urn:schemas-microsoft-com:vml" Requires="v">
                <p:oleObj name="Equation" r:id="rId3" imgW="1485720" imgH="228600" progId="Equation.DSMT4">
                  <p:embed/>
                </p:oleObj>
              </mc:Choice>
              <mc:Fallback>
                <p:oleObj name="Equation" r:id="rId3" imgW="1485720" imgH="228600" progId="Equation.DSMT4">
                  <p:embed/>
                  <p:pic>
                    <p:nvPicPr>
                      <p:cNvPr id="5" name="Object 15"/>
                      <p:cNvPicPr>
                        <a:picLocks noChangeAspect="1" noChangeArrowheads="1"/>
                      </p:cNvPicPr>
                      <p:nvPr/>
                    </p:nvPicPr>
                    <p:blipFill>
                      <a:blip r:embed="rId4"/>
                      <a:srcRect/>
                      <a:stretch>
                        <a:fillRect/>
                      </a:stretch>
                    </p:blipFill>
                    <p:spPr bwMode="auto">
                      <a:xfrm>
                        <a:off x="5943600" y="6113621"/>
                        <a:ext cx="297144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5"/>
          <p:cNvSpPr txBox="1">
            <a:spLocks noChangeArrowheads="1"/>
          </p:cNvSpPr>
          <p:nvPr/>
        </p:nvSpPr>
        <p:spPr bwMode="auto">
          <a:xfrm>
            <a:off x="2733697" y="2209800"/>
            <a:ext cx="122237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主瓣最窄</a:t>
            </a:r>
          </a:p>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旁瓣最大</a:t>
            </a:r>
          </a:p>
        </p:txBody>
      </p:sp>
      <p:sp>
        <p:nvSpPr>
          <p:cNvPr id="7" name="Text Box 6"/>
          <p:cNvSpPr txBox="1">
            <a:spLocks noChangeArrowheads="1"/>
          </p:cNvSpPr>
          <p:nvPr/>
        </p:nvSpPr>
        <p:spPr bwMode="auto">
          <a:xfrm>
            <a:off x="6781800" y="4038600"/>
            <a:ext cx="122396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主瓣最宽</a:t>
            </a:r>
          </a:p>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旁瓣最小</a:t>
            </a:r>
          </a:p>
        </p:txBody>
      </p:sp>
      <p:sp>
        <p:nvSpPr>
          <p:cNvPr id="8" name="矩形 7"/>
          <p:cNvSpPr/>
          <p:nvPr/>
        </p:nvSpPr>
        <p:spPr>
          <a:xfrm>
            <a:off x="2903897" y="2667000"/>
            <a:ext cx="1112805" cy="714747"/>
          </a:xfrm>
          <a:prstGeom prst="rect">
            <a:avLst/>
          </a:prstGeom>
        </p:spPr>
        <p:txBody>
          <a:bodyPr wrap="none">
            <a:spAutoFit/>
          </a:bodyPr>
          <a:lstStyle/>
          <a:p>
            <a:pPr>
              <a:lnSpc>
                <a:spcPct val="200000"/>
              </a:lnSpc>
              <a:spcBef>
                <a:spcPts val="0"/>
              </a:spcBef>
              <a:buFontTx/>
              <a:buNone/>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矩形窗</a:t>
            </a:r>
          </a:p>
        </p:txBody>
      </p:sp>
      <p:sp>
        <p:nvSpPr>
          <p:cNvPr id="10" name="矩形 9"/>
          <p:cNvSpPr/>
          <p:nvPr/>
        </p:nvSpPr>
        <p:spPr>
          <a:xfrm>
            <a:off x="6781800" y="2938145"/>
            <a:ext cx="1112805" cy="461665"/>
          </a:xfrm>
          <a:prstGeom prst="rect">
            <a:avLst/>
          </a:prstGeom>
        </p:spPr>
        <p:txBody>
          <a:bodyPr wrap="none">
            <a:spAutoFit/>
          </a:bodyPr>
          <a:lstStyle/>
          <a:p>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汉宁窗</a:t>
            </a:r>
            <a:endParaRPr lang="zh-CN" altLang="en-US" sz="1600" dirty="0"/>
          </a:p>
        </p:txBody>
      </p:sp>
      <p:sp>
        <p:nvSpPr>
          <p:cNvPr id="11" name="矩形 10"/>
          <p:cNvSpPr/>
          <p:nvPr/>
        </p:nvSpPr>
        <p:spPr>
          <a:xfrm>
            <a:off x="2843267" y="5634335"/>
            <a:ext cx="1112805" cy="461665"/>
          </a:xfrm>
          <a:prstGeom prst="rect">
            <a:avLst/>
          </a:prstGeom>
        </p:spPr>
        <p:txBody>
          <a:bodyPr wrap="none">
            <a:spAutoFit/>
          </a:bodyPr>
          <a:lstStyle/>
          <a:p>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汉明窗</a:t>
            </a:r>
            <a:endParaRPr lang="zh-CN" altLang="en-US" sz="1600" dirty="0"/>
          </a:p>
        </p:txBody>
      </p:sp>
      <p:sp>
        <p:nvSpPr>
          <p:cNvPr id="12" name="矩形 11"/>
          <p:cNvSpPr/>
          <p:nvPr/>
        </p:nvSpPr>
        <p:spPr>
          <a:xfrm>
            <a:off x="6781800" y="5638800"/>
            <a:ext cx="1731564" cy="461665"/>
          </a:xfrm>
          <a:prstGeom prst="rect">
            <a:avLst/>
          </a:prstGeom>
        </p:spPr>
        <p:txBody>
          <a:bodyPr wrap="none">
            <a:spAutoFit/>
          </a:bodyPr>
          <a:lstStyle/>
          <a:p>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布莱克曼窗</a:t>
            </a:r>
            <a:endParaRPr lang="zh-CN" altLang="en-US" sz="2400" dirty="0"/>
          </a:p>
        </p:txBody>
      </p:sp>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6"/>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107281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838200"/>
            <a:ext cx="7557532" cy="519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Object 4"/>
          <p:cNvGraphicFramePr>
            <a:graphicFrameLocks noChangeAspect="1"/>
          </p:cNvGraphicFramePr>
          <p:nvPr>
            <p:extLst>
              <p:ext uri="{D42A27DB-BD31-4B8C-83A1-F6EECF244321}">
                <p14:modId xmlns:p14="http://schemas.microsoft.com/office/powerpoint/2010/main" val="2253292792"/>
              </p:ext>
            </p:extLst>
          </p:nvPr>
        </p:nvGraphicFramePr>
        <p:xfrm>
          <a:off x="3810600" y="6019800"/>
          <a:ext cx="2818800" cy="457200"/>
        </p:xfrm>
        <a:graphic>
          <a:graphicData uri="http://schemas.openxmlformats.org/presentationml/2006/ole">
            <mc:AlternateContent xmlns:mc="http://schemas.openxmlformats.org/markup-compatibility/2006">
              <mc:Choice xmlns:v="urn:schemas-microsoft-com:vml" Requires="v">
                <p:oleObj name="Equation" r:id="rId3" imgW="1409400" imgH="228600" progId="Equation.DSMT4">
                  <p:embed/>
                </p:oleObj>
              </mc:Choice>
              <mc:Fallback>
                <p:oleObj name="Equation" r:id="rId3" imgW="1409400" imgH="228600" progId="Equation.DSMT4">
                  <p:embed/>
                  <p:pic>
                    <p:nvPicPr>
                      <p:cNvPr id="4" name="Object 4"/>
                      <p:cNvPicPr>
                        <a:picLocks noChangeAspect="1" noChangeArrowheads="1"/>
                      </p:cNvPicPr>
                      <p:nvPr/>
                    </p:nvPicPr>
                    <p:blipFill>
                      <a:blip r:embed="rId4">
                        <a:grayscl/>
                        <a:biLevel thresh="50000"/>
                      </a:blip>
                      <a:srcRect/>
                      <a:stretch>
                        <a:fillRect/>
                      </a:stretch>
                    </p:blipFill>
                    <p:spPr bwMode="auto">
                      <a:xfrm>
                        <a:off x="3810600" y="6019800"/>
                        <a:ext cx="281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4"/>
          <p:cNvSpPr txBox="1">
            <a:spLocks noChangeArrowheads="1"/>
          </p:cNvSpPr>
          <p:nvPr/>
        </p:nvSpPr>
        <p:spPr bwMode="auto">
          <a:xfrm>
            <a:off x="1828800" y="2238375"/>
            <a:ext cx="223202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过渡带最窄</a:t>
            </a:r>
          </a:p>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阻带最小衰减最差</a:t>
            </a:r>
          </a:p>
        </p:txBody>
      </p:sp>
      <p:sp>
        <p:nvSpPr>
          <p:cNvPr id="7" name="Text Box 5"/>
          <p:cNvSpPr txBox="1">
            <a:spLocks noChangeArrowheads="1"/>
          </p:cNvSpPr>
          <p:nvPr/>
        </p:nvSpPr>
        <p:spPr bwMode="auto">
          <a:xfrm>
            <a:off x="6942455" y="4056238"/>
            <a:ext cx="223202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过渡带最宽</a:t>
            </a:r>
          </a:p>
          <a:p>
            <a:pPr algn="just" eaLnBrk="1" hangingPunct="1">
              <a:lnSpc>
                <a:spcPct val="105000"/>
              </a:lnSpc>
              <a:spcBef>
                <a:spcPct val="0"/>
              </a:spcBef>
              <a:buClr>
                <a:schemeClr val="tx1"/>
              </a:buClr>
              <a:buSzPct val="80000"/>
              <a:buFont typeface="Wingdings" panose="05000000000000000000" pitchFamily="2" charset="2"/>
              <a:buNone/>
            </a:pPr>
            <a:r>
              <a:rPr lang="zh-CN" altLang="en-US" sz="2000" b="1" dirty="0">
                <a:solidFill>
                  <a:srgbClr val="FF0000"/>
                </a:solidFill>
                <a:latin typeface="Times New Roman" panose="02020603050405020304" pitchFamily="18" charset="0"/>
                <a:ea typeface="宋体" panose="02010600030101010101" pitchFamily="2" charset="-122"/>
              </a:rPr>
              <a:t>阻带最小衰减最好</a:t>
            </a:r>
          </a:p>
        </p:txBody>
      </p:sp>
      <p:sp>
        <p:nvSpPr>
          <p:cNvPr id="8" name="矩形 7"/>
          <p:cNvSpPr/>
          <p:nvPr/>
        </p:nvSpPr>
        <p:spPr>
          <a:xfrm>
            <a:off x="2743200" y="2731891"/>
            <a:ext cx="1112805" cy="714747"/>
          </a:xfrm>
          <a:prstGeom prst="rect">
            <a:avLst/>
          </a:prstGeom>
        </p:spPr>
        <p:txBody>
          <a:bodyPr wrap="none">
            <a:spAutoFit/>
          </a:bodyPr>
          <a:lstStyle/>
          <a:p>
            <a:pPr>
              <a:lnSpc>
                <a:spcPct val="200000"/>
              </a:lnSpc>
              <a:spcBef>
                <a:spcPts val="0"/>
              </a:spcBef>
              <a:buFontTx/>
              <a:buNone/>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矩形窗</a:t>
            </a:r>
          </a:p>
        </p:txBody>
      </p:sp>
      <p:sp>
        <p:nvSpPr>
          <p:cNvPr id="9" name="矩形 8"/>
          <p:cNvSpPr/>
          <p:nvPr/>
        </p:nvSpPr>
        <p:spPr>
          <a:xfrm>
            <a:off x="6879036" y="2875118"/>
            <a:ext cx="1112805" cy="461665"/>
          </a:xfrm>
          <a:prstGeom prst="rect">
            <a:avLst/>
          </a:prstGeom>
        </p:spPr>
        <p:txBody>
          <a:bodyPr wrap="none">
            <a:spAutoFit/>
          </a:bodyPr>
          <a:lstStyle/>
          <a:p>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汉宁窗</a:t>
            </a:r>
            <a:endParaRPr lang="zh-CN" altLang="en-US" sz="1600" dirty="0"/>
          </a:p>
        </p:txBody>
      </p:sp>
      <p:sp>
        <p:nvSpPr>
          <p:cNvPr id="10" name="矩形 9"/>
          <p:cNvSpPr/>
          <p:nvPr/>
        </p:nvSpPr>
        <p:spPr>
          <a:xfrm>
            <a:off x="2743200" y="5704880"/>
            <a:ext cx="1112805" cy="461665"/>
          </a:xfrm>
          <a:prstGeom prst="rect">
            <a:avLst/>
          </a:prstGeom>
        </p:spPr>
        <p:txBody>
          <a:bodyPr wrap="none">
            <a:spAutoFit/>
          </a:bodyPr>
          <a:lstStyle/>
          <a:p>
            <a:r>
              <a:rPr kumimoji="1"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汉明窗</a:t>
            </a:r>
            <a:endParaRPr lang="zh-CN" altLang="en-US" sz="1600" dirty="0"/>
          </a:p>
        </p:txBody>
      </p:sp>
      <p:sp>
        <p:nvSpPr>
          <p:cNvPr id="11" name="矩形 10"/>
          <p:cNvSpPr/>
          <p:nvPr/>
        </p:nvSpPr>
        <p:spPr>
          <a:xfrm>
            <a:off x="6904436" y="5704880"/>
            <a:ext cx="1731564" cy="461665"/>
          </a:xfrm>
          <a:prstGeom prst="rect">
            <a:avLst/>
          </a:prstGeom>
        </p:spPr>
        <p:txBody>
          <a:bodyPr wrap="none">
            <a:spAutoFit/>
          </a:bodyPr>
          <a:lstStyle/>
          <a:p>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布莱克曼窗</a:t>
            </a:r>
            <a:endParaRPr lang="zh-CN" altLang="en-US" sz="2400" dirty="0"/>
          </a:p>
        </p:txBody>
      </p:sp>
      <p:sp>
        <p:nvSpPr>
          <p:cNvPr id="12" name="Rectangle 3"/>
          <p:cNvSpPr>
            <a:spLocks noChangeArrowheads="1"/>
          </p:cNvSpPr>
          <p:nvPr/>
        </p:nvSpPr>
        <p:spPr bwMode="auto">
          <a:xfrm>
            <a:off x="533400" y="6320135"/>
            <a:ext cx="830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b="1" dirty="0">
                <a:solidFill>
                  <a:srgbClr val="000000"/>
                </a:solidFill>
              </a:rPr>
              <a:t>图</a:t>
            </a:r>
            <a:r>
              <a:rPr lang="en-US" altLang="zh-CN" b="1" dirty="0">
                <a:solidFill>
                  <a:srgbClr val="000000"/>
                </a:solidFill>
              </a:rPr>
              <a:t>5.10  </a:t>
            </a:r>
            <a:r>
              <a:rPr lang="zh-CN" altLang="en-US" b="1" dirty="0">
                <a:solidFill>
                  <a:srgbClr val="000000"/>
                </a:solidFill>
              </a:rPr>
              <a:t>四种窗口在同一指标下设计的滤波器的频率特性</a:t>
            </a:r>
            <a:endParaRPr lang="en-US" altLang="zh-CN" b="1" dirty="0"/>
          </a:p>
        </p:txBody>
      </p:sp>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6"/>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376286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extLst>
              <p:ext uri="{D42A27DB-BD31-4B8C-83A1-F6EECF244321}">
                <p14:modId xmlns:p14="http://schemas.microsoft.com/office/powerpoint/2010/main" val="2427459084"/>
              </p:ext>
            </p:extLst>
          </p:nvPr>
        </p:nvGraphicFramePr>
        <p:xfrm>
          <a:off x="1179290" y="5685083"/>
          <a:ext cx="3067050" cy="879475"/>
        </p:xfrm>
        <a:graphic>
          <a:graphicData uri="http://schemas.openxmlformats.org/presentationml/2006/ole">
            <mc:AlternateContent xmlns:mc="http://schemas.openxmlformats.org/markup-compatibility/2006">
              <mc:Choice xmlns:v="urn:schemas-microsoft-com:vml" Requires="v">
                <p:oleObj name="Equation" r:id="rId2" imgW="1460160" imgH="419040" progId="Equation.DSMT4">
                  <p:embed/>
                </p:oleObj>
              </mc:Choice>
              <mc:Fallback>
                <p:oleObj name="Equation" r:id="rId2" imgW="1460160" imgH="419040" progId="Equation.DSMT4">
                  <p:embed/>
                  <p:pic>
                    <p:nvPicPr>
                      <p:cNvPr id="3" name="Object 3"/>
                      <p:cNvPicPr>
                        <a:picLocks noChangeAspect="1" noChangeArrowheads="1"/>
                      </p:cNvPicPr>
                      <p:nvPr/>
                    </p:nvPicPr>
                    <p:blipFill>
                      <a:blip r:embed="rId3"/>
                      <a:srcRect/>
                      <a:stretch>
                        <a:fillRect/>
                      </a:stretch>
                    </p:blipFill>
                    <p:spPr bwMode="auto">
                      <a:xfrm>
                        <a:off x="1179290" y="5685083"/>
                        <a:ext cx="306705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4"/>
          <p:cNvSpPr>
            <a:spLocks noChangeArrowheads="1"/>
          </p:cNvSpPr>
          <p:nvPr/>
        </p:nvSpPr>
        <p:spPr bwMode="auto">
          <a:xfrm>
            <a:off x="359675" y="354782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6" name="Text Box 13"/>
          <p:cNvSpPr txBox="1">
            <a:spLocks noChangeArrowheads="1"/>
          </p:cNvSpPr>
          <p:nvPr/>
        </p:nvSpPr>
        <p:spPr bwMode="auto">
          <a:xfrm>
            <a:off x="838200" y="914400"/>
            <a:ext cx="8382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0" eaLnBrk="1" hangingPunct="1">
              <a:spcBef>
                <a:spcPct val="0"/>
              </a:spcBef>
              <a:buNone/>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用窗函数法设计一个线性相位</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数字低通滤波器</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lvl="0" eaLnBrk="1" hangingPunct="1">
              <a:spcBef>
                <a:spcPct val="0"/>
              </a:spcBef>
              <a:buNone/>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截止频率为</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，采样频率为</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，窗口长度为</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 </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分别用矩形窗和汉明窗实现。</a:t>
            </a:r>
          </a:p>
        </p:txBody>
      </p:sp>
      <p:sp>
        <p:nvSpPr>
          <p:cNvPr id="7" name="Text Box 14"/>
          <p:cNvSpPr txBox="1">
            <a:spLocks noChangeArrowheads="1"/>
          </p:cNvSpPr>
          <p:nvPr/>
        </p:nvSpPr>
        <p:spPr bwMode="auto">
          <a:xfrm>
            <a:off x="277503" y="3464832"/>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effectLst/>
                <a:uLnTx/>
                <a:uFillTx/>
                <a:latin typeface="Arial" panose="020B0604020202020204" pitchFamily="34" charset="0"/>
                <a:ea typeface="宋体" panose="02010600030101010101" pitchFamily="2" charset="-122"/>
                <a:cs typeface="+mn-cs"/>
              </a:rPr>
              <a:t>解：</a:t>
            </a:r>
          </a:p>
        </p:txBody>
      </p:sp>
      <p:sp>
        <p:nvSpPr>
          <p:cNvPr id="8" name="矩形 7"/>
          <p:cNvSpPr/>
          <p:nvPr/>
        </p:nvSpPr>
        <p:spPr>
          <a:xfrm>
            <a:off x="234478" y="914747"/>
            <a:ext cx="906017" cy="523220"/>
          </a:xfrm>
          <a:prstGeom prst="rect">
            <a:avLst/>
          </a:prstGeom>
        </p:spPr>
        <p:txBody>
          <a:bodyPr wrap="none">
            <a:spAutoFit/>
          </a:bodyPr>
          <a:lstStyle/>
          <a:p>
            <a:r>
              <a:rPr lang="zh-CN" altLang="en-US" sz="2800" b="1" dirty="0"/>
              <a:t>例：</a:t>
            </a:r>
            <a:endParaRPr lang="zh-CN" altLang="en-US" dirty="0"/>
          </a:p>
        </p:txBody>
      </p:sp>
      <p:sp>
        <p:nvSpPr>
          <p:cNvPr id="9" name="矩形 8"/>
          <p:cNvSpPr/>
          <p:nvPr/>
        </p:nvSpPr>
        <p:spPr>
          <a:xfrm>
            <a:off x="-121920" y="924433"/>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graphicFrame>
        <p:nvGraphicFramePr>
          <p:cNvPr id="10" name="Object 4"/>
          <p:cNvGraphicFramePr>
            <a:graphicFrameLocks noChangeAspect="1"/>
          </p:cNvGraphicFramePr>
          <p:nvPr>
            <p:extLst>
              <p:ext uri="{D42A27DB-BD31-4B8C-83A1-F6EECF244321}">
                <p14:modId xmlns:p14="http://schemas.microsoft.com/office/powerpoint/2010/main" val="1781988010"/>
              </p:ext>
            </p:extLst>
          </p:nvPr>
        </p:nvGraphicFramePr>
        <p:xfrm>
          <a:off x="2079236" y="2222519"/>
          <a:ext cx="4978400" cy="914400"/>
        </p:xfrm>
        <a:graphic>
          <a:graphicData uri="http://schemas.openxmlformats.org/presentationml/2006/ole">
            <mc:AlternateContent xmlns:mc="http://schemas.openxmlformats.org/markup-compatibility/2006">
              <mc:Choice xmlns:v="urn:schemas-microsoft-com:vml" Requires="v">
                <p:oleObj name="Equation" r:id="rId4" imgW="2489200" imgH="457200" progId="Equation.DSMT4">
                  <p:embed/>
                </p:oleObj>
              </mc:Choice>
              <mc:Fallback>
                <p:oleObj name="Equation" r:id="rId4" imgW="2489200" imgH="457200" progId="Equation.DSMT4">
                  <p:embed/>
                  <p:pic>
                    <p:nvPicPr>
                      <p:cNvPr id="1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236" y="2222519"/>
                        <a:ext cx="4978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838200" y="2407945"/>
            <a:ext cx="1189749" cy="492443"/>
          </a:xfrm>
          <a:prstGeom prst="rect">
            <a:avLst/>
          </a:prstGeom>
        </p:spPr>
        <p:txBody>
          <a:bodyPr wrap="none">
            <a:spAutoFit/>
          </a:bodyPr>
          <a:lstStyle/>
          <a:p>
            <a:pPr lvl="0" algn="ctr" eaLnBrk="1" fontAlgn="auto" hangingPunct="1">
              <a:spcBef>
                <a:spcPts val="0"/>
              </a:spcBef>
              <a:spcAft>
                <a:spcPts val="0"/>
              </a:spcAft>
            </a:pPr>
            <a:r>
              <a:rPr lang="zh-CN" altLang="zh-CN" sz="2600" b="1" kern="105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汉</a:t>
            </a:r>
            <a:r>
              <a:rPr lang="zh-CN" altLang="en-US" sz="2600" b="1" kern="105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明窗</a:t>
            </a:r>
          </a:p>
        </p:txBody>
      </p:sp>
      <p:graphicFrame>
        <p:nvGraphicFramePr>
          <p:cNvPr id="13" name="Object 9"/>
          <p:cNvGraphicFramePr>
            <a:graphicFrameLocks noChangeAspect="1"/>
          </p:cNvGraphicFramePr>
          <p:nvPr>
            <p:extLst>
              <p:ext uri="{D42A27DB-BD31-4B8C-83A1-F6EECF244321}">
                <p14:modId xmlns:p14="http://schemas.microsoft.com/office/powerpoint/2010/main" val="443649906"/>
              </p:ext>
            </p:extLst>
          </p:nvPr>
        </p:nvGraphicFramePr>
        <p:xfrm>
          <a:off x="1198563" y="3276600"/>
          <a:ext cx="3152775" cy="904875"/>
        </p:xfrm>
        <a:graphic>
          <a:graphicData uri="http://schemas.openxmlformats.org/presentationml/2006/ole">
            <mc:AlternateContent xmlns:mc="http://schemas.openxmlformats.org/markup-compatibility/2006">
              <mc:Choice xmlns:v="urn:schemas-microsoft-com:vml" Requires="v">
                <p:oleObj name="Equation" r:id="rId6" imgW="1371600" imgH="393480" progId="Equation.DSMT4">
                  <p:embed/>
                </p:oleObj>
              </mc:Choice>
              <mc:Fallback>
                <p:oleObj name="Equation" r:id="rId6" imgW="1371600" imgH="393480" progId="Equation.DSMT4">
                  <p:embed/>
                  <p:pic>
                    <p:nvPicPr>
                      <p:cNvPr id="13" name="Object 9"/>
                      <p:cNvPicPr>
                        <a:picLocks noChangeAspect="1" noChangeArrowheads="1"/>
                      </p:cNvPicPr>
                      <p:nvPr/>
                    </p:nvPicPr>
                    <p:blipFill>
                      <a:blip r:embed="rId7"/>
                      <a:srcRect/>
                      <a:stretch>
                        <a:fillRect/>
                      </a:stretch>
                    </p:blipFill>
                    <p:spPr bwMode="auto">
                      <a:xfrm>
                        <a:off x="1198563" y="3276600"/>
                        <a:ext cx="31527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6"/>
          <p:cNvGraphicFramePr>
            <a:graphicFrameLocks noChangeAspect="1"/>
          </p:cNvGraphicFramePr>
          <p:nvPr>
            <p:extLst>
              <p:ext uri="{D42A27DB-BD31-4B8C-83A1-F6EECF244321}">
                <p14:modId xmlns:p14="http://schemas.microsoft.com/office/powerpoint/2010/main" val="2687648553"/>
              </p:ext>
            </p:extLst>
          </p:nvPr>
        </p:nvGraphicFramePr>
        <p:xfrm>
          <a:off x="1197429" y="4419600"/>
          <a:ext cx="3240864" cy="949608"/>
        </p:xfrm>
        <a:graphic>
          <a:graphicData uri="http://schemas.openxmlformats.org/presentationml/2006/ole">
            <mc:AlternateContent xmlns:mc="http://schemas.openxmlformats.org/markup-compatibility/2006">
              <mc:Choice xmlns:v="urn:schemas-microsoft-com:vml" Requires="v">
                <p:oleObj name="Equation" r:id="rId8" imgW="1473120" imgH="431640" progId="Equation.DSMT4">
                  <p:embed/>
                </p:oleObj>
              </mc:Choice>
              <mc:Fallback>
                <p:oleObj name="Equation" r:id="rId8" imgW="1473120" imgH="431640" progId="Equation.DSMT4">
                  <p:embed/>
                  <p:pic>
                    <p:nvPicPr>
                      <p:cNvPr id="14" name="Object 6"/>
                      <p:cNvPicPr>
                        <a:picLocks noGrp="1" noChangeAspect="1" noChangeArrowheads="1"/>
                      </p:cNvPicPr>
                      <p:nvPr/>
                    </p:nvPicPr>
                    <p:blipFill>
                      <a:blip r:embed="rId9"/>
                      <a:srcRect/>
                      <a:stretch>
                        <a:fillRect/>
                      </a:stretch>
                    </p:blipFill>
                    <p:spPr bwMode="auto">
                      <a:xfrm>
                        <a:off x="1197429" y="4419600"/>
                        <a:ext cx="3240864" cy="949608"/>
                      </a:xfrm>
                      <a:prstGeom prst="rect">
                        <a:avLst/>
                      </a:prstGeom>
                      <a:noFill/>
                      <a:ln>
                        <a:noFill/>
                      </a:ln>
                      <a:effectLst/>
                    </p:spPr>
                  </p:pic>
                </p:oleObj>
              </mc:Fallback>
            </mc:AlternateContent>
          </a:graphicData>
        </a:graphic>
      </p:graphicFrame>
      <p:graphicFrame>
        <p:nvGraphicFramePr>
          <p:cNvPr id="15" name="Object 6"/>
          <p:cNvGraphicFramePr>
            <a:graphicFrameLocks noChangeAspect="1"/>
          </p:cNvGraphicFramePr>
          <p:nvPr>
            <p:extLst>
              <p:ext uri="{D42A27DB-BD31-4B8C-83A1-F6EECF244321}">
                <p14:modId xmlns:p14="http://schemas.microsoft.com/office/powerpoint/2010/main" val="2108610711"/>
              </p:ext>
            </p:extLst>
          </p:nvPr>
        </p:nvGraphicFramePr>
        <p:xfrm>
          <a:off x="4289425" y="5334000"/>
          <a:ext cx="2187575" cy="1254125"/>
        </p:xfrm>
        <a:graphic>
          <a:graphicData uri="http://schemas.openxmlformats.org/presentationml/2006/ole">
            <mc:AlternateContent xmlns:mc="http://schemas.openxmlformats.org/markup-compatibility/2006">
              <mc:Choice xmlns:v="urn:schemas-microsoft-com:vml" Requires="v">
                <p:oleObj name="Equation" r:id="rId10" imgW="1041120" imgH="596880" progId="Equation.DSMT4">
                  <p:embed/>
                </p:oleObj>
              </mc:Choice>
              <mc:Fallback>
                <p:oleObj name="Equation" r:id="rId10" imgW="1041120" imgH="596880" progId="Equation.DSMT4">
                  <p:embed/>
                  <p:pic>
                    <p:nvPicPr>
                      <p:cNvPr id="15" name="Object 6"/>
                      <p:cNvPicPr>
                        <a:picLocks noChangeAspect="1" noChangeArrowheads="1"/>
                      </p:cNvPicPr>
                      <p:nvPr/>
                    </p:nvPicPr>
                    <p:blipFill>
                      <a:blip r:embed="rId11"/>
                      <a:srcRect/>
                      <a:stretch>
                        <a:fillRect/>
                      </a:stretch>
                    </p:blipFill>
                    <p:spPr bwMode="auto">
                      <a:xfrm>
                        <a:off x="4289425" y="5334000"/>
                        <a:ext cx="2187575"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78821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5"/>
          <p:cNvGraphicFramePr>
            <a:graphicFrameLocks noChangeAspect="1"/>
          </p:cNvGraphicFramePr>
          <p:nvPr>
            <p:extLst>
              <p:ext uri="{D42A27DB-BD31-4B8C-83A1-F6EECF244321}">
                <p14:modId xmlns:p14="http://schemas.microsoft.com/office/powerpoint/2010/main" val="1375718392"/>
              </p:ext>
            </p:extLst>
          </p:nvPr>
        </p:nvGraphicFramePr>
        <p:xfrm>
          <a:off x="1302544" y="1086485"/>
          <a:ext cx="6513512" cy="1373188"/>
        </p:xfrm>
        <a:graphic>
          <a:graphicData uri="http://schemas.openxmlformats.org/presentationml/2006/ole">
            <mc:AlternateContent xmlns:mc="http://schemas.openxmlformats.org/markup-compatibility/2006">
              <mc:Choice xmlns:v="urn:schemas-microsoft-com:vml" Requires="v">
                <p:oleObj name="Equation" r:id="rId2" imgW="2831760" imgH="596880" progId="Equation.DSMT4">
                  <p:embed/>
                </p:oleObj>
              </mc:Choice>
              <mc:Fallback>
                <p:oleObj name="Equation" r:id="rId2" imgW="2831760" imgH="596880" progId="Equation.DSMT4">
                  <p:embed/>
                  <p:pic>
                    <p:nvPicPr>
                      <p:cNvPr id="2" name="Object 5"/>
                      <p:cNvPicPr>
                        <a:picLocks noChangeAspect="1" noChangeArrowheads="1"/>
                      </p:cNvPicPr>
                      <p:nvPr/>
                    </p:nvPicPr>
                    <p:blipFill>
                      <a:blip r:embed="rId3"/>
                      <a:srcRect/>
                      <a:stretch>
                        <a:fillRect/>
                      </a:stretch>
                    </p:blipFill>
                    <p:spPr bwMode="auto">
                      <a:xfrm>
                        <a:off x="1302544" y="1086485"/>
                        <a:ext cx="6513512"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矩形 4"/>
          <p:cNvSpPr/>
          <p:nvPr/>
        </p:nvSpPr>
        <p:spPr>
          <a:xfrm>
            <a:off x="685800" y="838200"/>
            <a:ext cx="1627369"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用矩形窗</a:t>
            </a:r>
            <a:endParaRPr lang="zh-CN" altLang="en-US" dirty="0"/>
          </a:p>
        </p:txBody>
      </p:sp>
      <p:sp>
        <p:nvSpPr>
          <p:cNvPr id="7" name="矩形 6"/>
          <p:cNvSpPr/>
          <p:nvPr/>
        </p:nvSpPr>
        <p:spPr>
          <a:xfrm>
            <a:off x="685800" y="4038600"/>
            <a:ext cx="1627370" cy="523220"/>
          </a:xfrm>
          <a:prstGeom prst="rect">
            <a:avLst/>
          </a:prstGeom>
        </p:spPr>
        <p:txBody>
          <a:bodyPr wrap="none">
            <a:spAutoFit/>
          </a:bodyPr>
          <a:lstStyle/>
          <a:p>
            <a:pPr lvl="0" algn="ctr" eaLnBrk="1" fontAlgn="auto" hangingPunct="1">
              <a:spcBef>
                <a:spcPts val="0"/>
              </a:spcBef>
              <a:spcAft>
                <a:spcPts val="0"/>
              </a:spcAft>
            </a:pP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a:t>
            </a:r>
            <a:r>
              <a:rPr lang="zh-CN" altLang="zh-CN" sz="2800" b="1" kern="105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汉</a:t>
            </a:r>
            <a:r>
              <a:rPr lang="zh-CN" altLang="en-US" sz="2800" b="1" kern="105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明窗</a:t>
            </a:r>
          </a:p>
        </p:txBody>
      </p:sp>
      <p:graphicFrame>
        <p:nvGraphicFramePr>
          <p:cNvPr id="8" name="Object 5"/>
          <p:cNvGraphicFramePr>
            <a:graphicFrameLocks noChangeAspect="1"/>
          </p:cNvGraphicFramePr>
          <p:nvPr>
            <p:extLst>
              <p:ext uri="{D42A27DB-BD31-4B8C-83A1-F6EECF244321}">
                <p14:modId xmlns:p14="http://schemas.microsoft.com/office/powerpoint/2010/main" val="3053298355"/>
              </p:ext>
            </p:extLst>
          </p:nvPr>
        </p:nvGraphicFramePr>
        <p:xfrm>
          <a:off x="1012825" y="4599874"/>
          <a:ext cx="7446963" cy="1927225"/>
        </p:xfrm>
        <a:graphic>
          <a:graphicData uri="http://schemas.openxmlformats.org/presentationml/2006/ole">
            <mc:AlternateContent xmlns:mc="http://schemas.openxmlformats.org/markup-compatibility/2006">
              <mc:Choice xmlns:v="urn:schemas-microsoft-com:vml" Requires="v">
                <p:oleObj name="Equation" r:id="rId4" imgW="3238200" imgH="838080" progId="Equation.DSMT4">
                  <p:embed/>
                </p:oleObj>
              </mc:Choice>
              <mc:Fallback>
                <p:oleObj name="Equation" r:id="rId4" imgW="3238200" imgH="838080" progId="Equation.DSMT4">
                  <p:embed/>
                  <p:pic>
                    <p:nvPicPr>
                      <p:cNvPr id="8" name="Object 5"/>
                      <p:cNvPicPr>
                        <a:picLocks noChangeAspect="1" noChangeArrowheads="1"/>
                      </p:cNvPicPr>
                      <p:nvPr/>
                    </p:nvPicPr>
                    <p:blipFill>
                      <a:blip r:embed="rId5"/>
                      <a:srcRect/>
                      <a:stretch>
                        <a:fillRect/>
                      </a:stretch>
                    </p:blipFill>
                    <p:spPr bwMode="auto">
                      <a:xfrm>
                        <a:off x="1012825" y="4599874"/>
                        <a:ext cx="7446963" cy="192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graphicFrame>
        <p:nvGraphicFramePr>
          <p:cNvPr id="10" name="Object 9"/>
          <p:cNvGraphicFramePr>
            <a:graphicFrameLocks noChangeAspect="1"/>
          </p:cNvGraphicFramePr>
          <p:nvPr>
            <p:extLst>
              <p:ext uri="{D42A27DB-BD31-4B8C-83A1-F6EECF244321}">
                <p14:modId xmlns:p14="http://schemas.microsoft.com/office/powerpoint/2010/main" val="2012472117"/>
              </p:ext>
            </p:extLst>
          </p:nvPr>
        </p:nvGraphicFramePr>
        <p:xfrm>
          <a:off x="1327682" y="3021012"/>
          <a:ext cx="5978525" cy="865188"/>
        </p:xfrm>
        <a:graphic>
          <a:graphicData uri="http://schemas.openxmlformats.org/presentationml/2006/ole">
            <mc:AlternateContent xmlns:mc="http://schemas.openxmlformats.org/markup-compatibility/2006">
              <mc:Choice xmlns:v="urn:schemas-microsoft-com:vml" Requires="v">
                <p:oleObj name="Equation" r:id="rId8" imgW="2717640" imgH="393480" progId="Equation.DSMT4">
                  <p:embed/>
                </p:oleObj>
              </mc:Choice>
              <mc:Fallback>
                <p:oleObj name="Equation" r:id="rId8" imgW="2717640" imgH="393480" progId="Equation.DSMT4">
                  <p:embed/>
                  <p:pic>
                    <p:nvPicPr>
                      <p:cNvPr id="10" name="Object 9"/>
                      <p:cNvPicPr>
                        <a:picLocks noChangeAspect="1" noChangeArrowheads="1"/>
                      </p:cNvPicPr>
                      <p:nvPr/>
                    </p:nvPicPr>
                    <p:blipFill>
                      <a:blip r:embed="rId9"/>
                      <a:srcRect/>
                      <a:stretch>
                        <a:fillRect/>
                      </a:stretch>
                    </p:blipFill>
                    <p:spPr bwMode="auto">
                      <a:xfrm>
                        <a:off x="1327682" y="3021012"/>
                        <a:ext cx="5978525" cy="865188"/>
                      </a:xfrm>
                      <a:prstGeom prst="rect">
                        <a:avLst/>
                      </a:prstGeom>
                      <a:noFill/>
                      <a:ln>
                        <a:noFill/>
                      </a:ln>
                      <a:effectLst/>
                    </p:spPr>
                  </p:pic>
                </p:oleObj>
              </mc:Fallback>
            </mc:AlternateContent>
          </a:graphicData>
        </a:graphic>
      </p:graphicFrame>
      <p:sp>
        <p:nvSpPr>
          <p:cNvPr id="3" name="矩形 2"/>
          <p:cNvSpPr/>
          <p:nvPr/>
        </p:nvSpPr>
        <p:spPr>
          <a:xfrm>
            <a:off x="1219200" y="2448580"/>
            <a:ext cx="4512774" cy="523220"/>
          </a:xfrm>
          <a:prstGeom prst="rect">
            <a:avLst/>
          </a:prstGeom>
        </p:spPr>
        <p:txBody>
          <a:bodyPr wrap="none">
            <a:spAutoFit/>
          </a:bodyPr>
          <a:lstStyle/>
          <a:p>
            <a:r>
              <a:rPr lang="zh-CN" altLang="en-US" sz="2800" b="1" dirty="0">
                <a:solidFill>
                  <a:srgbClr val="0000CC"/>
                </a:solidFill>
                <a:latin typeface="Times New Roman" panose="02020603050405020304" pitchFamily="18" charset="0"/>
                <a:cs typeface="Times New Roman" panose="02020603050405020304" pitchFamily="18" charset="0"/>
              </a:rPr>
              <a:t>如果要求写出每一个样本值</a:t>
            </a:r>
            <a:endParaRPr lang="zh-CN" altLang="en-US" sz="2800" dirty="0">
              <a:solidFill>
                <a:srgbClr val="0000CC"/>
              </a:solidFill>
            </a:endParaRPr>
          </a:p>
        </p:txBody>
      </p:sp>
    </p:spTree>
    <p:extLst>
      <p:ext uri="{BB962C8B-B14F-4D97-AF65-F5344CB8AC3E}">
        <p14:creationId xmlns:p14="http://schemas.microsoft.com/office/powerpoint/2010/main" val="413929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0600" y="914400"/>
            <a:ext cx="2941831" cy="523220"/>
          </a:xfrm>
          <a:prstGeom prst="rect">
            <a:avLst/>
          </a:prstGeom>
        </p:spPr>
        <p:txBody>
          <a:bodyPr wrap="none">
            <a:spAutoFit/>
          </a:bodyPr>
          <a:lstStyle/>
          <a:p>
            <a:pPr lvl="0">
              <a:spcBef>
                <a:spcPts val="0"/>
              </a:spcBef>
            </a:pPr>
            <a:r>
              <a:rPr kumimoji="1"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凯塞</a:t>
            </a:r>
            <a:r>
              <a:rPr kumimoji="1"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(Kaiser)</a:t>
            </a:r>
            <a:r>
              <a:rPr kumimoji="1"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窗</a:t>
            </a:r>
          </a:p>
        </p:txBody>
      </p:sp>
      <p:sp>
        <p:nvSpPr>
          <p:cNvPr id="6" name="矩形 5"/>
          <p:cNvSpPr/>
          <p:nvPr/>
        </p:nvSpPr>
        <p:spPr>
          <a:xfrm>
            <a:off x="990600" y="1524000"/>
            <a:ext cx="7620000" cy="954107"/>
          </a:xfrm>
          <a:prstGeom prst="rect">
            <a:avLst/>
          </a:prstGeom>
        </p:spPr>
        <p:txBody>
          <a:bodyPr wrap="square">
            <a:spAutoFit/>
          </a:bodyPr>
          <a:lstStyle/>
          <a:p>
            <a:pPr lvl="0" algn="just" eaLnBrk="1" hangingPunct="1">
              <a:spcBef>
                <a:spcPct val="50000"/>
              </a:spcBef>
            </a:pPr>
            <a:r>
              <a:rPr kumimoji="1" lang="zh-CN" altLang="en-US" sz="2800" b="1" dirty="0">
                <a:solidFill>
                  <a:srgbClr val="000000"/>
                </a:solidFill>
                <a:latin typeface="Times New Roman" panose="02020603050405020304" pitchFamily="18" charset="0"/>
                <a:ea typeface="宋体" panose="02010600030101010101" pitchFamily="2" charset="-122"/>
              </a:rPr>
              <a:t>凯塞窗可以在主瓣宽度与旁瓣衰减之间自由地选择。</a:t>
            </a:r>
            <a:endParaRPr kumimoji="1" lang="zh-CN" altLang="en-US" sz="2800" b="1" dirty="0">
              <a:solidFill>
                <a:srgbClr val="3333CC"/>
              </a:solidFill>
              <a:latin typeface="Times New Roman" panose="02020603050405020304" pitchFamily="18" charset="0"/>
              <a:ea typeface="宋体" panose="02010600030101010101" pitchFamily="2" charset="-122"/>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690170817"/>
              </p:ext>
            </p:extLst>
          </p:nvPr>
        </p:nvGraphicFramePr>
        <p:xfrm>
          <a:off x="1208088" y="2484438"/>
          <a:ext cx="7400925" cy="1265237"/>
        </p:xfrm>
        <a:graphic>
          <a:graphicData uri="http://schemas.openxmlformats.org/presentationml/2006/ole">
            <mc:AlternateContent xmlns:mc="http://schemas.openxmlformats.org/markup-compatibility/2006">
              <mc:Choice xmlns:v="urn:schemas-microsoft-com:vml" Requires="v">
                <p:oleObj name="Equation" r:id="rId2" imgW="3619440" imgH="622080" progId="Equation.DSMT4">
                  <p:embed/>
                </p:oleObj>
              </mc:Choice>
              <mc:Fallback>
                <p:oleObj name="Equation" r:id="rId2" imgW="3619440" imgH="622080" progId="Equation.DSMT4">
                  <p:embed/>
                  <p:pic>
                    <p:nvPicPr>
                      <p:cNvPr id="7" name="Object 4"/>
                      <p:cNvPicPr>
                        <a:picLocks noChangeAspect="1" noChangeArrowheads="1"/>
                      </p:cNvPicPr>
                      <p:nvPr/>
                    </p:nvPicPr>
                    <p:blipFill>
                      <a:blip r:embed="rId3"/>
                      <a:srcRect/>
                      <a:stretch>
                        <a:fillRect/>
                      </a:stretch>
                    </p:blipFill>
                    <p:spPr bwMode="auto">
                      <a:xfrm>
                        <a:off x="1208088" y="2484438"/>
                        <a:ext cx="7400925"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5"/>
          <p:cNvSpPr>
            <a:spLocks noChangeArrowheads="1"/>
          </p:cNvSpPr>
          <p:nvPr/>
        </p:nvSpPr>
        <p:spPr bwMode="auto">
          <a:xfrm>
            <a:off x="1052512" y="3977294"/>
            <a:ext cx="8091488"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kumimoji="1" lang="en-US" altLang="zh-CN" sz="2800" b="1" i="1" dirty="0">
                <a:solidFill>
                  <a:srgbClr val="000000"/>
                </a:solidFill>
                <a:latin typeface="Times New Roman" panose="02020603050405020304" pitchFamily="18" charset="0"/>
                <a:ea typeface="宋体" panose="02010600030101010101" pitchFamily="2" charset="-122"/>
              </a:rPr>
              <a:t>I</a:t>
            </a:r>
            <a:r>
              <a:rPr kumimoji="1" lang="en-US" altLang="zh-CN" sz="2800" b="1" baseline="-30000" dirty="0">
                <a:solidFill>
                  <a:srgbClr val="000000"/>
                </a:solidFill>
                <a:latin typeface="Times New Roman" panose="02020603050405020304" pitchFamily="18" charset="0"/>
                <a:ea typeface="宋体" panose="02010600030101010101" pitchFamily="2" charset="-122"/>
              </a:rPr>
              <a:t>0</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x</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是零阶修正贝塞尔函数，参数</a:t>
            </a:r>
            <a:r>
              <a:rPr kumimoji="1" lang="en-US" altLang="zh-CN" sz="2800" b="1" i="1" dirty="0">
                <a:solidFill>
                  <a:srgbClr val="000000"/>
                </a:solidFill>
                <a:latin typeface="Times New Roman" panose="02020603050405020304" pitchFamily="18" charset="0"/>
                <a:ea typeface="宋体" panose="02010600030101010101" pitchFamily="2" charset="-122"/>
              </a:rPr>
              <a:t>β</a:t>
            </a:r>
            <a:r>
              <a:rPr kumimoji="1" lang="zh-CN" altLang="en-US" sz="2800" b="1" dirty="0">
                <a:solidFill>
                  <a:srgbClr val="000000"/>
                </a:solidFill>
                <a:latin typeface="Times New Roman" panose="02020603050405020304" pitchFamily="18" charset="0"/>
                <a:ea typeface="宋体" panose="02010600030101010101" pitchFamily="2" charset="-122"/>
              </a:rPr>
              <a:t>可自由选择，决定主瓣宽度与旁瓣衰减。</a:t>
            </a:r>
            <a:r>
              <a:rPr kumimoji="1" lang="en-US" altLang="zh-CN" sz="2800" b="1" i="1" dirty="0">
                <a:solidFill>
                  <a:srgbClr val="000000"/>
                </a:solidFill>
                <a:latin typeface="Times New Roman" panose="02020603050405020304" pitchFamily="18" charset="0"/>
                <a:ea typeface="宋体" panose="02010600030101010101" pitchFamily="2" charset="-122"/>
              </a:rPr>
              <a:t>β</a:t>
            </a:r>
            <a:r>
              <a:rPr kumimoji="1" lang="zh-CN" altLang="en-US" sz="2800" b="1" dirty="0">
                <a:solidFill>
                  <a:srgbClr val="000000"/>
                </a:solidFill>
                <a:latin typeface="Times New Roman" panose="02020603050405020304" pitchFamily="18" charset="0"/>
                <a:ea typeface="宋体" panose="02010600030101010101" pitchFamily="2" charset="-122"/>
              </a:rPr>
              <a:t>越大，</a:t>
            </a:r>
            <a:r>
              <a:rPr kumimoji="1" lang="en-US" altLang="zh-CN" sz="2800" b="1" i="1" dirty="0">
                <a:solidFill>
                  <a:srgbClr val="000000"/>
                </a:solidFill>
                <a:latin typeface="Times New Roman" panose="02020603050405020304" pitchFamily="18" charset="0"/>
                <a:ea typeface="宋体" panose="02010600030101010101" pitchFamily="2" charset="-122"/>
              </a:rPr>
              <a:t>w</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n</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zh-CN" altLang="en-US" sz="2800" b="1" dirty="0">
                <a:solidFill>
                  <a:srgbClr val="000000"/>
                </a:solidFill>
                <a:latin typeface="Times New Roman" panose="02020603050405020304" pitchFamily="18" charset="0"/>
                <a:ea typeface="宋体" panose="02010600030101010101" pitchFamily="2" charset="-122"/>
              </a:rPr>
              <a:t>窗越窄，其频谱的主瓣变宽，旁瓣变小。</a:t>
            </a:r>
            <a:endParaRPr kumimoji="1" lang="zh-CN" altLang="en-US" sz="2800" b="1" dirty="0">
              <a:latin typeface="Times New Roman" panose="02020603050405020304" pitchFamily="18" charset="0"/>
              <a:ea typeface="宋体" panose="02010600030101010101" pitchFamily="2" charset="-122"/>
            </a:endParaRPr>
          </a:p>
        </p:txBody>
      </p:sp>
      <p:sp>
        <p:nvSpPr>
          <p:cNvPr id="9" name="Rectangle 6"/>
          <p:cNvSpPr>
            <a:spLocks noChangeArrowheads="1"/>
          </p:cNvSpPr>
          <p:nvPr/>
        </p:nvSpPr>
        <p:spPr bwMode="auto">
          <a:xfrm>
            <a:off x="1208088" y="5858186"/>
            <a:ext cx="4572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kumimoji="1" lang="en-US" altLang="zh-CN" sz="2800" b="1" i="1" dirty="0">
                <a:solidFill>
                  <a:srgbClr val="000000"/>
                </a:solidFill>
                <a:latin typeface="Times New Roman" panose="02020603050405020304" pitchFamily="18" charset="0"/>
                <a:ea typeface="宋体" panose="02010600030101010101" pitchFamily="2" charset="-122"/>
              </a:rPr>
              <a:t>β</a:t>
            </a:r>
            <a:r>
              <a:rPr kumimoji="1" lang="en-US" altLang="zh-CN" sz="2800" b="1" dirty="0">
                <a:solidFill>
                  <a:srgbClr val="000000"/>
                </a:solidFill>
                <a:latin typeface="Times New Roman" panose="02020603050405020304" pitchFamily="18" charset="0"/>
                <a:ea typeface="宋体" panose="02010600030101010101" pitchFamily="2" charset="-122"/>
              </a:rPr>
              <a:t>=0     </a:t>
            </a:r>
            <a:r>
              <a:rPr kumimoji="1" lang="zh-CN" altLang="en-US" sz="2800" b="1" dirty="0">
                <a:solidFill>
                  <a:srgbClr val="000000"/>
                </a:solidFill>
                <a:latin typeface="Times New Roman" panose="02020603050405020304" pitchFamily="18" charset="0"/>
                <a:ea typeface="宋体" panose="02010600030101010101" pitchFamily="2" charset="-122"/>
              </a:rPr>
              <a:t>相当于矩形窗</a:t>
            </a:r>
          </a:p>
        </p:txBody>
      </p:sp>
      <p:sp>
        <p:nvSpPr>
          <p:cNvPr id="1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25714984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914400" y="965520"/>
            <a:ext cx="7950000" cy="1828800"/>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i="0" dirty="0">
                <a:solidFill>
                  <a:srgbClr val="000000"/>
                </a:solidFill>
                <a:latin typeface="Times New Roman" panose="02020603050405020304" pitchFamily="18" charset="0"/>
                <a:ea typeface="宋体" panose="02010600030101010101" pitchFamily="2" charset="-122"/>
              </a:rPr>
              <a:t>对于凯塞窗，若给定滤波器的</a:t>
            </a:r>
            <a:r>
              <a:rPr lang="zh-CN" altLang="en-US" sz="2800" b="1" i="0" dirty="0">
                <a:solidFill>
                  <a:srgbClr val="000000"/>
                </a:solidFill>
                <a:ea typeface="宋体" panose="02010600030101010101" pitchFamily="2" charset="-122"/>
              </a:rPr>
              <a:t>过渡带宽为</a:t>
            </a:r>
            <a:r>
              <a:rPr lang="zh-CN" altLang="en-US" sz="2800" b="1" dirty="0">
                <a:solidFill>
                  <a:srgbClr val="000000"/>
                </a:solidFill>
                <a:ea typeface="宋体" panose="02010600030101010101" pitchFamily="2" charset="-122"/>
                <a:sym typeface="Symbol" panose="05050102010706020507" pitchFamily="18" charset="2"/>
              </a:rPr>
              <a:t></a:t>
            </a:r>
            <a:r>
              <a:rPr lang="zh-CN" altLang="en-US" sz="2800" b="1" i="0" dirty="0">
                <a:solidFill>
                  <a:srgbClr val="000000"/>
                </a:solidFill>
                <a:ea typeface="宋体" panose="02010600030101010101" pitchFamily="2" charset="-122"/>
                <a:sym typeface="Symbol" panose="05050102010706020507" pitchFamily="18" charset="2"/>
              </a:rPr>
              <a:t>，</a:t>
            </a:r>
            <a:br>
              <a:rPr lang="zh-CN" altLang="en-US" sz="2800" b="1" i="0" dirty="0">
                <a:solidFill>
                  <a:srgbClr val="000000"/>
                </a:solidFill>
                <a:ea typeface="宋体" panose="02010600030101010101" pitchFamily="2" charset="-122"/>
              </a:rPr>
            </a:br>
            <a:r>
              <a:rPr lang="zh-CN" altLang="en-US" sz="2800" b="1" i="0" dirty="0">
                <a:solidFill>
                  <a:srgbClr val="000000"/>
                </a:solidFill>
                <a:ea typeface="宋体" panose="02010600030101010101" pitchFamily="2" charset="-122"/>
              </a:rPr>
              <a:t>阻带最小衰减为</a:t>
            </a:r>
            <a:r>
              <a:rPr lang="en-US" altLang="zh-CN" sz="2800" b="1" dirty="0">
                <a:solidFill>
                  <a:srgbClr val="000000"/>
                </a:solidFill>
                <a:ea typeface="宋体" panose="02010600030101010101" pitchFamily="2" charset="-122"/>
              </a:rPr>
              <a:t>At </a:t>
            </a:r>
            <a:r>
              <a:rPr lang="zh-CN" altLang="en-US" sz="2800" b="1" i="0" dirty="0">
                <a:solidFill>
                  <a:srgbClr val="000000"/>
                </a:solidFill>
                <a:ea typeface="宋体" panose="02010600030101010101" pitchFamily="2" charset="-122"/>
              </a:rPr>
              <a:t>，参数</a:t>
            </a:r>
            <a:r>
              <a:rPr lang="en-US" altLang="zh-CN" sz="2800" b="1" dirty="0">
                <a:solidFill>
                  <a:srgbClr val="000000"/>
                </a:solidFill>
                <a:latin typeface="Times New Roman" panose="02020603050405020304" pitchFamily="18" charset="0"/>
                <a:ea typeface="宋体" panose="02010600030101010101" pitchFamily="2" charset="-122"/>
              </a:rPr>
              <a:t>β</a:t>
            </a:r>
            <a:r>
              <a:rPr lang="zh-CN" altLang="en-US" sz="2800" b="1" i="0" dirty="0">
                <a:solidFill>
                  <a:srgbClr val="000000"/>
                </a:solidFill>
                <a:ea typeface="宋体" panose="02010600030101010101" pitchFamily="2" charset="-122"/>
              </a:rPr>
              <a:t>和滤波器长度</a:t>
            </a:r>
            <a:r>
              <a:rPr lang="en-US" altLang="zh-CN" sz="2800" b="1" dirty="0">
                <a:solidFill>
                  <a:srgbClr val="000000"/>
                </a:solidFill>
                <a:ea typeface="宋体" panose="02010600030101010101" pitchFamily="2" charset="-122"/>
              </a:rPr>
              <a:t>N</a:t>
            </a:r>
            <a:r>
              <a:rPr lang="zh-CN" altLang="en-US" sz="2800" b="1" i="0" dirty="0">
                <a:solidFill>
                  <a:srgbClr val="000000"/>
                </a:solidFill>
                <a:ea typeface="宋体" panose="02010600030101010101" pitchFamily="2" charset="-122"/>
              </a:rPr>
              <a:t>可由下列经验公式求得</a:t>
            </a:r>
            <a:endParaRPr lang="zh-CN" altLang="en-US" sz="2800" b="1" i="0" dirty="0">
              <a:solidFill>
                <a:schemeClr val="tx1"/>
              </a:solidFill>
              <a:ea typeface="宋体" panose="02010600030101010101" pitchFamily="2" charset="-122"/>
            </a:endParaRPr>
          </a:p>
        </p:txBody>
      </p:sp>
      <p:graphicFrame>
        <p:nvGraphicFramePr>
          <p:cNvPr id="3" name="Object 3"/>
          <p:cNvGraphicFramePr>
            <a:graphicFrameLocks noChangeAspect="1"/>
          </p:cNvGraphicFramePr>
          <p:nvPr>
            <p:extLst>
              <p:ext uri="{D42A27DB-BD31-4B8C-83A1-F6EECF244321}">
                <p14:modId xmlns:p14="http://schemas.microsoft.com/office/powerpoint/2010/main" val="3849617035"/>
              </p:ext>
            </p:extLst>
          </p:nvPr>
        </p:nvGraphicFramePr>
        <p:xfrm>
          <a:off x="584400" y="3048000"/>
          <a:ext cx="8280000" cy="2234880"/>
        </p:xfrm>
        <a:graphic>
          <a:graphicData uri="http://schemas.openxmlformats.org/presentationml/2006/ole">
            <mc:AlternateContent xmlns:mc="http://schemas.openxmlformats.org/markup-compatibility/2006">
              <mc:Choice xmlns:v="urn:schemas-microsoft-com:vml" Requires="v">
                <p:oleObj name="Equation" r:id="rId2" imgW="4140000" imgH="1117440" progId="Equation.DSMT4">
                  <p:embed/>
                </p:oleObj>
              </mc:Choice>
              <mc:Fallback>
                <p:oleObj name="Equation" r:id="rId2" imgW="4140000" imgH="1117440" progId="Equation.DSMT4">
                  <p:embed/>
                  <p:pic>
                    <p:nvPicPr>
                      <p:cNvPr id="3" name="Object 3"/>
                      <p:cNvPicPr>
                        <a:picLocks noChangeAspect="1" noChangeArrowheads="1"/>
                      </p:cNvPicPr>
                      <p:nvPr/>
                    </p:nvPicPr>
                    <p:blipFill>
                      <a:blip r:embed="rId3"/>
                      <a:srcRect/>
                      <a:stretch>
                        <a:fillRect/>
                      </a:stretch>
                    </p:blipFill>
                    <p:spPr bwMode="auto">
                      <a:xfrm>
                        <a:off x="584400" y="3048000"/>
                        <a:ext cx="8280000" cy="223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4812479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6"/>
          <p:cNvGraphicFramePr>
            <a:graphicFrameLocks noChangeAspect="1"/>
          </p:cNvGraphicFramePr>
          <p:nvPr>
            <p:extLst>
              <p:ext uri="{D42A27DB-BD31-4B8C-83A1-F6EECF244321}">
                <p14:modId xmlns:p14="http://schemas.microsoft.com/office/powerpoint/2010/main" val="3576420888"/>
              </p:ext>
            </p:extLst>
          </p:nvPr>
        </p:nvGraphicFramePr>
        <p:xfrm>
          <a:off x="2674938" y="1365250"/>
          <a:ext cx="1576387" cy="525463"/>
        </p:xfrm>
        <a:graphic>
          <a:graphicData uri="http://schemas.openxmlformats.org/presentationml/2006/ole">
            <mc:AlternateContent xmlns:mc="http://schemas.openxmlformats.org/markup-compatibility/2006">
              <mc:Choice xmlns:v="urn:schemas-microsoft-com:vml" Requires="v">
                <p:oleObj name="Equation" r:id="rId2" imgW="685800" imgH="228600" progId="Equation.DSMT4">
                  <p:embed/>
                </p:oleObj>
              </mc:Choice>
              <mc:Fallback>
                <p:oleObj name="Equation" r:id="rId2" imgW="685800" imgH="228600" progId="Equation.DSMT4">
                  <p:embed/>
                  <p:pic>
                    <p:nvPicPr>
                      <p:cNvPr id="3" name="Object 6"/>
                      <p:cNvPicPr>
                        <a:picLocks noGrp="1" noChangeAspect="1" noChangeArrowheads="1"/>
                      </p:cNvPicPr>
                      <p:nvPr/>
                    </p:nvPicPr>
                    <p:blipFill>
                      <a:blip r:embed="rId3"/>
                      <a:srcRect/>
                      <a:stretch>
                        <a:fillRect/>
                      </a:stretch>
                    </p:blipFill>
                    <p:spPr bwMode="auto">
                      <a:xfrm>
                        <a:off x="2674938" y="1365250"/>
                        <a:ext cx="1576387"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14"/>
          <p:cNvSpPr txBox="1">
            <a:spLocks noChangeArrowheads="1"/>
          </p:cNvSpPr>
          <p:nvPr/>
        </p:nvSpPr>
        <p:spPr bwMode="auto">
          <a:xfrm>
            <a:off x="1066800" y="838200"/>
            <a:ext cx="7808459" cy="1566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4000"/>
              </a:lnSpc>
            </a:pPr>
            <a:r>
              <a:rPr lang="zh-CN" altLang="en-US" sz="2800" b="1" dirty="0">
                <a:latin typeface="Times New Roman" panose="02020603050405020304" pitchFamily="18" charset="0"/>
                <a:cs typeface="Times New Roman" panose="02020603050405020304" pitchFamily="18" charset="0"/>
              </a:rPr>
              <a:t>用凯塞窗设计一</a:t>
            </a:r>
            <a:r>
              <a:rPr lang="zh-CN" altLang="en-US" sz="2800" b="1" dirty="0">
                <a:solidFill>
                  <a:srgbClr val="000000"/>
                </a:solidFill>
                <a:latin typeface="Times New Roman" panose="02020603050405020304" pitchFamily="18" charset="0"/>
                <a:cs typeface="Times New Roman" panose="02020603050405020304" pitchFamily="18" charset="0"/>
              </a:rPr>
              <a:t>线性相位</a:t>
            </a:r>
            <a:r>
              <a:rPr lang="en-US" altLang="zh-CN" sz="2800" b="1" dirty="0">
                <a:latin typeface="Times New Roman" panose="02020603050405020304" pitchFamily="18" charset="0"/>
                <a:cs typeface="Times New Roman" panose="02020603050405020304" pitchFamily="18" charset="0"/>
              </a:rPr>
              <a:t>FIR </a:t>
            </a:r>
            <a:r>
              <a:rPr lang="zh-CN" altLang="en-US" sz="2800" b="1" dirty="0">
                <a:latin typeface="Times New Roman" panose="02020603050405020304" pitchFamily="18" charset="0"/>
                <a:cs typeface="Times New Roman" panose="02020603050405020304" pitchFamily="18" charset="0"/>
              </a:rPr>
              <a:t>低通滤波器，通带边界频率                    阻带边界频率                 ，阻带衰减不小于</a:t>
            </a:r>
            <a:r>
              <a:rPr lang="en-US" altLang="zh-CN" sz="2800" b="1" dirty="0">
                <a:latin typeface="Times New Roman" panose="02020603050405020304" pitchFamily="18" charset="0"/>
                <a:cs typeface="Times New Roman" panose="02020603050405020304" pitchFamily="18" charset="0"/>
              </a:rPr>
              <a:t>50dB</a:t>
            </a:r>
            <a:r>
              <a:rPr lang="zh-CN" altLang="en-US" sz="2800" b="1" dirty="0">
                <a:latin typeface="Times New Roman" panose="02020603050405020304" pitchFamily="18" charset="0"/>
                <a:cs typeface="Times New Roman" panose="02020603050405020304" pitchFamily="18" charset="0"/>
              </a:rPr>
              <a:t>。</a:t>
            </a:r>
          </a:p>
        </p:txBody>
      </p:sp>
      <p:graphicFrame>
        <p:nvGraphicFramePr>
          <p:cNvPr id="5" name="Object 6"/>
          <p:cNvGraphicFramePr>
            <a:graphicFrameLocks noChangeAspect="1"/>
          </p:cNvGraphicFramePr>
          <p:nvPr>
            <p:extLst>
              <p:ext uri="{D42A27DB-BD31-4B8C-83A1-F6EECF244321}">
                <p14:modId xmlns:p14="http://schemas.microsoft.com/office/powerpoint/2010/main" val="3301484138"/>
              </p:ext>
            </p:extLst>
          </p:nvPr>
        </p:nvGraphicFramePr>
        <p:xfrm>
          <a:off x="6511428" y="1371600"/>
          <a:ext cx="1489572" cy="525780"/>
        </p:xfrm>
        <a:graphic>
          <a:graphicData uri="http://schemas.openxmlformats.org/presentationml/2006/ole">
            <mc:AlternateContent xmlns:mc="http://schemas.openxmlformats.org/markup-compatibility/2006">
              <mc:Choice xmlns:v="urn:schemas-microsoft-com:vml" Requires="v">
                <p:oleObj name="Equation" r:id="rId4" imgW="647640" imgH="228600" progId="Equation.DSMT4">
                  <p:embed/>
                </p:oleObj>
              </mc:Choice>
              <mc:Fallback>
                <p:oleObj name="Equation" r:id="rId4" imgW="647640" imgH="228600" progId="Equation.DSMT4">
                  <p:embed/>
                  <p:pic>
                    <p:nvPicPr>
                      <p:cNvPr id="5" name="Object 6"/>
                      <p:cNvPicPr>
                        <a:picLocks noChangeAspect="1" noChangeArrowheads="1"/>
                      </p:cNvPicPr>
                      <p:nvPr/>
                    </p:nvPicPr>
                    <p:blipFill>
                      <a:blip r:embed="rId5"/>
                      <a:srcRect/>
                      <a:stretch>
                        <a:fillRect/>
                      </a:stretch>
                    </p:blipFill>
                    <p:spPr bwMode="auto">
                      <a:xfrm>
                        <a:off x="6511428" y="1371600"/>
                        <a:ext cx="148957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76200" y="873068"/>
            <a:ext cx="994183" cy="523220"/>
          </a:xfrm>
          <a:prstGeom prst="rect">
            <a:avLst/>
          </a:prstGeom>
        </p:spPr>
        <p:txBody>
          <a:bodyPr wrap="none">
            <a:spAutoFit/>
          </a:bodyPr>
          <a:lstStyle/>
          <a:p>
            <a:r>
              <a:rPr lang="zh-CN" altLang="en-US" sz="2800" b="1" dirty="0">
                <a:latin typeface="Times New Roman" panose="02020603050405020304" pitchFamily="18" charset="0"/>
                <a:cs typeface="Times New Roman" panose="02020603050405020304" pitchFamily="18" charset="0"/>
              </a:rPr>
              <a:t>例</a:t>
            </a:r>
            <a:r>
              <a:rPr lang="en-US" altLang="zh-CN" sz="2800" b="1" dirty="0">
                <a:latin typeface="Times New Roman" panose="02020603050405020304" pitchFamily="18" charset="0"/>
                <a:cs typeface="Times New Roman" panose="02020603050405020304" pitchFamily="18" charset="0"/>
              </a:rPr>
              <a:t>5.2</a:t>
            </a:r>
            <a:endParaRPr lang="zh-CN" altLang="en-US" dirty="0">
              <a:latin typeface="Times New Roman" panose="02020603050405020304" pitchFamily="18" charset="0"/>
              <a:cs typeface="Times New Roman" panose="02020603050405020304" pitchFamily="18" charset="0"/>
            </a:endParaRPr>
          </a:p>
        </p:txBody>
      </p:sp>
      <p:graphicFrame>
        <p:nvGraphicFramePr>
          <p:cNvPr id="8" name="Object 6"/>
          <p:cNvGraphicFramePr>
            <a:graphicFrameLocks noChangeAspect="1"/>
          </p:cNvGraphicFramePr>
          <p:nvPr>
            <p:extLst>
              <p:ext uri="{D42A27DB-BD31-4B8C-83A1-F6EECF244321}">
                <p14:modId xmlns:p14="http://schemas.microsoft.com/office/powerpoint/2010/main" val="876944704"/>
              </p:ext>
            </p:extLst>
          </p:nvPr>
        </p:nvGraphicFramePr>
        <p:xfrm>
          <a:off x="647700" y="2487613"/>
          <a:ext cx="1576388" cy="525462"/>
        </p:xfrm>
        <a:graphic>
          <a:graphicData uri="http://schemas.openxmlformats.org/presentationml/2006/ole">
            <mc:AlternateContent xmlns:mc="http://schemas.openxmlformats.org/markup-compatibility/2006">
              <mc:Choice xmlns:v="urn:schemas-microsoft-com:vml" Requires="v">
                <p:oleObj name="Equation" r:id="rId6" imgW="685800" imgH="228600" progId="Equation.DSMT4">
                  <p:embed/>
                </p:oleObj>
              </mc:Choice>
              <mc:Fallback>
                <p:oleObj name="Equation" r:id="rId6" imgW="685800" imgH="228600" progId="Equation.DSMT4">
                  <p:embed/>
                  <p:pic>
                    <p:nvPicPr>
                      <p:cNvPr id="8" name="Object 6"/>
                      <p:cNvPicPr>
                        <a:picLocks noGrp="1" noChangeAspect="1" noChangeArrowheads="1"/>
                      </p:cNvPicPr>
                      <p:nvPr/>
                    </p:nvPicPr>
                    <p:blipFill>
                      <a:blip r:embed="rId7"/>
                      <a:srcRect/>
                      <a:stretch>
                        <a:fillRect/>
                      </a:stretch>
                    </p:blipFill>
                    <p:spPr bwMode="auto">
                      <a:xfrm>
                        <a:off x="647700" y="2487613"/>
                        <a:ext cx="157638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3243468594"/>
              </p:ext>
            </p:extLst>
          </p:nvPr>
        </p:nvGraphicFramePr>
        <p:xfrm>
          <a:off x="2309431" y="2501352"/>
          <a:ext cx="1489572" cy="525780"/>
        </p:xfrm>
        <a:graphic>
          <a:graphicData uri="http://schemas.openxmlformats.org/presentationml/2006/ole">
            <mc:AlternateContent xmlns:mc="http://schemas.openxmlformats.org/markup-compatibility/2006">
              <mc:Choice xmlns:v="urn:schemas-microsoft-com:vml" Requires="v">
                <p:oleObj name="Equation" r:id="rId8" imgW="647640" imgH="228600" progId="Equation.DSMT4">
                  <p:embed/>
                </p:oleObj>
              </mc:Choice>
              <mc:Fallback>
                <p:oleObj name="Equation" r:id="rId8" imgW="647640" imgH="228600" progId="Equation.DSMT4">
                  <p:embed/>
                  <p:pic>
                    <p:nvPicPr>
                      <p:cNvPr id="9" name="Object 6"/>
                      <p:cNvPicPr>
                        <a:picLocks noChangeAspect="1" noChangeArrowheads="1"/>
                      </p:cNvPicPr>
                      <p:nvPr/>
                    </p:nvPicPr>
                    <p:blipFill>
                      <a:blip r:embed="rId9"/>
                      <a:srcRect/>
                      <a:stretch>
                        <a:fillRect/>
                      </a:stretch>
                    </p:blipFill>
                    <p:spPr bwMode="auto">
                      <a:xfrm>
                        <a:off x="2309431" y="2501352"/>
                        <a:ext cx="148957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824346840"/>
              </p:ext>
            </p:extLst>
          </p:nvPr>
        </p:nvGraphicFramePr>
        <p:xfrm>
          <a:off x="4425950" y="3160160"/>
          <a:ext cx="3651250" cy="409575"/>
        </p:xfrm>
        <a:graphic>
          <a:graphicData uri="http://schemas.openxmlformats.org/presentationml/2006/ole">
            <mc:AlternateContent xmlns:mc="http://schemas.openxmlformats.org/markup-compatibility/2006">
              <mc:Choice xmlns:v="urn:schemas-microsoft-com:vml" Requires="v">
                <p:oleObj name="Equation" r:id="rId10" imgW="1587240" imgH="177480" progId="Equation.DSMT4">
                  <p:embed/>
                </p:oleObj>
              </mc:Choice>
              <mc:Fallback>
                <p:oleObj name="Equation" r:id="rId10" imgW="1587240" imgH="177480" progId="Equation.DSMT4">
                  <p:embed/>
                  <p:pic>
                    <p:nvPicPr>
                      <p:cNvPr id="10" name="对象 9"/>
                      <p:cNvPicPr>
                        <a:picLocks noChangeAspect="1" noChangeArrowheads="1"/>
                      </p:cNvPicPr>
                      <p:nvPr/>
                    </p:nvPicPr>
                    <p:blipFill>
                      <a:blip r:embed="rId11"/>
                      <a:srcRect/>
                      <a:stretch>
                        <a:fillRect/>
                      </a:stretch>
                    </p:blipFill>
                    <p:spPr bwMode="auto">
                      <a:xfrm>
                        <a:off x="4425950" y="3160160"/>
                        <a:ext cx="36512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653495139"/>
              </p:ext>
            </p:extLst>
          </p:nvPr>
        </p:nvGraphicFramePr>
        <p:xfrm>
          <a:off x="4470400" y="2249488"/>
          <a:ext cx="3562350" cy="904875"/>
        </p:xfrm>
        <a:graphic>
          <a:graphicData uri="http://schemas.openxmlformats.org/presentationml/2006/ole">
            <mc:AlternateContent xmlns:mc="http://schemas.openxmlformats.org/markup-compatibility/2006">
              <mc:Choice xmlns:v="urn:schemas-microsoft-com:vml" Requires="v">
                <p:oleObj name="Equation" r:id="rId12" imgW="1549080" imgH="393480" progId="Equation.DSMT4">
                  <p:embed/>
                </p:oleObj>
              </mc:Choice>
              <mc:Fallback>
                <p:oleObj name="Equation" r:id="rId12" imgW="1549080" imgH="393480" progId="Equation.DSMT4">
                  <p:embed/>
                  <p:pic>
                    <p:nvPicPr>
                      <p:cNvPr id="11" name="对象 10"/>
                      <p:cNvPicPr>
                        <a:picLocks noChangeAspect="1" noChangeArrowheads="1"/>
                      </p:cNvPicPr>
                      <p:nvPr/>
                    </p:nvPicPr>
                    <p:blipFill>
                      <a:blip r:embed="rId13"/>
                      <a:srcRect/>
                      <a:stretch>
                        <a:fillRect/>
                      </a:stretch>
                    </p:blipFill>
                    <p:spPr bwMode="auto">
                      <a:xfrm>
                        <a:off x="4470400" y="2249488"/>
                        <a:ext cx="35623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箭头: 右 14">
            <a:extLst>
              <a:ext uri="{FF2B5EF4-FFF2-40B4-BE49-F238E27FC236}">
                <a16:creationId xmlns:a16="http://schemas.microsoft.com/office/drawing/2014/main" id="{22DCCB8A-46B6-4685-8798-E4FCBF4822D0}"/>
              </a:ext>
            </a:extLst>
          </p:cNvPr>
          <p:cNvSpPr/>
          <p:nvPr/>
        </p:nvSpPr>
        <p:spPr>
          <a:xfrm>
            <a:off x="3908385" y="2631164"/>
            <a:ext cx="455612" cy="238125"/>
          </a:xfrm>
          <a:prstGeom prst="rightArrow">
            <a:avLst/>
          </a:prstGeom>
          <a:solidFill>
            <a:schemeClr val="bg1"/>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3" name="矩形 12"/>
          <p:cNvSpPr/>
          <p:nvPr/>
        </p:nvSpPr>
        <p:spPr>
          <a:xfrm>
            <a:off x="2802749" y="3124200"/>
            <a:ext cx="1524776" cy="492443"/>
          </a:xfrm>
          <a:prstGeom prst="rect">
            <a:avLst/>
          </a:prstGeom>
        </p:spPr>
        <p:txBody>
          <a:bodyPr wrap="none">
            <a:spAutoFit/>
          </a:bodyPr>
          <a:lstStyle/>
          <a:p>
            <a:pPr lvl="0" algn="ctr" eaLnBrk="1" fontAlgn="auto" hangingPunct="1">
              <a:spcBef>
                <a:spcPts val="0"/>
              </a:spcBef>
              <a:spcAft>
                <a:spcPts val="0"/>
              </a:spcAft>
            </a:pPr>
            <a:r>
              <a:rPr lang="zh-CN" altLang="en-US" sz="2600" b="1" kern="1050" dirty="0">
                <a:solidFill>
                  <a:srgbClr val="0000CC"/>
                </a:solidFill>
                <a:latin typeface="Times New Roman" panose="02020603050405020304" pitchFamily="18" charset="0"/>
                <a:ea typeface="宋体" panose="02010600030101010101" pitchFamily="2" charset="-122"/>
              </a:rPr>
              <a:t>过渡带宽</a:t>
            </a:r>
          </a:p>
        </p:txBody>
      </p:sp>
      <p:sp>
        <p:nvSpPr>
          <p:cNvPr id="14" name="矩形 13"/>
          <p:cNvSpPr/>
          <p:nvPr/>
        </p:nvSpPr>
        <p:spPr>
          <a:xfrm>
            <a:off x="21220" y="2468456"/>
            <a:ext cx="936104" cy="523220"/>
          </a:xfrm>
          <a:prstGeom prst="rect">
            <a:avLst/>
          </a:prstGeom>
        </p:spPr>
        <p:txBody>
          <a:bodyPr wrap="square">
            <a:spAutoFit/>
          </a:bodyPr>
          <a:lstStyle/>
          <a:p>
            <a:r>
              <a:rPr lang="zh-CN" altLang="en-US" sz="2800" b="1" dirty="0">
                <a:solidFill>
                  <a:srgbClr val="000000"/>
                </a:solidFill>
              </a:rPr>
              <a:t>解：</a:t>
            </a:r>
            <a:endParaRPr lang="zh-CN" altLang="en-US" dirty="0"/>
          </a:p>
        </p:txBody>
      </p:sp>
      <p:graphicFrame>
        <p:nvGraphicFramePr>
          <p:cNvPr id="16" name="Object 6"/>
          <p:cNvGraphicFramePr>
            <a:graphicFrameLocks noChangeAspect="1"/>
          </p:cNvGraphicFramePr>
          <p:nvPr>
            <p:extLst>
              <p:ext uri="{D42A27DB-BD31-4B8C-83A1-F6EECF244321}">
                <p14:modId xmlns:p14="http://schemas.microsoft.com/office/powerpoint/2010/main" val="2445353306"/>
              </p:ext>
            </p:extLst>
          </p:nvPr>
        </p:nvGraphicFramePr>
        <p:xfrm>
          <a:off x="5486400" y="5672138"/>
          <a:ext cx="3332162" cy="879475"/>
        </p:xfrm>
        <a:graphic>
          <a:graphicData uri="http://schemas.openxmlformats.org/presentationml/2006/ole">
            <mc:AlternateContent xmlns:mc="http://schemas.openxmlformats.org/markup-compatibility/2006">
              <mc:Choice xmlns:v="urn:schemas-microsoft-com:vml" Requires="v">
                <p:oleObj name="Equation" r:id="rId14" imgW="1587240" imgH="419040" progId="Equation.DSMT4">
                  <p:embed/>
                </p:oleObj>
              </mc:Choice>
              <mc:Fallback>
                <p:oleObj name="Equation" r:id="rId14" imgW="1587240" imgH="419040" progId="Equation.DSMT4">
                  <p:embed/>
                  <p:pic>
                    <p:nvPicPr>
                      <p:cNvPr id="16" name="Object 6"/>
                      <p:cNvPicPr>
                        <a:picLocks noChangeAspect="1" noChangeArrowheads="1"/>
                      </p:cNvPicPr>
                      <p:nvPr/>
                    </p:nvPicPr>
                    <p:blipFill>
                      <a:blip r:embed="rId15"/>
                      <a:srcRect/>
                      <a:stretch>
                        <a:fillRect/>
                      </a:stretch>
                    </p:blipFill>
                    <p:spPr bwMode="auto">
                      <a:xfrm>
                        <a:off x="5486400" y="5672138"/>
                        <a:ext cx="3332162"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2128316407"/>
              </p:ext>
            </p:extLst>
          </p:nvPr>
        </p:nvGraphicFramePr>
        <p:xfrm>
          <a:off x="855663" y="4748213"/>
          <a:ext cx="3173412" cy="825500"/>
        </p:xfrm>
        <a:graphic>
          <a:graphicData uri="http://schemas.openxmlformats.org/presentationml/2006/ole">
            <mc:AlternateContent xmlns:mc="http://schemas.openxmlformats.org/markup-compatibility/2006">
              <mc:Choice xmlns:v="urn:schemas-microsoft-com:vml" Requires="v">
                <p:oleObj name="Equation" r:id="rId16" imgW="1511280" imgH="393480" progId="Equation.DSMT4">
                  <p:embed/>
                </p:oleObj>
              </mc:Choice>
              <mc:Fallback>
                <p:oleObj name="Equation" r:id="rId16" imgW="1511280" imgH="393480" progId="Equation.DSMT4">
                  <p:embed/>
                  <p:pic>
                    <p:nvPicPr>
                      <p:cNvPr id="18" name="Object 9"/>
                      <p:cNvPicPr>
                        <a:picLocks noChangeAspect="1" noChangeArrowheads="1"/>
                      </p:cNvPicPr>
                      <p:nvPr/>
                    </p:nvPicPr>
                    <p:blipFill>
                      <a:blip r:embed="rId17"/>
                      <a:srcRect/>
                      <a:stretch>
                        <a:fillRect/>
                      </a:stretch>
                    </p:blipFill>
                    <p:spPr bwMode="auto">
                      <a:xfrm>
                        <a:off x="855663" y="4748213"/>
                        <a:ext cx="31734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5"/>
          <p:cNvGraphicFramePr>
            <a:graphicFrameLocks noChangeAspect="1"/>
          </p:cNvGraphicFramePr>
          <p:nvPr>
            <p:extLst>
              <p:ext uri="{D42A27DB-BD31-4B8C-83A1-F6EECF244321}">
                <p14:modId xmlns:p14="http://schemas.microsoft.com/office/powerpoint/2010/main" val="3443242333"/>
              </p:ext>
            </p:extLst>
          </p:nvPr>
        </p:nvGraphicFramePr>
        <p:xfrm>
          <a:off x="438150" y="3733800"/>
          <a:ext cx="3605213" cy="865188"/>
        </p:xfrm>
        <a:graphic>
          <a:graphicData uri="http://schemas.openxmlformats.org/presentationml/2006/ole">
            <mc:AlternateContent xmlns:mc="http://schemas.openxmlformats.org/markup-compatibility/2006">
              <mc:Choice xmlns:v="urn:schemas-microsoft-com:vml" Requires="v">
                <p:oleObj name="Equation" r:id="rId18" imgW="1638000" imgH="393480" progId="Equation.DSMT4">
                  <p:embed/>
                </p:oleObj>
              </mc:Choice>
              <mc:Fallback>
                <p:oleObj name="Equation" r:id="rId18" imgW="1638000" imgH="393480" progId="Equation.DSMT4">
                  <p:embed/>
                  <p:pic>
                    <p:nvPicPr>
                      <p:cNvPr id="19" name="Object 5"/>
                      <p:cNvPicPr>
                        <a:picLocks noChangeAspect="1" noChangeArrowheads="1"/>
                      </p:cNvPicPr>
                      <p:nvPr/>
                    </p:nvPicPr>
                    <p:blipFill>
                      <a:blip r:embed="rId19"/>
                      <a:srcRect/>
                      <a:stretch>
                        <a:fillRect/>
                      </a:stretch>
                    </p:blipFill>
                    <p:spPr bwMode="auto">
                      <a:xfrm>
                        <a:off x="438150" y="3733800"/>
                        <a:ext cx="3605213"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6"/>
          <p:cNvGraphicFramePr>
            <a:graphicFrameLocks noChangeAspect="1"/>
          </p:cNvGraphicFramePr>
          <p:nvPr>
            <p:extLst>
              <p:ext uri="{D42A27DB-BD31-4B8C-83A1-F6EECF244321}">
                <p14:modId xmlns:p14="http://schemas.microsoft.com/office/powerpoint/2010/main" val="639083679"/>
              </p:ext>
            </p:extLst>
          </p:nvPr>
        </p:nvGraphicFramePr>
        <p:xfrm>
          <a:off x="4346716" y="3962400"/>
          <a:ext cx="3855456" cy="446688"/>
        </p:xfrm>
        <a:graphic>
          <a:graphicData uri="http://schemas.openxmlformats.org/presentationml/2006/ole">
            <mc:AlternateContent xmlns:mc="http://schemas.openxmlformats.org/markup-compatibility/2006">
              <mc:Choice xmlns:v="urn:schemas-microsoft-com:vml" Requires="v">
                <p:oleObj name="Equation" r:id="rId20" imgW="1752480" imgH="203040" progId="Equation.DSMT4">
                  <p:embed/>
                </p:oleObj>
              </mc:Choice>
              <mc:Fallback>
                <p:oleObj name="Equation" r:id="rId20" imgW="1752480" imgH="203040" progId="Equation.DSMT4">
                  <p:embed/>
                  <p:pic>
                    <p:nvPicPr>
                      <p:cNvPr id="20" name="Object 6"/>
                      <p:cNvPicPr>
                        <a:picLocks noChangeAspect="1" noChangeArrowheads="1"/>
                      </p:cNvPicPr>
                      <p:nvPr/>
                    </p:nvPicPr>
                    <p:blipFill>
                      <a:blip r:embed="rId21"/>
                      <a:srcRect/>
                      <a:stretch>
                        <a:fillRect/>
                      </a:stretch>
                    </p:blipFill>
                    <p:spPr bwMode="auto">
                      <a:xfrm>
                        <a:off x="4346716" y="3962400"/>
                        <a:ext cx="3855456" cy="44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7"/>
          <p:cNvGraphicFramePr>
            <a:graphicFrameLocks noChangeAspect="1"/>
          </p:cNvGraphicFramePr>
          <p:nvPr>
            <p:extLst>
              <p:ext uri="{D42A27DB-BD31-4B8C-83A1-F6EECF244321}">
                <p14:modId xmlns:p14="http://schemas.microsoft.com/office/powerpoint/2010/main" val="4081879402"/>
              </p:ext>
            </p:extLst>
          </p:nvPr>
        </p:nvGraphicFramePr>
        <p:xfrm>
          <a:off x="152400" y="5846960"/>
          <a:ext cx="2373084" cy="480060"/>
        </p:xfrm>
        <a:graphic>
          <a:graphicData uri="http://schemas.openxmlformats.org/presentationml/2006/ole">
            <mc:AlternateContent xmlns:mc="http://schemas.openxmlformats.org/markup-compatibility/2006">
              <mc:Choice xmlns:v="urn:schemas-microsoft-com:vml" Requires="v">
                <p:oleObj name="Equation" r:id="rId22" imgW="1130040" imgH="228600" progId="Equation.DSMT4">
                  <p:embed/>
                </p:oleObj>
              </mc:Choice>
              <mc:Fallback>
                <p:oleObj name="Equation" r:id="rId22" imgW="1130040" imgH="228600" progId="Equation.DSMT4">
                  <p:embed/>
                  <p:pic>
                    <p:nvPicPr>
                      <p:cNvPr id="21" name="Object 7"/>
                      <p:cNvPicPr>
                        <a:picLocks noChangeAspect="1" noChangeArrowheads="1"/>
                      </p:cNvPicPr>
                      <p:nvPr/>
                    </p:nvPicPr>
                    <p:blipFill>
                      <a:blip r:embed="rId23"/>
                      <a:srcRect/>
                      <a:stretch>
                        <a:fillRect/>
                      </a:stretch>
                    </p:blipFill>
                    <p:spPr bwMode="auto">
                      <a:xfrm>
                        <a:off x="152400" y="5846960"/>
                        <a:ext cx="2373084"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6"/>
          <p:cNvGraphicFramePr>
            <a:graphicFrameLocks noChangeAspect="1"/>
          </p:cNvGraphicFramePr>
          <p:nvPr>
            <p:extLst>
              <p:ext uri="{D42A27DB-BD31-4B8C-83A1-F6EECF244321}">
                <p14:modId xmlns:p14="http://schemas.microsoft.com/office/powerpoint/2010/main" val="1089810513"/>
              </p:ext>
            </p:extLst>
          </p:nvPr>
        </p:nvGraphicFramePr>
        <p:xfrm>
          <a:off x="2525484" y="5672137"/>
          <a:ext cx="2960687" cy="881063"/>
        </p:xfrm>
        <a:graphic>
          <a:graphicData uri="http://schemas.openxmlformats.org/presentationml/2006/ole">
            <mc:AlternateContent xmlns:mc="http://schemas.openxmlformats.org/markup-compatibility/2006">
              <mc:Choice xmlns:v="urn:schemas-microsoft-com:vml" Requires="v">
                <p:oleObj name="Equation" r:id="rId24" imgW="1409400" imgH="419040" progId="Equation.DSMT4">
                  <p:embed/>
                </p:oleObj>
              </mc:Choice>
              <mc:Fallback>
                <p:oleObj name="Equation" r:id="rId24" imgW="1409400" imgH="419040" progId="Equation.DSMT4">
                  <p:embed/>
                  <p:pic>
                    <p:nvPicPr>
                      <p:cNvPr id="22" name="Object 6"/>
                      <p:cNvPicPr>
                        <a:picLocks noChangeAspect="1" noChangeArrowheads="1"/>
                      </p:cNvPicPr>
                      <p:nvPr/>
                    </p:nvPicPr>
                    <p:blipFill>
                      <a:blip r:embed="rId25"/>
                      <a:srcRect/>
                      <a:stretch>
                        <a:fillRect/>
                      </a:stretch>
                    </p:blipFill>
                    <p:spPr bwMode="auto">
                      <a:xfrm>
                        <a:off x="2525484" y="5672137"/>
                        <a:ext cx="2960687"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44037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5.2.2 </a:t>
            </a:r>
            <a:r>
              <a:rPr lang="zh-CN" altLang="en-US" b="1" dirty="0">
                <a:solidFill>
                  <a:srgbClr val="993300"/>
                </a:solidFill>
                <a:latin typeface="+mj-lt"/>
                <a:ea typeface="楷体_GB2312" pitchFamily="49" charset="-122"/>
              </a:rPr>
              <a:t>几种常用的窗函数</a:t>
            </a:r>
          </a:p>
        </p:txBody>
      </p:sp>
    </p:spTree>
    <p:extLst>
      <p:ext uri="{BB962C8B-B14F-4D97-AF65-F5344CB8AC3E}">
        <p14:creationId xmlns:p14="http://schemas.microsoft.com/office/powerpoint/2010/main" val="335421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linds(horizont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Rot="1" noChangeArrowheads="1"/>
          </p:cNvSpPr>
          <p:nvPr/>
        </p:nvSpPr>
        <p:spPr>
          <a:xfrm>
            <a:off x="838200" y="914400"/>
            <a:ext cx="5105400" cy="685800"/>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eaLnBrk="1" hangingPunct="1"/>
            <a:r>
              <a:rPr lang="en-US" altLang="zh-CN" sz="3600" b="1" i="0" dirty="0">
                <a:latin typeface="Times New Roman" panose="02020603050405020304" pitchFamily="18" charset="0"/>
                <a:ea typeface="宋体" panose="02010600030101010101" pitchFamily="2" charset="-122"/>
                <a:cs typeface="Times New Roman" panose="02020603050405020304" pitchFamily="18" charset="0"/>
              </a:rPr>
              <a:t>5.2</a:t>
            </a:r>
            <a:r>
              <a:rPr lang="zh-CN" altLang="en-US" sz="3600" b="1" i="0" dirty="0">
                <a:latin typeface="Times New Roman" panose="02020603050405020304" pitchFamily="18" charset="0"/>
                <a:ea typeface="宋体" panose="02010600030101010101" pitchFamily="2" charset="-122"/>
                <a:cs typeface="Times New Roman" panose="02020603050405020304" pitchFamily="18" charset="0"/>
              </a:rPr>
              <a:t>要点</a:t>
            </a:r>
          </a:p>
        </p:txBody>
      </p:sp>
      <p:sp>
        <p:nvSpPr>
          <p:cNvPr id="3" name="Rectangle 3"/>
          <p:cNvSpPr txBox="1">
            <a:spLocks noRot="1" noChangeArrowheads="1"/>
          </p:cNvSpPr>
          <p:nvPr/>
        </p:nvSpPr>
        <p:spPr>
          <a:xfrm>
            <a:off x="609600" y="1600200"/>
            <a:ext cx="7593013" cy="4498975"/>
          </a:xfrm>
          <a:prstGeom prst="rect">
            <a:avLst/>
          </a:prstGeom>
        </p:spPr>
        <p:txBody>
          <a:bodyPr/>
          <a:lstStyle>
            <a:lvl1pPr marL="342900" indent="-342900" algn="l" rtl="0" eaLnBrk="0" fontAlgn="base" hangingPunct="0">
              <a:spcBef>
                <a:spcPct val="20000"/>
              </a:spcBef>
              <a:spcAft>
                <a:spcPct val="0"/>
              </a:spcAft>
              <a:buBlip>
                <a:blip r:embed="rId2"/>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ts val="0"/>
              </a:spcBef>
              <a:buFont typeface="Wingdings 2" panose="05020102010507070707" pitchFamily="18" charset="2"/>
              <a:buNone/>
            </a:pPr>
            <a:r>
              <a:rPr lang="en-US" altLang="zh-CN" sz="2800" b="1" dirty="0">
                <a:solidFill>
                  <a:srgbClr val="000000"/>
                </a:solidFill>
                <a:latin typeface="Times New Roman" panose="02020603050405020304" pitchFamily="18" charset="0"/>
                <a:cs typeface="Times New Roman" panose="02020603050405020304" pitchFamily="18" charset="0"/>
              </a:rPr>
              <a:t>1 </a:t>
            </a:r>
            <a:r>
              <a:rPr lang="zh-CN" altLang="en-US" sz="2800" b="1" dirty="0">
                <a:solidFill>
                  <a:srgbClr val="000000"/>
                </a:solidFill>
                <a:latin typeface="Times New Roman" panose="02020603050405020304" pitchFamily="18" charset="0"/>
                <a:cs typeface="Times New Roman" panose="02020603050405020304" pitchFamily="18" charset="0"/>
              </a:rPr>
              <a:t>窗函数设计法步骤   </a:t>
            </a:r>
          </a:p>
          <a:p>
            <a:pPr eaLnBrk="1" hangingPunct="1">
              <a:lnSpc>
                <a:spcPct val="125000"/>
              </a:lnSpc>
              <a:spcBef>
                <a:spcPts val="0"/>
              </a:spcBef>
              <a:buFont typeface="Wingdings 2" panose="05020102010507070707" pitchFamily="18" charset="2"/>
              <a:buNone/>
            </a:pPr>
            <a:r>
              <a:rPr lang="en-US" altLang="zh-CN" sz="2800" b="1" dirty="0">
                <a:solidFill>
                  <a:srgbClr val="000000"/>
                </a:solidFill>
                <a:latin typeface="Times New Roman" panose="02020603050405020304" pitchFamily="18" charset="0"/>
                <a:cs typeface="Times New Roman" panose="02020603050405020304" pitchFamily="18" charset="0"/>
              </a:rPr>
              <a:t>2 </a:t>
            </a:r>
            <a:r>
              <a:rPr lang="zh-CN" altLang="en-US" sz="2800" b="1" dirty="0">
                <a:solidFill>
                  <a:srgbClr val="000000"/>
                </a:solidFill>
                <a:latin typeface="Times New Roman" panose="02020603050405020304" pitchFamily="18" charset="0"/>
                <a:cs typeface="Times New Roman" panose="02020603050405020304" pitchFamily="18" charset="0"/>
              </a:rPr>
              <a:t>线性相位</a:t>
            </a:r>
            <a:r>
              <a:rPr lang="zh-CN" altLang="en-US" sz="2800" b="1" dirty="0">
                <a:solidFill>
                  <a:srgbClr val="FF0000"/>
                </a:solidFill>
                <a:latin typeface="Times New Roman" panose="02020603050405020304" pitchFamily="18" charset="0"/>
                <a:cs typeface="Times New Roman" panose="02020603050405020304" pitchFamily="18" charset="0"/>
              </a:rPr>
              <a:t>低通</a:t>
            </a:r>
            <a:r>
              <a:rPr lang="en-US" altLang="zh-CN" sz="2800" b="1" dirty="0">
                <a:solidFill>
                  <a:srgbClr val="000000"/>
                </a:solidFill>
                <a:latin typeface="Times New Roman" panose="02020603050405020304" pitchFamily="18" charset="0"/>
                <a:cs typeface="Times New Roman" panose="02020603050405020304" pitchFamily="18" charset="0"/>
              </a:rPr>
              <a:t>FIR</a:t>
            </a:r>
            <a:r>
              <a:rPr lang="zh-CN" altLang="en-US" sz="2800" b="1" dirty="0">
                <a:solidFill>
                  <a:srgbClr val="000000"/>
                </a:solidFill>
                <a:latin typeface="Times New Roman" panose="02020603050405020304" pitchFamily="18" charset="0"/>
                <a:cs typeface="Times New Roman" panose="02020603050405020304" pitchFamily="18" charset="0"/>
              </a:rPr>
              <a:t>数字滤波器的设计</a:t>
            </a:r>
          </a:p>
          <a:p>
            <a:pPr eaLnBrk="1" hangingPunct="1">
              <a:lnSpc>
                <a:spcPct val="125000"/>
              </a:lnSpc>
              <a:spcBef>
                <a:spcPts val="0"/>
              </a:spcBef>
              <a:buFont typeface="Wingdings 2" panose="05020102010507070707" pitchFamily="18" charset="2"/>
              <a:buNone/>
            </a:pPr>
            <a:r>
              <a:rPr lang="zh-CN" altLang="en-US" sz="2800" b="1" dirty="0">
                <a:solidFill>
                  <a:srgbClr val="000000"/>
                </a:solidFill>
                <a:latin typeface="Times New Roman" panose="02020603050405020304" pitchFamily="18" charset="0"/>
                <a:cs typeface="Times New Roman" panose="02020603050405020304" pitchFamily="18" charset="0"/>
              </a:rPr>
              <a:t> </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会求</a:t>
            </a:r>
            <a:r>
              <a:rPr lang="en-US" altLang="zh-CN" sz="2800" b="1" i="1" dirty="0">
                <a:solidFill>
                  <a:srgbClr val="000000"/>
                </a:solidFill>
                <a:latin typeface="Times New Roman" panose="02020603050405020304" pitchFamily="18" charset="0"/>
                <a:cs typeface="Times New Roman" panose="02020603050405020304" pitchFamily="18" charset="0"/>
              </a:rPr>
              <a:t>h</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 )</a:t>
            </a:r>
          </a:p>
          <a:p>
            <a:pPr eaLnBrk="1" hangingPunct="1">
              <a:lnSpc>
                <a:spcPct val="125000"/>
              </a:lnSpc>
              <a:spcBef>
                <a:spcPts val="0"/>
              </a:spcBef>
              <a:buFont typeface="Wingdings 2" panose="05020102010507070707" pitchFamily="18" charset="2"/>
              <a:buNone/>
            </a:pPr>
            <a:r>
              <a:rPr lang="en-US" altLang="zh-CN" sz="2800" b="1" dirty="0">
                <a:solidFill>
                  <a:srgbClr val="000000"/>
                </a:solidFill>
                <a:latin typeface="Times New Roman" panose="02020603050405020304" pitchFamily="18" charset="0"/>
                <a:cs typeface="Times New Roman" panose="02020603050405020304" pitchFamily="18" charset="0"/>
              </a:rPr>
              <a:t>3 </a:t>
            </a:r>
            <a:r>
              <a:rPr lang="zh-CN" altLang="en-US" sz="2800" b="1" dirty="0">
                <a:solidFill>
                  <a:srgbClr val="000000"/>
                </a:solidFill>
                <a:latin typeface="Times New Roman" panose="02020603050405020304" pitchFamily="18" charset="0"/>
                <a:cs typeface="Times New Roman" panose="02020603050405020304" pitchFamily="18" charset="0"/>
              </a:rPr>
              <a:t>窗函数对理想特性的影响</a:t>
            </a:r>
          </a:p>
          <a:p>
            <a:pPr eaLnBrk="1" hangingPunct="1">
              <a:lnSpc>
                <a:spcPct val="125000"/>
              </a:lnSpc>
              <a:spcBef>
                <a:spcPts val="0"/>
              </a:spcBef>
              <a:buFont typeface="Wingdings 2" panose="05020102010507070707" pitchFamily="18" charset="2"/>
              <a:buNone/>
            </a:pP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过渡带</a:t>
            </a:r>
            <a:r>
              <a:rPr lang="en-US" altLang="zh-CN" sz="2800" b="1"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latin typeface="Times New Roman" panose="02020603050405020304" pitchFamily="18" charset="0"/>
                <a:cs typeface="Times New Roman" panose="02020603050405020304" pitchFamily="18" charset="0"/>
              </a:rPr>
              <a:t>肩峰</a:t>
            </a:r>
            <a:r>
              <a:rPr lang="en-US" altLang="zh-CN" sz="2800" b="1" dirty="0">
                <a:solidFill>
                  <a:srgbClr val="000000"/>
                </a:solidFill>
                <a:latin typeface="Times New Roman" panose="02020603050405020304" pitchFamily="18" charset="0"/>
                <a:cs typeface="Times New Roman" panose="02020603050405020304" pitchFamily="18" charset="0"/>
              </a:rPr>
              <a:t>, Gibbs</a:t>
            </a:r>
            <a:r>
              <a:rPr lang="zh-CN" altLang="en-US" sz="2800" b="1" dirty="0">
                <a:solidFill>
                  <a:srgbClr val="000000"/>
                </a:solidFill>
                <a:latin typeface="Times New Roman" panose="02020603050405020304" pitchFamily="18" charset="0"/>
                <a:cs typeface="Times New Roman" panose="02020603050405020304" pitchFamily="18" charset="0"/>
              </a:rPr>
              <a:t>效应</a:t>
            </a:r>
            <a:r>
              <a:rPr lang="en-US" altLang="zh-CN" sz="2800" b="1"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latin typeface="Times New Roman" panose="02020603050405020304" pitchFamily="18" charset="0"/>
                <a:cs typeface="Times New Roman" panose="02020603050405020304" pitchFamily="18" charset="0"/>
              </a:rPr>
              <a:t>窗函数的要求</a:t>
            </a:r>
            <a:r>
              <a:rPr lang="en-US" altLang="zh-CN" sz="2800" b="1" dirty="0">
                <a:solidFill>
                  <a:srgbClr val="000000"/>
                </a:solidFill>
                <a:latin typeface="Times New Roman" panose="02020603050405020304" pitchFamily="18" charset="0"/>
                <a:cs typeface="Times New Roman" panose="02020603050405020304" pitchFamily="18" charset="0"/>
              </a:rPr>
              <a:t>)</a:t>
            </a:r>
          </a:p>
        </p:txBody>
      </p:sp>
      <p:pic>
        <p:nvPicPr>
          <p:cNvPr id="5" name="Picture 5" descr="5"/>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79293" b="1764"/>
          <a:stretch/>
        </p:blipFill>
        <p:spPr bwMode="auto">
          <a:xfrm>
            <a:off x="3406140" y="4942112"/>
            <a:ext cx="4540310" cy="138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3746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a:spcBef>
                <a:spcPct val="0"/>
              </a:spcBef>
              <a:buFontTx/>
              <a:buNone/>
            </a:pPr>
            <a:r>
              <a:rPr lang="en-US" altLang="zh-CN" b="1" dirty="0">
                <a:solidFill>
                  <a:srgbClr val="993300"/>
                </a:solidFill>
                <a:latin typeface="+mj-lt"/>
                <a:ea typeface="楷体_GB2312" pitchFamily="49" charset="-122"/>
              </a:rPr>
              <a:t>5.2  </a:t>
            </a:r>
            <a:r>
              <a:rPr lang="zh-CN" altLang="en-US" b="1" dirty="0">
                <a:solidFill>
                  <a:srgbClr val="993300"/>
                </a:solidFill>
                <a:latin typeface="+mj-lt"/>
                <a:ea typeface="楷体_GB2312" pitchFamily="49" charset="-122"/>
              </a:rPr>
              <a:t>窗函数设计法</a:t>
            </a:r>
          </a:p>
        </p:txBody>
      </p:sp>
    </p:spTree>
    <p:extLst>
      <p:ext uri="{BB962C8B-B14F-4D97-AF65-F5344CB8AC3E}">
        <p14:creationId xmlns:p14="http://schemas.microsoft.com/office/powerpoint/2010/main" val="20157273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
        <p:nvSpPr>
          <p:cNvPr id="3" name="矩形 2"/>
          <p:cNvSpPr/>
          <p:nvPr/>
        </p:nvSpPr>
        <p:spPr>
          <a:xfrm>
            <a:off x="609600" y="871507"/>
            <a:ext cx="162736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charset="-122"/>
                <a:cs typeface="+mn-cs"/>
              </a:rPr>
              <a:t>基本思想</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4" name="Rectangle 3"/>
          <p:cNvSpPr>
            <a:spLocks noChangeArrowheads="1"/>
          </p:cNvSpPr>
          <p:nvPr/>
        </p:nvSpPr>
        <p:spPr bwMode="auto">
          <a:xfrm>
            <a:off x="609600" y="1295400"/>
            <a:ext cx="8229600" cy="165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571500" algn="l"/>
              </a:tabLst>
              <a:defRPr sz="3200">
                <a:solidFill>
                  <a:schemeClr val="tx1"/>
                </a:solidFill>
                <a:latin typeface="Arial" panose="020B0604020202020204" pitchFamily="34" charset="0"/>
              </a:defRPr>
            </a:lvl1pPr>
            <a:lvl2pPr marL="742950" indent="-285750">
              <a:spcBef>
                <a:spcPct val="20000"/>
              </a:spcBef>
              <a:buChar char="–"/>
              <a:tabLst>
                <a:tab pos="571500" algn="l"/>
              </a:tabLst>
              <a:defRPr sz="2800">
                <a:solidFill>
                  <a:schemeClr val="tx1"/>
                </a:solidFill>
                <a:latin typeface="Arial" panose="020B0604020202020204" pitchFamily="34" charset="0"/>
              </a:defRPr>
            </a:lvl2pPr>
            <a:lvl3pPr marL="1143000" indent="-228600">
              <a:spcBef>
                <a:spcPct val="20000"/>
              </a:spcBef>
              <a:buChar char="•"/>
              <a:tabLst>
                <a:tab pos="571500" algn="l"/>
              </a:tabLst>
              <a:defRPr sz="2400">
                <a:solidFill>
                  <a:schemeClr val="tx1"/>
                </a:solidFill>
                <a:latin typeface="Arial" panose="020B0604020202020204" pitchFamily="34" charset="0"/>
              </a:defRPr>
            </a:lvl3pPr>
            <a:lvl4pPr marL="1600200" indent="-228600">
              <a:spcBef>
                <a:spcPct val="20000"/>
              </a:spcBef>
              <a:buChar char="–"/>
              <a:tabLst>
                <a:tab pos="571500" algn="l"/>
              </a:tabLst>
              <a:defRPr sz="2000">
                <a:solidFill>
                  <a:schemeClr val="tx1"/>
                </a:solidFill>
                <a:latin typeface="Arial" panose="020B0604020202020204" pitchFamily="34" charset="0"/>
              </a:defRPr>
            </a:lvl4pPr>
            <a:lvl5pPr marL="2057400" indent="-228600">
              <a:spcBef>
                <a:spcPct val="20000"/>
              </a:spcBef>
              <a:buChar char="»"/>
              <a:tabLst>
                <a:tab pos="5715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marL="0" marR="0" lvl="0" indent="720000" algn="just" defTabSz="914400" rtl="0" eaLnBrk="0" fontAlgn="base" latinLnBrk="0" hangingPunct="0">
              <a:lnSpc>
                <a:spcPct val="125000"/>
              </a:lnSpc>
              <a:spcBef>
                <a:spcPts val="0"/>
              </a:spcBef>
              <a:spcAft>
                <a:spcPts val="0"/>
              </a:spcAft>
              <a:buClrTx/>
              <a:buSzTx/>
              <a:buFontTx/>
              <a:buNone/>
              <a:tabLst>
                <a:tab pos="57150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使所设计的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FIR</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数字滤波器的频率特性</a:t>
            </a:r>
            <a:r>
              <a:rPr kumimoji="1"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在某些离散频率点上的值准确地等于所需滤波器在这些频率点处的值</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，在其它频率处的特性则较好地逼近</a:t>
            </a:r>
          </a:p>
        </p:txBody>
      </p:sp>
      <p:graphicFrame>
        <p:nvGraphicFramePr>
          <p:cNvPr id="6" name="Object 9"/>
          <p:cNvGraphicFramePr>
            <a:graphicFrameLocks noChangeAspect="1"/>
          </p:cNvGraphicFramePr>
          <p:nvPr/>
        </p:nvGraphicFramePr>
        <p:xfrm>
          <a:off x="3249857" y="3067819"/>
          <a:ext cx="1174750" cy="506412"/>
        </p:xfrm>
        <a:graphic>
          <a:graphicData uri="http://schemas.openxmlformats.org/presentationml/2006/ole">
            <mc:AlternateContent xmlns:mc="http://schemas.openxmlformats.org/markup-compatibility/2006">
              <mc:Choice xmlns:v="urn:schemas-microsoft-com:vml" Requires="v">
                <p:oleObj name="Equation" r:id="rId4" imgW="558720" imgH="241200" progId="Equation.DSMT4">
                  <p:embed/>
                </p:oleObj>
              </mc:Choice>
              <mc:Fallback>
                <p:oleObj name="Equation" r:id="rId4" imgW="558720" imgH="241200" progId="Equation.DSMT4">
                  <p:embed/>
                  <p:pic>
                    <p:nvPicPr>
                      <p:cNvPr id="6" name="Object 9"/>
                      <p:cNvPicPr>
                        <a:picLocks noChangeAspect="1" noChangeArrowheads="1"/>
                      </p:cNvPicPr>
                      <p:nvPr/>
                    </p:nvPicPr>
                    <p:blipFill>
                      <a:blip r:embed="rId5"/>
                      <a:srcRect/>
                      <a:stretch>
                        <a:fillRect/>
                      </a:stretch>
                    </p:blipFill>
                    <p:spPr bwMode="auto">
                      <a:xfrm>
                        <a:off x="3249857" y="3067819"/>
                        <a:ext cx="117475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矩形 7"/>
          <p:cNvSpPr/>
          <p:nvPr/>
        </p:nvSpPr>
        <p:spPr>
          <a:xfrm>
            <a:off x="559151" y="3025560"/>
            <a:ext cx="2709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cs typeface="+mn-cs"/>
              </a:rPr>
              <a:t>理想的频率响应</a:t>
            </a:r>
            <a:endParaRPr kumimoji="0" lang="zh-CN" altLang="en-US" sz="1800" b="0" i="0" u="none" strike="noStrike" kern="0" cap="none" spc="0" normalizeH="0" baseline="0" noProof="0" dirty="0">
              <a:ln>
                <a:noFill/>
              </a:ln>
              <a:solidFill>
                <a:srgbClr val="C00000"/>
              </a:solidFill>
              <a:effectLst/>
              <a:uLnTx/>
              <a:uFillTx/>
              <a:latin typeface="Arial" charset="0"/>
              <a:ea typeface="宋体" charset="-122"/>
              <a:cs typeface="+mn-cs"/>
            </a:endParaRPr>
          </a:p>
        </p:txBody>
      </p:sp>
      <p:graphicFrame>
        <p:nvGraphicFramePr>
          <p:cNvPr id="9" name="Object 7"/>
          <p:cNvGraphicFramePr>
            <a:graphicFrameLocks noChangeAspect="1"/>
          </p:cNvGraphicFramePr>
          <p:nvPr/>
        </p:nvGraphicFramePr>
        <p:xfrm>
          <a:off x="3299880" y="4244760"/>
          <a:ext cx="4853520" cy="1013040"/>
        </p:xfrm>
        <a:graphic>
          <a:graphicData uri="http://schemas.openxmlformats.org/presentationml/2006/ole">
            <mc:AlternateContent xmlns:mc="http://schemas.openxmlformats.org/markup-compatibility/2006">
              <mc:Choice xmlns:v="urn:schemas-microsoft-com:vml" Requires="v">
                <p:oleObj name="Equation" r:id="rId6" imgW="2311200" imgH="482400" progId="Equation.DSMT4">
                  <p:embed/>
                </p:oleObj>
              </mc:Choice>
              <mc:Fallback>
                <p:oleObj name="Equation" r:id="rId6" imgW="2311200" imgH="482400" progId="Equation.DSMT4">
                  <p:embed/>
                  <p:pic>
                    <p:nvPicPr>
                      <p:cNvPr id="9" name="Object 7"/>
                      <p:cNvPicPr>
                        <a:picLocks noChangeAspect="1" noChangeArrowheads="1"/>
                      </p:cNvPicPr>
                      <p:nvPr/>
                    </p:nvPicPr>
                    <p:blipFill>
                      <a:blip r:embed="rId7"/>
                      <a:srcRect/>
                      <a:stretch>
                        <a:fillRect/>
                      </a:stretch>
                    </p:blipFill>
                    <p:spPr bwMode="auto">
                      <a:xfrm>
                        <a:off x="3299880" y="4244760"/>
                        <a:ext cx="4853520" cy="101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0" name="直接箭头连接符 9"/>
          <p:cNvCxnSpPr/>
          <p:nvPr/>
        </p:nvCxnSpPr>
        <p:spPr>
          <a:xfrm rot="5400000">
            <a:off x="3345483" y="3970231"/>
            <a:ext cx="792000"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970083" y="3645340"/>
            <a:ext cx="2687320"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a:ea typeface="宋体"/>
                <a:cs typeface="+mn-cs"/>
              </a:rPr>
              <a:t>等间隔采样</a:t>
            </a:r>
            <a:endParaRPr kumimoji="0" lang="zh-CN" altLang="en-US" sz="2800" b="1" i="0" u="none" strike="noStrike" kern="1200" cap="none" spc="0" normalizeH="0" baseline="0" noProof="0" dirty="0">
              <a:ln>
                <a:noFill/>
              </a:ln>
              <a:solidFill>
                <a:srgbClr val="FF0000"/>
              </a:solidFill>
              <a:effectLst/>
              <a:uLnTx/>
              <a:uFillTx/>
              <a:latin typeface="Times New Roman"/>
              <a:ea typeface="宋体"/>
              <a:cs typeface="+mn-cs"/>
            </a:endParaRPr>
          </a:p>
        </p:txBody>
      </p:sp>
      <p:cxnSp>
        <p:nvCxnSpPr>
          <p:cNvPr id="15" name="直接箭头连接符 14"/>
          <p:cNvCxnSpPr/>
          <p:nvPr/>
        </p:nvCxnSpPr>
        <p:spPr>
          <a:xfrm rot="5400000">
            <a:off x="3347528" y="5547600"/>
            <a:ext cx="792000"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16" name="Object 3"/>
          <p:cNvGraphicFramePr>
            <a:graphicFrameLocks noChangeAspect="1"/>
          </p:cNvGraphicFramePr>
          <p:nvPr/>
        </p:nvGraphicFramePr>
        <p:xfrm>
          <a:off x="3993942" y="5327515"/>
          <a:ext cx="933450" cy="349250"/>
        </p:xfrm>
        <a:graphic>
          <a:graphicData uri="http://schemas.openxmlformats.org/presentationml/2006/ole">
            <mc:AlternateContent xmlns:mc="http://schemas.openxmlformats.org/markup-compatibility/2006">
              <mc:Choice xmlns:v="urn:schemas-microsoft-com:vml" Requires="v">
                <p:oleObj name="Equation" r:id="rId8" imgW="406080" imgH="152280" progId="Equation.DSMT4">
                  <p:embed/>
                </p:oleObj>
              </mc:Choice>
              <mc:Fallback>
                <p:oleObj name="Equation" r:id="rId8" imgW="406080" imgH="152280" progId="Equation.DSMT4">
                  <p:embed/>
                  <p:pic>
                    <p:nvPicPr>
                      <p:cNvPr id="16" name="Object 3"/>
                      <p:cNvPicPr>
                        <a:picLocks noChangeAspect="1" noChangeArrowheads="1"/>
                      </p:cNvPicPr>
                      <p:nvPr/>
                    </p:nvPicPr>
                    <p:blipFill>
                      <a:blip r:embed="rId9"/>
                      <a:srcRect/>
                      <a:stretch>
                        <a:fillRect/>
                      </a:stretch>
                    </p:blipFill>
                    <p:spPr bwMode="auto">
                      <a:xfrm>
                        <a:off x="3993942" y="5327515"/>
                        <a:ext cx="9334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p:nvPr/>
        </p:nvSpPr>
        <p:spPr>
          <a:xfrm>
            <a:off x="3424298" y="6043169"/>
            <a:ext cx="11865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9" name="Object 6">
            <a:extLst>
              <a:ext uri="{FF2B5EF4-FFF2-40B4-BE49-F238E27FC236}">
                <a16:creationId xmlns:a16="http://schemas.microsoft.com/office/drawing/2014/main" id="{53EA3B83-F810-4863-B745-4D29444B1A97}"/>
              </a:ext>
            </a:extLst>
          </p:cNvPr>
          <p:cNvGraphicFramePr>
            <a:graphicFrameLocks noChangeAspect="1"/>
          </p:cNvGraphicFramePr>
          <p:nvPr/>
        </p:nvGraphicFramePr>
        <p:xfrm>
          <a:off x="4495800" y="6100785"/>
          <a:ext cx="1985962" cy="407987"/>
        </p:xfrm>
        <a:graphic>
          <a:graphicData uri="http://schemas.openxmlformats.org/presentationml/2006/ole">
            <mc:AlternateContent xmlns:mc="http://schemas.openxmlformats.org/markup-compatibility/2006">
              <mc:Choice xmlns:v="urn:schemas-microsoft-com:vml" Requires="v">
                <p:oleObj name="Equation" r:id="rId10" imgW="863280" imgH="177480" progId="Equation.DSMT4">
                  <p:embed/>
                </p:oleObj>
              </mc:Choice>
              <mc:Fallback>
                <p:oleObj name="Equation" r:id="rId10" imgW="863280" imgH="177480" progId="Equation.DSMT4">
                  <p:embed/>
                  <p:pic>
                    <p:nvPicPr>
                      <p:cNvPr id="19" name="Object 6">
                        <a:extLst>
                          <a:ext uri="{FF2B5EF4-FFF2-40B4-BE49-F238E27FC236}">
                            <a16:creationId xmlns:a16="http://schemas.microsoft.com/office/drawing/2014/main" id="{53EA3B83-F810-4863-B745-4D29444B1A97}"/>
                          </a:ext>
                        </a:extLst>
                      </p:cNvPr>
                      <p:cNvPicPr>
                        <a:picLocks noChangeAspect="1" noChangeArrowheads="1"/>
                      </p:cNvPicPr>
                      <p:nvPr/>
                    </p:nvPicPr>
                    <p:blipFill>
                      <a:blip r:embed="rId11"/>
                      <a:srcRect/>
                      <a:stretch>
                        <a:fillRect/>
                      </a:stretch>
                    </p:blipFill>
                    <p:spPr bwMode="auto">
                      <a:xfrm>
                        <a:off x="4495800" y="6100785"/>
                        <a:ext cx="198596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1215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1000"/>
                                        <p:tgtEl>
                                          <p:spTgt spid="18"/>
                                        </p:tgtEl>
                                      </p:cBhvr>
                                    </p:animEffect>
                                    <p:anim calcmode="lin" valueType="num">
                                      <p:cBhvr>
                                        <p:cTn id="40" dur="1000" fill="hold"/>
                                        <p:tgtEl>
                                          <p:spTgt spid="18"/>
                                        </p:tgtEl>
                                        <p:attrNameLst>
                                          <p:attrName>ppt_x</p:attrName>
                                        </p:attrNameLst>
                                      </p:cBhvr>
                                      <p:tavLst>
                                        <p:tav tm="0">
                                          <p:val>
                                            <p:strVal val="#ppt_x"/>
                                          </p:val>
                                        </p:tav>
                                        <p:tav tm="100000">
                                          <p:val>
                                            <p:strVal val="#ppt_x"/>
                                          </p:val>
                                        </p:tav>
                                      </p:tavLst>
                                    </p:anim>
                                    <p:anim calcmode="lin" valueType="num">
                                      <p:cBhvr>
                                        <p:cTn id="4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7"/>
          <p:cNvGraphicFramePr>
            <a:graphicFrameLocks noChangeAspect="1"/>
          </p:cNvGraphicFramePr>
          <p:nvPr/>
        </p:nvGraphicFramePr>
        <p:xfrm>
          <a:off x="2252340" y="1505496"/>
          <a:ext cx="3919860" cy="932904"/>
        </p:xfrm>
        <a:graphic>
          <a:graphicData uri="http://schemas.openxmlformats.org/presentationml/2006/ole">
            <mc:AlternateContent xmlns:mc="http://schemas.openxmlformats.org/markup-compatibility/2006">
              <mc:Choice xmlns:v="urn:schemas-microsoft-com:vml" Requires="v">
                <p:oleObj name="Equation" r:id="rId2" imgW="1866600" imgH="444240" progId="Equation.DSMT4">
                  <p:embed/>
                </p:oleObj>
              </mc:Choice>
              <mc:Fallback>
                <p:oleObj name="Equation" r:id="rId2" imgW="1866600" imgH="444240" progId="Equation.DSMT4">
                  <p:embed/>
                  <p:pic>
                    <p:nvPicPr>
                      <p:cNvPr id="3" name="Object 7"/>
                      <p:cNvPicPr>
                        <a:picLocks noChangeAspect="1" noChangeArrowheads="1"/>
                      </p:cNvPicPr>
                      <p:nvPr/>
                    </p:nvPicPr>
                    <p:blipFill>
                      <a:blip r:embed="rId3"/>
                      <a:srcRect/>
                      <a:stretch>
                        <a:fillRect/>
                      </a:stretch>
                    </p:blipFill>
                    <p:spPr bwMode="auto">
                      <a:xfrm>
                        <a:off x="2252340" y="1505496"/>
                        <a:ext cx="3919860" cy="93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762000" y="920170"/>
            <a:ext cx="754380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利用</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同样可求出</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滤波器的系统函数</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endParaRPr>
          </a:p>
        </p:txBody>
      </p:sp>
      <p:sp>
        <p:nvSpPr>
          <p:cNvPr id="6" name="矩形 5"/>
          <p:cNvSpPr/>
          <p:nvPr/>
        </p:nvSpPr>
        <p:spPr>
          <a:xfrm>
            <a:off x="762000" y="2524780"/>
            <a:ext cx="368883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滤波器的频率响应</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7" name="Object 4"/>
          <p:cNvGraphicFramePr>
            <a:graphicFrameLocks noChangeAspect="1"/>
          </p:cNvGraphicFramePr>
          <p:nvPr/>
        </p:nvGraphicFramePr>
        <p:xfrm>
          <a:off x="2037723" y="3246630"/>
          <a:ext cx="4879980" cy="932904"/>
        </p:xfrm>
        <a:graphic>
          <a:graphicData uri="http://schemas.openxmlformats.org/presentationml/2006/ole">
            <mc:AlternateContent xmlns:mc="http://schemas.openxmlformats.org/markup-compatibility/2006">
              <mc:Choice xmlns:v="urn:schemas-microsoft-com:vml" Requires="v">
                <p:oleObj name="Equation" r:id="rId4" imgW="2323800" imgH="444240" progId="Equation.DSMT4">
                  <p:embed/>
                </p:oleObj>
              </mc:Choice>
              <mc:Fallback>
                <p:oleObj name="Equation" r:id="rId4" imgW="2323800" imgH="444240" progId="Equation.DSMT4">
                  <p:embed/>
                  <p:pic>
                    <p:nvPicPr>
                      <p:cNvPr id="7" name="Object 4"/>
                      <p:cNvPicPr>
                        <a:picLocks noChangeAspect="1" noChangeArrowheads="1"/>
                      </p:cNvPicPr>
                      <p:nvPr/>
                    </p:nvPicPr>
                    <p:blipFill>
                      <a:blip r:embed="rId5"/>
                      <a:srcRect/>
                      <a:stretch>
                        <a:fillRect/>
                      </a:stretch>
                    </p:blipFill>
                    <p:spPr bwMode="auto">
                      <a:xfrm>
                        <a:off x="2037723" y="3246630"/>
                        <a:ext cx="4879980" cy="93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nvGraphicFramePr>
        <p:xfrm>
          <a:off x="3082416" y="4267200"/>
          <a:ext cx="5680584" cy="1066716"/>
        </p:xfrm>
        <a:graphic>
          <a:graphicData uri="http://schemas.openxmlformats.org/presentationml/2006/ole">
            <mc:AlternateContent xmlns:mc="http://schemas.openxmlformats.org/markup-compatibility/2006">
              <mc:Choice xmlns:v="urn:schemas-microsoft-com:vml" Requires="v">
                <p:oleObj name="Equation" r:id="rId6" imgW="2705040" imgH="507960" progId="Equation.DSMT4">
                  <p:embed/>
                </p:oleObj>
              </mc:Choice>
              <mc:Fallback>
                <p:oleObj name="Equation" r:id="rId6" imgW="2705040" imgH="507960" progId="Equation.DSMT4">
                  <p:embed/>
                  <p:pic>
                    <p:nvPicPr>
                      <p:cNvPr id="8" name="Object 5"/>
                      <p:cNvPicPr>
                        <a:picLocks noChangeAspect="1" noChangeArrowheads="1"/>
                      </p:cNvPicPr>
                      <p:nvPr/>
                    </p:nvPicPr>
                    <p:blipFill>
                      <a:blip r:embed="rId7"/>
                      <a:srcRect/>
                      <a:stretch>
                        <a:fillRect/>
                      </a:stretch>
                    </p:blipFill>
                    <p:spPr bwMode="auto">
                      <a:xfrm>
                        <a:off x="3082416" y="4267200"/>
                        <a:ext cx="5680584" cy="106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nvGraphicFramePr>
        <p:xfrm>
          <a:off x="3159120" y="5410200"/>
          <a:ext cx="2479680" cy="906444"/>
        </p:xfrm>
        <a:graphic>
          <a:graphicData uri="http://schemas.openxmlformats.org/presentationml/2006/ole">
            <mc:AlternateContent xmlns:mc="http://schemas.openxmlformats.org/markup-compatibility/2006">
              <mc:Choice xmlns:v="urn:schemas-microsoft-com:vml" Requires="v">
                <p:oleObj name="Equation" r:id="rId8" imgW="1180800" imgH="431640" progId="Equation.DSMT4">
                  <p:embed/>
                </p:oleObj>
              </mc:Choice>
              <mc:Fallback>
                <p:oleObj name="Equation" r:id="rId8" imgW="1180800" imgH="431640" progId="Equation.DSMT4">
                  <p:embed/>
                  <p:pic>
                    <p:nvPicPr>
                      <p:cNvPr id="9" name="Object 6"/>
                      <p:cNvPicPr>
                        <a:picLocks noChangeAspect="1" noChangeArrowheads="1"/>
                      </p:cNvPicPr>
                      <p:nvPr/>
                    </p:nvPicPr>
                    <p:blipFill>
                      <a:blip r:embed="rId9"/>
                      <a:srcRect/>
                      <a:stretch>
                        <a:fillRect/>
                      </a:stretch>
                    </p:blipFill>
                    <p:spPr bwMode="auto">
                      <a:xfrm>
                        <a:off x="3159120" y="5410200"/>
                        <a:ext cx="2479680"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13"/>
          <p:cNvSpPr>
            <a:spLocks noChangeArrowheads="1"/>
          </p:cNvSpPr>
          <p:nvPr/>
        </p:nvSpPr>
        <p:spPr bwMode="auto">
          <a:xfrm>
            <a:off x="6553200" y="5553173"/>
            <a:ext cx="2362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内插公式</a:t>
            </a:r>
          </a:p>
        </p:txBody>
      </p:sp>
      <p:sp>
        <p:nvSpPr>
          <p:cNvPr id="11"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86021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1023307"/>
            <a:ext cx="4846320" cy="4549140"/>
          </a:xfrm>
          <a:prstGeom prst="rect">
            <a:avLst/>
          </a:prstGeom>
        </p:spPr>
      </p:pic>
      <p:sp>
        <p:nvSpPr>
          <p:cNvPr id="5" name="Rectangle 8"/>
          <p:cNvSpPr>
            <a:spLocks noChangeArrowheads="1"/>
          </p:cNvSpPr>
          <p:nvPr/>
        </p:nvSpPr>
        <p:spPr bwMode="auto">
          <a:xfrm>
            <a:off x="4805313" y="1486062"/>
            <a:ext cx="39332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在每个采样点上，与</a:t>
            </a:r>
            <a:endParaRPr kumimoji="1" lang="en-US" altLang="zh-CN" sz="24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理想频响的采样值</a:t>
            </a:r>
            <a:r>
              <a:rPr kumimoji="1" lang="en-US" altLang="zh-CN" sz="2400" b="1" i="1"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1" lang="en-US" altLang="zh-CN" sz="24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en-US" altLang="zh-CN" sz="24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相等；</a:t>
            </a:r>
          </a:p>
        </p:txBody>
      </p:sp>
      <p:graphicFrame>
        <p:nvGraphicFramePr>
          <p:cNvPr id="7" name="Object 9"/>
          <p:cNvGraphicFramePr>
            <a:graphicFrameLocks noChangeAspect="1"/>
          </p:cNvGraphicFramePr>
          <p:nvPr/>
        </p:nvGraphicFramePr>
        <p:xfrm>
          <a:off x="4816311" y="1486062"/>
          <a:ext cx="1041400" cy="481013"/>
        </p:xfrm>
        <a:graphic>
          <a:graphicData uri="http://schemas.openxmlformats.org/presentationml/2006/ole">
            <mc:AlternateContent xmlns:mc="http://schemas.openxmlformats.org/markup-compatibility/2006">
              <mc:Choice xmlns:v="urn:schemas-microsoft-com:vml" Requires="v">
                <p:oleObj name="Equation" r:id="rId3" imgW="495000" imgH="228600" progId="Equation.DSMT4">
                  <p:embed/>
                </p:oleObj>
              </mc:Choice>
              <mc:Fallback>
                <p:oleObj name="Equation" r:id="rId3" imgW="495000" imgH="228600" progId="Equation.DSMT4">
                  <p:embed/>
                  <p:pic>
                    <p:nvPicPr>
                      <p:cNvPr id="7" name="Object 9"/>
                      <p:cNvPicPr>
                        <a:picLocks noChangeAspect="1" noChangeArrowheads="1"/>
                      </p:cNvPicPr>
                      <p:nvPr/>
                    </p:nvPicPr>
                    <p:blipFill>
                      <a:blip r:embed="rId4"/>
                      <a:srcRect/>
                      <a:stretch>
                        <a:fillRect/>
                      </a:stretch>
                    </p:blipFill>
                    <p:spPr bwMode="auto">
                      <a:xfrm>
                        <a:off x="4816311" y="1486062"/>
                        <a:ext cx="104140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标题 5"/>
          <p:cNvSpPr txBox="1">
            <a:spLocks/>
          </p:cNvSpPr>
          <p:nvPr/>
        </p:nvSpPr>
        <p:spPr>
          <a:xfrm>
            <a:off x="457200" y="6053138"/>
            <a:ext cx="4724400" cy="652462"/>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j-cs"/>
              </a:rPr>
              <a:t>图</a:t>
            </a:r>
            <a:r>
              <a:rPr kumimoji="1" lang="en-US" altLang="zh-CN" sz="2400" b="1" i="0" u="none" strike="noStrike" kern="1200" cap="none" spc="0" normalizeH="0" baseline="0" noProof="0" dirty="0">
                <a:ln>
                  <a:noFill/>
                </a:ln>
                <a:solidFill>
                  <a:srgbClr val="000000"/>
                </a:solidFill>
                <a:effectLst/>
                <a:uLnTx/>
                <a:uFillTx/>
                <a:latin typeface="Times New Roman"/>
                <a:ea typeface="宋体"/>
                <a:cs typeface="+mj-cs"/>
              </a:rPr>
              <a:t>5.15  </a:t>
            </a: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j-cs"/>
              </a:rPr>
              <a:t>频率采样的不同频率特性</a:t>
            </a:r>
          </a:p>
        </p:txBody>
      </p:sp>
      <p:sp>
        <p:nvSpPr>
          <p:cNvPr id="10" name="矩形 9"/>
          <p:cNvSpPr/>
          <p:nvPr/>
        </p:nvSpPr>
        <p:spPr>
          <a:xfrm>
            <a:off x="4805313" y="2409552"/>
            <a:ext cx="4191000" cy="341632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Pct val="65000"/>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在采样点之间，频响由各采样点的内插函数延伸叠加形成，因而有一定的逼近误差，误差大小与理想频率响应的曲线形状有关。理想特性变化越陡，误差越大，因而</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mn-cs"/>
              </a:rPr>
              <a:t>在理想频率响应的不连续点附近，会产生肩峰和波纹。</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反之，理想特性变化越平缓，误差越小。</a:t>
            </a:r>
          </a:p>
        </p:txBody>
      </p:sp>
      <p:sp>
        <p:nvSpPr>
          <p:cNvPr id="11" name="标题 5"/>
          <p:cNvSpPr txBox="1">
            <a:spLocks/>
          </p:cNvSpPr>
          <p:nvPr/>
        </p:nvSpPr>
        <p:spPr>
          <a:xfrm>
            <a:off x="1447800" y="5495049"/>
            <a:ext cx="3200400" cy="415345"/>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j-cs"/>
              </a:rPr>
              <a:t>梯形的理想频率特性</a:t>
            </a:r>
          </a:p>
        </p:txBody>
      </p:sp>
      <p:sp>
        <p:nvSpPr>
          <p:cNvPr id="12" name="标题 5"/>
          <p:cNvSpPr txBox="1">
            <a:spLocks/>
          </p:cNvSpPr>
          <p:nvPr/>
        </p:nvSpPr>
        <p:spPr>
          <a:xfrm>
            <a:off x="1371600" y="3297877"/>
            <a:ext cx="3200400" cy="415345"/>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j-cs"/>
              </a:rPr>
              <a:t>矩形的理想频率特性</a:t>
            </a:r>
          </a:p>
        </p:txBody>
      </p:sp>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6"/>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421904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33400" y="838200"/>
            <a:ext cx="8229600" cy="1996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线性相位的约束</a:t>
            </a:r>
          </a:p>
          <a:p>
            <a:pPr marL="0" marR="0" lvl="0" indent="0" algn="just" defTabSz="914400" rtl="0" eaLnBrk="1" fontAlgn="base" latinLnBrk="0" hangingPunct="1">
              <a:lnSpc>
                <a:spcPct val="114000"/>
              </a:lnSpc>
              <a:spcBef>
                <a:spcPts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如果我们设计的是线性相位的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FIR</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滤波器，则其采样值</a:t>
            </a:r>
            <a:r>
              <a:rPr kumimoji="1" lang="en-US" altLang="zh-CN" sz="2800" b="1" i="1"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的幅度和相位</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一定</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要满足前面所讨论的四类线性相位滤波器的约束条件</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4" name="矩形 3"/>
          <p:cNvSpPr/>
          <p:nvPr/>
        </p:nvSpPr>
        <p:spPr>
          <a:xfrm>
            <a:off x="457200" y="2819400"/>
            <a:ext cx="8458200" cy="1040285"/>
          </a:xfrm>
          <a:prstGeom prst="rect">
            <a:avLst/>
          </a:prstGeom>
        </p:spPr>
        <p:txBody>
          <a:bodyPr wrap="square">
            <a:spAutoFit/>
          </a:bodyPr>
          <a:lstStyle/>
          <a:p>
            <a:pPr marL="0" marR="0" lvl="0" indent="0" algn="l" defTabSz="914400" rtl="0" eaLnBrk="0" fontAlgn="base" latinLnBrk="0" hangingPunct="0">
              <a:lnSpc>
                <a:spcPct val="110000"/>
              </a:lnSpc>
              <a:spcBef>
                <a:spcPct val="35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rPr>
              <a:t>若设计</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第一类</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线性相位</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FIR</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滤波器，即</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偶对称，长度</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为奇数</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aphicFrame>
        <p:nvGraphicFramePr>
          <p:cNvPr id="5" name="Object 5"/>
          <p:cNvGraphicFramePr>
            <a:graphicFrameLocks noChangeAspect="1"/>
          </p:cNvGraphicFramePr>
          <p:nvPr/>
        </p:nvGraphicFramePr>
        <p:xfrm>
          <a:off x="3126515" y="3429000"/>
          <a:ext cx="3066336" cy="693252"/>
        </p:xfrm>
        <a:graphic>
          <a:graphicData uri="http://schemas.openxmlformats.org/presentationml/2006/ole">
            <mc:AlternateContent xmlns:mc="http://schemas.openxmlformats.org/markup-compatibility/2006">
              <mc:Choice xmlns:v="urn:schemas-microsoft-com:vml" Requires="v">
                <p:oleObj name="Equation" r:id="rId2" imgW="1460160" imgH="330120" progId="Equation.DSMT4">
                  <p:embed/>
                </p:oleObj>
              </mc:Choice>
              <mc:Fallback>
                <p:oleObj name="Equation" r:id="rId2" imgW="1460160" imgH="330120" progId="Equation.DSMT4">
                  <p:embed/>
                  <p:pic>
                    <p:nvPicPr>
                      <p:cNvPr id="5" name="Object 5"/>
                      <p:cNvPicPr>
                        <a:picLocks noChangeAspect="1" noChangeArrowheads="1"/>
                      </p:cNvPicPr>
                      <p:nvPr/>
                    </p:nvPicPr>
                    <p:blipFill>
                      <a:blip r:embed="rId3"/>
                      <a:srcRect/>
                      <a:stretch>
                        <a:fillRect/>
                      </a:stretch>
                    </p:blipFill>
                    <p:spPr bwMode="auto">
                      <a:xfrm>
                        <a:off x="3126515" y="3429000"/>
                        <a:ext cx="3066336" cy="69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1"/>
          <p:cNvGraphicFramePr>
            <a:graphicFrameLocks noChangeAspect="1"/>
          </p:cNvGraphicFramePr>
          <p:nvPr/>
        </p:nvGraphicFramePr>
        <p:xfrm>
          <a:off x="2073960" y="4277380"/>
          <a:ext cx="852768" cy="426384"/>
        </p:xfrm>
        <a:graphic>
          <a:graphicData uri="http://schemas.openxmlformats.org/presentationml/2006/ole">
            <mc:AlternateContent xmlns:mc="http://schemas.openxmlformats.org/markup-compatibility/2006">
              <mc:Choice xmlns:v="urn:schemas-microsoft-com:vml" Requires="v">
                <p:oleObj name="Equation" r:id="rId4" imgW="406080" imgH="203040" progId="Equation.DSMT4">
                  <p:embed/>
                </p:oleObj>
              </mc:Choice>
              <mc:Fallback>
                <p:oleObj name="Equation" r:id="rId4" imgW="406080" imgH="203040" progId="Equation.DSMT4">
                  <p:embed/>
                  <p:pic>
                    <p:nvPicPr>
                      <p:cNvPr id="7" name="Object 11"/>
                      <p:cNvPicPr>
                        <a:picLocks noChangeAspect="1" noChangeArrowheads="1"/>
                      </p:cNvPicPr>
                      <p:nvPr/>
                    </p:nvPicPr>
                    <p:blipFill>
                      <a:blip r:embed="rId5">
                        <a:grayscl/>
                        <a:biLevel thresh="50000"/>
                      </a:blip>
                      <a:srcRect/>
                      <a:stretch>
                        <a:fillRect/>
                      </a:stretch>
                    </p:blipFill>
                    <p:spPr bwMode="auto">
                      <a:xfrm>
                        <a:off x="2073960" y="4277380"/>
                        <a:ext cx="852768"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3657600" y="4353580"/>
          <a:ext cx="852768" cy="293328"/>
        </p:xfrm>
        <a:graphic>
          <a:graphicData uri="http://schemas.openxmlformats.org/presentationml/2006/ole">
            <mc:AlternateContent xmlns:mc="http://schemas.openxmlformats.org/markup-compatibility/2006">
              <mc:Choice xmlns:v="urn:schemas-microsoft-com:vml" Requires="v">
                <p:oleObj name="Equation" r:id="rId6" imgW="406080" imgH="139680" progId="Equation.DSMT4">
                  <p:embed/>
                </p:oleObj>
              </mc:Choice>
              <mc:Fallback>
                <p:oleObj name="Equation" r:id="rId6" imgW="406080" imgH="139680" progId="Equation.DSMT4">
                  <p:embed/>
                  <p:pic>
                    <p:nvPicPr>
                      <p:cNvPr id="8" name="Object 10"/>
                      <p:cNvPicPr>
                        <a:picLocks noChangeAspect="1" noChangeArrowheads="1"/>
                      </p:cNvPicPr>
                      <p:nvPr/>
                    </p:nvPicPr>
                    <p:blipFill>
                      <a:blip r:embed="rId7">
                        <a:grayscl/>
                        <a:biLevel thresh="50000"/>
                      </a:blip>
                      <a:srcRect/>
                      <a:stretch>
                        <a:fillRect/>
                      </a:stretch>
                    </p:blipFill>
                    <p:spPr bwMode="auto">
                      <a:xfrm>
                        <a:off x="3657600" y="4353580"/>
                        <a:ext cx="852768" cy="29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536542" y="4201180"/>
            <a:ext cx="6702458"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rPr>
              <a:t>幅度</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函数          关于          呈偶对称</a:t>
            </a:r>
          </a:p>
        </p:txBody>
      </p:sp>
      <p:graphicFrame>
        <p:nvGraphicFramePr>
          <p:cNvPr id="12" name="Object 7"/>
          <p:cNvGraphicFramePr>
            <a:graphicFrameLocks noChangeAspect="1"/>
          </p:cNvGraphicFramePr>
          <p:nvPr/>
        </p:nvGraphicFramePr>
        <p:xfrm>
          <a:off x="6187111" y="4279932"/>
          <a:ext cx="2613660" cy="426720"/>
        </p:xfrm>
        <a:graphic>
          <a:graphicData uri="http://schemas.openxmlformats.org/presentationml/2006/ole">
            <mc:AlternateContent xmlns:mc="http://schemas.openxmlformats.org/markup-compatibility/2006">
              <mc:Choice xmlns:v="urn:schemas-microsoft-com:vml" Requires="v">
                <p:oleObj name="Equation" r:id="rId8" imgW="1244600" imgH="203200" progId="Equation.3">
                  <p:embed/>
                </p:oleObj>
              </mc:Choice>
              <mc:Fallback>
                <p:oleObj name="Equation" r:id="rId8" imgW="1244600" imgH="203200" progId="Equation.3">
                  <p:embed/>
                  <p:pic>
                    <p:nvPicPr>
                      <p:cNvPr id="12"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7111" y="4279932"/>
                        <a:ext cx="2613660" cy="426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4"/>
          <p:cNvGraphicFramePr>
            <a:graphicFrameLocks noChangeAspect="1"/>
          </p:cNvGraphicFramePr>
          <p:nvPr/>
        </p:nvGraphicFramePr>
        <p:xfrm>
          <a:off x="908050" y="4793100"/>
          <a:ext cx="2105025" cy="533400"/>
        </p:xfrm>
        <a:graphic>
          <a:graphicData uri="http://schemas.openxmlformats.org/presentationml/2006/ole">
            <mc:AlternateContent xmlns:mc="http://schemas.openxmlformats.org/markup-compatibility/2006">
              <mc:Choice xmlns:v="urn:schemas-microsoft-com:vml" Requires="v">
                <p:oleObj name="Equation" r:id="rId10" imgW="1002960" imgH="253800" progId="Equation.DSMT4">
                  <p:embed/>
                </p:oleObj>
              </mc:Choice>
              <mc:Fallback>
                <p:oleObj name="Equation" r:id="rId10" imgW="1002960" imgH="253800" progId="Equation.DSMT4">
                  <p:embed/>
                  <p:pic>
                    <p:nvPicPr>
                      <p:cNvPr id="14" name="Object 4"/>
                      <p:cNvPicPr>
                        <a:picLocks noChangeAspect="1" noChangeArrowheads="1"/>
                      </p:cNvPicPr>
                      <p:nvPr/>
                    </p:nvPicPr>
                    <p:blipFill>
                      <a:blip r:embed="rId11"/>
                      <a:srcRect/>
                      <a:stretch>
                        <a:fillRect/>
                      </a:stretch>
                    </p:blipFill>
                    <p:spPr bwMode="auto">
                      <a:xfrm>
                        <a:off x="908050" y="4793100"/>
                        <a:ext cx="21050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9"/>
          <p:cNvGraphicFramePr>
            <a:graphicFrameLocks noChangeAspect="1"/>
          </p:cNvGraphicFramePr>
          <p:nvPr/>
        </p:nvGraphicFramePr>
        <p:xfrm>
          <a:off x="6868694" y="4852825"/>
          <a:ext cx="1519237" cy="479425"/>
        </p:xfrm>
        <a:graphic>
          <a:graphicData uri="http://schemas.openxmlformats.org/presentationml/2006/ole">
            <mc:AlternateContent xmlns:mc="http://schemas.openxmlformats.org/markup-compatibility/2006">
              <mc:Choice xmlns:v="urn:schemas-microsoft-com:vml" Requires="v">
                <p:oleObj name="Equation" r:id="rId12" imgW="723600" imgH="228600" progId="Equation.DSMT4">
                  <p:embed/>
                </p:oleObj>
              </mc:Choice>
              <mc:Fallback>
                <p:oleObj name="Equation" r:id="rId12" imgW="723600" imgH="228600" progId="Equation.DSMT4">
                  <p:embed/>
                  <p:pic>
                    <p:nvPicPr>
                      <p:cNvPr id="15" name="Object 9"/>
                      <p:cNvPicPr>
                        <a:picLocks noChangeAspect="1" noChangeArrowheads="1"/>
                      </p:cNvPicPr>
                      <p:nvPr/>
                    </p:nvPicPr>
                    <p:blipFill>
                      <a:blip r:embed="rId13"/>
                      <a:srcRect/>
                      <a:stretch>
                        <a:fillRect/>
                      </a:stretch>
                    </p:blipFill>
                    <p:spPr bwMode="auto">
                      <a:xfrm>
                        <a:off x="6868694" y="4852825"/>
                        <a:ext cx="1519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p:nvPr/>
        </p:nvSpPr>
        <p:spPr>
          <a:xfrm>
            <a:off x="496478" y="4800355"/>
            <a:ext cx="545342"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令</a:t>
            </a:r>
            <a:endParaRPr kumimoji="0" lang="zh-CN" altLang="en-US" sz="2000" b="0"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sp>
        <p:nvSpPr>
          <p:cNvPr id="21" name="矩形 20"/>
          <p:cNvSpPr/>
          <p:nvPr/>
        </p:nvSpPr>
        <p:spPr>
          <a:xfrm>
            <a:off x="3814442" y="4807421"/>
            <a:ext cx="307007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必须满足偶对称性</a:t>
            </a:r>
            <a:endParaRPr kumimoji="0" lang="zh-CN" altLang="en-US" sz="2000" b="0"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graphicFrame>
        <p:nvGraphicFramePr>
          <p:cNvPr id="22" name="Object 9"/>
          <p:cNvGraphicFramePr>
            <a:graphicFrameLocks noChangeAspect="1"/>
          </p:cNvGraphicFramePr>
          <p:nvPr/>
        </p:nvGraphicFramePr>
        <p:xfrm>
          <a:off x="3433288" y="4842180"/>
          <a:ext cx="479425" cy="479425"/>
        </p:xfrm>
        <a:graphic>
          <a:graphicData uri="http://schemas.openxmlformats.org/presentationml/2006/ole">
            <mc:AlternateContent xmlns:mc="http://schemas.openxmlformats.org/markup-compatibility/2006">
              <mc:Choice xmlns:v="urn:schemas-microsoft-com:vml" Requires="v">
                <p:oleObj name="Equation" r:id="rId14" imgW="228600" imgH="228600" progId="Equation.DSMT4">
                  <p:embed/>
                </p:oleObj>
              </mc:Choice>
              <mc:Fallback>
                <p:oleObj name="Equation" r:id="rId14" imgW="228600" imgH="228600" progId="Equation.DSMT4">
                  <p:embed/>
                  <p:pic>
                    <p:nvPicPr>
                      <p:cNvPr id="22" name="Object 9"/>
                      <p:cNvPicPr>
                        <a:picLocks noChangeAspect="1" noChangeArrowheads="1"/>
                      </p:cNvPicPr>
                      <p:nvPr/>
                    </p:nvPicPr>
                    <p:blipFill>
                      <a:blip r:embed="rId15"/>
                      <a:srcRect/>
                      <a:stretch>
                        <a:fillRect/>
                      </a:stretch>
                    </p:blipFill>
                    <p:spPr bwMode="auto">
                      <a:xfrm>
                        <a:off x="3433288" y="4842180"/>
                        <a:ext cx="4794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p:nvPr/>
        </p:nvSpPr>
        <p:spPr>
          <a:xfrm>
            <a:off x="2895600" y="4793100"/>
            <a:ext cx="545342"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则</a:t>
            </a:r>
            <a:endParaRPr kumimoji="0" lang="zh-CN" altLang="en-US" sz="2000" b="1"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graphicFrame>
        <p:nvGraphicFramePr>
          <p:cNvPr id="25" name="Object 9"/>
          <p:cNvGraphicFramePr>
            <a:graphicFrameLocks noChangeAspect="1"/>
          </p:cNvGraphicFramePr>
          <p:nvPr/>
        </p:nvGraphicFramePr>
        <p:xfrm>
          <a:off x="6781800" y="5314950"/>
          <a:ext cx="2183760" cy="380880"/>
        </p:xfrm>
        <a:graphic>
          <a:graphicData uri="http://schemas.openxmlformats.org/presentationml/2006/ole">
            <mc:AlternateContent xmlns:mc="http://schemas.openxmlformats.org/markup-compatibility/2006">
              <mc:Choice xmlns:v="urn:schemas-microsoft-com:vml" Requires="v">
                <p:oleObj name="Equation" r:id="rId16" imgW="1091880" imgH="190440" progId="Equation.DSMT4">
                  <p:embed/>
                </p:oleObj>
              </mc:Choice>
              <mc:Fallback>
                <p:oleObj name="Equation" r:id="rId16" imgW="1091880" imgH="190440" progId="Equation.DSMT4">
                  <p:embed/>
                  <p:pic>
                    <p:nvPicPr>
                      <p:cNvPr id="25" name="Object 9"/>
                      <p:cNvPicPr>
                        <a:picLocks noChangeAspect="1" noChangeArrowheads="1"/>
                      </p:cNvPicPr>
                      <p:nvPr/>
                    </p:nvPicPr>
                    <p:blipFill>
                      <a:blip r:embed="rId17"/>
                      <a:srcRect/>
                      <a:stretch>
                        <a:fillRect/>
                      </a:stretch>
                    </p:blipFill>
                    <p:spPr bwMode="auto">
                      <a:xfrm>
                        <a:off x="6781800" y="5314950"/>
                        <a:ext cx="2183760" cy="380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1"/>
          <p:cNvGraphicFramePr>
            <a:graphicFrameLocks noChangeAspect="1"/>
          </p:cNvGraphicFramePr>
          <p:nvPr/>
        </p:nvGraphicFramePr>
        <p:xfrm>
          <a:off x="3481387" y="5695830"/>
          <a:ext cx="4748213" cy="1066800"/>
        </p:xfrm>
        <a:graphic>
          <a:graphicData uri="http://schemas.openxmlformats.org/presentationml/2006/ole">
            <mc:AlternateContent xmlns:mc="http://schemas.openxmlformats.org/markup-compatibility/2006">
              <mc:Choice xmlns:v="urn:schemas-microsoft-com:vml" Requires="v">
                <p:oleObj name="Equation" r:id="rId18" imgW="2374560" imgH="533160" progId="Equation.DSMT4">
                  <p:embed/>
                </p:oleObj>
              </mc:Choice>
              <mc:Fallback>
                <p:oleObj name="Equation" r:id="rId18" imgW="2374560" imgH="533160" progId="Equation.DSMT4">
                  <p:embed/>
                  <p:pic>
                    <p:nvPicPr>
                      <p:cNvPr id="18" name="Object 11"/>
                      <p:cNvPicPr>
                        <a:picLocks noChangeAspect="1" noChangeArrowheads="1"/>
                      </p:cNvPicPr>
                      <p:nvPr/>
                    </p:nvPicPr>
                    <p:blipFill>
                      <a:blip r:embed="rId19"/>
                      <a:srcRect/>
                      <a:stretch>
                        <a:fillRect/>
                      </a:stretch>
                    </p:blipFill>
                    <p:spPr bwMode="auto">
                      <a:xfrm>
                        <a:off x="3481387" y="5695830"/>
                        <a:ext cx="47482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19590728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7350" y="864715"/>
            <a:ext cx="8451850" cy="1040285"/>
          </a:xfrm>
          <a:prstGeom prst="rect">
            <a:avLst/>
          </a:prstGeom>
        </p:spPr>
        <p:txBody>
          <a:bodyPr wrap="square">
            <a:spAutoFit/>
          </a:bodyPr>
          <a:lstStyle/>
          <a:p>
            <a:pPr marL="0" marR="0" lvl="0" indent="0" algn="l" defTabSz="914400" rtl="0" eaLnBrk="0" fontAlgn="base" latinLnBrk="0" hangingPunct="0">
              <a:lnSpc>
                <a:spcPct val="110000"/>
              </a:lnSpc>
              <a:spcBef>
                <a:spcPct val="35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rPr>
              <a:t>若设计</a:t>
            </a:r>
            <a:r>
              <a:rPr kumimoji="1"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第二类</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线性相位</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FIR</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滤波器，即</a:t>
            </a:r>
            <a:r>
              <a:rPr kumimoji="1" lang="en-US" altLang="zh-CN" sz="28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偶对称，长度</a:t>
            </a:r>
            <a:r>
              <a:rPr kumimoji="1" lang="en-US" altLang="zh-CN" sz="28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为偶数</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aphicFrame>
        <p:nvGraphicFramePr>
          <p:cNvPr id="4" name="Object 5"/>
          <p:cNvGraphicFramePr>
            <a:graphicFrameLocks noChangeAspect="1"/>
          </p:cNvGraphicFramePr>
          <p:nvPr/>
        </p:nvGraphicFramePr>
        <p:xfrm>
          <a:off x="2974115" y="1524000"/>
          <a:ext cx="3066336" cy="693252"/>
        </p:xfrm>
        <a:graphic>
          <a:graphicData uri="http://schemas.openxmlformats.org/presentationml/2006/ole">
            <mc:AlternateContent xmlns:mc="http://schemas.openxmlformats.org/markup-compatibility/2006">
              <mc:Choice xmlns:v="urn:schemas-microsoft-com:vml" Requires="v">
                <p:oleObj name="Equation" r:id="rId2" imgW="1460160" imgH="330120" progId="Equation.DSMT4">
                  <p:embed/>
                </p:oleObj>
              </mc:Choice>
              <mc:Fallback>
                <p:oleObj name="Equation" r:id="rId2" imgW="1460160" imgH="330120" progId="Equation.DSMT4">
                  <p:embed/>
                  <p:pic>
                    <p:nvPicPr>
                      <p:cNvPr id="4" name="Object 5"/>
                      <p:cNvPicPr>
                        <a:picLocks noChangeAspect="1" noChangeArrowheads="1"/>
                      </p:cNvPicPr>
                      <p:nvPr/>
                    </p:nvPicPr>
                    <p:blipFill>
                      <a:blip r:embed="rId3"/>
                      <a:srcRect/>
                      <a:stretch>
                        <a:fillRect/>
                      </a:stretch>
                    </p:blipFill>
                    <p:spPr bwMode="auto">
                      <a:xfrm>
                        <a:off x="2974115" y="1524000"/>
                        <a:ext cx="3066336" cy="69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1"/>
          <p:cNvGraphicFramePr>
            <a:graphicFrameLocks noChangeAspect="1"/>
          </p:cNvGraphicFramePr>
          <p:nvPr/>
        </p:nvGraphicFramePr>
        <p:xfrm>
          <a:off x="1921560" y="2448580"/>
          <a:ext cx="852768" cy="426384"/>
        </p:xfrm>
        <a:graphic>
          <a:graphicData uri="http://schemas.openxmlformats.org/presentationml/2006/ole">
            <mc:AlternateContent xmlns:mc="http://schemas.openxmlformats.org/markup-compatibility/2006">
              <mc:Choice xmlns:v="urn:schemas-microsoft-com:vml" Requires="v">
                <p:oleObj name="Equation" r:id="rId4" imgW="406080" imgH="203040" progId="Equation.DSMT4">
                  <p:embed/>
                </p:oleObj>
              </mc:Choice>
              <mc:Fallback>
                <p:oleObj name="Equation" r:id="rId4" imgW="406080" imgH="203040" progId="Equation.DSMT4">
                  <p:embed/>
                  <p:pic>
                    <p:nvPicPr>
                      <p:cNvPr id="5" name="Object 11"/>
                      <p:cNvPicPr>
                        <a:picLocks noChangeAspect="1" noChangeArrowheads="1"/>
                      </p:cNvPicPr>
                      <p:nvPr/>
                    </p:nvPicPr>
                    <p:blipFill>
                      <a:blip r:embed="rId5">
                        <a:grayscl/>
                        <a:biLevel thresh="50000"/>
                      </a:blip>
                      <a:srcRect/>
                      <a:stretch>
                        <a:fillRect/>
                      </a:stretch>
                    </p:blipFill>
                    <p:spPr bwMode="auto">
                      <a:xfrm>
                        <a:off x="1921560" y="2448580"/>
                        <a:ext cx="852768"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0"/>
          <p:cNvGraphicFramePr>
            <a:graphicFrameLocks noChangeAspect="1"/>
          </p:cNvGraphicFramePr>
          <p:nvPr/>
        </p:nvGraphicFramePr>
        <p:xfrm>
          <a:off x="3505200" y="2524780"/>
          <a:ext cx="852768" cy="293328"/>
        </p:xfrm>
        <a:graphic>
          <a:graphicData uri="http://schemas.openxmlformats.org/presentationml/2006/ole">
            <mc:AlternateContent xmlns:mc="http://schemas.openxmlformats.org/markup-compatibility/2006">
              <mc:Choice xmlns:v="urn:schemas-microsoft-com:vml" Requires="v">
                <p:oleObj name="Equation" r:id="rId6" imgW="406080" imgH="139680" progId="Equation.DSMT4">
                  <p:embed/>
                </p:oleObj>
              </mc:Choice>
              <mc:Fallback>
                <p:oleObj name="Equation" r:id="rId6" imgW="406080" imgH="139680" progId="Equation.DSMT4">
                  <p:embed/>
                  <p:pic>
                    <p:nvPicPr>
                      <p:cNvPr id="6" name="Object 10"/>
                      <p:cNvPicPr>
                        <a:picLocks noChangeAspect="1" noChangeArrowheads="1"/>
                      </p:cNvPicPr>
                      <p:nvPr/>
                    </p:nvPicPr>
                    <p:blipFill>
                      <a:blip r:embed="rId7">
                        <a:grayscl/>
                        <a:biLevel thresh="50000"/>
                      </a:blip>
                      <a:srcRect/>
                      <a:stretch>
                        <a:fillRect/>
                      </a:stretch>
                    </p:blipFill>
                    <p:spPr bwMode="auto">
                      <a:xfrm>
                        <a:off x="3505200" y="2524780"/>
                        <a:ext cx="852768" cy="29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384142" y="2372380"/>
            <a:ext cx="6702458"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rPr>
              <a:t>幅度</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函数          关于          呈奇对称</a:t>
            </a:r>
          </a:p>
        </p:txBody>
      </p:sp>
      <p:graphicFrame>
        <p:nvGraphicFramePr>
          <p:cNvPr id="8" name="Object 7"/>
          <p:cNvGraphicFramePr>
            <a:graphicFrameLocks noChangeAspect="1"/>
          </p:cNvGraphicFramePr>
          <p:nvPr/>
        </p:nvGraphicFramePr>
        <p:xfrm>
          <a:off x="5927725" y="2451100"/>
          <a:ext cx="2828925" cy="427038"/>
        </p:xfrm>
        <a:graphic>
          <a:graphicData uri="http://schemas.openxmlformats.org/presentationml/2006/ole">
            <mc:AlternateContent xmlns:mc="http://schemas.openxmlformats.org/markup-compatibility/2006">
              <mc:Choice xmlns:v="urn:schemas-microsoft-com:vml" Requires="v">
                <p:oleObj name="Equation" r:id="rId8" imgW="1346040" imgH="203040" progId="Equation.DSMT4">
                  <p:embed/>
                </p:oleObj>
              </mc:Choice>
              <mc:Fallback>
                <p:oleObj name="Equation" r:id="rId8" imgW="1346040" imgH="203040" progId="Equation.DSMT4">
                  <p:embed/>
                  <p:pic>
                    <p:nvPicPr>
                      <p:cNvPr id="8" name="Object 7"/>
                      <p:cNvPicPr>
                        <a:picLocks noChangeAspect="1" noChangeArrowheads="1"/>
                      </p:cNvPicPr>
                      <p:nvPr/>
                    </p:nvPicPr>
                    <p:blipFill>
                      <a:blip r:embed="rId9"/>
                      <a:srcRect/>
                      <a:stretch>
                        <a:fillRect/>
                      </a:stretch>
                    </p:blipFill>
                    <p:spPr bwMode="auto">
                      <a:xfrm>
                        <a:off x="5927725" y="2451100"/>
                        <a:ext cx="2828925"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9"/>
          <p:cNvGraphicFramePr>
            <a:graphicFrameLocks noChangeAspect="1"/>
          </p:cNvGraphicFramePr>
          <p:nvPr/>
        </p:nvGraphicFramePr>
        <p:xfrm>
          <a:off x="6394450" y="3076051"/>
          <a:ext cx="2292350" cy="958850"/>
        </p:xfrm>
        <a:graphic>
          <a:graphicData uri="http://schemas.openxmlformats.org/presentationml/2006/ole">
            <mc:AlternateContent xmlns:mc="http://schemas.openxmlformats.org/markup-compatibility/2006">
              <mc:Choice xmlns:v="urn:schemas-microsoft-com:vml" Requires="v">
                <p:oleObj name="Equation" r:id="rId10" imgW="1091880" imgH="457200" progId="Equation.DSMT4">
                  <p:embed/>
                </p:oleObj>
              </mc:Choice>
              <mc:Fallback>
                <p:oleObj name="Equation" r:id="rId10" imgW="1091880" imgH="457200" progId="Equation.DSMT4">
                  <p:embed/>
                  <p:pic>
                    <p:nvPicPr>
                      <p:cNvPr id="10" name="Object 9"/>
                      <p:cNvPicPr>
                        <a:picLocks noChangeAspect="1" noChangeArrowheads="1"/>
                      </p:cNvPicPr>
                      <p:nvPr/>
                    </p:nvPicPr>
                    <p:blipFill>
                      <a:blip r:embed="rId11"/>
                      <a:srcRect/>
                      <a:stretch>
                        <a:fillRect/>
                      </a:stretch>
                    </p:blipFill>
                    <p:spPr bwMode="auto">
                      <a:xfrm>
                        <a:off x="6394450" y="3076051"/>
                        <a:ext cx="229235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3592192" y="3071144"/>
            <a:ext cx="2709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应满足奇对称性</a:t>
            </a:r>
            <a:endParaRPr kumimoji="0" lang="zh-CN" altLang="en-US" sz="2000" b="0"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graphicFrame>
        <p:nvGraphicFramePr>
          <p:cNvPr id="13" name="Object 9"/>
          <p:cNvGraphicFramePr>
            <a:graphicFrameLocks noChangeAspect="1"/>
          </p:cNvGraphicFramePr>
          <p:nvPr/>
        </p:nvGraphicFramePr>
        <p:xfrm>
          <a:off x="3211038" y="3105903"/>
          <a:ext cx="479425" cy="479425"/>
        </p:xfrm>
        <a:graphic>
          <a:graphicData uri="http://schemas.openxmlformats.org/presentationml/2006/ole">
            <mc:AlternateContent xmlns:mc="http://schemas.openxmlformats.org/markup-compatibility/2006">
              <mc:Choice xmlns:v="urn:schemas-microsoft-com:vml" Requires="v">
                <p:oleObj name="Equation" r:id="rId12" imgW="228600" imgH="228600" progId="Equation.DSMT4">
                  <p:embed/>
                </p:oleObj>
              </mc:Choice>
              <mc:Fallback>
                <p:oleObj name="Equation" r:id="rId12" imgW="228600" imgH="228600" progId="Equation.DSMT4">
                  <p:embed/>
                  <p:pic>
                    <p:nvPicPr>
                      <p:cNvPr id="13" name="Object 9"/>
                      <p:cNvPicPr>
                        <a:picLocks noChangeAspect="1" noChangeArrowheads="1"/>
                      </p:cNvPicPr>
                      <p:nvPr/>
                    </p:nvPicPr>
                    <p:blipFill>
                      <a:blip r:embed="rId13"/>
                      <a:srcRect/>
                      <a:stretch>
                        <a:fillRect/>
                      </a:stretch>
                    </p:blipFill>
                    <p:spPr bwMode="auto">
                      <a:xfrm>
                        <a:off x="3211038" y="3105903"/>
                        <a:ext cx="4794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1"/>
          <p:cNvGraphicFramePr>
            <a:graphicFrameLocks noChangeAspect="1"/>
          </p:cNvGraphicFramePr>
          <p:nvPr/>
        </p:nvGraphicFramePr>
        <p:xfrm>
          <a:off x="3203575" y="4191000"/>
          <a:ext cx="4748213" cy="1066800"/>
        </p:xfrm>
        <a:graphic>
          <a:graphicData uri="http://schemas.openxmlformats.org/presentationml/2006/ole">
            <mc:AlternateContent xmlns:mc="http://schemas.openxmlformats.org/markup-compatibility/2006">
              <mc:Choice xmlns:v="urn:schemas-microsoft-com:vml" Requires="v">
                <p:oleObj name="Equation" r:id="rId14" imgW="2374560" imgH="533160" progId="Equation.DSMT4">
                  <p:embed/>
                </p:oleObj>
              </mc:Choice>
              <mc:Fallback>
                <p:oleObj name="Equation" r:id="rId14" imgW="2374560" imgH="533160" progId="Equation.DSMT4">
                  <p:embed/>
                  <p:pic>
                    <p:nvPicPr>
                      <p:cNvPr id="14" name="Object 11"/>
                      <p:cNvPicPr>
                        <a:picLocks noChangeAspect="1" noChangeArrowheads="1"/>
                      </p:cNvPicPr>
                      <p:nvPr/>
                    </p:nvPicPr>
                    <p:blipFill>
                      <a:blip r:embed="rId15"/>
                      <a:srcRect/>
                      <a:stretch>
                        <a:fillRect/>
                      </a:stretch>
                    </p:blipFill>
                    <p:spPr bwMode="auto">
                      <a:xfrm>
                        <a:off x="3203575" y="4191000"/>
                        <a:ext cx="47482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4"/>
          <p:cNvGraphicFramePr>
            <a:graphicFrameLocks noChangeAspect="1"/>
          </p:cNvGraphicFramePr>
          <p:nvPr/>
        </p:nvGraphicFramePr>
        <p:xfrm>
          <a:off x="745345" y="3048000"/>
          <a:ext cx="2105025" cy="533400"/>
        </p:xfrm>
        <a:graphic>
          <a:graphicData uri="http://schemas.openxmlformats.org/presentationml/2006/ole">
            <mc:AlternateContent xmlns:mc="http://schemas.openxmlformats.org/markup-compatibility/2006">
              <mc:Choice xmlns:v="urn:schemas-microsoft-com:vml" Requires="v">
                <p:oleObj name="Equation" r:id="rId16" imgW="1002960" imgH="253800" progId="Equation.DSMT4">
                  <p:embed/>
                </p:oleObj>
              </mc:Choice>
              <mc:Fallback>
                <p:oleObj name="Equation" r:id="rId16" imgW="1002960" imgH="253800" progId="Equation.DSMT4">
                  <p:embed/>
                  <p:pic>
                    <p:nvPicPr>
                      <p:cNvPr id="16" name="Object 4"/>
                      <p:cNvPicPr>
                        <a:picLocks noChangeAspect="1" noChangeArrowheads="1"/>
                      </p:cNvPicPr>
                      <p:nvPr/>
                    </p:nvPicPr>
                    <p:blipFill>
                      <a:blip r:embed="rId17"/>
                      <a:srcRect/>
                      <a:stretch>
                        <a:fillRect/>
                      </a:stretch>
                    </p:blipFill>
                    <p:spPr bwMode="auto">
                      <a:xfrm>
                        <a:off x="745345" y="3048000"/>
                        <a:ext cx="21050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p:nvPr/>
        </p:nvSpPr>
        <p:spPr>
          <a:xfrm>
            <a:off x="333773" y="3055255"/>
            <a:ext cx="545342"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令</a:t>
            </a:r>
            <a:endParaRPr kumimoji="0" lang="zh-CN" altLang="en-US" sz="2000" b="0"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sp>
        <p:nvSpPr>
          <p:cNvPr id="18" name="矩形 17"/>
          <p:cNvSpPr/>
          <p:nvPr/>
        </p:nvSpPr>
        <p:spPr>
          <a:xfrm>
            <a:off x="2732895" y="3048000"/>
            <a:ext cx="545342"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则</a:t>
            </a:r>
            <a:endParaRPr kumimoji="0" lang="zh-CN" altLang="en-US" sz="2000" b="1"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sp>
        <p:nvSpPr>
          <p:cNvPr id="19" name="矩形 18"/>
          <p:cNvSpPr/>
          <p:nvPr/>
        </p:nvSpPr>
        <p:spPr>
          <a:xfrm>
            <a:off x="318395" y="5486400"/>
            <a:ext cx="8754452" cy="1031757"/>
          </a:xfrm>
          <a:prstGeom prst="rect">
            <a:avLst/>
          </a:prstGeom>
        </p:spPr>
        <p:txBody>
          <a:bodyPr wrap="square">
            <a:spAutoFit/>
          </a:bodyPr>
          <a:lstStyle/>
          <a:p>
            <a:pPr marL="0" marR="0" lvl="0" indent="0" algn="l" defTabSz="914400" rtl="0" eaLnBrk="0" fontAlgn="base" latinLnBrk="0" hangingPunct="0">
              <a:lnSpc>
                <a:spcPct val="114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对于第三类、第四类线性相位</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数字滤波器的设计，幅度与相位同样应满足表</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5.1</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的约束关系。 </a:t>
            </a:r>
          </a:p>
        </p:txBody>
      </p:sp>
      <p:sp>
        <p:nvSpPr>
          <p:cNvPr id="2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2993506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5800" y="848380"/>
            <a:ext cx="800100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增加阻带衰减的方法：</a:t>
            </a:r>
            <a:endParaRPr kumimoji="0"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 name="矩形 4"/>
          <p:cNvSpPr/>
          <p:nvPr/>
        </p:nvSpPr>
        <p:spPr>
          <a:xfrm>
            <a:off x="706120" y="3542169"/>
            <a:ext cx="8077200" cy="738664"/>
          </a:xfrm>
          <a:prstGeom prst="rect">
            <a:avLst/>
          </a:prstGeom>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rPr>
              <a:t>采用优化设计求解最优的过渡带采样点的值；</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6" name="矩形 5"/>
          <p:cNvSpPr/>
          <p:nvPr/>
        </p:nvSpPr>
        <p:spPr>
          <a:xfrm>
            <a:off x="706120" y="1371600"/>
            <a:ext cx="7833360" cy="2246769"/>
          </a:xfrm>
          <a:prstGeom prst="rect">
            <a:avLst/>
          </a:prstGeom>
        </p:spPr>
        <p:txBody>
          <a:bodyPr wrap="square">
            <a:spAutoFit/>
          </a:body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在理想频率响应的不连续点的边缘</a:t>
            </a:r>
            <a:r>
              <a:rPr kumimoji="0"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增加</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一些</a:t>
            </a:r>
            <a:r>
              <a:rPr kumimoji="0"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过渡的采样点</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，即扩宽过渡带，从而减小在通带边缘由于采样点的突然变化而引起的起伏振荡，增大了阻带最小衰减。</a:t>
            </a:r>
            <a:endParaRPr kumimoji="0"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 name="矩形 8"/>
          <p:cNvSpPr/>
          <p:nvPr/>
        </p:nvSpPr>
        <p:spPr>
          <a:xfrm>
            <a:off x="685800" y="4267200"/>
            <a:ext cx="8382000" cy="1492716"/>
          </a:xfrm>
          <a:prstGeom prst="rect">
            <a:avLst/>
          </a:prstGeom>
        </p:spPr>
        <p:txBody>
          <a:bodyPr wrap="square">
            <a:spAutoFit/>
          </a:bodyPr>
          <a:lstStyle/>
          <a:p>
            <a:pPr marL="0" marR="0" lvl="0" indent="0" algn="l" defTabSz="914400" rtl="0" eaLnBrk="0" fontAlgn="base" latinLnBrk="0" hangingPunct="0">
              <a:lnSpc>
                <a:spcPct val="110000"/>
              </a:lnSpc>
              <a:spcBef>
                <a:spcPct val="30000"/>
              </a:spcBef>
              <a:spcAft>
                <a:spcPct val="0"/>
              </a:spcAft>
              <a:buClrTx/>
              <a:buSzTx/>
              <a:buFontTx/>
              <a:buNone/>
              <a:tabLst/>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增加一个过渡带采样点，阻带最小衰减可达 </a:t>
            </a:r>
            <a:r>
              <a:rPr kumimoji="1"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6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44 ~  -54dB</a:t>
            </a:r>
          </a:p>
          <a:p>
            <a:pPr marL="0" marR="0" lvl="0" indent="0" algn="l" defTabSz="914400" rtl="0" eaLnBrk="0" fontAlgn="base" latinLnBrk="0" hangingPunct="0">
              <a:lnSpc>
                <a:spcPct val="110000"/>
              </a:lnSpc>
              <a:spcBef>
                <a:spcPct val="10000"/>
              </a:spcBef>
              <a:spcAft>
                <a:spcPct val="0"/>
              </a:spcAft>
              <a:buClrTx/>
              <a:buSzTx/>
              <a:buFontTx/>
              <a:buNone/>
              <a:tabLst/>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增加二个过渡带采样点，阻带最小衰减可达 </a:t>
            </a:r>
            <a:r>
              <a:rPr kumimoji="1"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6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65 ~  -75dB</a:t>
            </a:r>
          </a:p>
          <a:p>
            <a:pPr marL="0" marR="0" lvl="0" indent="0" algn="l" defTabSz="914400" rtl="0" eaLnBrk="0" fontAlgn="base" latinLnBrk="0" hangingPunct="0">
              <a:lnSpc>
                <a:spcPct val="110000"/>
              </a:lnSpc>
              <a:spcBef>
                <a:spcPct val="10000"/>
              </a:spcBef>
              <a:spcAft>
                <a:spcPct val="0"/>
              </a:spcAft>
              <a:buClrTx/>
              <a:buSzTx/>
              <a:buFontTx/>
              <a:buNone/>
              <a:tabLst/>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增加三个过渡带采样点，阻带最小衰减可达 </a:t>
            </a:r>
            <a:r>
              <a:rPr kumimoji="1"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6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85 ~  -95dB</a:t>
            </a:r>
          </a:p>
        </p:txBody>
      </p:sp>
      <p:sp>
        <p:nvSpPr>
          <p:cNvPr id="12" name="矩形 11"/>
          <p:cNvSpPr/>
          <p:nvPr/>
        </p:nvSpPr>
        <p:spPr>
          <a:xfrm>
            <a:off x="685800" y="5931197"/>
            <a:ext cx="4147289" cy="49244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过渡带采样点个数若为</a:t>
            </a:r>
            <a:r>
              <a:rPr kumimoji="1" lang="en-US" altLang="zh-CN" sz="26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4" name="矩形 13"/>
          <p:cNvSpPr/>
          <p:nvPr/>
        </p:nvSpPr>
        <p:spPr>
          <a:xfrm>
            <a:off x="4572000" y="5931197"/>
            <a:ext cx="2529860" cy="49244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过渡带宽近似为</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5" name="Object 8"/>
          <p:cNvGraphicFramePr>
            <a:graphicFrameLocks noChangeAspect="1"/>
          </p:cNvGraphicFramePr>
          <p:nvPr/>
        </p:nvGraphicFramePr>
        <p:xfrm>
          <a:off x="7010400" y="5791200"/>
          <a:ext cx="1435100" cy="803275"/>
        </p:xfrm>
        <a:graphic>
          <a:graphicData uri="http://schemas.openxmlformats.org/presentationml/2006/ole">
            <mc:AlternateContent xmlns:mc="http://schemas.openxmlformats.org/markup-compatibility/2006">
              <mc:Choice xmlns:v="urn:schemas-microsoft-com:vml" Requires="v">
                <p:oleObj name="Equation" r:id="rId2" imgW="711000" imgH="393480" progId="Equation.DSMT4">
                  <p:embed/>
                </p:oleObj>
              </mc:Choice>
              <mc:Fallback>
                <p:oleObj name="Equation" r:id="rId2" imgW="711000" imgH="393480" progId="Equation.DSMT4">
                  <p:embed/>
                  <p:pic>
                    <p:nvPicPr>
                      <p:cNvPr id="15" name="Object 8"/>
                      <p:cNvPicPr>
                        <a:picLocks noChangeAspect="1" noChangeArrowheads="1"/>
                      </p:cNvPicPr>
                      <p:nvPr/>
                    </p:nvPicPr>
                    <p:blipFill>
                      <a:blip r:embed="rId3"/>
                      <a:srcRect/>
                      <a:stretch>
                        <a:fillRect/>
                      </a:stretch>
                    </p:blipFill>
                    <p:spPr bwMode="auto">
                      <a:xfrm>
                        <a:off x="7010400" y="5791200"/>
                        <a:ext cx="14351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279030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2" grpId="0"/>
      <p:bldP spid="1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838200" y="838200"/>
            <a:ext cx="79248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5.6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利用频率采样法，设计一个线性相位低通</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FIR</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数字滤波器，其理想频率特性为</a:t>
            </a:r>
          </a:p>
          <a:p>
            <a:pPr marL="0" marR="0" lvl="0" indent="0" algn="l" defTabSz="914400" rtl="0" eaLnBrk="0" fontAlgn="base" latinLnBrk="0" hangingPunct="0">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ts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ct val="100000"/>
              </a:lnSpc>
              <a:spcBef>
                <a:spcPts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采样点数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=33</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aphicFrame>
        <p:nvGraphicFramePr>
          <p:cNvPr id="4" name="Object 4"/>
          <p:cNvGraphicFramePr>
            <a:graphicFrameLocks noChangeAspect="1"/>
          </p:cNvGraphicFramePr>
          <p:nvPr/>
        </p:nvGraphicFramePr>
        <p:xfrm>
          <a:off x="2351088" y="1818211"/>
          <a:ext cx="4811712" cy="1042988"/>
        </p:xfrm>
        <a:graphic>
          <a:graphicData uri="http://schemas.openxmlformats.org/presentationml/2006/ole">
            <mc:AlternateContent xmlns:mc="http://schemas.openxmlformats.org/markup-compatibility/2006">
              <mc:Choice xmlns:v="urn:schemas-microsoft-com:vml" Requires="v">
                <p:oleObj name="Equation" r:id="rId2" imgW="1866600" imgH="457200" progId="Equation.DSMT4">
                  <p:embed/>
                </p:oleObj>
              </mc:Choice>
              <mc:Fallback>
                <p:oleObj name="Equation" r:id="rId2" imgW="1866600" imgH="457200" progId="Equation.DSMT4">
                  <p:embed/>
                  <p:pic>
                    <p:nvPicPr>
                      <p:cNvPr id="4" name="Object 4"/>
                      <p:cNvPicPr>
                        <a:picLocks noChangeAspect="1" noChangeArrowheads="1"/>
                      </p:cNvPicPr>
                      <p:nvPr/>
                    </p:nvPicPr>
                    <p:blipFill>
                      <a:blip r:embed="rId3"/>
                      <a:srcRect/>
                      <a:stretch>
                        <a:fillRect/>
                      </a:stretch>
                    </p:blipFill>
                    <p:spPr bwMode="auto">
                      <a:xfrm>
                        <a:off x="2351088" y="1818211"/>
                        <a:ext cx="4811712"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0"/>
          <p:cNvGraphicFramePr>
            <a:graphicFrameLocks noChangeAspect="1"/>
          </p:cNvGraphicFramePr>
          <p:nvPr/>
        </p:nvGraphicFramePr>
        <p:xfrm>
          <a:off x="889000" y="4454516"/>
          <a:ext cx="1625600" cy="479425"/>
        </p:xfrm>
        <a:graphic>
          <a:graphicData uri="http://schemas.openxmlformats.org/presentationml/2006/ole">
            <mc:AlternateContent xmlns:mc="http://schemas.openxmlformats.org/markup-compatibility/2006">
              <mc:Choice xmlns:v="urn:schemas-microsoft-com:vml" Requires="v">
                <p:oleObj name="Equation" r:id="rId4" imgW="774360" imgH="228600" progId="Equation.DSMT4">
                  <p:embed/>
                </p:oleObj>
              </mc:Choice>
              <mc:Fallback>
                <p:oleObj name="Equation" r:id="rId4" imgW="774360" imgH="228600" progId="Equation.DSMT4">
                  <p:embed/>
                  <p:pic>
                    <p:nvPicPr>
                      <p:cNvPr id="6" name="Object 10"/>
                      <p:cNvPicPr>
                        <a:picLocks noChangeAspect="1" noChangeArrowheads="1"/>
                      </p:cNvPicPr>
                      <p:nvPr/>
                    </p:nvPicPr>
                    <p:blipFill>
                      <a:blip r:embed="rId5"/>
                      <a:srcRect/>
                      <a:stretch>
                        <a:fillRect/>
                      </a:stretch>
                    </p:blipFill>
                    <p:spPr bwMode="auto">
                      <a:xfrm>
                        <a:off x="889000" y="4454516"/>
                        <a:ext cx="1625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827088" y="3429000"/>
            <a:ext cx="7859712" cy="954107"/>
          </a:xfrm>
          <a:prstGeom prst="rect">
            <a:avLst/>
          </a:prstGeom>
        </p:spPr>
        <p:txBody>
          <a:bodyPr wrap="square">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能设计低通线性相位数字滤波器的只有第一类、第二类，因</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为奇数，所以</a:t>
            </a: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charset="-122"/>
                <a:cs typeface="+mn-cs"/>
              </a:rPr>
              <a:t>是第一类</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p>
        </p:txBody>
      </p:sp>
      <p:sp>
        <p:nvSpPr>
          <p:cNvPr id="10" name="矩形 9"/>
          <p:cNvSpPr/>
          <p:nvPr/>
        </p:nvSpPr>
        <p:spPr>
          <a:xfrm>
            <a:off x="228600" y="3437550"/>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解：</a:t>
            </a:r>
            <a:endParaRPr kumimoji="0" lang="zh-CN" altLang="en-US" sz="20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1" name="Object 9"/>
          <p:cNvGraphicFramePr>
            <a:graphicFrameLocks noChangeAspect="1"/>
          </p:cNvGraphicFramePr>
          <p:nvPr/>
        </p:nvGraphicFramePr>
        <p:xfrm>
          <a:off x="2667000" y="4493153"/>
          <a:ext cx="2292948" cy="399924"/>
        </p:xfrm>
        <a:graphic>
          <a:graphicData uri="http://schemas.openxmlformats.org/presentationml/2006/ole">
            <mc:AlternateContent xmlns:mc="http://schemas.openxmlformats.org/markup-compatibility/2006">
              <mc:Choice xmlns:v="urn:schemas-microsoft-com:vml" Requires="v">
                <p:oleObj name="Equation" r:id="rId6" imgW="1091880" imgH="190440" progId="Equation.DSMT4">
                  <p:embed/>
                </p:oleObj>
              </mc:Choice>
              <mc:Fallback>
                <p:oleObj name="Equation" r:id="rId6" imgW="1091880" imgH="190440" progId="Equation.DSMT4">
                  <p:embed/>
                  <p:pic>
                    <p:nvPicPr>
                      <p:cNvPr id="11" name="Object 9"/>
                      <p:cNvPicPr>
                        <a:picLocks noChangeAspect="1" noChangeArrowheads="1"/>
                      </p:cNvPicPr>
                      <p:nvPr/>
                    </p:nvPicPr>
                    <p:blipFill>
                      <a:blip r:embed="rId7"/>
                      <a:srcRect/>
                      <a:stretch>
                        <a:fillRect/>
                      </a:stretch>
                    </p:blipFill>
                    <p:spPr bwMode="auto">
                      <a:xfrm>
                        <a:off x="2667000" y="4493153"/>
                        <a:ext cx="2292948" cy="399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nvGraphicFramePr>
        <p:xfrm>
          <a:off x="921657" y="5167097"/>
          <a:ext cx="4748213" cy="1066800"/>
        </p:xfrm>
        <a:graphic>
          <a:graphicData uri="http://schemas.openxmlformats.org/presentationml/2006/ole">
            <mc:AlternateContent xmlns:mc="http://schemas.openxmlformats.org/markup-compatibility/2006">
              <mc:Choice xmlns:v="urn:schemas-microsoft-com:vml" Requires="v">
                <p:oleObj name="Equation" r:id="rId8" imgW="2374560" imgH="533160" progId="Equation.DSMT4">
                  <p:embed/>
                </p:oleObj>
              </mc:Choice>
              <mc:Fallback>
                <p:oleObj name="Equation" r:id="rId8" imgW="2374560" imgH="533160" progId="Equation.DSMT4">
                  <p:embed/>
                  <p:pic>
                    <p:nvPicPr>
                      <p:cNvPr id="12" name="Object 11"/>
                      <p:cNvPicPr>
                        <a:picLocks noChangeAspect="1" noChangeArrowheads="1"/>
                      </p:cNvPicPr>
                      <p:nvPr/>
                    </p:nvPicPr>
                    <p:blipFill>
                      <a:blip r:embed="rId9"/>
                      <a:srcRect/>
                      <a:stretch>
                        <a:fillRect/>
                      </a:stretch>
                    </p:blipFill>
                    <p:spPr bwMode="auto">
                      <a:xfrm>
                        <a:off x="921657" y="5167097"/>
                        <a:ext cx="47482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194700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8"/>
          <p:cNvGraphicFramePr>
            <a:graphicFrameLocks noChangeAspect="1"/>
          </p:cNvGraphicFramePr>
          <p:nvPr/>
        </p:nvGraphicFramePr>
        <p:xfrm>
          <a:off x="802173" y="1991209"/>
          <a:ext cx="4670476" cy="2613334"/>
        </p:xfrm>
        <a:graphic>
          <a:graphicData uri="http://schemas.openxmlformats.org/presentationml/2006/ole">
            <mc:AlternateContent xmlns:mc="http://schemas.openxmlformats.org/markup-compatibility/2006">
              <mc:Choice xmlns:v="urn:schemas-microsoft-com:vml" Requires="v">
                <p:oleObj name="位图图像" r:id="rId2" imgW="5838095" imgH="3266667" progId="Paint.Picture">
                  <p:embed/>
                </p:oleObj>
              </mc:Choice>
              <mc:Fallback>
                <p:oleObj name="位图图像" r:id="rId2" imgW="5838095" imgH="3266667" progId="Paint.Picture">
                  <p:embed/>
                  <p:pic>
                    <p:nvPicPr>
                      <p:cNvPr id="7"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173" y="1991209"/>
                        <a:ext cx="4670476" cy="2613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3"/>
          <p:cNvSpPr>
            <a:spLocks noChangeArrowheads="1"/>
          </p:cNvSpPr>
          <p:nvPr/>
        </p:nvSpPr>
        <p:spPr bwMode="auto">
          <a:xfrm>
            <a:off x="784359" y="878681"/>
            <a:ext cx="7924800"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采样点数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=33</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，第</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点对应频率为           </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而</a:t>
            </a:r>
            <a:r>
              <a:rPr kumimoji="1" lang="zh-CN" altLang="en-US" sz="28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截止频率 </a:t>
            </a:r>
            <a:r>
              <a:rPr kumimoji="1" lang="en-US" altLang="zh-CN" sz="28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0.5π</a:t>
            </a:r>
            <a:r>
              <a:rPr kumimoji="1" lang="zh-CN" altLang="en-US" sz="2800" b="1"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位于                         之间</a:t>
            </a:r>
          </a:p>
          <a:p>
            <a:pPr marL="0" marR="0" lvl="0" indent="0" algn="l" defTabSz="914400" rtl="0" eaLnBrk="0" fontAlgn="base" latinLnBrk="0" hangingPunct="0">
              <a:lnSpc>
                <a:spcPct val="100000"/>
              </a:lnSpc>
              <a:spcBef>
                <a:spcPct val="50000"/>
              </a:spcBef>
              <a:spcAft>
                <a:spcPct val="0"/>
              </a:spcAft>
              <a:buClrTx/>
              <a:buSzTx/>
              <a:buFontTx/>
              <a:buNone/>
              <a:tabLst/>
              <a:defRPr/>
            </a:pP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 name="Object 4"/>
          <p:cNvGraphicFramePr>
            <a:graphicFrameLocks noChangeAspect="1"/>
          </p:cNvGraphicFramePr>
          <p:nvPr/>
        </p:nvGraphicFramePr>
        <p:xfrm>
          <a:off x="6351108" y="762000"/>
          <a:ext cx="1230313" cy="766762"/>
        </p:xfrm>
        <a:graphic>
          <a:graphicData uri="http://schemas.openxmlformats.org/presentationml/2006/ole">
            <mc:AlternateContent xmlns:mc="http://schemas.openxmlformats.org/markup-compatibility/2006">
              <mc:Choice xmlns:v="urn:schemas-microsoft-com:vml" Requires="v">
                <p:oleObj name="Equation" r:id="rId4" imgW="622080" imgH="393480" progId="Equation.DSMT4">
                  <p:embed/>
                </p:oleObj>
              </mc:Choice>
              <mc:Fallback>
                <p:oleObj name="Equation" r:id="rId4" imgW="622080" imgH="393480" progId="Equation.DSMT4">
                  <p:embed/>
                  <p:pic>
                    <p:nvPicPr>
                      <p:cNvPr id="4" name="Object 4"/>
                      <p:cNvPicPr>
                        <a:picLocks noChangeAspect="1" noChangeArrowheads="1"/>
                      </p:cNvPicPr>
                      <p:nvPr/>
                    </p:nvPicPr>
                    <p:blipFill>
                      <a:blip r:embed="rId5">
                        <a:grayscl/>
                        <a:biLevel thresh="50000"/>
                      </a:blip>
                      <a:srcRect/>
                      <a:stretch>
                        <a:fillRect/>
                      </a:stretch>
                    </p:blipFill>
                    <p:spPr bwMode="auto">
                      <a:xfrm>
                        <a:off x="6351108" y="762000"/>
                        <a:ext cx="1230313"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5"/>
          <p:cNvGraphicFramePr>
            <a:graphicFrameLocks noChangeAspect="1"/>
          </p:cNvGraphicFramePr>
          <p:nvPr/>
        </p:nvGraphicFramePr>
        <p:xfrm>
          <a:off x="4267560" y="1390736"/>
          <a:ext cx="2057040" cy="786960"/>
        </p:xfrm>
        <a:graphic>
          <a:graphicData uri="http://schemas.openxmlformats.org/presentationml/2006/ole">
            <mc:AlternateContent xmlns:mc="http://schemas.openxmlformats.org/markup-compatibility/2006">
              <mc:Choice xmlns:v="urn:schemas-microsoft-com:vml" Requires="v">
                <p:oleObj name="Equation" r:id="rId6" imgW="1028520" imgH="393480" progId="Equation.DSMT4">
                  <p:embed/>
                </p:oleObj>
              </mc:Choice>
              <mc:Fallback>
                <p:oleObj name="Equation" r:id="rId6" imgW="1028520" imgH="393480" progId="Equation.DSMT4">
                  <p:embed/>
                  <p:pic>
                    <p:nvPicPr>
                      <p:cNvPr id="5" name="Object 5"/>
                      <p:cNvPicPr>
                        <a:picLocks noChangeAspect="1" noChangeArrowheads="1"/>
                      </p:cNvPicPr>
                      <p:nvPr/>
                    </p:nvPicPr>
                    <p:blipFill>
                      <a:blip r:embed="rId7">
                        <a:grayscl/>
                        <a:biLevel thresh="50000"/>
                      </a:blip>
                      <a:srcRect/>
                      <a:stretch>
                        <a:fillRect/>
                      </a:stretch>
                    </p:blipFill>
                    <p:spPr bwMode="auto">
                      <a:xfrm>
                        <a:off x="4267560" y="1390736"/>
                        <a:ext cx="2057040" cy="78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6"/>
          <p:cNvGraphicFramePr>
            <a:graphicFrameLocks noChangeAspect="1"/>
          </p:cNvGraphicFramePr>
          <p:nvPr/>
        </p:nvGraphicFramePr>
        <p:xfrm>
          <a:off x="6053543" y="2362517"/>
          <a:ext cx="1519237" cy="479425"/>
        </p:xfrm>
        <a:graphic>
          <a:graphicData uri="http://schemas.openxmlformats.org/presentationml/2006/ole">
            <mc:AlternateContent xmlns:mc="http://schemas.openxmlformats.org/markup-compatibility/2006">
              <mc:Choice xmlns:v="urn:schemas-microsoft-com:vml" Requires="v">
                <p:oleObj name="Equation" r:id="rId8" imgW="723600" imgH="228600" progId="Equation.DSMT4">
                  <p:embed/>
                </p:oleObj>
              </mc:Choice>
              <mc:Fallback>
                <p:oleObj name="Equation" r:id="rId8" imgW="723600" imgH="228600" progId="Equation.DSMT4">
                  <p:embed/>
                  <p:pic>
                    <p:nvPicPr>
                      <p:cNvPr id="6" name="Object 6"/>
                      <p:cNvPicPr>
                        <a:picLocks noChangeAspect="1" noChangeArrowheads="1"/>
                      </p:cNvPicPr>
                      <p:nvPr/>
                    </p:nvPicPr>
                    <p:blipFill>
                      <a:blip r:embed="rId9"/>
                      <a:srcRect/>
                      <a:stretch>
                        <a:fillRect/>
                      </a:stretch>
                    </p:blipFill>
                    <p:spPr bwMode="auto">
                      <a:xfrm>
                        <a:off x="6053543" y="2362517"/>
                        <a:ext cx="1519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750888" y="4773613"/>
          <a:ext cx="5638800" cy="1879600"/>
        </p:xfrm>
        <a:graphic>
          <a:graphicData uri="http://schemas.openxmlformats.org/presentationml/2006/ole">
            <mc:AlternateContent xmlns:mc="http://schemas.openxmlformats.org/markup-compatibility/2006">
              <mc:Choice xmlns:v="urn:schemas-microsoft-com:vml" Requires="v">
                <p:oleObj name="Equation" r:id="rId10" imgW="2971800" imgH="990360" progId="Equation.DSMT4">
                  <p:embed/>
                </p:oleObj>
              </mc:Choice>
              <mc:Fallback>
                <p:oleObj name="Equation" r:id="rId10" imgW="2971800" imgH="990360" progId="Equation.DSMT4">
                  <p:embed/>
                  <p:pic>
                    <p:nvPicPr>
                      <p:cNvPr id="8" name="Object 10"/>
                      <p:cNvPicPr>
                        <a:picLocks noGrp="1" noChangeAspect="1" noChangeArrowheads="1"/>
                      </p:cNvPicPr>
                      <p:nvPr/>
                    </p:nvPicPr>
                    <p:blipFill>
                      <a:blip r:embed="rId11"/>
                      <a:srcRect/>
                      <a:stretch>
                        <a:fillRect/>
                      </a:stretch>
                    </p:blipFill>
                    <p:spPr bwMode="auto">
                      <a:xfrm>
                        <a:off x="750888" y="4773613"/>
                        <a:ext cx="5638800" cy="187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p:cNvGraphicFramePr>
            <a:graphicFrameLocks noChangeAspect="1"/>
          </p:cNvGraphicFramePr>
          <p:nvPr/>
        </p:nvGraphicFramePr>
        <p:xfrm>
          <a:off x="6109580" y="2909764"/>
          <a:ext cx="1493837" cy="958850"/>
        </p:xfrm>
        <a:graphic>
          <a:graphicData uri="http://schemas.openxmlformats.org/presentationml/2006/ole">
            <mc:AlternateContent xmlns:mc="http://schemas.openxmlformats.org/markup-compatibility/2006">
              <mc:Choice xmlns:v="urn:schemas-microsoft-com:vml" Requires="v">
                <p:oleObj name="Equation" r:id="rId12" imgW="711000" imgH="457200" progId="Equation.DSMT4">
                  <p:embed/>
                </p:oleObj>
              </mc:Choice>
              <mc:Fallback>
                <p:oleObj name="Equation" r:id="rId12" imgW="711000" imgH="457200" progId="Equation.DSMT4">
                  <p:embed/>
                  <p:pic>
                    <p:nvPicPr>
                      <p:cNvPr id="9" name="Object 6"/>
                      <p:cNvPicPr>
                        <a:picLocks noChangeAspect="1" noChangeArrowheads="1"/>
                      </p:cNvPicPr>
                      <p:nvPr/>
                    </p:nvPicPr>
                    <p:blipFill>
                      <a:blip r:embed="rId13"/>
                      <a:srcRect/>
                      <a:stretch>
                        <a:fillRect/>
                      </a:stretch>
                    </p:blipFill>
                    <p:spPr bwMode="auto">
                      <a:xfrm>
                        <a:off x="6109580" y="2909764"/>
                        <a:ext cx="1493837"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
          <p:cNvGraphicFramePr>
            <a:graphicFrameLocks noChangeAspect="1"/>
          </p:cNvGraphicFramePr>
          <p:nvPr/>
        </p:nvGraphicFramePr>
        <p:xfrm>
          <a:off x="6966264" y="5257800"/>
          <a:ext cx="1971675" cy="533400"/>
        </p:xfrm>
        <a:graphic>
          <a:graphicData uri="http://schemas.openxmlformats.org/presentationml/2006/ole">
            <mc:AlternateContent xmlns:mc="http://schemas.openxmlformats.org/markup-compatibility/2006">
              <mc:Choice xmlns:v="urn:schemas-microsoft-com:vml" Requires="v">
                <p:oleObj name="Equation" r:id="rId14" imgW="939600" imgH="253800" progId="Equation.DSMT4">
                  <p:embed/>
                </p:oleObj>
              </mc:Choice>
              <mc:Fallback>
                <p:oleObj name="Equation" r:id="rId14" imgW="939600" imgH="253800" progId="Equation.DSMT4">
                  <p:embed/>
                  <p:pic>
                    <p:nvPicPr>
                      <p:cNvPr id="10" name="Object 4"/>
                      <p:cNvPicPr>
                        <a:picLocks noChangeAspect="1" noChangeArrowheads="1"/>
                      </p:cNvPicPr>
                      <p:nvPr/>
                    </p:nvPicPr>
                    <p:blipFill>
                      <a:blip r:embed="rId15"/>
                      <a:srcRect/>
                      <a:stretch>
                        <a:fillRect/>
                      </a:stretch>
                    </p:blipFill>
                    <p:spPr bwMode="auto">
                      <a:xfrm>
                        <a:off x="6966264" y="5257800"/>
                        <a:ext cx="19716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3897755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1961" y="2209800"/>
            <a:ext cx="3045809" cy="2285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3"/>
          <a:stretch>
            <a:fillRect/>
          </a:stretch>
        </p:blipFill>
        <p:spPr>
          <a:xfrm>
            <a:off x="368814" y="76200"/>
            <a:ext cx="3132091" cy="2072820"/>
          </a:xfrm>
          <a:prstGeom prst="rect">
            <a:avLst/>
          </a:prstGeom>
        </p:spPr>
      </p:pic>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0"/>
            <a:ext cx="3045809" cy="2285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622449" y="427301"/>
            <a:ext cx="1422184" cy="1434047"/>
          </a:xfrm>
          <a:prstGeom prst="rect">
            <a:avLst/>
          </a:prstGeom>
        </p:spPr>
        <p:txBody>
          <a:bodyPr wrap="none">
            <a:spAutoFit/>
          </a:bodyPr>
          <a:lstStyle/>
          <a:p>
            <a:pPr marL="0" marR="0" lvl="0" indent="0" algn="l" defTabSz="914400" rtl="0" eaLnBrk="0" fontAlgn="base" latinLnBrk="0" hangingPunct="0">
              <a:lnSpc>
                <a:spcPct val="125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阻带最小</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5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衰减</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不到</a:t>
            </a:r>
            <a:endPar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5000"/>
              </a:lnSpc>
              <a:spcBef>
                <a:spcPts val="0"/>
              </a:spcBef>
              <a:spcAft>
                <a:spcPct val="0"/>
              </a:spcAft>
              <a:buClrTx/>
              <a:buSzTx/>
              <a:buFontTx/>
              <a:buNone/>
              <a:tabLst/>
              <a:defRPr/>
            </a:pP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20dB</a:t>
            </a:r>
          </a:p>
        </p:txBody>
      </p:sp>
      <p:pic>
        <p:nvPicPr>
          <p:cNvPr id="3" name="图片 2"/>
          <p:cNvPicPr>
            <a:picLocks noChangeAspect="1"/>
          </p:cNvPicPr>
          <p:nvPr/>
        </p:nvPicPr>
        <p:blipFill>
          <a:blip r:embed="rId5"/>
          <a:stretch>
            <a:fillRect/>
          </a:stretch>
        </p:blipFill>
        <p:spPr>
          <a:xfrm>
            <a:off x="365488" y="2209800"/>
            <a:ext cx="3139712" cy="2126164"/>
          </a:xfrm>
          <a:prstGeom prst="rect">
            <a:avLst/>
          </a:prstGeom>
        </p:spPr>
      </p:pic>
      <p:sp>
        <p:nvSpPr>
          <p:cNvPr id="4" name="矩形 3"/>
          <p:cNvSpPr/>
          <p:nvPr/>
        </p:nvSpPr>
        <p:spPr>
          <a:xfrm>
            <a:off x="2209800" y="2857383"/>
            <a:ext cx="1731564" cy="83099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加一个过渡</a:t>
            </a:r>
            <a:endPar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的采样点</a:t>
            </a:r>
            <a:endParaRPr kumimoji="0" lang="zh-CN" altLang="en-US" sz="2400" b="1"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9" name="矩形 8"/>
          <p:cNvSpPr/>
          <p:nvPr/>
        </p:nvSpPr>
        <p:spPr>
          <a:xfrm>
            <a:off x="7622449" y="2551719"/>
            <a:ext cx="1422184" cy="1434047"/>
          </a:xfrm>
          <a:prstGeom prst="rect">
            <a:avLst/>
          </a:prstGeom>
        </p:spPr>
        <p:txBody>
          <a:bodyPr wrap="none">
            <a:spAutoFit/>
          </a:bodyPr>
          <a:lstStyle/>
          <a:p>
            <a:pPr marL="0" marR="0" lvl="0" indent="0" algn="l" defTabSz="914400" rtl="0" eaLnBrk="0" fontAlgn="base" latinLnBrk="0" hangingPunct="0">
              <a:lnSpc>
                <a:spcPct val="125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阻带最小</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5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衰减约为</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5000"/>
              </a:lnSpc>
              <a:spcBef>
                <a:spcPts val="0"/>
              </a:spcBef>
              <a:spcAft>
                <a:spcPct val="0"/>
              </a:spcAft>
              <a:buClrTx/>
              <a:buSzTx/>
              <a:buFontTx/>
              <a:buNone/>
              <a:tabLst/>
              <a:defRPr/>
            </a:pP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30dB</a:t>
            </a:r>
          </a:p>
        </p:txBody>
      </p:sp>
      <p:pic>
        <p:nvPicPr>
          <p:cNvPr id="1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1960" y="4496086"/>
            <a:ext cx="3045809" cy="2285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7"/>
          <a:stretch>
            <a:fillRect/>
          </a:stretch>
        </p:blipFill>
        <p:spPr>
          <a:xfrm>
            <a:off x="353572" y="4495514"/>
            <a:ext cx="3147333" cy="2042337"/>
          </a:xfrm>
          <a:prstGeom prst="rect">
            <a:avLst/>
          </a:prstGeom>
        </p:spPr>
      </p:pic>
      <p:sp>
        <p:nvSpPr>
          <p:cNvPr id="12" name="矩形 11"/>
          <p:cNvSpPr/>
          <p:nvPr/>
        </p:nvSpPr>
        <p:spPr>
          <a:xfrm>
            <a:off x="2133600" y="4859661"/>
            <a:ext cx="2573140" cy="1200329"/>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charset="-122"/>
                <a:cs typeface="+mn-cs"/>
              </a:rPr>
              <a:t>增加采样点数</a:t>
            </a:r>
            <a:r>
              <a:rPr kumimoji="1" lang="en-US" altLang="zh-CN" sz="2400" b="1" i="1" u="none" strike="noStrike" kern="1200" cap="none" spc="0" normalizeH="0" baseline="0" noProof="0" dirty="0">
                <a:ln>
                  <a:noFill/>
                </a:ln>
                <a:solidFill>
                  <a:srgbClr val="000000"/>
                </a:solidFill>
                <a:effectLst/>
                <a:uLnTx/>
                <a:uFillTx/>
                <a:latin typeface="Times New Roman" pitchFamily="18" charset="0"/>
                <a:ea typeface="宋体" charset="-122"/>
                <a:cs typeface="+mn-cs"/>
              </a:rPr>
              <a:t>N</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charset="-122"/>
                <a:cs typeface="+mn-cs"/>
              </a:rPr>
              <a:t>使过渡带内有</a:t>
            </a: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charset="-122"/>
                <a:cs typeface="+mn-cs"/>
              </a:rPr>
              <a:t>两个采样点</a:t>
            </a:r>
            <a:endParaRPr kumimoji="0" lang="zh-CN" altLang="en-US" sz="2400" b="1"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13" name="矩形 12"/>
          <p:cNvSpPr/>
          <p:nvPr/>
        </p:nvSpPr>
        <p:spPr>
          <a:xfrm>
            <a:off x="7629159" y="4761519"/>
            <a:ext cx="1487908" cy="1430328"/>
          </a:xfrm>
          <a:prstGeom prst="rect">
            <a:avLst/>
          </a:prstGeom>
        </p:spPr>
        <p:txBody>
          <a:bodyPr wrap="none">
            <a:spAutoFit/>
          </a:bodyPr>
          <a:lstStyle/>
          <a:p>
            <a:pPr marL="0" marR="0" lvl="0" indent="0" algn="l" defTabSz="914400" rtl="0" eaLnBrk="0" fontAlgn="base" latinLnBrk="0" hangingPunct="0">
              <a:lnSpc>
                <a:spcPct val="125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阻带最小</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5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衰减可达</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5000"/>
              </a:lnSpc>
              <a:spcBef>
                <a:spcPts val="0"/>
              </a:spcBef>
              <a:spcAft>
                <a:spcPct val="0"/>
              </a:spcAft>
              <a:buClrTx/>
              <a:buSzTx/>
              <a:buFontTx/>
              <a:buNone/>
              <a:tabLst/>
              <a:defRPr/>
            </a:pP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60dB</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以上</a:t>
            </a:r>
            <a:endPar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矩形 13"/>
          <p:cNvSpPr/>
          <p:nvPr/>
        </p:nvSpPr>
        <p:spPr>
          <a:xfrm>
            <a:off x="3680495" y="6396335"/>
            <a:ext cx="110959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图</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5.16 </a:t>
            </a:r>
            <a:endParaRPr kumimoji="0" lang="zh-CN" altLang="en-US" sz="2400" b="0" i="0" u="none" strike="noStrike" kern="1200" cap="none" spc="0" normalizeH="0" baseline="0" noProof="0" dirty="0">
              <a:ln>
                <a:noFill/>
              </a:ln>
              <a:solidFill>
                <a:prstClr val="black"/>
              </a:solidFill>
              <a:effectLst/>
              <a:uLnTx/>
              <a:uFillTx/>
              <a:latin typeface="Arial" charset="0"/>
              <a:ea typeface="宋体" charset="-122"/>
              <a:cs typeface="+mn-cs"/>
            </a:endParaRPr>
          </a:p>
        </p:txBody>
      </p:sp>
    </p:spTree>
    <p:extLst>
      <p:ext uri="{BB962C8B-B14F-4D97-AF65-F5344CB8AC3E}">
        <p14:creationId xmlns:p14="http://schemas.microsoft.com/office/powerpoint/2010/main" val="69422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2" grpId="0"/>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438400"/>
            <a:ext cx="4809173" cy="3609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4"/>
          <p:cNvSpPr>
            <a:spLocks noChangeArrowheads="1"/>
          </p:cNvSpPr>
          <p:nvPr/>
        </p:nvSpPr>
        <p:spPr bwMode="auto">
          <a:xfrm>
            <a:off x="1868968" y="6136958"/>
            <a:ext cx="51860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5.17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不同过渡带采样值的频率响应</a:t>
            </a:r>
          </a:p>
        </p:txBody>
      </p:sp>
      <p:sp>
        <p:nvSpPr>
          <p:cNvPr id="7" name="矩形 6"/>
          <p:cNvSpPr/>
          <p:nvPr/>
        </p:nvSpPr>
        <p:spPr>
          <a:xfrm>
            <a:off x="792480" y="882134"/>
            <a:ext cx="8305800"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可以利用线性最优化的方法确定过渡带采样点的值</a:t>
            </a:r>
            <a:endParaRPr kumimoji="0" lang="zh-CN" altLang="en-US" sz="2000" b="1" i="0" u="none" strike="noStrike" kern="0" cap="none" spc="0" normalizeH="0" baseline="0" noProof="0" dirty="0">
              <a:ln>
                <a:noFill/>
              </a:ln>
              <a:solidFill>
                <a:sysClr val="windowText" lastClr="000000"/>
              </a:solidFill>
              <a:effectLst/>
              <a:uLnTx/>
              <a:uFillTx/>
              <a:latin typeface="Arial" charset="0"/>
              <a:ea typeface="宋体" charset="-122"/>
              <a:cs typeface="+mn-cs"/>
            </a:endParaRPr>
          </a:p>
        </p:txBody>
      </p:sp>
      <p:sp>
        <p:nvSpPr>
          <p:cNvPr id="8" name="矩形 7"/>
          <p:cNvSpPr/>
          <p:nvPr/>
        </p:nvSpPr>
        <p:spPr>
          <a:xfrm>
            <a:off x="792480" y="1405354"/>
            <a:ext cx="7462299" cy="1169551"/>
          </a:xfrm>
          <a:prstGeom prst="rect">
            <a:avLst/>
          </a:prstGeom>
        </p:spPr>
        <p:txBody>
          <a:bodyPr wrap="none">
            <a:spAutoFit/>
          </a:body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H</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charset="-122"/>
                <a:cs typeface="+mn-cs"/>
              </a:rPr>
              <a:t>9</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H</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charset="-122"/>
                <a:cs typeface="+mn-cs"/>
              </a:rPr>
              <a:t>24</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=0.5</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 并非最优值，最优的</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过渡带采样点</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的值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H</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charset="-122"/>
                <a:cs typeface="+mn-cs"/>
              </a:rPr>
              <a:t>9</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H</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charset="-122"/>
                <a:cs typeface="+mn-cs"/>
              </a:rPr>
              <a:t>24</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=0.3904</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9"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3004153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p:cNvSpPr>
            <a:spLocks noChangeArrowheads="1"/>
          </p:cNvSpPr>
          <p:nvPr/>
        </p:nvSpPr>
        <p:spPr bwMode="auto">
          <a:xfrm>
            <a:off x="838200" y="990600"/>
            <a:ext cx="76962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小结：</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频率采样设计法优点：</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①</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直接从频域进行设计，物理概念清楚，直观方便；</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②</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适合于</a:t>
            </a: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窄带滤波器</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设计，这时频率响应只有少数几个非零值。</a:t>
            </a:r>
          </a:p>
          <a:p>
            <a:pPr marL="0" marR="0" lvl="0" indent="0" algn="l" defTabSz="914400" rtl="0" eaLnBrk="0" fontAlgn="base" latinLnBrk="0" hangingPunct="0">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缺点：</a:t>
            </a: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截止频率难以控制</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4"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3684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5.3</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频率采样设计法</a:t>
            </a:r>
          </a:p>
        </p:txBody>
      </p:sp>
    </p:spTree>
    <p:extLst>
      <p:ext uri="{BB962C8B-B14F-4D97-AF65-F5344CB8AC3E}">
        <p14:creationId xmlns:p14="http://schemas.microsoft.com/office/powerpoint/2010/main" val="403310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583204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5.5</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IIR</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和</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FIR</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数字滤波器的比较</a:t>
            </a:r>
          </a:p>
        </p:txBody>
      </p:sp>
      <p:graphicFrame>
        <p:nvGraphicFramePr>
          <p:cNvPr id="3" name="表格 2"/>
          <p:cNvGraphicFramePr>
            <a:graphicFrameLocks noGrp="1"/>
          </p:cNvGraphicFramePr>
          <p:nvPr/>
        </p:nvGraphicFramePr>
        <p:xfrm>
          <a:off x="152400" y="914400"/>
          <a:ext cx="8879840" cy="5699760"/>
        </p:xfrm>
        <a:graphic>
          <a:graphicData uri="http://schemas.openxmlformats.org/drawingml/2006/table">
            <a:tbl>
              <a:tblPr firstRow="1" bandRow="1">
                <a:tableStyleId>{5940675A-B579-460E-94D1-54222C63F5DA}</a:tableStyleId>
              </a:tblPr>
              <a:tblGrid>
                <a:gridCol w="1550448">
                  <a:extLst>
                    <a:ext uri="{9D8B030D-6E8A-4147-A177-3AD203B41FA5}">
                      <a16:colId xmlns:a16="http://schemas.microsoft.com/office/drawing/2014/main" val="221211408"/>
                    </a:ext>
                  </a:extLst>
                </a:gridCol>
                <a:gridCol w="3663402">
                  <a:extLst>
                    <a:ext uri="{9D8B030D-6E8A-4147-A177-3AD203B41FA5}">
                      <a16:colId xmlns:a16="http://schemas.microsoft.com/office/drawing/2014/main" val="2595228994"/>
                    </a:ext>
                  </a:extLst>
                </a:gridCol>
                <a:gridCol w="3665990">
                  <a:extLst>
                    <a:ext uri="{9D8B030D-6E8A-4147-A177-3AD203B41FA5}">
                      <a16:colId xmlns:a16="http://schemas.microsoft.com/office/drawing/2014/main" val="506969148"/>
                    </a:ext>
                  </a:extLst>
                </a:gridCol>
              </a:tblGrid>
              <a:tr h="609600">
                <a:tc>
                  <a:txBody>
                    <a:bodyPr/>
                    <a:lstStyle/>
                    <a:p>
                      <a:pPr algn="l"/>
                      <a:endParaRPr lang="zh-CN" altLang="en-US" sz="2800" dirty="0"/>
                    </a:p>
                  </a:txBody>
                  <a:tcPr anchor="ctr"/>
                </a:tc>
                <a:tc>
                  <a:txBody>
                    <a:bodyPr/>
                    <a:lstStyle/>
                    <a:p>
                      <a:pPr algn="l"/>
                      <a:r>
                        <a:rPr kumimoji="1" lang="en-US" altLang="zh-CN" sz="2800" b="1" i="0" u="none" strike="noStrike" kern="1200" cap="none" spc="0" normalizeH="0" baseline="0" noProof="0" dirty="0">
                          <a:ln>
                            <a:noFill/>
                          </a:ln>
                          <a:solidFill>
                            <a:schemeClr val="tx1"/>
                          </a:solidFill>
                          <a:effectLst/>
                          <a:uLnTx/>
                          <a:uFillTx/>
                          <a:latin typeface="Times New Roman"/>
                          <a:ea typeface="楷体_GB2312" pitchFamily="49" charset="-122"/>
                          <a:cs typeface="+mn-cs"/>
                        </a:rPr>
                        <a:t>IIR</a:t>
                      </a:r>
                      <a:r>
                        <a:rPr kumimoji="1" lang="zh-CN" altLang="en-US" sz="2800" b="1" i="0" u="none" strike="noStrike" kern="1200" cap="none" spc="0" normalizeH="0" baseline="0" noProof="0" dirty="0">
                          <a:ln>
                            <a:noFill/>
                          </a:ln>
                          <a:solidFill>
                            <a:schemeClr val="tx1"/>
                          </a:solidFill>
                          <a:effectLst/>
                          <a:uLnTx/>
                          <a:uFillTx/>
                          <a:latin typeface="Times New Roman"/>
                          <a:ea typeface="楷体_GB2312" pitchFamily="49" charset="-122"/>
                          <a:cs typeface="+mn-cs"/>
                        </a:rPr>
                        <a:t>  </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无限长</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800" b="1" i="0" u="none" strike="noStrike" kern="1200" cap="none" spc="0" normalizeH="0" baseline="0" noProof="0" dirty="0">
                          <a:ln>
                            <a:noFill/>
                          </a:ln>
                          <a:solidFill>
                            <a:schemeClr val="tx1"/>
                          </a:solidFill>
                          <a:effectLst/>
                          <a:uLnTx/>
                          <a:uFillTx/>
                          <a:latin typeface="Times New Roman"/>
                          <a:ea typeface="楷体_GB2312" pitchFamily="49" charset="-122"/>
                          <a:cs typeface="+mn-cs"/>
                        </a:rPr>
                        <a:t>FIR</a:t>
                      </a:r>
                      <a:r>
                        <a:rPr kumimoji="1" lang="zh-CN" altLang="en-US" sz="2800" b="1" i="0" u="none" strike="noStrike" kern="1200" cap="none" spc="0" normalizeH="0" baseline="0" noProof="0" dirty="0">
                          <a:ln>
                            <a:noFill/>
                          </a:ln>
                          <a:solidFill>
                            <a:schemeClr val="tx1"/>
                          </a:solidFill>
                          <a:effectLst/>
                          <a:uLnTx/>
                          <a:uFillTx/>
                          <a:latin typeface="Times New Roman"/>
                          <a:ea typeface="楷体_GB2312" pitchFamily="49" charset="-122"/>
                          <a:cs typeface="+mn-cs"/>
                        </a:rPr>
                        <a:t>  </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有限长</a:t>
                      </a:r>
                      <a:endParaRPr lang="zh-CN" altLang="en-US" sz="2800" dirty="0">
                        <a:solidFill>
                          <a:schemeClr val="tx1"/>
                        </a:solidFill>
                      </a:endParaRPr>
                    </a:p>
                  </a:txBody>
                  <a:tcPr anchor="ctr"/>
                </a:tc>
                <a:extLst>
                  <a:ext uri="{0D108BD9-81ED-4DB2-BD59-A6C34878D82A}">
                    <a16:rowId xmlns:a16="http://schemas.microsoft.com/office/drawing/2014/main" val="1974945199"/>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阶数</a:t>
                      </a:r>
                    </a:p>
                  </a:txBody>
                  <a:tcPr anchor="ctr"/>
                </a:tc>
                <a:tc>
                  <a:txBody>
                    <a:bodyPr/>
                    <a:lstStyle/>
                    <a:p>
                      <a:pPr algn="l" eaLnBrk="1" hangingPunct="1">
                        <a:spcBef>
                          <a:spcPct val="0"/>
                        </a:spcBef>
                        <a:buNone/>
                      </a:pPr>
                      <a:r>
                        <a:rPr kumimoji="1" lang="zh-CN" altLang="en-US" sz="2600" b="1" dirty="0">
                          <a:solidFill>
                            <a:schemeClr val="tx1"/>
                          </a:solidFill>
                          <a:latin typeface="Times New Roman" panose="02020603050405020304" pitchFamily="18" charset="0"/>
                          <a:ea typeface="宋体" panose="02010600030101010101" pitchFamily="2" charset="-122"/>
                        </a:rPr>
                        <a:t>可用较低阶数，获得相同的幅频响应指标</a:t>
                      </a:r>
                      <a:endPar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高</a:t>
                      </a:r>
                    </a:p>
                  </a:txBody>
                  <a:tcPr anchor="ctr"/>
                </a:tc>
                <a:extLst>
                  <a:ext uri="{0D108BD9-81ED-4DB2-BD59-A6C34878D82A}">
                    <a16:rowId xmlns:a16="http://schemas.microsoft.com/office/drawing/2014/main" val="675335696"/>
                  </a:ext>
                </a:extLst>
              </a:tr>
              <a:tr h="914400">
                <a:tc>
                  <a:txBody>
                    <a:bodyPr/>
                    <a:lstStyle/>
                    <a:p>
                      <a:pPr algn="l"/>
                      <a:r>
                        <a:rPr lang="zh-CN" altLang="en-US" sz="2600" b="1" dirty="0">
                          <a:solidFill>
                            <a:schemeClr val="tx1"/>
                          </a:solidFill>
                        </a:rPr>
                        <a:t>相位特性</a:t>
                      </a:r>
                    </a:p>
                  </a:txBody>
                  <a:tcPr anchor="ctr"/>
                </a:tc>
                <a:tc>
                  <a:txBody>
                    <a:bodyPr/>
                    <a:lstStyle/>
                    <a:p>
                      <a:pPr algn="l"/>
                      <a:r>
                        <a:rPr lang="zh-CN" altLang="en-US" sz="2600" b="1" dirty="0">
                          <a:solidFill>
                            <a:schemeClr val="tx1"/>
                          </a:solidFill>
                        </a:rPr>
                        <a:t>如需要线性相位，须用全通网络校准，但增加滤波器阶数和复杂性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可得到严格的线性相位</a:t>
                      </a:r>
                    </a:p>
                    <a:p>
                      <a:pPr algn="l"/>
                      <a:endParaRPr lang="zh-CN" altLang="en-US" sz="2600" dirty="0">
                        <a:solidFill>
                          <a:schemeClr val="tx1"/>
                        </a:solidFill>
                      </a:endParaRPr>
                    </a:p>
                  </a:txBody>
                  <a:tcPr anchor="ctr"/>
                </a:tc>
                <a:extLst>
                  <a:ext uri="{0D108BD9-81ED-4DB2-BD59-A6C34878D82A}">
                    <a16:rowId xmlns:a16="http://schemas.microsoft.com/office/drawing/2014/main" val="1815784306"/>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稳定性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采用递归结构，有反馈，</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有稳定性问题</a:t>
                      </a:r>
                    </a:p>
                  </a:txBody>
                  <a:tcPr anchor="ctr"/>
                </a:tc>
                <a:tc>
                  <a:txBody>
                    <a:bodyPr/>
                    <a:lstStyle/>
                    <a:p>
                      <a:pPr algn="l"/>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主要采用非递归结构，稳定。</a:t>
                      </a: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运算误差小</a:t>
                      </a:r>
                      <a:endParaRPr lang="zh-CN" altLang="en-US" sz="2600" dirty="0">
                        <a:solidFill>
                          <a:schemeClr val="tx1"/>
                        </a:solidFill>
                      </a:endParaRPr>
                    </a:p>
                  </a:txBody>
                  <a:tcPr anchor="ctr"/>
                </a:tc>
                <a:extLst>
                  <a:ext uri="{0D108BD9-81ED-4DB2-BD59-A6C34878D82A}">
                    <a16:rowId xmlns:a16="http://schemas.microsoft.com/office/drawing/2014/main" val="1381986460"/>
                  </a:ext>
                </a:extLst>
              </a:tr>
              <a:tr h="701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快速算法</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无快速运算方法</a:t>
                      </a:r>
                    </a:p>
                  </a:txBody>
                  <a:tcPr anchor="ctr"/>
                </a:tc>
                <a:tc>
                  <a:txBody>
                    <a:bodyPr/>
                    <a:lstStyle/>
                    <a:p>
                      <a:pPr algn="l"/>
                      <a:r>
                        <a:rPr lang="zh-CN" altLang="en-US" sz="2600" b="1" dirty="0">
                          <a:solidFill>
                            <a:schemeClr val="tx1"/>
                          </a:solidFill>
                          <a:latin typeface="+mj-lt"/>
                        </a:rPr>
                        <a:t>可用</a:t>
                      </a:r>
                      <a:r>
                        <a:rPr lang="en-US" altLang="zh-CN" sz="2600" b="1" dirty="0">
                          <a:solidFill>
                            <a:schemeClr val="tx1"/>
                          </a:solidFill>
                          <a:latin typeface="+mj-lt"/>
                        </a:rPr>
                        <a:t>FFT</a:t>
                      </a:r>
                      <a:r>
                        <a:rPr lang="zh-CN" altLang="en-US" sz="2600" b="1" dirty="0">
                          <a:solidFill>
                            <a:schemeClr val="tx1"/>
                          </a:solidFill>
                          <a:latin typeface="+mj-lt"/>
                        </a:rPr>
                        <a:t>减少运算量</a:t>
                      </a:r>
                    </a:p>
                  </a:txBody>
                  <a:tcPr anchor="ctr"/>
                </a:tc>
                <a:extLst>
                  <a:ext uri="{0D108BD9-81ED-4DB2-BD59-A6C34878D82A}">
                    <a16:rowId xmlns:a16="http://schemas.microsoft.com/office/drawing/2014/main" val="294911550"/>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设计方法</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可利用模拟滤波器的成果，简单、有效地完成设计</a:t>
                      </a:r>
                    </a:p>
                  </a:txBody>
                  <a:tcPr anchor="ctr"/>
                </a:tc>
                <a:tc>
                  <a:txBody>
                    <a:bodyPr/>
                    <a:lstStyle/>
                    <a:p>
                      <a:pPr algn="l"/>
                      <a:r>
                        <a:rPr lang="zh-CN" altLang="en-US" sz="2600" b="1" dirty="0">
                          <a:solidFill>
                            <a:schemeClr val="tx1"/>
                          </a:solidFill>
                          <a:latin typeface="+mj-lt"/>
                        </a:rPr>
                        <a:t>一般无解析的设计公式，要借助计算机程序完成</a:t>
                      </a:r>
                    </a:p>
                  </a:txBody>
                  <a:tcPr anchor="ctr"/>
                </a:tc>
                <a:extLst>
                  <a:ext uri="{0D108BD9-81ED-4DB2-BD59-A6C34878D82A}">
                    <a16:rowId xmlns:a16="http://schemas.microsoft.com/office/drawing/2014/main" val="3232381848"/>
                  </a:ext>
                </a:extLst>
              </a:tr>
            </a:tbl>
          </a:graphicData>
        </a:graphic>
      </p:graphicFrame>
    </p:spTree>
    <p:extLst>
      <p:ext uri="{BB962C8B-B14F-4D97-AF65-F5344CB8AC3E}">
        <p14:creationId xmlns:p14="http://schemas.microsoft.com/office/powerpoint/2010/main" val="202659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50305" y="328733"/>
            <a:ext cx="7661305" cy="1114664"/>
          </a:xfrm>
          <a:prstGeom prst="rect">
            <a:avLst/>
          </a:prstGeom>
        </p:spPr>
        <p:txBody>
          <a:bodyPr wrap="square">
            <a:spAutoFit/>
          </a:body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FIR</a:t>
            </a: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系统</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滤波器</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有限长</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IIR</a:t>
            </a: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系统</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滤波器</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无限长</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endParaRPr>
          </a:p>
        </p:txBody>
      </p:sp>
      <p:sp>
        <p:nvSpPr>
          <p:cNvPr id="3" name="矩形 2"/>
          <p:cNvSpPr/>
          <p:nvPr/>
        </p:nvSpPr>
        <p:spPr>
          <a:xfrm>
            <a:off x="850306" y="1492240"/>
            <a:ext cx="8020226" cy="1708160"/>
          </a:xfrm>
          <a:prstGeom prst="rect">
            <a:avLst/>
          </a:prstGeom>
        </p:spPr>
        <p:txBody>
          <a:bodyPr wrap="square">
            <a:spAutoFit/>
          </a:body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从</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H</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z</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也能判断是</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FIR</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还是</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IIR</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系统</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滤波器</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 </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H</a:t>
            </a:r>
            <a:r>
              <a:rPr kumimoji="0"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2800" b="1" i="1"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z</a:t>
            </a:r>
            <a:r>
              <a:rPr kumimoji="0"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a:t>
            </a:r>
            <a:r>
              <a:rPr kumimoji="0"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化为最简形式，如果是多项式，是</a:t>
            </a:r>
            <a:r>
              <a:rPr kumimoji="0"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FIR</a:t>
            </a:r>
            <a:r>
              <a:rPr kumimoji="0"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系统，</a:t>
            </a:r>
            <a:r>
              <a:rPr kumimoji="0"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rPr>
              <a:t>否则是</a:t>
            </a:r>
            <a:r>
              <a:rPr kumimoji="0"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rPr>
              <a:t>IIR</a:t>
            </a:r>
            <a:r>
              <a:rPr kumimoji="0"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rPr>
              <a:t>系统</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p>
        </p:txBody>
      </p:sp>
      <p:graphicFrame>
        <p:nvGraphicFramePr>
          <p:cNvPr id="4" name="对象 3"/>
          <p:cNvGraphicFramePr>
            <a:graphicFrameLocks noChangeAspect="1"/>
          </p:cNvGraphicFramePr>
          <p:nvPr/>
        </p:nvGraphicFramePr>
        <p:xfrm>
          <a:off x="381000" y="4416425"/>
          <a:ext cx="3954463" cy="731838"/>
        </p:xfrm>
        <a:graphic>
          <a:graphicData uri="http://schemas.openxmlformats.org/presentationml/2006/ole">
            <mc:AlternateContent xmlns:mc="http://schemas.openxmlformats.org/markup-compatibility/2006">
              <mc:Choice xmlns:v="urn:schemas-microsoft-com:vml" Requires="v">
                <p:oleObj name="Equation" r:id="rId2" imgW="2197080" imgH="406080" progId="Equation.DSMT4">
                  <p:embed/>
                </p:oleObj>
              </mc:Choice>
              <mc:Fallback>
                <p:oleObj name="Equation" r:id="rId2" imgW="2197080" imgH="406080" progId="Equation.DSMT4">
                  <p:embed/>
                  <p:pic>
                    <p:nvPicPr>
                      <p:cNvPr id="4" name="对象 3"/>
                      <p:cNvPicPr>
                        <a:picLocks noChangeAspect="1" noChangeArrowheads="1"/>
                      </p:cNvPicPr>
                      <p:nvPr/>
                    </p:nvPicPr>
                    <p:blipFill>
                      <a:blip r:embed="rId3"/>
                      <a:srcRect/>
                      <a:stretch>
                        <a:fillRect/>
                      </a:stretch>
                    </p:blipFill>
                    <p:spPr bwMode="auto">
                      <a:xfrm>
                        <a:off x="381000" y="4416425"/>
                        <a:ext cx="3954463"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82621" y="5121953"/>
          <a:ext cx="2011392" cy="1371168"/>
        </p:xfrm>
        <a:graphic>
          <a:graphicData uri="http://schemas.openxmlformats.org/presentationml/2006/ole">
            <mc:AlternateContent xmlns:mc="http://schemas.openxmlformats.org/markup-compatibility/2006">
              <mc:Choice xmlns:v="urn:schemas-microsoft-com:vml" Requires="v">
                <p:oleObj name="Equation" r:id="rId4" imgW="1117440" imgH="761760" progId="Equation.DSMT4">
                  <p:embed/>
                </p:oleObj>
              </mc:Choice>
              <mc:Fallback>
                <p:oleObj name="Equation" r:id="rId4" imgW="1117440" imgH="761760" progId="Equation.DSMT4">
                  <p:embed/>
                  <p:pic>
                    <p:nvPicPr>
                      <p:cNvPr id="5" name="对象 4"/>
                      <p:cNvPicPr>
                        <a:picLocks noChangeAspect="1" noChangeArrowheads="1"/>
                      </p:cNvPicPr>
                      <p:nvPr/>
                    </p:nvPicPr>
                    <p:blipFill>
                      <a:blip r:embed="rId5"/>
                      <a:srcRect/>
                      <a:stretch>
                        <a:fillRect/>
                      </a:stretch>
                    </p:blipFill>
                    <p:spPr bwMode="auto">
                      <a:xfrm>
                        <a:off x="382621" y="5121953"/>
                        <a:ext cx="2011392" cy="137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6242244" y="3775879"/>
          <a:ext cx="2628288" cy="1097064"/>
        </p:xfrm>
        <a:graphic>
          <a:graphicData uri="http://schemas.openxmlformats.org/presentationml/2006/ole">
            <mc:AlternateContent xmlns:mc="http://schemas.openxmlformats.org/markup-compatibility/2006">
              <mc:Choice xmlns:v="urn:schemas-microsoft-com:vml" Requires="v">
                <p:oleObj name="Equation" r:id="rId6" imgW="1460160" imgH="609480" progId="Equation.DSMT4">
                  <p:embed/>
                </p:oleObj>
              </mc:Choice>
              <mc:Fallback>
                <p:oleObj name="Equation" r:id="rId6" imgW="1460160" imgH="609480" progId="Equation.DSMT4">
                  <p:embed/>
                  <p:pic>
                    <p:nvPicPr>
                      <p:cNvPr id="6" name="对象 5"/>
                      <p:cNvPicPr>
                        <a:picLocks noChangeAspect="1" noChangeArrowheads="1"/>
                      </p:cNvPicPr>
                      <p:nvPr/>
                    </p:nvPicPr>
                    <p:blipFill>
                      <a:blip r:embed="rId7"/>
                      <a:srcRect/>
                      <a:stretch>
                        <a:fillRect/>
                      </a:stretch>
                    </p:blipFill>
                    <p:spPr bwMode="auto">
                      <a:xfrm>
                        <a:off x="6242244" y="3775879"/>
                        <a:ext cx="2628288" cy="1097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23264" y="3758697"/>
          <a:ext cx="2560248" cy="730944"/>
        </p:xfrm>
        <a:graphic>
          <a:graphicData uri="http://schemas.openxmlformats.org/presentationml/2006/ole">
            <mc:AlternateContent xmlns:mc="http://schemas.openxmlformats.org/markup-compatibility/2006">
              <mc:Choice xmlns:v="urn:schemas-microsoft-com:vml" Requires="v">
                <p:oleObj name="Equation" r:id="rId8" imgW="1422360" imgH="406080" progId="Equation.DSMT4">
                  <p:embed/>
                </p:oleObj>
              </mc:Choice>
              <mc:Fallback>
                <p:oleObj name="Equation" r:id="rId8" imgW="1422360" imgH="406080" progId="Equation.DSMT4">
                  <p:embed/>
                  <p:pic>
                    <p:nvPicPr>
                      <p:cNvPr id="7" name="对象 6"/>
                      <p:cNvPicPr>
                        <a:picLocks noChangeAspect="1" noChangeArrowheads="1"/>
                      </p:cNvPicPr>
                      <p:nvPr/>
                    </p:nvPicPr>
                    <p:blipFill>
                      <a:blip r:embed="rId9"/>
                      <a:srcRect/>
                      <a:stretch>
                        <a:fillRect/>
                      </a:stretch>
                    </p:blipFill>
                    <p:spPr bwMode="auto">
                      <a:xfrm>
                        <a:off x="423264" y="3758697"/>
                        <a:ext cx="2560248" cy="730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2582021" y="5418259"/>
            <a:ext cx="3417128" cy="83099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z</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=1/2</a:t>
            </a:r>
            <a:r>
              <a:rPr kumimoji="0" lang="zh-CN"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处零极点相抵消，</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H</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z</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r>
              <a:rPr kumimoji="0" lang="zh-CN"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可化简为多项式</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endParaRPr>
          </a:p>
        </p:txBody>
      </p:sp>
      <p:sp>
        <p:nvSpPr>
          <p:cNvPr id="9" name="矩形 8"/>
          <p:cNvSpPr/>
          <p:nvPr/>
        </p:nvSpPr>
        <p:spPr>
          <a:xfrm>
            <a:off x="7140019" y="3305668"/>
            <a:ext cx="64793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IIR</a:t>
            </a:r>
            <a:endParaRPr kumimoji="0" lang="zh-CN" altLang="en-US" sz="1600"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10" name="矩形 9"/>
          <p:cNvSpPr/>
          <p:nvPr/>
        </p:nvSpPr>
        <p:spPr>
          <a:xfrm>
            <a:off x="1293261" y="3291978"/>
            <a:ext cx="715260"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FIR</a:t>
            </a:r>
            <a:endParaRPr kumimoji="0" lang="zh-CN" altLang="en-US" sz="2400" b="0" i="0" u="none" strike="noStrike" kern="1200" cap="none" spc="0" normalizeH="0" baseline="0" noProof="0" dirty="0">
              <a:ln>
                <a:noFill/>
              </a:ln>
              <a:solidFill>
                <a:prstClr val="black"/>
              </a:solidFill>
              <a:effectLst/>
              <a:uLnTx/>
              <a:uFillTx/>
              <a:latin typeface="Arial" charset="0"/>
              <a:ea typeface="宋体" charset="-122"/>
              <a:cs typeface="+mn-cs"/>
            </a:endParaRPr>
          </a:p>
        </p:txBody>
      </p:sp>
      <p:cxnSp>
        <p:nvCxnSpPr>
          <p:cNvPr id="11" name="直接连接符 10"/>
          <p:cNvCxnSpPr/>
          <p:nvPr/>
        </p:nvCxnSpPr>
        <p:spPr>
          <a:xfrm>
            <a:off x="5999149" y="3331397"/>
            <a:ext cx="0" cy="3298003"/>
          </a:xfrm>
          <a:prstGeom prst="line">
            <a:avLst/>
          </a:prstGeom>
          <a:ln w="19050">
            <a:solidFill>
              <a:srgbClr val="1306BA"/>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581400" y="2577306"/>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例如</a:t>
            </a:r>
            <a:endParaRPr kumimoji="0" lang="zh-CN" altLang="en-US" sz="1800"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14" name="矩形 13"/>
          <p:cNvSpPr/>
          <p:nvPr/>
        </p:nvSpPr>
        <p:spPr>
          <a:xfrm>
            <a:off x="65859" y="-24455"/>
            <a:ext cx="162736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（补充）</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31760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517906" y="457200"/>
          <a:ext cx="2260600" cy="838200"/>
        </p:xfrm>
        <a:graphic>
          <a:graphicData uri="http://schemas.openxmlformats.org/presentationml/2006/ole">
            <mc:AlternateContent xmlns:mc="http://schemas.openxmlformats.org/markup-compatibility/2006">
              <mc:Choice xmlns:v="urn:schemas-microsoft-com:vml" Requires="v">
                <p:oleObj name="Equation" r:id="rId2" imgW="1130040" imgH="419040" progId="Equation.DSMT4">
                  <p:embed/>
                </p:oleObj>
              </mc:Choice>
              <mc:Fallback>
                <p:oleObj name="Equation" r:id="rId2" imgW="1130040" imgH="419040" progId="Equation.DSMT4">
                  <p:embed/>
                  <p:pic>
                    <p:nvPicPr>
                      <p:cNvPr id="2" name="对象 1"/>
                      <p:cNvPicPr>
                        <a:picLocks noChangeAspect="1" noChangeArrowheads="1"/>
                      </p:cNvPicPr>
                      <p:nvPr/>
                    </p:nvPicPr>
                    <p:blipFill>
                      <a:blip r:embed="rId3"/>
                      <a:srcRect/>
                      <a:stretch>
                        <a:fillRect/>
                      </a:stretch>
                    </p:blipFill>
                    <p:spPr bwMode="auto">
                      <a:xfrm>
                        <a:off x="1517906" y="457200"/>
                        <a:ext cx="226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624594" y="1219200"/>
          <a:ext cx="3784600" cy="1016000"/>
        </p:xfrm>
        <a:graphic>
          <a:graphicData uri="http://schemas.openxmlformats.org/presentationml/2006/ole">
            <mc:AlternateContent xmlns:mc="http://schemas.openxmlformats.org/markup-compatibility/2006">
              <mc:Choice xmlns:v="urn:schemas-microsoft-com:vml" Requires="v">
                <p:oleObj name="Equation" r:id="rId4" imgW="1892160" imgH="507960" progId="Equation.DSMT4">
                  <p:embed/>
                </p:oleObj>
              </mc:Choice>
              <mc:Fallback>
                <p:oleObj name="Equation" r:id="rId4" imgW="1892160" imgH="507960" progId="Equation.DSMT4">
                  <p:embed/>
                  <p:pic>
                    <p:nvPicPr>
                      <p:cNvPr id="3" name="对象 2"/>
                      <p:cNvPicPr>
                        <a:picLocks noChangeAspect="1" noChangeArrowheads="1"/>
                      </p:cNvPicPr>
                      <p:nvPr/>
                    </p:nvPicPr>
                    <p:blipFill>
                      <a:blip r:embed="rId5"/>
                      <a:srcRect/>
                      <a:stretch>
                        <a:fillRect/>
                      </a:stretch>
                    </p:blipFill>
                    <p:spPr bwMode="auto">
                      <a:xfrm>
                        <a:off x="624594" y="1219200"/>
                        <a:ext cx="3784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634339" y="1219200"/>
          <a:ext cx="3911600" cy="1016000"/>
        </p:xfrm>
        <a:graphic>
          <a:graphicData uri="http://schemas.openxmlformats.org/presentationml/2006/ole">
            <mc:AlternateContent xmlns:mc="http://schemas.openxmlformats.org/markup-compatibility/2006">
              <mc:Choice xmlns:v="urn:schemas-microsoft-com:vml" Requires="v">
                <p:oleObj name="Equation" r:id="rId6" imgW="1955520" imgH="507960" progId="Equation.DSMT4">
                  <p:embed/>
                </p:oleObj>
              </mc:Choice>
              <mc:Fallback>
                <p:oleObj name="Equation" r:id="rId6" imgW="1955520" imgH="507960" progId="Equation.DSMT4">
                  <p:embed/>
                  <p:pic>
                    <p:nvPicPr>
                      <p:cNvPr id="4" name="对象 3"/>
                      <p:cNvPicPr>
                        <a:picLocks noChangeAspect="1" noChangeArrowheads="1"/>
                      </p:cNvPicPr>
                      <p:nvPr/>
                    </p:nvPicPr>
                    <p:blipFill>
                      <a:blip r:embed="rId7"/>
                      <a:srcRect/>
                      <a:stretch>
                        <a:fillRect/>
                      </a:stretch>
                    </p:blipFill>
                    <p:spPr bwMode="auto">
                      <a:xfrm>
                        <a:off x="4634339" y="1219200"/>
                        <a:ext cx="3911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569817" y="2370070"/>
            <a:ext cx="5093061"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对其取模</a:t>
            </a: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a:t>
            </a:r>
            <a:r>
              <a:rPr kumimoji="0" lang="zh-CN"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或者说取绝对值</a:t>
            </a: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a:t>
            </a:r>
            <a:r>
              <a:rPr kumimoji="0" lang="zh-CN"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，得</a:t>
            </a:r>
            <a:endPar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6" name="对象 5"/>
          <p:cNvGraphicFramePr>
            <a:graphicFrameLocks noChangeAspect="1"/>
          </p:cNvGraphicFramePr>
          <p:nvPr/>
        </p:nvGraphicFramePr>
        <p:xfrm>
          <a:off x="5783386" y="2370070"/>
          <a:ext cx="1574800" cy="558800"/>
        </p:xfrm>
        <a:graphic>
          <a:graphicData uri="http://schemas.openxmlformats.org/presentationml/2006/ole">
            <mc:AlternateContent xmlns:mc="http://schemas.openxmlformats.org/markup-compatibility/2006">
              <mc:Choice xmlns:v="urn:schemas-microsoft-com:vml" Requires="v">
                <p:oleObj name="Equation" r:id="rId8" imgW="787320" imgH="279360" progId="Equation.DSMT4">
                  <p:embed/>
                </p:oleObj>
              </mc:Choice>
              <mc:Fallback>
                <p:oleObj name="Equation" r:id="rId8" imgW="787320" imgH="279360" progId="Equation.DSMT4">
                  <p:embed/>
                  <p:pic>
                    <p:nvPicPr>
                      <p:cNvPr id="6" name="对象 5"/>
                      <p:cNvPicPr>
                        <a:picLocks noChangeAspect="1" noChangeArrowheads="1"/>
                      </p:cNvPicPr>
                      <p:nvPr/>
                    </p:nvPicPr>
                    <p:blipFill>
                      <a:blip r:embed="rId9"/>
                      <a:srcRect/>
                      <a:stretch>
                        <a:fillRect/>
                      </a:stretch>
                    </p:blipFill>
                    <p:spPr bwMode="auto">
                      <a:xfrm>
                        <a:off x="5783386" y="2370070"/>
                        <a:ext cx="1574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803586" y="2921000"/>
          <a:ext cx="1600200" cy="812800"/>
        </p:xfrm>
        <a:graphic>
          <a:graphicData uri="http://schemas.openxmlformats.org/presentationml/2006/ole">
            <mc:AlternateContent xmlns:mc="http://schemas.openxmlformats.org/markup-compatibility/2006">
              <mc:Choice xmlns:v="urn:schemas-microsoft-com:vml" Requires="v">
                <p:oleObj name="Equation" r:id="rId10" imgW="799920" imgH="406080" progId="Equation.DSMT4">
                  <p:embed/>
                </p:oleObj>
              </mc:Choice>
              <mc:Fallback>
                <p:oleObj name="Equation" r:id="rId10" imgW="799920" imgH="406080" progId="Equation.DSMT4">
                  <p:embed/>
                  <p:pic>
                    <p:nvPicPr>
                      <p:cNvPr id="7" name="对象 6"/>
                      <p:cNvPicPr>
                        <a:picLocks noChangeAspect="1" noChangeArrowheads="1"/>
                      </p:cNvPicPr>
                      <p:nvPr/>
                    </p:nvPicPr>
                    <p:blipFill>
                      <a:blip r:embed="rId11"/>
                      <a:srcRect/>
                      <a:stretch>
                        <a:fillRect/>
                      </a:stretch>
                    </p:blipFill>
                    <p:spPr bwMode="auto">
                      <a:xfrm>
                        <a:off x="5803586" y="2921000"/>
                        <a:ext cx="16002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566931" y="619762"/>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例如</a:t>
            </a:r>
          </a:p>
        </p:txBody>
      </p:sp>
      <p:sp>
        <p:nvSpPr>
          <p:cNvPr id="9" name="矩形 8"/>
          <p:cNvSpPr/>
          <p:nvPr/>
        </p:nvSpPr>
        <p:spPr>
          <a:xfrm>
            <a:off x="569816" y="4027149"/>
            <a:ext cx="8596965" cy="46166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如果不确定，还可以在中间选一个点，比如</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0" name="对象 9"/>
          <p:cNvGraphicFramePr>
            <a:graphicFrameLocks noChangeAspect="1"/>
          </p:cNvGraphicFramePr>
          <p:nvPr/>
        </p:nvGraphicFramePr>
        <p:xfrm>
          <a:off x="6797487" y="4006983"/>
          <a:ext cx="1244600" cy="558800"/>
        </p:xfrm>
        <a:graphic>
          <a:graphicData uri="http://schemas.openxmlformats.org/presentationml/2006/ole">
            <mc:AlternateContent xmlns:mc="http://schemas.openxmlformats.org/markup-compatibility/2006">
              <mc:Choice xmlns:v="urn:schemas-microsoft-com:vml" Requires="v">
                <p:oleObj name="Equation" r:id="rId12" imgW="622080" imgH="279360" progId="Equation.DSMT4">
                  <p:embed/>
                </p:oleObj>
              </mc:Choice>
              <mc:Fallback>
                <p:oleObj name="Equation" r:id="rId12" imgW="622080" imgH="279360" progId="Equation.DSMT4">
                  <p:embed/>
                  <p:pic>
                    <p:nvPicPr>
                      <p:cNvPr id="10" name="对象 9"/>
                      <p:cNvPicPr>
                        <a:picLocks noChangeAspect="1" noChangeArrowheads="1"/>
                      </p:cNvPicPr>
                      <p:nvPr/>
                    </p:nvPicPr>
                    <p:blipFill>
                      <a:blip r:embed="rId13"/>
                      <a:srcRect/>
                      <a:stretch>
                        <a:fillRect/>
                      </a:stretch>
                    </p:blipFill>
                    <p:spPr bwMode="auto">
                      <a:xfrm>
                        <a:off x="6797487" y="4006983"/>
                        <a:ext cx="1244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586431" y="3557536"/>
            <a:ext cx="468589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可</a:t>
            </a:r>
            <a:r>
              <a:rPr kumimoji="0" lang="zh-CN"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粗略画出</a:t>
            </a: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zh-CN" sz="2800" b="1" i="0" u="none" strike="noStrike" kern="1200" cap="none" spc="0" normalizeH="0" baseline="0" noProof="0" dirty="0">
                <a:ln>
                  <a:noFill/>
                </a:ln>
                <a:solidFill>
                  <a:srgbClr val="000000"/>
                </a:solidFill>
                <a:effectLst/>
                <a:uLnTx/>
                <a:uFillTx/>
                <a:latin typeface="Times New Roman"/>
                <a:ea typeface="宋体"/>
                <a:cs typeface="Times New Roman"/>
              </a:rPr>
              <a:t>的幅度响应</a:t>
            </a:r>
            <a:endPar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2" name="对象 11"/>
          <p:cNvGraphicFramePr>
            <a:graphicFrameLocks noChangeAspect="1"/>
          </p:cNvGraphicFramePr>
          <p:nvPr/>
        </p:nvGraphicFramePr>
        <p:xfrm>
          <a:off x="2543297" y="3646045"/>
          <a:ext cx="762000" cy="355600"/>
        </p:xfrm>
        <a:graphic>
          <a:graphicData uri="http://schemas.openxmlformats.org/presentationml/2006/ole">
            <mc:AlternateContent xmlns:mc="http://schemas.openxmlformats.org/markup-compatibility/2006">
              <mc:Choice xmlns:v="urn:schemas-microsoft-com:vml" Requires="v">
                <p:oleObj name="Equation" r:id="rId14" imgW="380880" imgH="177480" progId="Equation.DSMT4">
                  <p:embed/>
                </p:oleObj>
              </mc:Choice>
              <mc:Fallback>
                <p:oleObj name="Equation" r:id="rId14" imgW="380880" imgH="177480" progId="Equation.DSMT4">
                  <p:embed/>
                  <p:pic>
                    <p:nvPicPr>
                      <p:cNvPr id="12" name="对象 11"/>
                      <p:cNvPicPr>
                        <a:picLocks noChangeAspect="1" noChangeArrowheads="1"/>
                      </p:cNvPicPr>
                      <p:nvPr/>
                    </p:nvPicPr>
                    <p:blipFill>
                      <a:blip r:embed="rId15"/>
                      <a:srcRect/>
                      <a:stretch>
                        <a:fillRect/>
                      </a:stretch>
                    </p:blipFill>
                    <p:spPr bwMode="auto">
                      <a:xfrm>
                        <a:off x="2543297" y="3646045"/>
                        <a:ext cx="762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5278641" y="5606534"/>
            <a:ext cx="341632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判断出是低通滤波器</a:t>
            </a:r>
            <a:endPar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4" name="Picture 19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7750" y="4539177"/>
            <a:ext cx="2657475" cy="2108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5" name="对象 14"/>
          <p:cNvGraphicFramePr>
            <a:graphicFrameLocks noChangeAspect="1"/>
          </p:cNvGraphicFramePr>
          <p:nvPr/>
        </p:nvGraphicFramePr>
        <p:xfrm>
          <a:off x="401695" y="4482485"/>
          <a:ext cx="1092200" cy="558800"/>
        </p:xfrm>
        <a:graphic>
          <a:graphicData uri="http://schemas.openxmlformats.org/presentationml/2006/ole">
            <mc:AlternateContent xmlns:mc="http://schemas.openxmlformats.org/markup-compatibility/2006">
              <mc:Choice xmlns:v="urn:schemas-microsoft-com:vml" Requires="v">
                <p:oleObj name="Equation" r:id="rId17" imgW="545760" imgH="279360" progId="Equation.DSMT4">
                  <p:embed/>
                </p:oleObj>
              </mc:Choice>
              <mc:Fallback>
                <p:oleObj name="Equation" r:id="rId17" imgW="545760" imgH="279360" progId="Equation.DSMT4">
                  <p:embed/>
                  <p:pic>
                    <p:nvPicPr>
                      <p:cNvPr id="15" name="对象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1695" y="4482485"/>
                        <a:ext cx="10922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1378445" y="6484067"/>
          <a:ext cx="254000" cy="355600"/>
        </p:xfrm>
        <a:graphic>
          <a:graphicData uri="http://schemas.openxmlformats.org/presentationml/2006/ole">
            <mc:AlternateContent xmlns:mc="http://schemas.openxmlformats.org/markup-compatibility/2006">
              <mc:Choice xmlns:v="urn:schemas-microsoft-com:vml" Requires="v">
                <p:oleObj name="Equation" r:id="rId19" imgW="126720" imgH="177480" progId="Equation.DSMT4">
                  <p:embed/>
                </p:oleObj>
              </mc:Choice>
              <mc:Fallback>
                <p:oleObj name="Equation" r:id="rId19" imgW="126720" imgH="177480" progId="Equation.DSMT4">
                  <p:embed/>
                  <p:pic>
                    <p:nvPicPr>
                      <p:cNvPr id="16" name="对象 15"/>
                      <p:cNvPicPr>
                        <a:picLocks noChangeAspect="1" noChangeArrowheads="1"/>
                      </p:cNvPicPr>
                      <p:nvPr/>
                    </p:nvPicPr>
                    <p:blipFill>
                      <a:blip r:embed="rId20"/>
                      <a:srcRect/>
                      <a:stretch>
                        <a:fillRect/>
                      </a:stretch>
                    </p:blipFill>
                    <p:spPr bwMode="auto">
                      <a:xfrm>
                        <a:off x="1378445" y="6484067"/>
                        <a:ext cx="254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3878281" y="6578600"/>
          <a:ext cx="304800" cy="279400"/>
        </p:xfrm>
        <a:graphic>
          <a:graphicData uri="http://schemas.openxmlformats.org/presentationml/2006/ole">
            <mc:AlternateContent xmlns:mc="http://schemas.openxmlformats.org/markup-compatibility/2006">
              <mc:Choice xmlns:v="urn:schemas-microsoft-com:vml" Requires="v">
                <p:oleObj name="Equation" r:id="rId21" imgW="152280" imgH="139680" progId="Equation.DSMT4">
                  <p:embed/>
                </p:oleObj>
              </mc:Choice>
              <mc:Fallback>
                <p:oleObj name="Equation" r:id="rId21" imgW="152280" imgH="139680" progId="Equation.DSMT4">
                  <p:embed/>
                  <p:pic>
                    <p:nvPicPr>
                      <p:cNvPr id="17" name="对象 16"/>
                      <p:cNvPicPr>
                        <a:picLocks noChangeAspect="1" noChangeArrowheads="1"/>
                      </p:cNvPicPr>
                      <p:nvPr/>
                    </p:nvPicPr>
                    <p:blipFill>
                      <a:blip r:embed="rId22"/>
                      <a:srcRect/>
                      <a:stretch>
                        <a:fillRect/>
                      </a:stretch>
                    </p:blipFill>
                    <p:spPr bwMode="auto">
                      <a:xfrm>
                        <a:off x="3878281" y="65786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p:nvPr/>
        </p:nvSpPr>
        <p:spPr>
          <a:xfrm>
            <a:off x="569816" y="-14775"/>
            <a:ext cx="7999306"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判断是哪一种滤波器</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低通、高通、带通或者带阻</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9614938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7"/>
          <p:cNvGraphicFramePr>
            <a:graphicFrameLocks noChangeAspect="1"/>
          </p:cNvGraphicFramePr>
          <p:nvPr/>
        </p:nvGraphicFramePr>
        <p:xfrm>
          <a:off x="1101832" y="1295400"/>
          <a:ext cx="2286000" cy="3302000"/>
        </p:xfrm>
        <a:graphic>
          <a:graphicData uri="http://schemas.openxmlformats.org/presentationml/2006/ole">
            <mc:AlternateContent xmlns:mc="http://schemas.openxmlformats.org/markup-compatibility/2006">
              <mc:Choice xmlns:v="urn:schemas-microsoft-com:vml" Requires="v">
                <p:oleObj name="Equation" r:id="rId2" imgW="1143000" imgH="1650960" progId="Equation.DSMT4">
                  <p:embed/>
                </p:oleObj>
              </mc:Choice>
              <mc:Fallback>
                <p:oleObj name="Equation" r:id="rId2" imgW="1143000" imgH="1650960" progId="Equation.DSMT4">
                  <p:embed/>
                  <p:pic>
                    <p:nvPicPr>
                      <p:cNvPr id="2" name="对象 7"/>
                      <p:cNvPicPr>
                        <a:picLocks noChangeAspect="1" noChangeArrowheads="1"/>
                      </p:cNvPicPr>
                      <p:nvPr/>
                    </p:nvPicPr>
                    <p:blipFill>
                      <a:blip r:embed="rId3"/>
                      <a:srcRect/>
                      <a:stretch>
                        <a:fillRect/>
                      </a:stretch>
                    </p:blipFill>
                    <p:spPr bwMode="auto">
                      <a:xfrm>
                        <a:off x="1101832" y="1295400"/>
                        <a:ext cx="2286000"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609600" y="280252"/>
            <a:ext cx="7999306"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判断是哪一种滤波器</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低通、高通、带通或者带阻</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4" name="矩形 3"/>
          <p:cNvSpPr/>
          <p:nvPr/>
        </p:nvSpPr>
        <p:spPr>
          <a:xfrm>
            <a:off x="3436937" y="1437678"/>
            <a:ext cx="90646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低通</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矩形 4"/>
          <p:cNvSpPr/>
          <p:nvPr/>
        </p:nvSpPr>
        <p:spPr>
          <a:xfrm>
            <a:off x="3436937" y="3087091"/>
            <a:ext cx="906462"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低通</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矩形 5"/>
          <p:cNvSpPr/>
          <p:nvPr/>
        </p:nvSpPr>
        <p:spPr>
          <a:xfrm>
            <a:off x="3436937" y="2248891"/>
            <a:ext cx="904875" cy="52228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高通</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矩形 6"/>
          <p:cNvSpPr/>
          <p:nvPr/>
        </p:nvSpPr>
        <p:spPr>
          <a:xfrm>
            <a:off x="3436937" y="3903383"/>
            <a:ext cx="904875" cy="52228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高通</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矩形 9"/>
          <p:cNvSpPr/>
          <p:nvPr/>
        </p:nvSpPr>
        <p:spPr>
          <a:xfrm>
            <a:off x="152400" y="1447838"/>
            <a:ext cx="715260"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FIR</a:t>
            </a:r>
            <a:endParaRPr kumimoji="0" lang="zh-CN" altLang="en-US" sz="2400"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11" name="矩形 10"/>
          <p:cNvSpPr/>
          <p:nvPr/>
        </p:nvSpPr>
        <p:spPr>
          <a:xfrm>
            <a:off x="152400" y="2259051"/>
            <a:ext cx="715260"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charset="-122"/>
                <a:cs typeface="Times New Roman" panose="02020603050405020304" pitchFamily="18" charset="0"/>
              </a:rPr>
              <a:t>FIR</a:t>
            </a:r>
            <a:endParaRPr kumimoji="0" lang="zh-CN" altLang="en-US" sz="2400"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12" name="矩形 11"/>
          <p:cNvSpPr/>
          <p:nvPr/>
        </p:nvSpPr>
        <p:spPr>
          <a:xfrm>
            <a:off x="172720" y="3070264"/>
            <a:ext cx="64793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IIR</a:t>
            </a:r>
            <a:endParaRPr kumimoji="0" lang="zh-CN" altLang="en-US" sz="1600"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13" name="矩形 12"/>
          <p:cNvSpPr/>
          <p:nvPr/>
        </p:nvSpPr>
        <p:spPr>
          <a:xfrm>
            <a:off x="193040" y="3953845"/>
            <a:ext cx="64793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IIR</a:t>
            </a:r>
            <a:endParaRPr kumimoji="0" lang="zh-CN" altLang="en-US" sz="1600" b="0" i="0" u="none" strike="noStrike" kern="1200" cap="none" spc="0" normalizeH="0" baseline="0" noProof="0" dirty="0">
              <a:ln>
                <a:noFill/>
              </a:ln>
              <a:solidFill>
                <a:prstClr val="black"/>
              </a:solidFill>
              <a:effectLst/>
              <a:uLnTx/>
              <a:uFillTx/>
              <a:latin typeface="Arial" charset="0"/>
              <a:ea typeface="宋体" charset="-122"/>
              <a:cs typeface="+mn-cs"/>
            </a:endParaRPr>
          </a:p>
        </p:txBody>
      </p:sp>
      <p:graphicFrame>
        <p:nvGraphicFramePr>
          <p:cNvPr id="15" name="Object 2"/>
          <p:cNvGraphicFramePr>
            <a:graphicFrameLocks noChangeAspect="1"/>
          </p:cNvGraphicFramePr>
          <p:nvPr/>
        </p:nvGraphicFramePr>
        <p:xfrm>
          <a:off x="4876800" y="2917388"/>
          <a:ext cx="2615760" cy="863280"/>
        </p:xfrm>
        <a:graphic>
          <a:graphicData uri="http://schemas.openxmlformats.org/presentationml/2006/ole">
            <mc:AlternateContent xmlns:mc="http://schemas.openxmlformats.org/markup-compatibility/2006">
              <mc:Choice xmlns:v="urn:schemas-microsoft-com:vml" Requires="v">
                <p:oleObj name="Equation" r:id="rId4" imgW="1307880" imgH="431640" progId="Equation.DSMT4">
                  <p:embed/>
                </p:oleObj>
              </mc:Choice>
              <mc:Fallback>
                <p:oleObj name="Equation" r:id="rId4" imgW="1307880" imgH="431640" progId="Equation.DSMT4">
                  <p:embed/>
                  <p:pic>
                    <p:nvPicPr>
                      <p:cNvPr id="15" name="Object 2"/>
                      <p:cNvPicPr>
                        <a:picLocks noChangeAspect="1" noChangeArrowheads="1"/>
                      </p:cNvPicPr>
                      <p:nvPr/>
                    </p:nvPicPr>
                    <p:blipFill>
                      <a:blip r:embed="rId5"/>
                      <a:srcRect/>
                      <a:stretch>
                        <a:fillRect/>
                      </a:stretch>
                    </p:blipFill>
                    <p:spPr bwMode="auto">
                      <a:xfrm>
                        <a:off x="4876800" y="2917388"/>
                        <a:ext cx="2615760" cy="863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5"/>
          <p:cNvSpPr/>
          <p:nvPr/>
        </p:nvSpPr>
        <p:spPr>
          <a:xfrm>
            <a:off x="7772400" y="3018214"/>
            <a:ext cx="906462"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低通</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7" name="Object 2"/>
          <p:cNvGraphicFramePr>
            <a:graphicFrameLocks noChangeAspect="1"/>
          </p:cNvGraphicFramePr>
          <p:nvPr/>
        </p:nvGraphicFramePr>
        <p:xfrm>
          <a:off x="4876800" y="3733800"/>
          <a:ext cx="2641600" cy="863600"/>
        </p:xfrm>
        <a:graphic>
          <a:graphicData uri="http://schemas.openxmlformats.org/presentationml/2006/ole">
            <mc:AlternateContent xmlns:mc="http://schemas.openxmlformats.org/markup-compatibility/2006">
              <mc:Choice xmlns:v="urn:schemas-microsoft-com:vml" Requires="v">
                <p:oleObj name="Equation" r:id="rId6" imgW="1320480" imgH="431640" progId="Equation.DSMT4">
                  <p:embed/>
                </p:oleObj>
              </mc:Choice>
              <mc:Fallback>
                <p:oleObj name="Equation" r:id="rId6" imgW="1320480" imgH="431640" progId="Equation.DSMT4">
                  <p:embed/>
                  <p:pic>
                    <p:nvPicPr>
                      <p:cNvPr id="17" name="Object 2"/>
                      <p:cNvPicPr>
                        <a:picLocks noChangeAspect="1" noChangeArrowheads="1"/>
                      </p:cNvPicPr>
                      <p:nvPr/>
                    </p:nvPicPr>
                    <p:blipFill>
                      <a:blip r:embed="rId7"/>
                      <a:srcRect/>
                      <a:stretch>
                        <a:fillRect/>
                      </a:stretch>
                    </p:blipFill>
                    <p:spPr bwMode="auto">
                      <a:xfrm>
                        <a:off x="4876800" y="3733800"/>
                        <a:ext cx="2641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矩形 17"/>
          <p:cNvSpPr/>
          <p:nvPr/>
        </p:nvSpPr>
        <p:spPr>
          <a:xfrm>
            <a:off x="7816532" y="3833868"/>
            <a:ext cx="904875" cy="52228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高通</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03711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6" grpId="0"/>
      <p:bldP spid="1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228600" y="990600"/>
            <a:ext cx="8763000" cy="5410200"/>
          </a:xfrm>
          <a:prstGeom prst="rect">
            <a:avLst/>
          </a:prstGeom>
        </p:spPr>
        <p:txBody>
          <a:bodyPr/>
          <a:lstStyle>
            <a:lvl1pPr marL="342900" indent="-342900" algn="l" rtl="0" eaLnBrk="0" fontAlgn="base" hangingPunct="0">
              <a:spcBef>
                <a:spcPct val="20000"/>
              </a:spcBef>
              <a:spcAft>
                <a:spcPct val="0"/>
              </a:spcAft>
              <a:buBlip>
                <a:blip r:embed="rId2"/>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0" fontAlgn="base" latinLnBrk="0" hangingPunct="0">
              <a:lnSpc>
                <a:spcPct val="125000"/>
              </a:lnSpc>
              <a:spcBef>
                <a:spcPts val="0"/>
              </a:spcBef>
              <a:spcAft>
                <a:spcPct val="0"/>
              </a:spcAft>
              <a:buClrTx/>
              <a:buSzTx/>
              <a:buFont typeface="Wingdings" panose="05000000000000000000" pitchFamily="2" charset="2"/>
              <a:buNone/>
              <a:tabLst/>
              <a:defRPr/>
            </a:pPr>
            <a:r>
              <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rPr>
              <a:t>FIR</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滤波器不存在</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稳定性和是否可实现的问题，</a:t>
            </a:r>
            <a:endPar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rtl="0" eaLnBrk="0" fontAlgn="base" latinLnBrk="0" hangingPunct="0">
              <a:lnSpc>
                <a:spcPct val="125000"/>
              </a:lnSpc>
              <a:spcBef>
                <a:spcPts val="0"/>
              </a:spcBef>
              <a:spcAft>
                <a:spcPct val="0"/>
              </a:spcAft>
              <a:buClrTx/>
              <a:buSzTx/>
              <a:buFont typeface="Wingdings" panose="05000000000000000000" pitchFamily="2" charset="2"/>
              <a:buNone/>
              <a:tabLst/>
              <a:defRPr/>
            </a:pP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而且它可以实现严格的线性相位和</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多通带的幅度</a:t>
            </a:r>
            <a:endPar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342900" marR="0" lvl="0" indent="-342900" algn="just" defTabSz="914400" rtl="0" eaLnBrk="0" fontAlgn="base" latinLnBrk="0" hangingPunct="0">
              <a:lnSpc>
                <a:spcPct val="125000"/>
              </a:lnSpc>
              <a:spcBef>
                <a:spcPts val="0"/>
              </a:spcBef>
              <a:spcAft>
                <a:spcPct val="0"/>
              </a:spcAft>
              <a:buClrTx/>
              <a:buSzTx/>
              <a:buFont typeface="Wingdings" panose="05000000000000000000" pitchFamily="2" charset="2"/>
              <a:buNone/>
              <a:tabLst/>
              <a:defRPr/>
            </a:pP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特性。</a:t>
            </a:r>
            <a:endPar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l" defTabSz="914400" rtl="0" eaLnBrk="0" fontAlgn="base" latinLnBrk="0" hangingPunct="0">
              <a:lnSpc>
                <a:spcPct val="100000"/>
              </a:lnSpc>
              <a:spcBef>
                <a:spcPts val="0"/>
              </a:spcBef>
              <a:spcAft>
                <a:spcPct val="0"/>
              </a:spcAft>
              <a:buClrTx/>
              <a:buSzTx/>
              <a:buFont typeface="Wingdings" panose="05000000000000000000" pitchFamily="2" charset="2"/>
              <a:buNone/>
              <a:tabLst/>
              <a:defRPr/>
            </a:pPr>
            <a:endPar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endParaRPr>
          </a:p>
          <a:p>
            <a:pPr marL="342900" marR="0" lvl="0" indent="-342900" algn="l" defTabSz="914400" rtl="0" eaLnBrk="0" fontAlgn="base" latinLnBrk="0" hangingPunct="0">
              <a:lnSpc>
                <a:spcPct val="125000"/>
              </a:lnSpc>
              <a:spcBef>
                <a:spcPts val="0"/>
              </a:spcBef>
              <a:spcAft>
                <a:spcPct val="0"/>
              </a:spcAft>
              <a:buClrTx/>
              <a:buSzTx/>
              <a:buFont typeface="Wingdings" panose="05000000000000000000" pitchFamily="2" charset="2"/>
              <a:buNone/>
              <a:tabLst/>
              <a:defRPr/>
            </a:pP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本章首先介绍了线性相位</a:t>
            </a:r>
            <a:r>
              <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rPr>
              <a:t>FIR</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滤波器的特性；</a:t>
            </a:r>
            <a:endPar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endParaRPr>
          </a:p>
          <a:p>
            <a:pPr marL="342900" marR="0" lvl="0" indent="-342900" algn="l" defTabSz="914400" rtl="0" eaLnBrk="0" fontAlgn="base" latinLnBrk="0" hangingPunct="0">
              <a:lnSpc>
                <a:spcPct val="125000"/>
              </a:lnSpc>
              <a:spcBef>
                <a:spcPts val="0"/>
              </a:spcBef>
              <a:spcAft>
                <a:spcPct val="0"/>
              </a:spcAft>
              <a:buClrTx/>
              <a:buSzTx/>
              <a:buFont typeface="Wingdings" panose="05000000000000000000" pitchFamily="2" charset="2"/>
              <a:buNone/>
              <a:tabLst/>
              <a:defRPr/>
            </a:pP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接着，介绍了</a:t>
            </a:r>
            <a:r>
              <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rPr>
              <a:t>FIR</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滤波器的设计方法</a:t>
            </a:r>
            <a:r>
              <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rPr>
              <a:t>:</a:t>
            </a:r>
          </a:p>
          <a:p>
            <a:pPr lvl="0">
              <a:lnSpc>
                <a:spcPct val="125000"/>
              </a:lnSpc>
              <a:spcBef>
                <a:spcPts val="0"/>
              </a:spcBef>
              <a:buNone/>
              <a:defRPr/>
            </a:pPr>
            <a:r>
              <a:rPr lang="zh-CN" altLang="en-US" b="1" dirty="0">
                <a:solidFill>
                  <a:srgbClr val="000000"/>
                </a:solidFill>
                <a:latin typeface="Times New Roman" panose="02020603050405020304" pitchFamily="18" charset="0"/>
              </a:rPr>
              <a:t>窗函数设计法，</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频率采样设计法，</a:t>
            </a:r>
            <a:endPar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endParaRPr>
          </a:p>
          <a:p>
            <a:pPr lvl="0">
              <a:lnSpc>
                <a:spcPct val="125000"/>
              </a:lnSpc>
              <a:spcBef>
                <a:spcPts val="0"/>
              </a:spcBef>
              <a:buNone/>
              <a:defRPr/>
            </a:pPr>
            <a:r>
              <a:rPr kumimoji="1" lang="zh-CN" altLang="en-US" b="1"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宋体"/>
              </a:rPr>
              <a:t>最优化方法</a:t>
            </a:r>
            <a:r>
              <a:rPr kumimoji="1" lang="en-US" altLang="zh-CN" b="1"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宋体"/>
              </a:rPr>
              <a:t>(</a:t>
            </a:r>
            <a:r>
              <a:rPr kumimoji="1" lang="zh-CN" altLang="en-US" b="1"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宋体"/>
              </a:rPr>
              <a:t>课程未介绍</a:t>
            </a:r>
            <a:r>
              <a:rPr kumimoji="1" lang="en-US" altLang="zh-CN" b="1"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宋体"/>
              </a:rPr>
              <a:t>)</a:t>
            </a:r>
          </a:p>
          <a:p>
            <a:pPr marL="342900" marR="0" lvl="0" indent="-342900" algn="l" defTabSz="914400" rtl="0" eaLnBrk="0" fontAlgn="base" latinLnBrk="0" hangingPunct="0">
              <a:lnSpc>
                <a:spcPct val="125000"/>
              </a:lnSpc>
              <a:spcBef>
                <a:spcPts val="0"/>
              </a:spcBef>
              <a:spcAft>
                <a:spcPct val="0"/>
              </a:spcAft>
              <a:buClrTx/>
              <a:buSzTx/>
              <a:buFont typeface="Wingdings" panose="05000000000000000000" pitchFamily="2" charset="2"/>
              <a:buNone/>
              <a:tabLst/>
              <a:defRPr/>
            </a:pPr>
            <a:r>
              <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rPr>
              <a:t>MATLAB</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也是</a:t>
            </a:r>
            <a:r>
              <a:rPr kumimoji="1"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宋体"/>
              </a:rPr>
              <a:t>FIR</a:t>
            </a:r>
            <a:r>
              <a:rPr kumimoji="1"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宋体"/>
              </a:rPr>
              <a:t>滤波器设计的重要工具。</a:t>
            </a:r>
          </a:p>
        </p:txBody>
      </p:sp>
      <p:sp>
        <p:nvSpPr>
          <p:cNvPr id="4" name="Rectangle 4">
            <a:extLst>
              <a:ext uri="{FF2B5EF4-FFF2-40B4-BE49-F238E27FC236}">
                <a16:creationId xmlns:a16="http://schemas.microsoft.com/office/drawing/2014/main" id="{AC1D73C0-9789-491F-9449-9EA65DCA6FA8}"/>
              </a:ext>
            </a:extLst>
          </p:cNvPr>
          <p:cNvSpPr>
            <a:spLocks noChangeArrowheads="1"/>
          </p:cNvSpPr>
          <p:nvPr/>
        </p:nvSpPr>
        <p:spPr bwMode="auto">
          <a:xfrm>
            <a:off x="762000" y="228600"/>
            <a:ext cx="24481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5.6</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 本章小结</a:t>
            </a:r>
          </a:p>
        </p:txBody>
      </p:sp>
    </p:spTree>
    <p:extLst>
      <p:ext uri="{BB962C8B-B14F-4D97-AF65-F5344CB8AC3E}">
        <p14:creationId xmlns:p14="http://schemas.microsoft.com/office/powerpoint/2010/main" val="11497074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0" y="78110"/>
            <a:ext cx="1420582" cy="5847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作业题</a:t>
            </a: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endParaRPr>
          </a:p>
        </p:txBody>
      </p:sp>
      <p:sp>
        <p:nvSpPr>
          <p:cNvPr id="4" name="矩形 3">
            <a:extLst>
              <a:ext uri="{FF2B5EF4-FFF2-40B4-BE49-F238E27FC236}">
                <a16:creationId xmlns:a16="http://schemas.microsoft.com/office/drawing/2014/main" id="{6C0A2FA4-7855-487D-BF4B-650348FF7B65}"/>
              </a:ext>
            </a:extLst>
          </p:cNvPr>
          <p:cNvSpPr/>
          <p:nvPr/>
        </p:nvSpPr>
        <p:spPr>
          <a:xfrm>
            <a:off x="369833" y="3853365"/>
            <a:ext cx="126669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补充题</a:t>
            </a:r>
            <a:endPar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a:xfrm>
            <a:off x="365120" y="4267200"/>
            <a:ext cx="5257800" cy="523220"/>
          </a:xfrm>
          <a:prstGeom prst="rect">
            <a:avLst/>
          </a:prstGeom>
        </p:spPr>
        <p:txBody>
          <a:bodyPr wrap="square">
            <a:spAutoFit/>
          </a:bodyPr>
          <a:lstStyle/>
          <a:p>
            <a:pPr eaLnBrk="1" hangingPunct="1"/>
            <a:r>
              <a:rPr lang="zh-CN" altLang="en-US" sz="2800" b="1" dirty="0">
                <a:solidFill>
                  <a:srgbClr val="000000"/>
                </a:solidFill>
                <a:latin typeface="Times New Roman" panose="02020603050405020304" pitchFamily="18" charset="0"/>
                <a:cs typeface="Times New Roman" panose="02020603050405020304" pitchFamily="18" charset="0"/>
              </a:rPr>
              <a:t>某</a:t>
            </a:r>
            <a:r>
              <a:rPr lang="en-US" altLang="zh-CN" sz="2800" b="1" dirty="0">
                <a:solidFill>
                  <a:srgbClr val="000000"/>
                </a:solidFill>
                <a:latin typeface="Times New Roman" panose="02020603050405020304" pitchFamily="18" charset="0"/>
                <a:cs typeface="Times New Roman" panose="02020603050405020304" pitchFamily="18" charset="0"/>
              </a:rPr>
              <a:t>FIR</a:t>
            </a:r>
            <a:r>
              <a:rPr lang="zh-CN" altLang="en-US" sz="2800" b="1" dirty="0">
                <a:solidFill>
                  <a:srgbClr val="000000"/>
                </a:solidFill>
                <a:latin typeface="Times New Roman" panose="02020603050405020304" pitchFamily="18" charset="0"/>
                <a:cs typeface="Times New Roman" panose="02020603050405020304" pitchFamily="18" charset="0"/>
              </a:rPr>
              <a:t>数字滤波器的系统函数为</a:t>
            </a:r>
          </a:p>
        </p:txBody>
      </p:sp>
      <p:graphicFrame>
        <p:nvGraphicFramePr>
          <p:cNvPr id="10" name="对象 3"/>
          <p:cNvGraphicFramePr>
            <a:graphicFrameLocks noChangeAspect="1"/>
          </p:cNvGraphicFramePr>
          <p:nvPr>
            <p:extLst>
              <p:ext uri="{D42A27DB-BD31-4B8C-83A1-F6EECF244321}">
                <p14:modId xmlns:p14="http://schemas.microsoft.com/office/powerpoint/2010/main" val="3179952786"/>
              </p:ext>
            </p:extLst>
          </p:nvPr>
        </p:nvGraphicFramePr>
        <p:xfrm>
          <a:off x="1813341" y="4757636"/>
          <a:ext cx="4789980" cy="525780"/>
        </p:xfrm>
        <a:graphic>
          <a:graphicData uri="http://schemas.openxmlformats.org/presentationml/2006/ole">
            <mc:AlternateContent xmlns:mc="http://schemas.openxmlformats.org/markup-compatibility/2006">
              <mc:Choice xmlns:v="urn:schemas-microsoft-com:vml" Requires="v">
                <p:oleObj name="Equation" r:id="rId2" imgW="2082600" imgH="228600" progId="Equation.DSMT4">
                  <p:embed/>
                </p:oleObj>
              </mc:Choice>
              <mc:Fallback>
                <p:oleObj name="Equation" r:id="rId2" imgW="2082600" imgH="228600" progId="Equation.DSMT4">
                  <p:embed/>
                  <p:pic>
                    <p:nvPicPr>
                      <p:cNvPr id="10" name="对象 3"/>
                      <p:cNvPicPr>
                        <a:picLocks noChangeAspect="1" noChangeArrowheads="1"/>
                      </p:cNvPicPr>
                      <p:nvPr/>
                    </p:nvPicPr>
                    <p:blipFill>
                      <a:blip r:embed="rId3"/>
                      <a:srcRect/>
                      <a:stretch>
                        <a:fillRect/>
                      </a:stretch>
                    </p:blipFill>
                    <p:spPr bwMode="auto">
                      <a:xfrm>
                        <a:off x="1813341" y="4757636"/>
                        <a:ext cx="4789980" cy="525780"/>
                      </a:xfrm>
                      <a:prstGeom prst="rect">
                        <a:avLst/>
                      </a:prstGeom>
                      <a:noFill/>
                      <a:ln>
                        <a:noFill/>
                      </a:ln>
                    </p:spPr>
                  </p:pic>
                </p:oleObj>
              </mc:Fallback>
            </mc:AlternateContent>
          </a:graphicData>
        </a:graphic>
      </p:graphicFrame>
      <p:sp>
        <p:nvSpPr>
          <p:cNvPr id="12" name="Rectangle 7"/>
          <p:cNvSpPr>
            <a:spLocks noChangeArrowheads="1"/>
          </p:cNvSpPr>
          <p:nvPr/>
        </p:nvSpPr>
        <p:spPr bwMode="auto">
          <a:xfrm>
            <a:off x="386623" y="5287770"/>
            <a:ext cx="813593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lang="en-US" altLang="zh-CN" dirty="0">
                <a:solidFill>
                  <a:srgbClr val="000000"/>
                </a:solidFill>
                <a:cs typeface="Times New Roman" panose="02020603050405020304" pitchFamily="18" charset="0"/>
              </a:rPr>
              <a:t>(1) </a:t>
            </a:r>
            <a:r>
              <a:rPr lang="zh-CN" altLang="en-US" dirty="0">
                <a:solidFill>
                  <a:srgbClr val="000000"/>
                </a:solidFill>
                <a:cs typeface="Times New Roman" panose="02020603050405020304" pitchFamily="18" charset="0"/>
              </a:rPr>
              <a:t>写出该滤波器的</a:t>
            </a:r>
            <a:r>
              <a:rPr lang="en-US" altLang="zh-CN" i="1" dirty="0">
                <a:solidFill>
                  <a:srgbClr val="000000"/>
                </a:solidFill>
                <a:cs typeface="Times New Roman" panose="02020603050405020304" pitchFamily="18" charset="0"/>
              </a:rPr>
              <a:t>h</a:t>
            </a:r>
            <a:r>
              <a:rPr lang="en-US" altLang="zh-CN" dirty="0">
                <a:solidFill>
                  <a:srgbClr val="000000"/>
                </a:solidFill>
                <a:cs typeface="Times New Roman" panose="02020603050405020304" pitchFamily="18" charset="0"/>
              </a:rPr>
              <a:t>(</a:t>
            </a:r>
            <a:r>
              <a:rPr lang="en-US" altLang="zh-CN" i="1" dirty="0">
                <a:solidFill>
                  <a:srgbClr val="000000"/>
                </a:solidFill>
                <a:cs typeface="Times New Roman" panose="02020603050405020304" pitchFamily="18" charset="0"/>
              </a:rPr>
              <a:t>n</a:t>
            </a:r>
            <a:r>
              <a:rPr lang="en-US" altLang="zh-CN" dirty="0">
                <a:solidFill>
                  <a:srgbClr val="000000"/>
                </a:solidFill>
                <a:cs typeface="Times New Roman" panose="02020603050405020304" pitchFamily="18" charset="0"/>
              </a:rPr>
              <a:t>)</a:t>
            </a:r>
            <a:r>
              <a:rPr lang="zh-CN" altLang="en-US" dirty="0">
                <a:solidFill>
                  <a:srgbClr val="000000"/>
                </a:solidFill>
                <a:cs typeface="Times New Roman" panose="02020603050405020304" pitchFamily="18" charset="0"/>
              </a:rPr>
              <a:t>；</a:t>
            </a:r>
          </a:p>
          <a:p>
            <a:r>
              <a:rPr lang="en-US" altLang="zh-CN" dirty="0">
                <a:solidFill>
                  <a:srgbClr val="000000"/>
                </a:solidFill>
                <a:cs typeface="Times New Roman" panose="02020603050405020304" pitchFamily="18" charset="0"/>
              </a:rPr>
              <a:t>(2) </a:t>
            </a:r>
            <a:r>
              <a:rPr lang="zh-CN" altLang="en-US" dirty="0">
                <a:solidFill>
                  <a:srgbClr val="000000"/>
                </a:solidFill>
                <a:cs typeface="Times New Roman" panose="02020603050405020304" pitchFamily="18" charset="0"/>
              </a:rPr>
              <a:t>这是哪一类的线性相位</a:t>
            </a:r>
            <a:r>
              <a:rPr lang="en-US" altLang="zh-CN" dirty="0">
                <a:solidFill>
                  <a:srgbClr val="000000"/>
                </a:solidFill>
                <a:cs typeface="Times New Roman" panose="02020603050405020304" pitchFamily="18" charset="0"/>
              </a:rPr>
              <a:t>FIR</a:t>
            </a:r>
            <a:r>
              <a:rPr lang="zh-CN" altLang="en-US" dirty="0">
                <a:solidFill>
                  <a:srgbClr val="000000"/>
                </a:solidFill>
                <a:cs typeface="Times New Roman" panose="02020603050405020304" pitchFamily="18" charset="0"/>
              </a:rPr>
              <a:t>数字滤波器？</a:t>
            </a:r>
          </a:p>
          <a:p>
            <a:r>
              <a:rPr lang="en-US" altLang="zh-CN" dirty="0">
                <a:solidFill>
                  <a:srgbClr val="000000"/>
                </a:solidFill>
                <a:cs typeface="Times New Roman" panose="02020603050405020304" pitchFamily="18" charset="0"/>
              </a:rPr>
              <a:t>(3) </a:t>
            </a:r>
            <a:r>
              <a:rPr lang="zh-CN" altLang="en-US" dirty="0">
                <a:solidFill>
                  <a:srgbClr val="000000"/>
                </a:solidFill>
                <a:cs typeface="Times New Roman" panose="02020603050405020304" pitchFamily="18" charset="0"/>
              </a:rPr>
              <a:t>写出其相位函数。</a:t>
            </a:r>
          </a:p>
        </p:txBody>
      </p:sp>
      <p:sp>
        <p:nvSpPr>
          <p:cNvPr id="11" name="矩形 10"/>
          <p:cNvSpPr/>
          <p:nvPr/>
        </p:nvSpPr>
        <p:spPr>
          <a:xfrm>
            <a:off x="403120" y="1182231"/>
            <a:ext cx="8385142" cy="2554545"/>
          </a:xfrm>
          <a:prstGeom prst="rect">
            <a:avLst/>
          </a:prstGeom>
        </p:spPr>
        <p:txBody>
          <a:bodyPr wrap="square">
            <a:spAutoFit/>
          </a:bodyPr>
          <a:lstStyle/>
          <a:p>
            <a:pPr eaLnBrk="1" hangingPunct="1"/>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pP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截止频率为</a:t>
            </a:r>
            <a:r>
              <a:rPr lang="en-US" altLang="zh-CN" sz="28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，采样频率为</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8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矩形窗</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的长度</a:t>
            </a:r>
            <a:r>
              <a:rPr lang="en-US" altLang="zh-CN" sz="28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en-US" sz="2800" b="1" dirty="0">
                <a:latin typeface="Arial" panose="020B0604020202020204" pitchFamily="34" charset="0"/>
                <a:cs typeface="Times New Roman" panose="02020603050405020304" pitchFamily="18" charset="0"/>
              </a:rPr>
              <a:t>确定    与</a:t>
            </a:r>
            <a:r>
              <a:rPr lang="en-US" altLang="zh-CN" sz="2800" b="1" i="1" dirty="0">
                <a:latin typeface="Times New Roman" panose="02020603050405020304" pitchFamily="18" charset="0"/>
                <a:cs typeface="Times New Roman" panose="02020603050405020304" pitchFamily="18" charset="0"/>
              </a:rPr>
              <a:t>N</a:t>
            </a:r>
            <a:r>
              <a:rPr lang="en-US" altLang="zh-CN" sz="1400" b="1" i="1" dirty="0">
                <a:latin typeface="Times New Roman" panose="02020603050405020304" pitchFamily="18" charset="0"/>
                <a:cs typeface="Times New Roman" panose="02020603050405020304" pitchFamily="18" charset="0"/>
              </a:rPr>
              <a:t> </a:t>
            </a:r>
            <a:r>
              <a:rPr lang="zh-CN" altLang="en-US" sz="2800" b="1" dirty="0">
                <a:latin typeface="Arial" panose="020B0604020202020204" pitchFamily="34" charset="0"/>
                <a:cs typeface="Times New Roman" panose="02020603050405020304" pitchFamily="18" charset="0"/>
              </a:rPr>
              <a:t>的关系；</a:t>
            </a:r>
            <a:endParaRPr lang="en-US" altLang="zh-CN" sz="2800" b="1" dirty="0">
              <a:latin typeface="Times New Roman" panose="02020603050405020304" pitchFamily="18" charset="0"/>
              <a:cs typeface="Times New Roman" panose="02020603050405020304" pitchFamily="18" charset="0"/>
            </a:endParaRPr>
          </a:p>
          <a:p>
            <a:pPr eaLnBrk="1" hangingPunct="1">
              <a:spcBef>
                <a:spcPts val="600"/>
              </a:spcBef>
            </a:pP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写出该滤波器的</a:t>
            </a:r>
            <a:r>
              <a:rPr lang="en-US" altLang="zh-CN" sz="2800" b="1" i="1" dirty="0">
                <a:solidFill>
                  <a:srgbClr val="000000"/>
                </a:solidFill>
                <a:latin typeface="Times New Roman" panose="02020603050405020304" pitchFamily="18" charset="0"/>
                <a:cs typeface="Times New Roman" panose="02020603050405020304" pitchFamily="18" charset="0"/>
              </a:rPr>
              <a:t>h</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latin typeface="Times New Roman" panose="02020603050405020304" pitchFamily="18" charset="0"/>
                <a:cs typeface="Times New Roman" panose="02020603050405020304" pitchFamily="18" charset="0"/>
              </a:rPr>
              <a:t>要求写出每一个样本值</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403120" y="592463"/>
            <a:ext cx="1691489" cy="553998"/>
          </a:xfrm>
          <a:prstGeom prst="rect">
            <a:avLst/>
          </a:prstGeom>
        </p:spPr>
        <p:txBody>
          <a:bodyPr wrap="none">
            <a:spAutoFit/>
          </a:bodyPr>
          <a:lstStyle/>
          <a:p>
            <a:pPr lvl="0" eaLnBrk="1" hangingPunct="1"/>
            <a:r>
              <a:rPr lang="en-US" altLang="zh-CN" sz="3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5.1(</a:t>
            </a:r>
            <a:r>
              <a:rPr lang="zh-CN" altLang="en-US" sz="3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修改</a:t>
            </a:r>
            <a:r>
              <a:rPr lang="en-US" altLang="zh-CN" sz="3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14" name="Object 12"/>
          <p:cNvGraphicFramePr>
            <a:graphicFrameLocks noChangeAspect="1"/>
          </p:cNvGraphicFramePr>
          <p:nvPr>
            <p:extLst>
              <p:ext uri="{D42A27DB-BD31-4B8C-83A1-F6EECF244321}">
                <p14:modId xmlns:p14="http://schemas.microsoft.com/office/powerpoint/2010/main" val="1484030163"/>
              </p:ext>
            </p:extLst>
          </p:nvPr>
        </p:nvGraphicFramePr>
        <p:xfrm>
          <a:off x="2590800" y="1113048"/>
          <a:ext cx="4665672" cy="1172952"/>
        </p:xfrm>
        <a:graphic>
          <a:graphicData uri="http://schemas.openxmlformats.org/presentationml/2006/ole">
            <mc:AlternateContent xmlns:mc="http://schemas.openxmlformats.org/markup-compatibility/2006">
              <mc:Choice xmlns:v="urn:schemas-microsoft-com:vml" Requires="v">
                <p:oleObj name="Equation" r:id="rId4" imgW="2120760" imgH="533160" progId="Equation.DSMT4">
                  <p:embed/>
                </p:oleObj>
              </mc:Choice>
              <mc:Fallback>
                <p:oleObj name="Equation" r:id="rId4" imgW="2120760" imgH="533160" progId="Equation.DSMT4">
                  <p:embed/>
                  <p:pic>
                    <p:nvPicPr>
                      <p:cNvPr id="14" name="Object 12"/>
                      <p:cNvPicPr>
                        <a:picLocks noChangeAspect="1" noChangeArrowheads="1"/>
                      </p:cNvPicPr>
                      <p:nvPr/>
                    </p:nvPicPr>
                    <p:blipFill>
                      <a:blip r:embed="rId5"/>
                      <a:srcRect/>
                      <a:stretch>
                        <a:fillRect/>
                      </a:stretch>
                    </p:blipFill>
                    <p:spPr bwMode="auto">
                      <a:xfrm>
                        <a:off x="2590800" y="1113048"/>
                        <a:ext cx="4665672" cy="1172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2"/>
          <p:cNvGraphicFramePr>
            <a:graphicFrameLocks noChangeAspect="1"/>
          </p:cNvGraphicFramePr>
          <p:nvPr>
            <p:extLst>
              <p:ext uri="{D42A27DB-BD31-4B8C-83A1-F6EECF244321}">
                <p14:modId xmlns:p14="http://schemas.microsoft.com/office/powerpoint/2010/main" val="2653281074"/>
              </p:ext>
            </p:extLst>
          </p:nvPr>
        </p:nvGraphicFramePr>
        <p:xfrm>
          <a:off x="1646237" y="2817813"/>
          <a:ext cx="334963" cy="306387"/>
        </p:xfrm>
        <a:graphic>
          <a:graphicData uri="http://schemas.openxmlformats.org/presentationml/2006/ole">
            <mc:AlternateContent xmlns:mc="http://schemas.openxmlformats.org/markup-compatibility/2006">
              <mc:Choice xmlns:v="urn:schemas-microsoft-com:vml" Requires="v">
                <p:oleObj name="Equation" r:id="rId6" imgW="152280" imgH="139680" progId="Equation.DSMT4">
                  <p:embed/>
                </p:oleObj>
              </mc:Choice>
              <mc:Fallback>
                <p:oleObj name="Equation" r:id="rId6" imgW="152280" imgH="139680" progId="Equation.DSMT4">
                  <p:embed/>
                  <p:pic>
                    <p:nvPicPr>
                      <p:cNvPr id="16" name="Object 12"/>
                      <p:cNvPicPr>
                        <a:picLocks noChangeAspect="1" noChangeArrowheads="1"/>
                      </p:cNvPicPr>
                      <p:nvPr/>
                    </p:nvPicPr>
                    <p:blipFill>
                      <a:blip r:embed="rId7"/>
                      <a:srcRect/>
                      <a:stretch>
                        <a:fillRect/>
                      </a:stretch>
                    </p:blipFill>
                    <p:spPr bwMode="auto">
                      <a:xfrm>
                        <a:off x="1646237" y="2817813"/>
                        <a:ext cx="334963"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矩形 16"/>
          <p:cNvSpPr/>
          <p:nvPr/>
        </p:nvSpPr>
        <p:spPr>
          <a:xfrm>
            <a:off x="2057400" y="635182"/>
            <a:ext cx="6876273" cy="523220"/>
          </a:xfrm>
          <a:prstGeom prst="rect">
            <a:avLst/>
          </a:prstGeom>
        </p:spPr>
        <p:txBody>
          <a:bodyPr wrap="square">
            <a:spAutoFit/>
          </a:bodyPr>
          <a:lstStyle/>
          <a:p>
            <a:pPr lvl="0" eaLnBrk="1" hangingPunct="1"/>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用矩形窗设计一线性相位低通</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19965849"/>
      </p:ext>
    </p:extLst>
  </p:cSld>
  <p:clrMapOvr>
    <a:masterClrMapping/>
  </p:clrMapOvr>
</p:sld>
</file>

<file path=ppt/theme/theme1.xml><?xml version="1.0" encoding="utf-8"?>
<a:theme xmlns:a="http://schemas.openxmlformats.org/drawingml/2006/main" name="Global">
  <a:themeElements>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fontScheme name="Global">
      <a:majorFont>
        <a:latin typeface="Times New Roman"/>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19809</TotalTime>
  <Words>3715</Words>
  <Application>Microsoft Office PowerPoint</Application>
  <PresentationFormat>全屏显示(4:3)</PresentationFormat>
  <Paragraphs>584</Paragraphs>
  <Slides>70</Slides>
  <Notes>1</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4</vt:i4>
      </vt:variant>
      <vt:variant>
        <vt:lpstr>幻灯片标题</vt:lpstr>
      </vt:variant>
      <vt:variant>
        <vt:i4>70</vt:i4>
      </vt:variant>
    </vt:vector>
  </HeadingPairs>
  <TitlesOfParts>
    <vt:vector size="89" baseType="lpstr">
      <vt:lpstr>等线</vt:lpstr>
      <vt:lpstr>等线 Light</vt:lpstr>
      <vt:lpstr>黑体</vt:lpstr>
      <vt:lpstr>楷体_GB2312</vt:lpstr>
      <vt:lpstr>宋体</vt:lpstr>
      <vt:lpstr>Arial</vt:lpstr>
      <vt:lpstr>Cambria Math</vt:lpstr>
      <vt:lpstr>Century Gothic</vt:lpstr>
      <vt:lpstr>Symbol</vt:lpstr>
      <vt:lpstr>Tahoma</vt:lpstr>
      <vt:lpstr>Times New Roman</vt:lpstr>
      <vt:lpstr>Wingdings</vt:lpstr>
      <vt:lpstr>Wingdings 2</vt:lpstr>
      <vt:lpstr>Global</vt:lpstr>
      <vt:lpstr>自定义设计方案</vt:lpstr>
      <vt:lpstr>Equation</vt:lpstr>
      <vt:lpstr>公式</vt:lpstr>
      <vt:lpstr>位图图像</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表5.2 几种窗函数的性能比较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克琴 周</cp:lastModifiedBy>
  <cp:revision>1060</cp:revision>
  <cp:lastPrinted>2024-05-10T03:42:52Z</cp:lastPrinted>
  <dcterms:created xsi:type="dcterms:W3CDTF">1601-01-01T00:00:00Z</dcterms:created>
  <dcterms:modified xsi:type="dcterms:W3CDTF">2025-05-21T16:47:03Z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