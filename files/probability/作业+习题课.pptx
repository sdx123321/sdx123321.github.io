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8"/>
  </p:notesMasterIdLst>
  <p:handoutMasterIdLst>
    <p:handoutMasterId r:id="rId19"/>
  </p:handoutMasterIdLst>
  <p:sldIdLst>
    <p:sldId id="517" r:id="rId2"/>
    <p:sldId id="825" r:id="rId3"/>
    <p:sldId id="827" r:id="rId4"/>
    <p:sldId id="828" r:id="rId5"/>
    <p:sldId id="829" r:id="rId6"/>
    <p:sldId id="818" r:id="rId7"/>
    <p:sldId id="819" r:id="rId8"/>
    <p:sldId id="816" r:id="rId9"/>
    <p:sldId id="521" r:id="rId10"/>
    <p:sldId id="817" r:id="rId11"/>
    <p:sldId id="815" r:id="rId12"/>
    <p:sldId id="820" r:id="rId13"/>
    <p:sldId id="821" r:id="rId14"/>
    <p:sldId id="823" r:id="rId15"/>
    <p:sldId id="822" r:id="rId16"/>
    <p:sldId id="824" r:id="rId17"/>
  </p:sldIdLst>
  <p:sldSz cx="9144000" cy="5143500" type="screen16x9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39">
          <p15:clr>
            <a:srgbClr val="A4A3A4"/>
          </p15:clr>
        </p15:guide>
        <p15:guide id="2" pos="573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F8E"/>
    <a:srgbClr val="F77A2D"/>
    <a:srgbClr val="F9A46F"/>
    <a:srgbClr val="A9D18E"/>
    <a:srgbClr val="0099CC"/>
    <a:srgbClr val="1590FF"/>
    <a:srgbClr val="1F7BE1"/>
    <a:srgbClr val="94DDFE"/>
    <a:srgbClr val="CBEAFD"/>
    <a:srgbClr val="17A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51"/>
    <p:restoredTop sz="62819" autoAdjust="0"/>
  </p:normalViewPr>
  <p:slideViewPr>
    <p:cSldViewPr showGuides="1">
      <p:cViewPr>
        <p:scale>
          <a:sx n="75" d="100"/>
          <a:sy n="75" d="100"/>
        </p:scale>
        <p:origin x="1156" y="-108"/>
      </p:cViewPr>
      <p:guideLst>
        <p:guide orient="horz" pos="3239"/>
        <p:guide pos="57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668"/>
    </p:cViewPr>
  </p:sorterViewPr>
  <p:notesViewPr>
    <p:cSldViewPr>
      <p:cViewPr varScale="1">
        <p:scale>
          <a:sx n="50" d="100"/>
          <a:sy n="50" d="100"/>
        </p:scale>
        <p:origin x="2708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F52C816-7428-4939-A2D7-6E5962118E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EC147CF-DD98-46A0-9084-33878A062E4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06BEB4-33C5-4A87-B5C6-CD17D98914AF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8BF6C09-4D7C-450F-8DAE-A1AF051BDF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F35DBC-88C8-4056-B159-103F9C3E137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DF193-A991-434C-A451-4D3136C636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41632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A5954B-2DC3-4E4B-BAA2-C81FED52DA46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251A7D-A901-428B-B551-9DE8D3F742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8723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E36C1D-3E2A-4A0A-B42A-B39CA94B9D41}" type="slidenum">
              <a:rPr lang="zh-CN" altLang="en-US"/>
              <a:pPr/>
              <a:t>1</a:t>
            </a:fld>
            <a:endParaRPr lang="en-US" altLang="zh-CN"/>
          </a:p>
        </p:txBody>
      </p:sp>
      <p:sp>
        <p:nvSpPr>
          <p:cNvPr id="382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82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欢迎辞</a:t>
            </a:r>
          </a:p>
        </p:txBody>
      </p:sp>
    </p:spTree>
    <p:extLst>
      <p:ext uri="{BB962C8B-B14F-4D97-AF65-F5344CB8AC3E}">
        <p14:creationId xmlns:p14="http://schemas.microsoft.com/office/powerpoint/2010/main" val="3552277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342900" marR="0" lvl="0" indent="-342900" algn="just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None/>
                  <a:tabLst/>
                  <a:defRPr/>
                </a:pPr>
                <a:r>
                  <a:rPr kumimoji="0" lang="zh-CN" altLang="en-US" sz="15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基本思想：</a:t>
                </a:r>
                <a:endParaRPr kumimoji="0" lang="en-US" altLang="zh-CN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endParaRPr>
              </a:p>
              <a:p>
                <a:pPr marL="514350" marR="0" lvl="0" indent="-342900" algn="just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Char char="Ø"/>
                  <a:tabLst/>
                  <a:defRPr/>
                </a:pPr>
                <a:r>
                  <a:rPr kumimoji="0" lang="zh-CN" altLang="en-US" sz="15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顶点集合</a:t>
                </a:r>
                <a14:m>
                  <m:oMath xmlns:m="http://schemas.openxmlformats.org/officeDocument/2006/math">
                    <m:r>
                      <a:rPr kumimoji="0" lang="en-US" altLang="zh-CN" sz="15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楷体_GB2312" pitchFamily="49" charset="-122"/>
                        <a:cs typeface="+mn-cs"/>
                      </a:rPr>
                      <m:t>𝑺</m:t>
                    </m:r>
                    <m:r>
                      <m:rPr>
                        <m:nor/>
                      </m:rPr>
                      <a:rPr kumimoji="0" lang="zh-CN" altLang="en-US" sz="15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楷体_GB2312" pitchFamily="49" charset="-122"/>
                        <a:ea typeface="楷体_GB2312" pitchFamily="49" charset="-122"/>
                        <a:cs typeface="+mn-cs"/>
                      </a:rPr>
                      <m:t>，</m:t>
                    </m:r>
                  </m:oMath>
                </a14:m>
                <a:r>
                  <a:rPr kumimoji="0" lang="zh-CN" altLang="en-US" sz="15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初始为</a:t>
                </a:r>
                <a14:m>
                  <m:oMath xmlns:m="http://schemas.openxmlformats.org/officeDocument/2006/math">
                    <m:r>
                      <a:rPr kumimoji="0" lang="en-US" altLang="zh-CN" sz="15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楷体_GB2312" pitchFamily="49" charset="-122"/>
                        <a:cs typeface="+mn-cs"/>
                      </a:rPr>
                      <m:t>𝑺</m:t>
                    </m:r>
                    <m:r>
                      <a:rPr kumimoji="0" lang="en-US" altLang="zh-CN" sz="15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楷体_GB2312" pitchFamily="49" charset="-122"/>
                        <a:cs typeface="+mn-cs"/>
                      </a:rPr>
                      <m:t>={</m:t>
                    </m:r>
                    <m:r>
                      <a:rPr kumimoji="0" lang="en-US" altLang="zh-CN" sz="15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楷体_GB2312" pitchFamily="49" charset="-122"/>
                        <a:cs typeface="+mn-cs"/>
                      </a:rPr>
                      <m:t>𝒊</m:t>
                    </m:r>
                    <m:r>
                      <a:rPr kumimoji="0" lang="en-US" altLang="zh-CN" sz="15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楷体_GB2312" pitchFamily="49" charset="-122"/>
                        <a:cs typeface="+mn-cs"/>
                      </a:rPr>
                      <m:t>}</m:t>
                    </m:r>
                  </m:oMath>
                </a14:m>
                <a:r>
                  <a:rPr kumimoji="0" lang="zh-CN" altLang="en-US" sz="15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，</a:t>
                </a:r>
                <a14:m>
                  <m:oMath xmlns:m="http://schemas.openxmlformats.org/officeDocument/2006/math">
                    <m:r>
                      <a:rPr kumimoji="0" lang="en-US" altLang="zh-CN" sz="15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楷体_GB2312" pitchFamily="49" charset="-122"/>
                        <a:cs typeface="+mn-cs"/>
                      </a:rPr>
                      <m:t>𝑺</m:t>
                    </m:r>
                  </m:oMath>
                </a14:m>
                <a:r>
                  <a:rPr kumimoji="0" lang="zh-CN" altLang="en-US" sz="15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不断采用</a:t>
                </a:r>
                <a:r>
                  <a:rPr kumimoji="0" lang="zh-CN" altLang="en-US" sz="15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贪心选择</a:t>
                </a:r>
                <a:r>
                  <a:rPr kumimoji="0" lang="zh-CN" altLang="en-US" sz="15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来扩充自身，</a:t>
                </a:r>
                <a:r>
                  <a:rPr kumimoji="0" lang="en-US" altLang="zh-CN" sz="15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楷体_GB2312" pitchFamily="49" charset="-122"/>
                    <a:cs typeface="+mn-cs"/>
                  </a:rPr>
                  <a:t> </a:t>
                </a:r>
                <a:r>
                  <a:rPr kumimoji="0" lang="zh-CN" altLang="en-US" sz="15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直至</a:t>
                </a:r>
                <a14:m>
                  <m:oMath xmlns:m="http://schemas.openxmlformats.org/officeDocument/2006/math">
                    <m:r>
                      <a:rPr kumimoji="0" lang="en-US" altLang="zh-CN" sz="15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楷体_GB2312" pitchFamily="49" charset="-122"/>
                        <a:cs typeface="+mn-cs"/>
                      </a:rPr>
                      <m:t>𝑺</m:t>
                    </m:r>
                  </m:oMath>
                </a14:m>
                <a:r>
                  <a:rPr kumimoji="0" lang="zh-CN" altLang="en-US" sz="15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包含所有节点。</a:t>
                </a:r>
                <a:endParaRPr kumimoji="0" lang="en-US" altLang="zh-CN" sz="15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endParaRPr>
              </a:p>
              <a:p>
                <a:pPr marL="514350" marR="0" lvl="0" indent="-342900" algn="just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Char char="Ø"/>
                  <a:tabLst/>
                  <a:defRPr/>
                </a:pPr>
                <a:r>
                  <a:rPr kumimoji="0" lang="zh-CN" altLang="en-US" sz="15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一个顶点属于集合</a:t>
                </a:r>
                <a14:m>
                  <m:oMath xmlns:m="http://schemas.openxmlformats.org/officeDocument/2006/math">
                    <m:r>
                      <a:rPr kumimoji="0" lang="en-US" altLang="zh-CN" sz="15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楷体_GB2312" pitchFamily="49" charset="-122"/>
                        <a:cs typeface="+mn-cs"/>
                      </a:rPr>
                      <m:t>𝑺</m:t>
                    </m:r>
                  </m:oMath>
                </a14:m>
                <a:r>
                  <a:rPr kumimoji="0" lang="zh-CN" altLang="en-US" sz="15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当且仅当从源到该顶点的最短路径长度已知。</a:t>
                </a:r>
              </a:p>
              <a:p>
                <a:endParaRPr kumimoji="0" lang="en-US" altLang="zh-CN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endParaRPr>
              </a:p>
              <a:p>
                <a:r>
                  <a:rPr kumimoji="0" lang="zh-CN" altLang="en-US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贪心策略：每次从</a:t>
                </a:r>
                <a14:m>
                  <m:oMath xmlns:m="http://schemas.openxmlformats.org/officeDocument/2006/math">
                    <m:r>
                      <a:rPr kumimoji="0" lang="en-US" altLang="zh-CN" sz="15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/>
                        <a:ea typeface="楷体_GB2312" pitchFamily="49" charset="-122"/>
                        <a:cs typeface="+mn-cs"/>
                      </a:rPr>
                      <m:t>𝑽</m:t>
                    </m:r>
                    <m:r>
                      <a:rPr kumimoji="0" lang="en-US" altLang="zh-CN" sz="15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/>
                        <a:ea typeface="楷体_GB2312" pitchFamily="49" charset="-122"/>
                        <a:cs typeface="+mn-cs"/>
                      </a:rPr>
                      <m:t>−</m:t>
                    </m:r>
                    <m:r>
                      <a:rPr kumimoji="0" lang="en-US" altLang="zh-CN" sz="15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/>
                        <a:ea typeface="楷体_GB2312" pitchFamily="49" charset="-122"/>
                        <a:cs typeface="+mn-cs"/>
                      </a:rPr>
                      <m:t>𝑺</m:t>
                    </m:r>
                  </m:oMath>
                </a14:m>
                <a:r>
                  <a:rPr kumimoji="0" lang="zh-CN" altLang="en-US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中取出具有最短特殊路长度的顶点</a:t>
                </a:r>
                <a14:m>
                  <m:oMath xmlns:m="http://schemas.openxmlformats.org/officeDocument/2006/math">
                    <m:r>
                      <a:rPr kumimoji="0" lang="en-US" altLang="zh-CN" sz="15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/>
                        <a:ea typeface="楷体_GB2312" pitchFamily="49" charset="-122"/>
                        <a:cs typeface="+mn-cs"/>
                      </a:rPr>
                      <m:t>𝒖</m:t>
                    </m:r>
                    <m:r>
                      <a:rPr kumimoji="0" lang="en-US" altLang="zh-CN" sz="15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/>
                        <a:ea typeface="楷体_GB2312" pitchFamily="49" charset="-122"/>
                        <a:cs typeface="+mn-cs"/>
                      </a:rPr>
                      <m:t> </m:t>
                    </m:r>
                  </m:oMath>
                </a14:m>
                <a:r>
                  <a:rPr kumimoji="0" lang="zh-CN" altLang="en-US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，将</a:t>
                </a:r>
                <a14:m>
                  <m:oMath xmlns:m="http://schemas.openxmlformats.org/officeDocument/2006/math">
                    <m:r>
                      <a:rPr kumimoji="0" lang="en-US" altLang="zh-CN" sz="15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/>
                        <a:ea typeface="楷体_GB2312" pitchFamily="49" charset="-122"/>
                        <a:cs typeface="+mn-cs"/>
                      </a:rPr>
                      <m:t>𝒖</m:t>
                    </m:r>
                  </m:oMath>
                </a14:m>
                <a:r>
                  <a:rPr kumimoji="0" lang="zh-CN" altLang="en-US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添加到</a:t>
                </a:r>
                <a14:m>
                  <m:oMath xmlns:m="http://schemas.openxmlformats.org/officeDocument/2006/math">
                    <m:r>
                      <a:rPr kumimoji="0" lang="en-US" altLang="zh-CN" sz="15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/>
                        <a:ea typeface="楷体_GB2312" pitchFamily="49" charset="-122"/>
                        <a:cs typeface="+mn-cs"/>
                      </a:rPr>
                      <m:t>𝑺</m:t>
                    </m:r>
                  </m:oMath>
                </a14:m>
                <a:r>
                  <a:rPr kumimoji="0" lang="zh-CN" altLang="en-US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中</a:t>
                </a:r>
                <a:r>
                  <a:rPr kumimoji="0" lang="zh-CN" altLang="en-US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，同时对数组</a:t>
                </a:r>
                <a14:m>
                  <m:oMath xmlns:m="http://schemas.openxmlformats.org/officeDocument/2006/math">
                    <m:r>
                      <a:rPr kumimoji="0" lang="en-US" altLang="zh-CN" sz="15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/>
                        <a:ea typeface="Cambria Math"/>
                        <a:cs typeface="+mn-cs"/>
                      </a:rPr>
                      <m:t>𝒅</m:t>
                    </m:r>
                    <m:r>
                      <a:rPr kumimoji="0" lang="en-US" altLang="zh-CN" sz="15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  <a:cs typeface="+mn-cs"/>
                      </a:rPr>
                      <m:t>𝒊𝒔𝒕</m:t>
                    </m:r>
                  </m:oMath>
                </a14:m>
                <a:r>
                  <a:rPr kumimoji="0" lang="zh-CN" altLang="en-US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作必要的修改。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342900" marR="0" lvl="0" indent="-342900" algn="just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None/>
                  <a:tabLst/>
                  <a:defRPr/>
                </a:pPr>
                <a:r>
                  <a:rPr kumimoji="0" lang="zh-CN" altLang="en-US" sz="15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基本思想：</a:t>
                </a:r>
                <a:endParaRPr kumimoji="0" lang="en-US" altLang="zh-CN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endParaRPr>
              </a:p>
              <a:p>
                <a:pPr marL="514350" marR="0" lvl="0" indent="-342900" algn="just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Char char="Ø"/>
                  <a:tabLst/>
                  <a:defRPr/>
                </a:pPr>
                <a:r>
                  <a:rPr kumimoji="0" lang="zh-CN" altLang="en-US" sz="15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顶点集合</a:t>
                </a:r>
                <a:r>
                  <a:rPr kumimoji="0" lang="en-US" altLang="zh-CN" sz="15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/>
                    <a:ea typeface="楷体_GB2312" pitchFamily="49" charset="-122"/>
                    <a:cs typeface="+mn-cs"/>
                  </a:rPr>
                  <a:t>𝑺</a:t>
                </a:r>
                <a:r>
                  <a:rPr kumimoji="0" lang="zh-CN" altLang="en-US" sz="15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/>
                    <a:ea typeface="楷体_GB2312" pitchFamily="49" charset="-122"/>
                    <a:cs typeface="+mn-cs"/>
                  </a:rPr>
                  <a:t>"</a:t>
                </a:r>
                <a:r>
                  <a:rPr kumimoji="0" lang="zh-CN" altLang="en-US" sz="15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楷体_GB2312" pitchFamily="49" charset="-122"/>
                    <a:cs typeface="+mn-cs"/>
                  </a:rPr>
                  <a:t>，</a:t>
                </a:r>
                <a:r>
                  <a:rPr kumimoji="0" lang="zh-CN" altLang="en-US" sz="15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"初始为</a:t>
                </a:r>
                <a:r>
                  <a:rPr kumimoji="0" lang="en-US" altLang="zh-CN" sz="15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/>
                    <a:ea typeface="楷体_GB2312" pitchFamily="49" charset="-122"/>
                    <a:cs typeface="+mn-cs"/>
                  </a:rPr>
                  <a:t>𝑺={𝒊}</a:t>
                </a:r>
                <a:r>
                  <a:rPr kumimoji="0" lang="zh-CN" altLang="en-US" sz="15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，</a:t>
                </a:r>
                <a:r>
                  <a:rPr kumimoji="0" lang="en-US" altLang="zh-CN" sz="15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/>
                    <a:ea typeface="楷体_GB2312" pitchFamily="49" charset="-122"/>
                    <a:cs typeface="+mn-cs"/>
                  </a:rPr>
                  <a:t>𝑺</a:t>
                </a:r>
                <a:r>
                  <a:rPr kumimoji="0" lang="zh-CN" altLang="en-US" sz="15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不断采用</a:t>
                </a:r>
                <a:r>
                  <a:rPr kumimoji="0" lang="zh-CN" altLang="en-US" sz="15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贪心选择</a:t>
                </a:r>
                <a:r>
                  <a:rPr kumimoji="0" lang="zh-CN" altLang="en-US" sz="15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来扩充自身，</a:t>
                </a:r>
                <a:r>
                  <a:rPr kumimoji="0" lang="en-US" altLang="zh-CN" sz="15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楷体_GB2312" pitchFamily="49" charset="-122"/>
                    <a:cs typeface="+mn-cs"/>
                  </a:rPr>
                  <a:t> </a:t>
                </a:r>
                <a:r>
                  <a:rPr kumimoji="0" lang="zh-CN" altLang="en-US" sz="15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直至</a:t>
                </a:r>
                <a:r>
                  <a:rPr kumimoji="0" lang="en-US" altLang="zh-CN" sz="15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/>
                    <a:ea typeface="楷体_GB2312" pitchFamily="49" charset="-122"/>
                    <a:cs typeface="+mn-cs"/>
                  </a:rPr>
                  <a:t>𝑺</a:t>
                </a:r>
                <a:r>
                  <a:rPr kumimoji="0" lang="zh-CN" altLang="en-US" sz="15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包含所有节点。</a:t>
                </a:r>
                <a:endParaRPr kumimoji="0" lang="en-US" altLang="zh-CN" sz="15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endParaRPr>
              </a:p>
              <a:p>
                <a:pPr marL="514350" marR="0" lvl="0" indent="-342900" algn="just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Char char="Ø"/>
                  <a:tabLst/>
                  <a:defRPr/>
                </a:pPr>
                <a:r>
                  <a:rPr kumimoji="0" lang="zh-CN" altLang="en-US" sz="15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一个顶点属于集合</a:t>
                </a:r>
                <a:r>
                  <a:rPr kumimoji="0" lang="en-US" altLang="zh-CN" sz="15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/>
                    <a:ea typeface="楷体_GB2312" pitchFamily="49" charset="-122"/>
                    <a:cs typeface="+mn-cs"/>
                  </a:rPr>
                  <a:t>𝑺</a:t>
                </a:r>
                <a:r>
                  <a:rPr kumimoji="0" lang="zh-CN" altLang="en-US" sz="15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当且仅当从源到该顶点的最短路径长度已知。</a:t>
                </a:r>
              </a:p>
              <a:p>
                <a:endParaRPr kumimoji="0" lang="en-US" altLang="zh-CN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endParaRPr>
              </a:p>
              <a:p>
                <a:r>
                  <a:rPr kumimoji="0" lang="zh-CN" altLang="en-US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贪心策略：每次从</a:t>
                </a:r>
                <a:r>
                  <a:rPr kumimoji="0" lang="en-US" altLang="zh-CN" sz="15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mbria Math"/>
                    <a:ea typeface="楷体_GB2312" pitchFamily="49" charset="-122"/>
                    <a:cs typeface="+mn-cs"/>
                  </a:rPr>
                  <a:t>𝑽−𝑺</a:t>
                </a:r>
                <a:r>
                  <a:rPr kumimoji="0" lang="zh-CN" altLang="en-US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中取出具有最短特殊路长度的顶点</a:t>
                </a:r>
                <a:r>
                  <a:rPr kumimoji="0" lang="en-US" altLang="zh-CN" sz="15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mbria Math"/>
                    <a:ea typeface="楷体_GB2312" pitchFamily="49" charset="-122"/>
                    <a:cs typeface="+mn-cs"/>
                  </a:rPr>
                  <a:t>𝒖 </a:t>
                </a:r>
                <a:r>
                  <a:rPr kumimoji="0" lang="zh-CN" altLang="en-US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，将</a:t>
                </a:r>
                <a:r>
                  <a:rPr kumimoji="0" lang="en-US" altLang="zh-CN" sz="15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mbria Math"/>
                    <a:ea typeface="楷体_GB2312" pitchFamily="49" charset="-122"/>
                    <a:cs typeface="+mn-cs"/>
                  </a:rPr>
                  <a:t>𝒖</a:t>
                </a:r>
                <a:r>
                  <a:rPr kumimoji="0" lang="zh-CN" altLang="en-US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添加到</a:t>
                </a:r>
                <a:r>
                  <a:rPr kumimoji="0" lang="en-US" altLang="zh-CN" sz="15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mbria Math"/>
                    <a:ea typeface="楷体_GB2312" pitchFamily="49" charset="-122"/>
                    <a:cs typeface="+mn-cs"/>
                  </a:rPr>
                  <a:t>𝑺</a:t>
                </a:r>
                <a:r>
                  <a:rPr kumimoji="0" lang="zh-CN" altLang="en-US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中</a:t>
                </a:r>
                <a:r>
                  <a:rPr kumimoji="0" lang="zh-CN" altLang="en-US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，同时对数组</a:t>
                </a:r>
                <a:r>
                  <a:rPr kumimoji="0" lang="en-US" altLang="zh-CN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mbria Math"/>
                    <a:ea typeface="Cambria Math"/>
                    <a:cs typeface="+mn-cs"/>
                  </a:rPr>
                  <a:t>𝒅</a:t>
                </a:r>
                <a:r>
                  <a:rPr kumimoji="0" lang="en-US" altLang="zh-CN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/>
                    <a:cs typeface="+mn-cs"/>
                  </a:rPr>
                  <a:t>𝒊𝒔𝒕</a:t>
                </a:r>
                <a:r>
                  <a:rPr kumimoji="0" lang="zh-CN" altLang="en-US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作必要的修改。</a:t>
                </a:r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51A7D-A901-428B-B551-9DE8D3F7420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3179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51A7D-A901-428B-B551-9DE8D3F7420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482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51A7D-A901-428B-B551-9DE8D3F7420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2282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51A7D-A901-428B-B551-9DE8D3F7420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518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51A7D-A901-428B-B551-9DE8D3F7420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6632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51A7D-A901-428B-B551-9DE8D3F7420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88167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ctr"/>
            <a:r>
              <a:rPr lang="zh-CN" altLang="en-US" b="0" i="0" dirty="0">
                <a:effectLst/>
                <a:latin typeface="Inter"/>
              </a:rPr>
              <a:t>归并排序是典型的分治法应用，它将一个长度为 ​</a:t>
            </a:r>
            <a:r>
              <a:rPr lang="en-US" altLang="zh-CN" b="0" i="1" dirty="0">
                <a:effectLst/>
                <a:latin typeface="KaTeX_Math"/>
              </a:rPr>
              <a:t>n</a:t>
            </a:r>
            <a:r>
              <a:rPr lang="zh-CN" altLang="en-US" b="0" i="0" dirty="0">
                <a:effectLst/>
                <a:latin typeface="Inter"/>
              </a:rPr>
              <a:t>的数组不断二分，直到子数组长度为 </a:t>
            </a:r>
            <a:r>
              <a:rPr lang="en-US" altLang="zh-CN" b="0" i="0" dirty="0">
                <a:effectLst/>
                <a:latin typeface="Inter"/>
              </a:rPr>
              <a:t>1</a:t>
            </a:r>
            <a:r>
              <a:rPr lang="zh-CN" altLang="en-US" b="0" i="0" dirty="0">
                <a:effectLst/>
                <a:latin typeface="Inter"/>
              </a:rPr>
              <a:t>，然后再将有序子数组合并成最终的有序数组。请详细分析归并排序算法的时间复杂度，要求写出推导过程。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51A7D-A901-428B-B551-9DE8D3F7420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5228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51A7D-A901-428B-B551-9DE8D3F7420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7848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51A7D-A901-428B-B551-9DE8D3F7420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0845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51A7D-A901-428B-B551-9DE8D3F7420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909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0E3C71-8709-48C7-97FC-C6D6BA12DF5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3067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5E8C7B-0FBC-4248-B5C7-A5726714550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574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41053B-0E9C-4418-956E-121C1BAF108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084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911C99-AAB8-461D-B88A-A2B1352E467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5568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351C46-EA48-423D-8C32-EE9B966AACE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7008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7D912-02FB-4CB0-8F40-0F516661581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5942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7FFFC2-DBC9-45AD-93B7-19107AD46DE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9952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45D439-2488-46B6-ADF7-099881A0CC4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9929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5AACC8-6B12-40CE-BCC8-D1DD7A8165E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4543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D502A3-8632-4418-803B-73FCF52F332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2658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1A8A99-3180-4902-BB69-B1867B73827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5150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fld id="{39C4AEAA-7C8B-4E04-AFCB-E61F25A5C1E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91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00150"/>
            <a:ext cx="4038600" cy="16394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200150"/>
            <a:ext cx="4038600" cy="16394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2953942"/>
            <a:ext cx="4038600" cy="16406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2953942"/>
            <a:ext cx="4038600" cy="16406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fld id="{B1867A73-AF83-464D-8F14-45B52375FB6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776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05979"/>
            <a:ext cx="8229600" cy="43886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fld id="{180A264E-432C-45C5-BA4B-73B5265D330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9912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8526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270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7270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7270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805BB90-A3A0-467A-BD5E-425ABA0B79CF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</p:sldLayoutIdLst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6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6286500" y="4686300"/>
            <a:ext cx="1428750" cy="342900"/>
          </a:xfrm>
          <a:prstGeom prst="rect">
            <a:avLst/>
          </a:prstGeom>
        </p:spPr>
        <p:txBody>
          <a:bodyPr/>
          <a:lstStyle/>
          <a:p>
            <a:pPr algn="r"/>
            <a:fld id="{2B62392B-C89C-4AC1-88AA-CD3966C9EEB7}" type="slidenum">
              <a:rPr lang="zh-CN" altLang="en-US"/>
              <a:pPr algn="r"/>
              <a:t>1</a:t>
            </a:fld>
            <a:endParaRPr lang="en-US" altLang="zh-CN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47812" y="1760934"/>
            <a:ext cx="6048375" cy="810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6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作业讲解</a:t>
            </a:r>
            <a:r>
              <a:rPr lang="en-US" altLang="zh-CN" sz="36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+</a:t>
            </a:r>
            <a:r>
              <a:rPr lang="zh-CN" altLang="en-US" sz="36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习题课</a:t>
            </a:r>
          </a:p>
        </p:txBody>
      </p:sp>
    </p:spTree>
    <p:extLst>
      <p:ext uri="{BB962C8B-B14F-4D97-AF65-F5344CB8AC3E}">
        <p14:creationId xmlns:p14="http://schemas.microsoft.com/office/powerpoint/2010/main" val="294701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86E2596-83C8-42FC-B4DC-0364B4267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434" y="567280"/>
            <a:ext cx="8229600" cy="3394472"/>
          </a:xfrm>
        </p:spPr>
        <p:txBody>
          <a:bodyPr/>
          <a:lstStyle/>
          <a:p>
            <a:r>
              <a:rPr lang="zh-CN" altLang="en-US" sz="2000" dirty="0"/>
              <a:t>已知有 </a:t>
            </a:r>
            <a:r>
              <a:rPr lang="en-US" altLang="zh-CN" sz="2000" dirty="0"/>
              <a:t>5 </a:t>
            </a:r>
            <a:r>
              <a:rPr lang="zh-CN" altLang="en-US" sz="2000" dirty="0"/>
              <a:t>个顶点（编号 </a:t>
            </a:r>
            <a:r>
              <a:rPr lang="en-US" altLang="zh-CN" sz="2000" dirty="0"/>
              <a:t>0</a:t>
            </a:r>
            <a:r>
              <a:rPr lang="zh-CN" altLang="en-US" sz="2000" dirty="0"/>
              <a:t>～</a:t>
            </a:r>
            <a:r>
              <a:rPr lang="en-US" altLang="zh-CN" sz="2000" dirty="0"/>
              <a:t>4</a:t>
            </a:r>
            <a:r>
              <a:rPr lang="zh-CN" altLang="en-US" sz="2000" dirty="0"/>
              <a:t>）的无向带权图，其邻接矩阵如下，其中∞表示两点之间无边。</a:t>
            </a:r>
          </a:p>
          <a:p>
            <a:r>
              <a:rPr lang="zh-CN" altLang="en-US" sz="2000" dirty="0"/>
              <a:t>请用 </a:t>
            </a:r>
            <a:r>
              <a:rPr lang="en-US" altLang="zh-CN" sz="2000" dirty="0"/>
              <a:t>Dijkstra </a:t>
            </a:r>
            <a:r>
              <a:rPr lang="zh-CN" altLang="en-US" sz="2000" dirty="0"/>
              <a:t>算法求从顶点 </a:t>
            </a:r>
            <a:r>
              <a:rPr lang="en-US" altLang="zh-CN" sz="2000" dirty="0"/>
              <a:t>0 </a:t>
            </a:r>
            <a:r>
              <a:rPr lang="zh-CN" altLang="en-US" sz="2000" dirty="0"/>
              <a:t>到其余所有顶点的最短路径长度。</a:t>
            </a:r>
          </a:p>
          <a:p>
            <a:r>
              <a:rPr lang="zh-CN" altLang="en-US" sz="2000" dirty="0"/>
              <a:t>邻接矩阵如右图：</a:t>
            </a:r>
            <a:endParaRPr lang="en-US" altLang="zh-CN" sz="2000" dirty="0"/>
          </a:p>
          <a:p>
            <a:endParaRPr lang="en-US" altLang="zh-CN" sz="2000" dirty="0"/>
          </a:p>
          <a:p>
            <a:endParaRPr lang="zh-CN" altLang="en-US" sz="2000" dirty="0"/>
          </a:p>
          <a:p>
            <a:r>
              <a:rPr lang="zh-CN" altLang="en-US" sz="2000" dirty="0"/>
              <a:t>要求：</a:t>
            </a:r>
          </a:p>
          <a:p>
            <a:r>
              <a:rPr lang="en-US" altLang="zh-CN" sz="2000" dirty="0"/>
              <a:t>1. </a:t>
            </a:r>
            <a:r>
              <a:rPr lang="zh-CN" altLang="en-US" sz="2000" dirty="0"/>
              <a:t>画出无向带权图。</a:t>
            </a:r>
          </a:p>
          <a:p>
            <a:r>
              <a:rPr lang="en-US" altLang="zh-CN" sz="2000" dirty="0"/>
              <a:t>2. </a:t>
            </a:r>
            <a:r>
              <a:rPr lang="zh-CN" altLang="en-US" sz="2000" dirty="0"/>
              <a:t>写出每一步选取到 </a:t>
            </a:r>
            <a:r>
              <a:rPr lang="en-US" altLang="zh-CN" sz="2000" dirty="0"/>
              <a:t>S </a:t>
            </a:r>
            <a:r>
              <a:rPr lang="zh-CN" altLang="en-US" sz="2000" dirty="0"/>
              <a:t>的顶点、更新后的距离数组，如书上表 </a:t>
            </a:r>
            <a:r>
              <a:rPr lang="en-US" altLang="zh-CN" sz="2000" dirty="0"/>
              <a:t>4-2</a:t>
            </a:r>
            <a:r>
              <a:rPr lang="zh-CN" altLang="en-US" sz="2000" dirty="0"/>
              <a:t>。</a:t>
            </a:r>
          </a:p>
          <a:p>
            <a:r>
              <a:rPr lang="en-US" altLang="zh-CN" sz="2000" dirty="0"/>
              <a:t>3. </a:t>
            </a:r>
            <a:r>
              <a:rPr lang="zh-CN" altLang="en-US" sz="2000" dirty="0"/>
              <a:t>最终给出顶点 </a:t>
            </a:r>
            <a:r>
              <a:rPr lang="en-US" altLang="zh-CN" sz="2000" dirty="0"/>
              <a:t>0 </a:t>
            </a:r>
            <a:r>
              <a:rPr lang="zh-CN" altLang="en-US" sz="2000" dirty="0"/>
              <a:t>到 </a:t>
            </a:r>
            <a:r>
              <a:rPr lang="en-US" altLang="zh-CN" sz="2000" dirty="0"/>
              <a:t>0,1,2,3,4 </a:t>
            </a:r>
            <a:r>
              <a:rPr lang="zh-CN" altLang="en-US" sz="2000" dirty="0"/>
              <a:t>的最短路径长度。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3AAAA8B-BE76-46E6-AE43-A11F66421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1630845"/>
            <a:ext cx="2016224" cy="188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910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流程图: 接点 7">
            <a:extLst>
              <a:ext uri="{FF2B5EF4-FFF2-40B4-BE49-F238E27FC236}">
                <a16:creationId xmlns:a16="http://schemas.microsoft.com/office/drawing/2014/main" id="{69661FA7-464B-405D-A3A4-89429E668EF3}"/>
              </a:ext>
            </a:extLst>
          </p:cNvPr>
          <p:cNvSpPr/>
          <p:nvPr/>
        </p:nvSpPr>
        <p:spPr>
          <a:xfrm>
            <a:off x="103438" y="254003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流程图: 接点 8">
            <a:extLst>
              <a:ext uri="{FF2B5EF4-FFF2-40B4-BE49-F238E27FC236}">
                <a16:creationId xmlns:a16="http://schemas.microsoft.com/office/drawing/2014/main" id="{243D299D-2AAC-4954-91D1-1095402BB6DC}"/>
              </a:ext>
            </a:extLst>
          </p:cNvPr>
          <p:cNvSpPr/>
          <p:nvPr/>
        </p:nvSpPr>
        <p:spPr>
          <a:xfrm>
            <a:off x="1987278" y="234985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流程图: 接点 9">
            <a:extLst>
              <a:ext uri="{FF2B5EF4-FFF2-40B4-BE49-F238E27FC236}">
                <a16:creationId xmlns:a16="http://schemas.microsoft.com/office/drawing/2014/main" id="{410B615C-96E5-427D-B15D-265458D668D4}"/>
              </a:ext>
            </a:extLst>
          </p:cNvPr>
          <p:cNvSpPr/>
          <p:nvPr/>
        </p:nvSpPr>
        <p:spPr>
          <a:xfrm>
            <a:off x="149265" y="2059944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流程图: 接点 10">
            <a:extLst>
              <a:ext uri="{FF2B5EF4-FFF2-40B4-BE49-F238E27FC236}">
                <a16:creationId xmlns:a16="http://schemas.microsoft.com/office/drawing/2014/main" id="{C11CA58F-11F4-452F-82D8-2815F7AD413C}"/>
              </a:ext>
            </a:extLst>
          </p:cNvPr>
          <p:cNvSpPr/>
          <p:nvPr/>
        </p:nvSpPr>
        <p:spPr>
          <a:xfrm>
            <a:off x="2148923" y="2059944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B1FEC6C3-64A3-42A9-A575-BC889C8F4D98}"/>
              </a:ext>
            </a:extLst>
          </p:cNvPr>
          <p:cNvSpPr/>
          <p:nvPr/>
        </p:nvSpPr>
        <p:spPr>
          <a:xfrm>
            <a:off x="1249068" y="3079443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1F4F29B-B424-41DE-9C07-EC4434ED3B5A}"/>
              </a:ext>
            </a:extLst>
          </p:cNvPr>
          <p:cNvCxnSpPr>
            <a:stCxn id="8" idx="6"/>
            <a:endCxn id="9" idx="2"/>
          </p:cNvCxnSpPr>
          <p:nvPr/>
        </p:nvCxnSpPr>
        <p:spPr>
          <a:xfrm flipV="1">
            <a:off x="560638" y="463585"/>
            <a:ext cx="1426640" cy="190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6969BC4-0C1D-44DC-9728-C4B2D264DECE}"/>
              </a:ext>
            </a:extLst>
          </p:cNvPr>
          <p:cNvCxnSpPr>
            <a:stCxn id="8" idx="4"/>
            <a:endCxn id="10" idx="0"/>
          </p:cNvCxnSpPr>
          <p:nvPr/>
        </p:nvCxnSpPr>
        <p:spPr>
          <a:xfrm>
            <a:off x="332038" y="711203"/>
            <a:ext cx="45827" cy="13487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6460129F-054B-40AF-BC46-F23573BA3EA6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606465" y="2288544"/>
            <a:ext cx="154245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3FCB9BA9-2B1D-4AFF-83E0-3876858E3A52}"/>
              </a:ext>
            </a:extLst>
          </p:cNvPr>
          <p:cNvCxnSpPr/>
          <p:nvPr/>
        </p:nvCxnSpPr>
        <p:spPr>
          <a:xfrm>
            <a:off x="2285071" y="711203"/>
            <a:ext cx="0" cy="13487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23D2B87-035F-48B7-B855-F77564A09443}"/>
              </a:ext>
            </a:extLst>
          </p:cNvPr>
          <p:cNvCxnSpPr>
            <a:cxnSpLocks/>
            <a:stCxn id="10" idx="5"/>
            <a:endCxn id="14" idx="1"/>
          </p:cNvCxnSpPr>
          <p:nvPr/>
        </p:nvCxnSpPr>
        <p:spPr>
          <a:xfrm>
            <a:off x="539510" y="2450189"/>
            <a:ext cx="776513" cy="6962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346CD97-3634-482D-B8BB-DEAE7140E097}"/>
              </a:ext>
            </a:extLst>
          </p:cNvPr>
          <p:cNvCxnSpPr>
            <a:cxnSpLocks/>
            <a:stCxn id="11" idx="3"/>
            <a:endCxn id="14" idx="7"/>
          </p:cNvCxnSpPr>
          <p:nvPr/>
        </p:nvCxnSpPr>
        <p:spPr>
          <a:xfrm flipH="1">
            <a:off x="1639313" y="2450189"/>
            <a:ext cx="576565" cy="6962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E5E677A7-9A05-4089-A45F-76D4D1EECB51}"/>
              </a:ext>
            </a:extLst>
          </p:cNvPr>
          <p:cNvSpPr txBox="1"/>
          <p:nvPr/>
        </p:nvSpPr>
        <p:spPr>
          <a:xfrm>
            <a:off x="1077718" y="11327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586A56E-DDBC-4B92-96D3-7B2609ACDD19}"/>
              </a:ext>
            </a:extLst>
          </p:cNvPr>
          <p:cNvSpPr txBox="1"/>
          <p:nvPr/>
        </p:nvSpPr>
        <p:spPr>
          <a:xfrm>
            <a:off x="1907703" y="2745742"/>
            <a:ext cx="252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B652BE7-1F9A-483E-A45A-7DD19EBC9B5D}"/>
              </a:ext>
            </a:extLst>
          </p:cNvPr>
          <p:cNvSpPr txBox="1"/>
          <p:nvPr/>
        </p:nvSpPr>
        <p:spPr>
          <a:xfrm>
            <a:off x="1020468" y="200003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FFD9DA9-4206-4719-8FAC-2C0E2AA3D853}"/>
              </a:ext>
            </a:extLst>
          </p:cNvPr>
          <p:cNvSpPr txBox="1"/>
          <p:nvPr/>
        </p:nvSpPr>
        <p:spPr>
          <a:xfrm flipH="1">
            <a:off x="107504" y="1196342"/>
            <a:ext cx="312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0FF9BFE-6144-4C83-AF01-55E871CF286C}"/>
              </a:ext>
            </a:extLst>
          </p:cNvPr>
          <p:cNvSpPr txBox="1"/>
          <p:nvPr/>
        </p:nvSpPr>
        <p:spPr>
          <a:xfrm>
            <a:off x="800003" y="275791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7056F973-E1D1-49DD-BA18-4FCE29906B5F}"/>
              </a:ext>
            </a:extLst>
          </p:cNvPr>
          <p:cNvSpPr txBox="1"/>
          <p:nvPr/>
        </p:nvSpPr>
        <p:spPr>
          <a:xfrm>
            <a:off x="2377523" y="1205507"/>
            <a:ext cx="385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A71A72A8-8B8A-4F9E-B249-108B7A5D6D34}"/>
              </a:ext>
            </a:extLst>
          </p:cNvPr>
          <p:cNvCxnSpPr>
            <a:cxnSpLocks/>
            <a:endCxn id="14" idx="0"/>
          </p:cNvCxnSpPr>
          <p:nvPr/>
        </p:nvCxnSpPr>
        <p:spPr>
          <a:xfrm flipH="1">
            <a:off x="1477668" y="681911"/>
            <a:ext cx="651276" cy="23975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F99D52A3-6D9D-4BE0-8412-904F6EA3CD91}"/>
              </a:ext>
            </a:extLst>
          </p:cNvPr>
          <p:cNvSpPr txBox="1"/>
          <p:nvPr/>
        </p:nvSpPr>
        <p:spPr>
          <a:xfrm>
            <a:off x="1646853" y="131298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1881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9EB9D95-3BFA-4886-878D-462109E359E0}"/>
              </a:ext>
            </a:extLst>
          </p:cNvPr>
          <p:cNvSpPr txBox="1"/>
          <p:nvPr/>
        </p:nvSpPr>
        <p:spPr>
          <a:xfrm>
            <a:off x="611560" y="627535"/>
            <a:ext cx="7992888" cy="389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物品数量</a:t>
            </a:r>
            <a:r>
              <a:rPr lang="en-US" altLang="zh-CN" sz="2400" dirty="0"/>
              <a:t>n=3</a:t>
            </a:r>
            <a:r>
              <a:rPr lang="zh-CN" altLang="en-US" sz="2400" dirty="0"/>
              <a:t>，其中背包容量</a:t>
            </a:r>
            <a:r>
              <a:rPr lang="en-US" altLang="zh-CN" sz="2400" dirty="0"/>
              <a:t>C=6</a:t>
            </a:r>
            <a:r>
              <a:rPr lang="zh-CN" altLang="en-US" sz="2400" dirty="0"/>
              <a:t>，每个物品的重量和价值分别为：</a:t>
            </a:r>
            <a:r>
              <a:rPr lang="en-US" altLang="zh-CN" sz="2400" dirty="0"/>
              <a:t>W={2,3,5},V={6,3,10},</a:t>
            </a:r>
            <a:r>
              <a:rPr lang="zh-CN" altLang="en-US" sz="2400" dirty="0"/>
              <a:t>其解空间由长度为</a:t>
            </a:r>
            <a:r>
              <a:rPr lang="en-US" altLang="zh-CN" sz="2400" dirty="0"/>
              <a:t>3</a:t>
            </a:r>
            <a:r>
              <a:rPr lang="zh-CN" altLang="en-US" sz="2400" dirty="0"/>
              <a:t>的</a:t>
            </a:r>
            <a:r>
              <a:rPr lang="en-US" altLang="zh-CN" sz="2400" dirty="0"/>
              <a:t>0-1</a:t>
            </a:r>
            <a:r>
              <a:rPr lang="zh-CN" altLang="en-US" sz="2400" dirty="0"/>
              <a:t>向量组成。请完成：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 （</a:t>
            </a:r>
            <a:r>
              <a:rPr lang="en-US" altLang="zh-CN" sz="2400" dirty="0"/>
              <a:t>1</a:t>
            </a:r>
            <a:r>
              <a:rPr lang="zh-CN" altLang="en-US" sz="2400" dirty="0"/>
              <a:t>）确定 </a:t>
            </a:r>
            <a:r>
              <a:rPr lang="en-US" altLang="zh-CN" sz="2400" dirty="0"/>
              <a:t>0-1 </a:t>
            </a:r>
            <a:r>
              <a:rPr lang="zh-CN" altLang="en-US" sz="2400" dirty="0"/>
              <a:t>背包问题中物品总价值的合理上界，并用贪心算法求出下界； 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 （</a:t>
            </a:r>
            <a:r>
              <a:rPr lang="en-US" altLang="zh-CN" sz="2400" dirty="0"/>
              <a:t>2</a:t>
            </a:r>
            <a:r>
              <a:rPr lang="zh-CN" altLang="en-US" sz="2400" dirty="0"/>
              <a:t>）采用</a:t>
            </a:r>
            <a:r>
              <a:rPr lang="zh-CN" altLang="en-US" sz="2400" b="1" dirty="0"/>
              <a:t>优先队列式分支限界</a:t>
            </a:r>
            <a:r>
              <a:rPr lang="zh-CN" altLang="en-US" sz="2400" dirty="0"/>
              <a:t>法对解空间树进行剪枝，并说明剪枝方法，最后计算出该问题最优值及最优解。</a:t>
            </a:r>
          </a:p>
        </p:txBody>
      </p:sp>
    </p:spTree>
    <p:extLst>
      <p:ext uri="{BB962C8B-B14F-4D97-AF65-F5344CB8AC3E}">
        <p14:creationId xmlns:p14="http://schemas.microsoft.com/office/powerpoint/2010/main" val="743734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FA7C5AA-CF46-48AA-9BA5-FE531F037CDF}"/>
                  </a:ext>
                </a:extLst>
              </p:cNvPr>
              <p:cNvSpPr txBox="1"/>
              <p:nvPr/>
            </p:nvSpPr>
            <p:spPr>
              <a:xfrm>
                <a:off x="899592" y="411510"/>
                <a:ext cx="619268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kern="100" dirty="0">
                    <a:effectLst/>
                    <a:cs typeface="Times New Roman" panose="02020603050405020304" pitchFamily="18" charset="0"/>
                  </a:rPr>
                  <a:t>（</a:t>
                </a:r>
                <a:r>
                  <a:rPr lang="en-US" altLang="zh-CN" kern="100" dirty="0">
                    <a:effectLst/>
                    <a:cs typeface="Times New Roman" panose="02020603050405020304" pitchFamily="18" charset="0"/>
                  </a:rPr>
                  <a:t>1</a:t>
                </a:r>
                <a:r>
                  <a:rPr lang="zh-CN" altLang="en-US" kern="100" dirty="0">
                    <a:effectLst/>
                    <a:cs typeface="Times New Roman" panose="02020603050405020304" pitchFamily="18" charset="0"/>
                  </a:rPr>
                  <a:t>）</a:t>
                </a:r>
                <a:r>
                  <a:rPr lang="zh-CN" altLang="zh-CN" kern="100" dirty="0">
                    <a:effectLst/>
                    <a:cs typeface="Times New Roman" panose="02020603050405020304" pitchFamily="18" charset="0"/>
                  </a:rPr>
                  <a:t>已经装入背包中的物品取得的价值</a:t>
                </a:r>
                <a14:m>
                  <m:oMath xmlns:m="http://schemas.openxmlformats.org/officeDocument/2006/math">
                    <m:r>
                      <a:rPr lang="en-US" altLang="zh-CN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zh-CN" altLang="zh-CN" kern="100" dirty="0">
                    <a:effectLst/>
                    <a:cs typeface="Times New Roman" panose="02020603050405020304" pitchFamily="18" charset="0"/>
                  </a:rPr>
                  <a:t>，背包剩余容量为</a:t>
                </a:r>
                <a14:m>
                  <m:oMath xmlns:m="http://schemas.openxmlformats.org/officeDocument/2006/math">
                    <m:r>
                      <a:rPr lang="en-US" altLang="zh-CN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zh-CN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zh-CN" altLang="zh-CN" kern="100" dirty="0">
                    <a:effectLst/>
                    <a:cs typeface="Times New Roman" panose="02020603050405020304" pitchFamily="18" charset="0"/>
                  </a:rPr>
                  <a:t>，剩下物品的最大单位重量价值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sub>
                    </m:sSub>
                    <m:r>
                      <m:rPr>
                        <m:lit/>
                      </m:rPr>
                      <a:rPr lang="en-US" altLang="zh-CN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sSub>
                      <m:sSub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zh-CN" kern="100" dirty="0">
                    <a:effectLst/>
                    <a:cs typeface="Times New Roman" panose="02020603050405020304" pitchFamily="18" charset="0"/>
                  </a:rPr>
                  <a:t>，则背包总价值上界为</a:t>
                </a:r>
                <a:endParaRPr lang="en-US" altLang="zh-CN" i="1" kern="100" dirty="0"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𝑢𝑏</m:t>
                      </m:r>
                      <m:r>
                        <a:rPr lang="en-US" altLang="zh-CN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altLang="zh-CN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  <m:r>
                            <a:rPr lang="en-US" altLang="zh-CN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</m:d>
                      <m:r>
                        <a:rPr lang="zh-CN" altLang="zh-CN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lit/>
                        </m:rPr>
                        <a:rPr lang="en-US" altLang="zh-CN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</m:t>
                      </m:r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FA7C5AA-CF46-48AA-9BA5-FE531F037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411510"/>
                <a:ext cx="6192688" cy="1200329"/>
              </a:xfrm>
              <a:prstGeom prst="rect">
                <a:avLst/>
              </a:prstGeom>
              <a:blipFill>
                <a:blip r:embed="rId3"/>
                <a:stretch>
                  <a:fillRect l="-887" t="-4082" r="-887" b="-40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18524B2D-ADAE-4A71-AEE1-D83548E7AC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8274631"/>
                  </p:ext>
                </p:extLst>
              </p:nvPr>
            </p:nvGraphicFramePr>
            <p:xfrm>
              <a:off x="2987824" y="2068533"/>
              <a:ext cx="2204096" cy="860293"/>
            </p:xfrm>
            <a:graphic>
              <a:graphicData uri="http://schemas.openxmlformats.org/drawingml/2006/table">
                <a:tbl>
                  <a:tblPr/>
                  <a:tblGrid>
                    <a:gridCol w="551024">
                      <a:extLst>
                        <a:ext uri="{9D8B030D-6E8A-4147-A177-3AD203B41FA5}">
                          <a16:colId xmlns:a16="http://schemas.microsoft.com/office/drawing/2014/main" val="2966488815"/>
                        </a:ext>
                      </a:extLst>
                    </a:gridCol>
                    <a:gridCol w="551024">
                      <a:extLst>
                        <a:ext uri="{9D8B030D-6E8A-4147-A177-3AD203B41FA5}">
                          <a16:colId xmlns:a16="http://schemas.microsoft.com/office/drawing/2014/main" val="3127054335"/>
                        </a:ext>
                      </a:extLst>
                    </a:gridCol>
                    <a:gridCol w="551024">
                      <a:extLst>
                        <a:ext uri="{9D8B030D-6E8A-4147-A177-3AD203B41FA5}">
                          <a16:colId xmlns:a16="http://schemas.microsoft.com/office/drawing/2014/main" val="478305677"/>
                        </a:ext>
                      </a:extLst>
                    </a:gridCol>
                    <a:gridCol w="551024">
                      <a:extLst>
                        <a:ext uri="{9D8B030D-6E8A-4147-A177-3AD203B41FA5}">
                          <a16:colId xmlns:a16="http://schemas.microsoft.com/office/drawing/2014/main" val="2379761501"/>
                        </a:ext>
                      </a:extLst>
                    </a:gridCol>
                  </a:tblGrid>
                  <a:tr h="378201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zh-CN" sz="16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600" kern="100" dirty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a:t>1</a:t>
                          </a:r>
                          <a:endParaRPr lang="zh-CN" sz="16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600" kern="100" dirty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a:t>2</a:t>
                          </a:r>
                          <a:endParaRPr lang="zh-CN" sz="16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600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a:t>3</a:t>
                          </a:r>
                          <a:endParaRPr lang="zh-CN" sz="16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09696830"/>
                      </a:ext>
                    </a:extLst>
                  </a:tr>
                  <a:tr h="378201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6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m:rPr>
                                    <m:lit/>
                                  </m:rP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/</m:t>
                                </m:r>
                                <m:sSub>
                                  <m:sSubPr>
                                    <m:ctrlPr>
                                      <a:rPr lang="zh-CN" sz="16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1600" kern="100" dirty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a:t>3</a:t>
                          </a:r>
                          <a:endParaRPr lang="zh-CN" sz="16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1600" kern="100" dirty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a:t>1</a:t>
                          </a:r>
                          <a:endParaRPr lang="zh-CN" sz="16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1600" kern="100" dirty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a:t>2</a:t>
                          </a:r>
                          <a:endParaRPr lang="zh-CN" sz="16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0670519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18524B2D-ADAE-4A71-AEE1-D83548E7AC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8274631"/>
                  </p:ext>
                </p:extLst>
              </p:nvPr>
            </p:nvGraphicFramePr>
            <p:xfrm>
              <a:off x="2987824" y="2068533"/>
              <a:ext cx="2204096" cy="860293"/>
            </p:xfrm>
            <a:graphic>
              <a:graphicData uri="http://schemas.openxmlformats.org/drawingml/2006/table">
                <a:tbl>
                  <a:tblPr/>
                  <a:tblGrid>
                    <a:gridCol w="551024">
                      <a:extLst>
                        <a:ext uri="{9D8B030D-6E8A-4147-A177-3AD203B41FA5}">
                          <a16:colId xmlns:a16="http://schemas.microsoft.com/office/drawing/2014/main" val="2966488815"/>
                        </a:ext>
                      </a:extLst>
                    </a:gridCol>
                    <a:gridCol w="551024">
                      <a:extLst>
                        <a:ext uri="{9D8B030D-6E8A-4147-A177-3AD203B41FA5}">
                          <a16:colId xmlns:a16="http://schemas.microsoft.com/office/drawing/2014/main" val="3127054335"/>
                        </a:ext>
                      </a:extLst>
                    </a:gridCol>
                    <a:gridCol w="551024">
                      <a:extLst>
                        <a:ext uri="{9D8B030D-6E8A-4147-A177-3AD203B41FA5}">
                          <a16:colId xmlns:a16="http://schemas.microsoft.com/office/drawing/2014/main" val="478305677"/>
                        </a:ext>
                      </a:extLst>
                    </a:gridCol>
                    <a:gridCol w="551024">
                      <a:extLst>
                        <a:ext uri="{9D8B030D-6E8A-4147-A177-3AD203B41FA5}">
                          <a16:colId xmlns:a16="http://schemas.microsoft.com/office/drawing/2014/main" val="2379761501"/>
                        </a:ext>
                      </a:extLst>
                    </a:gridCol>
                  </a:tblGrid>
                  <a:tr h="37820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99" t="-1613" r="-300000" b="-15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600" kern="100" dirty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a:t>1</a:t>
                          </a:r>
                          <a:endParaRPr lang="zh-CN" sz="16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600" kern="100" dirty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a:t>2</a:t>
                          </a:r>
                          <a:endParaRPr lang="zh-CN" sz="16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600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a:t>3</a:t>
                          </a:r>
                          <a:endParaRPr lang="zh-CN" sz="16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09696830"/>
                      </a:ext>
                    </a:extLst>
                  </a:tr>
                  <a:tr h="48209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99" t="-78750" r="-300000" b="-1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1600" kern="100" dirty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a:t>3</a:t>
                          </a:r>
                          <a:endParaRPr lang="zh-CN" sz="16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1600" kern="100" dirty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a:t>1</a:t>
                          </a:r>
                          <a:endParaRPr lang="zh-CN" sz="16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1600" kern="100" dirty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a:t>2</a:t>
                          </a:r>
                          <a:endParaRPr lang="zh-CN" sz="16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0670519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Rectangle 1">
            <a:extLst>
              <a:ext uri="{FF2B5EF4-FFF2-40B4-BE49-F238E27FC236}">
                <a16:creationId xmlns:a16="http://schemas.microsoft.com/office/drawing/2014/main" id="{BFCDF42D-3328-428B-A5F4-93A87A02B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661" y="3117036"/>
            <a:ext cx="765061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将物品按单位重量价值由大到小排列，可得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在背包容量容许的条件下，依次装入单位重量价值最大物品，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背包物品价值初始下界为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6+3=9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，对应物品放入情况为</a:t>
            </a:r>
            <a:r>
              <a:rPr kumimoji="0" lang="en-US" altLang="zh-CN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{1,1,0}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634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306858D-5BC2-4960-B2B2-142B57901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699542"/>
            <a:ext cx="8363272" cy="339447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b="0" i="0" dirty="0">
                <a:effectLst/>
                <a:latin typeface="Inter"/>
              </a:rPr>
              <a:t>一、</a:t>
            </a:r>
            <a:r>
              <a:rPr lang="zh-CN" altLang="en-US" sz="2800" b="0" i="0" dirty="0">
                <a:effectLst/>
                <a:latin typeface="Inter"/>
              </a:rPr>
              <a:t>在有序数组 </a:t>
            </a:r>
            <a:r>
              <a:rPr lang="en-US" altLang="zh-CN" sz="2800" b="0" i="0" dirty="0">
                <a:effectLst/>
                <a:latin typeface="Inter"/>
              </a:rPr>
              <a:t>[2, 5, 8, 12, 16, 23, 38, 56, 72, 91] </a:t>
            </a:r>
            <a:r>
              <a:rPr lang="zh-CN" altLang="en-US" sz="2800" b="0" i="0" dirty="0">
                <a:effectLst/>
                <a:latin typeface="Inter"/>
              </a:rPr>
              <a:t>中，使用二分查找算法查找元素 </a:t>
            </a:r>
            <a:r>
              <a:rPr lang="en-US" altLang="zh-CN" sz="2800" b="0" i="0" dirty="0">
                <a:effectLst/>
                <a:latin typeface="Inter"/>
              </a:rPr>
              <a:t>23</a:t>
            </a:r>
            <a:r>
              <a:rPr lang="zh-CN" altLang="en-US" sz="2800" b="0" i="0" dirty="0">
                <a:effectLst/>
                <a:latin typeface="Inter"/>
              </a:rPr>
              <a:t>。请写出每一次查找时，数组的左边界、右边界、中间位置的索引值，以及中间位置对应的元素值，直到找到目标元素为止。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865795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5DC2736-4D7C-449C-B86A-25719902D3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000819"/>
              </p:ext>
            </p:extLst>
          </p:nvPr>
        </p:nvGraphicFramePr>
        <p:xfrm>
          <a:off x="1475656" y="483518"/>
          <a:ext cx="7128792" cy="3456385"/>
        </p:xfrm>
        <a:graphic>
          <a:graphicData uri="http://schemas.openxmlformats.org/drawingml/2006/table">
            <a:tbl>
              <a:tblPr/>
              <a:tblGrid>
                <a:gridCol w="1782198">
                  <a:extLst>
                    <a:ext uri="{9D8B030D-6E8A-4147-A177-3AD203B41FA5}">
                      <a16:colId xmlns:a16="http://schemas.microsoft.com/office/drawing/2014/main" val="1703670025"/>
                    </a:ext>
                  </a:extLst>
                </a:gridCol>
                <a:gridCol w="1782198">
                  <a:extLst>
                    <a:ext uri="{9D8B030D-6E8A-4147-A177-3AD203B41FA5}">
                      <a16:colId xmlns:a16="http://schemas.microsoft.com/office/drawing/2014/main" val="2766214556"/>
                    </a:ext>
                  </a:extLst>
                </a:gridCol>
                <a:gridCol w="1782198">
                  <a:extLst>
                    <a:ext uri="{9D8B030D-6E8A-4147-A177-3AD203B41FA5}">
                      <a16:colId xmlns:a16="http://schemas.microsoft.com/office/drawing/2014/main" val="1813751157"/>
                    </a:ext>
                  </a:extLst>
                </a:gridCol>
                <a:gridCol w="1782198">
                  <a:extLst>
                    <a:ext uri="{9D8B030D-6E8A-4147-A177-3AD203B41FA5}">
                      <a16:colId xmlns:a16="http://schemas.microsoft.com/office/drawing/2014/main" val="1328410907"/>
                    </a:ext>
                  </a:extLst>
                </a:gridCol>
              </a:tblGrid>
              <a:tr h="1252939"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</a:rPr>
                        <a:t>查找次数</a:t>
                      </a:r>
                    </a:p>
                  </a:txBody>
                  <a:tcPr marL="50800" marR="50800" marT="57150" marB="57150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</a:rPr>
                        <a:t>左边界 </a:t>
                      </a:r>
                      <a:r>
                        <a:rPr lang="en-US">
                          <a:effectLst/>
                        </a:rPr>
                        <a:t>left</a:t>
                      </a:r>
                    </a:p>
                  </a:txBody>
                  <a:tcPr marL="50800" marR="50800" marT="57150" marB="57150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</a:rPr>
                        <a:t>右边界 </a:t>
                      </a:r>
                      <a:r>
                        <a:rPr lang="en-US">
                          <a:effectLst/>
                        </a:rPr>
                        <a:t>right</a:t>
                      </a:r>
                    </a:p>
                  </a:txBody>
                  <a:tcPr marL="50800" marR="50800" marT="57150" marB="57150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</a:rPr>
                        <a:t>中间位置索引 </a:t>
                      </a:r>
                      <a:r>
                        <a:rPr lang="en-US">
                          <a:effectLst/>
                        </a:rPr>
                        <a:t>mid</a:t>
                      </a:r>
                    </a:p>
                  </a:txBody>
                  <a:tcPr marL="50800" marR="50800" marT="57150" marB="57150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2403997"/>
                  </a:ext>
                </a:extLst>
              </a:tr>
              <a:tr h="734482">
                <a:tc>
                  <a:txBody>
                    <a:bodyPr/>
                    <a:lstStyle/>
                    <a:p>
                      <a:pPr fontAlgn="t"/>
                      <a:r>
                        <a:rPr lang="en-US" altLang="zh-CN" dirty="0">
                          <a:effectLst/>
                        </a:rPr>
                        <a:t>1</a:t>
                      </a:r>
                    </a:p>
                  </a:txBody>
                  <a:tcPr marL="50800" marR="50800" marT="57150" marB="57150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</a:rPr>
                        <a:t>0</a:t>
                      </a:r>
                    </a:p>
                  </a:txBody>
                  <a:tcPr marL="50800" marR="50800" marT="57150" marB="57150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</a:rPr>
                        <a:t>9</a:t>
                      </a:r>
                    </a:p>
                  </a:txBody>
                  <a:tcPr marL="50800" marR="50800" marT="57150" marB="57150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</a:rPr>
                        <a:t>4</a:t>
                      </a:r>
                    </a:p>
                  </a:txBody>
                  <a:tcPr marL="50800" marR="50800" marT="57150" marB="57150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6169000"/>
                  </a:ext>
                </a:extLst>
              </a:tr>
              <a:tr h="734482"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</a:rPr>
                        <a:t>2</a:t>
                      </a:r>
                    </a:p>
                  </a:txBody>
                  <a:tcPr marL="50800" marR="50800" marT="57150" marB="57150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</a:rPr>
                        <a:t>5</a:t>
                      </a:r>
                    </a:p>
                  </a:txBody>
                  <a:tcPr marL="50800" marR="50800" marT="57150" marB="57150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</a:rPr>
                        <a:t>9</a:t>
                      </a:r>
                    </a:p>
                  </a:txBody>
                  <a:tcPr marL="50800" marR="50800" marT="57150" marB="57150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</a:rPr>
                        <a:t>7</a:t>
                      </a:r>
                    </a:p>
                  </a:txBody>
                  <a:tcPr marL="50800" marR="50800" marT="57150" marB="57150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7150638"/>
                  </a:ext>
                </a:extLst>
              </a:tr>
              <a:tr h="734482"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</a:rPr>
                        <a:t>3</a:t>
                      </a:r>
                    </a:p>
                  </a:txBody>
                  <a:tcPr marL="50800" marR="50800" marT="57150" marB="57150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</a:rPr>
                        <a:t>5</a:t>
                      </a:r>
                    </a:p>
                  </a:txBody>
                  <a:tcPr marL="50800" marR="50800" marT="57150" marB="57150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</a:rPr>
                        <a:t>6</a:t>
                      </a:r>
                    </a:p>
                  </a:txBody>
                  <a:tcPr marL="50800" marR="50800" marT="57150" marB="57150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dirty="0">
                          <a:effectLst/>
                        </a:rPr>
                        <a:t>5</a:t>
                      </a:r>
                    </a:p>
                  </a:txBody>
                  <a:tcPr marL="50800" marR="50800" marT="57150" marB="57150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02671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BC19B577-E00E-467F-ADD2-2E601E5F4776}"/>
              </a:ext>
            </a:extLst>
          </p:cNvPr>
          <p:cNvSpPr txBox="1"/>
          <p:nvPr/>
        </p:nvSpPr>
        <p:spPr>
          <a:xfrm>
            <a:off x="395536" y="48351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一、</a:t>
            </a:r>
          </a:p>
        </p:txBody>
      </p:sp>
    </p:spTree>
    <p:extLst>
      <p:ext uri="{BB962C8B-B14F-4D97-AF65-F5344CB8AC3E}">
        <p14:creationId xmlns:p14="http://schemas.microsoft.com/office/powerpoint/2010/main" val="1894255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48E4AAB6-8407-46D0-86BD-A575EBD5A37D}"/>
              </a:ext>
            </a:extLst>
          </p:cNvPr>
          <p:cNvSpPr txBox="1"/>
          <p:nvPr/>
        </p:nvSpPr>
        <p:spPr>
          <a:xfrm>
            <a:off x="611560" y="555526"/>
            <a:ext cx="72008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>
              <a:lnSpc>
                <a:spcPct val="150000"/>
              </a:lnSpc>
            </a:pPr>
            <a:r>
              <a:rPr lang="zh-CN" altLang="en-US" sz="2800" b="0" i="0" dirty="0">
                <a:effectLst/>
                <a:latin typeface="Inter"/>
              </a:rPr>
              <a:t>二、已知有三个矩阵 ​</a:t>
            </a:r>
            <a:r>
              <a:rPr lang="en-US" altLang="zh-CN" sz="2800" b="0" i="1" dirty="0">
                <a:effectLst/>
                <a:latin typeface="KaTeX_Math"/>
              </a:rPr>
              <a:t>A</a:t>
            </a:r>
            <a:r>
              <a:rPr lang="zh-CN" altLang="en-US" sz="2800" b="0" i="0" dirty="0">
                <a:effectLst/>
                <a:latin typeface="Inter"/>
              </a:rPr>
              <a:t>、​</a:t>
            </a:r>
            <a:r>
              <a:rPr lang="en-US" altLang="zh-CN" sz="2800" b="0" i="1" dirty="0">
                <a:effectLst/>
                <a:latin typeface="KaTeX_Math"/>
              </a:rPr>
              <a:t>B</a:t>
            </a:r>
            <a:r>
              <a:rPr lang="zh-CN" altLang="en-US" sz="2800" b="0" i="0" dirty="0">
                <a:effectLst/>
                <a:latin typeface="Inter"/>
              </a:rPr>
              <a:t>、​</a:t>
            </a:r>
            <a:r>
              <a:rPr lang="en-US" altLang="zh-CN" sz="2800" b="0" i="1" dirty="0">
                <a:effectLst/>
                <a:latin typeface="KaTeX_Math"/>
              </a:rPr>
              <a:t>C</a:t>
            </a:r>
            <a:r>
              <a:rPr lang="zh-CN" altLang="en-US" sz="2800" b="0" i="0" dirty="0">
                <a:effectLst/>
                <a:latin typeface="Inter"/>
              </a:rPr>
              <a:t>，它们的维度分别为 ​</a:t>
            </a:r>
            <a:r>
              <a:rPr lang="en-US" altLang="zh-CN" sz="2800" b="0" i="0" dirty="0">
                <a:effectLst/>
                <a:latin typeface="KaTeX_Main"/>
              </a:rPr>
              <a:t>2×3</a:t>
            </a:r>
            <a:r>
              <a:rPr lang="zh-CN" altLang="en-US" sz="2800" b="0" i="0" dirty="0">
                <a:effectLst/>
                <a:latin typeface="KaTeX_Main"/>
              </a:rPr>
              <a:t>、</a:t>
            </a:r>
            <a:r>
              <a:rPr lang="en-US" altLang="zh-CN" sz="2800" b="0" i="0" dirty="0">
                <a:effectLst/>
                <a:latin typeface="KaTeX_Main"/>
              </a:rPr>
              <a:t>3×4</a:t>
            </a:r>
            <a:r>
              <a:rPr lang="zh-CN" altLang="en-US" sz="2800" dirty="0">
                <a:latin typeface="Inter"/>
              </a:rPr>
              <a:t>、</a:t>
            </a:r>
            <a:r>
              <a:rPr lang="zh-CN" altLang="en-US" sz="2800" b="0" i="0" dirty="0">
                <a:effectLst/>
                <a:latin typeface="Inter"/>
              </a:rPr>
              <a:t>​</a:t>
            </a:r>
            <a:r>
              <a:rPr lang="en-US" altLang="zh-CN" sz="2800" b="0" i="0" dirty="0">
                <a:effectLst/>
                <a:latin typeface="KaTeX_Main"/>
              </a:rPr>
              <a:t>4×5</a:t>
            </a:r>
            <a:r>
              <a:rPr lang="zh-CN" altLang="en-US" sz="2800" b="0" i="0" dirty="0">
                <a:effectLst/>
                <a:latin typeface="Inter"/>
              </a:rPr>
              <a:t>。使用动态规划算法计算矩阵连乘 ​</a:t>
            </a:r>
            <a:r>
              <a:rPr lang="en-US" altLang="zh-CN" sz="2800" b="0" i="1" dirty="0">
                <a:effectLst/>
                <a:latin typeface="KaTeX_Math"/>
              </a:rPr>
              <a:t>A</a:t>
            </a:r>
            <a:r>
              <a:rPr lang="en-US" altLang="zh-CN" sz="2800" b="0" i="0" dirty="0">
                <a:effectLst/>
                <a:latin typeface="KaTeX_Main"/>
              </a:rPr>
              <a:t>×</a:t>
            </a:r>
            <a:r>
              <a:rPr lang="en-US" altLang="zh-CN" sz="2800" b="0" i="1" dirty="0">
                <a:effectLst/>
                <a:latin typeface="KaTeX_Math"/>
              </a:rPr>
              <a:t>B</a:t>
            </a:r>
            <a:r>
              <a:rPr lang="en-US" altLang="zh-CN" sz="2800" b="0" i="0" dirty="0">
                <a:effectLst/>
                <a:latin typeface="KaTeX_Main"/>
              </a:rPr>
              <a:t>×</a:t>
            </a:r>
            <a:r>
              <a:rPr lang="en-US" altLang="zh-CN" sz="2800" b="0" i="1" dirty="0">
                <a:effectLst/>
                <a:latin typeface="KaTeX_Math"/>
              </a:rPr>
              <a:t>C</a:t>
            </a:r>
            <a:r>
              <a:rPr lang="zh-CN" altLang="en-US" sz="2800" b="0" i="0" dirty="0">
                <a:effectLst/>
                <a:latin typeface="Inter"/>
              </a:rPr>
              <a:t>的最少乘法次数，并给出最优的计算顺序。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50790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122FCF7-FFED-4806-AC2F-469FE09CA76E}"/>
              </a:ext>
            </a:extLst>
          </p:cNvPr>
          <p:cNvSpPr txBox="1"/>
          <p:nvPr/>
        </p:nvSpPr>
        <p:spPr>
          <a:xfrm>
            <a:off x="467544" y="555526"/>
            <a:ext cx="8352928" cy="273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>
              <a:lnSpc>
                <a:spcPct val="150000"/>
              </a:lnSpc>
            </a:pPr>
            <a:r>
              <a:rPr lang="zh-CN" altLang="en-US" sz="2800" i="0" dirty="0">
                <a:effectLst/>
                <a:latin typeface="Inter"/>
              </a:rPr>
              <a:t>三、设有四个矩阵 ​</a:t>
            </a:r>
            <a:r>
              <a:rPr lang="en-US" altLang="zh-CN" sz="2800" i="1" dirty="0">
                <a:effectLst/>
                <a:latin typeface="KaTeX_Math"/>
              </a:rPr>
              <a:t>M</a:t>
            </a:r>
            <a:r>
              <a:rPr lang="en-US" altLang="zh-CN" sz="2800" i="0" dirty="0">
                <a:effectLst/>
                <a:latin typeface="KaTeX_Main"/>
              </a:rPr>
              <a:t>1​</a:t>
            </a:r>
            <a:r>
              <a:rPr lang="zh-CN" altLang="en-US" sz="2800" i="0" dirty="0">
                <a:effectLst/>
                <a:latin typeface="Inter"/>
              </a:rPr>
              <a:t>、​</a:t>
            </a:r>
            <a:r>
              <a:rPr lang="en-US" altLang="zh-CN" sz="2800" i="1" dirty="0">
                <a:effectLst/>
                <a:latin typeface="KaTeX_Math"/>
              </a:rPr>
              <a:t>M</a:t>
            </a:r>
            <a:r>
              <a:rPr lang="en-US" altLang="zh-CN" sz="2800" i="0" dirty="0">
                <a:effectLst/>
                <a:latin typeface="KaTeX_Main"/>
              </a:rPr>
              <a:t>2​</a:t>
            </a:r>
            <a:r>
              <a:rPr lang="zh-CN" altLang="en-US" sz="2800" i="0" dirty="0">
                <a:effectLst/>
                <a:latin typeface="Inter"/>
              </a:rPr>
              <a:t>、​</a:t>
            </a:r>
            <a:r>
              <a:rPr lang="en-US" altLang="zh-CN" sz="2800" i="1" dirty="0">
                <a:effectLst/>
                <a:latin typeface="KaTeX_Math"/>
              </a:rPr>
              <a:t>M</a:t>
            </a:r>
            <a:r>
              <a:rPr lang="en-US" altLang="zh-CN" sz="2800" i="0" dirty="0">
                <a:effectLst/>
                <a:latin typeface="KaTeX_Main"/>
              </a:rPr>
              <a:t>3​</a:t>
            </a:r>
            <a:r>
              <a:rPr lang="zh-CN" altLang="en-US" sz="2800" i="0" dirty="0">
                <a:effectLst/>
                <a:latin typeface="Inter"/>
              </a:rPr>
              <a:t>、​</a:t>
            </a:r>
            <a:r>
              <a:rPr lang="en-US" altLang="zh-CN" sz="2800" i="1" dirty="0">
                <a:effectLst/>
                <a:latin typeface="KaTeX_Math"/>
              </a:rPr>
              <a:t>M</a:t>
            </a:r>
            <a:r>
              <a:rPr lang="en-US" altLang="zh-CN" sz="2800" i="0" dirty="0">
                <a:effectLst/>
                <a:latin typeface="KaTeX_Main"/>
              </a:rPr>
              <a:t>4​</a:t>
            </a:r>
            <a:r>
              <a:rPr lang="zh-CN" altLang="en-US" sz="2800" i="0" dirty="0">
                <a:effectLst/>
                <a:latin typeface="Inter"/>
              </a:rPr>
              <a:t>，它们的维度分别为 ​</a:t>
            </a:r>
            <a:r>
              <a:rPr lang="en-US" altLang="zh-CN" sz="2800" i="0" dirty="0">
                <a:effectLst/>
                <a:latin typeface="KaTeX_Main"/>
              </a:rPr>
              <a:t>3×5</a:t>
            </a:r>
            <a:r>
              <a:rPr lang="zh-CN" altLang="en-US" sz="2800" i="0" dirty="0">
                <a:effectLst/>
                <a:latin typeface="Inter"/>
              </a:rPr>
              <a:t>、​</a:t>
            </a:r>
            <a:r>
              <a:rPr lang="en-US" altLang="zh-CN" sz="2800" i="0" dirty="0">
                <a:effectLst/>
                <a:latin typeface="KaTeX_Main"/>
              </a:rPr>
              <a:t>5×2</a:t>
            </a:r>
            <a:r>
              <a:rPr lang="zh-CN" altLang="en-US" sz="2800" i="0" dirty="0">
                <a:effectLst/>
                <a:latin typeface="Inter"/>
              </a:rPr>
              <a:t>、​</a:t>
            </a:r>
            <a:r>
              <a:rPr lang="en-US" altLang="zh-CN" sz="2800" i="0" dirty="0">
                <a:effectLst/>
                <a:latin typeface="KaTeX_Main"/>
              </a:rPr>
              <a:t>2×7</a:t>
            </a:r>
            <a:r>
              <a:rPr lang="zh-CN" altLang="en-US" sz="2800" i="0" dirty="0">
                <a:effectLst/>
                <a:latin typeface="Inter"/>
              </a:rPr>
              <a:t>、​</a:t>
            </a:r>
            <a:r>
              <a:rPr lang="en-US" altLang="zh-CN" sz="2800" i="0" dirty="0">
                <a:effectLst/>
                <a:latin typeface="KaTeX_Main"/>
              </a:rPr>
              <a:t>7×4</a:t>
            </a:r>
            <a:r>
              <a:rPr lang="zh-CN" altLang="en-US" sz="2800" i="0" dirty="0">
                <a:effectLst/>
                <a:latin typeface="Inter"/>
              </a:rPr>
              <a:t>。请运用动态规划算法求解矩阵连乘 ​</a:t>
            </a:r>
            <a:r>
              <a:rPr lang="en-US" altLang="zh-CN" sz="2800" i="1" dirty="0">
                <a:effectLst/>
                <a:latin typeface="KaTeX_Math"/>
              </a:rPr>
              <a:t>M</a:t>
            </a:r>
            <a:r>
              <a:rPr lang="en-US" altLang="zh-CN" sz="2800" i="0" dirty="0">
                <a:effectLst/>
                <a:latin typeface="KaTeX_Main"/>
              </a:rPr>
              <a:t>1​×</a:t>
            </a:r>
            <a:r>
              <a:rPr lang="en-US" altLang="zh-CN" sz="2800" i="1" dirty="0">
                <a:effectLst/>
                <a:latin typeface="KaTeX_Math"/>
              </a:rPr>
              <a:t>M</a:t>
            </a:r>
            <a:r>
              <a:rPr lang="en-US" altLang="zh-CN" sz="2800" i="0" dirty="0">
                <a:effectLst/>
                <a:latin typeface="KaTeX_Main"/>
              </a:rPr>
              <a:t>2​×</a:t>
            </a:r>
            <a:r>
              <a:rPr lang="en-US" altLang="zh-CN" sz="2800" i="1" dirty="0">
                <a:effectLst/>
                <a:latin typeface="KaTeX_Math"/>
              </a:rPr>
              <a:t>M</a:t>
            </a:r>
            <a:r>
              <a:rPr lang="en-US" altLang="zh-CN" sz="2800" i="0" dirty="0">
                <a:effectLst/>
                <a:latin typeface="KaTeX_Main"/>
              </a:rPr>
              <a:t>3​×</a:t>
            </a:r>
            <a:r>
              <a:rPr lang="en-US" altLang="zh-CN" sz="2800" i="1" dirty="0">
                <a:effectLst/>
                <a:latin typeface="KaTeX_Math"/>
              </a:rPr>
              <a:t>M</a:t>
            </a:r>
            <a:r>
              <a:rPr lang="en-US" altLang="zh-CN" sz="2800" i="0" dirty="0">
                <a:effectLst/>
                <a:latin typeface="KaTeX_Main"/>
              </a:rPr>
              <a:t>4​</a:t>
            </a:r>
            <a:r>
              <a:rPr lang="zh-CN" altLang="en-US" sz="2800" i="0" dirty="0">
                <a:effectLst/>
                <a:latin typeface="Inter"/>
              </a:rPr>
              <a:t>的最少乘法运算次数。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65345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74D2E84-CB35-44E4-8D55-544C1EBF3E31}"/>
              </a:ext>
            </a:extLst>
          </p:cNvPr>
          <p:cNvSpPr txBox="1"/>
          <p:nvPr/>
        </p:nvSpPr>
        <p:spPr>
          <a:xfrm>
            <a:off x="25152" y="51470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二、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AFFE002-02BC-4F73-9B07-CB9B24AC6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483518"/>
            <a:ext cx="8303723" cy="244827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5839286-3DD4-49FE-B2DB-9917AEFD8F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109537"/>
            <a:ext cx="8110289" cy="5076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535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BA9A411-3A55-46ED-8356-5DF2727FB00E}"/>
              </a:ext>
            </a:extLst>
          </p:cNvPr>
          <p:cNvSpPr txBox="1"/>
          <p:nvPr/>
        </p:nvSpPr>
        <p:spPr>
          <a:xfrm>
            <a:off x="467544" y="627534"/>
            <a:ext cx="84249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三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采用合并排序算法，其中合并与复制操作的时间复杂度为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，请给出合并排序算法时间复杂度的递推公式，并证明其时间复杂度为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i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sz="2800" i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7871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639303C-818D-41B6-9B82-6D29ED2A0A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562243"/>
            <a:ext cx="6120680" cy="438048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10669D8-057B-42A4-9351-992A973E08F6}"/>
              </a:ext>
            </a:extLst>
          </p:cNvPr>
          <p:cNvSpPr txBox="1"/>
          <p:nvPr/>
        </p:nvSpPr>
        <p:spPr>
          <a:xfrm>
            <a:off x="755576" y="69954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三、</a:t>
            </a:r>
          </a:p>
        </p:txBody>
      </p:sp>
    </p:spTree>
    <p:extLst>
      <p:ext uri="{BB962C8B-B14F-4D97-AF65-F5344CB8AC3E}">
        <p14:creationId xmlns:p14="http://schemas.microsoft.com/office/powerpoint/2010/main" val="4154924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5B68627-228F-4EFF-88F6-2016E966EDF2}"/>
                  </a:ext>
                </a:extLst>
              </p:cNvPr>
              <p:cNvSpPr txBox="1"/>
              <p:nvPr/>
            </p:nvSpPr>
            <p:spPr>
              <a:xfrm>
                <a:off x="683568" y="627534"/>
                <a:ext cx="7920880" cy="34440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50000"/>
                  </a:lnSpc>
                </a:pPr>
                <a:r>
                  <a:rPr lang="zh-CN" altLang="en-US" sz="2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四、</a:t>
                </a:r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已知有向图的邻接矩阵如下，绘制出该有向图，并给出从顶点</a:t>
                </a:r>
                <a:r>
                  <a:rPr lang="en-US" altLang="zh-CN" sz="2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出发的一种深度优先遍历序列。</a:t>
                </a:r>
                <a:endParaRPr lang="zh-CN" altLang="zh-CN" sz="28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zh-CN" sz="2400" kern="100" dirty="0">
                  <a:effectLst/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5B68627-228F-4EFF-88F6-2016E966E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627534"/>
                <a:ext cx="7920880" cy="3444020"/>
              </a:xfrm>
              <a:prstGeom prst="rect">
                <a:avLst/>
              </a:prstGeom>
              <a:blipFill>
                <a:blip r:embed="rId3"/>
                <a:stretch>
                  <a:fillRect l="-1540" r="-60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1898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ED2DF02-66AD-4A83-9350-611CE295C4E9}"/>
                  </a:ext>
                </a:extLst>
              </p:cNvPr>
              <p:cNvSpPr txBox="1"/>
              <p:nvPr/>
            </p:nvSpPr>
            <p:spPr>
              <a:xfrm>
                <a:off x="827584" y="-308570"/>
                <a:ext cx="7632848" cy="532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4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五、</a:t>
                </a:r>
                <a:r>
                  <a:rPr lang="zh-CN" altLang="zh-CN" sz="24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已知无向图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r>
                  <a:rPr lang="zh-CN" altLang="zh-CN" sz="24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的邻接矩阵</a:t>
                </a:r>
                <a14:m>
                  <m:oMath xmlns:m="http://schemas.openxmlformats.org/officeDocument/2006/math">
                    <m:r>
                      <a:rPr lang="en-US" altLang="zh-CN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CN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5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∞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zh-CN" sz="24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zh-CN" altLang="zh-CN" sz="2400" dirty="0">
                  <a:effectLst/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endParaRPr lang="en-US" altLang="zh-CN" sz="24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zh-CN" sz="24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dirty="0">
                    <a:effectLst/>
                    <a:latin typeface="Times New Roman" panose="02020603050405020304" pitchFamily="18" charset="0"/>
                    <a:cs typeface="宋体" panose="02010600030101010101" pitchFamily="2" charset="-122"/>
                  </a:rPr>
                  <a:t>a</a:t>
                </a:r>
                <a:r>
                  <a:rPr lang="zh-CN" altLang="zh-CN" sz="24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）画出邻接矩阵</a:t>
                </a:r>
                <a14:m>
                  <m:oMath xmlns:m="http://schemas.openxmlformats.org/officeDocument/2006/math">
                    <m:r>
                      <a:rPr lang="en-US" altLang="zh-CN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zh-CN" altLang="zh-CN" sz="24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所表示的无向图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r>
                  <a:rPr lang="zh-CN" altLang="zh-CN" sz="24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；</a:t>
                </a:r>
                <a:endParaRPr lang="en-US" altLang="zh-CN" sz="24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zh-CN" sz="24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dirty="0">
                    <a:effectLst/>
                    <a:latin typeface="Times New Roman" panose="02020603050405020304" pitchFamily="18" charset="0"/>
                    <a:cs typeface="宋体" panose="02010600030101010101" pitchFamily="2" charset="-122"/>
                  </a:rPr>
                  <a:t>b</a:t>
                </a:r>
                <a:r>
                  <a:rPr lang="zh-CN" altLang="zh-CN" sz="24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）给出所有从顶点</a:t>
                </a:r>
                <a:r>
                  <a:rPr lang="en-US" altLang="zh-CN" sz="2400" dirty="0">
                    <a:effectLst/>
                    <a:latin typeface="Times New Roman" panose="02020603050405020304" pitchFamily="18" charset="0"/>
                    <a:cs typeface="宋体" panose="02010600030101010101" pitchFamily="2" charset="-122"/>
                  </a:rPr>
                  <a:t>1</a:t>
                </a:r>
                <a:r>
                  <a:rPr lang="zh-CN" altLang="zh-CN" sz="24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出发的广度优先遍历序列；</a:t>
                </a:r>
                <a:endParaRPr lang="en-US" altLang="zh-CN" sz="24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zh-CN" sz="24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dirty="0">
                    <a:effectLst/>
                    <a:latin typeface="Times New Roman" panose="02020603050405020304" pitchFamily="18" charset="0"/>
                    <a:cs typeface="宋体" panose="02010600030101010101" pitchFamily="2" charset="-122"/>
                  </a:rPr>
                  <a:t>c</a:t>
                </a:r>
                <a:r>
                  <a:rPr lang="zh-CN" altLang="zh-CN" sz="24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）根据</a:t>
                </a:r>
                <a:r>
                  <a:rPr lang="en-US" altLang="zh-CN" sz="2400" dirty="0">
                    <a:effectLst/>
                    <a:latin typeface="Times New Roman" panose="02020603050405020304" pitchFamily="18" charset="0"/>
                    <a:cs typeface="宋体" panose="02010600030101010101" pitchFamily="2" charset="-122"/>
                  </a:rPr>
                  <a:t>Kruskal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宋体" panose="02010600030101010101" pitchFamily="2" charset="-122"/>
                  </a:rPr>
                  <a:t>/Prim</a:t>
                </a:r>
                <a:r>
                  <a:rPr lang="zh-CN" altLang="zh-CN" sz="24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算法画出最小生成树，需要给出每一步的生成过程。</a:t>
                </a:r>
                <a:endParaRPr lang="zh-CN" altLang="zh-CN" sz="2400" dirty="0">
                  <a:effectLst/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ED2DF02-66AD-4A83-9350-611CE295C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-308570"/>
                <a:ext cx="7632848" cy="5323124"/>
              </a:xfrm>
              <a:prstGeom prst="rect">
                <a:avLst/>
              </a:prstGeom>
              <a:blipFill>
                <a:blip r:embed="rId3"/>
                <a:stretch>
                  <a:fillRect l="-1278" r="-5192" b="-14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5415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CAE698-CFB7-4BC8-9FA4-4BBE661D519B}"/>
              </a:ext>
            </a:extLst>
          </p:cNvPr>
          <p:cNvSpPr txBox="1"/>
          <p:nvPr/>
        </p:nvSpPr>
        <p:spPr>
          <a:xfrm>
            <a:off x="611560" y="411510"/>
            <a:ext cx="8352928" cy="3244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六、有</a:t>
            </a:r>
            <a:r>
              <a:rPr lang="en-US" altLang="zh-CN" sz="2800" dirty="0"/>
              <a:t>4</a:t>
            </a:r>
            <a:r>
              <a:rPr lang="zh-CN" altLang="en-US" sz="2800" dirty="0"/>
              <a:t>个字符</a:t>
            </a:r>
            <a:r>
              <a:rPr lang="en-US" altLang="zh-CN" sz="2800" dirty="0" err="1"/>
              <a:t>a~d</a:t>
            </a:r>
            <a:r>
              <a:rPr lang="zh-CN" altLang="en-US" sz="2800" dirty="0"/>
              <a:t>，它们的频度分别为</a:t>
            </a:r>
            <a:r>
              <a:rPr lang="en-US" altLang="zh-CN" sz="2800" dirty="0"/>
              <a:t>8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4</a:t>
            </a:r>
            <a:r>
              <a:rPr lang="zh-CN" altLang="en-US" sz="2800" dirty="0"/>
              <a:t>，</a:t>
            </a:r>
            <a:r>
              <a:rPr lang="en-US" altLang="zh-CN" sz="2800" dirty="0"/>
              <a:t>6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问题：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）构造其哈夫曼编码树，并求平均码长是多少？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）说明将“</a:t>
            </a:r>
            <a:r>
              <a:rPr lang="en-US" altLang="zh-CN" sz="2800" dirty="0" err="1"/>
              <a:t>aabcbd</a:t>
            </a:r>
            <a:r>
              <a:rPr lang="zh-CN" altLang="en-US" sz="2800" dirty="0"/>
              <a:t>”字符串编码结果；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en-US" altLang="zh-CN" sz="2800" dirty="0"/>
              <a:t> </a:t>
            </a:r>
            <a:r>
              <a:rPr lang="zh-CN" altLang="en-US" sz="2800" dirty="0"/>
              <a:t>（</a:t>
            </a:r>
            <a:r>
              <a:rPr lang="en-US" altLang="zh-CN" sz="2800" dirty="0"/>
              <a:t>3</a:t>
            </a:r>
            <a:r>
              <a:rPr lang="zh-CN" altLang="en-US" sz="2800" dirty="0"/>
              <a:t>）请给出“</a:t>
            </a:r>
            <a:r>
              <a:rPr lang="en-US" altLang="zh-CN" sz="2800" dirty="0"/>
              <a:t>10010011000</a:t>
            </a:r>
            <a:r>
              <a:rPr lang="zh-CN" altLang="en-US" sz="2800" dirty="0"/>
              <a:t>”的解码结果。</a:t>
            </a:r>
          </a:p>
        </p:txBody>
      </p:sp>
    </p:spTree>
    <p:extLst>
      <p:ext uri="{BB962C8B-B14F-4D97-AF65-F5344CB8AC3E}">
        <p14:creationId xmlns:p14="http://schemas.microsoft.com/office/powerpoint/2010/main" val="3795775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流程图: 接点 7">
            <a:extLst>
              <a:ext uri="{FF2B5EF4-FFF2-40B4-BE49-F238E27FC236}">
                <a16:creationId xmlns:a16="http://schemas.microsoft.com/office/drawing/2014/main" id="{69661FA7-464B-405D-A3A4-89429E668EF3}"/>
              </a:ext>
            </a:extLst>
          </p:cNvPr>
          <p:cNvSpPr/>
          <p:nvPr/>
        </p:nvSpPr>
        <p:spPr>
          <a:xfrm>
            <a:off x="1043608" y="1051198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流程图: 接点 8">
            <a:extLst>
              <a:ext uri="{FF2B5EF4-FFF2-40B4-BE49-F238E27FC236}">
                <a16:creationId xmlns:a16="http://schemas.microsoft.com/office/drawing/2014/main" id="{243D299D-2AAC-4954-91D1-1095402BB6DC}"/>
              </a:ext>
            </a:extLst>
          </p:cNvPr>
          <p:cNvSpPr/>
          <p:nvPr/>
        </p:nvSpPr>
        <p:spPr>
          <a:xfrm>
            <a:off x="3542183" y="1051198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流程图: 接点 9">
            <a:extLst>
              <a:ext uri="{FF2B5EF4-FFF2-40B4-BE49-F238E27FC236}">
                <a16:creationId xmlns:a16="http://schemas.microsoft.com/office/drawing/2014/main" id="{410B615C-96E5-427D-B15D-265458D668D4}"/>
              </a:ext>
            </a:extLst>
          </p:cNvPr>
          <p:cNvSpPr/>
          <p:nvPr/>
        </p:nvSpPr>
        <p:spPr>
          <a:xfrm>
            <a:off x="1043608" y="2857139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流程图: 接点 10">
            <a:extLst>
              <a:ext uri="{FF2B5EF4-FFF2-40B4-BE49-F238E27FC236}">
                <a16:creationId xmlns:a16="http://schemas.microsoft.com/office/drawing/2014/main" id="{C11CA58F-11F4-452F-82D8-2815F7AD413C}"/>
              </a:ext>
            </a:extLst>
          </p:cNvPr>
          <p:cNvSpPr/>
          <p:nvPr/>
        </p:nvSpPr>
        <p:spPr>
          <a:xfrm>
            <a:off x="3558146" y="2857139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流程图: 接点 11">
            <a:extLst>
              <a:ext uri="{FF2B5EF4-FFF2-40B4-BE49-F238E27FC236}">
                <a16:creationId xmlns:a16="http://schemas.microsoft.com/office/drawing/2014/main" id="{290D0338-C99E-48F0-9AE3-FA310AD664F2}"/>
              </a:ext>
            </a:extLst>
          </p:cNvPr>
          <p:cNvSpPr/>
          <p:nvPr/>
        </p:nvSpPr>
        <p:spPr>
          <a:xfrm>
            <a:off x="2267744" y="2022025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B1FEC6C3-64A3-42A9-A575-BC889C8F4D98}"/>
              </a:ext>
            </a:extLst>
          </p:cNvPr>
          <p:cNvSpPr/>
          <p:nvPr/>
        </p:nvSpPr>
        <p:spPr>
          <a:xfrm>
            <a:off x="2267744" y="3795886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6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1F4F29B-B424-41DE-9C07-EC4434ED3B5A}"/>
              </a:ext>
            </a:extLst>
          </p:cNvPr>
          <p:cNvCxnSpPr>
            <a:stCxn id="8" idx="6"/>
            <a:endCxn id="9" idx="2"/>
          </p:cNvCxnSpPr>
          <p:nvPr/>
        </p:nvCxnSpPr>
        <p:spPr>
          <a:xfrm>
            <a:off x="1500808" y="1279798"/>
            <a:ext cx="20413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6969BC4-0C1D-44DC-9728-C4B2D264DECE}"/>
              </a:ext>
            </a:extLst>
          </p:cNvPr>
          <p:cNvCxnSpPr>
            <a:stCxn id="8" idx="4"/>
            <a:endCxn id="10" idx="0"/>
          </p:cNvCxnSpPr>
          <p:nvPr/>
        </p:nvCxnSpPr>
        <p:spPr>
          <a:xfrm>
            <a:off x="1272208" y="1508398"/>
            <a:ext cx="0" cy="13487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6460129F-054B-40AF-BC46-F23573BA3EA6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1500808" y="3085739"/>
            <a:ext cx="205733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3FCB9BA9-2B1D-4AFF-83E0-3876858E3A52}"/>
              </a:ext>
            </a:extLst>
          </p:cNvPr>
          <p:cNvCxnSpPr/>
          <p:nvPr/>
        </p:nvCxnSpPr>
        <p:spPr>
          <a:xfrm>
            <a:off x="3786746" y="1508397"/>
            <a:ext cx="0" cy="13487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9981A8D9-85BE-42A3-B432-244BDCCC347A}"/>
              </a:ext>
            </a:extLst>
          </p:cNvPr>
          <p:cNvCxnSpPr>
            <a:cxnSpLocks/>
            <a:stCxn id="8" idx="5"/>
            <a:endCxn id="12" idx="1"/>
          </p:cNvCxnSpPr>
          <p:nvPr/>
        </p:nvCxnSpPr>
        <p:spPr>
          <a:xfrm>
            <a:off x="1433853" y="1441443"/>
            <a:ext cx="900846" cy="6475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5AB2F103-65E2-4459-B5A9-DEE72343B0E5}"/>
              </a:ext>
            </a:extLst>
          </p:cNvPr>
          <p:cNvCxnSpPr>
            <a:cxnSpLocks/>
            <a:stCxn id="12" idx="3"/>
            <a:endCxn id="10" idx="7"/>
          </p:cNvCxnSpPr>
          <p:nvPr/>
        </p:nvCxnSpPr>
        <p:spPr>
          <a:xfrm flipH="1">
            <a:off x="1433853" y="2412270"/>
            <a:ext cx="900846" cy="5118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192F609E-486F-4070-8E5C-2BC8A927AC0B}"/>
              </a:ext>
            </a:extLst>
          </p:cNvPr>
          <p:cNvCxnSpPr>
            <a:cxnSpLocks/>
            <a:endCxn id="12" idx="7"/>
          </p:cNvCxnSpPr>
          <p:nvPr/>
        </p:nvCxnSpPr>
        <p:spPr>
          <a:xfrm flipH="1">
            <a:off x="2657989" y="1460412"/>
            <a:ext cx="926632" cy="6285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848500B-24CA-4DC4-9155-BD754C7129E4}"/>
              </a:ext>
            </a:extLst>
          </p:cNvPr>
          <p:cNvCxnSpPr>
            <a:cxnSpLocks/>
            <a:stCxn id="12" idx="5"/>
            <a:endCxn id="11" idx="1"/>
          </p:cNvCxnSpPr>
          <p:nvPr/>
        </p:nvCxnSpPr>
        <p:spPr>
          <a:xfrm>
            <a:off x="2657989" y="2412270"/>
            <a:ext cx="967112" cy="5118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23D2B87-035F-48B7-B855-F77564A09443}"/>
              </a:ext>
            </a:extLst>
          </p:cNvPr>
          <p:cNvCxnSpPr>
            <a:cxnSpLocks/>
            <a:stCxn id="10" idx="5"/>
            <a:endCxn id="14" idx="1"/>
          </p:cNvCxnSpPr>
          <p:nvPr/>
        </p:nvCxnSpPr>
        <p:spPr>
          <a:xfrm>
            <a:off x="1433853" y="3247384"/>
            <a:ext cx="900846" cy="6154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346CD97-3634-482D-B8BB-DEAE7140E097}"/>
              </a:ext>
            </a:extLst>
          </p:cNvPr>
          <p:cNvCxnSpPr>
            <a:cxnSpLocks/>
            <a:endCxn id="14" idx="7"/>
          </p:cNvCxnSpPr>
          <p:nvPr/>
        </p:nvCxnSpPr>
        <p:spPr>
          <a:xfrm flipH="1">
            <a:off x="2657989" y="3247384"/>
            <a:ext cx="967112" cy="6154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E5E677A7-9A05-4089-A45F-76D4D1EECB51}"/>
              </a:ext>
            </a:extLst>
          </p:cNvPr>
          <p:cNvSpPr txBox="1"/>
          <p:nvPr/>
        </p:nvSpPr>
        <p:spPr>
          <a:xfrm>
            <a:off x="2363339" y="92067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586A56E-DDBC-4B92-96D3-7B2609ACDD19}"/>
              </a:ext>
            </a:extLst>
          </p:cNvPr>
          <p:cNvSpPr txBox="1"/>
          <p:nvPr/>
        </p:nvSpPr>
        <p:spPr>
          <a:xfrm>
            <a:off x="3036184" y="358216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B87E517-443C-4716-AA99-1E1909F47A17}"/>
              </a:ext>
            </a:extLst>
          </p:cNvPr>
          <p:cNvSpPr txBox="1"/>
          <p:nvPr/>
        </p:nvSpPr>
        <p:spPr>
          <a:xfrm>
            <a:off x="1731698" y="23434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1A16DBA-64F2-46F8-88E0-0D4A68737D54}"/>
              </a:ext>
            </a:extLst>
          </p:cNvPr>
          <p:cNvSpPr txBox="1"/>
          <p:nvPr/>
        </p:nvSpPr>
        <p:spPr>
          <a:xfrm>
            <a:off x="1859471" y="150839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B652BE7-1F9A-483E-A45A-7DD19EBC9B5D}"/>
              </a:ext>
            </a:extLst>
          </p:cNvPr>
          <p:cNvSpPr txBox="1"/>
          <p:nvPr/>
        </p:nvSpPr>
        <p:spPr>
          <a:xfrm>
            <a:off x="2346749" y="304770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E8866FD-0017-4CD3-B8F8-155AF545ADC2}"/>
              </a:ext>
            </a:extLst>
          </p:cNvPr>
          <p:cNvSpPr txBox="1"/>
          <p:nvPr/>
        </p:nvSpPr>
        <p:spPr>
          <a:xfrm>
            <a:off x="3012137" y="23089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FFD9DA9-4206-4719-8FAC-2C0E2AA3D853}"/>
              </a:ext>
            </a:extLst>
          </p:cNvPr>
          <p:cNvSpPr txBox="1"/>
          <p:nvPr/>
        </p:nvSpPr>
        <p:spPr>
          <a:xfrm flipH="1">
            <a:off x="1001847" y="1993537"/>
            <a:ext cx="312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9988751-BBB1-4333-8BDF-9BF61CB81BA5}"/>
              </a:ext>
            </a:extLst>
          </p:cNvPr>
          <p:cNvSpPr txBox="1"/>
          <p:nvPr/>
        </p:nvSpPr>
        <p:spPr>
          <a:xfrm>
            <a:off x="2867225" y="149732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0FF9BFE-6144-4C83-AF01-55E871CF286C}"/>
              </a:ext>
            </a:extLst>
          </p:cNvPr>
          <p:cNvSpPr txBox="1"/>
          <p:nvPr/>
        </p:nvSpPr>
        <p:spPr>
          <a:xfrm>
            <a:off x="1694346" y="355511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7056F973-E1D1-49DD-BA18-4FCE29906B5F}"/>
              </a:ext>
            </a:extLst>
          </p:cNvPr>
          <p:cNvSpPr txBox="1"/>
          <p:nvPr/>
        </p:nvSpPr>
        <p:spPr>
          <a:xfrm>
            <a:off x="3743006" y="1986394"/>
            <a:ext cx="385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40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theme/theme1.xml><?xml version="1.0" encoding="utf-8"?>
<a:theme xmlns:a="http://schemas.openxmlformats.org/drawingml/2006/main" name="1_默认设计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_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12124</TotalTime>
  <Words>926</Words>
  <Application>Microsoft Office PowerPoint</Application>
  <PresentationFormat>全屏显示(16:9)</PresentationFormat>
  <Paragraphs>108</Paragraphs>
  <Slides>16</Slides>
  <Notes>11</Notes>
  <HiddenSlides>1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Inter</vt:lpstr>
      <vt:lpstr>KaTeX_Main</vt:lpstr>
      <vt:lpstr>KaTeX_Math</vt:lpstr>
      <vt:lpstr>黑体</vt:lpstr>
      <vt:lpstr>楷体_GB2312</vt:lpstr>
      <vt:lpstr>宋体</vt:lpstr>
      <vt:lpstr>Arial</vt:lpstr>
      <vt:lpstr>Calibri</vt:lpstr>
      <vt:lpstr>Cambria Math</vt:lpstr>
      <vt:lpstr>Times New Roman</vt:lpstr>
      <vt:lpstr>Wingdings</vt:lpstr>
      <vt:lpstr>1_默认设计模板</vt:lpstr>
      <vt:lpstr>Microsoft Visio 绘图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xiaohua Liu</cp:lastModifiedBy>
  <cp:revision>482</cp:revision>
  <dcterms:created xsi:type="dcterms:W3CDTF">1601-01-01T00:00:00Z</dcterms:created>
  <dcterms:modified xsi:type="dcterms:W3CDTF">2026-05-22T06:55:02Z</dcterms:modified>
</cp:coreProperties>
</file>